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6662400" y="-1498600"/>
            <a:ext cx="2997200" cy="2997200"/>
          </a:xfrm>
          <a:prstGeom prst="donut">
            <a:avLst>
              <a:gd name="adj" fmla="val 24576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990600" y="9118600"/>
            <a:ext cx="2997200" cy="2997200"/>
          </a:xfrm>
          <a:prstGeom prst="donut">
            <a:avLst>
              <a:gd name="adj" fmla="val 24576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138400" y="279400"/>
            <a:ext cx="27178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medel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0" y="381000"/>
            <a:ext cx="2438400" cy="550823"/>
          </a:xfrm>
          <a:prstGeom prst="rect">
            <a:avLst/>
          </a:prstGeom>
        </p:spPr>
      </p:pic>
      <p:pic>
        <p:nvPicPr>
          <p:cNvPr id="6" name="Picture 5" descr="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9347200"/>
            <a:ext cx="4521200" cy="7627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3900" y="635000"/>
            <a:ext cx="127000" cy="1041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2200" y="5334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7A9E"/>
                </a:solidFill>
                <a:latin typeface="Metropolis"/>
              </a:rPr>
              <a:t>MÓDULO 2 · PLANEACIÓN Y ORGANIZACIÓN DE PROYECTOS ÁGILES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812800"/>
            <a:ext cx="5588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123A75"/>
                </a:solidFill>
                <a:latin typeface="Metropolis"/>
              </a:rPr>
              <a:t>METODOLOGÍA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0000" y="635000"/>
            <a:ext cx="0" cy="1041400"/>
          </a:xfrm>
          <a:prstGeom prst="line">
            <a:avLst/>
          </a:prstGeom>
          <a:ln w="12700">
            <a:solidFill>
              <a:srgbClr val="C9D6E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950200" y="584200"/>
            <a:ext cx="7112000" cy="116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455971"/>
                </a:solidFill>
                <a:latin typeface="Metropolis"/>
              </a:rPr>
              <a:t>Un recorrido aplicado para </a:t>
            </a:r>
            <a:r>
              <a:rPr sz="1550" b="1">
                <a:solidFill>
                  <a:srgbClr val="2A56C6"/>
                </a:solidFill>
                <a:latin typeface="Metropolis"/>
              </a:rPr>
              <a:t>transformar una meta en un conjunto de tareas priorizadas</a:t>
            </a:r>
            <a:r>
              <a:rPr sz="1550" b="0">
                <a:solidFill>
                  <a:srgbClr val="455971"/>
                </a:solidFill>
                <a:latin typeface="Metropolis"/>
              </a:rPr>
              <a:t>, dar seguimiento al proyecto y </a:t>
            </a:r>
            <a:r>
              <a:rPr sz="1550" b="1">
                <a:solidFill>
                  <a:srgbClr val="2A56C6"/>
                </a:solidFill>
                <a:latin typeface="Metropolis"/>
              </a:rPr>
              <a:t>ajustar decisiones</a:t>
            </a:r>
            <a:r>
              <a:rPr sz="1550" b="0">
                <a:solidFill>
                  <a:srgbClr val="455971"/>
                </a:solidFill>
                <a:latin typeface="Metropolis"/>
              </a:rPr>
              <a:t> a partir de lo que aprendemos durante su desarrollo.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400" y="1981200"/>
            <a:ext cx="5372100" cy="1168400"/>
          </a:xfrm>
          <a:prstGeom prst="roundRect">
            <a:avLst>
              <a:gd name="adj" fmla="val 10869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" name="Picture 12" descr="circle-play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2133600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2108200"/>
            <a:ext cx="46609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2A56C6"/>
                </a:solidFill>
                <a:latin typeface="Metropolis"/>
              </a:rPr>
              <a:t>COMPRENSIÓN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2514600"/>
            <a:ext cx="5016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Reconocimiento de la meta, los requerimientos y la función del Product Backlog.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1600" y="1981200"/>
            <a:ext cx="5372100" cy="1168400"/>
          </a:xfrm>
          <a:prstGeom prst="roundRect">
            <a:avLst>
              <a:gd name="adj" fmla="val 10869"/>
            </a:avLst>
          </a:prstGeom>
          <a:solidFill>
            <a:srgbClr val="E6F5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settings_t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1336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5800" y="2108200"/>
            <a:ext cx="46609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E7A9E"/>
                </a:solidFill>
                <a:latin typeface="Metropolis"/>
              </a:rPr>
              <a:t>ORGANIZACIÓN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14600"/>
            <a:ext cx="50165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Priorización del trabajo según las necesidades y las capacidades disponibles.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15800" y="1981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1" name="Picture 20" descr="chart-column_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600" y="2133600"/>
            <a:ext cx="3048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700000" y="2108200"/>
            <a:ext cx="1828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664092"/>
                </a:solidFill>
                <a:latin typeface="Metropolis"/>
              </a:rPr>
              <a:t>SEGUIMIENTO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93600" y="2514600"/>
            <a:ext cx="2184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Observación del avance para identificar cambios, dificultades y nueva información.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947900" y="19812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5E8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Picture 24" descr="refresh-ccw_n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5700" y="2133600"/>
            <a:ext cx="3048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32100" y="2108200"/>
            <a:ext cx="1828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2E6B"/>
                </a:solidFill>
                <a:latin typeface="Metropolis"/>
              </a:rPr>
              <a:t>ADAPTACIÓN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5700" y="2514600"/>
            <a:ext cx="2184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Ajuste de prioridades y decisiones a partir de la evidencia y del aprendizaje.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74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651000" y="3505200"/>
            <a:ext cx="812800" cy="8128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0" name="Picture 29" descr="targ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500" y="3695700"/>
            <a:ext cx="431800" cy="431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A56C6"/>
                </a:solidFill>
                <a:latin typeface="Metropolis"/>
              </a:rPr>
              <a:t>1. Definir la meta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Dar dirección al proyecto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8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Clarificamos qué buscamos alcanzar y qué valor esperamos generar.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3378200" y="3810000"/>
            <a:ext cx="177800" cy="2032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195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483100" y="3505200"/>
            <a:ext cx="812800" cy="8128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7" name="Picture 36" descr="file-tex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3600" y="3695700"/>
            <a:ext cx="431800" cy="431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7465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A56C6"/>
                </a:solidFill>
                <a:latin typeface="Metropolis"/>
              </a:rPr>
              <a:t>2. Identificar requerimientos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65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Reconocer lo necesario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19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Traducimos necesidades en elementos de trabajo que pueden incorporarse al Product Backlog.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6210300" y="3810000"/>
            <a:ext cx="177800" cy="2032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516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315200" y="3505200"/>
            <a:ext cx="812800" cy="812800"/>
          </a:xfrm>
          <a:prstGeom prst="ellipse">
            <a:avLst/>
          </a:prstGeom>
          <a:solidFill>
            <a:srgbClr val="0E7A9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4" name="Picture 43" descr="list-ordere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5700" y="3695700"/>
            <a:ext cx="431800" cy="431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786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7A9E"/>
                </a:solidFill>
                <a:latin typeface="Metropolis"/>
              </a:rPr>
              <a:t>3. Priorizar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86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Decidir qué va primero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Ordenamos el trabajo considerando el valor, la necesidad, el riesgo y las dependencias.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9042400" y="3810000"/>
            <a:ext cx="177800" cy="2032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837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10147300" y="3505200"/>
            <a:ext cx="812800" cy="812800"/>
          </a:xfrm>
          <a:prstGeom prst="ellipse">
            <a:avLst/>
          </a:prstGeom>
          <a:solidFill>
            <a:srgbClr val="0E7A9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1" name="Picture 50" descr="user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800" y="3695700"/>
            <a:ext cx="431800" cy="4318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4107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7A9E"/>
                </a:solidFill>
                <a:latin typeface="Metropolis"/>
              </a:rPr>
              <a:t>4. Organizar el trabajo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07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Alinear capacidades y recursos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361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Relacionamos las prioridades con el equipo, las responsabilidades y el tiempo disponible.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11874500" y="3810000"/>
            <a:ext cx="177800" cy="2032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1158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2979400" y="3505200"/>
            <a:ext cx="812800" cy="812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8" name="Picture 57" descr="search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69900" y="3695700"/>
            <a:ext cx="431800" cy="431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2428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64092"/>
                </a:solidFill>
                <a:latin typeface="Metropolis"/>
              </a:rPr>
              <a:t>5. Hacer seguimiento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428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Observar para decidir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2682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Hacemos visible el avance e identificamos resultados, dificultades y cambios relevantes.</a:t>
            </a:r>
          </a:p>
        </p:txBody>
      </p:sp>
      <p:sp>
        <p:nvSpPr>
          <p:cNvPr id="62" name="Isosceles Triangle 61"/>
          <p:cNvSpPr/>
          <p:nvPr/>
        </p:nvSpPr>
        <p:spPr>
          <a:xfrm rot="5400000">
            <a:off x="14706600" y="3810000"/>
            <a:ext cx="177800" cy="2032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4947900" y="3327400"/>
            <a:ext cx="2540000" cy="294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15811500" y="3505200"/>
            <a:ext cx="812800" cy="812800"/>
          </a:xfrm>
          <a:prstGeom prst="ellipse">
            <a:avLst/>
          </a:prstGeom>
          <a:solidFill>
            <a:srgbClr val="0B2E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5" name="Picture 64" descr="refresh-cw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0" y="3695700"/>
            <a:ext cx="431800" cy="431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074900" y="44196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2E6B"/>
                </a:solidFill>
                <a:latin typeface="Metropolis"/>
              </a:rPr>
              <a:t>6. Adaptar y aprender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74900" y="49784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3D2159"/>
                </a:solidFill>
                <a:latin typeface="Metropolis"/>
              </a:rPr>
              <a:t>Convertir evidencia en ajustes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100300" y="5283200"/>
            <a:ext cx="22352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Utilizamos la retroalimentación y los resultados obtenidos para revisar decisiones y repriorizar.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6217900" y="6273800"/>
            <a:ext cx="0" cy="38100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057400" y="6375400"/>
            <a:ext cx="0" cy="27940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sp>
        <p:nvSpPr>
          <p:cNvPr id="71" name="Isosceles Triangle 70"/>
          <p:cNvSpPr/>
          <p:nvPr/>
        </p:nvSpPr>
        <p:spPr>
          <a:xfrm>
            <a:off x="1955800" y="6299200"/>
            <a:ext cx="203200" cy="152400"/>
          </a:xfrm>
          <a:prstGeom prst="triangl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2057400" y="6654800"/>
            <a:ext cx="2133600" cy="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14097000" y="6654800"/>
            <a:ext cx="2120900" cy="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sp>
        <p:nvSpPr>
          <p:cNvPr id="74" name="Rounded Rectangle 73"/>
          <p:cNvSpPr/>
          <p:nvPr/>
        </p:nvSpPr>
        <p:spPr>
          <a:xfrm>
            <a:off x="4191000" y="6413500"/>
            <a:ext cx="99060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5" name="Picture 74" descr="refresh-cw_pu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4200" y="6527800"/>
            <a:ext cx="254000" cy="2540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749800" y="6413500"/>
            <a:ext cx="9194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664092"/>
                </a:solidFill>
                <a:latin typeface="Metropolis"/>
              </a:rPr>
              <a:t>Ciclo de aprendizaje: </a:t>
            </a:r>
            <a:r>
              <a:rPr sz="1250" b="0">
                <a:solidFill>
                  <a:srgbClr val="3D2159"/>
                </a:solidFill>
                <a:latin typeface="Metropolis"/>
              </a:rPr>
              <a:t>lo aprendido alimenta nuevas prioridades y un nuevo ciclo de trabajo.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7400" y="70866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23A75"/>
                </a:solidFill>
                <a:latin typeface="Metropolis"/>
              </a:rPr>
              <a:t>Seis pasos para consolidar el aprendizaje en la práctica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620000" y="7251700"/>
            <a:ext cx="9867900" cy="0"/>
          </a:xfrm>
          <a:prstGeom prst="line">
            <a:avLst/>
          </a:prstGeom>
          <a:ln w="12700">
            <a:solidFill>
              <a:srgbClr val="C9D6EA"/>
            </a:solidFill>
          </a:ln>
          <a:effectLst/>
        </p:spPr>
      </p:cxnSp>
      <p:sp>
        <p:nvSpPr>
          <p:cNvPr id="79" name="Rounded Rectangle 78"/>
          <p:cNvSpPr/>
          <p:nvPr/>
        </p:nvSpPr>
        <p:spPr>
          <a:xfrm>
            <a:off x="7874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652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56C6"/>
                </a:solidFill>
                <a:latin typeface="Metropolis"/>
              </a:rPr>
              <a:t>1. Orientamos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2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Definimos hacia dónde queremos avanzar.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195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7973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56C6"/>
                </a:solidFill>
                <a:latin typeface="Metropolis"/>
              </a:rPr>
              <a:t>2. Identificamos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73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Reconocemos las necesidades que requieren atención.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516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6F5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66294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A9E"/>
                </a:solidFill>
                <a:latin typeface="Metropolis"/>
              </a:rPr>
              <a:t>3. Priorizamos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294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Elegimos qué trabajo aporta mayor valor primero.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2837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6F5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4615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A9E"/>
                </a:solidFill>
                <a:latin typeface="Metropolis"/>
              </a:rPr>
              <a:t>4. Organizamos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615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Articulamos el equipo, las responsabilidades y el tiempo.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1158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22936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64092"/>
                </a:solidFill>
                <a:latin typeface="Metropolis"/>
              </a:rPr>
              <a:t>5. Observamos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936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Revisamos el avance y la información disponible.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4947900" y="7518400"/>
            <a:ext cx="2540000" cy="1168400"/>
          </a:xfrm>
          <a:prstGeom prst="roundRect">
            <a:avLst>
              <a:gd name="adj" fmla="val 10869"/>
            </a:avLst>
          </a:prstGeom>
          <a:solidFill>
            <a:srgbClr val="E5E8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15125700" y="7645400"/>
            <a:ext cx="2184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E6B"/>
                </a:solidFill>
                <a:latin typeface="Metropolis"/>
              </a:rPr>
              <a:t>6. Adaptamos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125700" y="7975600"/>
            <a:ext cx="2184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Aprendemos de los resultados y reajustamos prioridades.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11400" y="95504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44992"/>
                </a:solidFill>
                <a:latin typeface="Metropolis"/>
              </a:rPr>
              <a:t>Fuente: </a:t>
            </a:r>
            <a:r>
              <a:rPr sz="1150" b="0">
                <a:solidFill>
                  <a:srgbClr val="044992"/>
                </a:solidFill>
                <a:latin typeface="Metropolis"/>
              </a:rPr>
              <a:t>Elaboración propia con base en los contenidos del Módulo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