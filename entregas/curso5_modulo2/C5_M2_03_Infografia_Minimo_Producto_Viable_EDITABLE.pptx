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24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nut 1"/>
          <p:cNvSpPr/>
          <p:nvPr/>
        </p:nvSpPr>
        <p:spPr>
          <a:xfrm>
            <a:off x="11836400" y="-1651000"/>
            <a:ext cx="3556000" cy="3556000"/>
          </a:xfrm>
          <a:prstGeom prst="donut">
            <a:avLst>
              <a:gd name="adj" fmla="val 24285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89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-1651000" y="22733000"/>
            <a:ext cx="3810000" cy="3810000"/>
          </a:xfrm>
          <a:prstGeom prst="donut">
            <a:avLst>
              <a:gd name="adj" fmla="val 24000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14000" y="381000"/>
            <a:ext cx="2794000" cy="8382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" name="Picture 4" descr="medel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508000"/>
            <a:ext cx="2438400" cy="5508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2000" y="711200"/>
            <a:ext cx="3175000" cy="457200"/>
          </a:xfrm>
          <a:prstGeom prst="roundRect">
            <a:avLst>
              <a:gd name="adj" fmla="val 50000"/>
            </a:avLst>
          </a:prstGeom>
          <a:solidFill>
            <a:srgbClr val="E6F5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2000" y="711200"/>
            <a:ext cx="3175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E7A9E"/>
                </a:solidFill>
                <a:latin typeface="Metropolis"/>
              </a:rPr>
              <a:t>INFOGRAFÍA · MÓDULO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473200"/>
            <a:ext cx="152400" cy="1473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9CCD2"/>
              </a:gs>
              <a:gs pos="100000">
                <a:srgbClr val="2A8FC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68400" y="1397000"/>
            <a:ext cx="11430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0" b="1">
                <a:solidFill>
                  <a:srgbClr val="123A75"/>
                </a:solidFill>
                <a:latin typeface="Metropolis"/>
              </a:rPr>
              <a:t>Mínimo Producto Viable (MPV)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400" y="2286000"/>
            <a:ext cx="11430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2A56C6"/>
                </a:solidFill>
                <a:latin typeface="Metropolis"/>
              </a:rPr>
              <a:t>Aprender antes de construirlo 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27400"/>
            <a:ext cx="12192000" cy="1625600"/>
          </a:xfrm>
          <a:prstGeom prst="roundRect">
            <a:avLst>
              <a:gd name="adj" fmla="val 10937"/>
            </a:avLst>
          </a:prstGeom>
          <a:solidFill>
            <a:srgbClr val="F4F6FB"/>
          </a:solidFill>
          <a:ln w="12700">
            <a:solidFill>
              <a:srgbClr val="DDE1E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17600" y="3530600"/>
            <a:ext cx="114808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D2159"/>
                </a:solidFill>
                <a:latin typeface="Metropolis"/>
              </a:rPr>
              <a:t>No necesitamos desarrollar la solución completa para comenzar a obtener evidencia.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455971"/>
                </a:solidFill>
                <a:latin typeface="Metropolis"/>
              </a:rPr>
              <a:t>Un Mínimo Producto Viable (MPV) es una versión limitada pero suficientemente útil para generar valor inicial y obtener aprendizaje antes de invertir en una solución más amplia.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5257800"/>
            <a:ext cx="5943600" cy="381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B316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62000" y="5257800"/>
            <a:ext cx="5943600" cy="787400"/>
          </a:xfrm>
          <a:prstGeom prst="roundRect">
            <a:avLst>
              <a:gd name="adj" fmla="val 25806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2000" y="5765800"/>
            <a:ext cx="5943600" cy="279400"/>
          </a:xfrm>
          <a:prstGeom prst="rect">
            <a:avLst/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16000" y="5397500"/>
            <a:ext cx="508000" cy="508000"/>
          </a:xfrm>
          <a:prstGeom prst="ellipse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x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5509260"/>
            <a:ext cx="284480" cy="28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76400" y="5257800"/>
            <a:ext cx="3810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B31686"/>
                </a:solidFill>
                <a:latin typeface="Metropolis"/>
              </a:rPr>
              <a:t>NO ES</a:t>
            </a:r>
          </a:p>
        </p:txBody>
      </p:sp>
      <p:sp>
        <p:nvSpPr>
          <p:cNvPr id="19" name="Oval 18"/>
          <p:cNvSpPr/>
          <p:nvPr/>
        </p:nvSpPr>
        <p:spPr>
          <a:xfrm>
            <a:off x="1016000" y="6350000"/>
            <a:ext cx="711200" cy="711200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0" name="Picture 19" descr="settings_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800" y="6527800"/>
            <a:ext cx="355600" cy="355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30400" y="6273800"/>
            <a:ext cx="452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B31686"/>
                </a:solidFill>
                <a:latin typeface="Metropolis"/>
              </a:rPr>
              <a:t>Una versión defectuosa.</a:t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971"/>
                </a:solidFill>
                <a:latin typeface="Metropolis"/>
              </a:rPr>
              <a:t>Con funciones que no cumplen adecuadamente su propósito.</a:t>
            </a:r>
          </a:p>
        </p:txBody>
      </p:sp>
      <p:sp>
        <p:nvSpPr>
          <p:cNvPr id="22" name="Oval 21"/>
          <p:cNvSpPr/>
          <p:nvPr/>
        </p:nvSpPr>
        <p:spPr>
          <a:xfrm>
            <a:off x="1016000" y="7721600"/>
            <a:ext cx="711200" cy="711200"/>
          </a:xfrm>
          <a:prstGeom prst="ellipse">
            <a:avLst/>
          </a:prstGeom>
          <a:solidFill>
            <a:srgbClr val="F4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3" name="Picture 22" descr="puzzle_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7899400"/>
            <a:ext cx="355600" cy="355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930400" y="7645400"/>
            <a:ext cx="45212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B31686"/>
                </a:solidFill>
                <a:latin typeface="Metropolis"/>
              </a:rPr>
              <a:t>Todo a medias.</a:t>
            </a:r>
          </a:p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971"/>
                </a:solidFill>
                <a:latin typeface="Metropolis"/>
              </a:rPr>
              <a:t>Con muchas características parcialmente desarrolladas.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10400" y="5257800"/>
            <a:ext cx="5943600" cy="3810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010400" y="5257800"/>
            <a:ext cx="5943600" cy="787400"/>
          </a:xfrm>
          <a:prstGeom prst="roundRect">
            <a:avLst>
              <a:gd name="adj" fmla="val 25806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010400" y="5765800"/>
            <a:ext cx="5943600" cy="279400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264400" y="5397500"/>
            <a:ext cx="508000" cy="5080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9" name="Picture 28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159" y="5509260"/>
            <a:ext cx="284480" cy="28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24800" y="5257800"/>
            <a:ext cx="38100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2A56C6"/>
                </a:solidFill>
                <a:latin typeface="Metropolis"/>
              </a:rPr>
              <a:t>SÍ ES</a:t>
            </a:r>
          </a:p>
        </p:txBody>
      </p:sp>
      <p:sp>
        <p:nvSpPr>
          <p:cNvPr id="31" name="Oval 30"/>
          <p:cNvSpPr/>
          <p:nvPr/>
        </p:nvSpPr>
        <p:spPr>
          <a:xfrm>
            <a:off x="7264400" y="6680200"/>
            <a:ext cx="1168400" cy="1168400"/>
          </a:xfrm>
          <a:prstGeom prst="ellipse">
            <a:avLst/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2" name="Picture 31" descr="target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400" y="6934200"/>
            <a:ext cx="660400" cy="660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61400" y="6400800"/>
            <a:ext cx="4038600" cy="20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2A56C6"/>
                </a:solidFill>
                <a:latin typeface="Metropolis"/>
              </a:rPr>
              <a:t>Una versión enfocada.</a:t>
            </a:r>
          </a:p>
          <a:p>
            <a:pPr algn="l">
              <a:lnSpc>
                <a:spcPct val="108000"/>
              </a:lnSpc>
            </a:pPr>
            <a:r>
              <a:rPr sz="1550" b="0">
                <a:solidFill>
                  <a:srgbClr val="455971"/>
                </a:solidFill>
                <a:latin typeface="Metropolis"/>
              </a:rPr>
              <a:t>Que reduce el alcance y conserva aquello necesario para generar valor y aprender.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000" y="9296400"/>
            <a:ext cx="12192000" cy="685800"/>
          </a:xfrm>
          <a:prstGeom prst="roundRect">
            <a:avLst>
              <a:gd name="adj" fmla="val 50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2000" y="9296400"/>
            <a:ext cx="12192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64092"/>
                </a:solidFill>
                <a:latin typeface="Metropolis"/>
              </a:rPr>
              <a:t>Reducimos funcionalidades, no la calidad esencial.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2000" y="10388600"/>
            <a:ext cx="76200" cy="330200"/>
          </a:xfrm>
          <a:prstGeom prst="roundRect">
            <a:avLst>
              <a:gd name="adj" fmla="val 50000"/>
            </a:avLst>
          </a:prstGeom>
          <a:solidFill>
            <a:srgbClr val="29CC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90600" y="10337800"/>
            <a:ext cx="119634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23A75"/>
                </a:solidFill>
                <a:latin typeface="Metropolis"/>
              </a:rPr>
              <a:t>¿Qué entra en la primera versión?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2000" y="10947400"/>
            <a:ext cx="12192000" cy="685800"/>
          </a:xfrm>
          <a:prstGeom prst="roundRect">
            <a:avLst>
              <a:gd name="adj" fmla="val 50000"/>
            </a:avLst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9" name="Picture 38" descr="smartpho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00" y="11112500"/>
            <a:ext cx="355600" cy="355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49400" y="10947400"/>
            <a:ext cx="1117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FFD900"/>
                </a:solidFill>
                <a:latin typeface="Metropolis"/>
              </a:rPr>
              <a:t>Meta. </a:t>
            </a:r>
            <a:r>
              <a:rPr sz="1650" b="0">
                <a:solidFill>
                  <a:srgbClr val="FFFFFF"/>
                </a:solidFill>
                <a:latin typeface="Metropolis"/>
              </a:rPr>
              <a:t>Permitir que un cliente realice un pedido desde su celular.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118364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A56C6"/>
                </a:solidFill>
                <a:latin typeface="Metropolis"/>
              </a:rPr>
              <a:t>En la primera versión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600" y="11836400"/>
            <a:ext cx="3962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B6575"/>
                </a:solidFill>
                <a:latin typeface="Metropolis"/>
              </a:rPr>
              <a:t>Después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122174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4" name="Picture 43" descr="menu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00" y="12446000"/>
            <a:ext cx="355600" cy="355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473200" y="122174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3D2159"/>
                </a:solidFill>
                <a:latin typeface="Metropolis"/>
              </a:rPr>
              <a:t>Consultar menú</a:t>
            </a:r>
          </a:p>
        </p:txBody>
      </p:sp>
      <p:sp>
        <p:nvSpPr>
          <p:cNvPr id="46" name="Oval 45"/>
          <p:cNvSpPr/>
          <p:nvPr/>
        </p:nvSpPr>
        <p:spPr>
          <a:xfrm>
            <a:off x="4165600" y="124460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47" name="Picture 46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800" y="12522200"/>
            <a:ext cx="203200" cy="20320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876800" y="122174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9" name="Picture 48" descr="shopping-cart_b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0000" y="12446000"/>
            <a:ext cx="355600" cy="3556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588000" y="122174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3D2159"/>
                </a:solidFill>
                <a:latin typeface="Metropolis"/>
              </a:rPr>
              <a:t>Seleccionar productos</a:t>
            </a:r>
          </a:p>
        </p:txBody>
      </p:sp>
      <p:sp>
        <p:nvSpPr>
          <p:cNvPr id="51" name="Oval 50"/>
          <p:cNvSpPr/>
          <p:nvPr/>
        </p:nvSpPr>
        <p:spPr>
          <a:xfrm>
            <a:off x="8280400" y="124460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2" name="Picture 51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600" y="12522200"/>
            <a:ext cx="203200" cy="2032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62000" y="131826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54" name="Picture 53" descr="send_b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00" y="13411200"/>
            <a:ext cx="355600" cy="355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73200" y="131826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3D2159"/>
                </a:solidFill>
                <a:latin typeface="Metropolis"/>
              </a:rPr>
              <a:t>Enviar pedido</a:t>
            </a:r>
          </a:p>
        </p:txBody>
      </p:sp>
      <p:sp>
        <p:nvSpPr>
          <p:cNvPr id="56" name="Oval 55"/>
          <p:cNvSpPr/>
          <p:nvPr/>
        </p:nvSpPr>
        <p:spPr>
          <a:xfrm>
            <a:off x="4165600" y="134112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57" name="Picture 56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800" y="13487400"/>
            <a:ext cx="203200" cy="20320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4876800" y="131826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59" name="Picture 58" descr="circle-check_b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0" y="13411200"/>
            <a:ext cx="355600" cy="3556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588000" y="131826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3D2159"/>
                </a:solidFill>
                <a:latin typeface="Metropolis"/>
              </a:rPr>
              <a:t>Confirmar pedido</a:t>
            </a:r>
          </a:p>
        </p:txBody>
      </p:sp>
      <p:sp>
        <p:nvSpPr>
          <p:cNvPr id="61" name="Oval 60"/>
          <p:cNvSpPr/>
          <p:nvPr/>
        </p:nvSpPr>
        <p:spPr>
          <a:xfrm>
            <a:off x="8280400" y="13411200"/>
            <a:ext cx="355600" cy="3556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2" name="Picture 61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600" y="13487400"/>
            <a:ext cx="203200" cy="203200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8991600" y="122174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2F2F5"/>
          </a:solidFill>
          <a:ln w="12700">
            <a:solidFill>
              <a:srgbClr val="D5D5D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64" name="Picture 63" descr="star_g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4800" y="12446000"/>
            <a:ext cx="355600" cy="3556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702800" y="122174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A4752"/>
                </a:solidFill>
                <a:latin typeface="Metropolis"/>
              </a:rPr>
              <a:t>Guardar favoritos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575"/>
                </a:solidFill>
                <a:latin typeface="Metropolis"/>
              </a:rPr>
              <a:t>Después</a:t>
            </a:r>
          </a:p>
        </p:txBody>
      </p:sp>
      <p:sp>
        <p:nvSpPr>
          <p:cNvPr id="66" name="Oval 65"/>
          <p:cNvSpPr/>
          <p:nvPr/>
        </p:nvSpPr>
        <p:spPr>
          <a:xfrm>
            <a:off x="12395200" y="12446000"/>
            <a:ext cx="355600" cy="355600"/>
          </a:xfrm>
          <a:prstGeom prst="ellipse">
            <a:avLst/>
          </a:prstGeom>
          <a:solidFill>
            <a:srgbClr val="8A879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7" name="Picture 66" descr="arrow-right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71400" y="12522200"/>
            <a:ext cx="203200" cy="20320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8991600" y="13182600"/>
            <a:ext cx="3962400" cy="812800"/>
          </a:xfrm>
          <a:prstGeom prst="roundRect">
            <a:avLst>
              <a:gd name="adj" fmla="val 18750"/>
            </a:avLst>
          </a:prstGeom>
          <a:solidFill>
            <a:srgbClr val="F2F2F5"/>
          </a:solidFill>
          <a:ln w="12700">
            <a:solidFill>
              <a:srgbClr val="D5D5D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69" name="Picture 68" descr="user_g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4800" y="13411200"/>
            <a:ext cx="355600" cy="3556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702800" y="13182600"/>
            <a:ext cx="25654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4A4752"/>
                </a:solidFill>
                <a:latin typeface="Metropolis"/>
              </a:rPr>
              <a:t>Personalizar perfil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575"/>
                </a:solidFill>
                <a:latin typeface="Metropolis"/>
              </a:rPr>
              <a:t>Después</a:t>
            </a:r>
          </a:p>
        </p:txBody>
      </p:sp>
      <p:sp>
        <p:nvSpPr>
          <p:cNvPr id="71" name="Oval 70"/>
          <p:cNvSpPr/>
          <p:nvPr/>
        </p:nvSpPr>
        <p:spPr>
          <a:xfrm>
            <a:off x="12395200" y="13411200"/>
            <a:ext cx="355600" cy="355600"/>
          </a:xfrm>
          <a:prstGeom prst="ellipse">
            <a:avLst/>
          </a:prstGeom>
          <a:solidFill>
            <a:srgbClr val="8A879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2" name="Picture 71" descr="arrow-right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71400" y="13487400"/>
            <a:ext cx="203200" cy="20320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762000" y="14198600"/>
            <a:ext cx="12192000" cy="939800"/>
          </a:xfrm>
          <a:prstGeom prst="roundRect">
            <a:avLst>
              <a:gd name="adj" fmla="val 18918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66800" y="14198600"/>
            <a:ext cx="115824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4092"/>
                </a:solidFill>
                <a:latin typeface="Metropolis"/>
              </a:rPr>
              <a:t>Pregunta de selección: </a:t>
            </a:r>
            <a:r>
              <a:rPr sz="1600" b="0">
                <a:solidFill>
                  <a:srgbClr val="3D2159"/>
                </a:solidFill>
                <a:latin typeface="Metropolis"/>
              </a:rPr>
              <a:t>¿Qué necesitamos conservar para que la primera versión tenga sentido para el usuario?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2000" y="15570200"/>
            <a:ext cx="76200" cy="330200"/>
          </a:xfrm>
          <a:prstGeom prst="roundRect">
            <a:avLst>
              <a:gd name="adj" fmla="val 50000"/>
            </a:avLst>
          </a:prstGeom>
          <a:solidFill>
            <a:srgbClr val="29CC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90600" y="15519400"/>
            <a:ext cx="119634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123A75"/>
                </a:solidFill>
                <a:latin typeface="Metropolis"/>
              </a:rPr>
              <a:t>Del Backlog al aprendizaje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2000" y="161544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65200" y="16357600"/>
            <a:ext cx="584200" cy="5842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79" name="Picture 78" descr="list-checks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900" y="16497300"/>
            <a:ext cx="304800" cy="304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701800" y="163068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56C6"/>
                </a:solidFill>
                <a:latin typeface="Metropolis"/>
              </a:rPr>
              <a:t>1. PRODUCT BACKLOG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200" y="170942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Tenemos diferentes posibilidades de trabajo.</a:t>
            </a:r>
          </a:p>
        </p:txBody>
      </p:sp>
      <p:sp>
        <p:nvSpPr>
          <p:cNvPr id="82" name="Isosceles Triangle 81"/>
          <p:cNvSpPr/>
          <p:nvPr/>
        </p:nvSpPr>
        <p:spPr>
          <a:xfrm rot="5400000">
            <a:off x="4648200" y="16992600"/>
            <a:ext cx="203200" cy="2286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978400" y="161544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2A56C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5181600" y="16357600"/>
            <a:ext cx="584200" cy="584200"/>
          </a:xfrm>
          <a:prstGeom prst="ellipse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85" name="Picture 84" descr="arrow-down-up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21300" y="16497300"/>
            <a:ext cx="304800" cy="30480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918200" y="163068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A56C6"/>
                </a:solidFill>
                <a:latin typeface="Metropolis"/>
              </a:rPr>
              <a:t>2. PRIORIZAMOS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81600" y="170942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Seleccionamos aquello esencial para generar valor inicial.</a:t>
            </a:r>
          </a:p>
        </p:txBody>
      </p:sp>
      <p:sp>
        <p:nvSpPr>
          <p:cNvPr id="88" name="Isosceles Triangle 87"/>
          <p:cNvSpPr/>
          <p:nvPr/>
        </p:nvSpPr>
        <p:spPr>
          <a:xfrm rot="5400000">
            <a:off x="8864600" y="16992600"/>
            <a:ext cx="203200" cy="2286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194800" y="161544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0E7A9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9398000" y="16357600"/>
            <a:ext cx="584200" cy="584200"/>
          </a:xfrm>
          <a:prstGeom prst="ellipse">
            <a:avLst/>
          </a:prstGeom>
          <a:solidFill>
            <a:srgbClr val="0E7A9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1" name="Picture 90" descr="box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7700" y="16497300"/>
            <a:ext cx="304800" cy="30480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134600" y="163068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7A9E"/>
                </a:solidFill>
                <a:latin typeface="Metropolis"/>
              </a:rPr>
              <a:t>3. CONSTRUIMOS EL MPV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98000" y="170942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Creamos una primera versión suficientemente útil.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62000" y="184150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0E7A9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965200" y="18618200"/>
            <a:ext cx="584200" cy="584200"/>
          </a:xfrm>
          <a:prstGeom prst="ellipse">
            <a:avLst/>
          </a:prstGeom>
          <a:solidFill>
            <a:srgbClr val="0E7A9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6" name="Picture 95" descr="eye_w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4900" y="18757900"/>
            <a:ext cx="304800" cy="3048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701800" y="185674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7A9E"/>
                </a:solidFill>
                <a:latin typeface="Metropolis"/>
              </a:rPr>
              <a:t>4. OBSERVAMOS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5200" y="193548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Recogemos resultados y retroalimentación.</a:t>
            </a:r>
          </a:p>
        </p:txBody>
      </p:sp>
      <p:sp>
        <p:nvSpPr>
          <p:cNvPr id="99" name="Isosceles Triangle 98"/>
          <p:cNvSpPr/>
          <p:nvPr/>
        </p:nvSpPr>
        <p:spPr>
          <a:xfrm rot="5400000">
            <a:off x="4648200" y="19253200"/>
            <a:ext cx="203200" cy="2286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4978400" y="184150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5181600" y="18618200"/>
            <a:ext cx="584200" cy="584200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2" name="Picture 101" descr="lightbulb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21300" y="18757900"/>
            <a:ext cx="304800" cy="3048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918200" y="185674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64092"/>
                </a:solidFill>
                <a:latin typeface="Metropolis"/>
              </a:rPr>
              <a:t>5. APRENDEMOS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81600" y="193548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Reconocemos qué funciona y qué necesita cambiar.</a:t>
            </a:r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8864600" y="19253200"/>
            <a:ext cx="203200" cy="228600"/>
          </a:xfrm>
          <a:prstGeom prst="triangle">
            <a:avLst/>
          </a:prstGeom>
          <a:solidFill>
            <a:srgbClr val="A3BA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194800" y="18415000"/>
            <a:ext cx="375920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22225">
            <a:solidFill>
              <a:srgbClr val="0B2E6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9398000" y="18618200"/>
            <a:ext cx="584200" cy="584200"/>
          </a:xfrm>
          <a:prstGeom prst="ellipse">
            <a:avLst/>
          </a:prstGeom>
          <a:solidFill>
            <a:srgbClr val="0B2E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8" name="Picture 107" descr="refresh-cw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37700" y="18757900"/>
            <a:ext cx="304800" cy="3048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134600" y="18567400"/>
            <a:ext cx="2667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2E6B"/>
                </a:solidFill>
                <a:latin typeface="Metropolis"/>
              </a:rPr>
              <a:t>6. REPRIORIZAMOS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98000" y="19354800"/>
            <a:ext cx="3352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>
                <a:solidFill>
                  <a:srgbClr val="455971"/>
                </a:solidFill>
                <a:latin typeface="Metropolis"/>
              </a:rPr>
              <a:t>Actualizamos el Product Backlog con nueva evidencia.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91000" y="20523200"/>
            <a:ext cx="5334000" cy="584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664092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12" name="Picture 111" descr="refresh-cw_pu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5000" y="20662900"/>
            <a:ext cx="304800" cy="30480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4876800" y="20523200"/>
            <a:ext cx="4445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664092"/>
                </a:solidFill>
                <a:latin typeface="Metropolis"/>
              </a:rPr>
              <a:t>Ciclo continuo de mejora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62000" y="21488400"/>
            <a:ext cx="12192000" cy="1625600"/>
          </a:xfrm>
          <a:prstGeom prst="roundRect">
            <a:avLst>
              <a:gd name="adj" fmla="val 14062"/>
            </a:avLst>
          </a:prstGeom>
          <a:solidFill>
            <a:srgbClr val="3D215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1117600" y="21996400"/>
            <a:ext cx="2133600" cy="6096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117600" y="21996400"/>
            <a:ext cx="2133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D2159"/>
                </a:solidFill>
                <a:latin typeface="Metropolis"/>
              </a:rPr>
              <a:t>Idea clave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81400" y="21488400"/>
            <a:ext cx="9017000" cy="162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etropolis"/>
              </a:rPr>
              <a:t>Ser ágiles no significa cambiar constantemente, sino saber cuándo mantener el rumbo y cuándo adaptarlo a partir de evidencia.</a:t>
            </a:r>
          </a:p>
        </p:txBody>
      </p:sp>
      <p:pic>
        <p:nvPicPr>
          <p:cNvPr id="118" name="Picture 117" descr="logo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8000" y="23241000"/>
            <a:ext cx="4826000" cy="8141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