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hBU9G/dhYKATwYuWQGvLoS31C0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6F37DF-024A-4B88-85A6-350CAC3F5476}">
  <a:tblStyle styleId="{636F37DF-024A-4B88-85A6-350CAC3F5476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20" orient="horz"/>
        <p:guide pos="216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84" name="Google Shape;8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126" name="Google Shape;12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153" name="Google Shape;15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196" name="Google Shape;19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" name="Google Shape;22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224" name="Google Shape;224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7" name="Google Shape;27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278" name="Google Shape;27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1" name="Google Shape;31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312" name="Google Shape;31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1" name="Google Shape;361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362" name="Google Shape;362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4" name="Google Shape;394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395" name="Google Shape;395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4" name="Google Shape;444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445" name="Google Shape;445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8" name="Google Shape;468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469" name="Google Shape;469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books.google.com/books?id=XMqLDwAAQBAJ" TargetMode="External"/><Relationship Id="rId4" Type="http://schemas.openxmlformats.org/officeDocument/2006/relationships/hyperlink" Target="https://openaccess.uoc.edu/server/api/core/bitstreams/64de036d-c56c-4317-ad60-fcb968469221/content" TargetMode="External"/><Relationship Id="rId5" Type="http://schemas.openxmlformats.org/officeDocument/2006/relationships/hyperlink" Target="https://www.unir.net/revista/empresa/product-backlog/" TargetMode="External"/><Relationship Id="rId6" Type="http://schemas.openxmlformats.org/officeDocument/2006/relationships/hyperlink" Target="https://www.iebschool.com/hub/guia-de-la-gestion-agil-de-proyectos-para-liderar-con-eficacia/" TargetMode="External"/><Relationship Id="rId7" Type="http://schemas.openxmlformats.org/officeDocument/2006/relationships/hyperlink" Target="https://es.scribd.com/document/679774193/El-Arte-de-Hacer-El-Doble-de-Trabajo-En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1"/>
          <p:cNvGrpSpPr/>
          <p:nvPr/>
        </p:nvGrpSpPr>
        <p:grpSpPr>
          <a:xfrm>
            <a:off x="876300" y="876300"/>
            <a:ext cx="5105400" cy="6934200"/>
            <a:chOff x="876300" y="876300"/>
            <a:chExt cx="5105400" cy="6934200"/>
          </a:xfrm>
        </p:grpSpPr>
        <p:sp>
          <p:nvSpPr>
            <p:cNvPr id="17" name="Google Shape;17;p1"/>
            <p:cNvSpPr/>
            <p:nvPr/>
          </p:nvSpPr>
          <p:spPr>
            <a:xfrm>
              <a:off x="876300" y="876300"/>
              <a:ext cx="5105400" cy="4095750"/>
            </a:xfrm>
            <a:prstGeom prst="roundRect">
              <a:avLst>
                <a:gd fmla="val 5814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1285875" y="2009775"/>
              <a:ext cx="4171950" cy="514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PLAN</a:t>
              </a:r>
              <a:endParaRPr/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3429000" y="2581275"/>
              <a:ext cx="953" cy="276225"/>
            </a:xfrm>
            <a:custGeom>
              <a:rect b="b" l="l" r="r" t="t"/>
              <a:pathLst>
                <a:path extrusionOk="0" h="276225" w="953">
                  <a:moveTo>
                    <a:pt x="0" y="0"/>
                  </a:moveTo>
                  <a:lnTo>
                    <a:pt x="0" y="276225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0" name="Google Shape;20;p1"/>
            <p:cNvSpPr/>
            <p:nvPr/>
          </p:nvSpPr>
          <p:spPr>
            <a:xfrm>
              <a:off x="3394150" y="2800658"/>
              <a:ext cx="34850" cy="56842"/>
            </a:xfrm>
            <a:custGeom>
              <a:rect b="b" l="l" r="r" t="t"/>
              <a:pathLst>
                <a:path extrusionOk="0" h="56842" w="34850">
                  <a:moveTo>
                    <a:pt x="34850" y="56842"/>
                  </a:moveTo>
                  <a:lnTo>
                    <a:pt x="0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1" name="Google Shape;21;p1"/>
            <p:cNvSpPr/>
            <p:nvPr/>
          </p:nvSpPr>
          <p:spPr>
            <a:xfrm>
              <a:off x="3429000" y="2800658"/>
              <a:ext cx="34850" cy="56842"/>
            </a:xfrm>
            <a:custGeom>
              <a:rect b="b" l="l" r="r" t="t"/>
              <a:pathLst>
                <a:path extrusionOk="0" h="56842" w="34850">
                  <a:moveTo>
                    <a:pt x="0" y="56842"/>
                  </a:moveTo>
                  <a:lnTo>
                    <a:pt x="34850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2" name="Google Shape;22;p1"/>
            <p:cNvSpPr/>
            <p:nvPr/>
          </p:nvSpPr>
          <p:spPr>
            <a:xfrm>
              <a:off x="1285875" y="3048000"/>
              <a:ext cx="4171950" cy="514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4478F5"/>
                  </a:solidFill>
                  <a:latin typeface="Arial"/>
                  <a:ea typeface="Arial"/>
                  <a:cs typeface="Arial"/>
                  <a:sym typeface="Arial"/>
                </a:rPr>
                <a:t>REALIDAD</a:t>
              </a:r>
              <a:endParaRPr/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3429000" y="3619500"/>
              <a:ext cx="953" cy="276225"/>
            </a:xfrm>
            <a:custGeom>
              <a:rect b="b" l="l" r="r" t="t"/>
              <a:pathLst>
                <a:path extrusionOk="0" h="276225" w="953">
                  <a:moveTo>
                    <a:pt x="0" y="0"/>
                  </a:moveTo>
                  <a:lnTo>
                    <a:pt x="0" y="276225"/>
                  </a:lnTo>
                </a:path>
              </a:pathLst>
            </a:custGeom>
            <a:noFill/>
            <a:ln cap="flat" cmpd="sng" w="14275">
              <a:solidFill>
                <a:srgbClr val="4478F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4" name="Google Shape;24;p1"/>
            <p:cNvSpPr/>
            <p:nvPr/>
          </p:nvSpPr>
          <p:spPr>
            <a:xfrm>
              <a:off x="3394150" y="3838883"/>
              <a:ext cx="34850" cy="56842"/>
            </a:xfrm>
            <a:custGeom>
              <a:rect b="b" l="l" r="r" t="t"/>
              <a:pathLst>
                <a:path extrusionOk="0" h="56842" w="34850">
                  <a:moveTo>
                    <a:pt x="34850" y="56842"/>
                  </a:moveTo>
                  <a:lnTo>
                    <a:pt x="0" y="0"/>
                  </a:lnTo>
                </a:path>
              </a:pathLst>
            </a:custGeom>
            <a:noFill/>
            <a:ln cap="flat" cmpd="sng" w="14275">
              <a:solidFill>
                <a:srgbClr val="4478F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5" name="Google Shape;25;p1"/>
            <p:cNvSpPr/>
            <p:nvPr/>
          </p:nvSpPr>
          <p:spPr>
            <a:xfrm>
              <a:off x="3429000" y="3838883"/>
              <a:ext cx="34850" cy="56842"/>
            </a:xfrm>
            <a:custGeom>
              <a:rect b="b" l="l" r="r" t="t"/>
              <a:pathLst>
                <a:path extrusionOk="0" h="56842" w="34850">
                  <a:moveTo>
                    <a:pt x="0" y="56842"/>
                  </a:moveTo>
                  <a:lnTo>
                    <a:pt x="34850" y="0"/>
                  </a:lnTo>
                </a:path>
              </a:pathLst>
            </a:custGeom>
            <a:noFill/>
            <a:ln cap="flat" cmpd="sng" w="14275">
              <a:solidFill>
                <a:srgbClr val="4478F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6" name="Google Shape;26;p1"/>
            <p:cNvSpPr/>
            <p:nvPr/>
          </p:nvSpPr>
          <p:spPr>
            <a:xfrm>
              <a:off x="1285875" y="4086225"/>
              <a:ext cx="4171950" cy="514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DECISIÓN</a:t>
              </a:r>
              <a:endParaRPr/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876300" y="5153025"/>
              <a:ext cx="5105400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Módulo 2 · Planeación y organización de proyectos ágiles</a:t>
              </a:r>
              <a:endParaRPr/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876300" y="5600700"/>
              <a:ext cx="5105400" cy="1114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Planear no basta: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seguimiento y adaptación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en proyectos ágiles</a:t>
              </a:r>
              <a:endParaRPr/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876300" y="6953250"/>
              <a:ext cx="5105400" cy="857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Observar lo que realmente ocurre para aprender, decidir y ajustar el rumbo.</a:t>
              </a:r>
              <a:endParaRPr/>
            </a:p>
          </p:txBody>
        </p:sp>
      </p:grpSp>
      <p:sp>
        <p:nvSpPr>
          <p:cNvPr id="30" name="Google Shape;30;p1"/>
          <p:cNvSpPr/>
          <p:nvPr/>
        </p:nvSpPr>
        <p:spPr>
          <a:xfrm>
            <a:off x="1066800" y="1123950"/>
            <a:ext cx="2038350" cy="323850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1200150" y="1209675"/>
            <a:ext cx="17716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Artículo educativo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" name="Google Shape;3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6301" y="6790000"/>
            <a:ext cx="1131794" cy="9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"/>
          <p:cNvSpPr/>
          <p:nvPr/>
        </p:nvSpPr>
        <p:spPr>
          <a:xfrm>
            <a:off x="876300" y="723900"/>
            <a:ext cx="3429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Artículo educativo · Seguimiento y adaptación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876301" y="2286001"/>
            <a:ext cx="85725" cy="85725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038225" y="2286000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200150" y="2286000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362075" y="2286000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524000" y="2286000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685926" y="2286001"/>
            <a:ext cx="85725" cy="85725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" name="Google Shape;45;p2"/>
          <p:cNvGrpSpPr/>
          <p:nvPr/>
        </p:nvGrpSpPr>
        <p:grpSpPr>
          <a:xfrm>
            <a:off x="876300" y="1390650"/>
            <a:ext cx="5105400" cy="8039100"/>
            <a:chOff x="876300" y="1390650"/>
            <a:chExt cx="5105400" cy="8039100"/>
          </a:xfrm>
        </p:grpSpPr>
        <p:sp>
          <p:nvSpPr>
            <p:cNvPr id="46" name="Google Shape;46;p2"/>
            <p:cNvSpPr/>
            <p:nvPr/>
          </p:nvSpPr>
          <p:spPr>
            <a:xfrm>
              <a:off x="876300" y="1390650"/>
              <a:ext cx="5105400" cy="847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Mapa de lectura</a:t>
              </a: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1790700" y="9201150"/>
              <a:ext cx="857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876300" y="2733675"/>
              <a:ext cx="5105400" cy="352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Resultado de aprendizaje</a:t>
              </a: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876300" y="3162300"/>
              <a:ext cx="5105400" cy="1057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Analizar cómo el seguimiento permite comparar lo planeado con lo que realmente ocurre durante un proyecto y utilizar esa información para reconocer impedimentos, incorporar retroalimentación y adaptar decisiones.</a:t>
              </a: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876300" y="4533900"/>
              <a:ext cx="5105400" cy="752475"/>
            </a:xfrm>
            <a:prstGeom prst="roundRect">
              <a:avLst>
                <a:gd fmla="val 27848" name="adj"/>
              </a:avLst>
            </a:prstGeom>
            <a:solidFill>
              <a:srgbClr val="DAD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876300" y="4495800"/>
              <a:ext cx="5105400" cy="752475"/>
            </a:xfrm>
            <a:prstGeom prst="roundRect">
              <a:avLst>
                <a:gd fmla="val 27848" name="adj"/>
              </a:avLst>
            </a:prstGeom>
            <a:solidFill>
              <a:srgbClr val="FFFFFF"/>
            </a:solidFill>
            <a:ln cap="flat" cmpd="sng" w="9525">
              <a:solidFill>
                <a:srgbClr val="DAD2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876300" y="4495800"/>
              <a:ext cx="723900" cy="752475"/>
            </a:xfrm>
            <a:prstGeom prst="roundRect">
              <a:avLst>
                <a:gd fmla="val 28947" name="adj"/>
              </a:avLst>
            </a:prstGeom>
            <a:solidFill>
              <a:srgbClr val="6640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942975" y="4724400"/>
              <a:ext cx="57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1809750" y="4676775"/>
              <a:ext cx="3895725" cy="542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Del plan al estado real</a:t>
              </a: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1257300" y="5257800"/>
              <a:ext cx="953" cy="95250"/>
            </a:xfrm>
            <a:custGeom>
              <a:rect b="b" l="l" r="r" t="t"/>
              <a:pathLst>
                <a:path extrusionOk="0" h="95250" w="953">
                  <a:moveTo>
                    <a:pt x="0" y="0"/>
                  </a:moveTo>
                  <a:lnTo>
                    <a:pt x="0" y="9525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56" name="Google Shape;56;p2"/>
            <p:cNvSpPr/>
            <p:nvPr/>
          </p:nvSpPr>
          <p:spPr>
            <a:xfrm>
              <a:off x="1222450" y="5296208"/>
              <a:ext cx="34850" cy="56842"/>
            </a:xfrm>
            <a:custGeom>
              <a:rect b="b" l="l" r="r" t="t"/>
              <a:pathLst>
                <a:path extrusionOk="0" h="56842" w="34850">
                  <a:moveTo>
                    <a:pt x="34850" y="56842"/>
                  </a:moveTo>
                  <a:lnTo>
                    <a:pt x="0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57" name="Google Shape;57;p2"/>
            <p:cNvSpPr/>
            <p:nvPr/>
          </p:nvSpPr>
          <p:spPr>
            <a:xfrm>
              <a:off x="1257300" y="5296208"/>
              <a:ext cx="34850" cy="56842"/>
            </a:xfrm>
            <a:custGeom>
              <a:rect b="b" l="l" r="r" t="t"/>
              <a:pathLst>
                <a:path extrusionOk="0" h="56842" w="34850">
                  <a:moveTo>
                    <a:pt x="0" y="56842"/>
                  </a:moveTo>
                  <a:lnTo>
                    <a:pt x="34850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58" name="Google Shape;58;p2"/>
            <p:cNvSpPr/>
            <p:nvPr/>
          </p:nvSpPr>
          <p:spPr>
            <a:xfrm>
              <a:off x="876300" y="5429250"/>
              <a:ext cx="5105400" cy="752475"/>
            </a:xfrm>
            <a:prstGeom prst="roundRect">
              <a:avLst>
                <a:gd fmla="val 27848" name="adj"/>
              </a:avLst>
            </a:prstGeom>
            <a:solidFill>
              <a:srgbClr val="DAD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876300" y="5391150"/>
              <a:ext cx="5105400" cy="752475"/>
            </a:xfrm>
            <a:prstGeom prst="roundRect">
              <a:avLst>
                <a:gd fmla="val 27848" name="adj"/>
              </a:avLst>
            </a:prstGeom>
            <a:solidFill>
              <a:srgbClr val="FFFFFF"/>
            </a:solidFill>
            <a:ln cap="flat" cmpd="sng" w="9525">
              <a:solidFill>
                <a:srgbClr val="DAD2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876300" y="5391150"/>
              <a:ext cx="723900" cy="752475"/>
            </a:xfrm>
            <a:prstGeom prst="roundRect">
              <a:avLst>
                <a:gd fmla="val 28947" name="adj"/>
              </a:avLst>
            </a:prstGeom>
            <a:solidFill>
              <a:srgbClr val="A719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942975" y="5619750"/>
              <a:ext cx="57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1809750" y="5572125"/>
              <a:ext cx="3895725" cy="542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De la actividad al resultado</a:t>
              </a: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1257300" y="6153150"/>
              <a:ext cx="953" cy="95250"/>
            </a:xfrm>
            <a:custGeom>
              <a:rect b="b" l="l" r="r" t="t"/>
              <a:pathLst>
                <a:path extrusionOk="0" h="95250" w="953">
                  <a:moveTo>
                    <a:pt x="0" y="0"/>
                  </a:moveTo>
                  <a:lnTo>
                    <a:pt x="0" y="9525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64" name="Google Shape;64;p2"/>
            <p:cNvSpPr/>
            <p:nvPr/>
          </p:nvSpPr>
          <p:spPr>
            <a:xfrm>
              <a:off x="1222450" y="6191558"/>
              <a:ext cx="34850" cy="56842"/>
            </a:xfrm>
            <a:custGeom>
              <a:rect b="b" l="l" r="r" t="t"/>
              <a:pathLst>
                <a:path extrusionOk="0" h="56842" w="34850">
                  <a:moveTo>
                    <a:pt x="34850" y="56842"/>
                  </a:moveTo>
                  <a:lnTo>
                    <a:pt x="0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65" name="Google Shape;65;p2"/>
            <p:cNvSpPr/>
            <p:nvPr/>
          </p:nvSpPr>
          <p:spPr>
            <a:xfrm>
              <a:off x="1257300" y="6191558"/>
              <a:ext cx="34850" cy="56842"/>
            </a:xfrm>
            <a:custGeom>
              <a:rect b="b" l="l" r="r" t="t"/>
              <a:pathLst>
                <a:path extrusionOk="0" h="56842" w="34850">
                  <a:moveTo>
                    <a:pt x="0" y="56842"/>
                  </a:moveTo>
                  <a:lnTo>
                    <a:pt x="34850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66" name="Google Shape;66;p2"/>
            <p:cNvSpPr/>
            <p:nvPr/>
          </p:nvSpPr>
          <p:spPr>
            <a:xfrm>
              <a:off x="876300" y="6324600"/>
              <a:ext cx="5105400" cy="752475"/>
            </a:xfrm>
            <a:prstGeom prst="roundRect">
              <a:avLst>
                <a:gd fmla="val 27848" name="adj"/>
              </a:avLst>
            </a:prstGeom>
            <a:solidFill>
              <a:srgbClr val="DAD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876300" y="6286500"/>
              <a:ext cx="5105400" cy="752475"/>
            </a:xfrm>
            <a:prstGeom prst="roundRect">
              <a:avLst>
                <a:gd fmla="val 27848" name="adj"/>
              </a:avLst>
            </a:prstGeom>
            <a:solidFill>
              <a:srgbClr val="FFFFFF"/>
            </a:solidFill>
            <a:ln cap="flat" cmpd="sng" w="9525">
              <a:solidFill>
                <a:srgbClr val="DAD2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876300" y="6286500"/>
              <a:ext cx="723900" cy="752475"/>
            </a:xfrm>
            <a:prstGeom prst="roundRect">
              <a:avLst>
                <a:gd fmla="val 28947" name="adj"/>
              </a:avLst>
            </a:prstGeom>
            <a:solidFill>
              <a:srgbClr val="4478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942975" y="6515100"/>
              <a:ext cx="57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1809750" y="6467475"/>
              <a:ext cx="3895725" cy="542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De los impedimentos y el feedback a la nueva información</a:t>
              </a: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1257300" y="7048500"/>
              <a:ext cx="953" cy="95250"/>
            </a:xfrm>
            <a:custGeom>
              <a:rect b="b" l="l" r="r" t="t"/>
              <a:pathLst>
                <a:path extrusionOk="0" h="95250" w="953">
                  <a:moveTo>
                    <a:pt x="0" y="0"/>
                  </a:moveTo>
                  <a:lnTo>
                    <a:pt x="0" y="9525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72" name="Google Shape;72;p2"/>
            <p:cNvSpPr/>
            <p:nvPr/>
          </p:nvSpPr>
          <p:spPr>
            <a:xfrm>
              <a:off x="1222450" y="7086908"/>
              <a:ext cx="34850" cy="56842"/>
            </a:xfrm>
            <a:custGeom>
              <a:rect b="b" l="l" r="r" t="t"/>
              <a:pathLst>
                <a:path extrusionOk="0" h="56842" w="34850">
                  <a:moveTo>
                    <a:pt x="34850" y="56842"/>
                  </a:moveTo>
                  <a:lnTo>
                    <a:pt x="0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73" name="Google Shape;73;p2"/>
            <p:cNvSpPr/>
            <p:nvPr/>
          </p:nvSpPr>
          <p:spPr>
            <a:xfrm>
              <a:off x="1257300" y="7086908"/>
              <a:ext cx="34850" cy="56842"/>
            </a:xfrm>
            <a:custGeom>
              <a:rect b="b" l="l" r="r" t="t"/>
              <a:pathLst>
                <a:path extrusionOk="0" h="56842" w="34850">
                  <a:moveTo>
                    <a:pt x="0" y="56842"/>
                  </a:moveTo>
                  <a:lnTo>
                    <a:pt x="34850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74" name="Google Shape;74;p2"/>
            <p:cNvSpPr/>
            <p:nvPr/>
          </p:nvSpPr>
          <p:spPr>
            <a:xfrm>
              <a:off x="876300" y="7219950"/>
              <a:ext cx="5105400" cy="752475"/>
            </a:xfrm>
            <a:prstGeom prst="roundRect">
              <a:avLst>
                <a:gd fmla="val 27848" name="adj"/>
              </a:avLst>
            </a:prstGeom>
            <a:solidFill>
              <a:srgbClr val="DAD2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876300" y="7181850"/>
              <a:ext cx="5105400" cy="752475"/>
            </a:xfrm>
            <a:prstGeom prst="roundRect">
              <a:avLst>
                <a:gd fmla="val 27848" name="adj"/>
              </a:avLst>
            </a:prstGeom>
            <a:solidFill>
              <a:srgbClr val="FFFFFF"/>
            </a:solidFill>
            <a:ln cap="flat" cmpd="sng" w="9525">
              <a:solidFill>
                <a:srgbClr val="DAD2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876300" y="7181850"/>
              <a:ext cx="723900" cy="752475"/>
            </a:xfrm>
            <a:prstGeom prst="roundRect">
              <a:avLst>
                <a:gd fmla="val 28947" name="adj"/>
              </a:avLst>
            </a:prstGeom>
            <a:solidFill>
              <a:srgbClr val="064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942975" y="7410450"/>
              <a:ext cx="57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1809750" y="7362825"/>
              <a:ext cx="3895725" cy="542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De la evidencia a las siguientes decisiones</a:t>
              </a: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1581150" y="8172450"/>
              <a:ext cx="4400550" cy="790575"/>
            </a:xfrm>
            <a:prstGeom prst="roundRect">
              <a:avLst>
                <a:gd fmla="val 24096" name="adj"/>
              </a:avLst>
            </a:prstGeom>
            <a:solidFill>
              <a:srgbClr val="FFD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752600" y="8296275"/>
              <a:ext cx="4057650" cy="581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¿Qué hacemos cuando la realidad del proyecto nos muestra algo diferente de lo que habíamos previsto?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/>
          <p:nvPr/>
        </p:nvSpPr>
        <p:spPr>
          <a:xfrm>
            <a:off x="876300" y="723900"/>
            <a:ext cx="3429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Artículo educativo · Seguimiento y adaptación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876301" y="2286001"/>
            <a:ext cx="85725" cy="85725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038225" y="2286000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1200150" y="2286000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1362075" y="2286000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1524000" y="2286000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685926" y="2286001"/>
            <a:ext cx="85725" cy="85725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" name="Google Shape;93;p3"/>
          <p:cNvGrpSpPr/>
          <p:nvPr/>
        </p:nvGrpSpPr>
        <p:grpSpPr>
          <a:xfrm>
            <a:off x="876300" y="1390650"/>
            <a:ext cx="5105400" cy="8039100"/>
            <a:chOff x="876300" y="1390650"/>
            <a:chExt cx="5105400" cy="8039100"/>
          </a:xfrm>
        </p:grpSpPr>
        <p:sp>
          <p:nvSpPr>
            <p:cNvPr id="94" name="Google Shape;94;p3"/>
            <p:cNvSpPr/>
            <p:nvPr/>
          </p:nvSpPr>
          <p:spPr>
            <a:xfrm>
              <a:off x="876300" y="1390650"/>
              <a:ext cx="5105400" cy="847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Observar: del plan a la realidad</a:t>
              </a:r>
              <a:endParaRPr/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1790700" y="9201150"/>
              <a:ext cx="857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/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876300" y="2686050"/>
              <a:ext cx="5105400" cy="828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Planificar establece una dirección, prioridades, responsabilidades y referencias para organizar el trabajo. Sin embargo, una vez que comienza la ejecución aparecen condiciones que no siempre se podían anticiparse.</a:t>
              </a: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876300" y="3638550"/>
              <a:ext cx="5105400" cy="704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El seguimiento permite observar esa realidad. Mientras la planificación representa aquello que esperábamos realizar, el seguimiento muestra qué está ocurriendo realmente.</a:t>
              </a: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876300" y="4467225"/>
              <a:ext cx="5105400" cy="1047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Necesitamos reconocer qué se ha completado, qué continúa en desarrollo, qué elementos están bloqueados y qué cambios han aparecido. Esta información no busca únicamente comprobar el cumplimiento: proporciona una base para tomar decisiones y realizar ajustes cuando sea necesario.</a:t>
              </a: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876300" y="5724525"/>
              <a:ext cx="5105400" cy="514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Figura 1. Plan esperado vs. realidad observada</a:t>
              </a: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876300" y="6362700"/>
              <a:ext cx="1162050" cy="1676400"/>
            </a:xfrm>
            <a:prstGeom prst="roundRect">
              <a:avLst>
                <a:gd fmla="val 13115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942975" y="6534150"/>
              <a:ext cx="102870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5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PLAN</a:t>
              </a: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952500" y="7086600"/>
              <a:ext cx="1009650" cy="904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¿Qué esperábamos que ocurriera?</a:t>
              </a: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2066925" y="7191375"/>
              <a:ext cx="95250" cy="953"/>
            </a:xfrm>
            <a:custGeom>
              <a:rect b="b" l="l" r="r" t="t"/>
              <a:pathLst>
                <a:path extrusionOk="0" h="953" w="95250">
                  <a:moveTo>
                    <a:pt x="0" y="0"/>
                  </a:moveTo>
                  <a:lnTo>
                    <a:pt x="95250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04" name="Google Shape;104;p3"/>
            <p:cNvSpPr/>
            <p:nvPr/>
          </p:nvSpPr>
          <p:spPr>
            <a:xfrm>
              <a:off x="2105333" y="7191375"/>
              <a:ext cx="56842" cy="34850"/>
            </a:xfrm>
            <a:custGeom>
              <a:rect b="b" l="l" r="r" t="t"/>
              <a:pathLst>
                <a:path extrusionOk="0" h="34850" w="56842">
                  <a:moveTo>
                    <a:pt x="56842" y="0"/>
                  </a:moveTo>
                  <a:lnTo>
                    <a:pt x="0" y="3485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05" name="Google Shape;105;p3"/>
            <p:cNvSpPr/>
            <p:nvPr/>
          </p:nvSpPr>
          <p:spPr>
            <a:xfrm>
              <a:off x="2105333" y="7156525"/>
              <a:ext cx="56842" cy="34850"/>
            </a:xfrm>
            <a:custGeom>
              <a:rect b="b" l="l" r="r" t="t"/>
              <a:pathLst>
                <a:path extrusionOk="0" h="34850" w="56842">
                  <a:moveTo>
                    <a:pt x="56842" y="34850"/>
                  </a:moveTo>
                  <a:lnTo>
                    <a:pt x="0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06" name="Google Shape;106;p3"/>
            <p:cNvSpPr/>
            <p:nvPr/>
          </p:nvSpPr>
          <p:spPr>
            <a:xfrm>
              <a:off x="2190750" y="6362700"/>
              <a:ext cx="1162050" cy="1676400"/>
            </a:xfrm>
            <a:prstGeom prst="roundRect">
              <a:avLst>
                <a:gd fmla="val 13115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2257425" y="6534150"/>
              <a:ext cx="102870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50" u="none" cap="none" strike="noStrike">
                  <a:solidFill>
                    <a:srgbClr val="4478F5"/>
                  </a:solidFill>
                  <a:latin typeface="Arial"/>
                  <a:ea typeface="Arial"/>
                  <a:cs typeface="Arial"/>
                  <a:sym typeface="Arial"/>
                </a:rPr>
                <a:t>EJECUCIÓN</a:t>
              </a: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2266950" y="7086600"/>
              <a:ext cx="1009650" cy="904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¿Qué está ocurriendo?</a:t>
              </a: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3381375" y="7191375"/>
              <a:ext cx="95250" cy="953"/>
            </a:xfrm>
            <a:custGeom>
              <a:rect b="b" l="l" r="r" t="t"/>
              <a:pathLst>
                <a:path extrusionOk="0" h="953" w="95250">
                  <a:moveTo>
                    <a:pt x="0" y="0"/>
                  </a:moveTo>
                  <a:lnTo>
                    <a:pt x="95250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10" name="Google Shape;110;p3"/>
            <p:cNvSpPr/>
            <p:nvPr/>
          </p:nvSpPr>
          <p:spPr>
            <a:xfrm>
              <a:off x="3419783" y="7191375"/>
              <a:ext cx="56842" cy="34850"/>
            </a:xfrm>
            <a:custGeom>
              <a:rect b="b" l="l" r="r" t="t"/>
              <a:pathLst>
                <a:path extrusionOk="0" h="34850" w="56842">
                  <a:moveTo>
                    <a:pt x="56842" y="0"/>
                  </a:moveTo>
                  <a:lnTo>
                    <a:pt x="0" y="3485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11" name="Google Shape;111;p3"/>
            <p:cNvSpPr/>
            <p:nvPr/>
          </p:nvSpPr>
          <p:spPr>
            <a:xfrm>
              <a:off x="3419783" y="7156525"/>
              <a:ext cx="56842" cy="34850"/>
            </a:xfrm>
            <a:custGeom>
              <a:rect b="b" l="l" r="r" t="t"/>
              <a:pathLst>
                <a:path extrusionOk="0" h="34850" w="56842">
                  <a:moveTo>
                    <a:pt x="56842" y="34850"/>
                  </a:moveTo>
                  <a:lnTo>
                    <a:pt x="0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12" name="Google Shape;112;p3"/>
            <p:cNvSpPr/>
            <p:nvPr/>
          </p:nvSpPr>
          <p:spPr>
            <a:xfrm>
              <a:off x="3505200" y="6362700"/>
              <a:ext cx="1162050" cy="1676400"/>
            </a:xfrm>
            <a:prstGeom prst="roundRect">
              <a:avLst>
                <a:gd fmla="val 13115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3571875" y="6534150"/>
              <a:ext cx="102870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5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SEGUIMIENTO</a:t>
              </a: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3581400" y="7086600"/>
              <a:ext cx="1009650" cy="904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¿Qué información aparece?</a:t>
              </a: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4695825" y="7191375"/>
              <a:ext cx="95250" cy="953"/>
            </a:xfrm>
            <a:custGeom>
              <a:rect b="b" l="l" r="r" t="t"/>
              <a:pathLst>
                <a:path extrusionOk="0" h="953" w="95250">
                  <a:moveTo>
                    <a:pt x="0" y="0"/>
                  </a:moveTo>
                  <a:lnTo>
                    <a:pt x="95250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16" name="Google Shape;116;p3"/>
            <p:cNvSpPr/>
            <p:nvPr/>
          </p:nvSpPr>
          <p:spPr>
            <a:xfrm>
              <a:off x="4734233" y="7191375"/>
              <a:ext cx="56842" cy="34850"/>
            </a:xfrm>
            <a:custGeom>
              <a:rect b="b" l="l" r="r" t="t"/>
              <a:pathLst>
                <a:path extrusionOk="0" h="34850" w="56842">
                  <a:moveTo>
                    <a:pt x="56842" y="0"/>
                  </a:moveTo>
                  <a:lnTo>
                    <a:pt x="0" y="3485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17" name="Google Shape;117;p3"/>
            <p:cNvSpPr/>
            <p:nvPr/>
          </p:nvSpPr>
          <p:spPr>
            <a:xfrm>
              <a:off x="4734233" y="7156525"/>
              <a:ext cx="56842" cy="34850"/>
            </a:xfrm>
            <a:custGeom>
              <a:rect b="b" l="l" r="r" t="t"/>
              <a:pathLst>
                <a:path extrusionOk="0" h="34850" w="56842">
                  <a:moveTo>
                    <a:pt x="56842" y="34850"/>
                  </a:moveTo>
                  <a:lnTo>
                    <a:pt x="0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18" name="Google Shape;118;p3"/>
            <p:cNvSpPr/>
            <p:nvPr/>
          </p:nvSpPr>
          <p:spPr>
            <a:xfrm>
              <a:off x="4819650" y="6362700"/>
              <a:ext cx="1162050" cy="1676400"/>
            </a:xfrm>
            <a:prstGeom prst="roundRect">
              <a:avLst>
                <a:gd fmla="val 13115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4886325" y="6534150"/>
              <a:ext cx="102870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50" u="none" cap="none" strike="noStrike">
                  <a:solidFill>
                    <a:srgbClr val="4478F5"/>
                  </a:solidFill>
                  <a:latin typeface="Arial"/>
                  <a:ea typeface="Arial"/>
                  <a:cs typeface="Arial"/>
                  <a:sym typeface="Arial"/>
                </a:rPr>
                <a:t>DECISIÓN</a:t>
              </a: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4895850" y="7086600"/>
              <a:ext cx="1009650" cy="904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¿Qué necesitamos mantener o modificar?</a:t>
              </a: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1581150" y="8143875"/>
              <a:ext cx="4400550" cy="809625"/>
            </a:xfrm>
            <a:prstGeom prst="roundRect">
              <a:avLst>
                <a:gd fmla="val 23529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1752600" y="8267700"/>
              <a:ext cx="4057650" cy="600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La diferencia entre lo planeado y lo observado no es solo una desviación: también puede ser una fuente de aprendizaje.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/>
          <p:nvPr/>
        </p:nvSpPr>
        <p:spPr>
          <a:xfrm>
            <a:off x="876300" y="723900"/>
            <a:ext cx="3429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Artículo educativo · Seguimiento y adaptación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876301" y="2286001"/>
            <a:ext cx="85725" cy="85725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1038225" y="2286000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1200150" y="2286000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1362075" y="2286000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1524000" y="2286000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1685926" y="2286001"/>
            <a:ext cx="85725" cy="85725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5" name="Google Shape;135;p4"/>
          <p:cNvGrpSpPr/>
          <p:nvPr/>
        </p:nvGrpSpPr>
        <p:grpSpPr>
          <a:xfrm>
            <a:off x="876300" y="1390650"/>
            <a:ext cx="5105400" cy="8039100"/>
            <a:chOff x="876300" y="1390650"/>
            <a:chExt cx="5105400" cy="8039100"/>
          </a:xfrm>
        </p:grpSpPr>
        <p:sp>
          <p:nvSpPr>
            <p:cNvPr id="136" name="Google Shape;136;p4"/>
            <p:cNvSpPr/>
            <p:nvPr/>
          </p:nvSpPr>
          <p:spPr>
            <a:xfrm>
              <a:off x="876300" y="1390650"/>
              <a:ext cx="5105400" cy="847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Interpretar: actividad no es avance</a:t>
              </a: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1790700" y="9201150"/>
              <a:ext cx="857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/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876300" y="2686050"/>
              <a:ext cx="5105400" cy="790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Uno de los riesgos del seguimiento consiste en concentrarnos únicamente en la cantidad de actividades iniciadas o en comprobar si las personas están ocupadas.</a:t>
              </a:r>
              <a:endParaRPr/>
            </a:p>
          </p:txBody>
        </p:sp>
        <p:sp>
          <p:nvSpPr>
            <p:cNvPr id="139" name="Google Shape;139;p4"/>
            <p:cNvSpPr/>
            <p:nvPr/>
          </p:nvSpPr>
          <p:spPr>
            <a:xfrm>
              <a:off x="876300" y="3600450"/>
              <a:ext cx="5105400" cy="971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Tener muchas tareas abiertas no significa necesariamente producir resultados relevantes. Puede resultar más conveniente terminar algunos elementos importantes que mantener numerosos trabajos parcialmente desarrollados.</a:t>
              </a:r>
              <a:endParaRPr/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876300" y="4695825"/>
              <a:ext cx="51054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Además, distribuir continuamente la atención entre distintas actividades puede generar pérdidas de eficiencia por los cambios constantes de contexto.</a:t>
              </a:r>
              <a:endParaRPr/>
            </a:p>
          </p:txBody>
        </p:sp>
        <p:sp>
          <p:nvSpPr>
            <p:cNvPr id="141" name="Google Shape;141;p4"/>
            <p:cNvSpPr/>
            <p:nvPr/>
          </p:nvSpPr>
          <p:spPr>
            <a:xfrm>
              <a:off x="876300" y="5591175"/>
              <a:ext cx="5105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Por eso, el seguimiento debe ayudarnos a observar resultados y valor, no únicamente movimiento.</a:t>
              </a:r>
              <a:endParaRPr/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876300" y="6334125"/>
              <a:ext cx="5105400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Figura 2. Actividad ≠ avance</a:t>
              </a:r>
              <a:endParaRPr/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876300" y="6934200"/>
              <a:ext cx="2286000" cy="1295400"/>
            </a:xfrm>
            <a:prstGeom prst="roundRect">
              <a:avLst>
                <a:gd fmla="val 14706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3695700" y="6934200"/>
              <a:ext cx="2286000" cy="1295400"/>
            </a:xfrm>
            <a:prstGeom prst="roundRect">
              <a:avLst>
                <a:gd fmla="val 14706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4"/>
            <p:cNvSpPr/>
            <p:nvPr/>
          </p:nvSpPr>
          <p:spPr>
            <a:xfrm>
              <a:off x="1028700" y="7134225"/>
              <a:ext cx="1981200" cy="1047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Muchas tareas iniciadas.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Atención fragmentada.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Trabajo parcialmente desarrollado.</a:t>
              </a:r>
              <a:endParaRPr/>
            </a:p>
          </p:txBody>
        </p:sp>
        <p:sp>
          <p:nvSpPr>
            <p:cNvPr id="146" name="Google Shape;146;p4"/>
            <p:cNvSpPr/>
            <p:nvPr/>
          </p:nvSpPr>
          <p:spPr>
            <a:xfrm>
              <a:off x="3276600" y="7324725"/>
              <a:ext cx="3619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≠</a:t>
              </a:r>
              <a:endParaRPr/>
            </a:p>
          </p:txBody>
        </p:sp>
        <p:sp>
          <p:nvSpPr>
            <p:cNvPr id="147" name="Google Shape;147;p4"/>
            <p:cNvSpPr/>
            <p:nvPr/>
          </p:nvSpPr>
          <p:spPr>
            <a:xfrm>
              <a:off x="3848100" y="7134225"/>
              <a:ext cx="1981200" cy="1047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Elementos terminados.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Prioridades atendidas.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Resultados que contribuyen a la meta.</a:t>
              </a:r>
              <a:endParaRPr/>
            </a:p>
          </p:txBody>
        </p:sp>
        <p:sp>
          <p:nvSpPr>
            <p:cNvPr id="148" name="Google Shape;148;p4"/>
            <p:cNvSpPr/>
            <p:nvPr/>
          </p:nvSpPr>
          <p:spPr>
            <a:xfrm>
              <a:off x="1581150" y="8458200"/>
              <a:ext cx="4400550" cy="485775"/>
            </a:xfrm>
            <a:prstGeom prst="roundRect">
              <a:avLst>
                <a:gd fmla="val 39216" name="adj"/>
              </a:avLst>
            </a:prstGeom>
            <a:solidFill>
              <a:srgbClr val="FFD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4"/>
            <p:cNvSpPr/>
            <p:nvPr/>
          </p:nvSpPr>
          <p:spPr>
            <a:xfrm>
              <a:off x="1752600" y="8582025"/>
              <a:ext cx="4057650" cy="276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Hacer más cosas no garantiza generar más valor.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"/>
          <p:cNvSpPr/>
          <p:nvPr/>
        </p:nvSpPr>
        <p:spPr>
          <a:xfrm>
            <a:off x="876300" y="723900"/>
            <a:ext cx="3429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Artículo educativo · Seguimiento y adaptación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876301" y="2286001"/>
            <a:ext cx="85725" cy="85725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1038225" y="2286000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1200150" y="2286000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1362075" y="2286000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1524000" y="2286000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1685926" y="2286001"/>
            <a:ext cx="85725" cy="85725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2" name="Google Shape;162;p5"/>
          <p:cNvGrpSpPr/>
          <p:nvPr/>
        </p:nvGrpSpPr>
        <p:grpSpPr>
          <a:xfrm>
            <a:off x="746200" y="1390650"/>
            <a:ext cx="5235500" cy="8039100"/>
            <a:chOff x="746200" y="1390650"/>
            <a:chExt cx="5235500" cy="8039100"/>
          </a:xfrm>
        </p:grpSpPr>
        <p:sp>
          <p:nvSpPr>
            <p:cNvPr id="163" name="Google Shape;163;p5"/>
            <p:cNvSpPr/>
            <p:nvPr/>
          </p:nvSpPr>
          <p:spPr>
            <a:xfrm>
              <a:off x="876300" y="1390650"/>
              <a:ext cx="5105400" cy="847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Hacer visibles los impedimentos</a:t>
              </a:r>
              <a:endParaRPr/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1790700" y="9201150"/>
              <a:ext cx="857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/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876300" y="2686050"/>
              <a:ext cx="5105400" cy="1076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Un impedimento es una situación que dificulta o bloquea el avance del trabajo. Puede surgir por falta de información, dependencia de otra persona, problemas tecnológicos, ausencia de permisos, decisiones pendientes o limitaciones de recursos.</a:t>
              </a:r>
              <a:endParaRPr/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876300" y="3886200"/>
              <a:ext cx="5105400" cy="561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Detectarlo tempranamente permite buscar alternativas antes de que afecte a otros elementos del proyecto.</a:t>
              </a:r>
              <a:endParaRPr/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876300" y="4572000"/>
              <a:ext cx="5105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La transparencia, por tanto, no consiste solamente en mostrar avances positivos. También requiere hacer visibles las dificultades.</a:t>
              </a:r>
              <a:endParaRPr/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876300" y="5267325"/>
              <a:ext cx="5105400" cy="581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Ocultar un problema no hace que desaparezca; únicamente reduce la capacidad del equipo para actuar sobre él.</a:t>
              </a:r>
              <a:endParaRPr/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876300" y="5953125"/>
              <a:ext cx="5105400" cy="552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Figura 3. Del impedimento visible a la acción</a:t>
              </a:r>
              <a:endParaRPr/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876300" y="6572250"/>
              <a:ext cx="5105400" cy="390525"/>
            </a:xfrm>
            <a:prstGeom prst="roundRect">
              <a:avLst>
                <a:gd fmla="val 24390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990600" y="6667500"/>
              <a:ext cx="1276350" cy="257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IMPEDIMENTO</a:t>
              </a:r>
              <a:endParaRPr/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2495550" y="6629400"/>
              <a:ext cx="3343275" cy="333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¿Qué está dificultando avanzar?</a:t>
              </a:r>
              <a:endParaRPr/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781050" y="6753225"/>
              <a:ext cx="953" cy="438150"/>
            </a:xfrm>
            <a:custGeom>
              <a:rect b="b" l="l" r="r" t="t"/>
              <a:pathLst>
                <a:path extrusionOk="0" h="438150" w="953">
                  <a:moveTo>
                    <a:pt x="0" y="0"/>
                  </a:moveTo>
                  <a:lnTo>
                    <a:pt x="0" y="43815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74" name="Google Shape;174;p5"/>
            <p:cNvSpPr/>
            <p:nvPr/>
          </p:nvSpPr>
          <p:spPr>
            <a:xfrm>
              <a:off x="746200" y="7134533"/>
              <a:ext cx="34850" cy="56842"/>
            </a:xfrm>
            <a:custGeom>
              <a:rect b="b" l="l" r="r" t="t"/>
              <a:pathLst>
                <a:path extrusionOk="0" h="56842" w="34850">
                  <a:moveTo>
                    <a:pt x="34850" y="56842"/>
                  </a:moveTo>
                  <a:lnTo>
                    <a:pt x="0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75" name="Google Shape;175;p5"/>
            <p:cNvSpPr/>
            <p:nvPr/>
          </p:nvSpPr>
          <p:spPr>
            <a:xfrm>
              <a:off x="781050" y="7134533"/>
              <a:ext cx="34850" cy="56842"/>
            </a:xfrm>
            <a:custGeom>
              <a:rect b="b" l="l" r="r" t="t"/>
              <a:pathLst>
                <a:path extrusionOk="0" h="56842" w="34850">
                  <a:moveTo>
                    <a:pt x="0" y="56842"/>
                  </a:moveTo>
                  <a:lnTo>
                    <a:pt x="34850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76" name="Google Shape;176;p5"/>
            <p:cNvSpPr/>
            <p:nvPr/>
          </p:nvSpPr>
          <p:spPr>
            <a:xfrm>
              <a:off x="876300" y="7010400"/>
              <a:ext cx="5105400" cy="390525"/>
            </a:xfrm>
            <a:prstGeom prst="roundRect">
              <a:avLst>
                <a:gd fmla="val 24390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990600" y="7105650"/>
              <a:ext cx="1276350" cy="257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4478F5"/>
                  </a:solidFill>
                  <a:latin typeface="Arial"/>
                  <a:ea typeface="Arial"/>
                  <a:cs typeface="Arial"/>
                  <a:sym typeface="Arial"/>
                </a:rPr>
                <a:t>VISIBILIDAD</a:t>
              </a:r>
              <a:endParaRPr/>
            </a:p>
          </p:txBody>
        </p:sp>
        <p:sp>
          <p:nvSpPr>
            <p:cNvPr id="178" name="Google Shape;178;p5"/>
            <p:cNvSpPr/>
            <p:nvPr/>
          </p:nvSpPr>
          <p:spPr>
            <a:xfrm>
              <a:off x="2495550" y="7067550"/>
              <a:ext cx="3343275" cy="333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Lo hacemos observable y comprensible.</a:t>
              </a:r>
              <a:endParaRPr/>
            </a:p>
          </p:txBody>
        </p:sp>
        <p:sp>
          <p:nvSpPr>
            <p:cNvPr id="179" name="Google Shape;179;p5"/>
            <p:cNvSpPr/>
            <p:nvPr/>
          </p:nvSpPr>
          <p:spPr>
            <a:xfrm>
              <a:off x="781050" y="7191375"/>
              <a:ext cx="953" cy="438150"/>
            </a:xfrm>
            <a:custGeom>
              <a:rect b="b" l="l" r="r" t="t"/>
              <a:pathLst>
                <a:path extrusionOk="0" h="438150" w="953">
                  <a:moveTo>
                    <a:pt x="0" y="0"/>
                  </a:moveTo>
                  <a:lnTo>
                    <a:pt x="0" y="43815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80" name="Google Shape;180;p5"/>
            <p:cNvSpPr/>
            <p:nvPr/>
          </p:nvSpPr>
          <p:spPr>
            <a:xfrm>
              <a:off x="746200" y="7572683"/>
              <a:ext cx="34850" cy="56842"/>
            </a:xfrm>
            <a:custGeom>
              <a:rect b="b" l="l" r="r" t="t"/>
              <a:pathLst>
                <a:path extrusionOk="0" h="56842" w="34850">
                  <a:moveTo>
                    <a:pt x="34850" y="56842"/>
                  </a:moveTo>
                  <a:lnTo>
                    <a:pt x="0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81" name="Google Shape;181;p5"/>
            <p:cNvSpPr/>
            <p:nvPr/>
          </p:nvSpPr>
          <p:spPr>
            <a:xfrm>
              <a:off x="781050" y="7572683"/>
              <a:ext cx="34850" cy="56842"/>
            </a:xfrm>
            <a:custGeom>
              <a:rect b="b" l="l" r="r" t="t"/>
              <a:pathLst>
                <a:path extrusionOk="0" h="56842" w="34850">
                  <a:moveTo>
                    <a:pt x="0" y="56842"/>
                  </a:moveTo>
                  <a:lnTo>
                    <a:pt x="34850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82" name="Google Shape;182;p5"/>
            <p:cNvSpPr/>
            <p:nvPr/>
          </p:nvSpPr>
          <p:spPr>
            <a:xfrm>
              <a:off x="876300" y="7448550"/>
              <a:ext cx="5105400" cy="390525"/>
            </a:xfrm>
            <a:prstGeom prst="roundRect">
              <a:avLst>
                <a:gd fmla="val 24390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5"/>
            <p:cNvSpPr/>
            <p:nvPr/>
          </p:nvSpPr>
          <p:spPr>
            <a:xfrm>
              <a:off x="990600" y="7543800"/>
              <a:ext cx="1276350" cy="257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ANÁLISIS</a:t>
              </a:r>
              <a:endParaRPr/>
            </a:p>
          </p:txBody>
        </p:sp>
        <p:sp>
          <p:nvSpPr>
            <p:cNvPr id="184" name="Google Shape;184;p5"/>
            <p:cNvSpPr/>
            <p:nvPr/>
          </p:nvSpPr>
          <p:spPr>
            <a:xfrm>
              <a:off x="2495550" y="7505700"/>
              <a:ext cx="3343275" cy="333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¿Qué consecuencias produce?</a:t>
              </a:r>
              <a:endParaRPr/>
            </a:p>
          </p:txBody>
        </p:sp>
        <p:sp>
          <p:nvSpPr>
            <p:cNvPr id="185" name="Google Shape;185;p5"/>
            <p:cNvSpPr/>
            <p:nvPr/>
          </p:nvSpPr>
          <p:spPr>
            <a:xfrm>
              <a:off x="781050" y="7629525"/>
              <a:ext cx="953" cy="438150"/>
            </a:xfrm>
            <a:custGeom>
              <a:rect b="b" l="l" r="r" t="t"/>
              <a:pathLst>
                <a:path extrusionOk="0" h="438150" w="953">
                  <a:moveTo>
                    <a:pt x="0" y="0"/>
                  </a:moveTo>
                  <a:lnTo>
                    <a:pt x="0" y="43815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86" name="Google Shape;186;p5"/>
            <p:cNvSpPr/>
            <p:nvPr/>
          </p:nvSpPr>
          <p:spPr>
            <a:xfrm>
              <a:off x="746200" y="8010833"/>
              <a:ext cx="34850" cy="56842"/>
            </a:xfrm>
            <a:custGeom>
              <a:rect b="b" l="l" r="r" t="t"/>
              <a:pathLst>
                <a:path extrusionOk="0" h="56842" w="34850">
                  <a:moveTo>
                    <a:pt x="34850" y="56842"/>
                  </a:moveTo>
                  <a:lnTo>
                    <a:pt x="0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87" name="Google Shape;187;p5"/>
            <p:cNvSpPr/>
            <p:nvPr/>
          </p:nvSpPr>
          <p:spPr>
            <a:xfrm>
              <a:off x="781050" y="8010833"/>
              <a:ext cx="34850" cy="56842"/>
            </a:xfrm>
            <a:custGeom>
              <a:rect b="b" l="l" r="r" t="t"/>
              <a:pathLst>
                <a:path extrusionOk="0" h="56842" w="34850">
                  <a:moveTo>
                    <a:pt x="0" y="56842"/>
                  </a:moveTo>
                  <a:lnTo>
                    <a:pt x="34850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88" name="Google Shape;188;p5"/>
            <p:cNvSpPr/>
            <p:nvPr/>
          </p:nvSpPr>
          <p:spPr>
            <a:xfrm>
              <a:off x="876300" y="7886700"/>
              <a:ext cx="5105400" cy="390525"/>
            </a:xfrm>
            <a:prstGeom prst="roundRect">
              <a:avLst>
                <a:gd fmla="val 24390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5"/>
            <p:cNvSpPr/>
            <p:nvPr/>
          </p:nvSpPr>
          <p:spPr>
            <a:xfrm>
              <a:off x="990600" y="7981950"/>
              <a:ext cx="1276350" cy="257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4478F5"/>
                  </a:solidFill>
                  <a:latin typeface="Arial"/>
                  <a:ea typeface="Arial"/>
                  <a:cs typeface="Arial"/>
                  <a:sym typeface="Arial"/>
                </a:rPr>
                <a:t>ACCIÓN</a:t>
              </a:r>
              <a:endParaRPr/>
            </a:p>
          </p:txBody>
        </p:sp>
        <p:sp>
          <p:nvSpPr>
            <p:cNvPr id="190" name="Google Shape;190;p5"/>
            <p:cNvSpPr/>
            <p:nvPr/>
          </p:nvSpPr>
          <p:spPr>
            <a:xfrm>
              <a:off x="2495550" y="7943850"/>
              <a:ext cx="3343275" cy="333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¿Qué podemos hacer para reducirlo o resolverlo?</a:t>
              </a:r>
              <a:endParaRPr/>
            </a:p>
          </p:txBody>
        </p:sp>
        <p:sp>
          <p:nvSpPr>
            <p:cNvPr id="191" name="Google Shape;191;p5"/>
            <p:cNvSpPr/>
            <p:nvPr/>
          </p:nvSpPr>
          <p:spPr>
            <a:xfrm>
              <a:off x="1581150" y="8401050"/>
              <a:ext cx="4400550" cy="609600"/>
            </a:xfrm>
            <a:prstGeom prst="roundRect">
              <a:avLst>
                <a:gd fmla="val 31250" name="adj"/>
              </a:avLst>
            </a:prstGeom>
            <a:solidFill>
              <a:srgbClr val="FFD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5"/>
            <p:cNvSpPr/>
            <p:nvPr/>
          </p:nvSpPr>
          <p:spPr>
            <a:xfrm>
              <a:off x="1752600" y="8524875"/>
              <a:ext cx="4057650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Un impedimento visible puede gestionarse; uno oculto puede seguir afectando el proyecto.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"/>
          <p:cNvSpPr/>
          <p:nvPr/>
        </p:nvSpPr>
        <p:spPr>
          <a:xfrm>
            <a:off x="876300" y="723900"/>
            <a:ext cx="3429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Artículo educativo · Seguimiento y adaptación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876301" y="2286001"/>
            <a:ext cx="85725" cy="85725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1038225" y="2286000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1200150" y="2286000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1362075" y="2286000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1524000" y="2286000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1685926" y="2286001"/>
            <a:ext cx="85725" cy="85725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5" name="Google Shape;205;p6"/>
          <p:cNvGrpSpPr/>
          <p:nvPr/>
        </p:nvGrpSpPr>
        <p:grpSpPr>
          <a:xfrm>
            <a:off x="876300" y="1390650"/>
            <a:ext cx="5105400" cy="8039100"/>
            <a:chOff x="876300" y="1390650"/>
            <a:chExt cx="5105400" cy="8039100"/>
          </a:xfrm>
        </p:grpSpPr>
        <p:sp>
          <p:nvSpPr>
            <p:cNvPr id="206" name="Google Shape;206;p6"/>
            <p:cNvSpPr/>
            <p:nvPr/>
          </p:nvSpPr>
          <p:spPr>
            <a:xfrm>
              <a:off x="876300" y="1390650"/>
              <a:ext cx="5105400" cy="847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Adaptar con criterio</a:t>
              </a:r>
              <a:endParaRPr/>
            </a:p>
          </p:txBody>
        </p:sp>
        <p:sp>
          <p:nvSpPr>
            <p:cNvPr id="207" name="Google Shape;207;p6"/>
            <p:cNvSpPr/>
            <p:nvPr/>
          </p:nvSpPr>
          <p:spPr>
            <a:xfrm>
              <a:off x="1790700" y="9201150"/>
              <a:ext cx="857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06</a:t>
              </a:r>
              <a:endParaRPr/>
            </a:p>
          </p:txBody>
        </p:sp>
        <p:sp>
          <p:nvSpPr>
            <p:cNvPr id="208" name="Google Shape;208;p6"/>
            <p:cNvSpPr/>
            <p:nvPr/>
          </p:nvSpPr>
          <p:spPr>
            <a:xfrm>
              <a:off x="876300" y="2686050"/>
              <a:ext cx="5105400" cy="962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En enfoques más rígidos, controlar puede asociarse principalmente con evitar que el proyecto se desvíe del plan. En una perspectiva ágil, necesitamos incorporar una pregunta adicional:</a:t>
              </a:r>
              <a:endParaRPr/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876300" y="3838575"/>
              <a:ext cx="5105400" cy="685800"/>
            </a:xfrm>
            <a:prstGeom prst="roundRect">
              <a:avLst>
                <a:gd fmla="val 27778" name="adj"/>
              </a:avLst>
            </a:prstGeom>
            <a:solidFill>
              <a:srgbClr val="FFD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6"/>
            <p:cNvSpPr/>
            <p:nvPr/>
          </p:nvSpPr>
          <p:spPr>
            <a:xfrm>
              <a:off x="1047750" y="3962400"/>
              <a:ext cx="4762500" cy="476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¿El plan todavía representa la mejor forma de alcanzar la meta?</a:t>
              </a:r>
              <a:endParaRPr/>
            </a:p>
          </p:txBody>
        </p:sp>
        <p:sp>
          <p:nvSpPr>
            <p:cNvPr id="211" name="Google Shape;211;p6"/>
            <p:cNvSpPr/>
            <p:nvPr/>
          </p:nvSpPr>
          <p:spPr>
            <a:xfrm>
              <a:off x="876300" y="4743450"/>
              <a:ext cx="5105400" cy="742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Si las condiciones cambian, cumplir exactamente una decisión tomada con información anterior puede conducir a resultados poco útiles.</a:t>
              </a:r>
              <a:endParaRPr/>
            </a:p>
          </p:txBody>
        </p:sp>
        <p:sp>
          <p:nvSpPr>
            <p:cNvPr id="212" name="Google Shape;212;p6"/>
            <p:cNvSpPr/>
            <p:nvPr/>
          </p:nvSpPr>
          <p:spPr>
            <a:xfrm>
              <a:off x="876300" y="5610225"/>
              <a:ext cx="5105400" cy="981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Esto tampoco significa modificar el trabajo constantemente sin criterio. Cambiar sin una razón clara puede generar inestabilidad</a:t>
              </a:r>
              <a:r>
                <a:rPr lang="en-US" sz="1200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,</a:t>
              </a: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 pero negarnos a cambiar cuando existe evidencia suficiente puede producir desperdicio.</a:t>
              </a:r>
              <a:endParaRPr/>
            </a:p>
          </p:txBody>
        </p:sp>
        <p:sp>
          <p:nvSpPr>
            <p:cNvPr id="213" name="Google Shape;213;p6"/>
            <p:cNvSpPr/>
            <p:nvPr/>
          </p:nvSpPr>
          <p:spPr>
            <a:xfrm>
              <a:off x="876300" y="6705600"/>
              <a:ext cx="5105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El control ágil consiste también en evaluar si conviene adaptar la planificación.</a:t>
              </a:r>
              <a:endParaRPr/>
            </a:p>
          </p:txBody>
        </p:sp>
        <p:sp>
          <p:nvSpPr>
            <p:cNvPr id="214" name="Google Shape;214;p6"/>
            <p:cNvSpPr/>
            <p:nvPr/>
          </p:nvSpPr>
          <p:spPr>
            <a:xfrm>
              <a:off x="876300" y="7143750"/>
              <a:ext cx="51054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Aferrarse al plan ≠ Adaptar con criterio</a:t>
              </a:r>
              <a:endParaRPr/>
            </a:p>
          </p:txBody>
        </p:sp>
        <p:sp>
          <p:nvSpPr>
            <p:cNvPr id="215" name="Google Shape;215;p6"/>
            <p:cNvSpPr/>
            <p:nvPr/>
          </p:nvSpPr>
          <p:spPr>
            <a:xfrm>
              <a:off x="876300" y="7696200"/>
              <a:ext cx="2276475" cy="685800"/>
            </a:xfrm>
            <a:prstGeom prst="roundRect">
              <a:avLst>
                <a:gd fmla="val 23611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6"/>
            <p:cNvSpPr/>
            <p:nvPr/>
          </p:nvSpPr>
          <p:spPr>
            <a:xfrm>
              <a:off x="3705225" y="7696200"/>
              <a:ext cx="2276475" cy="685800"/>
            </a:xfrm>
            <a:prstGeom prst="roundRect">
              <a:avLst>
                <a:gd fmla="val 23611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6"/>
            <p:cNvSpPr/>
            <p:nvPr/>
          </p:nvSpPr>
          <p:spPr>
            <a:xfrm>
              <a:off x="1019175" y="7839075"/>
              <a:ext cx="1990725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“Lo definimos así al comienzo”.</a:t>
              </a:r>
              <a:endParaRPr/>
            </a:p>
          </p:txBody>
        </p:sp>
        <p:sp>
          <p:nvSpPr>
            <p:cNvPr id="218" name="Google Shape;218;p6"/>
            <p:cNvSpPr/>
            <p:nvPr/>
          </p:nvSpPr>
          <p:spPr>
            <a:xfrm>
              <a:off x="3286125" y="7858125"/>
              <a:ext cx="361950" cy="504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≠</a:t>
              </a:r>
              <a:endParaRPr/>
            </a:p>
          </p:txBody>
        </p:sp>
        <p:sp>
          <p:nvSpPr>
            <p:cNvPr id="219" name="Google Shape;219;p6"/>
            <p:cNvSpPr/>
            <p:nvPr/>
          </p:nvSpPr>
          <p:spPr>
            <a:xfrm>
              <a:off x="3848100" y="7839075"/>
              <a:ext cx="1990725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64D95"/>
                  </a:solidFill>
                  <a:latin typeface="Arial"/>
                  <a:ea typeface="Arial"/>
                  <a:cs typeface="Arial"/>
                  <a:sym typeface="Arial"/>
                </a:rPr>
                <a:t>“¿Qué nos muestra ahora la evidencia?”</a:t>
              </a:r>
              <a:endParaRPr/>
            </a:p>
          </p:txBody>
        </p:sp>
        <p:sp>
          <p:nvSpPr>
            <p:cNvPr id="220" name="Google Shape;220;p6"/>
            <p:cNvSpPr/>
            <p:nvPr/>
          </p:nvSpPr>
          <p:spPr>
            <a:xfrm>
              <a:off x="1581150" y="8467725"/>
              <a:ext cx="4400550" cy="552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Flexibilidad no significa cambiar por cambiar. Significa revisar decisiones cuando existe una razón fundamentada.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"/>
          <p:cNvSpPr/>
          <p:nvPr/>
        </p:nvSpPr>
        <p:spPr>
          <a:xfrm>
            <a:off x="876300" y="723900"/>
            <a:ext cx="3429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Artículo educativo · Seguimiento y adaptación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876301" y="2286001"/>
            <a:ext cx="85725" cy="85725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1038225" y="2286000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1200150" y="2286000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1362075" y="2286000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1524000" y="2286000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1685926" y="2286001"/>
            <a:ext cx="85725" cy="85725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3" name="Google Shape;233;p7"/>
          <p:cNvGrpSpPr/>
          <p:nvPr/>
        </p:nvGrpSpPr>
        <p:grpSpPr>
          <a:xfrm>
            <a:off x="746200" y="1390650"/>
            <a:ext cx="5235500" cy="8039100"/>
            <a:chOff x="746200" y="1390650"/>
            <a:chExt cx="5235500" cy="8039100"/>
          </a:xfrm>
        </p:grpSpPr>
        <p:sp>
          <p:nvSpPr>
            <p:cNvPr id="234" name="Google Shape;234;p7"/>
            <p:cNvSpPr/>
            <p:nvPr/>
          </p:nvSpPr>
          <p:spPr>
            <a:xfrm>
              <a:off x="876300" y="1390650"/>
              <a:ext cx="5105400" cy="847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De la información a las decisiones</a:t>
              </a:r>
              <a:endParaRPr/>
            </a:p>
          </p:txBody>
        </p:sp>
        <p:sp>
          <p:nvSpPr>
            <p:cNvPr id="235" name="Google Shape;235;p7"/>
            <p:cNvSpPr/>
            <p:nvPr/>
          </p:nvSpPr>
          <p:spPr>
            <a:xfrm>
              <a:off x="1790700" y="9201150"/>
              <a:ext cx="857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07</a:t>
              </a:r>
              <a:endParaRPr/>
            </a:p>
          </p:txBody>
        </p:sp>
        <p:sp>
          <p:nvSpPr>
            <p:cNvPr id="236" name="Google Shape;236;p7"/>
            <p:cNvSpPr/>
            <p:nvPr/>
          </p:nvSpPr>
          <p:spPr>
            <a:xfrm>
              <a:off x="876300" y="2686050"/>
              <a:ext cx="5105400" cy="742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El seguimiento puede producir datos, tableros, reportes y reuniones. Sin embargo, la recopila</a:t>
              </a:r>
              <a:r>
                <a:rPr lang="en-US" sz="1200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ción de</a:t>
              </a: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 información no mejora por sí mism</a:t>
              </a:r>
              <a:r>
                <a:rPr lang="en-US" sz="1200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 un proyecto.</a:t>
              </a:r>
              <a:endParaRPr/>
            </a:p>
          </p:txBody>
        </p:sp>
        <p:sp>
          <p:nvSpPr>
            <p:cNvPr id="237" name="Google Shape;237;p7"/>
            <p:cNvSpPr/>
            <p:nvPr/>
          </p:nvSpPr>
          <p:spPr>
            <a:xfrm>
              <a:off x="876300" y="3552825"/>
              <a:ext cx="5105400" cy="295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Necesitamos convertirla en preguntas útiles:</a:t>
              </a:r>
              <a:endParaRPr/>
            </a:p>
          </p:txBody>
        </p:sp>
        <p:sp>
          <p:nvSpPr>
            <p:cNvPr id="238" name="Google Shape;238;p7"/>
            <p:cNvSpPr/>
            <p:nvPr/>
          </p:nvSpPr>
          <p:spPr>
            <a:xfrm>
              <a:off x="876300" y="3914775"/>
              <a:ext cx="47625" cy="228600"/>
            </a:xfrm>
            <a:prstGeom prst="rect">
              <a:avLst/>
            </a:prstGeom>
            <a:solidFill>
              <a:srgbClr val="6640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7"/>
            <p:cNvSpPr/>
            <p:nvPr/>
          </p:nvSpPr>
          <p:spPr>
            <a:xfrm>
              <a:off x="1057275" y="3914775"/>
              <a:ext cx="48672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¿Qué está funcionando?</a:t>
              </a:r>
              <a:endParaRPr/>
            </a:p>
          </p:txBody>
        </p:sp>
        <p:sp>
          <p:nvSpPr>
            <p:cNvPr id="240" name="Google Shape;240;p7"/>
            <p:cNvSpPr/>
            <p:nvPr/>
          </p:nvSpPr>
          <p:spPr>
            <a:xfrm>
              <a:off x="876300" y="4248150"/>
              <a:ext cx="47625" cy="228600"/>
            </a:xfrm>
            <a:prstGeom prst="rect">
              <a:avLst/>
            </a:prstGeom>
            <a:solidFill>
              <a:srgbClr val="A719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7"/>
            <p:cNvSpPr/>
            <p:nvPr/>
          </p:nvSpPr>
          <p:spPr>
            <a:xfrm>
              <a:off x="1057275" y="4248150"/>
              <a:ext cx="48672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¿Qué está impidiendo avanzar?</a:t>
              </a:r>
              <a:endParaRPr/>
            </a:p>
          </p:txBody>
        </p:sp>
        <p:sp>
          <p:nvSpPr>
            <p:cNvPr id="242" name="Google Shape;242;p7"/>
            <p:cNvSpPr/>
            <p:nvPr/>
          </p:nvSpPr>
          <p:spPr>
            <a:xfrm>
              <a:off x="876300" y="4581525"/>
              <a:ext cx="47625" cy="228600"/>
            </a:xfrm>
            <a:prstGeom prst="rect">
              <a:avLst/>
            </a:prstGeom>
            <a:solidFill>
              <a:srgbClr val="4478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7"/>
            <p:cNvSpPr/>
            <p:nvPr/>
          </p:nvSpPr>
          <p:spPr>
            <a:xfrm>
              <a:off x="1057275" y="4581525"/>
              <a:ext cx="48672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¿Qué prioridades deberían revisarse?</a:t>
              </a:r>
              <a:endParaRPr/>
            </a:p>
          </p:txBody>
        </p:sp>
        <p:sp>
          <p:nvSpPr>
            <p:cNvPr id="244" name="Google Shape;244;p7"/>
            <p:cNvSpPr/>
            <p:nvPr/>
          </p:nvSpPr>
          <p:spPr>
            <a:xfrm>
              <a:off x="876300" y="4914900"/>
              <a:ext cx="47625" cy="228600"/>
            </a:xfrm>
            <a:prstGeom prst="rect">
              <a:avLst/>
            </a:prstGeom>
            <a:solidFill>
              <a:srgbClr val="064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7"/>
            <p:cNvSpPr/>
            <p:nvPr/>
          </p:nvSpPr>
          <p:spPr>
            <a:xfrm>
              <a:off x="1057275" y="4914900"/>
              <a:ext cx="48672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¿Qué hemos aprendido sobre el producto?</a:t>
              </a:r>
              <a:endParaRPr/>
            </a:p>
          </p:txBody>
        </p:sp>
        <p:sp>
          <p:nvSpPr>
            <p:cNvPr id="246" name="Google Shape;246;p7"/>
            <p:cNvSpPr/>
            <p:nvPr/>
          </p:nvSpPr>
          <p:spPr>
            <a:xfrm>
              <a:off x="876300" y="5334000"/>
              <a:ext cx="5105400" cy="600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Las respuestas pueden conducir a redistribuir trabajo, modificar requerimientos, ajustar expectativas o replantear una solución.</a:t>
              </a:r>
              <a:endParaRPr/>
            </a:p>
          </p:txBody>
        </p:sp>
        <p:sp>
          <p:nvSpPr>
            <p:cNvPr id="247" name="Google Shape;247;p7"/>
            <p:cNvSpPr/>
            <p:nvPr/>
          </p:nvSpPr>
          <p:spPr>
            <a:xfrm>
              <a:off x="876300" y="6000750"/>
              <a:ext cx="5105400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Así, seguimiento y control forman parte de un proceso de aprendizaje continuo.</a:t>
              </a:r>
              <a:endParaRPr/>
            </a:p>
          </p:txBody>
        </p:sp>
        <p:sp>
          <p:nvSpPr>
            <p:cNvPr id="248" name="Google Shape;248;p7"/>
            <p:cNvSpPr/>
            <p:nvPr/>
          </p:nvSpPr>
          <p:spPr>
            <a:xfrm>
              <a:off x="876300" y="6486525"/>
              <a:ext cx="5105400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Figura 4. Del dato a la decisión</a:t>
              </a:r>
              <a:endParaRPr/>
            </a:p>
          </p:txBody>
        </p:sp>
        <p:sp>
          <p:nvSpPr>
            <p:cNvPr id="249" name="Google Shape;249;p7"/>
            <p:cNvSpPr/>
            <p:nvPr/>
          </p:nvSpPr>
          <p:spPr>
            <a:xfrm>
              <a:off x="876300" y="7019925"/>
              <a:ext cx="5105400" cy="276225"/>
            </a:xfrm>
            <a:prstGeom prst="roundRect">
              <a:avLst>
                <a:gd fmla="val 31034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7"/>
            <p:cNvSpPr/>
            <p:nvPr/>
          </p:nvSpPr>
          <p:spPr>
            <a:xfrm>
              <a:off x="990600" y="7067550"/>
              <a:ext cx="1543050" cy="238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DATOS</a:t>
              </a:r>
              <a:endParaRPr/>
            </a:p>
          </p:txBody>
        </p:sp>
        <p:sp>
          <p:nvSpPr>
            <p:cNvPr id="251" name="Google Shape;251;p7"/>
            <p:cNvSpPr/>
            <p:nvPr/>
          </p:nvSpPr>
          <p:spPr>
            <a:xfrm>
              <a:off x="781050" y="7134225"/>
              <a:ext cx="953" cy="285750"/>
            </a:xfrm>
            <a:custGeom>
              <a:rect b="b" l="l" r="r" t="t"/>
              <a:pathLst>
                <a:path extrusionOk="0" h="285750" w="953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52" name="Google Shape;252;p7"/>
            <p:cNvSpPr/>
            <p:nvPr/>
          </p:nvSpPr>
          <p:spPr>
            <a:xfrm>
              <a:off x="746200" y="7363133"/>
              <a:ext cx="34850" cy="56842"/>
            </a:xfrm>
            <a:custGeom>
              <a:rect b="b" l="l" r="r" t="t"/>
              <a:pathLst>
                <a:path extrusionOk="0" h="56842" w="34850">
                  <a:moveTo>
                    <a:pt x="34850" y="56842"/>
                  </a:moveTo>
                  <a:lnTo>
                    <a:pt x="0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53" name="Google Shape;253;p7"/>
            <p:cNvSpPr/>
            <p:nvPr/>
          </p:nvSpPr>
          <p:spPr>
            <a:xfrm>
              <a:off x="781050" y="7363133"/>
              <a:ext cx="34850" cy="56842"/>
            </a:xfrm>
            <a:custGeom>
              <a:rect b="b" l="l" r="r" t="t"/>
              <a:pathLst>
                <a:path extrusionOk="0" h="56842" w="34850">
                  <a:moveTo>
                    <a:pt x="0" y="56842"/>
                  </a:moveTo>
                  <a:lnTo>
                    <a:pt x="34850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54" name="Google Shape;254;p7"/>
            <p:cNvSpPr/>
            <p:nvPr/>
          </p:nvSpPr>
          <p:spPr>
            <a:xfrm>
              <a:off x="876300" y="7324725"/>
              <a:ext cx="5105400" cy="276225"/>
            </a:xfrm>
            <a:prstGeom prst="roundRect">
              <a:avLst>
                <a:gd fmla="val 31034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7"/>
            <p:cNvSpPr/>
            <p:nvPr/>
          </p:nvSpPr>
          <p:spPr>
            <a:xfrm>
              <a:off x="990600" y="7372350"/>
              <a:ext cx="1543050" cy="238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4478F5"/>
                  </a:solidFill>
                  <a:latin typeface="Arial"/>
                  <a:ea typeface="Arial"/>
                  <a:cs typeface="Arial"/>
                  <a:sym typeface="Arial"/>
                </a:rPr>
                <a:t>INFORMACIÓN</a:t>
              </a:r>
              <a:endParaRPr/>
            </a:p>
          </p:txBody>
        </p:sp>
        <p:sp>
          <p:nvSpPr>
            <p:cNvPr id="256" name="Google Shape;256;p7"/>
            <p:cNvSpPr/>
            <p:nvPr/>
          </p:nvSpPr>
          <p:spPr>
            <a:xfrm>
              <a:off x="2657475" y="7372350"/>
              <a:ext cx="3181350" cy="238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¿Qué está ocurriendo?</a:t>
              </a:r>
              <a:endParaRPr/>
            </a:p>
          </p:txBody>
        </p:sp>
        <p:sp>
          <p:nvSpPr>
            <p:cNvPr id="257" name="Google Shape;257;p7"/>
            <p:cNvSpPr/>
            <p:nvPr/>
          </p:nvSpPr>
          <p:spPr>
            <a:xfrm>
              <a:off x="781050" y="7439025"/>
              <a:ext cx="953" cy="285750"/>
            </a:xfrm>
            <a:custGeom>
              <a:rect b="b" l="l" r="r" t="t"/>
              <a:pathLst>
                <a:path extrusionOk="0" h="285750" w="953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58" name="Google Shape;258;p7"/>
            <p:cNvSpPr/>
            <p:nvPr/>
          </p:nvSpPr>
          <p:spPr>
            <a:xfrm>
              <a:off x="746200" y="7667933"/>
              <a:ext cx="34850" cy="56842"/>
            </a:xfrm>
            <a:custGeom>
              <a:rect b="b" l="l" r="r" t="t"/>
              <a:pathLst>
                <a:path extrusionOk="0" h="56842" w="34850">
                  <a:moveTo>
                    <a:pt x="34850" y="56842"/>
                  </a:moveTo>
                  <a:lnTo>
                    <a:pt x="0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59" name="Google Shape;259;p7"/>
            <p:cNvSpPr/>
            <p:nvPr/>
          </p:nvSpPr>
          <p:spPr>
            <a:xfrm>
              <a:off x="781050" y="7667933"/>
              <a:ext cx="34850" cy="56842"/>
            </a:xfrm>
            <a:custGeom>
              <a:rect b="b" l="l" r="r" t="t"/>
              <a:pathLst>
                <a:path extrusionOk="0" h="56842" w="34850">
                  <a:moveTo>
                    <a:pt x="0" y="56842"/>
                  </a:moveTo>
                  <a:lnTo>
                    <a:pt x="34850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60" name="Google Shape;260;p7"/>
            <p:cNvSpPr/>
            <p:nvPr/>
          </p:nvSpPr>
          <p:spPr>
            <a:xfrm>
              <a:off x="876300" y="7629525"/>
              <a:ext cx="5105400" cy="276225"/>
            </a:xfrm>
            <a:prstGeom prst="roundRect">
              <a:avLst>
                <a:gd fmla="val 31034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7"/>
            <p:cNvSpPr/>
            <p:nvPr/>
          </p:nvSpPr>
          <p:spPr>
            <a:xfrm>
              <a:off x="990600" y="7677150"/>
              <a:ext cx="1543050" cy="238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INTERPRETACIÓN</a:t>
              </a:r>
              <a:endParaRPr/>
            </a:p>
          </p:txBody>
        </p:sp>
        <p:sp>
          <p:nvSpPr>
            <p:cNvPr id="262" name="Google Shape;262;p7"/>
            <p:cNvSpPr/>
            <p:nvPr/>
          </p:nvSpPr>
          <p:spPr>
            <a:xfrm>
              <a:off x="2657475" y="7677150"/>
              <a:ext cx="3181350" cy="238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¿Por qué importa?</a:t>
              </a:r>
              <a:endParaRPr/>
            </a:p>
          </p:txBody>
        </p:sp>
        <p:sp>
          <p:nvSpPr>
            <p:cNvPr id="263" name="Google Shape;263;p7"/>
            <p:cNvSpPr/>
            <p:nvPr/>
          </p:nvSpPr>
          <p:spPr>
            <a:xfrm>
              <a:off x="781050" y="7743825"/>
              <a:ext cx="953" cy="285750"/>
            </a:xfrm>
            <a:custGeom>
              <a:rect b="b" l="l" r="r" t="t"/>
              <a:pathLst>
                <a:path extrusionOk="0" h="285750" w="953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64" name="Google Shape;264;p7"/>
            <p:cNvSpPr/>
            <p:nvPr/>
          </p:nvSpPr>
          <p:spPr>
            <a:xfrm>
              <a:off x="746200" y="7972733"/>
              <a:ext cx="34850" cy="56842"/>
            </a:xfrm>
            <a:custGeom>
              <a:rect b="b" l="l" r="r" t="t"/>
              <a:pathLst>
                <a:path extrusionOk="0" h="56842" w="34850">
                  <a:moveTo>
                    <a:pt x="34850" y="56842"/>
                  </a:moveTo>
                  <a:lnTo>
                    <a:pt x="0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65" name="Google Shape;265;p7"/>
            <p:cNvSpPr/>
            <p:nvPr/>
          </p:nvSpPr>
          <p:spPr>
            <a:xfrm>
              <a:off x="781050" y="7972733"/>
              <a:ext cx="34850" cy="56842"/>
            </a:xfrm>
            <a:custGeom>
              <a:rect b="b" l="l" r="r" t="t"/>
              <a:pathLst>
                <a:path extrusionOk="0" h="56842" w="34850">
                  <a:moveTo>
                    <a:pt x="0" y="56842"/>
                  </a:moveTo>
                  <a:lnTo>
                    <a:pt x="34850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66" name="Google Shape;266;p7"/>
            <p:cNvSpPr/>
            <p:nvPr/>
          </p:nvSpPr>
          <p:spPr>
            <a:xfrm>
              <a:off x="876300" y="7934325"/>
              <a:ext cx="5105400" cy="276225"/>
            </a:xfrm>
            <a:prstGeom prst="roundRect">
              <a:avLst>
                <a:gd fmla="val 31034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7"/>
            <p:cNvSpPr/>
            <p:nvPr/>
          </p:nvSpPr>
          <p:spPr>
            <a:xfrm>
              <a:off x="990600" y="7981950"/>
              <a:ext cx="1543050" cy="238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4478F5"/>
                  </a:solidFill>
                  <a:latin typeface="Arial"/>
                  <a:ea typeface="Arial"/>
                  <a:cs typeface="Arial"/>
                  <a:sym typeface="Arial"/>
                </a:rPr>
                <a:t>DECISIÓN</a:t>
              </a:r>
              <a:endParaRPr/>
            </a:p>
          </p:txBody>
        </p:sp>
        <p:sp>
          <p:nvSpPr>
            <p:cNvPr id="268" name="Google Shape;268;p7"/>
            <p:cNvSpPr/>
            <p:nvPr/>
          </p:nvSpPr>
          <p:spPr>
            <a:xfrm>
              <a:off x="2657475" y="7981950"/>
              <a:ext cx="3181350" cy="238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¿Qué necesitamos hacer?</a:t>
              </a:r>
              <a:endParaRPr/>
            </a:p>
          </p:txBody>
        </p:sp>
        <p:sp>
          <p:nvSpPr>
            <p:cNvPr id="269" name="Google Shape;269;p7"/>
            <p:cNvSpPr/>
            <p:nvPr/>
          </p:nvSpPr>
          <p:spPr>
            <a:xfrm>
              <a:off x="781050" y="8048625"/>
              <a:ext cx="953" cy="285750"/>
            </a:xfrm>
            <a:custGeom>
              <a:rect b="b" l="l" r="r" t="t"/>
              <a:pathLst>
                <a:path extrusionOk="0" h="285750" w="953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70" name="Google Shape;270;p7"/>
            <p:cNvSpPr/>
            <p:nvPr/>
          </p:nvSpPr>
          <p:spPr>
            <a:xfrm>
              <a:off x="746200" y="8277533"/>
              <a:ext cx="34850" cy="56842"/>
            </a:xfrm>
            <a:custGeom>
              <a:rect b="b" l="l" r="r" t="t"/>
              <a:pathLst>
                <a:path extrusionOk="0" h="56842" w="34850">
                  <a:moveTo>
                    <a:pt x="34850" y="56842"/>
                  </a:moveTo>
                  <a:lnTo>
                    <a:pt x="0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71" name="Google Shape;271;p7"/>
            <p:cNvSpPr/>
            <p:nvPr/>
          </p:nvSpPr>
          <p:spPr>
            <a:xfrm>
              <a:off x="781050" y="8277533"/>
              <a:ext cx="34850" cy="56842"/>
            </a:xfrm>
            <a:custGeom>
              <a:rect b="b" l="l" r="r" t="t"/>
              <a:pathLst>
                <a:path extrusionOk="0" h="56842" w="34850">
                  <a:moveTo>
                    <a:pt x="0" y="56842"/>
                  </a:moveTo>
                  <a:lnTo>
                    <a:pt x="34850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72" name="Google Shape;272;p7"/>
            <p:cNvSpPr/>
            <p:nvPr/>
          </p:nvSpPr>
          <p:spPr>
            <a:xfrm>
              <a:off x="876300" y="8239125"/>
              <a:ext cx="5105400" cy="276225"/>
            </a:xfrm>
            <a:prstGeom prst="roundRect">
              <a:avLst>
                <a:gd fmla="val 31034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7"/>
            <p:cNvSpPr/>
            <p:nvPr/>
          </p:nvSpPr>
          <p:spPr>
            <a:xfrm>
              <a:off x="990600" y="8286750"/>
              <a:ext cx="1543050" cy="238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ACCIÓN</a:t>
              </a:r>
              <a:endParaRPr/>
            </a:p>
          </p:txBody>
        </p:sp>
        <p:sp>
          <p:nvSpPr>
            <p:cNvPr id="274" name="Google Shape;274;p7"/>
            <p:cNvSpPr/>
            <p:nvPr/>
          </p:nvSpPr>
          <p:spPr>
            <a:xfrm>
              <a:off x="2657475" y="8286750"/>
              <a:ext cx="3181350" cy="238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Mantener · Ajustar · Repriorizar · Resolver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8"/>
          <p:cNvSpPr/>
          <p:nvPr/>
        </p:nvSpPr>
        <p:spPr>
          <a:xfrm>
            <a:off x="876300" y="723900"/>
            <a:ext cx="3429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Artículo educativo · Seguimiento y adaptación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876301" y="2286001"/>
            <a:ext cx="85725" cy="85725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1038225" y="2286000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1200150" y="2286000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1362075" y="2286000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1524000" y="2286000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1685926" y="2286001"/>
            <a:ext cx="85725" cy="85725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7" name="Google Shape;287;p8"/>
          <p:cNvGrpSpPr/>
          <p:nvPr/>
        </p:nvGrpSpPr>
        <p:grpSpPr>
          <a:xfrm>
            <a:off x="876300" y="1390650"/>
            <a:ext cx="5105400" cy="8039100"/>
            <a:chOff x="876300" y="1390650"/>
            <a:chExt cx="5105400" cy="8039100"/>
          </a:xfrm>
        </p:grpSpPr>
        <p:sp>
          <p:nvSpPr>
            <p:cNvPr id="288" name="Google Shape;288;p8"/>
            <p:cNvSpPr/>
            <p:nvPr/>
          </p:nvSpPr>
          <p:spPr>
            <a:xfrm>
              <a:off x="876300" y="1390650"/>
              <a:ext cx="5105400" cy="847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Feedback interno y externo</a:t>
              </a:r>
              <a:endParaRPr/>
            </a:p>
          </p:txBody>
        </p:sp>
        <p:sp>
          <p:nvSpPr>
            <p:cNvPr id="289" name="Google Shape;289;p8"/>
            <p:cNvSpPr/>
            <p:nvPr/>
          </p:nvSpPr>
          <p:spPr>
            <a:xfrm>
              <a:off x="1790700" y="9201150"/>
              <a:ext cx="857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08</a:t>
              </a:r>
              <a:endParaRPr/>
            </a:p>
          </p:txBody>
        </p:sp>
        <p:sp>
          <p:nvSpPr>
            <p:cNvPr id="290" name="Google Shape;290;p8"/>
            <p:cNvSpPr/>
            <p:nvPr/>
          </p:nvSpPr>
          <p:spPr>
            <a:xfrm>
              <a:off x="876300" y="2686050"/>
              <a:ext cx="5105400" cy="1114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Antes de obtener retroalimentación, podemos creer que una funcionalidad es indispensable o que una decisión genera suficiente valor. Cuando clientes, usuarios o el propio equipo interactúan con el trabajo realizado, pueden aparecer evidencias diferentes.</a:t>
              </a:r>
              <a:endParaRPr/>
            </a:p>
          </p:txBody>
        </p:sp>
        <p:sp>
          <p:nvSpPr>
            <p:cNvPr id="291" name="Google Shape;291;p8"/>
            <p:cNvSpPr/>
            <p:nvPr/>
          </p:nvSpPr>
          <p:spPr>
            <a:xfrm>
              <a:off x="876300" y="3933825"/>
              <a:ext cx="5105400" cy="581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La retroalimentación temprana permite incorporar estos aprendizajes antes de continuar invirtiendo recursos.</a:t>
              </a:r>
              <a:endParaRPr/>
            </a:p>
          </p:txBody>
        </p:sp>
        <p:sp>
          <p:nvSpPr>
            <p:cNvPr id="292" name="Google Shape;292;p8"/>
            <p:cNvSpPr/>
            <p:nvPr/>
          </p:nvSpPr>
          <p:spPr>
            <a:xfrm>
              <a:off x="876300" y="4743450"/>
              <a:ext cx="5105400" cy="523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Dos perspectivas para aprender</a:t>
              </a:r>
              <a:endParaRPr/>
            </a:p>
          </p:txBody>
        </p:sp>
        <p:sp>
          <p:nvSpPr>
            <p:cNvPr id="293" name="Google Shape;293;p8"/>
            <p:cNvSpPr/>
            <p:nvPr/>
          </p:nvSpPr>
          <p:spPr>
            <a:xfrm>
              <a:off x="876300" y="5457825"/>
              <a:ext cx="2343150" cy="1990725"/>
            </a:xfrm>
            <a:prstGeom prst="roundRect">
              <a:avLst>
                <a:gd fmla="val 9569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8"/>
            <p:cNvSpPr/>
            <p:nvPr/>
          </p:nvSpPr>
          <p:spPr>
            <a:xfrm>
              <a:off x="3638550" y="5457825"/>
              <a:ext cx="2343150" cy="1990725"/>
            </a:xfrm>
            <a:prstGeom prst="roundRect">
              <a:avLst>
                <a:gd fmla="val 9569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8"/>
            <p:cNvSpPr/>
            <p:nvPr/>
          </p:nvSpPr>
          <p:spPr>
            <a:xfrm>
              <a:off x="1028700" y="5629275"/>
              <a:ext cx="2038350" cy="352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INTERNO</a:t>
              </a:r>
              <a:endParaRPr/>
            </a:p>
          </p:txBody>
        </p:sp>
        <p:sp>
          <p:nvSpPr>
            <p:cNvPr id="296" name="Google Shape;296;p8"/>
            <p:cNvSpPr/>
            <p:nvPr/>
          </p:nvSpPr>
          <p:spPr>
            <a:xfrm>
              <a:off x="3790950" y="5629275"/>
              <a:ext cx="2038350" cy="352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064D95"/>
                  </a:solidFill>
                  <a:latin typeface="Arial"/>
                  <a:ea typeface="Arial"/>
                  <a:cs typeface="Arial"/>
                  <a:sym typeface="Arial"/>
                </a:rPr>
                <a:t>EXTERNO</a:t>
              </a:r>
              <a:endParaRPr/>
            </a:p>
          </p:txBody>
        </p:sp>
        <p:sp>
          <p:nvSpPr>
            <p:cNvPr id="297" name="Google Shape;297;p8"/>
            <p:cNvSpPr/>
            <p:nvPr/>
          </p:nvSpPr>
          <p:spPr>
            <a:xfrm>
              <a:off x="1028700" y="6143625"/>
              <a:ext cx="2038350" cy="1162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Coordinación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Dificultades técnicas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Formas de trabajo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Necesidades del equipo</a:t>
              </a:r>
              <a:endParaRPr/>
            </a:p>
          </p:txBody>
        </p:sp>
        <p:sp>
          <p:nvSpPr>
            <p:cNvPr id="298" name="Google Shape;298;p8"/>
            <p:cNvSpPr/>
            <p:nvPr/>
          </p:nvSpPr>
          <p:spPr>
            <a:xfrm>
              <a:off x="3790950" y="6143625"/>
              <a:ext cx="2038350" cy="1162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Utilidad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Funcionamiento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Expectativas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Experiencia del cliente o usuario</a:t>
              </a:r>
              <a:endParaRPr/>
            </a:p>
          </p:txBody>
        </p:sp>
        <p:sp>
          <p:nvSpPr>
            <p:cNvPr id="299" name="Google Shape;299;p8"/>
            <p:cNvSpPr/>
            <p:nvPr/>
          </p:nvSpPr>
          <p:spPr>
            <a:xfrm>
              <a:off x="2038350" y="7505700"/>
              <a:ext cx="762000" cy="285750"/>
            </a:xfrm>
            <a:custGeom>
              <a:rect b="b" l="l" r="r" t="t"/>
              <a:pathLst>
                <a:path extrusionOk="0" h="285750" w="762000">
                  <a:moveTo>
                    <a:pt x="0" y="0"/>
                  </a:moveTo>
                  <a:lnTo>
                    <a:pt x="762000" y="28575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00" name="Google Shape;300;p8"/>
            <p:cNvSpPr/>
            <p:nvPr/>
          </p:nvSpPr>
          <p:spPr>
            <a:xfrm>
              <a:off x="2734890" y="7791450"/>
              <a:ext cx="65460" cy="12673"/>
            </a:xfrm>
            <a:custGeom>
              <a:rect b="b" l="l" r="r" t="t"/>
              <a:pathLst>
                <a:path extrusionOk="0" h="12673" w="65460">
                  <a:moveTo>
                    <a:pt x="65460" y="0"/>
                  </a:moveTo>
                  <a:lnTo>
                    <a:pt x="0" y="12673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01" name="Google Shape;301;p8"/>
            <p:cNvSpPr/>
            <p:nvPr/>
          </p:nvSpPr>
          <p:spPr>
            <a:xfrm>
              <a:off x="2759364" y="7738860"/>
              <a:ext cx="40986" cy="52590"/>
            </a:xfrm>
            <a:custGeom>
              <a:rect b="b" l="l" r="r" t="t"/>
              <a:pathLst>
                <a:path extrusionOk="0" h="52590" w="40986">
                  <a:moveTo>
                    <a:pt x="40986" y="52590"/>
                  </a:moveTo>
                  <a:lnTo>
                    <a:pt x="0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02" name="Google Shape;302;p8"/>
            <p:cNvSpPr/>
            <p:nvPr/>
          </p:nvSpPr>
          <p:spPr>
            <a:xfrm>
              <a:off x="4048125" y="7505700"/>
              <a:ext cx="762000" cy="285750"/>
            </a:xfrm>
            <a:custGeom>
              <a:rect b="b" l="l" r="r" t="t"/>
              <a:pathLst>
                <a:path extrusionOk="0" h="285750" w="762000">
                  <a:moveTo>
                    <a:pt x="762000" y="0"/>
                  </a:moveTo>
                  <a:lnTo>
                    <a:pt x="0" y="285750"/>
                  </a:lnTo>
                </a:path>
              </a:pathLst>
            </a:custGeom>
            <a:noFill/>
            <a:ln cap="flat" cmpd="sng" w="14275">
              <a:solidFill>
                <a:srgbClr val="4478F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03" name="Google Shape;303;p8"/>
            <p:cNvSpPr/>
            <p:nvPr/>
          </p:nvSpPr>
          <p:spPr>
            <a:xfrm>
              <a:off x="4048125" y="7738860"/>
              <a:ext cx="40986" cy="52590"/>
            </a:xfrm>
            <a:custGeom>
              <a:rect b="b" l="l" r="r" t="t"/>
              <a:pathLst>
                <a:path extrusionOk="0" h="52590" w="40986">
                  <a:moveTo>
                    <a:pt x="0" y="52590"/>
                  </a:moveTo>
                  <a:lnTo>
                    <a:pt x="40986" y="0"/>
                  </a:lnTo>
                </a:path>
              </a:pathLst>
            </a:custGeom>
            <a:noFill/>
            <a:ln cap="flat" cmpd="sng" w="14275">
              <a:solidFill>
                <a:srgbClr val="4478F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04" name="Google Shape;304;p8"/>
            <p:cNvSpPr/>
            <p:nvPr/>
          </p:nvSpPr>
          <p:spPr>
            <a:xfrm>
              <a:off x="4048125" y="7791450"/>
              <a:ext cx="65460" cy="12673"/>
            </a:xfrm>
            <a:custGeom>
              <a:rect b="b" l="l" r="r" t="t"/>
              <a:pathLst>
                <a:path extrusionOk="0" h="12673" w="65460">
                  <a:moveTo>
                    <a:pt x="0" y="0"/>
                  </a:moveTo>
                  <a:lnTo>
                    <a:pt x="65460" y="12673"/>
                  </a:lnTo>
                </a:path>
              </a:pathLst>
            </a:custGeom>
            <a:noFill/>
            <a:ln cap="flat" cmpd="sng" w="14275">
              <a:solidFill>
                <a:srgbClr val="4478F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05" name="Google Shape;305;p8"/>
            <p:cNvSpPr/>
            <p:nvPr/>
          </p:nvSpPr>
          <p:spPr>
            <a:xfrm>
              <a:off x="2552700" y="7810500"/>
              <a:ext cx="1752600" cy="466725"/>
            </a:xfrm>
            <a:prstGeom prst="roundRect">
              <a:avLst>
                <a:gd fmla="val 32653" name="adj"/>
              </a:avLst>
            </a:prstGeom>
            <a:solidFill>
              <a:srgbClr val="6640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8"/>
            <p:cNvSpPr/>
            <p:nvPr/>
          </p:nvSpPr>
          <p:spPr>
            <a:xfrm>
              <a:off x="2667000" y="7934325"/>
              <a:ext cx="15240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APRENDIZAJE</a:t>
              </a:r>
              <a:endParaRPr/>
            </a:p>
          </p:txBody>
        </p:sp>
        <p:sp>
          <p:nvSpPr>
            <p:cNvPr id="307" name="Google Shape;307;p8"/>
            <p:cNvSpPr/>
            <p:nvPr/>
          </p:nvSpPr>
          <p:spPr>
            <a:xfrm>
              <a:off x="1581150" y="8362950"/>
              <a:ext cx="4400550" cy="685800"/>
            </a:xfrm>
            <a:prstGeom prst="roundRect">
              <a:avLst>
                <a:gd fmla="val 27778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8"/>
            <p:cNvSpPr/>
            <p:nvPr/>
          </p:nvSpPr>
          <p:spPr>
            <a:xfrm>
              <a:off x="1752600" y="8486775"/>
              <a:ext cx="4057650" cy="476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Ambas perspectivas importan: necesitamos una solución pertinente y un proceso de desarrollo sostenible.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9"/>
          <p:cNvSpPr/>
          <p:nvPr/>
        </p:nvSpPr>
        <p:spPr>
          <a:xfrm>
            <a:off x="876300" y="723900"/>
            <a:ext cx="3429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Artículo educativo · Seguimiento y adaptación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876301" y="2286001"/>
            <a:ext cx="85725" cy="85725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1038225" y="2286000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1200150" y="2286000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1362075" y="2286000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1524000" y="2286000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1685926" y="2286001"/>
            <a:ext cx="85725" cy="85725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1" name="Google Shape;321;p9"/>
          <p:cNvGrpSpPr/>
          <p:nvPr/>
        </p:nvGrpSpPr>
        <p:grpSpPr>
          <a:xfrm>
            <a:off x="876300" y="1390650"/>
            <a:ext cx="5105400" cy="8039100"/>
            <a:chOff x="876300" y="1390650"/>
            <a:chExt cx="5105400" cy="8039100"/>
          </a:xfrm>
        </p:grpSpPr>
        <p:sp>
          <p:nvSpPr>
            <p:cNvPr id="322" name="Google Shape;322;p9"/>
            <p:cNvSpPr/>
            <p:nvPr/>
          </p:nvSpPr>
          <p:spPr>
            <a:xfrm>
              <a:off x="876300" y="1390650"/>
              <a:ext cx="5105400" cy="847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El aprendizaje regresa al Backlog</a:t>
              </a:r>
              <a:endParaRPr/>
            </a:p>
          </p:txBody>
        </p:sp>
        <p:sp>
          <p:nvSpPr>
            <p:cNvPr id="323" name="Google Shape;323;p9"/>
            <p:cNvSpPr/>
            <p:nvPr/>
          </p:nvSpPr>
          <p:spPr>
            <a:xfrm>
              <a:off x="1790700" y="9201150"/>
              <a:ext cx="857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09</a:t>
              </a:r>
              <a:endParaRPr/>
            </a:p>
          </p:txBody>
        </p:sp>
        <p:sp>
          <p:nvSpPr>
            <p:cNvPr id="324" name="Google Shape;324;p9"/>
            <p:cNvSpPr/>
            <p:nvPr/>
          </p:nvSpPr>
          <p:spPr>
            <a:xfrm>
              <a:off x="876300" y="2686050"/>
              <a:ext cx="51054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El Product Backlog no permanece aislado de lo que ocurre durante el proyecto. La retroalimentación puede modificarlo directamente.</a:t>
              </a:r>
              <a:endParaRPr/>
            </a:p>
          </p:txBody>
        </p:sp>
        <p:sp>
          <p:nvSpPr>
            <p:cNvPr id="325" name="Google Shape;325;p9"/>
            <p:cNvSpPr/>
            <p:nvPr/>
          </p:nvSpPr>
          <p:spPr>
            <a:xfrm>
              <a:off x="876300" y="3543300"/>
              <a:ext cx="5105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Un nuevo hallazgo puede convertirse en un requerimiento. Un elemento existente puede aumentar o disminuir su prioridad. Algunas tareas pueden dejar de ser necesarias.</a:t>
              </a:r>
              <a:endParaRPr/>
            </a:p>
          </p:txBody>
        </p:sp>
        <p:sp>
          <p:nvSpPr>
            <p:cNvPr id="326" name="Google Shape;326;p9"/>
            <p:cNvSpPr/>
            <p:nvPr/>
          </p:nvSpPr>
          <p:spPr>
            <a:xfrm>
              <a:off x="876300" y="4552950"/>
              <a:ext cx="5105400" cy="552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Figura 5. El Backlog aprende con el proyecto</a:t>
              </a:r>
              <a:endParaRPr/>
            </a:p>
          </p:txBody>
        </p:sp>
        <p:sp>
          <p:nvSpPr>
            <p:cNvPr id="327" name="Google Shape;327;p9"/>
            <p:cNvSpPr/>
            <p:nvPr/>
          </p:nvSpPr>
          <p:spPr>
            <a:xfrm>
              <a:off x="3276600" y="5715000"/>
              <a:ext cx="285750" cy="953"/>
            </a:xfrm>
            <a:custGeom>
              <a:rect b="b" l="l" r="r" t="t"/>
              <a:pathLst>
                <a:path extrusionOk="0" h="953" w="285750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28" name="Google Shape;328;p9"/>
            <p:cNvSpPr/>
            <p:nvPr/>
          </p:nvSpPr>
          <p:spPr>
            <a:xfrm>
              <a:off x="3505508" y="5715000"/>
              <a:ext cx="56842" cy="34850"/>
            </a:xfrm>
            <a:custGeom>
              <a:rect b="b" l="l" r="r" t="t"/>
              <a:pathLst>
                <a:path extrusionOk="0" h="34850" w="56842">
                  <a:moveTo>
                    <a:pt x="56842" y="0"/>
                  </a:moveTo>
                  <a:lnTo>
                    <a:pt x="0" y="3485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29" name="Google Shape;329;p9"/>
            <p:cNvSpPr/>
            <p:nvPr/>
          </p:nvSpPr>
          <p:spPr>
            <a:xfrm>
              <a:off x="3505508" y="5680150"/>
              <a:ext cx="56842" cy="34850"/>
            </a:xfrm>
            <a:custGeom>
              <a:rect b="b" l="l" r="r" t="t"/>
              <a:pathLst>
                <a:path extrusionOk="0" h="34850" w="56842">
                  <a:moveTo>
                    <a:pt x="56842" y="34850"/>
                  </a:moveTo>
                  <a:lnTo>
                    <a:pt x="0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30" name="Google Shape;330;p9"/>
            <p:cNvSpPr/>
            <p:nvPr/>
          </p:nvSpPr>
          <p:spPr>
            <a:xfrm>
              <a:off x="4810125" y="6153150"/>
              <a:ext cx="953" cy="104775"/>
            </a:xfrm>
            <a:custGeom>
              <a:rect b="b" l="l" r="r" t="t"/>
              <a:pathLst>
                <a:path extrusionOk="0" h="104775" w="953">
                  <a:moveTo>
                    <a:pt x="0" y="0"/>
                  </a:moveTo>
                  <a:lnTo>
                    <a:pt x="0" y="104775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31" name="Google Shape;331;p9"/>
            <p:cNvSpPr/>
            <p:nvPr/>
          </p:nvSpPr>
          <p:spPr>
            <a:xfrm>
              <a:off x="4775275" y="6201083"/>
              <a:ext cx="34850" cy="56842"/>
            </a:xfrm>
            <a:custGeom>
              <a:rect b="b" l="l" r="r" t="t"/>
              <a:pathLst>
                <a:path extrusionOk="0" h="56842" w="34850">
                  <a:moveTo>
                    <a:pt x="34850" y="56842"/>
                  </a:moveTo>
                  <a:lnTo>
                    <a:pt x="0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32" name="Google Shape;332;p9"/>
            <p:cNvSpPr/>
            <p:nvPr/>
          </p:nvSpPr>
          <p:spPr>
            <a:xfrm>
              <a:off x="4810125" y="6201083"/>
              <a:ext cx="34850" cy="56842"/>
            </a:xfrm>
            <a:custGeom>
              <a:rect b="b" l="l" r="r" t="t"/>
              <a:pathLst>
                <a:path extrusionOk="0" h="56842" w="34850">
                  <a:moveTo>
                    <a:pt x="0" y="56842"/>
                  </a:moveTo>
                  <a:lnTo>
                    <a:pt x="34850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33" name="Google Shape;333;p9"/>
            <p:cNvSpPr/>
            <p:nvPr/>
          </p:nvSpPr>
          <p:spPr>
            <a:xfrm>
              <a:off x="4810125" y="7134225"/>
              <a:ext cx="953" cy="123825"/>
            </a:xfrm>
            <a:custGeom>
              <a:rect b="b" l="l" r="r" t="t"/>
              <a:pathLst>
                <a:path extrusionOk="0" h="123825" w="953">
                  <a:moveTo>
                    <a:pt x="0" y="0"/>
                  </a:moveTo>
                  <a:lnTo>
                    <a:pt x="0" y="123825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34" name="Google Shape;334;p9"/>
            <p:cNvSpPr/>
            <p:nvPr/>
          </p:nvSpPr>
          <p:spPr>
            <a:xfrm>
              <a:off x="4775275" y="7201208"/>
              <a:ext cx="34850" cy="56842"/>
            </a:xfrm>
            <a:custGeom>
              <a:rect b="b" l="l" r="r" t="t"/>
              <a:pathLst>
                <a:path extrusionOk="0" h="56842" w="34850">
                  <a:moveTo>
                    <a:pt x="34850" y="56842"/>
                  </a:moveTo>
                  <a:lnTo>
                    <a:pt x="0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35" name="Google Shape;335;p9"/>
            <p:cNvSpPr/>
            <p:nvPr/>
          </p:nvSpPr>
          <p:spPr>
            <a:xfrm>
              <a:off x="4810125" y="7201208"/>
              <a:ext cx="34850" cy="56842"/>
            </a:xfrm>
            <a:custGeom>
              <a:rect b="b" l="l" r="r" t="t"/>
              <a:pathLst>
                <a:path extrusionOk="0" h="56842" w="34850">
                  <a:moveTo>
                    <a:pt x="0" y="56842"/>
                  </a:moveTo>
                  <a:lnTo>
                    <a:pt x="34850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36" name="Google Shape;336;p9"/>
            <p:cNvSpPr/>
            <p:nvPr/>
          </p:nvSpPr>
          <p:spPr>
            <a:xfrm>
              <a:off x="3276600" y="7715250"/>
              <a:ext cx="285750" cy="953"/>
            </a:xfrm>
            <a:custGeom>
              <a:rect b="b" l="l" r="r" t="t"/>
              <a:pathLst>
                <a:path extrusionOk="0" h="953" w="285750">
                  <a:moveTo>
                    <a:pt x="285750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37" name="Google Shape;337;p9"/>
            <p:cNvSpPr/>
            <p:nvPr/>
          </p:nvSpPr>
          <p:spPr>
            <a:xfrm>
              <a:off x="3276600" y="7680400"/>
              <a:ext cx="56842" cy="34850"/>
            </a:xfrm>
            <a:custGeom>
              <a:rect b="b" l="l" r="r" t="t"/>
              <a:pathLst>
                <a:path extrusionOk="0" h="34850" w="56842">
                  <a:moveTo>
                    <a:pt x="0" y="34850"/>
                  </a:moveTo>
                  <a:lnTo>
                    <a:pt x="56842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38" name="Google Shape;338;p9"/>
            <p:cNvSpPr/>
            <p:nvPr/>
          </p:nvSpPr>
          <p:spPr>
            <a:xfrm>
              <a:off x="3276600" y="7715250"/>
              <a:ext cx="56842" cy="34850"/>
            </a:xfrm>
            <a:custGeom>
              <a:rect b="b" l="l" r="r" t="t"/>
              <a:pathLst>
                <a:path extrusionOk="0" h="34850" w="56842">
                  <a:moveTo>
                    <a:pt x="0" y="0"/>
                  </a:moveTo>
                  <a:lnTo>
                    <a:pt x="56842" y="3485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39" name="Google Shape;339;p9"/>
            <p:cNvSpPr/>
            <p:nvPr/>
          </p:nvSpPr>
          <p:spPr>
            <a:xfrm>
              <a:off x="2047875" y="7134225"/>
              <a:ext cx="953" cy="123825"/>
            </a:xfrm>
            <a:custGeom>
              <a:rect b="b" l="l" r="r" t="t"/>
              <a:pathLst>
                <a:path extrusionOk="0" h="123825" w="953">
                  <a:moveTo>
                    <a:pt x="0" y="123825"/>
                  </a:moveTo>
                  <a:lnTo>
                    <a:pt x="0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40" name="Google Shape;340;p9"/>
            <p:cNvSpPr/>
            <p:nvPr/>
          </p:nvSpPr>
          <p:spPr>
            <a:xfrm>
              <a:off x="2047875" y="7134225"/>
              <a:ext cx="34850" cy="56842"/>
            </a:xfrm>
            <a:custGeom>
              <a:rect b="b" l="l" r="r" t="t"/>
              <a:pathLst>
                <a:path extrusionOk="0" h="56842" w="34850">
                  <a:moveTo>
                    <a:pt x="0" y="0"/>
                  </a:moveTo>
                  <a:lnTo>
                    <a:pt x="34850" y="56842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41" name="Google Shape;341;p9"/>
            <p:cNvSpPr/>
            <p:nvPr/>
          </p:nvSpPr>
          <p:spPr>
            <a:xfrm>
              <a:off x="2013025" y="7134225"/>
              <a:ext cx="34850" cy="56842"/>
            </a:xfrm>
            <a:custGeom>
              <a:rect b="b" l="l" r="r" t="t"/>
              <a:pathLst>
                <a:path extrusionOk="0" h="56842" w="34850">
                  <a:moveTo>
                    <a:pt x="34850" y="0"/>
                  </a:moveTo>
                  <a:lnTo>
                    <a:pt x="0" y="56842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42" name="Google Shape;342;p9"/>
            <p:cNvSpPr/>
            <p:nvPr/>
          </p:nvSpPr>
          <p:spPr>
            <a:xfrm>
              <a:off x="2047875" y="6153150"/>
              <a:ext cx="953" cy="104775"/>
            </a:xfrm>
            <a:custGeom>
              <a:rect b="b" l="l" r="r" t="t"/>
              <a:pathLst>
                <a:path extrusionOk="0" h="104775" w="953">
                  <a:moveTo>
                    <a:pt x="0" y="104775"/>
                  </a:moveTo>
                  <a:lnTo>
                    <a:pt x="0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43" name="Google Shape;343;p9"/>
            <p:cNvSpPr/>
            <p:nvPr/>
          </p:nvSpPr>
          <p:spPr>
            <a:xfrm>
              <a:off x="2047875" y="6153150"/>
              <a:ext cx="34850" cy="56842"/>
            </a:xfrm>
            <a:custGeom>
              <a:rect b="b" l="l" r="r" t="t"/>
              <a:pathLst>
                <a:path extrusionOk="0" h="56842" w="34850">
                  <a:moveTo>
                    <a:pt x="0" y="0"/>
                  </a:moveTo>
                  <a:lnTo>
                    <a:pt x="34850" y="56842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44" name="Google Shape;344;p9"/>
            <p:cNvSpPr/>
            <p:nvPr/>
          </p:nvSpPr>
          <p:spPr>
            <a:xfrm>
              <a:off x="2013025" y="6153150"/>
              <a:ext cx="34850" cy="56842"/>
            </a:xfrm>
            <a:custGeom>
              <a:rect b="b" l="l" r="r" t="t"/>
              <a:pathLst>
                <a:path extrusionOk="0" h="56842" w="34850">
                  <a:moveTo>
                    <a:pt x="34850" y="0"/>
                  </a:moveTo>
                  <a:lnTo>
                    <a:pt x="0" y="56842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45" name="Google Shape;345;p9"/>
            <p:cNvSpPr/>
            <p:nvPr/>
          </p:nvSpPr>
          <p:spPr>
            <a:xfrm>
              <a:off x="876300" y="5334000"/>
              <a:ext cx="2343150" cy="781050"/>
            </a:xfrm>
            <a:prstGeom prst="roundRect">
              <a:avLst>
                <a:gd fmla="val 19512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9"/>
            <p:cNvSpPr/>
            <p:nvPr/>
          </p:nvSpPr>
          <p:spPr>
            <a:xfrm>
              <a:off x="990600" y="5457825"/>
              <a:ext cx="2114550" cy="600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PRODUCT BACKLOG</a:t>
              </a:r>
              <a:endParaRPr/>
            </a:p>
          </p:txBody>
        </p:sp>
        <p:sp>
          <p:nvSpPr>
            <p:cNvPr id="347" name="Google Shape;347;p9"/>
            <p:cNvSpPr/>
            <p:nvPr/>
          </p:nvSpPr>
          <p:spPr>
            <a:xfrm>
              <a:off x="3638550" y="5334000"/>
              <a:ext cx="2343150" cy="781050"/>
            </a:xfrm>
            <a:prstGeom prst="roundRect">
              <a:avLst>
                <a:gd fmla="val 19512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9"/>
            <p:cNvSpPr/>
            <p:nvPr/>
          </p:nvSpPr>
          <p:spPr>
            <a:xfrm>
              <a:off x="3752850" y="5457825"/>
              <a:ext cx="2114550" cy="600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4478F5"/>
                  </a:solidFill>
                  <a:latin typeface="Arial"/>
                  <a:ea typeface="Arial"/>
                  <a:cs typeface="Arial"/>
                  <a:sym typeface="Arial"/>
                </a:rPr>
                <a:t>TRABAJO Y RESULTADOS</a:t>
              </a:r>
              <a:endParaRPr/>
            </a:p>
          </p:txBody>
        </p:sp>
        <p:sp>
          <p:nvSpPr>
            <p:cNvPr id="349" name="Google Shape;349;p9"/>
            <p:cNvSpPr/>
            <p:nvPr/>
          </p:nvSpPr>
          <p:spPr>
            <a:xfrm>
              <a:off x="3638550" y="6334125"/>
              <a:ext cx="2343150" cy="781050"/>
            </a:xfrm>
            <a:prstGeom prst="roundRect">
              <a:avLst>
                <a:gd fmla="val 19512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9"/>
            <p:cNvSpPr/>
            <p:nvPr/>
          </p:nvSpPr>
          <p:spPr>
            <a:xfrm>
              <a:off x="3752850" y="6457950"/>
              <a:ext cx="2114550" cy="600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SEGUIMIENTO</a:t>
              </a:r>
              <a:endParaRPr/>
            </a:p>
          </p:txBody>
        </p:sp>
        <p:sp>
          <p:nvSpPr>
            <p:cNvPr id="351" name="Google Shape;351;p9"/>
            <p:cNvSpPr/>
            <p:nvPr/>
          </p:nvSpPr>
          <p:spPr>
            <a:xfrm>
              <a:off x="3638550" y="7334250"/>
              <a:ext cx="2343150" cy="781050"/>
            </a:xfrm>
            <a:prstGeom prst="roundRect">
              <a:avLst>
                <a:gd fmla="val 19512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9"/>
            <p:cNvSpPr/>
            <p:nvPr/>
          </p:nvSpPr>
          <p:spPr>
            <a:xfrm>
              <a:off x="3752850" y="7458075"/>
              <a:ext cx="2114550" cy="600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4478F5"/>
                  </a:solidFill>
                  <a:latin typeface="Arial"/>
                  <a:ea typeface="Arial"/>
                  <a:cs typeface="Arial"/>
                  <a:sym typeface="Arial"/>
                </a:rPr>
                <a:t>FEEDBACK</a:t>
              </a:r>
              <a:endParaRPr/>
            </a:p>
          </p:txBody>
        </p:sp>
        <p:sp>
          <p:nvSpPr>
            <p:cNvPr id="353" name="Google Shape;353;p9"/>
            <p:cNvSpPr/>
            <p:nvPr/>
          </p:nvSpPr>
          <p:spPr>
            <a:xfrm>
              <a:off x="876300" y="7334250"/>
              <a:ext cx="2343150" cy="781050"/>
            </a:xfrm>
            <a:prstGeom prst="roundRect">
              <a:avLst>
                <a:gd fmla="val 19512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9"/>
            <p:cNvSpPr/>
            <p:nvPr/>
          </p:nvSpPr>
          <p:spPr>
            <a:xfrm>
              <a:off x="990600" y="7458075"/>
              <a:ext cx="2114550" cy="600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NUEVO CONOCIMIENTO</a:t>
              </a:r>
              <a:endParaRPr/>
            </a:p>
          </p:txBody>
        </p:sp>
        <p:sp>
          <p:nvSpPr>
            <p:cNvPr id="355" name="Google Shape;355;p9"/>
            <p:cNvSpPr/>
            <p:nvPr/>
          </p:nvSpPr>
          <p:spPr>
            <a:xfrm>
              <a:off x="876300" y="6334125"/>
              <a:ext cx="2343150" cy="781050"/>
            </a:xfrm>
            <a:prstGeom prst="roundRect">
              <a:avLst>
                <a:gd fmla="val 19512" name="adj"/>
              </a:avLst>
            </a:prstGeom>
            <a:solidFill>
              <a:srgbClr val="6640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9"/>
            <p:cNvSpPr/>
            <p:nvPr/>
          </p:nvSpPr>
          <p:spPr>
            <a:xfrm>
              <a:off x="990600" y="6457950"/>
              <a:ext cx="2114550" cy="600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PRODUCT BACKLOG ACTUALIZADO</a:t>
              </a:r>
              <a:endParaRPr/>
            </a:p>
          </p:txBody>
        </p:sp>
        <p:sp>
          <p:nvSpPr>
            <p:cNvPr id="357" name="Google Shape;357;p9"/>
            <p:cNvSpPr/>
            <p:nvPr/>
          </p:nvSpPr>
          <p:spPr>
            <a:xfrm>
              <a:off x="1047750" y="8277225"/>
              <a:ext cx="487680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AÑADIR · REPRIORIZAR · PRECISAR · MODIFICAR · ELIMINAR</a:t>
              </a:r>
              <a:endParaRPr/>
            </a:p>
          </p:txBody>
        </p:sp>
        <p:sp>
          <p:nvSpPr>
            <p:cNvPr id="358" name="Google Shape;358;p9"/>
            <p:cNvSpPr/>
            <p:nvPr/>
          </p:nvSpPr>
          <p:spPr>
            <a:xfrm>
              <a:off x="1581150" y="8686800"/>
              <a:ext cx="4400550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El Product Backlog es también un instrumento de aprendizaje, no únicamente de almacenamiento.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0"/>
          <p:cNvSpPr/>
          <p:nvPr/>
        </p:nvSpPr>
        <p:spPr>
          <a:xfrm>
            <a:off x="876300" y="723900"/>
            <a:ext cx="3429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Artículo educativo · Seguimiento y adaptación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876301" y="2286001"/>
            <a:ext cx="85725" cy="85725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1038225" y="2286000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1200150" y="2286000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1362075" y="2286000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1524000" y="2286000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1685926" y="2286001"/>
            <a:ext cx="85725" cy="85725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1" name="Google Shape;371;p10"/>
          <p:cNvGrpSpPr/>
          <p:nvPr/>
        </p:nvGrpSpPr>
        <p:grpSpPr>
          <a:xfrm>
            <a:off x="876300" y="1390650"/>
            <a:ext cx="5105400" cy="8039100"/>
            <a:chOff x="876300" y="1390650"/>
            <a:chExt cx="5105400" cy="8039100"/>
          </a:xfrm>
        </p:grpSpPr>
        <p:sp>
          <p:nvSpPr>
            <p:cNvPr id="372" name="Google Shape;372;p10"/>
            <p:cNvSpPr/>
            <p:nvPr/>
          </p:nvSpPr>
          <p:spPr>
            <a:xfrm>
              <a:off x="876300" y="1390650"/>
              <a:ext cx="5105400" cy="847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Estructura sin rigidez</a:t>
              </a:r>
              <a:endParaRPr/>
            </a:p>
          </p:txBody>
        </p:sp>
        <p:sp>
          <p:nvSpPr>
            <p:cNvPr id="373" name="Google Shape;373;p10"/>
            <p:cNvSpPr/>
            <p:nvPr/>
          </p:nvSpPr>
          <p:spPr>
            <a:xfrm>
              <a:off x="1790700" y="9201150"/>
              <a:ext cx="857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  <p:sp>
          <p:nvSpPr>
            <p:cNvPr id="374" name="Google Shape;374;p10"/>
            <p:cNvSpPr/>
            <p:nvPr/>
          </p:nvSpPr>
          <p:spPr>
            <a:xfrm>
              <a:off x="876300" y="2686050"/>
              <a:ext cx="5105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La planeación ágil necesita combinar dos capacidades que pueden parecer contradictorias:</a:t>
              </a:r>
              <a:endParaRPr/>
            </a:p>
          </p:txBody>
        </p:sp>
        <p:sp>
          <p:nvSpPr>
            <p:cNvPr id="375" name="Google Shape;375;p10"/>
            <p:cNvSpPr/>
            <p:nvPr/>
          </p:nvSpPr>
          <p:spPr>
            <a:xfrm>
              <a:off x="876300" y="3533775"/>
              <a:ext cx="2343150" cy="2171700"/>
            </a:xfrm>
            <a:prstGeom prst="roundRect">
              <a:avLst>
                <a:gd fmla="val 9649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10"/>
            <p:cNvSpPr/>
            <p:nvPr/>
          </p:nvSpPr>
          <p:spPr>
            <a:xfrm>
              <a:off x="3638550" y="3533775"/>
              <a:ext cx="2343150" cy="2171700"/>
            </a:xfrm>
            <a:prstGeom prst="roundRect">
              <a:avLst>
                <a:gd fmla="val 9649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0"/>
            <p:cNvSpPr/>
            <p:nvPr/>
          </p:nvSpPr>
          <p:spPr>
            <a:xfrm>
              <a:off x="1038225" y="3724275"/>
              <a:ext cx="20193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DIRECCIÓN</a:t>
              </a:r>
              <a:endParaRPr/>
            </a:p>
          </p:txBody>
        </p:sp>
        <p:sp>
          <p:nvSpPr>
            <p:cNvPr id="378" name="Google Shape;378;p10"/>
            <p:cNvSpPr/>
            <p:nvPr/>
          </p:nvSpPr>
          <p:spPr>
            <a:xfrm>
              <a:off x="3800475" y="3724275"/>
              <a:ext cx="20193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064D95"/>
                  </a:solidFill>
                  <a:latin typeface="Arial"/>
                  <a:ea typeface="Arial"/>
                  <a:cs typeface="Arial"/>
                  <a:sym typeface="Arial"/>
                </a:rPr>
                <a:t>ADAPTACIÓN</a:t>
              </a:r>
              <a:endParaRPr/>
            </a:p>
          </p:txBody>
        </p:sp>
        <p:sp>
          <p:nvSpPr>
            <p:cNvPr id="379" name="Google Shape;379;p10"/>
            <p:cNvSpPr/>
            <p:nvPr/>
          </p:nvSpPr>
          <p:spPr>
            <a:xfrm>
              <a:off x="1038225" y="4305300"/>
              <a:ext cx="2019300" cy="1314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Conservar una meta.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Priorizar.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Organizar responsabilidades.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Utilizar referencias de tiempo.</a:t>
              </a:r>
              <a:endParaRPr/>
            </a:p>
          </p:txBody>
        </p:sp>
        <p:sp>
          <p:nvSpPr>
            <p:cNvPr id="380" name="Google Shape;380;p10"/>
            <p:cNvSpPr/>
            <p:nvPr/>
          </p:nvSpPr>
          <p:spPr>
            <a:xfrm>
              <a:off x="3800475" y="4305300"/>
              <a:ext cx="2019300" cy="1314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Revisar prioridades.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Modificar requerimientos.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Resolver impedimentos.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Ajustar decisiones.</a:t>
              </a:r>
              <a:endParaRPr/>
            </a:p>
          </p:txBody>
        </p:sp>
        <p:sp>
          <p:nvSpPr>
            <p:cNvPr id="381" name="Google Shape;381;p10"/>
            <p:cNvSpPr/>
            <p:nvPr/>
          </p:nvSpPr>
          <p:spPr>
            <a:xfrm>
              <a:off x="2047875" y="5857875"/>
              <a:ext cx="2762250" cy="953"/>
            </a:xfrm>
            <a:custGeom>
              <a:rect b="b" l="l" r="r" t="t"/>
              <a:pathLst>
                <a:path extrusionOk="0" h="953" w="2762250">
                  <a:moveTo>
                    <a:pt x="0" y="0"/>
                  </a:moveTo>
                  <a:lnTo>
                    <a:pt x="2762250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82" name="Google Shape;382;p10"/>
            <p:cNvSpPr/>
            <p:nvPr/>
          </p:nvSpPr>
          <p:spPr>
            <a:xfrm>
              <a:off x="3238500" y="5857875"/>
              <a:ext cx="190500" cy="342900"/>
            </a:xfrm>
            <a:custGeom>
              <a:rect b="b" l="l" r="r" t="t"/>
              <a:pathLst>
                <a:path extrusionOk="0" h="342900" w="190500">
                  <a:moveTo>
                    <a:pt x="190500" y="0"/>
                  </a:moveTo>
                  <a:lnTo>
                    <a:pt x="0" y="342900"/>
                  </a:lnTo>
                </a:path>
              </a:pathLst>
            </a:custGeom>
            <a:noFill/>
            <a:ln cap="flat" cmpd="sng" w="19050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83" name="Google Shape;383;p10"/>
            <p:cNvSpPr/>
            <p:nvPr/>
          </p:nvSpPr>
          <p:spPr>
            <a:xfrm>
              <a:off x="3429000" y="5857875"/>
              <a:ext cx="190500" cy="342900"/>
            </a:xfrm>
            <a:custGeom>
              <a:rect b="b" l="l" r="r" t="t"/>
              <a:pathLst>
                <a:path extrusionOk="0" h="342900" w="190500">
                  <a:moveTo>
                    <a:pt x="0" y="0"/>
                  </a:moveTo>
                  <a:lnTo>
                    <a:pt x="190500" y="342900"/>
                  </a:lnTo>
                </a:path>
              </a:pathLst>
            </a:custGeom>
            <a:noFill/>
            <a:ln cap="flat" cmpd="sng" w="19050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84" name="Google Shape;384;p10"/>
            <p:cNvSpPr/>
            <p:nvPr/>
          </p:nvSpPr>
          <p:spPr>
            <a:xfrm>
              <a:off x="3238500" y="6200775"/>
              <a:ext cx="381000" cy="953"/>
            </a:xfrm>
            <a:custGeom>
              <a:rect b="b" l="l" r="r" t="t"/>
              <a:pathLst>
                <a:path extrusionOk="0" h="953" w="3810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cap="flat" cmpd="sng" w="19050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85" name="Google Shape;385;p10"/>
            <p:cNvSpPr/>
            <p:nvPr/>
          </p:nvSpPr>
          <p:spPr>
            <a:xfrm>
              <a:off x="876300" y="6486525"/>
              <a:ext cx="5105400" cy="771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La flexibilidad no equivale a falta de organización. Un proyecto completamente improvisado no es necesariamente ágil: puede ser simplemente desorganizado.</a:t>
              </a:r>
              <a:endParaRPr/>
            </a:p>
          </p:txBody>
        </p:sp>
        <p:sp>
          <p:nvSpPr>
            <p:cNvPr id="386" name="Google Shape;386;p10"/>
            <p:cNvSpPr/>
            <p:nvPr/>
          </p:nvSpPr>
          <p:spPr>
            <a:xfrm>
              <a:off x="876300" y="7400925"/>
              <a:ext cx="5105400" cy="619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La agilidad requiere mecanismos suficientemente estructurados para cambiar sin perder la dirección.</a:t>
              </a:r>
              <a:endParaRPr/>
            </a:p>
          </p:txBody>
        </p:sp>
        <p:sp>
          <p:nvSpPr>
            <p:cNvPr id="387" name="Google Shape;387;p10"/>
            <p:cNvSpPr/>
            <p:nvPr/>
          </p:nvSpPr>
          <p:spPr>
            <a:xfrm>
              <a:off x="1581150" y="8201025"/>
              <a:ext cx="2057400" cy="781050"/>
            </a:xfrm>
            <a:prstGeom prst="roundRect">
              <a:avLst>
                <a:gd fmla="val 19512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10"/>
            <p:cNvSpPr/>
            <p:nvPr/>
          </p:nvSpPr>
          <p:spPr>
            <a:xfrm>
              <a:off x="1695450" y="8324850"/>
              <a:ext cx="1828800" cy="600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Dirección suficientemente clara para avanzar</a:t>
              </a:r>
              <a:endParaRPr/>
            </a:p>
          </p:txBody>
        </p:sp>
        <p:sp>
          <p:nvSpPr>
            <p:cNvPr id="389" name="Google Shape;389;p10"/>
            <p:cNvSpPr/>
            <p:nvPr/>
          </p:nvSpPr>
          <p:spPr>
            <a:xfrm>
              <a:off x="3705225" y="8429625"/>
              <a:ext cx="190500" cy="352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  <p:sp>
          <p:nvSpPr>
            <p:cNvPr id="390" name="Google Shape;390;p10"/>
            <p:cNvSpPr/>
            <p:nvPr/>
          </p:nvSpPr>
          <p:spPr>
            <a:xfrm>
              <a:off x="3924300" y="8201025"/>
              <a:ext cx="2057400" cy="781050"/>
            </a:xfrm>
            <a:prstGeom prst="roundRect">
              <a:avLst>
                <a:gd fmla="val 19512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0"/>
            <p:cNvSpPr/>
            <p:nvPr/>
          </p:nvSpPr>
          <p:spPr>
            <a:xfrm>
              <a:off x="4038600" y="8324850"/>
              <a:ext cx="1828800" cy="600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64D95"/>
                  </a:solidFill>
                  <a:latin typeface="Arial"/>
                  <a:ea typeface="Arial"/>
                  <a:cs typeface="Arial"/>
                  <a:sym typeface="Arial"/>
                </a:rPr>
                <a:t>Capacidad suficiente para adaptarnos</a:t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1"/>
          <p:cNvSpPr/>
          <p:nvPr/>
        </p:nvSpPr>
        <p:spPr>
          <a:xfrm>
            <a:off x="876300" y="723900"/>
            <a:ext cx="3429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Artículo educativo · Seguimiento y adaptación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1"/>
          <p:cNvSpPr/>
          <p:nvPr/>
        </p:nvSpPr>
        <p:spPr>
          <a:xfrm>
            <a:off x="876301" y="2286001"/>
            <a:ext cx="85725" cy="85725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1"/>
          <p:cNvSpPr/>
          <p:nvPr/>
        </p:nvSpPr>
        <p:spPr>
          <a:xfrm>
            <a:off x="1038225" y="2286000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1"/>
          <p:cNvSpPr/>
          <p:nvPr/>
        </p:nvSpPr>
        <p:spPr>
          <a:xfrm>
            <a:off x="1200150" y="2286000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1"/>
          <p:cNvSpPr/>
          <p:nvPr/>
        </p:nvSpPr>
        <p:spPr>
          <a:xfrm>
            <a:off x="1362075" y="2286000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1"/>
          <p:cNvSpPr/>
          <p:nvPr/>
        </p:nvSpPr>
        <p:spPr>
          <a:xfrm>
            <a:off x="1524000" y="2286000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1"/>
          <p:cNvSpPr/>
          <p:nvPr/>
        </p:nvSpPr>
        <p:spPr>
          <a:xfrm>
            <a:off x="1685926" y="2286001"/>
            <a:ext cx="85725" cy="85725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4" name="Google Shape;404;p11"/>
          <p:cNvGrpSpPr/>
          <p:nvPr/>
        </p:nvGrpSpPr>
        <p:grpSpPr>
          <a:xfrm>
            <a:off x="876300" y="1390650"/>
            <a:ext cx="5105400" cy="8039100"/>
            <a:chOff x="876300" y="1390650"/>
            <a:chExt cx="5105400" cy="8039100"/>
          </a:xfrm>
        </p:grpSpPr>
        <p:sp>
          <p:nvSpPr>
            <p:cNvPr id="405" name="Google Shape;405;p11"/>
            <p:cNvSpPr/>
            <p:nvPr/>
          </p:nvSpPr>
          <p:spPr>
            <a:xfrm>
              <a:off x="876300" y="1390650"/>
              <a:ext cx="5105400" cy="847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Planear es aprender</a:t>
              </a:r>
              <a:endParaRPr/>
            </a:p>
          </p:txBody>
        </p:sp>
        <p:sp>
          <p:nvSpPr>
            <p:cNvPr id="406" name="Google Shape;406;p11"/>
            <p:cNvSpPr/>
            <p:nvPr/>
          </p:nvSpPr>
          <p:spPr>
            <a:xfrm>
              <a:off x="1790700" y="9201150"/>
              <a:ext cx="857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/>
            </a:p>
          </p:txBody>
        </p:sp>
        <p:sp>
          <p:nvSpPr>
            <p:cNvPr id="407" name="Google Shape;407;p11"/>
            <p:cNvSpPr/>
            <p:nvPr/>
          </p:nvSpPr>
          <p:spPr>
            <a:xfrm>
              <a:off x="876300" y="2686050"/>
              <a:ext cx="5105400" cy="771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Al comienzo de un proyecto contamos con una combinación de conocimientos y supuestos. Organizamos esa información, establecemos prioridades y comenzamos a trabajar.</a:t>
              </a:r>
              <a:endParaRPr/>
            </a:p>
          </p:txBody>
        </p:sp>
        <p:sp>
          <p:nvSpPr>
            <p:cNvPr id="408" name="Google Shape;408;p11"/>
            <p:cNvSpPr/>
            <p:nvPr/>
          </p:nvSpPr>
          <p:spPr>
            <a:xfrm>
              <a:off x="876300" y="3600450"/>
              <a:ext cx="5105400" cy="1038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La ejecución revela dificultades y posibilidades. El seguimiento hace visible lo que ocurre. La retroalimentación amplía nuestro conocimiento. Finalmente, ese aprendizaje regresa a la planificación y modifica las decisiones siguientes.</a:t>
              </a:r>
              <a:endParaRPr/>
            </a:p>
          </p:txBody>
        </p:sp>
        <p:sp>
          <p:nvSpPr>
            <p:cNvPr id="409" name="Google Shape;409;p11"/>
            <p:cNvSpPr/>
            <p:nvPr/>
          </p:nvSpPr>
          <p:spPr>
            <a:xfrm>
              <a:off x="3238500" y="5381625"/>
              <a:ext cx="323850" cy="953"/>
            </a:xfrm>
            <a:custGeom>
              <a:rect b="b" l="l" r="r" t="t"/>
              <a:pathLst>
                <a:path extrusionOk="0" h="953" w="323850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10" name="Google Shape;410;p11"/>
            <p:cNvSpPr/>
            <p:nvPr/>
          </p:nvSpPr>
          <p:spPr>
            <a:xfrm>
              <a:off x="3505508" y="5381625"/>
              <a:ext cx="56842" cy="34850"/>
            </a:xfrm>
            <a:custGeom>
              <a:rect b="b" l="l" r="r" t="t"/>
              <a:pathLst>
                <a:path extrusionOk="0" h="34850" w="56842">
                  <a:moveTo>
                    <a:pt x="56842" y="0"/>
                  </a:moveTo>
                  <a:lnTo>
                    <a:pt x="0" y="3485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11" name="Google Shape;411;p11"/>
            <p:cNvSpPr/>
            <p:nvPr/>
          </p:nvSpPr>
          <p:spPr>
            <a:xfrm>
              <a:off x="3505508" y="5346775"/>
              <a:ext cx="56842" cy="34850"/>
            </a:xfrm>
            <a:custGeom>
              <a:rect b="b" l="l" r="r" t="t"/>
              <a:pathLst>
                <a:path extrusionOk="0" h="34850" w="56842">
                  <a:moveTo>
                    <a:pt x="56842" y="34850"/>
                  </a:moveTo>
                  <a:lnTo>
                    <a:pt x="0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12" name="Google Shape;412;p11"/>
            <p:cNvSpPr/>
            <p:nvPr/>
          </p:nvSpPr>
          <p:spPr>
            <a:xfrm>
              <a:off x="4810125" y="5810250"/>
              <a:ext cx="953" cy="95250"/>
            </a:xfrm>
            <a:custGeom>
              <a:rect b="b" l="l" r="r" t="t"/>
              <a:pathLst>
                <a:path extrusionOk="0" h="95250" w="953">
                  <a:moveTo>
                    <a:pt x="0" y="0"/>
                  </a:moveTo>
                  <a:lnTo>
                    <a:pt x="0" y="9525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13" name="Google Shape;413;p11"/>
            <p:cNvSpPr/>
            <p:nvPr/>
          </p:nvSpPr>
          <p:spPr>
            <a:xfrm>
              <a:off x="4775275" y="5848658"/>
              <a:ext cx="34850" cy="56842"/>
            </a:xfrm>
            <a:custGeom>
              <a:rect b="b" l="l" r="r" t="t"/>
              <a:pathLst>
                <a:path extrusionOk="0" h="56842" w="34850">
                  <a:moveTo>
                    <a:pt x="34850" y="56842"/>
                  </a:moveTo>
                  <a:lnTo>
                    <a:pt x="0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14" name="Google Shape;414;p11"/>
            <p:cNvSpPr/>
            <p:nvPr/>
          </p:nvSpPr>
          <p:spPr>
            <a:xfrm>
              <a:off x="4810125" y="5848658"/>
              <a:ext cx="34850" cy="56842"/>
            </a:xfrm>
            <a:custGeom>
              <a:rect b="b" l="l" r="r" t="t"/>
              <a:pathLst>
                <a:path extrusionOk="0" h="56842" w="34850">
                  <a:moveTo>
                    <a:pt x="0" y="56842"/>
                  </a:moveTo>
                  <a:lnTo>
                    <a:pt x="34850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15" name="Google Shape;415;p11"/>
            <p:cNvSpPr/>
            <p:nvPr/>
          </p:nvSpPr>
          <p:spPr>
            <a:xfrm>
              <a:off x="4267200" y="6810375"/>
              <a:ext cx="200025" cy="133350"/>
            </a:xfrm>
            <a:custGeom>
              <a:rect b="b" l="l" r="r" t="t"/>
              <a:pathLst>
                <a:path extrusionOk="0" h="133350" w="200025">
                  <a:moveTo>
                    <a:pt x="200025" y="0"/>
                  </a:moveTo>
                  <a:lnTo>
                    <a:pt x="0" y="13335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16" name="Google Shape;416;p11"/>
            <p:cNvSpPr/>
            <p:nvPr/>
          </p:nvSpPr>
          <p:spPr>
            <a:xfrm>
              <a:off x="4267200" y="6883198"/>
              <a:ext cx="27964" cy="60527"/>
            </a:xfrm>
            <a:custGeom>
              <a:rect b="b" l="l" r="r" t="t"/>
              <a:pathLst>
                <a:path extrusionOk="0" h="60527" w="27964">
                  <a:moveTo>
                    <a:pt x="0" y="60527"/>
                  </a:moveTo>
                  <a:lnTo>
                    <a:pt x="27964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17" name="Google Shape;417;p11"/>
            <p:cNvSpPr/>
            <p:nvPr/>
          </p:nvSpPr>
          <p:spPr>
            <a:xfrm>
              <a:off x="4267200" y="6941192"/>
              <a:ext cx="66627" cy="2533"/>
            </a:xfrm>
            <a:custGeom>
              <a:rect b="b" l="l" r="r" t="t"/>
              <a:pathLst>
                <a:path extrusionOk="0" h="2533" w="66627">
                  <a:moveTo>
                    <a:pt x="0" y="2533"/>
                  </a:moveTo>
                  <a:lnTo>
                    <a:pt x="66627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18" name="Google Shape;418;p11"/>
            <p:cNvSpPr/>
            <p:nvPr/>
          </p:nvSpPr>
          <p:spPr>
            <a:xfrm>
              <a:off x="1809750" y="6810375"/>
              <a:ext cx="381000" cy="476250"/>
            </a:xfrm>
            <a:custGeom>
              <a:rect b="b" l="l" r="r" t="t"/>
              <a:pathLst>
                <a:path extrusionOk="0" h="476250" w="381000">
                  <a:moveTo>
                    <a:pt x="381000" y="476250"/>
                  </a:moveTo>
                  <a:lnTo>
                    <a:pt x="0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19" name="Google Shape;419;p11"/>
            <p:cNvSpPr/>
            <p:nvPr/>
          </p:nvSpPr>
          <p:spPr>
            <a:xfrm>
              <a:off x="1809750" y="6810375"/>
              <a:ext cx="62722" cy="22615"/>
            </a:xfrm>
            <a:custGeom>
              <a:rect b="b" l="l" r="r" t="t"/>
              <a:pathLst>
                <a:path extrusionOk="0" h="22615" w="62722">
                  <a:moveTo>
                    <a:pt x="0" y="0"/>
                  </a:moveTo>
                  <a:lnTo>
                    <a:pt x="62722" y="22615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20" name="Google Shape;420;p11"/>
            <p:cNvSpPr/>
            <p:nvPr/>
          </p:nvSpPr>
          <p:spPr>
            <a:xfrm>
              <a:off x="1809750" y="6810375"/>
              <a:ext cx="8296" cy="66157"/>
            </a:xfrm>
            <a:custGeom>
              <a:rect b="b" l="l" r="r" t="t"/>
              <a:pathLst>
                <a:path extrusionOk="0" h="66157" w="8296">
                  <a:moveTo>
                    <a:pt x="0" y="0"/>
                  </a:moveTo>
                  <a:lnTo>
                    <a:pt x="8296" y="66157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21" name="Google Shape;421;p11"/>
            <p:cNvSpPr/>
            <p:nvPr/>
          </p:nvSpPr>
          <p:spPr>
            <a:xfrm>
              <a:off x="2047875" y="5810250"/>
              <a:ext cx="953" cy="95250"/>
            </a:xfrm>
            <a:custGeom>
              <a:rect b="b" l="l" r="r" t="t"/>
              <a:pathLst>
                <a:path extrusionOk="0" h="95250" w="953">
                  <a:moveTo>
                    <a:pt x="0" y="95250"/>
                  </a:moveTo>
                  <a:lnTo>
                    <a:pt x="0" y="0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22" name="Google Shape;422;p11"/>
            <p:cNvSpPr/>
            <p:nvPr/>
          </p:nvSpPr>
          <p:spPr>
            <a:xfrm>
              <a:off x="2047875" y="5810250"/>
              <a:ext cx="34850" cy="56842"/>
            </a:xfrm>
            <a:custGeom>
              <a:rect b="b" l="l" r="r" t="t"/>
              <a:pathLst>
                <a:path extrusionOk="0" h="56842" w="34850">
                  <a:moveTo>
                    <a:pt x="0" y="0"/>
                  </a:moveTo>
                  <a:lnTo>
                    <a:pt x="34850" y="56842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23" name="Google Shape;423;p11"/>
            <p:cNvSpPr/>
            <p:nvPr/>
          </p:nvSpPr>
          <p:spPr>
            <a:xfrm>
              <a:off x="2013025" y="5810250"/>
              <a:ext cx="34850" cy="56842"/>
            </a:xfrm>
            <a:custGeom>
              <a:rect b="b" l="l" r="r" t="t"/>
              <a:pathLst>
                <a:path extrusionOk="0" h="56842" w="34850">
                  <a:moveTo>
                    <a:pt x="34850" y="0"/>
                  </a:moveTo>
                  <a:lnTo>
                    <a:pt x="0" y="56842"/>
                  </a:lnTo>
                </a:path>
              </a:pathLst>
            </a:custGeom>
            <a:noFill/>
            <a:ln cap="flat" cmpd="sng" w="142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24" name="Google Shape;424;p11"/>
            <p:cNvSpPr/>
            <p:nvPr/>
          </p:nvSpPr>
          <p:spPr>
            <a:xfrm>
              <a:off x="876300" y="4991100"/>
              <a:ext cx="2343150" cy="781050"/>
            </a:xfrm>
            <a:prstGeom prst="roundRect">
              <a:avLst>
                <a:gd fmla="val 20732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11"/>
            <p:cNvSpPr/>
            <p:nvPr/>
          </p:nvSpPr>
          <p:spPr>
            <a:xfrm>
              <a:off x="1000125" y="5086350"/>
              <a:ext cx="2095500" cy="247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PLANEAR</a:t>
              </a:r>
              <a:endParaRPr/>
            </a:p>
          </p:txBody>
        </p:sp>
        <p:sp>
          <p:nvSpPr>
            <p:cNvPr id="426" name="Google Shape;426;p11"/>
            <p:cNvSpPr/>
            <p:nvPr/>
          </p:nvSpPr>
          <p:spPr>
            <a:xfrm>
              <a:off x="1000125" y="5381625"/>
              <a:ext cx="2095500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Orientar el trabajo.</a:t>
              </a:r>
              <a:endParaRPr/>
            </a:p>
          </p:txBody>
        </p:sp>
        <p:sp>
          <p:nvSpPr>
            <p:cNvPr id="427" name="Google Shape;427;p11"/>
            <p:cNvSpPr/>
            <p:nvPr/>
          </p:nvSpPr>
          <p:spPr>
            <a:xfrm>
              <a:off x="3638550" y="4991100"/>
              <a:ext cx="2343150" cy="781050"/>
            </a:xfrm>
            <a:prstGeom prst="roundRect">
              <a:avLst>
                <a:gd fmla="val 20732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11"/>
            <p:cNvSpPr/>
            <p:nvPr/>
          </p:nvSpPr>
          <p:spPr>
            <a:xfrm>
              <a:off x="3762375" y="5086350"/>
              <a:ext cx="2095500" cy="247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64D95"/>
                  </a:solidFill>
                  <a:latin typeface="Arial"/>
                  <a:ea typeface="Arial"/>
                  <a:cs typeface="Arial"/>
                  <a:sym typeface="Arial"/>
                </a:rPr>
                <a:t>EJECUTAR</a:t>
              </a:r>
              <a:endParaRPr/>
            </a:p>
          </p:txBody>
        </p:sp>
        <p:sp>
          <p:nvSpPr>
            <p:cNvPr id="429" name="Google Shape;429;p11"/>
            <p:cNvSpPr/>
            <p:nvPr/>
          </p:nvSpPr>
          <p:spPr>
            <a:xfrm>
              <a:off x="3762375" y="5381625"/>
              <a:ext cx="2095500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Generar resultados.</a:t>
              </a:r>
              <a:endParaRPr/>
            </a:p>
          </p:txBody>
        </p:sp>
        <p:sp>
          <p:nvSpPr>
            <p:cNvPr id="430" name="Google Shape;430;p11"/>
            <p:cNvSpPr/>
            <p:nvPr/>
          </p:nvSpPr>
          <p:spPr>
            <a:xfrm>
              <a:off x="3638550" y="5981700"/>
              <a:ext cx="2343150" cy="781050"/>
            </a:xfrm>
            <a:prstGeom prst="roundRect">
              <a:avLst>
                <a:gd fmla="val 20732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11"/>
            <p:cNvSpPr/>
            <p:nvPr/>
          </p:nvSpPr>
          <p:spPr>
            <a:xfrm>
              <a:off x="3762375" y="6076950"/>
              <a:ext cx="2095500" cy="247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OBSERVAR</a:t>
              </a:r>
              <a:endParaRPr/>
            </a:p>
          </p:txBody>
        </p:sp>
        <p:sp>
          <p:nvSpPr>
            <p:cNvPr id="432" name="Google Shape;432;p11"/>
            <p:cNvSpPr/>
            <p:nvPr/>
          </p:nvSpPr>
          <p:spPr>
            <a:xfrm>
              <a:off x="3762375" y="6372225"/>
              <a:ext cx="2095500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Comprender qué está ocurriendo.</a:t>
              </a:r>
              <a:endParaRPr/>
            </a:p>
          </p:txBody>
        </p:sp>
        <p:sp>
          <p:nvSpPr>
            <p:cNvPr id="433" name="Google Shape;433;p11"/>
            <p:cNvSpPr/>
            <p:nvPr/>
          </p:nvSpPr>
          <p:spPr>
            <a:xfrm>
              <a:off x="2257425" y="6972300"/>
              <a:ext cx="2343150" cy="781050"/>
            </a:xfrm>
            <a:prstGeom prst="roundRect">
              <a:avLst>
                <a:gd fmla="val 20732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11"/>
            <p:cNvSpPr/>
            <p:nvPr/>
          </p:nvSpPr>
          <p:spPr>
            <a:xfrm>
              <a:off x="2381250" y="7067550"/>
              <a:ext cx="2095500" cy="247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64D95"/>
                  </a:solidFill>
                  <a:latin typeface="Arial"/>
                  <a:ea typeface="Arial"/>
                  <a:cs typeface="Arial"/>
                  <a:sym typeface="Arial"/>
                </a:rPr>
                <a:t>APRENDER</a:t>
              </a:r>
              <a:endParaRPr/>
            </a:p>
          </p:txBody>
        </p:sp>
        <p:sp>
          <p:nvSpPr>
            <p:cNvPr id="435" name="Google Shape;435;p11"/>
            <p:cNvSpPr/>
            <p:nvPr/>
          </p:nvSpPr>
          <p:spPr>
            <a:xfrm>
              <a:off x="2381250" y="7362825"/>
              <a:ext cx="2095500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Incorporar evidencia.</a:t>
              </a:r>
              <a:endParaRPr/>
            </a:p>
          </p:txBody>
        </p:sp>
        <p:sp>
          <p:nvSpPr>
            <p:cNvPr id="436" name="Google Shape;436;p11"/>
            <p:cNvSpPr/>
            <p:nvPr/>
          </p:nvSpPr>
          <p:spPr>
            <a:xfrm>
              <a:off x="876300" y="5981700"/>
              <a:ext cx="2343150" cy="781050"/>
            </a:xfrm>
            <a:prstGeom prst="roundRect">
              <a:avLst>
                <a:gd fmla="val 20732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11"/>
            <p:cNvSpPr/>
            <p:nvPr/>
          </p:nvSpPr>
          <p:spPr>
            <a:xfrm>
              <a:off x="1000125" y="6076950"/>
              <a:ext cx="2095500" cy="247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ADAPTAR</a:t>
              </a:r>
              <a:endParaRPr/>
            </a:p>
          </p:txBody>
        </p:sp>
        <p:sp>
          <p:nvSpPr>
            <p:cNvPr id="438" name="Google Shape;438;p11"/>
            <p:cNvSpPr/>
            <p:nvPr/>
          </p:nvSpPr>
          <p:spPr>
            <a:xfrm>
              <a:off x="1000125" y="6372225"/>
              <a:ext cx="2095500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Mejorar las siguientes decisiones.</a:t>
              </a:r>
              <a:endParaRPr/>
            </a:p>
          </p:txBody>
        </p:sp>
        <p:sp>
          <p:nvSpPr>
            <p:cNvPr id="439" name="Google Shape;439;p11"/>
            <p:cNvSpPr/>
            <p:nvPr/>
          </p:nvSpPr>
          <p:spPr>
            <a:xfrm>
              <a:off x="1438275" y="7839075"/>
              <a:ext cx="4543425" cy="476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En la gestión ágil</a:t>
              </a:r>
              <a:r>
                <a:rPr lang="en-US" sz="1200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, </a:t>
              </a:r>
              <a:r>
                <a:rPr b="0" i="0" lang="en-US" sz="1200" u="none" cap="none" strike="noStrike">
                  <a:solidFill>
                    <a:srgbClr val="333238"/>
                  </a:solidFill>
                  <a:latin typeface="Arial"/>
                  <a:ea typeface="Arial"/>
                  <a:cs typeface="Arial"/>
                  <a:sym typeface="Arial"/>
                </a:rPr>
                <a:t>no separamos artificialmente pensar y hacer: aprendemos mientras desarrollamos.</a:t>
              </a:r>
              <a:endParaRPr/>
            </a:p>
          </p:txBody>
        </p:sp>
        <p:sp>
          <p:nvSpPr>
            <p:cNvPr id="440" name="Google Shape;440;p11"/>
            <p:cNvSpPr/>
            <p:nvPr/>
          </p:nvSpPr>
          <p:spPr>
            <a:xfrm>
              <a:off x="1438275" y="8382000"/>
              <a:ext cx="4543425" cy="238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Pero surge una nueva pregunta:</a:t>
              </a:r>
              <a:endParaRPr/>
            </a:p>
          </p:txBody>
        </p:sp>
        <p:sp>
          <p:nvSpPr>
            <p:cNvPr id="441" name="Google Shape;441;p11"/>
            <p:cNvSpPr/>
            <p:nvPr/>
          </p:nvSpPr>
          <p:spPr>
            <a:xfrm>
              <a:off x="1438275" y="8629650"/>
              <a:ext cx="4543425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¿Necesitamos construir una solución completa para comenzar a aprender de ella?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2"/>
          <p:cNvSpPr/>
          <p:nvPr/>
        </p:nvSpPr>
        <p:spPr>
          <a:xfrm>
            <a:off x="876300" y="723900"/>
            <a:ext cx="3429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Artículo educativo · Seguimiento y adaptación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2"/>
          <p:cNvSpPr/>
          <p:nvPr/>
        </p:nvSpPr>
        <p:spPr>
          <a:xfrm>
            <a:off x="876301" y="2286001"/>
            <a:ext cx="85725" cy="85725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2"/>
          <p:cNvSpPr/>
          <p:nvPr/>
        </p:nvSpPr>
        <p:spPr>
          <a:xfrm>
            <a:off x="1038225" y="2286000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2"/>
          <p:cNvSpPr/>
          <p:nvPr/>
        </p:nvSpPr>
        <p:spPr>
          <a:xfrm>
            <a:off x="1200150" y="2286000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2"/>
          <p:cNvSpPr/>
          <p:nvPr/>
        </p:nvSpPr>
        <p:spPr>
          <a:xfrm>
            <a:off x="1362075" y="2286000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2"/>
          <p:cNvSpPr/>
          <p:nvPr/>
        </p:nvSpPr>
        <p:spPr>
          <a:xfrm>
            <a:off x="1524000" y="2286000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2"/>
          <p:cNvSpPr/>
          <p:nvPr/>
        </p:nvSpPr>
        <p:spPr>
          <a:xfrm>
            <a:off x="1685926" y="2286001"/>
            <a:ext cx="85725" cy="85725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4" name="Google Shape;454;p12"/>
          <p:cNvGrpSpPr/>
          <p:nvPr/>
        </p:nvGrpSpPr>
        <p:grpSpPr>
          <a:xfrm>
            <a:off x="876300" y="1390650"/>
            <a:ext cx="5143500" cy="8039100"/>
            <a:chOff x="876300" y="1390650"/>
            <a:chExt cx="5143500" cy="8039100"/>
          </a:xfrm>
        </p:grpSpPr>
        <p:sp>
          <p:nvSpPr>
            <p:cNvPr id="455" name="Google Shape;455;p12"/>
            <p:cNvSpPr/>
            <p:nvPr/>
          </p:nvSpPr>
          <p:spPr>
            <a:xfrm>
              <a:off x="876300" y="1390650"/>
              <a:ext cx="5105400" cy="847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Referencias y recursos</a:t>
              </a:r>
              <a:endParaRPr/>
            </a:p>
          </p:txBody>
        </p:sp>
        <p:sp>
          <p:nvSpPr>
            <p:cNvPr id="456" name="Google Shape;456;p12"/>
            <p:cNvSpPr/>
            <p:nvPr/>
          </p:nvSpPr>
          <p:spPr>
            <a:xfrm>
              <a:off x="1790700" y="9201150"/>
              <a:ext cx="857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/>
            </a:p>
          </p:txBody>
        </p:sp>
        <p:sp>
          <p:nvSpPr>
            <p:cNvPr id="457" name="Google Shape;457;p12"/>
            <p:cNvSpPr/>
            <p:nvPr/>
          </p:nvSpPr>
          <p:spPr>
            <a:xfrm>
              <a:off x="876300" y="2686050"/>
              <a:ext cx="5105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Referencias</a:t>
              </a:r>
              <a:endParaRPr/>
            </a:p>
          </p:txBody>
        </p:sp>
        <p:sp>
          <p:nvSpPr>
            <p:cNvPr id="458" name="Google Shape;458;p12"/>
            <p:cNvSpPr/>
            <p:nvPr/>
          </p:nvSpPr>
          <p:spPr>
            <a:xfrm>
              <a:off x="914400" y="3738563"/>
              <a:ext cx="51054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sng" cap="none" strike="noStrike">
                  <a:solidFill>
                    <a:srgbClr val="064D95"/>
                  </a:solidFill>
                  <a:latin typeface="Arial"/>
                  <a:ea typeface="Arial"/>
                  <a:cs typeface="Arial"/>
                  <a:sym typeface="Arial"/>
                  <a:hlinkClick r:id="rId3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Sutherland, J. (2016). Scrum: El arte de hacer el doble de trabajo en la mitad de tiempo. Editorial Océano.</a:t>
              </a:r>
              <a:endParaRPr/>
            </a:p>
          </p:txBody>
        </p:sp>
        <p:sp>
          <p:nvSpPr>
            <p:cNvPr id="459" name="Google Shape;459;p12"/>
            <p:cNvSpPr/>
            <p:nvPr/>
          </p:nvSpPr>
          <p:spPr>
            <a:xfrm>
              <a:off x="876300" y="4543425"/>
              <a:ext cx="51054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sng" cap="none" strike="noStrike">
                  <a:solidFill>
                    <a:srgbClr val="064D95"/>
                  </a:solidFill>
                  <a:latin typeface="Arial"/>
                  <a:ea typeface="Arial"/>
                  <a:cs typeface="Arial"/>
                  <a:sym typeface="Arial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Universitat Oberta de Catalunya. (s. f.). [Documento sobre metodologías ágiles]. Repositorio Institucional de la UOC.</a:t>
              </a:r>
              <a:endParaRPr/>
            </a:p>
          </p:txBody>
        </p:sp>
        <p:sp>
          <p:nvSpPr>
            <p:cNvPr id="460" name="Google Shape;460;p12"/>
            <p:cNvSpPr/>
            <p:nvPr/>
          </p:nvSpPr>
          <p:spPr>
            <a:xfrm>
              <a:off x="876300" y="5334000"/>
              <a:ext cx="51054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sng" cap="none" strike="noStrike">
                  <a:solidFill>
                    <a:srgbClr val="064D95"/>
                  </a:solidFill>
                  <a:latin typeface="Arial"/>
                  <a:ea typeface="Arial"/>
                  <a:cs typeface="Arial"/>
                  <a:sym typeface="Arial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UNIR. (s. f.). Product Backlog: qué es y cómo crear uno. UNIR Revista.</a:t>
              </a:r>
              <a:endParaRPr/>
            </a:p>
          </p:txBody>
        </p:sp>
        <p:sp>
          <p:nvSpPr>
            <p:cNvPr id="461" name="Google Shape;461;p12"/>
            <p:cNvSpPr/>
            <p:nvPr/>
          </p:nvSpPr>
          <p:spPr>
            <a:xfrm>
              <a:off x="876300" y="2569850"/>
              <a:ext cx="51054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0D0D0D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Garrido Sotomayor, S. (2025, 20 de abril). </a:t>
              </a:r>
              <a:r>
                <a:rPr i="1" lang="en-US" sz="1200">
                  <a:solidFill>
                    <a:srgbClr val="0D0D0D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Guía de la gestión ágil de proyectos para liderar con eficacia</a:t>
              </a:r>
              <a:r>
                <a:rPr lang="en-US" sz="1200">
                  <a:solidFill>
                    <a:srgbClr val="0D0D0D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. IEBS Business School. </a:t>
              </a:r>
              <a:r>
                <a:rPr lang="en-US" sz="1200" u="sng">
                  <a:solidFill>
                    <a:schemeClr val="hlink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  <a:hlinkClick r:id="rId6"/>
                </a:rPr>
                <a:t>https://www.iebschool.com/hub/guia-de-la-gestion-agil-de-proyectos-para-liderar-con-eficacia/</a:t>
              </a:r>
              <a:r>
                <a:rPr lang="en-US" sz="1200">
                  <a:solidFill>
                    <a:srgbClr val="0D0D0D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1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</a:endParaRPr>
            </a:p>
          </p:txBody>
        </p:sp>
        <p:sp>
          <p:nvSpPr>
            <p:cNvPr id="462" name="Google Shape;462;p12"/>
            <p:cNvSpPr/>
            <p:nvPr/>
          </p:nvSpPr>
          <p:spPr>
            <a:xfrm>
              <a:off x="876300" y="6334125"/>
              <a:ext cx="5105400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12"/>
            <p:cNvSpPr/>
            <p:nvPr/>
          </p:nvSpPr>
          <p:spPr>
            <a:xfrm>
              <a:off x="876300" y="6886575"/>
              <a:ext cx="5105400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12"/>
            <p:cNvSpPr/>
            <p:nvPr/>
          </p:nvSpPr>
          <p:spPr>
            <a:xfrm>
              <a:off x="876300" y="7534275"/>
              <a:ext cx="5105400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12"/>
            <p:cNvSpPr/>
            <p:nvPr/>
          </p:nvSpPr>
          <p:spPr>
            <a:xfrm>
              <a:off x="876300" y="5800725"/>
              <a:ext cx="51054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sng" cap="none" strike="noStrike">
                  <a:solidFill>
                    <a:srgbClr val="064D95"/>
                  </a:solidFill>
                  <a:latin typeface="Arial"/>
                  <a:ea typeface="Arial"/>
                  <a:cs typeface="Arial"/>
                  <a:sym typeface="Arial"/>
                  <a:hlinkClick r:id="rId7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Scribd. (s. f.). El arte de hacer el doble de trabajo en la mitad de tiempo.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5"/>
          <p:cNvSpPr/>
          <p:nvPr/>
        </p:nvSpPr>
        <p:spPr>
          <a:xfrm>
            <a:off x="876300" y="723900"/>
            <a:ext cx="3429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Artículo educativo · Seguimiento y adaptación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5"/>
          <p:cNvSpPr/>
          <p:nvPr/>
        </p:nvSpPr>
        <p:spPr>
          <a:xfrm>
            <a:off x="876300" y="110490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B31686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b="1" i="0" sz="1700" u="none" cap="none" strike="noStrike">
              <a:solidFill>
                <a:srgbClr val="B3168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5"/>
          <p:cNvSpPr/>
          <p:nvPr/>
        </p:nvSpPr>
        <p:spPr>
          <a:xfrm>
            <a:off x="876300" y="1409700"/>
            <a:ext cx="5105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Sobre este documento</a:t>
            </a:r>
            <a:endParaRPr b="1" i="0" sz="240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74" name="Google Shape;474;p15"/>
          <p:cNvGraphicFramePr/>
          <p:nvPr/>
        </p:nvGraphicFramePr>
        <p:xfrm>
          <a:off x="876300" y="1989302"/>
          <a:ext cx="3000000" cy="5000000"/>
        </p:xfrm>
        <a:graphic>
          <a:graphicData uri="http://schemas.openxmlformats.org/drawingml/2006/table">
            <a:tbl>
              <a:tblPr>
                <a:noFill/>
                <a:tableStyleId>{636F37DF-024A-4B88-85A6-350CAC3F5476}</a:tableStyleId>
              </a:tblPr>
              <a:tblGrid>
                <a:gridCol w="2628125"/>
                <a:gridCol w="2705875"/>
              </a:tblGrid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623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Proyecto</a:t>
                      </a:r>
                      <a:endParaRPr/>
                    </a:p>
                  </a:txBody>
                  <a:tcPr marT="137150" marB="137150" marR="137150" marL="137150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623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@Medellín — SAPIENCIA</a:t>
                      </a:r>
                      <a:endParaRPr/>
                    </a:p>
                  </a:txBody>
                  <a:tcPr marT="137150" marB="137150" marR="137150" marL="137150">
                    <a:solidFill>
                      <a:srgbClr val="EAF0FB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623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Tipo de recurso</a:t>
                      </a:r>
                      <a:endParaRPr/>
                    </a:p>
                  </a:txBody>
                  <a:tcPr marT="137150" marB="137150" marR="137150" marL="137150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623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Artículo educativo</a:t>
                      </a:r>
                      <a:endParaRPr/>
                    </a:p>
                  </a:txBody>
                  <a:tcPr marT="137150" marB="137150" marR="137150" marL="137150">
                    <a:solidFill>
                      <a:srgbClr val="EAF0FB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623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Coordinación general:</a:t>
                      </a:r>
                      <a:endParaRPr/>
                    </a:p>
                  </a:txBody>
                  <a:tcPr marT="137150" marB="137150" marR="137150" marL="137150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623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Luz Dary Morales Galvis</a:t>
                      </a:r>
                      <a:endParaRPr/>
                    </a:p>
                  </a:txBody>
                  <a:tcPr marT="137150" marB="137150" marR="137150" marL="137150">
                    <a:solidFill>
                      <a:srgbClr val="EAF0FB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623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Experto temático:</a:t>
                      </a:r>
                      <a:endParaRPr/>
                    </a:p>
                  </a:txBody>
                  <a:tcPr marT="137150" marB="137150" marR="137150" marL="137150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623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Diana María Velázquez García</a:t>
                      </a:r>
                      <a:endParaRPr/>
                    </a:p>
                  </a:txBody>
                  <a:tcPr marT="137150" marB="137150" marR="137150" marL="137150">
                    <a:solidFill>
                      <a:srgbClr val="EAF0FB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623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Diseñador de la experiencia virtual de aprendizaje:</a:t>
                      </a:r>
                      <a:endParaRPr/>
                    </a:p>
                  </a:txBody>
                  <a:tcPr marT="137150" marB="137150" marR="137150" marL="137150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623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Julieta Márquez Gutiérrez</a:t>
                      </a:r>
                      <a:endParaRPr/>
                    </a:p>
                  </a:txBody>
                  <a:tcPr marT="137150" marB="137150" marR="137150" marL="137150">
                    <a:solidFill>
                      <a:srgbClr val="EAF0FB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623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Corrección de estilo:</a:t>
                      </a:r>
                      <a:endParaRPr/>
                    </a:p>
                  </a:txBody>
                  <a:tcPr marT="137150" marB="137150" marR="137150" marL="137150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623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Julieta Márquez Gutiérrez y Sergio Andrés Ocampo Rivera</a:t>
                      </a:r>
                      <a:endParaRPr/>
                    </a:p>
                  </a:txBody>
                  <a:tcPr marT="137150" marB="137150" marR="137150" marL="137150">
                    <a:solidFill>
                      <a:srgbClr val="EAF0FB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623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Validación pedagógica:</a:t>
                      </a:r>
                      <a:endParaRPr/>
                    </a:p>
                  </a:txBody>
                  <a:tcPr marT="137150" marB="137150" marR="137150" marL="137150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623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Sandra Patricia Hoyos Sepúlveda</a:t>
                      </a:r>
                      <a:endParaRPr/>
                    </a:p>
                  </a:txBody>
                  <a:tcPr marT="137150" marB="137150" marR="137150" marL="137150">
                    <a:solidFill>
                      <a:srgbClr val="EAF0FB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623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Diseño gráfico:</a:t>
                      </a:r>
                      <a:endParaRPr/>
                    </a:p>
                  </a:txBody>
                  <a:tcPr marT="137150" marB="137150" marR="137150" marL="137150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623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Andrea Valentina Roa Orozco</a:t>
                      </a:r>
                      <a:endParaRPr/>
                    </a:p>
                  </a:txBody>
                  <a:tcPr marT="137150" marB="137150" marR="137150" marL="137150">
                    <a:solidFill>
                      <a:srgbClr val="EAF0FB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623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Disposición y ensamble:</a:t>
                      </a:r>
                      <a:endParaRPr/>
                    </a:p>
                  </a:txBody>
                  <a:tcPr marT="137150" marB="137150" marR="137150" marL="137150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623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Samayda Herrera Betancur</a:t>
                      </a:r>
                      <a:endParaRPr/>
                    </a:p>
                  </a:txBody>
                  <a:tcPr marT="137150" marB="137150" marR="137150" marL="137150">
                    <a:solidFill>
                      <a:srgbClr val="EAF0FB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623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Última actualización</a:t>
                      </a:r>
                      <a:endParaRPr/>
                    </a:p>
                  </a:txBody>
                  <a:tcPr marT="137150" marB="137150" marR="137150" marL="137150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2623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Octubre de 2026</a:t>
                      </a:r>
                      <a:endParaRPr/>
                    </a:p>
                  </a:txBody>
                  <a:tcPr marT="137150" marB="137150" marR="137150" marL="137150">
                    <a:solidFill>
                      <a:srgbClr val="EAF0FB"/>
                    </a:solidFill>
                  </a:tcPr>
                </a:tc>
              </a:tr>
            </a:tbl>
          </a:graphicData>
        </a:graphic>
      </p:graphicFrame>
      <p:sp>
        <p:nvSpPr>
          <p:cNvPr id="475" name="Google Shape;475;p15"/>
          <p:cNvSpPr/>
          <p:nvPr/>
        </p:nvSpPr>
        <p:spPr>
          <a:xfrm>
            <a:off x="1790700" y="92011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2026-08-28T21:01:11Z</dcterms:created>
  <dc:creator>Walnut Exporter</dc:creator>
</cp:coreProperties>
</file>