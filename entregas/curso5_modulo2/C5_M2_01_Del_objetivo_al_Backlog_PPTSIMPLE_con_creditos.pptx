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3"/>
  </p:sldIdLst>
  <p:sldSz cy="9525000" cx="1905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00">
          <p15:clr>
            <a:srgbClr val="A4A3A4"/>
          </p15:clr>
        </p15:guide>
        <p15:guide id="2" pos="600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BJm9PqI4Q07KdNvtA8b76zarr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8544A8-0A6D-4153-ADB3-37228D6688B5}">
  <a:tblStyle styleId="{3E8544A8-0A6D-4153-ADB3-37228D6688B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00" orient="horz"/>
        <p:guide pos="600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customschemas.google.com/relationships/presentationmetadata" Target="metadata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52" name="Google Shape;25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98" name="Google Shape;29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332" name="Google Shape;33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362" name="Google Shape;36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399" name="Google Shape;39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425" name="Google Shape;42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464" name="Google Shape;46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501" name="Google Shape;50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38234" y="1777023"/>
            <a:ext cx="8252354" cy="82523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2857500" y="2190750"/>
            <a:ext cx="14287500" cy="3962400"/>
            <a:chOff x="2857500" y="2190750"/>
            <a:chExt cx="14287500" cy="3962400"/>
          </a:xfrm>
        </p:grpSpPr>
        <p:sp>
          <p:nvSpPr>
            <p:cNvPr id="18" name="Google Shape;18;p1"/>
            <p:cNvSpPr/>
            <p:nvPr/>
          </p:nvSpPr>
          <p:spPr>
            <a:xfrm>
              <a:off x="2857500" y="2190750"/>
              <a:ext cx="1419225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Módulo 2 · Planeación y organización de proyectos ágiles</a:t>
              </a:r>
              <a:endParaRPr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857500" y="2895600"/>
              <a:ext cx="14287500" cy="184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51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Del objetivo al Backlog: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51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organizar lo que realmente importa</a:t>
              </a: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905125" y="4943475"/>
              <a:ext cx="12906375" cy="953"/>
            </a:xfrm>
            <a:custGeom>
              <a:rect b="b" l="l" r="r" t="t"/>
              <a:pathLst>
                <a:path extrusionOk="0" h="953" w="12906375">
                  <a:moveTo>
                    <a:pt x="0" y="0"/>
                  </a:moveTo>
                  <a:lnTo>
                    <a:pt x="12906375" y="0"/>
                  </a:lnTo>
                </a:path>
              </a:pathLst>
            </a:custGeom>
            <a:noFill/>
            <a:ln cap="flat" cmpd="sng" w="57150">
              <a:solidFill>
                <a:srgbClr val="FFD9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1" name="Google Shape;21;p1"/>
            <p:cNvSpPr/>
            <p:nvPr/>
          </p:nvSpPr>
          <p:spPr>
            <a:xfrm>
              <a:off x="2905125" y="5200650"/>
              <a:ext cx="1362075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7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De una meta general a un trabajo priorizado,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7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comprensible y </a:t>
              </a:r>
              <a:r>
                <a:rPr lang="es-CO" sz="2700">
                  <a:solidFill>
                    <a:srgbClr val="332F37"/>
                  </a:solidFill>
                </a:rPr>
                <a:t>realizable</a:t>
              </a:r>
              <a:r>
                <a:rPr b="0" i="0" lang="es-CO" sz="27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2"/>
          <p:cNvGrpSpPr/>
          <p:nvPr/>
        </p:nvGrpSpPr>
        <p:grpSpPr>
          <a:xfrm>
            <a:off x="1876425" y="847725"/>
            <a:ext cx="15621000" cy="8439150"/>
            <a:chOff x="1876425" y="847725"/>
            <a:chExt cx="15621000" cy="8439150"/>
          </a:xfrm>
        </p:grpSpPr>
        <p:sp>
          <p:nvSpPr>
            <p:cNvPr id="30" name="Google Shape;30;p2"/>
            <p:cNvSpPr/>
            <p:nvPr/>
          </p:nvSpPr>
          <p:spPr>
            <a:xfrm>
              <a:off x="1876425" y="847725"/>
              <a:ext cx="13049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Product Backlog: organización dinámica del trabajo</a:t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876425" y="1371600"/>
              <a:ext cx="15621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Planear sin pretender anticiparlo todo</a:t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905125" y="8943975"/>
              <a:ext cx="8239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Planeación y organización de proyectos ágiles</a:t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1334750" y="8943975"/>
              <a:ext cx="1190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02 / 15</a:t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971675" y="2924175"/>
              <a:ext cx="8382000" cy="1419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4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Los proyectos se desarrollan en entornos donde cambian las necesidades, aparecen restricciones y obtenemos información que no estaba disponible al comienzo.</a:t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971675" y="4581525"/>
              <a:ext cx="824865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4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La planeación ágil no elimina objetivos, tiempos ni responsabilidades. Propone establecer una dirección y organizar el trabajo sin asumir que todas las decisiones deb</a:t>
              </a:r>
              <a:r>
                <a:rPr lang="es-CO" sz="2400">
                  <a:solidFill>
                    <a:srgbClr val="332F37"/>
                  </a:solidFill>
                </a:rPr>
                <a:t>a</a:t>
              </a:r>
              <a:r>
                <a:rPr b="0" i="0" lang="es-CO" sz="24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n permanecer intactas durante el proyecto.</a:t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1144250" y="3190875"/>
              <a:ext cx="5476875" cy="952500"/>
            </a:xfrm>
            <a:prstGeom prst="roundRect">
              <a:avLst>
                <a:gd fmla="val 18000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1296650" y="3343275"/>
              <a:ext cx="5172075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1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DIRECCIÓN</a:t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1144250" y="5353050"/>
              <a:ext cx="5476875" cy="952500"/>
            </a:xfrm>
            <a:prstGeom prst="roundRect">
              <a:avLst>
                <a:gd fmla="val 18000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1296650" y="5505450"/>
              <a:ext cx="5172075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15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ADAPTACIÓN</a:t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3382625" y="4333875"/>
              <a:ext cx="953" cy="809625"/>
            </a:xfrm>
            <a:custGeom>
              <a:rect b="b" l="l" r="r" t="t"/>
              <a:pathLst>
                <a:path extrusionOk="0" h="809625" w="953">
                  <a:moveTo>
                    <a:pt x="0" y="0"/>
                  </a:moveTo>
                  <a:lnTo>
                    <a:pt x="0" y="809625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1" name="Google Shape;41;p2"/>
            <p:cNvSpPr/>
            <p:nvPr/>
          </p:nvSpPr>
          <p:spPr>
            <a:xfrm>
              <a:off x="13327827" y="5043192"/>
              <a:ext cx="54798" cy="100308"/>
            </a:xfrm>
            <a:custGeom>
              <a:rect b="b" l="l" r="r" t="t"/>
              <a:pathLst>
                <a:path extrusionOk="0" h="100308" w="54798">
                  <a:moveTo>
                    <a:pt x="54798" y="10030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2" name="Google Shape;42;p2"/>
            <p:cNvSpPr/>
            <p:nvPr/>
          </p:nvSpPr>
          <p:spPr>
            <a:xfrm>
              <a:off x="13382625" y="5043192"/>
              <a:ext cx="54798" cy="100308"/>
            </a:xfrm>
            <a:custGeom>
              <a:rect b="b" l="l" r="r" t="t"/>
              <a:pathLst>
                <a:path extrusionOk="0" h="100308" w="54798">
                  <a:moveTo>
                    <a:pt x="0" y="100308"/>
                  </a:moveTo>
                  <a:lnTo>
                    <a:pt x="54798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3" name="Google Shape;43;p2"/>
            <p:cNvSpPr/>
            <p:nvPr/>
          </p:nvSpPr>
          <p:spPr>
            <a:xfrm>
              <a:off x="14316075" y="4333875"/>
              <a:ext cx="953" cy="809625"/>
            </a:xfrm>
            <a:custGeom>
              <a:rect b="b" l="l" r="r" t="t"/>
              <a:pathLst>
                <a:path extrusionOk="0" h="809625" w="953">
                  <a:moveTo>
                    <a:pt x="0" y="809625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4" name="Google Shape;44;p2"/>
            <p:cNvSpPr/>
            <p:nvPr/>
          </p:nvSpPr>
          <p:spPr>
            <a:xfrm>
              <a:off x="14316075" y="4333875"/>
              <a:ext cx="54798" cy="100308"/>
            </a:xfrm>
            <a:custGeom>
              <a:rect b="b" l="l" r="r" t="t"/>
              <a:pathLst>
                <a:path extrusionOk="0" h="100308" w="54798">
                  <a:moveTo>
                    <a:pt x="0" y="0"/>
                  </a:moveTo>
                  <a:lnTo>
                    <a:pt x="54798" y="100308"/>
                  </a:lnTo>
                </a:path>
              </a:pathLst>
            </a:custGeom>
            <a:noFill/>
            <a:ln cap="flat" cmpd="sng" w="285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5" name="Google Shape;45;p2"/>
            <p:cNvSpPr/>
            <p:nvPr/>
          </p:nvSpPr>
          <p:spPr>
            <a:xfrm>
              <a:off x="14261277" y="4333875"/>
              <a:ext cx="54798" cy="100308"/>
            </a:xfrm>
            <a:custGeom>
              <a:rect b="b" l="l" r="r" t="t"/>
              <a:pathLst>
                <a:path extrusionOk="0" h="100308" w="54798">
                  <a:moveTo>
                    <a:pt x="54798" y="0"/>
                  </a:moveTo>
                  <a:lnTo>
                    <a:pt x="0" y="100308"/>
                  </a:lnTo>
                </a:path>
              </a:pathLst>
            </a:custGeom>
            <a:noFill/>
            <a:ln cap="flat" cmpd="sng" w="285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6" name="Google Shape;46;p2"/>
            <p:cNvSpPr/>
            <p:nvPr/>
          </p:nvSpPr>
          <p:spPr>
            <a:xfrm>
              <a:off x="12382500" y="4572000"/>
              <a:ext cx="2952750" cy="409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2382500" y="4610100"/>
              <a:ext cx="2952750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ORGANIZACIÓN</a:t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857500" y="6953250"/>
              <a:ext cx="14192250" cy="752475"/>
            </a:xfrm>
            <a:prstGeom prst="roundRect">
              <a:avLst>
                <a:gd fmla="val 25316" name="adj"/>
              </a:avLst>
            </a:prstGeom>
            <a:solidFill>
              <a:srgbClr val="F7F5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857500" y="7048500"/>
              <a:ext cx="66675" cy="561975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133725" y="7115175"/>
              <a:ext cx="13592175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Planeación ágil = dirección + organización + capacidad de adaptación</a:t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905125" y="7934325"/>
              <a:ext cx="13954125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¿Cómo organizamos lo que necesitamos hacer sin convertir el plan en algo rígido?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3"/>
          <p:cNvGrpSpPr/>
          <p:nvPr/>
        </p:nvGrpSpPr>
        <p:grpSpPr>
          <a:xfrm>
            <a:off x="1876425" y="847725"/>
            <a:ext cx="15621000" cy="8439150"/>
            <a:chOff x="1876425" y="847725"/>
            <a:chExt cx="15621000" cy="8439150"/>
          </a:xfrm>
        </p:grpSpPr>
        <p:sp>
          <p:nvSpPr>
            <p:cNvPr id="60" name="Google Shape;60;p3"/>
            <p:cNvSpPr/>
            <p:nvPr/>
          </p:nvSpPr>
          <p:spPr>
            <a:xfrm>
              <a:off x="1876425" y="847725"/>
              <a:ext cx="13049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Product Backlog: organización dinámica del trabajo</a:t>
              </a: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876425" y="1371600"/>
              <a:ext cx="15621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Product Backlog: mucho más que una lista de tareas</a:t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2905125" y="8943975"/>
              <a:ext cx="8239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Planeación y organización de proyectos ágiles</a:t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1334750" y="8943975"/>
              <a:ext cx="1190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03 / 15</a:t>
              </a: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971675" y="2867025"/>
              <a:ext cx="15192375" cy="904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4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El Product Backlog es una lista organizada y evolutiva de elementos que pueden ser necesarios para desarrollar, modificar o mejorar un producto.</a:t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2047875" y="4086225"/>
              <a:ext cx="4714875" cy="1028700"/>
            </a:xfrm>
            <a:prstGeom prst="roundRect">
              <a:avLst>
                <a:gd fmla="val 20370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2047875" y="4086225"/>
              <a:ext cx="76200" cy="1028700"/>
            </a:xfrm>
            <a:prstGeom prst="rect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2305050" y="4333875"/>
              <a:ext cx="42100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Requerimientos</a:t>
              </a: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7143750" y="4086225"/>
              <a:ext cx="4714875" cy="1028700"/>
            </a:xfrm>
            <a:prstGeom prst="roundRect">
              <a:avLst>
                <a:gd fmla="val 20370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7143750" y="4086225"/>
              <a:ext cx="76200" cy="1028700"/>
            </a:xfrm>
            <a:prstGeom prst="rect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7400925" y="4333875"/>
              <a:ext cx="42100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Funcionalidades</a:t>
              </a: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12239625" y="4086225"/>
              <a:ext cx="4714875" cy="1028700"/>
            </a:xfrm>
            <a:prstGeom prst="roundRect">
              <a:avLst>
                <a:gd fmla="val 20370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2239625" y="4086225"/>
              <a:ext cx="76200" cy="1028700"/>
            </a:xfrm>
            <a:prstGeom prst="rect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2496800" y="4333875"/>
              <a:ext cx="42100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Mejoras</a:t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047875" y="5334000"/>
              <a:ext cx="4714875" cy="1028700"/>
            </a:xfrm>
            <a:prstGeom prst="roundRect">
              <a:avLst>
                <a:gd fmla="val 20370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2047875" y="5334000"/>
              <a:ext cx="76200" cy="1028700"/>
            </a:xfrm>
            <a:prstGeom prst="rect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2305050" y="5581650"/>
              <a:ext cx="42100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Correcciones</a:t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7143750" y="5334000"/>
              <a:ext cx="4714875" cy="1028700"/>
            </a:xfrm>
            <a:prstGeom prst="roundRect">
              <a:avLst>
                <a:gd fmla="val 20370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7143750" y="5334000"/>
              <a:ext cx="76200" cy="1028700"/>
            </a:xfrm>
            <a:prstGeom prst="rect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7400925" y="5581650"/>
              <a:ext cx="42100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Necesidades técnicas</a:t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2239625" y="5334000"/>
              <a:ext cx="4714875" cy="1028700"/>
            </a:xfrm>
            <a:prstGeom prst="roundRect">
              <a:avLst>
                <a:gd fmla="val 20370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2239625" y="5334000"/>
              <a:ext cx="76200" cy="1028700"/>
            </a:xfrm>
            <a:prstGeom prst="rect">
              <a:avLst/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12496800" y="5581650"/>
              <a:ext cx="42100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Otros elementos asociados al valor</a:t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2857500" y="6800850"/>
              <a:ext cx="141922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7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El Product Backlog está vivo:</a:t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2952750" y="7486650"/>
              <a:ext cx="1400175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2250">
                  <a:solidFill>
                    <a:srgbClr val="332F37"/>
                  </a:solidFill>
                </a:rPr>
                <a:t>Se pueden</a:t>
              </a:r>
              <a:r>
                <a:rPr b="0" i="0" lang="es-CO" sz="225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 incorporar, eliminar, precisar o modificar elementos cuando aparecen nuevas necesidades, cambian las prioridades o aumenta el conocimiento sobre el producto.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4"/>
          <p:cNvGrpSpPr/>
          <p:nvPr/>
        </p:nvGrpSpPr>
        <p:grpSpPr>
          <a:xfrm>
            <a:off x="1876425" y="847725"/>
            <a:ext cx="15621000" cy="8439150"/>
            <a:chOff x="1876425" y="847725"/>
            <a:chExt cx="15621000" cy="8439150"/>
          </a:xfrm>
        </p:grpSpPr>
        <p:sp>
          <p:nvSpPr>
            <p:cNvPr id="93" name="Google Shape;93;p4"/>
            <p:cNvSpPr/>
            <p:nvPr/>
          </p:nvSpPr>
          <p:spPr>
            <a:xfrm>
              <a:off x="1876425" y="847725"/>
              <a:ext cx="13049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Product Backlog: organización dinámica del trabajo</a:t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1876425" y="1371600"/>
              <a:ext cx="15621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¿Cómo llegamos de una meta al trabajo organizado?</a:t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2905125" y="8943975"/>
              <a:ext cx="8239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Planeación y organización de proyectos ágiles</a:t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11334750" y="8943975"/>
              <a:ext cx="1190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04 / 15</a:t>
              </a:r>
              <a:endParaRPr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2000250" y="3143250"/>
              <a:ext cx="3333750" cy="1724025"/>
            </a:xfrm>
            <a:prstGeom prst="roundRect">
              <a:avLst>
                <a:gd fmla="val 13260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2171700" y="3371850"/>
              <a:ext cx="299085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META</a:t>
              </a: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2209800" y="4048125"/>
              <a:ext cx="29146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¿Hacia dónde queremos avanzar?</a:t>
              </a:r>
              <a:endParaRPr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5857875" y="3143250"/>
              <a:ext cx="3333750" cy="1724025"/>
            </a:xfrm>
            <a:prstGeom prst="roundRect">
              <a:avLst>
                <a:gd fmla="val 13260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6029325" y="3371850"/>
              <a:ext cx="299085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NECESIDADES</a:t>
              </a: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6067425" y="4048125"/>
              <a:ext cx="29146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debemos atender?</a:t>
              </a: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9715500" y="3143250"/>
              <a:ext cx="3333750" cy="1724025"/>
            </a:xfrm>
            <a:prstGeom prst="roundRect">
              <a:avLst>
                <a:gd fmla="val 13260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9886950" y="3371850"/>
              <a:ext cx="299085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REQUERIMIENTOS</a:t>
              </a: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9925050" y="4048125"/>
              <a:ext cx="29146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podría necesitar el producto?</a:t>
              </a: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3573125" y="3143250"/>
              <a:ext cx="3333750" cy="1724025"/>
            </a:xfrm>
            <a:prstGeom prst="roundRect">
              <a:avLst>
                <a:gd fmla="val 13260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13744575" y="3371850"/>
              <a:ext cx="299085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PRIORIDADES</a:t>
              </a: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13782675" y="4048125"/>
              <a:ext cx="29146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merece atención primero?</a:t>
              </a: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13573125" y="5362575"/>
              <a:ext cx="3333750" cy="1724025"/>
            </a:xfrm>
            <a:prstGeom prst="roundRect">
              <a:avLst>
                <a:gd fmla="val 13260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13744575" y="5591175"/>
              <a:ext cx="299085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EQUIPO</a:t>
              </a: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13782675" y="6267450"/>
              <a:ext cx="29146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¿Con qué capacidades contamos?</a:t>
              </a: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9715500" y="5362575"/>
              <a:ext cx="3333750" cy="1724025"/>
            </a:xfrm>
            <a:prstGeom prst="roundRect">
              <a:avLst>
                <a:gd fmla="val 13260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9886950" y="5591175"/>
              <a:ext cx="299085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8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RESPONSABILIDADES</a:t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9925050" y="6267450"/>
              <a:ext cx="29146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¿Cómo organizamos el trabajo?</a:t>
              </a: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5857875" y="5362575"/>
              <a:ext cx="3333750" cy="1724025"/>
            </a:xfrm>
            <a:prstGeom prst="roundRect">
              <a:avLst>
                <a:gd fmla="val 13260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6029325" y="5591175"/>
              <a:ext cx="299085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TIEMPO</a:t>
              </a: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6067425" y="6267450"/>
              <a:ext cx="29146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previsiones podemos establecer?</a:t>
              </a: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2000250" y="5362575"/>
              <a:ext cx="3333750" cy="1724025"/>
            </a:xfrm>
            <a:prstGeom prst="roundRect">
              <a:avLst>
                <a:gd fmla="val 13260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2171700" y="5591175"/>
              <a:ext cx="299085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PRODUCT BACKLOG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ORGANIZADO</a:t>
              </a: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5448300" y="4000500"/>
              <a:ext cx="295275" cy="953"/>
            </a:xfrm>
            <a:custGeom>
              <a:rect b="b" l="l" r="r" t="t"/>
              <a:pathLst>
                <a:path extrusionOk="0" h="953" w="29527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1" name="Google Shape;121;p4"/>
            <p:cNvSpPr/>
            <p:nvPr/>
          </p:nvSpPr>
          <p:spPr>
            <a:xfrm>
              <a:off x="5643267" y="4000500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2" name="Google Shape;122;p4"/>
            <p:cNvSpPr/>
            <p:nvPr/>
          </p:nvSpPr>
          <p:spPr>
            <a:xfrm>
              <a:off x="5643267" y="3945702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3" name="Google Shape;123;p4"/>
            <p:cNvSpPr/>
            <p:nvPr/>
          </p:nvSpPr>
          <p:spPr>
            <a:xfrm>
              <a:off x="9305925" y="4000500"/>
              <a:ext cx="295275" cy="953"/>
            </a:xfrm>
            <a:custGeom>
              <a:rect b="b" l="l" r="r" t="t"/>
              <a:pathLst>
                <a:path extrusionOk="0" h="953" w="29527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4" name="Google Shape;124;p4"/>
            <p:cNvSpPr/>
            <p:nvPr/>
          </p:nvSpPr>
          <p:spPr>
            <a:xfrm>
              <a:off x="9500892" y="4000500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5" name="Google Shape;125;p4"/>
            <p:cNvSpPr/>
            <p:nvPr/>
          </p:nvSpPr>
          <p:spPr>
            <a:xfrm>
              <a:off x="9500892" y="3945702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6" name="Google Shape;126;p4"/>
            <p:cNvSpPr/>
            <p:nvPr/>
          </p:nvSpPr>
          <p:spPr>
            <a:xfrm>
              <a:off x="13163550" y="4000500"/>
              <a:ext cx="295275" cy="953"/>
            </a:xfrm>
            <a:custGeom>
              <a:rect b="b" l="l" r="r" t="t"/>
              <a:pathLst>
                <a:path extrusionOk="0" h="953" w="29527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7" name="Google Shape;127;p4"/>
            <p:cNvSpPr/>
            <p:nvPr/>
          </p:nvSpPr>
          <p:spPr>
            <a:xfrm>
              <a:off x="13358517" y="4000500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8" name="Google Shape;128;p4"/>
            <p:cNvSpPr/>
            <p:nvPr/>
          </p:nvSpPr>
          <p:spPr>
            <a:xfrm>
              <a:off x="13358517" y="3945702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9" name="Google Shape;129;p4"/>
            <p:cNvSpPr/>
            <p:nvPr/>
          </p:nvSpPr>
          <p:spPr>
            <a:xfrm>
              <a:off x="15240000" y="4972050"/>
              <a:ext cx="953" cy="295275"/>
            </a:xfrm>
            <a:custGeom>
              <a:rect b="b" l="l" r="r" t="t"/>
              <a:pathLst>
                <a:path extrusionOk="0" h="295275" w="953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0" name="Google Shape;130;p4"/>
            <p:cNvSpPr/>
            <p:nvPr/>
          </p:nvSpPr>
          <p:spPr>
            <a:xfrm>
              <a:off x="15185202" y="5167017"/>
              <a:ext cx="54798" cy="100308"/>
            </a:xfrm>
            <a:custGeom>
              <a:rect b="b" l="l" r="r" t="t"/>
              <a:pathLst>
                <a:path extrusionOk="0" h="100308" w="54798">
                  <a:moveTo>
                    <a:pt x="54798" y="10030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1" name="Google Shape;131;p4"/>
            <p:cNvSpPr/>
            <p:nvPr/>
          </p:nvSpPr>
          <p:spPr>
            <a:xfrm>
              <a:off x="15240000" y="5167017"/>
              <a:ext cx="54798" cy="100308"/>
            </a:xfrm>
            <a:custGeom>
              <a:rect b="b" l="l" r="r" t="t"/>
              <a:pathLst>
                <a:path extrusionOk="0" h="100308" w="54798">
                  <a:moveTo>
                    <a:pt x="0" y="100308"/>
                  </a:moveTo>
                  <a:lnTo>
                    <a:pt x="54798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2" name="Google Shape;132;p4"/>
            <p:cNvSpPr/>
            <p:nvPr/>
          </p:nvSpPr>
          <p:spPr>
            <a:xfrm>
              <a:off x="13163550" y="6229350"/>
              <a:ext cx="295275" cy="953"/>
            </a:xfrm>
            <a:custGeom>
              <a:rect b="b" l="l" r="r" t="t"/>
              <a:pathLst>
                <a:path extrusionOk="0" h="953" w="295275">
                  <a:moveTo>
                    <a:pt x="295275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3" name="Google Shape;133;p4"/>
            <p:cNvSpPr/>
            <p:nvPr/>
          </p:nvSpPr>
          <p:spPr>
            <a:xfrm>
              <a:off x="13163550" y="6174552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0" y="54798"/>
                  </a:moveTo>
                  <a:lnTo>
                    <a:pt x="100308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4" name="Google Shape;134;p4"/>
            <p:cNvSpPr/>
            <p:nvPr/>
          </p:nvSpPr>
          <p:spPr>
            <a:xfrm>
              <a:off x="13163550" y="6229350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0" y="0"/>
                  </a:moveTo>
                  <a:lnTo>
                    <a:pt x="100308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5" name="Google Shape;135;p4"/>
            <p:cNvSpPr/>
            <p:nvPr/>
          </p:nvSpPr>
          <p:spPr>
            <a:xfrm>
              <a:off x="9305925" y="6229350"/>
              <a:ext cx="295275" cy="953"/>
            </a:xfrm>
            <a:custGeom>
              <a:rect b="b" l="l" r="r" t="t"/>
              <a:pathLst>
                <a:path extrusionOk="0" h="953" w="295275">
                  <a:moveTo>
                    <a:pt x="295275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6" name="Google Shape;136;p4"/>
            <p:cNvSpPr/>
            <p:nvPr/>
          </p:nvSpPr>
          <p:spPr>
            <a:xfrm>
              <a:off x="9305925" y="6174552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0" y="54798"/>
                  </a:moveTo>
                  <a:lnTo>
                    <a:pt x="100308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7" name="Google Shape;137;p4"/>
            <p:cNvSpPr/>
            <p:nvPr/>
          </p:nvSpPr>
          <p:spPr>
            <a:xfrm>
              <a:off x="9305925" y="6229350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0" y="0"/>
                  </a:moveTo>
                  <a:lnTo>
                    <a:pt x="100308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8" name="Google Shape;138;p4"/>
            <p:cNvSpPr/>
            <p:nvPr/>
          </p:nvSpPr>
          <p:spPr>
            <a:xfrm>
              <a:off x="5448300" y="6229350"/>
              <a:ext cx="295275" cy="953"/>
            </a:xfrm>
            <a:custGeom>
              <a:rect b="b" l="l" r="r" t="t"/>
              <a:pathLst>
                <a:path extrusionOk="0" h="953" w="295275">
                  <a:moveTo>
                    <a:pt x="295275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9" name="Google Shape;139;p4"/>
            <p:cNvSpPr/>
            <p:nvPr/>
          </p:nvSpPr>
          <p:spPr>
            <a:xfrm>
              <a:off x="5448300" y="6174552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0" y="54798"/>
                  </a:moveTo>
                  <a:lnTo>
                    <a:pt x="100308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0" name="Google Shape;140;p4"/>
            <p:cNvSpPr/>
            <p:nvPr/>
          </p:nvSpPr>
          <p:spPr>
            <a:xfrm>
              <a:off x="5448300" y="6229350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0" y="0"/>
                  </a:moveTo>
                  <a:lnTo>
                    <a:pt x="100308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1" name="Google Shape;141;p4"/>
            <p:cNvSpPr/>
            <p:nvPr/>
          </p:nvSpPr>
          <p:spPr>
            <a:xfrm>
              <a:off x="2857500" y="7629525"/>
              <a:ext cx="14192250" cy="895350"/>
            </a:xfrm>
            <a:prstGeom prst="roundRect">
              <a:avLst>
                <a:gd fmla="val 21277" name="adj"/>
              </a:avLst>
            </a:prstGeom>
            <a:solidFill>
              <a:srgbClr val="F7F5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2857500" y="7724775"/>
              <a:ext cx="66675" cy="704850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3133725" y="7791450"/>
              <a:ext cx="13592175" cy="67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El Product Backlog conecta una intención general con un trabajo que pued</a:t>
              </a:r>
              <a:r>
                <a:rPr b="1" lang="es-CO" sz="2100">
                  <a:solidFill>
                    <a:srgbClr val="3D2159"/>
                  </a:solidFill>
                </a:rPr>
                <a:t>a</a:t>
              </a:r>
              <a:r>
                <a:rPr b="1" i="0" lang="es-CO" sz="210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 comprenderse, priorizarse y desarrollarse.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5"/>
          <p:cNvGrpSpPr/>
          <p:nvPr/>
        </p:nvGrpSpPr>
        <p:grpSpPr>
          <a:xfrm>
            <a:off x="1876425" y="847725"/>
            <a:ext cx="15621000" cy="8439150"/>
            <a:chOff x="1876425" y="847725"/>
            <a:chExt cx="15621000" cy="8439150"/>
          </a:xfrm>
        </p:grpSpPr>
        <p:sp>
          <p:nvSpPr>
            <p:cNvPr id="152" name="Google Shape;152;p5"/>
            <p:cNvSpPr/>
            <p:nvPr/>
          </p:nvSpPr>
          <p:spPr>
            <a:xfrm>
              <a:off x="1876425" y="847725"/>
              <a:ext cx="13049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Product Backlog: organización dinámica del trabajo</a:t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1876425" y="1371600"/>
              <a:ext cx="15621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Primero: ¿hacia dónde queremos avanzar?</a:t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2905125" y="8943975"/>
              <a:ext cx="8239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Planeación y organización de proyectos ágiles</a:t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1334750" y="8943975"/>
              <a:ext cx="1190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05 / 15</a:t>
              </a: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971675" y="2886075"/>
              <a:ext cx="152400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4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Antes de elaborar un Product Backlog necesitamos establecer una dirección.</a:t>
              </a: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8105775" y="3752850"/>
              <a:ext cx="2609850" cy="260985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8267700" y="4600575"/>
              <a:ext cx="22860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4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META</a:t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10563225" y="4324350"/>
              <a:ext cx="1162050" cy="381000"/>
            </a:xfrm>
            <a:custGeom>
              <a:rect b="b" l="l" r="r" t="t"/>
              <a:pathLst>
                <a:path extrusionOk="0" h="381000" w="1162050">
                  <a:moveTo>
                    <a:pt x="0" y="381000"/>
                  </a:moveTo>
                  <a:lnTo>
                    <a:pt x="116205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1647032" y="4324350"/>
              <a:ext cx="78243" cy="83322"/>
            </a:xfrm>
            <a:custGeom>
              <a:rect b="b" l="l" r="r" t="t"/>
              <a:pathLst>
                <a:path extrusionOk="0" h="83322" w="78243">
                  <a:moveTo>
                    <a:pt x="78243" y="0"/>
                  </a:moveTo>
                  <a:lnTo>
                    <a:pt x="0" y="83322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61" name="Google Shape;161;p5"/>
            <p:cNvSpPr/>
            <p:nvPr/>
          </p:nvSpPr>
          <p:spPr>
            <a:xfrm>
              <a:off x="11612887" y="4303530"/>
              <a:ext cx="112388" cy="20820"/>
            </a:xfrm>
            <a:custGeom>
              <a:rect b="b" l="l" r="r" t="t"/>
              <a:pathLst>
                <a:path extrusionOk="0" h="20820" w="112388">
                  <a:moveTo>
                    <a:pt x="112388" y="2082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62" name="Google Shape;162;p5"/>
            <p:cNvSpPr/>
            <p:nvPr/>
          </p:nvSpPr>
          <p:spPr>
            <a:xfrm>
              <a:off x="6972300" y="4324350"/>
              <a:ext cx="1238250" cy="381000"/>
            </a:xfrm>
            <a:custGeom>
              <a:rect b="b" l="l" r="r" t="t"/>
              <a:pathLst>
                <a:path extrusionOk="0" h="381000" w="1238250">
                  <a:moveTo>
                    <a:pt x="1238250" y="381000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63" name="Google Shape;163;p5"/>
            <p:cNvSpPr/>
            <p:nvPr/>
          </p:nvSpPr>
          <p:spPr>
            <a:xfrm>
              <a:off x="6972300" y="4301474"/>
              <a:ext cx="111987" cy="22876"/>
            </a:xfrm>
            <a:custGeom>
              <a:rect b="b" l="l" r="r" t="t"/>
              <a:pathLst>
                <a:path extrusionOk="0" h="22876" w="111987">
                  <a:moveTo>
                    <a:pt x="0" y="22876"/>
                  </a:moveTo>
                  <a:lnTo>
                    <a:pt x="111987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64" name="Google Shape;164;p5"/>
            <p:cNvSpPr/>
            <p:nvPr/>
          </p:nvSpPr>
          <p:spPr>
            <a:xfrm>
              <a:off x="6972300" y="4324350"/>
              <a:ext cx="79757" cy="81874"/>
            </a:xfrm>
            <a:custGeom>
              <a:rect b="b" l="l" r="r" t="t"/>
              <a:pathLst>
                <a:path extrusionOk="0" h="81874" w="79757">
                  <a:moveTo>
                    <a:pt x="0" y="0"/>
                  </a:moveTo>
                  <a:lnTo>
                    <a:pt x="79757" y="81874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65" name="Google Shape;165;p5"/>
            <p:cNvSpPr/>
            <p:nvPr/>
          </p:nvSpPr>
          <p:spPr>
            <a:xfrm>
              <a:off x="9410700" y="6391275"/>
              <a:ext cx="953" cy="542925"/>
            </a:xfrm>
            <a:custGeom>
              <a:rect b="b" l="l" r="r" t="t"/>
              <a:pathLst>
                <a:path extrusionOk="0" h="542925" w="953">
                  <a:moveTo>
                    <a:pt x="0" y="0"/>
                  </a:moveTo>
                  <a:lnTo>
                    <a:pt x="0" y="542925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66" name="Google Shape;166;p5"/>
            <p:cNvSpPr/>
            <p:nvPr/>
          </p:nvSpPr>
          <p:spPr>
            <a:xfrm>
              <a:off x="9355902" y="6833892"/>
              <a:ext cx="54798" cy="100308"/>
            </a:xfrm>
            <a:custGeom>
              <a:rect b="b" l="l" r="r" t="t"/>
              <a:pathLst>
                <a:path extrusionOk="0" h="100308" w="54798">
                  <a:moveTo>
                    <a:pt x="54798" y="10030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67" name="Google Shape;167;p5"/>
            <p:cNvSpPr/>
            <p:nvPr/>
          </p:nvSpPr>
          <p:spPr>
            <a:xfrm>
              <a:off x="9410700" y="6833892"/>
              <a:ext cx="54798" cy="100308"/>
            </a:xfrm>
            <a:custGeom>
              <a:rect b="b" l="l" r="r" t="t"/>
              <a:pathLst>
                <a:path extrusionOk="0" h="100308" w="54798">
                  <a:moveTo>
                    <a:pt x="0" y="100308"/>
                  </a:moveTo>
                  <a:lnTo>
                    <a:pt x="54798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68" name="Google Shape;168;p5"/>
            <p:cNvSpPr/>
            <p:nvPr/>
          </p:nvSpPr>
          <p:spPr>
            <a:xfrm>
              <a:off x="2019300" y="3762375"/>
              <a:ext cx="4895850" cy="2000250"/>
            </a:xfrm>
            <a:prstGeom prst="roundRect">
              <a:avLst>
                <a:gd fmla="val 1190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019300" y="3762375"/>
              <a:ext cx="4895850" cy="76200"/>
            </a:xfrm>
            <a:prstGeom prst="roundRect">
              <a:avLst>
                <a:gd fmla="val 50000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2257425" y="3990975"/>
              <a:ext cx="44196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NECESIDAD</a:t>
              </a: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2257425" y="4543425"/>
              <a:ext cx="4419600" cy="1085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necesidad buscamos atender?</a:t>
              </a: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11772900" y="3762375"/>
              <a:ext cx="5314950" cy="2000250"/>
            </a:xfrm>
            <a:prstGeom prst="roundRect">
              <a:avLst>
                <a:gd fmla="val 11905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11772900" y="3762375"/>
              <a:ext cx="5314950" cy="76200"/>
            </a:xfrm>
            <a:prstGeom prst="roundRect">
              <a:avLst>
                <a:gd fmla="val 50000" name="adj"/>
              </a:avLst>
            </a:prstGeom>
            <a:solidFill>
              <a:srgbClr val="4478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12011025" y="3990975"/>
              <a:ext cx="48387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VALOR</a:t>
              </a: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12011025" y="4543425"/>
              <a:ext cx="4838700" cy="1085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valor esperamos generar?</a:t>
              </a: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2057400" y="6115050"/>
              <a:ext cx="52959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La meta proporciona un criterio para valorar si un requerimiento contribuye realmente al propósito del proyecto.</a:t>
              </a: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11487150" y="6229350"/>
              <a:ext cx="5600700" cy="1038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¿Este elemento nos acerca al resultado que buscamos?</a:t>
              </a: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7639050" y="7000875"/>
              <a:ext cx="3543300" cy="609600"/>
            </a:xfrm>
            <a:prstGeom prst="roundRect">
              <a:avLst>
                <a:gd fmla="val 28125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7791450" y="7153275"/>
              <a:ext cx="3238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REQUERIMIENTOS</a:t>
              </a: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2857500" y="7839075"/>
              <a:ext cx="14192250" cy="657225"/>
            </a:xfrm>
            <a:prstGeom prst="roundRect">
              <a:avLst>
                <a:gd fmla="val 28986" name="adj"/>
              </a:avLst>
            </a:prstGeom>
            <a:solidFill>
              <a:srgbClr val="F7F5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2857500" y="7934325"/>
              <a:ext cx="66675" cy="466725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3133725" y="8001000"/>
              <a:ext cx="13592175" cy="438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Sin una meta compartida, el Backlog puede convertirse en una colección desarticulada de solicitudes.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6"/>
          <p:cNvGrpSpPr/>
          <p:nvPr/>
        </p:nvGrpSpPr>
        <p:grpSpPr>
          <a:xfrm>
            <a:off x="1876425" y="847725"/>
            <a:ext cx="15621000" cy="8439150"/>
            <a:chOff x="1876425" y="847725"/>
            <a:chExt cx="15621000" cy="8439150"/>
          </a:xfrm>
        </p:grpSpPr>
        <p:sp>
          <p:nvSpPr>
            <p:cNvPr id="191" name="Google Shape;191;p6"/>
            <p:cNvSpPr/>
            <p:nvPr/>
          </p:nvSpPr>
          <p:spPr>
            <a:xfrm>
              <a:off x="1876425" y="847725"/>
              <a:ext cx="13049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Product Backlog: organización dinámica del trabajo</a:t>
              </a: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1876425" y="1371600"/>
              <a:ext cx="15621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Definir el rumbo no significa decidirlo todo</a:t>
              </a: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2905125" y="8943975"/>
              <a:ext cx="8239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Planeación y organización de proyectos ágiles</a:t>
              </a: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11334750" y="8943975"/>
              <a:ext cx="1190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06 / 15</a:t>
              </a: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2066925" y="3133725"/>
              <a:ext cx="6562725" cy="3409950"/>
            </a:xfrm>
            <a:prstGeom prst="roundRect">
              <a:avLst>
                <a:gd fmla="val 6983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2066925" y="3133725"/>
              <a:ext cx="6562725" cy="76200"/>
            </a:xfrm>
            <a:prstGeom prst="roundRect">
              <a:avLst>
                <a:gd fmla="val 50000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2305050" y="3362325"/>
              <a:ext cx="6086475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0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META</a:t>
              </a: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2305050" y="3914775"/>
              <a:ext cx="6086475" cy="2495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Define qué queremos lograr.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5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Orienta el valor esperado.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5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Permite evaluar diferentes alternativas.</a:t>
              </a: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10572750" y="3133725"/>
              <a:ext cx="6562725" cy="3409950"/>
            </a:xfrm>
            <a:prstGeom prst="roundRect">
              <a:avLst>
                <a:gd fmla="val 6983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10572750" y="3133725"/>
              <a:ext cx="6562725" cy="76200"/>
            </a:xfrm>
            <a:prstGeom prst="roundRect">
              <a:avLst>
                <a:gd fmla="val 50000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10810875" y="3362325"/>
              <a:ext cx="6086475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075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SOLUCIÓN CERRADA</a:t>
              </a: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10810875" y="3914775"/>
              <a:ext cx="6086475" cy="2495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Define anticipadamente cómo debe hacerse todo.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5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Puede limitar el aprendizaje.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5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Puede impedir encontrar alternativas mejores.</a:t>
              </a: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8953500" y="4333875"/>
              <a:ext cx="1352550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69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≠</a:t>
              </a: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2857500" y="7229475"/>
              <a:ext cx="14192250" cy="1019175"/>
            </a:xfrm>
            <a:prstGeom prst="roundRect">
              <a:avLst>
                <a:gd fmla="val 18692" name="adj"/>
              </a:avLst>
            </a:prstGeom>
            <a:solidFill>
              <a:srgbClr val="F7F5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2857500" y="7324725"/>
              <a:ext cx="66675" cy="828675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3133725" y="7391400"/>
              <a:ext cx="13592175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62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Necesitamos dirección suficiente para decidir y espacio suficiente para aprender.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7"/>
          <p:cNvGrpSpPr/>
          <p:nvPr/>
        </p:nvGrpSpPr>
        <p:grpSpPr>
          <a:xfrm>
            <a:off x="1876425" y="847725"/>
            <a:ext cx="15621000" cy="8439150"/>
            <a:chOff x="1876425" y="847725"/>
            <a:chExt cx="15621000" cy="8439150"/>
          </a:xfrm>
        </p:grpSpPr>
        <p:sp>
          <p:nvSpPr>
            <p:cNvPr id="215" name="Google Shape;215;p7"/>
            <p:cNvSpPr/>
            <p:nvPr/>
          </p:nvSpPr>
          <p:spPr>
            <a:xfrm>
              <a:off x="1876425" y="847725"/>
              <a:ext cx="13049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Product Backlog: organización dinámica del trabajo</a:t>
              </a:r>
              <a:endParaRPr/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1876425" y="1371600"/>
              <a:ext cx="15621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Escuchar la solicitud… y comprender qué necesita resolver</a:t>
              </a: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2905125" y="8943975"/>
              <a:ext cx="8239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Planeación y organización de proyectos ágiles</a:t>
              </a: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11334750" y="8943975"/>
              <a:ext cx="1190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07 / 15</a:t>
              </a: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1971675" y="2847975"/>
              <a:ext cx="15240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4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Un requerimiento expresa una necesidad, condición, capacidad o característica relevante para el producto.</a:t>
              </a: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1971675" y="3771900"/>
              <a:ext cx="15240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4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Pero escuchar al cliente no significa trasladar automáticamente cada petición al Product Backlog.</a:t>
              </a: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2000250" y="4953000"/>
              <a:ext cx="3343275" cy="2028825"/>
            </a:xfrm>
            <a:prstGeom prst="roundRect">
              <a:avLst>
                <a:gd fmla="val 11737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2000250" y="4953000"/>
              <a:ext cx="3343275" cy="76200"/>
            </a:xfrm>
            <a:prstGeom prst="roundRect">
              <a:avLst>
                <a:gd fmla="val 50000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2238375" y="5181600"/>
              <a:ext cx="2867025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SOLICITUD</a:t>
              </a: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2238375" y="5734050"/>
              <a:ext cx="2867025" cy="1114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2175">
                  <a:solidFill>
                    <a:srgbClr val="332F37"/>
                  </a:solidFill>
                </a:rPr>
                <a:t>«</a:t>
              </a: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Agregar un nuevo botón</a:t>
              </a:r>
              <a:r>
                <a:rPr lang="es-CO" sz="2175">
                  <a:solidFill>
                    <a:srgbClr val="332F37"/>
                  </a:solidFill>
                </a:rPr>
                <a:t>»</a:t>
              </a: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5448300" y="5972175"/>
              <a:ext cx="352425" cy="953"/>
            </a:xfrm>
            <a:custGeom>
              <a:rect b="b" l="l" r="r" t="t"/>
              <a:pathLst>
                <a:path extrusionOk="0" h="953" w="35242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26" name="Google Shape;226;p7"/>
            <p:cNvSpPr/>
            <p:nvPr/>
          </p:nvSpPr>
          <p:spPr>
            <a:xfrm>
              <a:off x="5700417" y="5972175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27" name="Google Shape;227;p7"/>
            <p:cNvSpPr/>
            <p:nvPr/>
          </p:nvSpPr>
          <p:spPr>
            <a:xfrm>
              <a:off x="5700417" y="5917377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28" name="Google Shape;228;p7"/>
            <p:cNvSpPr/>
            <p:nvPr/>
          </p:nvSpPr>
          <p:spPr>
            <a:xfrm>
              <a:off x="5905500" y="4953000"/>
              <a:ext cx="3343275" cy="2028825"/>
            </a:xfrm>
            <a:prstGeom prst="roundRect">
              <a:avLst>
                <a:gd fmla="val 11737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5905500" y="4953000"/>
              <a:ext cx="3343275" cy="76200"/>
            </a:xfrm>
            <a:prstGeom prst="roundRect">
              <a:avLst>
                <a:gd fmla="val 50000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6143625" y="5181600"/>
              <a:ext cx="2867025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PREGUNTA</a:t>
              </a: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6143625" y="5734050"/>
              <a:ext cx="2867025" cy="1114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dificultad pretende resolver?</a:t>
              </a: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9353550" y="5972175"/>
              <a:ext cx="352425" cy="953"/>
            </a:xfrm>
            <a:custGeom>
              <a:rect b="b" l="l" r="r" t="t"/>
              <a:pathLst>
                <a:path extrusionOk="0" h="953" w="35242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33" name="Google Shape;233;p7"/>
            <p:cNvSpPr/>
            <p:nvPr/>
          </p:nvSpPr>
          <p:spPr>
            <a:xfrm>
              <a:off x="9605667" y="5972175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34" name="Google Shape;234;p7"/>
            <p:cNvSpPr/>
            <p:nvPr/>
          </p:nvSpPr>
          <p:spPr>
            <a:xfrm>
              <a:off x="9605667" y="5917377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35" name="Google Shape;235;p7"/>
            <p:cNvSpPr/>
            <p:nvPr/>
          </p:nvSpPr>
          <p:spPr>
            <a:xfrm>
              <a:off x="9810750" y="4953000"/>
              <a:ext cx="3343275" cy="2028825"/>
            </a:xfrm>
            <a:prstGeom prst="roundRect">
              <a:avLst>
                <a:gd fmla="val 11737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9810750" y="4953000"/>
              <a:ext cx="3343275" cy="76200"/>
            </a:xfrm>
            <a:prstGeom prst="roundRect">
              <a:avLst>
                <a:gd fmla="val 50000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10048875" y="5181600"/>
              <a:ext cx="2867025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NECESIDAD</a:t>
              </a: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10048875" y="5734050"/>
              <a:ext cx="2867025" cy="1114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Comprender el problema detrás de la petición.</a:t>
              </a:r>
              <a:endParaRPr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13258800" y="5972175"/>
              <a:ext cx="352425" cy="953"/>
            </a:xfrm>
            <a:custGeom>
              <a:rect b="b" l="l" r="r" t="t"/>
              <a:pathLst>
                <a:path extrusionOk="0" h="953" w="35242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40" name="Google Shape;240;p7"/>
            <p:cNvSpPr/>
            <p:nvPr/>
          </p:nvSpPr>
          <p:spPr>
            <a:xfrm>
              <a:off x="13510917" y="5972175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41" name="Google Shape;241;p7"/>
            <p:cNvSpPr/>
            <p:nvPr/>
          </p:nvSpPr>
          <p:spPr>
            <a:xfrm>
              <a:off x="13510917" y="5917377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42" name="Google Shape;242;p7"/>
            <p:cNvSpPr/>
            <p:nvPr/>
          </p:nvSpPr>
          <p:spPr>
            <a:xfrm>
              <a:off x="13716000" y="4953000"/>
              <a:ext cx="3343275" cy="2028825"/>
            </a:xfrm>
            <a:prstGeom prst="roundRect">
              <a:avLst>
                <a:gd fmla="val 11737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13716000" y="4953000"/>
              <a:ext cx="3343275" cy="76200"/>
            </a:xfrm>
            <a:prstGeom prst="roundRect">
              <a:avLst>
                <a:gd fmla="val 50000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13954125" y="5181600"/>
              <a:ext cx="2867025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REQUERIMIENTO</a:t>
              </a:r>
              <a:endParaRPr/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13954125" y="5734050"/>
              <a:ext cx="2867025" cy="1114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Formular un elemento que contribuya realmente al propósito.</a:t>
              </a:r>
              <a:endParaRPr/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2857500" y="7524750"/>
              <a:ext cx="14192250" cy="876300"/>
            </a:xfrm>
            <a:prstGeom prst="roundRect">
              <a:avLst>
                <a:gd fmla="val 21739" name="adj"/>
              </a:avLst>
            </a:prstGeom>
            <a:solidFill>
              <a:srgbClr val="F7F5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2857500" y="7620000"/>
              <a:ext cx="66675" cy="685800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3133725" y="7686675"/>
              <a:ext cx="13592175" cy="657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Petición del cliente ≠ necesidad </a:t>
              </a:r>
              <a:r>
                <a:rPr b="1" lang="es-CO" sz="2475">
                  <a:solidFill>
                    <a:srgbClr val="3D2159"/>
                  </a:solidFill>
                </a:rPr>
                <a:t>realmente</a:t>
              </a:r>
              <a:r>
                <a:rPr b="1" i="0" lang="es-CO" sz="24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 comprendida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" name="Google Shape;256;p10"/>
          <p:cNvGrpSpPr/>
          <p:nvPr/>
        </p:nvGrpSpPr>
        <p:grpSpPr>
          <a:xfrm>
            <a:off x="1876425" y="847725"/>
            <a:ext cx="15621000" cy="8439150"/>
            <a:chOff x="1876425" y="847725"/>
            <a:chExt cx="15621000" cy="8439150"/>
          </a:xfrm>
        </p:grpSpPr>
        <p:sp>
          <p:nvSpPr>
            <p:cNvPr id="257" name="Google Shape;257;p10"/>
            <p:cNvSpPr/>
            <p:nvPr/>
          </p:nvSpPr>
          <p:spPr>
            <a:xfrm>
              <a:off x="1876425" y="847725"/>
              <a:ext cx="13049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Product Backlog: organización dinámica del trabajo</a:t>
              </a:r>
              <a:endParaRPr/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1876425" y="1371600"/>
              <a:ext cx="15621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Lo que hoy necesitamos puede cambiar mañana</a:t>
              </a:r>
              <a:endParaRPr/>
            </a:p>
          </p:txBody>
        </p:sp>
        <p:sp>
          <p:nvSpPr>
            <p:cNvPr id="259" name="Google Shape;259;p10"/>
            <p:cNvSpPr/>
            <p:nvPr/>
          </p:nvSpPr>
          <p:spPr>
            <a:xfrm>
              <a:off x="2905125" y="8943975"/>
              <a:ext cx="8239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Planeación y organización de proyectos ágiles</a:t>
              </a:r>
              <a:endParaRPr/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11334750" y="8943975"/>
              <a:ext cx="1190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08 / 15</a:t>
              </a:r>
              <a:endParaRPr/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1971675" y="2847975"/>
              <a:ext cx="15335250" cy="809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3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No todas las necesidades aparecen claramente al comienzo. A medida que obtenemos información podemos:</a:t>
              </a:r>
              <a:endParaRPr/>
            </a:p>
          </p:txBody>
        </p:sp>
        <p:sp>
          <p:nvSpPr>
            <p:cNvPr id="262" name="Google Shape;262;p10"/>
            <p:cNvSpPr/>
            <p:nvPr/>
          </p:nvSpPr>
          <p:spPr>
            <a:xfrm>
              <a:off x="2266950" y="3914775"/>
              <a:ext cx="4714875" cy="438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Backlog inicial</a:t>
              </a:r>
              <a:endParaRPr/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12382500" y="3914775"/>
              <a:ext cx="4714875" cy="438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0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Backlog actualizado</a:t>
              </a:r>
              <a:endParaRPr/>
            </a:p>
          </p:txBody>
        </p:sp>
        <p:sp>
          <p:nvSpPr>
            <p:cNvPr id="264" name="Google Shape;264;p10"/>
            <p:cNvSpPr/>
            <p:nvPr/>
          </p:nvSpPr>
          <p:spPr>
            <a:xfrm>
              <a:off x="2190750" y="4552950"/>
              <a:ext cx="4829175" cy="495300"/>
            </a:xfrm>
            <a:prstGeom prst="roundRect">
              <a:avLst>
                <a:gd fmla="val 3461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0"/>
            <p:cNvSpPr/>
            <p:nvPr/>
          </p:nvSpPr>
          <p:spPr>
            <a:xfrm>
              <a:off x="2343150" y="4705350"/>
              <a:ext cx="4524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9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Requerimientos</a:t>
              </a:r>
              <a:endParaRPr/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2190750" y="5162550"/>
              <a:ext cx="4829175" cy="495300"/>
            </a:xfrm>
            <a:prstGeom prst="roundRect">
              <a:avLst>
                <a:gd fmla="val 3461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2343150" y="5314950"/>
              <a:ext cx="4524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9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Mejoras</a:t>
              </a:r>
              <a:endParaRPr/>
            </a:p>
          </p:txBody>
        </p:sp>
        <p:sp>
          <p:nvSpPr>
            <p:cNvPr id="268" name="Google Shape;268;p10"/>
            <p:cNvSpPr/>
            <p:nvPr/>
          </p:nvSpPr>
          <p:spPr>
            <a:xfrm>
              <a:off x="2190750" y="5772150"/>
              <a:ext cx="4829175" cy="495300"/>
            </a:xfrm>
            <a:prstGeom prst="roundRect">
              <a:avLst>
                <a:gd fmla="val 3461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2343150" y="5924550"/>
              <a:ext cx="4524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9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Correcciones</a:t>
              </a:r>
              <a:endParaRPr/>
            </a:p>
          </p:txBody>
        </p:sp>
        <p:sp>
          <p:nvSpPr>
            <p:cNvPr id="270" name="Google Shape;270;p10"/>
            <p:cNvSpPr/>
            <p:nvPr/>
          </p:nvSpPr>
          <p:spPr>
            <a:xfrm>
              <a:off x="12239625" y="4552950"/>
              <a:ext cx="4829175" cy="495300"/>
            </a:xfrm>
            <a:prstGeom prst="roundRect">
              <a:avLst>
                <a:gd fmla="val 34615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0"/>
            <p:cNvSpPr/>
            <p:nvPr/>
          </p:nvSpPr>
          <p:spPr>
            <a:xfrm>
              <a:off x="12392025" y="4705350"/>
              <a:ext cx="4524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95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Correcciones</a:t>
              </a:r>
              <a:endParaRPr/>
            </a:p>
          </p:txBody>
        </p:sp>
        <p:sp>
          <p:nvSpPr>
            <p:cNvPr id="272" name="Google Shape;272;p10"/>
            <p:cNvSpPr/>
            <p:nvPr/>
          </p:nvSpPr>
          <p:spPr>
            <a:xfrm>
              <a:off x="12239625" y="5162550"/>
              <a:ext cx="4829175" cy="495300"/>
            </a:xfrm>
            <a:prstGeom prst="roundRect">
              <a:avLst>
                <a:gd fmla="val 34615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12392025" y="5314950"/>
              <a:ext cx="4524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95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Requerimientos</a:t>
              </a:r>
              <a:endParaRPr/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12239625" y="5772150"/>
              <a:ext cx="4829175" cy="495300"/>
            </a:xfrm>
            <a:prstGeom prst="roundRect">
              <a:avLst>
                <a:gd fmla="val 34615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12392025" y="5924550"/>
              <a:ext cx="4524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95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Necesidades técnicas</a:t>
              </a:r>
              <a:endParaRPr/>
            </a:p>
          </p:txBody>
        </p:sp>
        <p:sp>
          <p:nvSpPr>
            <p:cNvPr id="276" name="Google Shape;276;p10"/>
            <p:cNvSpPr/>
            <p:nvPr/>
          </p:nvSpPr>
          <p:spPr>
            <a:xfrm>
              <a:off x="7239000" y="5295900"/>
              <a:ext cx="1009650" cy="953"/>
            </a:xfrm>
            <a:custGeom>
              <a:rect b="b" l="l" r="r" t="t"/>
              <a:pathLst>
                <a:path extrusionOk="0" h="953" w="1009650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7" name="Google Shape;277;p10"/>
            <p:cNvSpPr/>
            <p:nvPr/>
          </p:nvSpPr>
          <p:spPr>
            <a:xfrm>
              <a:off x="8148342" y="5295900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8" name="Google Shape;278;p10"/>
            <p:cNvSpPr/>
            <p:nvPr/>
          </p:nvSpPr>
          <p:spPr>
            <a:xfrm>
              <a:off x="8148342" y="5241102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79" name="Google Shape;279;p10"/>
            <p:cNvSpPr/>
            <p:nvPr/>
          </p:nvSpPr>
          <p:spPr>
            <a:xfrm>
              <a:off x="11087100" y="5295900"/>
              <a:ext cx="952500" cy="953"/>
            </a:xfrm>
            <a:custGeom>
              <a:rect b="b" l="l" r="r" t="t"/>
              <a:pathLst>
                <a:path extrusionOk="0" h="953" w="952500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cap="flat" cmpd="sng" w="285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80" name="Google Shape;280;p10"/>
            <p:cNvSpPr/>
            <p:nvPr/>
          </p:nvSpPr>
          <p:spPr>
            <a:xfrm>
              <a:off x="11939292" y="5295900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81" name="Google Shape;281;p10"/>
            <p:cNvSpPr/>
            <p:nvPr/>
          </p:nvSpPr>
          <p:spPr>
            <a:xfrm>
              <a:off x="11939292" y="5241102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82" name="Google Shape;282;p10"/>
            <p:cNvSpPr/>
            <p:nvPr/>
          </p:nvSpPr>
          <p:spPr>
            <a:xfrm>
              <a:off x="8420100" y="4686300"/>
              <a:ext cx="2476500" cy="1200150"/>
            </a:xfrm>
            <a:prstGeom prst="roundRect">
              <a:avLst>
                <a:gd fmla="val 14286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8572500" y="4838700"/>
              <a:ext cx="2171700" cy="1009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NUEVA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INFORMACIÓN</a:t>
              </a:r>
              <a:endParaRPr/>
            </a:p>
          </p:txBody>
        </p:sp>
        <p:sp>
          <p:nvSpPr>
            <p:cNvPr id="284" name="Google Shape;284;p10"/>
            <p:cNvSpPr/>
            <p:nvPr/>
          </p:nvSpPr>
          <p:spPr>
            <a:xfrm>
              <a:off x="2095500" y="6629400"/>
              <a:ext cx="34671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AÑADIR</a:t>
              </a:r>
              <a:endParaRPr/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2095500" y="7058025"/>
              <a:ext cx="34290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Nuevas necesidades o aprendizajes.</a:t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5953125" y="6629400"/>
              <a:ext cx="34671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PRECISAR</a:t>
              </a:r>
              <a:endParaRPr/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5953125" y="7058025"/>
              <a:ext cx="34290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Elementos que se aproximan a su desarrollo.</a:t>
              </a:r>
              <a:endParaRPr/>
            </a:p>
          </p:txBody>
        </p:sp>
        <p:sp>
          <p:nvSpPr>
            <p:cNvPr id="288" name="Google Shape;288;p10"/>
            <p:cNvSpPr/>
            <p:nvPr/>
          </p:nvSpPr>
          <p:spPr>
            <a:xfrm>
              <a:off x="9810750" y="6629400"/>
              <a:ext cx="34671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REORDENAR</a:t>
              </a:r>
              <a:endParaRPr/>
            </a:p>
          </p:txBody>
        </p:sp>
        <p:sp>
          <p:nvSpPr>
            <p:cNvPr id="289" name="Google Shape;289;p10"/>
            <p:cNvSpPr/>
            <p:nvPr/>
          </p:nvSpPr>
          <p:spPr>
            <a:xfrm>
              <a:off x="9810750" y="7058025"/>
              <a:ext cx="34290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Cuando cambia su importancia.</a:t>
              </a:r>
              <a:endParaRPr/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13668375" y="6629400"/>
              <a:ext cx="34671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ELIMINAR</a:t>
              </a: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13668375" y="7058025"/>
              <a:ext cx="3429000" cy="752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0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Cuando dejan de aportar suficiente valor.</a:t>
              </a:r>
              <a:endParaRPr/>
            </a:p>
          </p:txBody>
        </p:sp>
        <p:sp>
          <p:nvSpPr>
            <p:cNvPr id="292" name="Google Shape;292;p10"/>
            <p:cNvSpPr/>
            <p:nvPr/>
          </p:nvSpPr>
          <p:spPr>
            <a:xfrm>
              <a:off x="2857500" y="8001000"/>
              <a:ext cx="14192250" cy="590550"/>
            </a:xfrm>
            <a:prstGeom prst="roundRect">
              <a:avLst>
                <a:gd fmla="val 32258" name="adj"/>
              </a:avLst>
            </a:prstGeom>
            <a:solidFill>
              <a:srgbClr val="F7F5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2857500" y="8096250"/>
              <a:ext cx="66675" cy="400050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0"/>
            <p:cNvSpPr/>
            <p:nvPr/>
          </p:nvSpPr>
          <p:spPr>
            <a:xfrm>
              <a:off x="3133725" y="8162925"/>
              <a:ext cx="13592175" cy="371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8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Modificar el Backlog no significa necesariamente que hayamos planificado  mal. Puede significar que aprendimos algo nuevo.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p11"/>
          <p:cNvGrpSpPr/>
          <p:nvPr/>
        </p:nvGrpSpPr>
        <p:grpSpPr>
          <a:xfrm>
            <a:off x="1876425" y="847725"/>
            <a:ext cx="15621000" cy="8439150"/>
            <a:chOff x="1876425" y="847725"/>
            <a:chExt cx="15621000" cy="8439150"/>
          </a:xfrm>
        </p:grpSpPr>
        <p:sp>
          <p:nvSpPr>
            <p:cNvPr id="303" name="Google Shape;303;p11"/>
            <p:cNvSpPr/>
            <p:nvPr/>
          </p:nvSpPr>
          <p:spPr>
            <a:xfrm>
              <a:off x="1876425" y="847725"/>
              <a:ext cx="13049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Product Backlog: organización dinámica del trabajo</a:t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1876425" y="1371600"/>
              <a:ext cx="15621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¿Qué merece atención primero?</a:t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>
              <a:off x="2905125" y="8943975"/>
              <a:ext cx="8239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Planeación y organización de proyectos ágiles</a:t>
              </a:r>
              <a:endParaRPr/>
            </a:p>
          </p:txBody>
        </p:sp>
        <p:sp>
          <p:nvSpPr>
            <p:cNvPr id="306" name="Google Shape;306;p11"/>
            <p:cNvSpPr/>
            <p:nvPr/>
          </p:nvSpPr>
          <p:spPr>
            <a:xfrm>
              <a:off x="11334750" y="8943975"/>
              <a:ext cx="1190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09 / 15</a:t>
              </a:r>
              <a:endParaRPr/>
            </a:p>
          </p:txBody>
        </p:sp>
        <p:sp>
          <p:nvSpPr>
            <p:cNvPr id="307" name="Google Shape;307;p11"/>
            <p:cNvSpPr/>
            <p:nvPr/>
          </p:nvSpPr>
          <p:spPr>
            <a:xfrm>
              <a:off x="1971675" y="2847975"/>
              <a:ext cx="15335250" cy="742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32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Cuando existen múltiples necesidades y recursos limitados, no podemos desarrollar todo simultáneamente.</a:t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>
              <a:off x="7000875" y="4267200"/>
              <a:ext cx="1200150" cy="1504950"/>
            </a:xfrm>
            <a:custGeom>
              <a:rect b="b" l="l" r="r" t="t"/>
              <a:pathLst>
                <a:path extrusionOk="0" h="1504950" w="1200150">
                  <a:moveTo>
                    <a:pt x="0" y="0"/>
                  </a:moveTo>
                  <a:lnTo>
                    <a:pt x="1200150" y="1504950"/>
                  </a:lnTo>
                </a:path>
              </a:pathLst>
            </a:custGeom>
            <a:noFill/>
            <a:ln cap="flat" cmpd="sng" w="1905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09" name="Google Shape;309;p11"/>
            <p:cNvSpPr/>
            <p:nvPr/>
          </p:nvSpPr>
          <p:spPr>
            <a:xfrm>
              <a:off x="2047875" y="3857625"/>
              <a:ext cx="51054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VALOR</a:t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>
              <a:off x="2047875" y="4286250"/>
              <a:ext cx="5105400" cy="809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beneficio aporta?</a:t>
              </a:r>
              <a:endParaRPr/>
            </a:p>
          </p:txBody>
        </p:sp>
        <p:sp>
          <p:nvSpPr>
            <p:cNvPr id="311" name="Google Shape;311;p11"/>
            <p:cNvSpPr/>
            <p:nvPr/>
          </p:nvSpPr>
          <p:spPr>
            <a:xfrm>
              <a:off x="7000875" y="5705475"/>
              <a:ext cx="1200150" cy="66675"/>
            </a:xfrm>
            <a:custGeom>
              <a:rect b="b" l="l" r="r" t="t"/>
              <a:pathLst>
                <a:path extrusionOk="0" h="66675" w="1200150">
                  <a:moveTo>
                    <a:pt x="0" y="0"/>
                  </a:moveTo>
                  <a:lnTo>
                    <a:pt x="1200150" y="66675"/>
                  </a:lnTo>
                </a:path>
              </a:pathLst>
            </a:custGeom>
            <a:noFill/>
            <a:ln cap="flat" cmpd="sng" w="19050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12" name="Google Shape;312;p11"/>
            <p:cNvSpPr/>
            <p:nvPr/>
          </p:nvSpPr>
          <p:spPr>
            <a:xfrm>
              <a:off x="2047875" y="5295900"/>
              <a:ext cx="51054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URGENCIA</a:t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>
              <a:off x="2047875" y="5724525"/>
              <a:ext cx="5105400" cy="809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necesita pronta atención?</a:t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7000875" y="5772150"/>
              <a:ext cx="1200150" cy="1066800"/>
            </a:xfrm>
            <a:custGeom>
              <a:rect b="b" l="l" r="r" t="t"/>
              <a:pathLst>
                <a:path extrusionOk="0" h="1066800" w="1200150">
                  <a:moveTo>
                    <a:pt x="0" y="1066800"/>
                  </a:moveTo>
                  <a:lnTo>
                    <a:pt x="1200150" y="0"/>
                  </a:lnTo>
                </a:path>
              </a:pathLst>
            </a:custGeom>
            <a:noFill/>
            <a:ln cap="flat" cmpd="sng" w="1905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15" name="Google Shape;315;p11"/>
            <p:cNvSpPr/>
            <p:nvPr/>
          </p:nvSpPr>
          <p:spPr>
            <a:xfrm>
              <a:off x="2047875" y="6429375"/>
              <a:ext cx="51054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RIESGO</a:t>
              </a:r>
              <a:endParaRPr/>
            </a:p>
          </p:txBody>
        </p:sp>
        <p:sp>
          <p:nvSpPr>
            <p:cNvPr id="316" name="Google Shape;316;p11"/>
            <p:cNvSpPr/>
            <p:nvPr/>
          </p:nvSpPr>
          <p:spPr>
            <a:xfrm>
              <a:off x="2047875" y="6858000"/>
              <a:ext cx="5105400" cy="809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incertidumbre o consecuencia debemos considerar?</a:t>
              </a:r>
              <a:endParaRPr/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11029950" y="4267200"/>
              <a:ext cx="685800" cy="1504950"/>
            </a:xfrm>
            <a:custGeom>
              <a:rect b="b" l="l" r="r" t="t"/>
              <a:pathLst>
                <a:path extrusionOk="0" h="1504950" w="685800">
                  <a:moveTo>
                    <a:pt x="685800" y="0"/>
                  </a:moveTo>
                  <a:lnTo>
                    <a:pt x="0" y="1504950"/>
                  </a:lnTo>
                </a:path>
              </a:pathLst>
            </a:custGeom>
            <a:noFill/>
            <a:ln cap="flat" cmpd="sng" w="19050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18" name="Google Shape;318;p11"/>
            <p:cNvSpPr/>
            <p:nvPr/>
          </p:nvSpPr>
          <p:spPr>
            <a:xfrm>
              <a:off x="11877675" y="3857625"/>
              <a:ext cx="51054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DEPENDENCIAS</a:t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11877675" y="4286250"/>
              <a:ext cx="5105400" cy="809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necesita existir antes?</a:t>
              </a: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>
              <a:off x="11029950" y="5705475"/>
              <a:ext cx="685800" cy="66675"/>
            </a:xfrm>
            <a:custGeom>
              <a:rect b="b" l="l" r="r" t="t"/>
              <a:pathLst>
                <a:path extrusionOk="0" h="66675" w="685800">
                  <a:moveTo>
                    <a:pt x="685800" y="0"/>
                  </a:moveTo>
                  <a:lnTo>
                    <a:pt x="0" y="66675"/>
                  </a:lnTo>
                </a:path>
              </a:pathLst>
            </a:custGeom>
            <a:noFill/>
            <a:ln cap="flat" cmpd="sng" w="1905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21" name="Google Shape;321;p11"/>
            <p:cNvSpPr/>
            <p:nvPr/>
          </p:nvSpPr>
          <p:spPr>
            <a:xfrm>
              <a:off x="11877675" y="5295900"/>
              <a:ext cx="51054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COSTO DE DEMORA</a:t>
              </a:r>
              <a:endParaRPr/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11877675" y="5724525"/>
              <a:ext cx="5105400" cy="809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ocurre si esperamos?</a:t>
              </a:r>
              <a:endParaRPr/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11029950" y="5772150"/>
              <a:ext cx="685800" cy="1066800"/>
            </a:xfrm>
            <a:custGeom>
              <a:rect b="b" l="l" r="r" t="t"/>
              <a:pathLst>
                <a:path extrusionOk="0" h="1066800" w="685800">
                  <a:moveTo>
                    <a:pt x="685800" y="106680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24" name="Google Shape;324;p11"/>
            <p:cNvSpPr/>
            <p:nvPr/>
          </p:nvSpPr>
          <p:spPr>
            <a:xfrm>
              <a:off x="11877675" y="6429375"/>
              <a:ext cx="51054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8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OPORTUNIDAD DE APRENDIZAJE</a:t>
              </a:r>
              <a:endParaRPr/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11877675" y="6858000"/>
              <a:ext cx="5105400" cy="809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¿Qué podría ayudarnos a comprender mejor el producto?</a:t>
              </a:r>
              <a:endParaRPr/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8181975" y="4448175"/>
              <a:ext cx="2857500" cy="285750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8420100" y="5248275"/>
              <a:ext cx="238125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07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¿QUÉ VA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07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PRIMERO?</a:t>
              </a:r>
              <a:endParaRPr/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2981325" y="8229600"/>
              <a:ext cx="14001750" cy="371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Priorizar no significa ordenar según quién solicita con mayor insistencia.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12"/>
          <p:cNvGrpSpPr/>
          <p:nvPr/>
        </p:nvGrpSpPr>
        <p:grpSpPr>
          <a:xfrm>
            <a:off x="1876425" y="847725"/>
            <a:ext cx="15621000" cy="8439150"/>
            <a:chOff x="1876425" y="847725"/>
            <a:chExt cx="15621000" cy="8439150"/>
          </a:xfrm>
        </p:grpSpPr>
        <p:sp>
          <p:nvSpPr>
            <p:cNvPr id="337" name="Google Shape;337;p12"/>
            <p:cNvSpPr/>
            <p:nvPr/>
          </p:nvSpPr>
          <p:spPr>
            <a:xfrm>
              <a:off x="1876425" y="847725"/>
              <a:ext cx="13049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Product Backlog: organización dinámica del trabajo</a:t>
              </a:r>
              <a:endParaRPr/>
            </a:p>
          </p:txBody>
        </p:sp>
        <p:sp>
          <p:nvSpPr>
            <p:cNvPr id="338" name="Google Shape;338;p12"/>
            <p:cNvSpPr/>
            <p:nvPr/>
          </p:nvSpPr>
          <p:spPr>
            <a:xfrm>
              <a:off x="1876425" y="1371600"/>
              <a:ext cx="15621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Lo urgente no siempre es lo más valioso</a:t>
              </a:r>
              <a:endParaRPr/>
            </a:p>
          </p:txBody>
        </p:sp>
        <p:sp>
          <p:nvSpPr>
            <p:cNvPr id="339" name="Google Shape;339;p12"/>
            <p:cNvSpPr/>
            <p:nvPr/>
          </p:nvSpPr>
          <p:spPr>
            <a:xfrm>
              <a:off x="2905125" y="8943975"/>
              <a:ext cx="8239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Planeación y organización de proyectos ágiles</a:t>
              </a:r>
              <a:endParaRPr/>
            </a:p>
          </p:txBody>
        </p:sp>
        <p:sp>
          <p:nvSpPr>
            <p:cNvPr id="340" name="Google Shape;340;p12"/>
            <p:cNvSpPr/>
            <p:nvPr/>
          </p:nvSpPr>
          <p:spPr>
            <a:xfrm>
              <a:off x="11334750" y="8943975"/>
              <a:ext cx="1190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10 / 15</a:t>
              </a:r>
              <a:endParaRPr/>
            </a:p>
          </p:txBody>
        </p:sp>
        <p:sp>
          <p:nvSpPr>
            <p:cNvPr id="341" name="Google Shape;341;p12"/>
            <p:cNvSpPr/>
            <p:nvPr/>
          </p:nvSpPr>
          <p:spPr>
            <a:xfrm>
              <a:off x="2066925" y="3086100"/>
              <a:ext cx="6286500" cy="2714625"/>
            </a:xfrm>
            <a:prstGeom prst="roundRect">
              <a:avLst>
                <a:gd fmla="val 877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2"/>
            <p:cNvSpPr/>
            <p:nvPr/>
          </p:nvSpPr>
          <p:spPr>
            <a:xfrm>
              <a:off x="2066925" y="3086100"/>
              <a:ext cx="6286500" cy="76200"/>
            </a:xfrm>
            <a:prstGeom prst="roundRect">
              <a:avLst>
                <a:gd fmla="val 50000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2"/>
            <p:cNvSpPr/>
            <p:nvPr/>
          </p:nvSpPr>
          <p:spPr>
            <a:xfrm>
              <a:off x="2305050" y="3314700"/>
              <a:ext cx="5810250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0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URGENTE</a:t>
              </a:r>
              <a:endParaRPr/>
            </a:p>
          </p:txBody>
        </p:sp>
        <p:sp>
          <p:nvSpPr>
            <p:cNvPr id="344" name="Google Shape;344;p12"/>
            <p:cNvSpPr/>
            <p:nvPr/>
          </p:nvSpPr>
          <p:spPr>
            <a:xfrm>
              <a:off x="2305050" y="3867150"/>
              <a:ext cx="5810250" cy="1800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Puede requerir atención inmediata</a:t>
              </a:r>
              <a:r>
                <a:rPr lang="es-CO" sz="2175">
                  <a:solidFill>
                    <a:srgbClr val="332F37"/>
                  </a:solidFill>
                </a:rPr>
                <a:t>, p</a:t>
              </a: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ero su impacto sobre el producto puede ser limitado.</a:t>
              </a:r>
              <a:endParaRPr/>
            </a:p>
          </p:txBody>
        </p:sp>
        <p:sp>
          <p:nvSpPr>
            <p:cNvPr id="345" name="Google Shape;345;p12"/>
            <p:cNvSpPr/>
            <p:nvPr/>
          </p:nvSpPr>
          <p:spPr>
            <a:xfrm>
              <a:off x="10763250" y="3086100"/>
              <a:ext cx="6286500" cy="2714625"/>
            </a:xfrm>
            <a:prstGeom prst="roundRect">
              <a:avLst>
                <a:gd fmla="val 8772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2"/>
            <p:cNvSpPr/>
            <p:nvPr/>
          </p:nvSpPr>
          <p:spPr>
            <a:xfrm>
              <a:off x="10763250" y="3086100"/>
              <a:ext cx="6286500" cy="76200"/>
            </a:xfrm>
            <a:prstGeom prst="roundRect">
              <a:avLst>
                <a:gd fmla="val 50000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11001375" y="3314700"/>
              <a:ext cx="5810250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0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VALIOSO</a:t>
              </a:r>
              <a:endParaRPr/>
            </a:p>
          </p:txBody>
        </p:sp>
        <p:sp>
          <p:nvSpPr>
            <p:cNvPr id="348" name="Google Shape;348;p12"/>
            <p:cNvSpPr/>
            <p:nvPr/>
          </p:nvSpPr>
          <p:spPr>
            <a:xfrm>
              <a:off x="11001375" y="3867150"/>
              <a:ext cx="5810250" cy="1800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Puede contribuir significativamente al propósito del producto</a:t>
              </a:r>
              <a:r>
                <a:rPr lang="es-CO" sz="2175">
                  <a:solidFill>
                    <a:srgbClr val="332F37"/>
                  </a:solidFill>
                </a:rPr>
                <a:t>, a</a:t>
              </a: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unque no siempre tenga la fecha más próxima.</a:t>
              </a:r>
              <a:endParaRPr/>
            </a:p>
          </p:txBody>
        </p:sp>
        <p:sp>
          <p:nvSpPr>
            <p:cNvPr id="349" name="Google Shape;349;p12"/>
            <p:cNvSpPr/>
            <p:nvPr/>
          </p:nvSpPr>
          <p:spPr>
            <a:xfrm>
              <a:off x="5219700" y="6000750"/>
              <a:ext cx="8658225" cy="953"/>
            </a:xfrm>
            <a:custGeom>
              <a:rect b="b" l="l" r="r" t="t"/>
              <a:pathLst>
                <a:path extrusionOk="0" h="953" w="8658225">
                  <a:moveTo>
                    <a:pt x="0" y="0"/>
                  </a:moveTo>
                  <a:lnTo>
                    <a:pt x="8658225" y="0"/>
                  </a:lnTo>
                </a:path>
              </a:pathLst>
            </a:custGeom>
            <a:noFill/>
            <a:ln cap="flat" cmpd="sng" w="5715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50" name="Google Shape;350;p12"/>
            <p:cNvSpPr/>
            <p:nvPr/>
          </p:nvSpPr>
          <p:spPr>
            <a:xfrm>
              <a:off x="5219700" y="5800725"/>
              <a:ext cx="953" cy="409575"/>
            </a:xfrm>
            <a:custGeom>
              <a:rect b="b" l="l" r="r" t="t"/>
              <a:pathLst>
                <a:path extrusionOk="0" h="409575" w="953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cap="flat" cmpd="sng" w="38100">
              <a:solidFill>
                <a:srgbClr val="A71989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51" name="Google Shape;351;p12"/>
            <p:cNvSpPr/>
            <p:nvPr/>
          </p:nvSpPr>
          <p:spPr>
            <a:xfrm>
              <a:off x="13877925" y="5800725"/>
              <a:ext cx="953" cy="409575"/>
            </a:xfrm>
            <a:custGeom>
              <a:rect b="b" l="l" r="r" t="t"/>
              <a:pathLst>
                <a:path extrusionOk="0" h="409575" w="953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cap="flat" cmpd="sng" w="3810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52" name="Google Shape;352;p12"/>
            <p:cNvSpPr/>
            <p:nvPr/>
          </p:nvSpPr>
          <p:spPr>
            <a:xfrm>
              <a:off x="9172575" y="6000750"/>
              <a:ext cx="381000" cy="552450"/>
            </a:xfrm>
            <a:custGeom>
              <a:rect b="b" l="l" r="r" t="t"/>
              <a:pathLst>
                <a:path extrusionOk="0" h="552450" w="381000">
                  <a:moveTo>
                    <a:pt x="381000" y="0"/>
                  </a:moveTo>
                  <a:lnTo>
                    <a:pt x="0" y="552450"/>
                  </a:lnTo>
                </a:path>
              </a:pathLst>
            </a:custGeom>
            <a:noFill/>
            <a:ln cap="flat" cmpd="sng" w="476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53" name="Google Shape;353;p12"/>
            <p:cNvSpPr/>
            <p:nvPr/>
          </p:nvSpPr>
          <p:spPr>
            <a:xfrm>
              <a:off x="9553575" y="6000750"/>
              <a:ext cx="381000" cy="552450"/>
            </a:xfrm>
            <a:custGeom>
              <a:rect b="b" l="l" r="r" t="t"/>
              <a:pathLst>
                <a:path extrusionOk="0" h="552450" w="381000">
                  <a:moveTo>
                    <a:pt x="0" y="0"/>
                  </a:moveTo>
                  <a:lnTo>
                    <a:pt x="381000" y="552450"/>
                  </a:lnTo>
                </a:path>
              </a:pathLst>
            </a:custGeom>
            <a:noFill/>
            <a:ln cap="flat" cmpd="sng" w="476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54" name="Google Shape;354;p12"/>
            <p:cNvSpPr/>
            <p:nvPr/>
          </p:nvSpPr>
          <p:spPr>
            <a:xfrm>
              <a:off x="9172575" y="6553200"/>
              <a:ext cx="762000" cy="953"/>
            </a:xfrm>
            <a:custGeom>
              <a:rect b="b" l="l" r="r" t="t"/>
              <a:pathLst>
                <a:path extrusionOk="0" h="953"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cap="flat" cmpd="sng" w="4762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55" name="Google Shape;355;p12"/>
            <p:cNvSpPr/>
            <p:nvPr/>
          </p:nvSpPr>
          <p:spPr>
            <a:xfrm>
              <a:off x="2905125" y="6753225"/>
              <a:ext cx="13906500" cy="819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¿Qué ocurre si atendemos siempre lo que parece urgente y dejamos para después aquello que genera mayor valor?</a:t>
              </a:r>
              <a:endParaRPr/>
            </a:p>
          </p:txBody>
        </p:sp>
        <p:sp>
          <p:nvSpPr>
            <p:cNvPr id="356" name="Google Shape;356;p12"/>
            <p:cNvSpPr/>
            <p:nvPr/>
          </p:nvSpPr>
          <p:spPr>
            <a:xfrm>
              <a:off x="2857500" y="7696200"/>
              <a:ext cx="14192250" cy="781050"/>
            </a:xfrm>
            <a:prstGeom prst="roundRect">
              <a:avLst>
                <a:gd fmla="val 24390" name="adj"/>
              </a:avLst>
            </a:prstGeom>
            <a:solidFill>
              <a:srgbClr val="F7F5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2"/>
            <p:cNvSpPr/>
            <p:nvPr/>
          </p:nvSpPr>
          <p:spPr>
            <a:xfrm>
              <a:off x="2857500" y="7791450"/>
              <a:ext cx="66675" cy="590550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2"/>
            <p:cNvSpPr/>
            <p:nvPr/>
          </p:nvSpPr>
          <p:spPr>
            <a:xfrm>
              <a:off x="3133725" y="7858125"/>
              <a:ext cx="13592175" cy="561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La planeación requiere equilibrar las necesidades inmediatas y valor sostenido.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6" name="Google Shape;366;p13"/>
          <p:cNvGrpSpPr/>
          <p:nvPr/>
        </p:nvGrpSpPr>
        <p:grpSpPr>
          <a:xfrm>
            <a:off x="1876425" y="847725"/>
            <a:ext cx="15621000" cy="8439150"/>
            <a:chOff x="1876425" y="847725"/>
            <a:chExt cx="15621000" cy="8439150"/>
          </a:xfrm>
        </p:grpSpPr>
        <p:sp>
          <p:nvSpPr>
            <p:cNvPr id="367" name="Google Shape;367;p13"/>
            <p:cNvSpPr/>
            <p:nvPr/>
          </p:nvSpPr>
          <p:spPr>
            <a:xfrm>
              <a:off x="1876425" y="847725"/>
              <a:ext cx="13049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Product Backlog: organización dinámica del trabajo</a:t>
              </a:r>
              <a:endParaRPr/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1876425" y="1371600"/>
              <a:ext cx="15621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No planificamos tareas sin considerar quién puede realizarlas</a:t>
              </a:r>
              <a:endParaRPr/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2905125" y="8943975"/>
              <a:ext cx="8239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Planeación y organización de proyectos ágiles</a:t>
              </a:r>
              <a:endParaRPr/>
            </a:p>
          </p:txBody>
        </p:sp>
        <p:sp>
          <p:nvSpPr>
            <p:cNvPr id="370" name="Google Shape;370;p13"/>
            <p:cNvSpPr/>
            <p:nvPr/>
          </p:nvSpPr>
          <p:spPr>
            <a:xfrm>
              <a:off x="11334750" y="8943975"/>
              <a:ext cx="1190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11 / 15</a:t>
              </a:r>
              <a:endParaRPr/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1971675" y="2847975"/>
              <a:ext cx="15240000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4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Los proyectos pueden requerir capacidades:</a:t>
              </a:r>
              <a:endParaRPr/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6048375" y="3962400"/>
              <a:ext cx="1600200" cy="857250"/>
            </a:xfrm>
            <a:custGeom>
              <a:rect b="b" l="l" r="r" t="t"/>
              <a:pathLst>
                <a:path extrusionOk="0" h="857250" w="1600200">
                  <a:moveTo>
                    <a:pt x="0" y="0"/>
                  </a:moveTo>
                  <a:lnTo>
                    <a:pt x="1600200" y="857250"/>
                  </a:lnTo>
                </a:path>
              </a:pathLst>
            </a:custGeom>
            <a:noFill/>
            <a:ln cap="flat" cmpd="sng" w="1905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73" name="Google Shape;373;p13"/>
            <p:cNvSpPr/>
            <p:nvPr/>
          </p:nvSpPr>
          <p:spPr>
            <a:xfrm>
              <a:off x="2124075" y="3638550"/>
              <a:ext cx="3886200" cy="609600"/>
            </a:xfrm>
            <a:prstGeom prst="roundRect">
              <a:avLst>
                <a:gd fmla="val 2812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2276475" y="3790950"/>
              <a:ext cx="35814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Técnicas</a:t>
              </a:r>
              <a:endParaRPr/>
            </a:p>
          </p:txBody>
        </p:sp>
        <p:sp>
          <p:nvSpPr>
            <p:cNvPr id="375" name="Google Shape;375;p13"/>
            <p:cNvSpPr/>
            <p:nvPr/>
          </p:nvSpPr>
          <p:spPr>
            <a:xfrm>
              <a:off x="6048375" y="4762500"/>
              <a:ext cx="1600200" cy="57150"/>
            </a:xfrm>
            <a:custGeom>
              <a:rect b="b" l="l" r="r" t="t"/>
              <a:pathLst>
                <a:path extrusionOk="0" h="57150" w="1600200">
                  <a:moveTo>
                    <a:pt x="0" y="0"/>
                  </a:moveTo>
                  <a:lnTo>
                    <a:pt x="1600200" y="57150"/>
                  </a:lnTo>
                </a:path>
              </a:pathLst>
            </a:custGeom>
            <a:noFill/>
            <a:ln cap="flat" cmpd="sng" w="1905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76" name="Google Shape;376;p13"/>
            <p:cNvSpPr/>
            <p:nvPr/>
          </p:nvSpPr>
          <p:spPr>
            <a:xfrm>
              <a:off x="2124075" y="4438650"/>
              <a:ext cx="3886200" cy="609600"/>
            </a:xfrm>
            <a:prstGeom prst="roundRect">
              <a:avLst>
                <a:gd fmla="val 28125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2276475" y="4591050"/>
              <a:ext cx="35814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Creativas</a:t>
              </a:r>
              <a:endParaRPr/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6048375" y="4819650"/>
              <a:ext cx="1600200" cy="742950"/>
            </a:xfrm>
            <a:custGeom>
              <a:rect b="b" l="l" r="r" t="t"/>
              <a:pathLst>
                <a:path extrusionOk="0" h="742950" w="1600200">
                  <a:moveTo>
                    <a:pt x="0" y="742950"/>
                  </a:moveTo>
                  <a:lnTo>
                    <a:pt x="1600200" y="0"/>
                  </a:lnTo>
                </a:path>
              </a:pathLst>
            </a:custGeom>
            <a:noFill/>
            <a:ln cap="flat" cmpd="sng" w="1905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79" name="Google Shape;379;p13"/>
            <p:cNvSpPr/>
            <p:nvPr/>
          </p:nvSpPr>
          <p:spPr>
            <a:xfrm>
              <a:off x="2124075" y="5238750"/>
              <a:ext cx="3886200" cy="609600"/>
            </a:xfrm>
            <a:prstGeom prst="roundRect">
              <a:avLst>
                <a:gd fmla="val 2812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2276475" y="5391150"/>
              <a:ext cx="35814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Comerciales</a:t>
              </a:r>
              <a:endParaRPr/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10258425" y="3962400"/>
              <a:ext cx="523875" cy="857250"/>
            </a:xfrm>
            <a:custGeom>
              <a:rect b="b" l="l" r="r" t="t"/>
              <a:pathLst>
                <a:path extrusionOk="0" h="857250" w="523875">
                  <a:moveTo>
                    <a:pt x="523875" y="0"/>
                  </a:moveTo>
                  <a:lnTo>
                    <a:pt x="0" y="857250"/>
                  </a:lnTo>
                </a:path>
              </a:pathLst>
            </a:custGeom>
            <a:noFill/>
            <a:ln cap="flat" cmpd="sng" w="1905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2" name="Google Shape;382;p13"/>
            <p:cNvSpPr/>
            <p:nvPr/>
          </p:nvSpPr>
          <p:spPr>
            <a:xfrm>
              <a:off x="10782300" y="3638550"/>
              <a:ext cx="5829300" cy="609600"/>
            </a:xfrm>
            <a:prstGeom prst="roundRect">
              <a:avLst>
                <a:gd fmla="val 28125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10934700" y="3790950"/>
              <a:ext cx="5524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Administrativas</a:t>
              </a:r>
              <a:endParaRPr/>
            </a:p>
          </p:txBody>
        </p:sp>
        <p:sp>
          <p:nvSpPr>
            <p:cNvPr id="384" name="Google Shape;384;p13"/>
            <p:cNvSpPr/>
            <p:nvPr/>
          </p:nvSpPr>
          <p:spPr>
            <a:xfrm>
              <a:off x="10258425" y="4762500"/>
              <a:ext cx="523875" cy="57150"/>
            </a:xfrm>
            <a:custGeom>
              <a:rect b="b" l="l" r="r" t="t"/>
              <a:pathLst>
                <a:path extrusionOk="0" h="57150" w="523875">
                  <a:moveTo>
                    <a:pt x="523875" y="0"/>
                  </a:moveTo>
                  <a:lnTo>
                    <a:pt x="0" y="57150"/>
                  </a:lnTo>
                </a:path>
              </a:pathLst>
            </a:custGeom>
            <a:noFill/>
            <a:ln cap="flat" cmpd="sng" w="1905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5" name="Google Shape;385;p13"/>
            <p:cNvSpPr/>
            <p:nvPr/>
          </p:nvSpPr>
          <p:spPr>
            <a:xfrm>
              <a:off x="10782300" y="4438650"/>
              <a:ext cx="5829300" cy="609600"/>
            </a:xfrm>
            <a:prstGeom prst="roundRect">
              <a:avLst>
                <a:gd fmla="val 2812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10934700" y="4591050"/>
              <a:ext cx="5524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Analíticas</a:t>
              </a:r>
              <a:endParaRPr/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10258425" y="4819650"/>
              <a:ext cx="523875" cy="742950"/>
            </a:xfrm>
            <a:custGeom>
              <a:rect b="b" l="l" r="r" t="t"/>
              <a:pathLst>
                <a:path extrusionOk="0" h="742950" w="523875">
                  <a:moveTo>
                    <a:pt x="523875" y="74295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8" name="Google Shape;388;p13"/>
            <p:cNvSpPr/>
            <p:nvPr/>
          </p:nvSpPr>
          <p:spPr>
            <a:xfrm>
              <a:off x="10782300" y="5238750"/>
              <a:ext cx="5829300" cy="609600"/>
            </a:xfrm>
            <a:prstGeom prst="roundRect">
              <a:avLst>
                <a:gd fmla="val 28125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10934700" y="5391150"/>
              <a:ext cx="5524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Comunicativas</a:t>
              </a:r>
              <a:endParaRPr/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7610475" y="3686175"/>
              <a:ext cx="2667000" cy="266700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7762875" y="4543425"/>
              <a:ext cx="2362200" cy="1057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RESULTADO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COMPARTIDO</a:t>
              </a:r>
              <a:endParaRPr/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2095500" y="6543675"/>
              <a:ext cx="14668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La conformación del equipo considera:</a:t>
              </a:r>
              <a:endParaRPr/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2095500" y="6991350"/>
              <a:ext cx="146685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Perfil + Experiencia + Fortalezas + Colaboración + Conocimientos específicos</a:t>
              </a:r>
              <a:endParaRPr/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2876550" y="7410450"/>
              <a:ext cx="140970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55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Complementariedad ≠ perfiles idénticos</a:t>
              </a:r>
              <a:endParaRPr/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2886075" y="7858125"/>
              <a:ext cx="14163675" cy="67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8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Las diferentes perspectivas ayudan a reconocer riesgos, explorar alternativas y resolver problemas. El producto pertenece al equipo como conjunto, aunque existan responsabilidades específicas.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4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14"/>
          <p:cNvGrpSpPr/>
          <p:nvPr/>
        </p:nvGrpSpPr>
        <p:grpSpPr>
          <a:xfrm>
            <a:off x="1876425" y="847725"/>
            <a:ext cx="15621000" cy="8439150"/>
            <a:chOff x="1876425" y="847725"/>
            <a:chExt cx="15621000" cy="8439150"/>
          </a:xfrm>
        </p:grpSpPr>
        <p:sp>
          <p:nvSpPr>
            <p:cNvPr id="404" name="Google Shape;404;p14"/>
            <p:cNvSpPr/>
            <p:nvPr/>
          </p:nvSpPr>
          <p:spPr>
            <a:xfrm>
              <a:off x="1876425" y="847725"/>
              <a:ext cx="13049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Product Backlog: organización dinámica del trabajo</a:t>
              </a:r>
              <a:endParaRPr/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1876425" y="1371600"/>
              <a:ext cx="15621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Tener la competencia no significa tener disponibilidad</a:t>
              </a:r>
              <a:endParaRPr/>
            </a:p>
          </p:txBody>
        </p:sp>
        <p:sp>
          <p:nvSpPr>
            <p:cNvPr id="406" name="Google Shape;406;p14"/>
            <p:cNvSpPr/>
            <p:nvPr/>
          </p:nvSpPr>
          <p:spPr>
            <a:xfrm>
              <a:off x="2905125" y="8943975"/>
              <a:ext cx="8239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Planeación y organización de proyectos ágiles</a:t>
              </a:r>
              <a:endParaRPr/>
            </a:p>
          </p:txBody>
        </p:sp>
        <p:sp>
          <p:nvSpPr>
            <p:cNvPr id="407" name="Google Shape;407;p14"/>
            <p:cNvSpPr/>
            <p:nvPr/>
          </p:nvSpPr>
          <p:spPr>
            <a:xfrm>
              <a:off x="11334750" y="8943975"/>
              <a:ext cx="1190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12 / 15</a:t>
              </a:r>
              <a:endParaRPr/>
            </a:p>
          </p:txBody>
        </p:sp>
        <p:sp>
          <p:nvSpPr>
            <p:cNvPr id="408" name="Google Shape;408;p14"/>
            <p:cNvSpPr/>
            <p:nvPr/>
          </p:nvSpPr>
          <p:spPr>
            <a:xfrm>
              <a:off x="2105025" y="3038475"/>
              <a:ext cx="14668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22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CAPACIDAD REAL</a:t>
              </a:r>
              <a:endParaRPr/>
            </a:p>
          </p:txBody>
        </p:sp>
        <p:sp>
          <p:nvSpPr>
            <p:cNvPr id="409" name="Google Shape;409;p14"/>
            <p:cNvSpPr/>
            <p:nvPr/>
          </p:nvSpPr>
          <p:spPr>
            <a:xfrm>
              <a:off x="2190750" y="4371975"/>
              <a:ext cx="952500" cy="895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51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/>
            </a:p>
          </p:txBody>
        </p:sp>
        <p:sp>
          <p:nvSpPr>
            <p:cNvPr id="410" name="Google Shape;410;p14"/>
            <p:cNvSpPr/>
            <p:nvPr/>
          </p:nvSpPr>
          <p:spPr>
            <a:xfrm>
              <a:off x="3409950" y="3886200"/>
              <a:ext cx="3952875" cy="1390650"/>
            </a:xfrm>
            <a:prstGeom prst="roundRect">
              <a:avLst>
                <a:gd fmla="val 12329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4"/>
            <p:cNvSpPr/>
            <p:nvPr/>
          </p:nvSpPr>
          <p:spPr>
            <a:xfrm>
              <a:off x="3562350" y="4038600"/>
              <a:ext cx="3648075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Conocimientos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y habilidades</a:t>
              </a:r>
              <a:endParaRPr/>
            </a:p>
          </p:txBody>
        </p:sp>
        <p:sp>
          <p:nvSpPr>
            <p:cNvPr id="412" name="Google Shape;412;p14"/>
            <p:cNvSpPr/>
            <p:nvPr/>
          </p:nvSpPr>
          <p:spPr>
            <a:xfrm>
              <a:off x="7715250" y="3886200"/>
              <a:ext cx="3895725" cy="1390650"/>
            </a:xfrm>
            <a:prstGeom prst="roundRect">
              <a:avLst>
                <a:gd fmla="val 12329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4"/>
            <p:cNvSpPr/>
            <p:nvPr/>
          </p:nvSpPr>
          <p:spPr>
            <a:xfrm>
              <a:off x="7867650" y="4038600"/>
              <a:ext cx="3590925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00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Disponibilidad</a:t>
              </a:r>
              <a:endParaRPr/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11801475" y="4143375"/>
              <a:ext cx="1066800" cy="895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54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−</a:t>
              </a:r>
              <a:endParaRPr/>
            </a:p>
          </p:txBody>
        </p:sp>
        <p:sp>
          <p:nvSpPr>
            <p:cNvPr id="415" name="Google Shape;415;p14"/>
            <p:cNvSpPr/>
            <p:nvPr/>
          </p:nvSpPr>
          <p:spPr>
            <a:xfrm>
              <a:off x="13058775" y="3886200"/>
              <a:ext cx="4038600" cy="1390650"/>
            </a:xfrm>
            <a:prstGeom prst="roundRect">
              <a:avLst>
                <a:gd fmla="val 12329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4"/>
            <p:cNvSpPr/>
            <p:nvPr/>
          </p:nvSpPr>
          <p:spPr>
            <a:xfrm>
              <a:off x="13211175" y="4038600"/>
              <a:ext cx="3733800" cy="1200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Carga existente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y otras demandas</a:t>
              </a:r>
              <a:endParaRPr/>
            </a:p>
          </p:txBody>
        </p:sp>
        <p:sp>
          <p:nvSpPr>
            <p:cNvPr id="417" name="Google Shape;417;p14"/>
            <p:cNvSpPr/>
            <p:nvPr/>
          </p:nvSpPr>
          <p:spPr>
            <a:xfrm>
              <a:off x="3676650" y="5505450"/>
              <a:ext cx="13249275" cy="953"/>
            </a:xfrm>
            <a:custGeom>
              <a:rect b="b" l="l" r="r" t="t"/>
              <a:pathLst>
                <a:path extrusionOk="0" h="953" w="13249275">
                  <a:moveTo>
                    <a:pt x="0" y="0"/>
                  </a:moveTo>
                  <a:lnTo>
                    <a:pt x="13249275" y="0"/>
                  </a:lnTo>
                </a:path>
              </a:pathLst>
            </a:custGeom>
            <a:noFill/>
            <a:ln cap="flat" cmpd="sng" w="28575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18" name="Google Shape;418;p14"/>
            <p:cNvSpPr/>
            <p:nvPr/>
          </p:nvSpPr>
          <p:spPr>
            <a:xfrm>
              <a:off x="2152650" y="6019800"/>
              <a:ext cx="14830425" cy="1076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4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Las personas también participan en reuniones, resuelven imprevistos, colaboran con otros y realizan actividades que consumen tiempo.</a:t>
              </a:r>
              <a:endParaRPr/>
            </a:p>
          </p:txBody>
        </p:sp>
        <p:sp>
          <p:nvSpPr>
            <p:cNvPr id="419" name="Google Shape;419;p14"/>
            <p:cNvSpPr/>
            <p:nvPr/>
          </p:nvSpPr>
          <p:spPr>
            <a:xfrm>
              <a:off x="2857500" y="7467600"/>
              <a:ext cx="14192250" cy="981075"/>
            </a:xfrm>
            <a:prstGeom prst="roundRect">
              <a:avLst>
                <a:gd fmla="val 19417" name="adj"/>
              </a:avLst>
            </a:prstGeom>
            <a:solidFill>
              <a:srgbClr val="F7F5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4"/>
            <p:cNvSpPr/>
            <p:nvPr/>
          </p:nvSpPr>
          <p:spPr>
            <a:xfrm>
              <a:off x="2857500" y="7562850"/>
              <a:ext cx="66675" cy="790575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4"/>
            <p:cNvSpPr/>
            <p:nvPr/>
          </p:nvSpPr>
          <p:spPr>
            <a:xfrm>
              <a:off x="3133725" y="7629525"/>
              <a:ext cx="13592175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Planificar como si todas las horas laborales estuvieran disponibles para las tareas produce previsiones poco realistas.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5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9" name="Google Shape;429;p15"/>
          <p:cNvGrpSpPr/>
          <p:nvPr/>
        </p:nvGrpSpPr>
        <p:grpSpPr>
          <a:xfrm>
            <a:off x="1876425" y="847725"/>
            <a:ext cx="15621000" cy="8439150"/>
            <a:chOff x="1876425" y="847725"/>
            <a:chExt cx="15621000" cy="8439150"/>
          </a:xfrm>
        </p:grpSpPr>
        <p:sp>
          <p:nvSpPr>
            <p:cNvPr id="430" name="Google Shape;430;p15"/>
            <p:cNvSpPr/>
            <p:nvPr/>
          </p:nvSpPr>
          <p:spPr>
            <a:xfrm>
              <a:off x="1876425" y="847725"/>
              <a:ext cx="13049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Product Backlog: organización dinámica del trabajo</a:t>
              </a:r>
              <a:endParaRPr/>
            </a:p>
          </p:txBody>
        </p:sp>
        <p:sp>
          <p:nvSpPr>
            <p:cNvPr id="431" name="Google Shape;431;p15"/>
            <p:cNvSpPr/>
            <p:nvPr/>
          </p:nvSpPr>
          <p:spPr>
            <a:xfrm>
              <a:off x="1876425" y="1371600"/>
              <a:ext cx="15621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Responsabilidad no significa trabajo aislado</a:t>
              </a:r>
              <a:endParaRPr/>
            </a:p>
          </p:txBody>
        </p:sp>
        <p:sp>
          <p:nvSpPr>
            <p:cNvPr id="432" name="Google Shape;432;p15"/>
            <p:cNvSpPr/>
            <p:nvPr/>
          </p:nvSpPr>
          <p:spPr>
            <a:xfrm>
              <a:off x="2905125" y="8943975"/>
              <a:ext cx="8239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Planeación y organización de proyectos ágiles</a:t>
              </a:r>
              <a:endParaRPr/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11334750" y="8943975"/>
              <a:ext cx="1190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13 / 15</a:t>
              </a:r>
              <a:endParaRPr/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2057400" y="3057525"/>
              <a:ext cx="6477000" cy="2409825"/>
            </a:xfrm>
            <a:prstGeom prst="roundRect">
              <a:avLst>
                <a:gd fmla="val 9881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5"/>
            <p:cNvSpPr/>
            <p:nvPr/>
          </p:nvSpPr>
          <p:spPr>
            <a:xfrm>
              <a:off x="2057400" y="3057525"/>
              <a:ext cx="6477000" cy="76200"/>
            </a:xfrm>
            <a:prstGeom prst="roundRect">
              <a:avLst>
                <a:gd fmla="val 50000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5"/>
            <p:cNvSpPr/>
            <p:nvPr/>
          </p:nvSpPr>
          <p:spPr>
            <a:xfrm>
              <a:off x="2295525" y="3286125"/>
              <a:ext cx="6000750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5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RESPONSABILIDAD CLARA</a:t>
              </a:r>
              <a:endParaRPr/>
            </a:p>
          </p:txBody>
        </p:sp>
        <p:sp>
          <p:nvSpPr>
            <p:cNvPr id="437" name="Google Shape;437;p15"/>
            <p:cNvSpPr/>
            <p:nvPr/>
          </p:nvSpPr>
          <p:spPr>
            <a:xfrm>
              <a:off x="2295525" y="3838575"/>
              <a:ext cx="6000750" cy="1495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Sabemos quién coordina o conoce el estado de una tarea.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5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Facilita identificar dónde se necesita apoyo.</a:t>
              </a:r>
              <a:endParaRPr/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10582275" y="3057525"/>
              <a:ext cx="6477000" cy="2409825"/>
            </a:xfrm>
            <a:prstGeom prst="roundRect">
              <a:avLst>
                <a:gd fmla="val 9881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10582275" y="3057525"/>
              <a:ext cx="6477000" cy="76200"/>
            </a:xfrm>
            <a:prstGeom prst="roundRect">
              <a:avLst>
                <a:gd fmla="val 50000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10820400" y="3286125"/>
              <a:ext cx="6000750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55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TRABAJO AISLADO</a:t>
              </a:r>
              <a:endParaRPr/>
            </a:p>
          </p:txBody>
        </p:sp>
        <p:sp>
          <p:nvSpPr>
            <p:cNvPr id="441" name="Google Shape;441;p15"/>
            <p:cNvSpPr/>
            <p:nvPr/>
          </p:nvSpPr>
          <p:spPr>
            <a:xfrm>
              <a:off x="10820400" y="3838575"/>
              <a:ext cx="6000750" cy="1495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Asignar una actividad no significa que una persona deba resolverla sin interacción con los demás.</a:t>
              </a:r>
              <a:endParaRPr/>
            </a:p>
          </p:txBody>
        </p:sp>
        <p:sp>
          <p:nvSpPr>
            <p:cNvPr id="442" name="Google Shape;442;p15"/>
            <p:cNvSpPr/>
            <p:nvPr/>
          </p:nvSpPr>
          <p:spPr>
            <a:xfrm>
              <a:off x="9020175" y="3638550"/>
              <a:ext cx="104775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63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≠</a:t>
              </a:r>
              <a:endParaRPr/>
            </a:p>
          </p:txBody>
        </p:sp>
        <p:sp>
          <p:nvSpPr>
            <p:cNvPr id="443" name="Google Shape;443;p15"/>
            <p:cNvSpPr/>
            <p:nvPr/>
          </p:nvSpPr>
          <p:spPr>
            <a:xfrm>
              <a:off x="3267075" y="6067425"/>
              <a:ext cx="2009775" cy="590550"/>
            </a:xfrm>
            <a:custGeom>
              <a:rect b="b" l="l" r="r" t="t"/>
              <a:pathLst>
                <a:path extrusionOk="0" h="590550" w="2009775">
                  <a:moveTo>
                    <a:pt x="0" y="0"/>
                  </a:moveTo>
                  <a:lnTo>
                    <a:pt x="2009775" y="590550"/>
                  </a:lnTo>
                </a:path>
              </a:pathLst>
            </a:custGeom>
            <a:noFill/>
            <a:ln cap="flat" cmpd="sng" w="38100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44" name="Google Shape;444;p15"/>
            <p:cNvSpPr/>
            <p:nvPr/>
          </p:nvSpPr>
          <p:spPr>
            <a:xfrm>
              <a:off x="5276850" y="6067425"/>
              <a:ext cx="2095500" cy="590550"/>
            </a:xfrm>
            <a:custGeom>
              <a:rect b="b" l="l" r="r" t="t"/>
              <a:pathLst>
                <a:path extrusionOk="0" h="590550" w="2095500">
                  <a:moveTo>
                    <a:pt x="0" y="590550"/>
                  </a:moveTo>
                  <a:lnTo>
                    <a:pt x="2095500" y="0"/>
                  </a:lnTo>
                </a:path>
              </a:pathLst>
            </a:custGeom>
            <a:noFill/>
            <a:ln cap="flat" cmpd="sng" w="38100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45" name="Google Shape;445;p15"/>
            <p:cNvSpPr/>
            <p:nvPr/>
          </p:nvSpPr>
          <p:spPr>
            <a:xfrm>
              <a:off x="7372350" y="6067425"/>
              <a:ext cx="1990725" cy="590550"/>
            </a:xfrm>
            <a:custGeom>
              <a:rect b="b" l="l" r="r" t="t"/>
              <a:pathLst>
                <a:path extrusionOk="0" h="590550" w="1990725">
                  <a:moveTo>
                    <a:pt x="0" y="0"/>
                  </a:moveTo>
                  <a:lnTo>
                    <a:pt x="1990725" y="590550"/>
                  </a:lnTo>
                </a:path>
              </a:pathLst>
            </a:custGeom>
            <a:noFill/>
            <a:ln cap="flat" cmpd="sng" w="38100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46" name="Google Shape;446;p15"/>
            <p:cNvSpPr/>
            <p:nvPr/>
          </p:nvSpPr>
          <p:spPr>
            <a:xfrm>
              <a:off x="9363075" y="6067425"/>
              <a:ext cx="2076450" cy="590550"/>
            </a:xfrm>
            <a:custGeom>
              <a:rect b="b" l="l" r="r" t="t"/>
              <a:pathLst>
                <a:path extrusionOk="0" h="590550" w="2076450">
                  <a:moveTo>
                    <a:pt x="0" y="590550"/>
                  </a:moveTo>
                  <a:lnTo>
                    <a:pt x="2076450" y="0"/>
                  </a:lnTo>
                </a:path>
              </a:pathLst>
            </a:custGeom>
            <a:noFill/>
            <a:ln cap="flat" cmpd="sng" w="38100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47" name="Google Shape;447;p15"/>
            <p:cNvSpPr/>
            <p:nvPr/>
          </p:nvSpPr>
          <p:spPr>
            <a:xfrm>
              <a:off x="11439525" y="6067425"/>
              <a:ext cx="2181225" cy="590550"/>
            </a:xfrm>
            <a:custGeom>
              <a:rect b="b" l="l" r="r" t="t"/>
              <a:pathLst>
                <a:path extrusionOk="0" h="590550" w="2181225">
                  <a:moveTo>
                    <a:pt x="0" y="0"/>
                  </a:moveTo>
                  <a:lnTo>
                    <a:pt x="2181225" y="590550"/>
                  </a:lnTo>
                </a:path>
              </a:pathLst>
            </a:custGeom>
            <a:noFill/>
            <a:ln cap="flat" cmpd="sng" w="38100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48" name="Google Shape;448;p15"/>
            <p:cNvSpPr/>
            <p:nvPr/>
          </p:nvSpPr>
          <p:spPr>
            <a:xfrm>
              <a:off x="13620750" y="6067425"/>
              <a:ext cx="2133600" cy="590550"/>
            </a:xfrm>
            <a:custGeom>
              <a:rect b="b" l="l" r="r" t="t"/>
              <a:pathLst>
                <a:path extrusionOk="0" h="590550" w="2133600">
                  <a:moveTo>
                    <a:pt x="0" y="590550"/>
                  </a:moveTo>
                  <a:lnTo>
                    <a:pt x="2133600" y="0"/>
                  </a:lnTo>
                </a:path>
              </a:pathLst>
            </a:custGeom>
            <a:noFill/>
            <a:ln cap="flat" cmpd="sng" w="38100">
              <a:solidFill>
                <a:srgbClr val="DCD4E6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49" name="Google Shape;449;p15"/>
            <p:cNvSpPr/>
            <p:nvPr/>
          </p:nvSpPr>
          <p:spPr>
            <a:xfrm>
              <a:off x="3105150" y="5905500"/>
              <a:ext cx="323850" cy="32385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5"/>
            <p:cNvSpPr/>
            <p:nvPr/>
          </p:nvSpPr>
          <p:spPr>
            <a:xfrm>
              <a:off x="5114925" y="6496050"/>
              <a:ext cx="323850" cy="323850"/>
            </a:xfrm>
            <a:prstGeom prst="ellipse">
              <a:avLst/>
            </a:prstGeom>
            <a:solidFill>
              <a:srgbClr val="4478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5"/>
            <p:cNvSpPr/>
            <p:nvPr/>
          </p:nvSpPr>
          <p:spPr>
            <a:xfrm>
              <a:off x="7210425" y="5905500"/>
              <a:ext cx="323850" cy="32385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5"/>
            <p:cNvSpPr/>
            <p:nvPr/>
          </p:nvSpPr>
          <p:spPr>
            <a:xfrm>
              <a:off x="9201150" y="6496050"/>
              <a:ext cx="323850" cy="323850"/>
            </a:xfrm>
            <a:prstGeom prst="ellipse">
              <a:avLst/>
            </a:prstGeom>
            <a:solidFill>
              <a:srgbClr val="4478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5"/>
            <p:cNvSpPr/>
            <p:nvPr/>
          </p:nvSpPr>
          <p:spPr>
            <a:xfrm>
              <a:off x="11277600" y="5905500"/>
              <a:ext cx="323850" cy="32385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5"/>
            <p:cNvSpPr/>
            <p:nvPr/>
          </p:nvSpPr>
          <p:spPr>
            <a:xfrm>
              <a:off x="13458825" y="6496050"/>
              <a:ext cx="323850" cy="323850"/>
            </a:xfrm>
            <a:prstGeom prst="ellipse">
              <a:avLst/>
            </a:prstGeom>
            <a:solidFill>
              <a:srgbClr val="4478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5"/>
            <p:cNvSpPr/>
            <p:nvPr/>
          </p:nvSpPr>
          <p:spPr>
            <a:xfrm>
              <a:off x="15592425" y="5905500"/>
              <a:ext cx="323850" cy="323850"/>
            </a:xfrm>
            <a:prstGeom prst="ellipse">
              <a:avLst/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5"/>
            <p:cNvSpPr/>
            <p:nvPr/>
          </p:nvSpPr>
          <p:spPr>
            <a:xfrm>
              <a:off x="6848475" y="5734050"/>
              <a:ext cx="5534025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COLABORACIÓN</a:t>
              </a:r>
              <a:endParaRPr/>
            </a:p>
          </p:txBody>
        </p:sp>
        <p:sp>
          <p:nvSpPr>
            <p:cNvPr id="457" name="Google Shape;457;p15"/>
            <p:cNvSpPr/>
            <p:nvPr/>
          </p:nvSpPr>
          <p:spPr>
            <a:xfrm>
              <a:off x="2857500" y="7200900"/>
              <a:ext cx="14192250" cy="733425"/>
            </a:xfrm>
            <a:prstGeom prst="roundRect">
              <a:avLst>
                <a:gd fmla="val 25974" name="adj"/>
              </a:avLst>
            </a:prstGeom>
            <a:solidFill>
              <a:srgbClr val="F7F5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2857500" y="7296150"/>
              <a:ext cx="66675" cy="542925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3133725" y="7362825"/>
              <a:ext cx="13592175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32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La responsabilidad aporta claridad; la colaboración permite avanzar como equipo.</a:t>
              </a:r>
              <a:endParaRPr/>
            </a:p>
          </p:txBody>
        </p:sp>
        <p:sp>
          <p:nvSpPr>
            <p:cNvPr id="460" name="Google Shape;460;p15"/>
            <p:cNvSpPr/>
            <p:nvPr/>
          </p:nvSpPr>
          <p:spPr>
            <a:xfrm>
              <a:off x="2914650" y="8124825"/>
              <a:ext cx="14097000" cy="60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0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Concentrar demasiadas tareas importantes en una única persona puede generar un cuello de botella.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6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7" name="Google Shape;4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8" name="Google Shape;468;p16"/>
          <p:cNvGrpSpPr/>
          <p:nvPr/>
        </p:nvGrpSpPr>
        <p:grpSpPr>
          <a:xfrm>
            <a:off x="1876425" y="847725"/>
            <a:ext cx="15621000" cy="8439150"/>
            <a:chOff x="1876425" y="847725"/>
            <a:chExt cx="15621000" cy="8439150"/>
          </a:xfrm>
        </p:grpSpPr>
        <p:sp>
          <p:nvSpPr>
            <p:cNvPr id="469" name="Google Shape;469;p16"/>
            <p:cNvSpPr/>
            <p:nvPr/>
          </p:nvSpPr>
          <p:spPr>
            <a:xfrm>
              <a:off x="1876425" y="847725"/>
              <a:ext cx="13049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Product Backlog: organización dinámica del trabajo</a:t>
              </a: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1876425" y="1371600"/>
              <a:ext cx="15621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El tiempo es una previsión, no una garantía</a:t>
              </a: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2905125" y="8943975"/>
              <a:ext cx="8239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Planeación y organización de proyectos ágiles</a:t>
              </a: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1334750" y="8943975"/>
              <a:ext cx="1190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14 / 15</a:t>
              </a: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971675" y="2867025"/>
              <a:ext cx="1524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400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Una estimación expresa una previsión basada en la información disponible.</a:t>
              </a: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2095500" y="3800475"/>
              <a:ext cx="6619875" cy="1933575"/>
            </a:xfrm>
            <a:prstGeom prst="roundRect">
              <a:avLst>
                <a:gd fmla="val 12315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2095500" y="3800475"/>
              <a:ext cx="6619875" cy="76200"/>
            </a:xfrm>
            <a:prstGeom prst="roundRect">
              <a:avLst>
                <a:gd fmla="val 50000" name="adj"/>
              </a:avLst>
            </a:prstGeom>
            <a:solidFill>
              <a:srgbClr val="6640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2333625" y="4029075"/>
              <a:ext cx="6143625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5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TAREA CONOCIDA</a:t>
              </a: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2333625" y="4581525"/>
              <a:ext cx="6143625" cy="1019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Menor incertidumbre.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Mayor posibilidad de realizar una previsión estable.</a:t>
              </a: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10467975" y="3800475"/>
              <a:ext cx="6619875" cy="1933575"/>
            </a:xfrm>
            <a:prstGeom prst="roundRect">
              <a:avLst>
                <a:gd fmla="val 12315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10467975" y="3800475"/>
              <a:ext cx="6619875" cy="76200"/>
            </a:xfrm>
            <a:prstGeom prst="roundRect">
              <a:avLst>
                <a:gd fmla="val 50000" name="adj"/>
              </a:avLst>
            </a:prstGeom>
            <a:solidFill>
              <a:srgbClr val="A719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10706100" y="4029075"/>
              <a:ext cx="6143625" cy="714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550" u="none" cap="none" strike="noStrike">
                  <a:solidFill>
                    <a:srgbClr val="A71989"/>
                  </a:solidFill>
                  <a:latin typeface="Arial"/>
                  <a:ea typeface="Arial"/>
                  <a:cs typeface="Arial"/>
                  <a:sym typeface="Arial"/>
                </a:rPr>
                <a:t>TAREA NUEVA O COMPLEJA</a:t>
              </a: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10706100" y="4581525"/>
              <a:ext cx="6143625" cy="1019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Mayor incertidumbre.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Mayor necesidad de revisar la previsión.</a:t>
              </a: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2143125" y="6038850"/>
              <a:ext cx="1485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25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Cuando aumenta la incertidumbre:</a:t>
              </a: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2143125" y="6610350"/>
              <a:ext cx="4705350" cy="895350"/>
            </a:xfrm>
            <a:prstGeom prst="roundRect">
              <a:avLst>
                <a:gd fmla="val 19149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2295525" y="6762750"/>
              <a:ext cx="4400550" cy="704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DIVIDIR EL TRABAJO</a:t>
              </a: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6915150" y="7058025"/>
              <a:ext cx="266700" cy="953"/>
            </a:xfrm>
            <a:custGeom>
              <a:rect b="b" l="l" r="r" t="t"/>
              <a:pathLst>
                <a:path extrusionOk="0" h="953" w="266700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86" name="Google Shape;486;p16"/>
            <p:cNvSpPr/>
            <p:nvPr/>
          </p:nvSpPr>
          <p:spPr>
            <a:xfrm>
              <a:off x="7081542" y="7058025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87" name="Google Shape;487;p16"/>
            <p:cNvSpPr/>
            <p:nvPr/>
          </p:nvSpPr>
          <p:spPr>
            <a:xfrm>
              <a:off x="7081542" y="7003227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88" name="Google Shape;488;p16"/>
            <p:cNvSpPr/>
            <p:nvPr/>
          </p:nvSpPr>
          <p:spPr>
            <a:xfrm>
              <a:off x="7248525" y="6610350"/>
              <a:ext cx="4705350" cy="895350"/>
            </a:xfrm>
            <a:prstGeom prst="roundRect">
              <a:avLst>
                <a:gd fmla="val 19149" name="adj"/>
              </a:avLst>
            </a:prstGeom>
            <a:solidFill>
              <a:srgbClr val="EAF0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7400925" y="6762750"/>
              <a:ext cx="4400550" cy="704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OBTENER INFORMACIÓN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TEMPRANA</a:t>
              </a: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12020550" y="7058025"/>
              <a:ext cx="266700" cy="953"/>
            </a:xfrm>
            <a:custGeom>
              <a:rect b="b" l="l" r="r" t="t"/>
              <a:pathLst>
                <a:path extrusionOk="0" h="953" w="266700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91" name="Google Shape;491;p16"/>
            <p:cNvSpPr/>
            <p:nvPr/>
          </p:nvSpPr>
          <p:spPr>
            <a:xfrm>
              <a:off x="12186942" y="7058025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92" name="Google Shape;492;p16"/>
            <p:cNvSpPr/>
            <p:nvPr/>
          </p:nvSpPr>
          <p:spPr>
            <a:xfrm>
              <a:off x="12186942" y="7003227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93" name="Google Shape;493;p16"/>
            <p:cNvSpPr/>
            <p:nvPr/>
          </p:nvSpPr>
          <p:spPr>
            <a:xfrm>
              <a:off x="12353925" y="6610350"/>
              <a:ext cx="4705350" cy="895350"/>
            </a:xfrm>
            <a:prstGeom prst="roundRect">
              <a:avLst>
                <a:gd fmla="val 19149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12506325" y="6762750"/>
              <a:ext cx="4400550" cy="704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REVISAR LAS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PREVISIONES</a:t>
              </a: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2857500" y="7848600"/>
              <a:ext cx="14192250" cy="704850"/>
            </a:xfrm>
            <a:prstGeom prst="roundRect">
              <a:avLst>
                <a:gd fmla="val 27027" name="adj"/>
              </a:avLst>
            </a:prstGeom>
            <a:solidFill>
              <a:srgbClr val="F7F5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2857500" y="7943850"/>
              <a:ext cx="66675" cy="514350"/>
            </a:xfrm>
            <a:prstGeom prst="rect">
              <a:avLst/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3133725" y="8010525"/>
              <a:ext cx="13592175" cy="485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1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Las estimaciones pueden mejorar a medida que aprendemos del trabajo </a:t>
              </a:r>
              <a:r>
                <a:rPr b="1" lang="es-CO" sz="2175">
                  <a:solidFill>
                    <a:srgbClr val="3D2159"/>
                  </a:solidFill>
                </a:rPr>
                <a:t>previo. 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7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4" name="Google Shape;5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255359"/>
            <a:ext cx="2218494" cy="1790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5" name="Google Shape;505;p17"/>
          <p:cNvGraphicFramePr/>
          <p:nvPr/>
        </p:nvGraphicFramePr>
        <p:xfrm>
          <a:off x="2047875" y="289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{3E8544A8-0A6D-4153-ADB3-37228D6688B5}</a:tableStyleId>
              </a:tblPr>
              <a:tblGrid>
                <a:gridCol w="1504950"/>
                <a:gridCol w="3838575"/>
                <a:gridCol w="5419725"/>
              </a:tblGrid>
              <a:tr h="52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Prioridad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6409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Elemento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6409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¿Qué aporta?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6409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Consultar menú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Permite conocer la oferta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EB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Seleccionar productos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Hace posible construir el pedido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EB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Enviar pedido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Cumple la función principal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1EB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Confirmar pedido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 certeza al cliente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F0F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Guardar favoritos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Agrega comodidad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F0F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Personalizar perfil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950" u="none" cap="none" strike="noStrike">
                          <a:solidFill>
                            <a:srgbClr val="332F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Complementa la experiencia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grpSp>
        <p:nvGrpSpPr>
          <p:cNvPr id="506" name="Google Shape;506;p17"/>
          <p:cNvGrpSpPr/>
          <p:nvPr/>
        </p:nvGrpSpPr>
        <p:grpSpPr>
          <a:xfrm>
            <a:off x="1876425" y="847725"/>
            <a:ext cx="15621000" cy="8439150"/>
            <a:chOff x="1876425" y="847725"/>
            <a:chExt cx="15621000" cy="8439150"/>
          </a:xfrm>
        </p:grpSpPr>
        <p:sp>
          <p:nvSpPr>
            <p:cNvPr id="507" name="Google Shape;507;p17"/>
            <p:cNvSpPr/>
            <p:nvPr/>
          </p:nvSpPr>
          <p:spPr>
            <a:xfrm>
              <a:off x="1876425" y="847725"/>
              <a:ext cx="13049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Tema 1 · Product Backlog: organización dinámica del trabajo</a:t>
              </a:r>
              <a:endParaRPr/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1876425" y="1371600"/>
              <a:ext cx="15621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De una lista de deseos a un orden de trabajo</a:t>
              </a:r>
              <a:endParaRPr/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2905125" y="8943975"/>
              <a:ext cx="8239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Planeación y organización de proyectos ágiles</a:t>
              </a:r>
              <a:endParaRPr/>
            </a:p>
          </p:txBody>
        </p:sp>
        <p:sp>
          <p:nvSpPr>
            <p:cNvPr id="510" name="Google Shape;510;p17"/>
            <p:cNvSpPr/>
            <p:nvPr/>
          </p:nvSpPr>
          <p:spPr>
            <a:xfrm>
              <a:off x="11334750" y="8943975"/>
              <a:ext cx="1190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15 / 15</a:t>
              </a:r>
              <a:endParaRPr/>
            </a:p>
          </p:txBody>
        </p:sp>
        <p:sp>
          <p:nvSpPr>
            <p:cNvPr id="511" name="Google Shape;511;p17"/>
            <p:cNvSpPr/>
            <p:nvPr/>
          </p:nvSpPr>
          <p:spPr>
            <a:xfrm>
              <a:off x="13335000" y="3333750"/>
              <a:ext cx="36385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Más próximos</a:t>
              </a:r>
              <a:endParaRPr/>
            </a:p>
          </p:txBody>
        </p:sp>
        <p:sp>
          <p:nvSpPr>
            <p:cNvPr id="512" name="Google Shape;512;p17"/>
            <p:cNvSpPr/>
            <p:nvPr/>
          </p:nvSpPr>
          <p:spPr>
            <a:xfrm>
              <a:off x="13335000" y="3857625"/>
              <a:ext cx="363855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Necesitan mayor claridad</a:t>
              </a:r>
              <a:endParaRPr/>
            </a:p>
          </p:txBody>
        </p:sp>
        <p:sp>
          <p:nvSpPr>
            <p:cNvPr id="513" name="Google Shape;513;p17"/>
            <p:cNvSpPr/>
            <p:nvPr/>
          </p:nvSpPr>
          <p:spPr>
            <a:xfrm>
              <a:off x="13163550" y="3162300"/>
              <a:ext cx="953" cy="1295400"/>
            </a:xfrm>
            <a:custGeom>
              <a:rect b="b" l="l" r="r" t="t"/>
              <a:pathLst>
                <a:path extrusionOk="0" h="1295400" w="953">
                  <a:moveTo>
                    <a:pt x="0" y="0"/>
                  </a:moveTo>
                  <a:lnTo>
                    <a:pt x="0" y="129540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14" name="Google Shape;514;p17"/>
            <p:cNvSpPr/>
            <p:nvPr/>
          </p:nvSpPr>
          <p:spPr>
            <a:xfrm>
              <a:off x="13108752" y="4357392"/>
              <a:ext cx="54798" cy="100308"/>
            </a:xfrm>
            <a:custGeom>
              <a:rect b="b" l="l" r="r" t="t"/>
              <a:pathLst>
                <a:path extrusionOk="0" h="100308" w="54798">
                  <a:moveTo>
                    <a:pt x="54798" y="10030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15" name="Google Shape;515;p17"/>
            <p:cNvSpPr/>
            <p:nvPr/>
          </p:nvSpPr>
          <p:spPr>
            <a:xfrm>
              <a:off x="13163550" y="4357392"/>
              <a:ext cx="54798" cy="100308"/>
            </a:xfrm>
            <a:custGeom>
              <a:rect b="b" l="l" r="r" t="t"/>
              <a:pathLst>
                <a:path extrusionOk="0" h="100308" w="54798">
                  <a:moveTo>
                    <a:pt x="0" y="100308"/>
                  </a:moveTo>
                  <a:lnTo>
                    <a:pt x="54798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16" name="Google Shape;516;p17"/>
            <p:cNvSpPr/>
            <p:nvPr/>
          </p:nvSpPr>
          <p:spPr>
            <a:xfrm>
              <a:off x="13335000" y="4991100"/>
              <a:ext cx="36385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4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Más distantes</a:t>
              </a:r>
              <a:endParaRPr/>
            </a:p>
          </p:txBody>
        </p:sp>
        <p:sp>
          <p:nvSpPr>
            <p:cNvPr id="517" name="Google Shape;517;p17"/>
            <p:cNvSpPr/>
            <p:nvPr/>
          </p:nvSpPr>
          <p:spPr>
            <a:xfrm>
              <a:off x="13335000" y="5534025"/>
              <a:ext cx="3638550" cy="847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O" sz="2175" u="none" cap="none" strike="noStrike">
                  <a:solidFill>
                    <a:srgbClr val="332F37"/>
                  </a:solidFill>
                  <a:latin typeface="Arial"/>
                  <a:ea typeface="Arial"/>
                  <a:cs typeface="Arial"/>
                  <a:sym typeface="Arial"/>
                </a:rPr>
                <a:t>Pueden seguir evolucionando</a:t>
              </a:r>
              <a:endParaRPr/>
            </a:p>
          </p:txBody>
        </p:sp>
        <p:sp>
          <p:nvSpPr>
            <p:cNvPr id="518" name="Google Shape;518;p17"/>
            <p:cNvSpPr/>
            <p:nvPr/>
          </p:nvSpPr>
          <p:spPr>
            <a:xfrm>
              <a:off x="13163550" y="5067300"/>
              <a:ext cx="953" cy="1285875"/>
            </a:xfrm>
            <a:custGeom>
              <a:rect b="b" l="l" r="r" t="t"/>
              <a:pathLst>
                <a:path extrusionOk="0" h="1285875" w="953">
                  <a:moveTo>
                    <a:pt x="0" y="0"/>
                  </a:moveTo>
                  <a:lnTo>
                    <a:pt x="0" y="1285875"/>
                  </a:lnTo>
                </a:path>
              </a:pathLst>
            </a:custGeom>
            <a:noFill/>
            <a:ln cap="flat" cmpd="sng" w="285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19" name="Google Shape;519;p17"/>
            <p:cNvSpPr/>
            <p:nvPr/>
          </p:nvSpPr>
          <p:spPr>
            <a:xfrm>
              <a:off x="13108752" y="6252867"/>
              <a:ext cx="54798" cy="100308"/>
            </a:xfrm>
            <a:custGeom>
              <a:rect b="b" l="l" r="r" t="t"/>
              <a:pathLst>
                <a:path extrusionOk="0" h="100308" w="54798">
                  <a:moveTo>
                    <a:pt x="54798" y="10030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20" name="Google Shape;520;p17"/>
            <p:cNvSpPr/>
            <p:nvPr/>
          </p:nvSpPr>
          <p:spPr>
            <a:xfrm>
              <a:off x="13163550" y="6252867"/>
              <a:ext cx="54798" cy="100308"/>
            </a:xfrm>
            <a:custGeom>
              <a:rect b="b" l="l" r="r" t="t"/>
              <a:pathLst>
                <a:path extrusionOk="0" h="100308" w="54798">
                  <a:moveTo>
                    <a:pt x="0" y="100308"/>
                  </a:moveTo>
                  <a:lnTo>
                    <a:pt x="54798" y="0"/>
                  </a:lnTo>
                </a:path>
              </a:pathLst>
            </a:custGeom>
            <a:noFill/>
            <a:ln cap="flat" cmpd="sng" w="28575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21" name="Google Shape;521;p17"/>
            <p:cNvSpPr/>
            <p:nvPr/>
          </p:nvSpPr>
          <p:spPr>
            <a:xfrm>
              <a:off x="2066925" y="6867525"/>
              <a:ext cx="1000125" cy="619125"/>
            </a:xfrm>
            <a:prstGeom prst="roundRect">
              <a:avLst>
                <a:gd fmla="val 2769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7"/>
            <p:cNvSpPr/>
            <p:nvPr/>
          </p:nvSpPr>
          <p:spPr>
            <a:xfrm>
              <a:off x="2219325" y="7019925"/>
              <a:ext cx="695325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META</a:t>
              </a:r>
              <a:endParaRPr/>
            </a:p>
          </p:txBody>
        </p:sp>
        <p:sp>
          <p:nvSpPr>
            <p:cNvPr id="523" name="Google Shape;523;p17"/>
            <p:cNvSpPr/>
            <p:nvPr/>
          </p:nvSpPr>
          <p:spPr>
            <a:xfrm>
              <a:off x="3114675" y="7172325"/>
              <a:ext cx="190500" cy="953"/>
            </a:xfrm>
            <a:custGeom>
              <a:rect b="b" l="l" r="r" t="t"/>
              <a:pathLst>
                <a:path extrusionOk="0" h="953" w="190500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24" name="Google Shape;524;p17"/>
            <p:cNvSpPr/>
            <p:nvPr/>
          </p:nvSpPr>
          <p:spPr>
            <a:xfrm>
              <a:off x="3204867" y="7172325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25" name="Google Shape;525;p17"/>
            <p:cNvSpPr/>
            <p:nvPr/>
          </p:nvSpPr>
          <p:spPr>
            <a:xfrm>
              <a:off x="3204867" y="7117527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26" name="Google Shape;526;p17"/>
            <p:cNvSpPr/>
            <p:nvPr/>
          </p:nvSpPr>
          <p:spPr>
            <a:xfrm>
              <a:off x="3352800" y="6867525"/>
              <a:ext cx="2305050" cy="619125"/>
            </a:xfrm>
            <a:prstGeom prst="roundRect">
              <a:avLst>
                <a:gd fmla="val 2769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7"/>
            <p:cNvSpPr/>
            <p:nvPr/>
          </p:nvSpPr>
          <p:spPr>
            <a:xfrm>
              <a:off x="3505200" y="7019925"/>
              <a:ext cx="2000250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REQUERIMIENTOS</a:t>
              </a:r>
              <a:endParaRPr/>
            </a:p>
          </p:txBody>
        </p:sp>
        <p:sp>
          <p:nvSpPr>
            <p:cNvPr id="528" name="Google Shape;528;p17"/>
            <p:cNvSpPr/>
            <p:nvPr/>
          </p:nvSpPr>
          <p:spPr>
            <a:xfrm>
              <a:off x="5705475" y="7172325"/>
              <a:ext cx="190500" cy="953"/>
            </a:xfrm>
            <a:custGeom>
              <a:rect b="b" l="l" r="r" t="t"/>
              <a:pathLst>
                <a:path extrusionOk="0" h="953" w="190500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29" name="Google Shape;529;p17"/>
            <p:cNvSpPr/>
            <p:nvPr/>
          </p:nvSpPr>
          <p:spPr>
            <a:xfrm>
              <a:off x="5795667" y="7172325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30" name="Google Shape;530;p17"/>
            <p:cNvSpPr/>
            <p:nvPr/>
          </p:nvSpPr>
          <p:spPr>
            <a:xfrm>
              <a:off x="5795667" y="7117527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31" name="Google Shape;531;p17"/>
            <p:cNvSpPr/>
            <p:nvPr/>
          </p:nvSpPr>
          <p:spPr>
            <a:xfrm>
              <a:off x="5943600" y="6867525"/>
              <a:ext cx="1714500" cy="619125"/>
            </a:xfrm>
            <a:prstGeom prst="roundRect">
              <a:avLst>
                <a:gd fmla="val 2769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7"/>
            <p:cNvSpPr/>
            <p:nvPr/>
          </p:nvSpPr>
          <p:spPr>
            <a:xfrm>
              <a:off x="6096000" y="7019925"/>
              <a:ext cx="14097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PRIORIDADES</a:t>
              </a:r>
              <a:endParaRPr/>
            </a:p>
          </p:txBody>
        </p:sp>
        <p:sp>
          <p:nvSpPr>
            <p:cNvPr id="533" name="Google Shape;533;p17"/>
            <p:cNvSpPr/>
            <p:nvPr/>
          </p:nvSpPr>
          <p:spPr>
            <a:xfrm>
              <a:off x="7705725" y="7172325"/>
              <a:ext cx="190500" cy="953"/>
            </a:xfrm>
            <a:custGeom>
              <a:rect b="b" l="l" r="r" t="t"/>
              <a:pathLst>
                <a:path extrusionOk="0" h="953" w="190500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34" name="Google Shape;534;p17"/>
            <p:cNvSpPr/>
            <p:nvPr/>
          </p:nvSpPr>
          <p:spPr>
            <a:xfrm>
              <a:off x="7795917" y="7172325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35" name="Google Shape;535;p17"/>
            <p:cNvSpPr/>
            <p:nvPr/>
          </p:nvSpPr>
          <p:spPr>
            <a:xfrm>
              <a:off x="7795917" y="7117527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36" name="Google Shape;536;p17"/>
            <p:cNvSpPr/>
            <p:nvPr/>
          </p:nvSpPr>
          <p:spPr>
            <a:xfrm>
              <a:off x="7943850" y="6867525"/>
              <a:ext cx="1609725" cy="619125"/>
            </a:xfrm>
            <a:prstGeom prst="roundRect">
              <a:avLst>
                <a:gd fmla="val 2769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7"/>
            <p:cNvSpPr/>
            <p:nvPr/>
          </p:nvSpPr>
          <p:spPr>
            <a:xfrm>
              <a:off x="8096250" y="7019925"/>
              <a:ext cx="1304925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CAPACIDAD</a:t>
              </a:r>
              <a:endParaRPr/>
            </a:p>
          </p:txBody>
        </p:sp>
        <p:sp>
          <p:nvSpPr>
            <p:cNvPr id="538" name="Google Shape;538;p17"/>
            <p:cNvSpPr/>
            <p:nvPr/>
          </p:nvSpPr>
          <p:spPr>
            <a:xfrm>
              <a:off x="9601200" y="7172325"/>
              <a:ext cx="190500" cy="953"/>
            </a:xfrm>
            <a:custGeom>
              <a:rect b="b" l="l" r="r" t="t"/>
              <a:pathLst>
                <a:path extrusionOk="0" h="953" w="190500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39" name="Google Shape;539;p17"/>
            <p:cNvSpPr/>
            <p:nvPr/>
          </p:nvSpPr>
          <p:spPr>
            <a:xfrm>
              <a:off x="9691392" y="7172325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40" name="Google Shape;540;p17"/>
            <p:cNvSpPr/>
            <p:nvPr/>
          </p:nvSpPr>
          <p:spPr>
            <a:xfrm>
              <a:off x="9691392" y="7117527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41" name="Google Shape;541;p17"/>
            <p:cNvSpPr/>
            <p:nvPr/>
          </p:nvSpPr>
          <p:spPr>
            <a:xfrm>
              <a:off x="9839325" y="6867525"/>
              <a:ext cx="2667000" cy="619125"/>
            </a:xfrm>
            <a:prstGeom prst="roundRect">
              <a:avLst>
                <a:gd fmla="val 2769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7"/>
            <p:cNvSpPr/>
            <p:nvPr/>
          </p:nvSpPr>
          <p:spPr>
            <a:xfrm>
              <a:off x="9991725" y="7019925"/>
              <a:ext cx="23622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RESPONSABILIDADES</a:t>
              </a:r>
              <a:endParaRPr/>
            </a:p>
          </p:txBody>
        </p:sp>
        <p:sp>
          <p:nvSpPr>
            <p:cNvPr id="543" name="Google Shape;543;p17"/>
            <p:cNvSpPr/>
            <p:nvPr/>
          </p:nvSpPr>
          <p:spPr>
            <a:xfrm>
              <a:off x="12553950" y="7172325"/>
              <a:ext cx="190500" cy="953"/>
            </a:xfrm>
            <a:custGeom>
              <a:rect b="b" l="l" r="r" t="t"/>
              <a:pathLst>
                <a:path extrusionOk="0" h="953" w="190500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44" name="Google Shape;544;p17"/>
            <p:cNvSpPr/>
            <p:nvPr/>
          </p:nvSpPr>
          <p:spPr>
            <a:xfrm>
              <a:off x="12644142" y="7172325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45" name="Google Shape;545;p17"/>
            <p:cNvSpPr/>
            <p:nvPr/>
          </p:nvSpPr>
          <p:spPr>
            <a:xfrm>
              <a:off x="12644142" y="7117527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46" name="Google Shape;546;p17"/>
            <p:cNvSpPr/>
            <p:nvPr/>
          </p:nvSpPr>
          <p:spPr>
            <a:xfrm>
              <a:off x="12792075" y="6867525"/>
              <a:ext cx="1047750" cy="619125"/>
            </a:xfrm>
            <a:prstGeom prst="roundRect">
              <a:avLst>
                <a:gd fmla="val 2769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7"/>
            <p:cNvSpPr/>
            <p:nvPr/>
          </p:nvSpPr>
          <p:spPr>
            <a:xfrm>
              <a:off x="12944475" y="7019925"/>
              <a:ext cx="742950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TIEMPO</a:t>
              </a:r>
              <a:endParaRPr/>
            </a:p>
          </p:txBody>
        </p:sp>
        <p:sp>
          <p:nvSpPr>
            <p:cNvPr id="548" name="Google Shape;548;p17"/>
            <p:cNvSpPr/>
            <p:nvPr/>
          </p:nvSpPr>
          <p:spPr>
            <a:xfrm>
              <a:off x="13887450" y="7172325"/>
              <a:ext cx="190500" cy="953"/>
            </a:xfrm>
            <a:custGeom>
              <a:rect b="b" l="l" r="r" t="t"/>
              <a:pathLst>
                <a:path extrusionOk="0" h="953" w="190500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49" name="Google Shape;549;p17"/>
            <p:cNvSpPr/>
            <p:nvPr/>
          </p:nvSpPr>
          <p:spPr>
            <a:xfrm>
              <a:off x="13977642" y="7172325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0"/>
                  </a:moveTo>
                  <a:lnTo>
                    <a:pt x="0" y="54798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50" name="Google Shape;550;p17"/>
            <p:cNvSpPr/>
            <p:nvPr/>
          </p:nvSpPr>
          <p:spPr>
            <a:xfrm>
              <a:off x="13977642" y="7117527"/>
              <a:ext cx="100308" cy="54798"/>
            </a:xfrm>
            <a:custGeom>
              <a:rect b="b" l="l" r="r" t="t"/>
              <a:pathLst>
                <a:path extrusionOk="0" h="54798" w="100308">
                  <a:moveTo>
                    <a:pt x="100308" y="54798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66409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51" name="Google Shape;551;p17"/>
            <p:cNvSpPr/>
            <p:nvPr/>
          </p:nvSpPr>
          <p:spPr>
            <a:xfrm>
              <a:off x="14125575" y="6867525"/>
              <a:ext cx="2524125" cy="619125"/>
            </a:xfrm>
            <a:prstGeom prst="roundRect">
              <a:avLst>
                <a:gd fmla="val 27692" name="adj"/>
              </a:avLst>
            </a:prstGeom>
            <a:solidFill>
              <a:srgbClr val="F1EB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7"/>
            <p:cNvSpPr/>
            <p:nvPr/>
          </p:nvSpPr>
          <p:spPr>
            <a:xfrm>
              <a:off x="14277975" y="7019925"/>
              <a:ext cx="2219325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00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PRODUCT BACKLOG</a:t>
              </a:r>
              <a:endParaRPr/>
            </a:p>
          </p:txBody>
        </p:sp>
        <p:sp>
          <p:nvSpPr>
            <p:cNvPr id="553" name="Google Shape;553;p17"/>
            <p:cNvSpPr/>
            <p:nvPr/>
          </p:nvSpPr>
          <p:spPr>
            <a:xfrm>
              <a:off x="16783050" y="7562850"/>
              <a:ext cx="953" cy="180975"/>
            </a:xfrm>
            <a:custGeom>
              <a:rect b="b" l="l" r="r" t="t"/>
              <a:pathLst>
                <a:path extrusionOk="0" h="180975" w="953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/>
            <a:ln cap="flat" cmpd="sng" w="19050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54" name="Google Shape;554;p17"/>
            <p:cNvSpPr/>
            <p:nvPr/>
          </p:nvSpPr>
          <p:spPr>
            <a:xfrm>
              <a:off x="2266950" y="7743825"/>
              <a:ext cx="14516100" cy="953"/>
            </a:xfrm>
            <a:custGeom>
              <a:rect b="b" l="l" r="r" t="t"/>
              <a:pathLst>
                <a:path extrusionOk="0" h="953" w="14516100">
                  <a:moveTo>
                    <a:pt x="1451610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55" name="Google Shape;555;p17"/>
            <p:cNvSpPr/>
            <p:nvPr/>
          </p:nvSpPr>
          <p:spPr>
            <a:xfrm>
              <a:off x="2266950" y="7562850"/>
              <a:ext cx="953" cy="180975"/>
            </a:xfrm>
            <a:custGeom>
              <a:rect b="b" l="l" r="r" t="t"/>
              <a:pathLst>
                <a:path extrusionOk="0" h="180975" w="953">
                  <a:moveTo>
                    <a:pt x="0" y="18097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56" name="Google Shape;556;p17"/>
            <p:cNvSpPr/>
            <p:nvPr/>
          </p:nvSpPr>
          <p:spPr>
            <a:xfrm>
              <a:off x="2266950" y="7562850"/>
              <a:ext cx="54798" cy="100308"/>
            </a:xfrm>
            <a:custGeom>
              <a:rect b="b" l="l" r="r" t="t"/>
              <a:pathLst>
                <a:path extrusionOk="0" h="100308" w="54798">
                  <a:moveTo>
                    <a:pt x="0" y="0"/>
                  </a:moveTo>
                  <a:lnTo>
                    <a:pt x="54798" y="100308"/>
                  </a:lnTo>
                </a:path>
              </a:pathLst>
            </a:custGeom>
            <a:noFill/>
            <a:ln cap="flat" cmpd="sng" w="19050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57" name="Google Shape;557;p17"/>
            <p:cNvSpPr/>
            <p:nvPr/>
          </p:nvSpPr>
          <p:spPr>
            <a:xfrm>
              <a:off x="2212152" y="7562850"/>
              <a:ext cx="54798" cy="100308"/>
            </a:xfrm>
            <a:custGeom>
              <a:rect b="b" l="l" r="r" t="t"/>
              <a:pathLst>
                <a:path extrusionOk="0" h="100308" w="54798">
                  <a:moveTo>
                    <a:pt x="54798" y="0"/>
                  </a:moveTo>
                  <a:lnTo>
                    <a:pt x="0" y="100308"/>
                  </a:lnTo>
                </a:path>
              </a:pathLst>
            </a:custGeom>
            <a:noFill/>
            <a:ln cap="flat" cmpd="sng" w="19050">
              <a:solidFill>
                <a:srgbClr val="4478F5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558" name="Google Shape;558;p17"/>
            <p:cNvSpPr/>
            <p:nvPr/>
          </p:nvSpPr>
          <p:spPr>
            <a:xfrm>
              <a:off x="7848600" y="7591425"/>
              <a:ext cx="3619500" cy="323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7"/>
            <p:cNvSpPr/>
            <p:nvPr/>
          </p:nvSpPr>
          <p:spPr>
            <a:xfrm>
              <a:off x="7848600" y="7591425"/>
              <a:ext cx="3619500" cy="352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4478F5"/>
                  </a:solidFill>
                  <a:latin typeface="Arial"/>
                  <a:ea typeface="Arial"/>
                  <a:cs typeface="Arial"/>
                  <a:sym typeface="Arial"/>
                </a:rPr>
                <a:t>NUEVA INFORMACIÓN</a:t>
              </a:r>
              <a:endParaRPr/>
            </a:p>
          </p:txBody>
        </p:sp>
        <p:sp>
          <p:nvSpPr>
            <p:cNvPr id="560" name="Google Shape;560;p17"/>
            <p:cNvSpPr/>
            <p:nvPr/>
          </p:nvSpPr>
          <p:spPr>
            <a:xfrm>
              <a:off x="2943225" y="7934325"/>
              <a:ext cx="14192250" cy="485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202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El Product Backlog hace visible qué atenderemos primero sin pretender definirlo todo desde el comienzo.</a:t>
              </a:r>
              <a:endParaRPr/>
            </a:p>
          </p:txBody>
        </p:sp>
        <p:sp>
          <p:nvSpPr>
            <p:cNvPr id="561" name="Google Shape;561;p17"/>
            <p:cNvSpPr/>
            <p:nvPr/>
          </p:nvSpPr>
          <p:spPr>
            <a:xfrm>
              <a:off x="5715000" y="8429625"/>
              <a:ext cx="6858000" cy="457200"/>
            </a:xfrm>
            <a:prstGeom prst="roundRect">
              <a:avLst>
                <a:gd fmla="val 37500" name="adj"/>
              </a:avLst>
            </a:prstGeom>
            <a:solidFill>
              <a:srgbClr val="FFD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7"/>
            <p:cNvSpPr/>
            <p:nvPr/>
          </p:nvSpPr>
          <p:spPr>
            <a:xfrm>
              <a:off x="5867400" y="8582025"/>
              <a:ext cx="6553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650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Ahora decidamos: ¿qué debería ir primero?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7"/>
          <p:cNvSpPr/>
          <p:nvPr/>
        </p:nvSpPr>
        <p:spPr>
          <a:xfrm>
            <a:off x="1586214" y="856420"/>
            <a:ext cx="105833" cy="1270000"/>
          </a:xfrm>
          <a:prstGeom prst="roundRect">
            <a:avLst>
              <a:gd fmla="val 50000" name="adj"/>
            </a:avLst>
          </a:prstGeom>
          <a:solidFill>
            <a:srgbClr val="6640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4" name="Google Shape;50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77256" y="2240280"/>
            <a:ext cx="2218494" cy="17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6" name="Google Shape;506;p17"/>
          <p:cNvGrpSpPr/>
          <p:nvPr/>
        </p:nvGrpSpPr>
        <p:grpSpPr>
          <a:xfrm>
            <a:off x="1876425" y="847725"/>
            <a:ext cx="15621000" cy="8439150"/>
            <a:chOff x="1876425" y="847725"/>
            <a:chExt cx="15621000" cy="8439150"/>
          </a:xfrm>
        </p:grpSpPr>
        <p:sp>
          <p:nvSpPr>
            <p:cNvPr id="507" name="Google Shape;507;p17"/>
            <p:cNvSpPr/>
            <p:nvPr/>
          </p:nvSpPr>
          <p:spPr>
            <a:xfrm>
              <a:off x="1876425" y="847725"/>
              <a:ext cx="130492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575" u="none" cap="none" strike="noStrike">
                  <a:solidFill>
                    <a:srgbClr val="664092"/>
                  </a:solidFill>
                  <a:latin typeface="Arial"/>
                  <a:ea typeface="Arial"/>
                  <a:cs typeface="Arial"/>
                  <a:sym typeface="Arial"/>
                </a:rPr>
                <a:t>CRÉDITOS · DEL OBJETIVO AL BACKLOG</a:t>
              </a:r>
              <a:endParaRPr/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1876425" y="1371600"/>
              <a:ext cx="15621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3975" u="none" cap="none" strike="noStrike">
                  <a:solidFill>
                    <a:srgbClr val="3D2159"/>
                  </a:solidFill>
                  <a:latin typeface="Arial"/>
                  <a:ea typeface="Arial"/>
                  <a:cs typeface="Arial"/>
                  <a:sym typeface="Arial"/>
                </a:rPr>
                <a:t>Créditos de producción y postproducción</a:t>
              </a:r>
              <a:endParaRPr/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2905125" y="8943975"/>
              <a:ext cx="82391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CO" sz="1350" u="none" cap="none" strike="noStrike">
                  <a:solidFill>
                    <a:srgbClr val="756F79"/>
                  </a:solidFill>
                  <a:latin typeface="Arial"/>
                  <a:ea typeface="Arial"/>
                  <a:cs typeface="Arial"/>
                  <a:sym typeface="Arial"/>
                </a:rPr>
                <a:t>Planeación y organización de proyectos ágiles</a:t>
              </a:r>
              <a:endParaRPr/>
            </a:p>
          </p:txBody>
        </p:sp>
      </p:grpSp>
      <p:pic>
        <p:nvPicPr>
          <p:cNvPr id="170" name="Google Shape;170;h208d67e2cfb85eb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256" y="2934212"/>
            <a:ext cx="2218494" cy="17903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h208d67e2cfb85eb7_0_0"/>
          <p:cNvSpPr/>
          <p:nvPr/>
        </p:nvSpPr>
        <p:spPr>
          <a:xfrm>
            <a:off x="1874519" y="2697480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h208d67e2cfb85eb7_0_0"/>
          <p:cNvSpPr/>
          <p:nvPr/>
        </p:nvSpPr>
        <p:spPr>
          <a:xfrm>
            <a:off x="1874519" y="2697480"/>
            <a:ext cx="91500" cy="91440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h208d67e2cfb85eb7_0_0"/>
          <p:cNvSpPr txBox="1"/>
          <p:nvPr/>
        </p:nvSpPr>
        <p:spPr>
          <a:xfrm>
            <a:off x="2194560" y="2788920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Coordinación general</a:t>
            </a:r>
            <a:endParaRPr/>
          </a:p>
        </p:txBody>
      </p:sp>
      <p:sp>
        <p:nvSpPr>
          <p:cNvPr id="174" name="Google Shape;174;h208d67e2cfb85eb7_0_0"/>
          <p:cNvSpPr txBox="1"/>
          <p:nvPr/>
        </p:nvSpPr>
        <p:spPr>
          <a:xfrm>
            <a:off x="2194560" y="3154680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Luz Dary Morales Galvis</a:t>
            </a:r>
            <a:endParaRPr/>
          </a:p>
        </p:txBody>
      </p:sp>
      <p:sp>
        <p:nvSpPr>
          <p:cNvPr id="175" name="Google Shape;175;h208d67e2cfb85eb7_0_0"/>
          <p:cNvSpPr/>
          <p:nvPr/>
        </p:nvSpPr>
        <p:spPr>
          <a:xfrm>
            <a:off x="9825227" y="2697480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h208d67e2cfb85eb7_0_0"/>
          <p:cNvSpPr/>
          <p:nvPr/>
        </p:nvSpPr>
        <p:spPr>
          <a:xfrm>
            <a:off x="9825227" y="2697480"/>
            <a:ext cx="91500" cy="91440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208d67e2cfb85eb7_0_0"/>
          <p:cNvSpPr txBox="1"/>
          <p:nvPr/>
        </p:nvSpPr>
        <p:spPr>
          <a:xfrm>
            <a:off x="10145267" y="2788920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Experto temático</a:t>
            </a:r>
            <a:endParaRPr/>
          </a:p>
        </p:txBody>
      </p:sp>
      <p:sp>
        <p:nvSpPr>
          <p:cNvPr id="178" name="Google Shape;178;h208d67e2cfb85eb7_0_0"/>
          <p:cNvSpPr txBox="1"/>
          <p:nvPr/>
        </p:nvSpPr>
        <p:spPr>
          <a:xfrm>
            <a:off x="10145267" y="3154680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Diana María Velázquez García</a:t>
            </a:r>
            <a:endParaRPr/>
          </a:p>
        </p:txBody>
      </p:sp>
      <p:sp>
        <p:nvSpPr>
          <p:cNvPr id="179" name="Google Shape;179;h208d67e2cfb85eb7_0_0"/>
          <p:cNvSpPr/>
          <p:nvPr/>
        </p:nvSpPr>
        <p:spPr>
          <a:xfrm>
            <a:off x="1874519" y="3776472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h208d67e2cfb85eb7_0_0"/>
          <p:cNvSpPr/>
          <p:nvPr/>
        </p:nvSpPr>
        <p:spPr>
          <a:xfrm>
            <a:off x="1874519" y="3776472"/>
            <a:ext cx="91500" cy="91440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h208d67e2cfb85eb7_0_0"/>
          <p:cNvSpPr txBox="1"/>
          <p:nvPr/>
        </p:nvSpPr>
        <p:spPr>
          <a:xfrm>
            <a:off x="2194560" y="3867911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Diseñador de la experiencia virtual de aprendizaje</a:t>
            </a:r>
            <a:endParaRPr/>
          </a:p>
        </p:txBody>
      </p:sp>
      <p:sp>
        <p:nvSpPr>
          <p:cNvPr id="182" name="Google Shape;182;h208d67e2cfb85eb7_0_0"/>
          <p:cNvSpPr txBox="1"/>
          <p:nvPr/>
        </p:nvSpPr>
        <p:spPr>
          <a:xfrm>
            <a:off x="2194560" y="4233672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Julieta Márquez Gutiérrez</a:t>
            </a:r>
            <a:endParaRPr/>
          </a:p>
        </p:txBody>
      </p:sp>
      <p:sp>
        <p:nvSpPr>
          <p:cNvPr id="183" name="Google Shape;183;h208d67e2cfb85eb7_0_0"/>
          <p:cNvSpPr/>
          <p:nvPr/>
        </p:nvSpPr>
        <p:spPr>
          <a:xfrm>
            <a:off x="9825227" y="3776472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h208d67e2cfb85eb7_0_0"/>
          <p:cNvSpPr/>
          <p:nvPr/>
        </p:nvSpPr>
        <p:spPr>
          <a:xfrm>
            <a:off x="9825227" y="3776472"/>
            <a:ext cx="91500" cy="91440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h208d67e2cfb85eb7_0_0"/>
          <p:cNvSpPr txBox="1"/>
          <p:nvPr/>
        </p:nvSpPr>
        <p:spPr>
          <a:xfrm>
            <a:off x="10145267" y="3867911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Corrección de estilo</a:t>
            </a:r>
            <a:endParaRPr/>
          </a:p>
        </p:txBody>
      </p:sp>
      <p:sp>
        <p:nvSpPr>
          <p:cNvPr id="186" name="Google Shape;186;h208d67e2cfb85eb7_0_0"/>
          <p:cNvSpPr txBox="1"/>
          <p:nvPr/>
        </p:nvSpPr>
        <p:spPr>
          <a:xfrm>
            <a:off x="10145267" y="4233672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Julieta Márquez Gutiérrez y Sergio Andrés Ocampo Rivera</a:t>
            </a:r>
            <a:endParaRPr/>
          </a:p>
        </p:txBody>
      </p:sp>
      <p:sp>
        <p:nvSpPr>
          <p:cNvPr id="187" name="Google Shape;187;h208d67e2cfb85eb7_0_0"/>
          <p:cNvSpPr/>
          <p:nvPr/>
        </p:nvSpPr>
        <p:spPr>
          <a:xfrm>
            <a:off x="1874519" y="4855464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h208d67e2cfb85eb7_0_0"/>
          <p:cNvSpPr/>
          <p:nvPr/>
        </p:nvSpPr>
        <p:spPr>
          <a:xfrm>
            <a:off x="1874519" y="4855464"/>
            <a:ext cx="91500" cy="914400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h208d67e2cfb85eb7_0_0"/>
          <p:cNvSpPr txBox="1"/>
          <p:nvPr/>
        </p:nvSpPr>
        <p:spPr>
          <a:xfrm>
            <a:off x="2194560" y="4946904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Validación pedagógica</a:t>
            </a:r>
            <a:endParaRPr/>
          </a:p>
        </p:txBody>
      </p:sp>
      <p:sp>
        <p:nvSpPr>
          <p:cNvPr id="190" name="Google Shape;190;h208d67e2cfb85eb7_0_0"/>
          <p:cNvSpPr txBox="1"/>
          <p:nvPr/>
        </p:nvSpPr>
        <p:spPr>
          <a:xfrm>
            <a:off x="2194560" y="5312664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Sandra Patricia Hoyos Sepúlveda</a:t>
            </a:r>
            <a:endParaRPr/>
          </a:p>
        </p:txBody>
      </p:sp>
      <p:sp>
        <p:nvSpPr>
          <p:cNvPr id="191" name="Google Shape;191;h208d67e2cfb85eb7_0_0"/>
          <p:cNvSpPr/>
          <p:nvPr/>
        </p:nvSpPr>
        <p:spPr>
          <a:xfrm>
            <a:off x="9825227" y="4855464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h208d67e2cfb85eb7_0_0"/>
          <p:cNvSpPr/>
          <p:nvPr/>
        </p:nvSpPr>
        <p:spPr>
          <a:xfrm>
            <a:off x="9825227" y="4855464"/>
            <a:ext cx="91500" cy="914400"/>
          </a:xfrm>
          <a:prstGeom prst="rect">
            <a:avLst/>
          </a:prstGeom>
          <a:solidFill>
            <a:srgbClr val="A719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h208d67e2cfb85eb7_0_0"/>
          <p:cNvSpPr txBox="1"/>
          <p:nvPr/>
        </p:nvSpPr>
        <p:spPr>
          <a:xfrm>
            <a:off x="10145267" y="4946904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Diseño gráfico</a:t>
            </a:r>
            <a:endParaRPr/>
          </a:p>
        </p:txBody>
      </p:sp>
      <p:sp>
        <p:nvSpPr>
          <p:cNvPr id="194" name="Google Shape;194;h208d67e2cfb85eb7_0_0"/>
          <p:cNvSpPr txBox="1"/>
          <p:nvPr/>
        </p:nvSpPr>
        <p:spPr>
          <a:xfrm>
            <a:off x="10145267" y="5312664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Andrea Valentina Roa Orozco</a:t>
            </a:r>
            <a:endParaRPr/>
          </a:p>
        </p:txBody>
      </p:sp>
      <p:sp>
        <p:nvSpPr>
          <p:cNvPr id="195" name="Google Shape;195;h208d67e2cfb85eb7_0_0"/>
          <p:cNvSpPr/>
          <p:nvPr/>
        </p:nvSpPr>
        <p:spPr>
          <a:xfrm>
            <a:off x="1874519" y="5934456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h208d67e2cfb85eb7_0_0"/>
          <p:cNvSpPr/>
          <p:nvPr/>
        </p:nvSpPr>
        <p:spPr>
          <a:xfrm>
            <a:off x="1874519" y="5934456"/>
            <a:ext cx="91500" cy="914400"/>
          </a:xfrm>
          <a:prstGeom prst="rect">
            <a:avLst/>
          </a:prstGeom>
          <a:solidFill>
            <a:srgbClr val="2A56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h208d67e2cfb85eb7_0_0"/>
          <p:cNvSpPr txBox="1"/>
          <p:nvPr/>
        </p:nvSpPr>
        <p:spPr>
          <a:xfrm>
            <a:off x="2194560" y="6025896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Desarrollo </a:t>
            </a:r>
            <a:r>
              <a:rPr b="1" lang="es-MX" sz="1300">
                <a:solidFill>
                  <a:srgbClr val="2A56C6"/>
                </a:solidFill>
              </a:rPr>
              <a:t>d</a:t>
            </a:r>
            <a:r>
              <a:rPr b="1" i="0" lang="es-MX" sz="1300" u="none" cap="none" strike="noStrike">
                <a:solidFill>
                  <a:srgbClr val="2A56C6"/>
                </a:solidFill>
                <a:latin typeface="Arial"/>
                <a:ea typeface="Arial"/>
                <a:cs typeface="Arial"/>
                <a:sym typeface="Arial"/>
              </a:rPr>
              <a:t>e interactivos</a:t>
            </a:r>
            <a:endParaRPr/>
          </a:p>
        </p:txBody>
      </p:sp>
      <p:sp>
        <p:nvSpPr>
          <p:cNvPr id="198" name="Google Shape;198;h208d67e2cfb85eb7_0_0"/>
          <p:cNvSpPr txBox="1"/>
          <p:nvPr/>
        </p:nvSpPr>
        <p:spPr>
          <a:xfrm>
            <a:off x="2194560" y="6391656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Paola Andrea Quintero Aguilar</a:t>
            </a:r>
            <a:endParaRPr/>
          </a:p>
        </p:txBody>
      </p:sp>
      <p:sp>
        <p:nvSpPr>
          <p:cNvPr id="199" name="Google Shape;199;h208d67e2cfb85eb7_0_0"/>
          <p:cNvSpPr/>
          <p:nvPr/>
        </p:nvSpPr>
        <p:spPr>
          <a:xfrm>
            <a:off x="9825227" y="5934456"/>
            <a:ext cx="7630800" cy="914400"/>
          </a:xfrm>
          <a:prstGeom prst="roundRect">
            <a:avLst>
              <a:gd fmla="val 12000" name="adj"/>
            </a:avLst>
          </a:prstGeom>
          <a:solidFill>
            <a:srgbClr val="F5F3FA"/>
          </a:solidFill>
          <a:ln cap="flat" cmpd="sng" w="12700">
            <a:solidFill>
              <a:srgbClr val="D8D2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h208d67e2cfb85eb7_0_0"/>
          <p:cNvSpPr/>
          <p:nvPr/>
        </p:nvSpPr>
        <p:spPr>
          <a:xfrm>
            <a:off x="9825227" y="5934456"/>
            <a:ext cx="91500" cy="914400"/>
          </a:xfrm>
          <a:prstGeom prst="rect">
            <a:avLst/>
          </a:prstGeom>
          <a:solidFill>
            <a:srgbClr val="3D21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208d67e2cfb85eb7_0_0"/>
          <p:cNvSpPr txBox="1"/>
          <p:nvPr/>
        </p:nvSpPr>
        <p:spPr>
          <a:xfrm>
            <a:off x="10145267" y="6025896"/>
            <a:ext cx="7082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Disposición y ensamble</a:t>
            </a:r>
            <a:endParaRPr/>
          </a:p>
        </p:txBody>
      </p:sp>
      <p:sp>
        <p:nvSpPr>
          <p:cNvPr id="202" name="Google Shape;202;h208d67e2cfb85eb7_0_0"/>
          <p:cNvSpPr txBox="1"/>
          <p:nvPr/>
        </p:nvSpPr>
        <p:spPr>
          <a:xfrm>
            <a:off x="10145267" y="6391656"/>
            <a:ext cx="708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Samayda Herrera Betancur</a:t>
            </a:r>
            <a:endParaRPr/>
          </a:p>
        </p:txBody>
      </p:sp>
      <p:sp>
        <p:nvSpPr>
          <p:cNvPr id="203" name="Google Shape;203;h208d67e2cfb85eb7_0_0"/>
          <p:cNvSpPr txBox="1"/>
          <p:nvPr/>
        </p:nvSpPr>
        <p:spPr>
          <a:xfrm>
            <a:off x="1874519" y="7059168"/>
            <a:ext cx="1558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MX" sz="1200" u="none" cap="none" strike="noStrike">
                <a:solidFill>
                  <a:srgbClr val="6B6570"/>
                </a:solidFill>
                <a:latin typeface="Arial"/>
                <a:ea typeface="Arial"/>
                <a:cs typeface="Arial"/>
                <a:sym typeface="Arial"/>
              </a:rPr>
              <a:t>Proyecto C.I. 278 de 2026 · @Medellín — SAPIENCIA · Última actualización: octubre de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2026-08-27T19:14:18Z</dcterms:created>
  <dc:creator>Walnut Exporter</dc:creator>
</cp:coreProperties>
</file>