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2"/>
  </p:sldIdLst>
  <p:sldSz cy="10934700" cx="19050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3444">
          <p15:clr>
            <a:srgbClr val="A4A3A4"/>
          </p15:clr>
        </p15:guide>
        <p15:guide id="2" pos="5002">
          <p15:clr>
            <a:srgbClr val="000000"/>
          </p15:clr>
        </p15:guide>
      </p15:sldGuideLst>
    </p:ext>
    <p:ext uri="GoogleSlidesCustomDataVersion2">
      <go:slidesCustomData xmlns:go="http://customooxmlschemas.google.com/" r:id="rId21" roundtripDataSignature="AMtx7mg+DfJjtGjJvNw1yGnKn3Uv0ZGE3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444" orient="horz"/>
        <p:guide pos="5002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customschemas.google.com/relationships/presentationmetadata" Target="metadata"/><Relationship Id="rId22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249453" y="0"/>
            <a:ext cx="25011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8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33"/>
              <a:buFont typeface="Arial"/>
              <a:buNone/>
            </a:pPr>
            <a:r>
              <a:t/>
            </a:r>
            <a:endParaRPr b="0" i="0" sz="2833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" name="Google Shape;15;p1:notes"/>
          <p:cNvSpPr/>
          <p:nvPr>
            <p:ph idx="2" type="sldImg"/>
          </p:nvPr>
        </p:nvSpPr>
        <p:spPr>
          <a:xfrm>
            <a:off x="-1112838" y="0"/>
            <a:ext cx="5226051" cy="30003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:notes"/>
          <p:cNvSpPr/>
          <p:nvPr>
            <p:ph idx="2" type="sldImg"/>
          </p:nvPr>
        </p:nvSpPr>
        <p:spPr>
          <a:xfrm>
            <a:off x="-1112838" y="0"/>
            <a:ext cx="5226051" cy="30003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1" name="Google Shape;51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2" name="Google Shape;52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-1112838" y="0"/>
            <a:ext cx="5226051" cy="30003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9" name="Google Shape;179;p4:notes"/>
          <p:cNvSpPr/>
          <p:nvPr>
            <p:ph idx="2" type="sldImg"/>
          </p:nvPr>
        </p:nvSpPr>
        <p:spPr>
          <a:xfrm>
            <a:off x="-1112838" y="0"/>
            <a:ext cx="5226051" cy="30003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46" name="Google Shape;246;p5:notes"/>
          <p:cNvSpPr/>
          <p:nvPr>
            <p:ph idx="2" type="sldImg"/>
          </p:nvPr>
        </p:nvSpPr>
        <p:spPr>
          <a:xfrm>
            <a:off x="-1112838" y="0"/>
            <a:ext cx="5226051" cy="30003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13" name="Google Shape;313;p6:notes"/>
          <p:cNvSpPr/>
          <p:nvPr>
            <p:ph idx="2" type="sldImg"/>
          </p:nvPr>
        </p:nvSpPr>
        <p:spPr>
          <a:xfrm>
            <a:off x="-1112838" y="0"/>
            <a:ext cx="5226051" cy="30003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85" name="Google Shape;385;p7:notes"/>
          <p:cNvSpPr/>
          <p:nvPr>
            <p:ph idx="2" type="sldImg"/>
          </p:nvPr>
        </p:nvSpPr>
        <p:spPr>
          <a:xfrm>
            <a:off x="-1112838" y="0"/>
            <a:ext cx="5226051" cy="30003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4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56" name="Google Shape;456;p8:notes"/>
          <p:cNvSpPr/>
          <p:nvPr>
            <p:ph idx="2" type="sldImg"/>
          </p:nvPr>
        </p:nvSpPr>
        <p:spPr>
          <a:xfrm>
            <a:off x="-1112838" y="0"/>
            <a:ext cx="5226051" cy="30003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31" name="Google Shape;531;p9:notes"/>
          <p:cNvSpPr/>
          <p:nvPr>
            <p:ph idx="2" type="sldImg"/>
          </p:nvPr>
        </p:nvSpPr>
        <p:spPr>
          <a:xfrm>
            <a:off x="-1112838" y="0"/>
            <a:ext cx="5226051" cy="30003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6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08" name="Google Shape;608;p10:notes"/>
          <p:cNvSpPr/>
          <p:nvPr>
            <p:ph idx="2" type="sldImg"/>
          </p:nvPr>
        </p:nvSpPr>
        <p:spPr>
          <a:xfrm>
            <a:off x="-1112838" y="0"/>
            <a:ext cx="5226051" cy="30003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76" name="Google Shape;676;p11:notes"/>
          <p:cNvSpPr/>
          <p:nvPr>
            <p:ph idx="2" type="sldImg"/>
          </p:nvPr>
        </p:nvSpPr>
        <p:spPr>
          <a:xfrm>
            <a:off x="-1112838" y="0"/>
            <a:ext cx="5226051" cy="30003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3" name="Shape 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Google Shape;754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55" name="Google Shape;755;p12:notes"/>
          <p:cNvSpPr/>
          <p:nvPr>
            <p:ph idx="2" type="sldImg"/>
          </p:nvPr>
        </p:nvSpPr>
        <p:spPr>
          <a:xfrm>
            <a:off x="-1112838" y="0"/>
            <a:ext cx="5226051" cy="30003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8" name="Shape 8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" name="Google Shape;839;p13:notes"/>
          <p:cNvSpPr/>
          <p:nvPr>
            <p:ph idx="2" type="sldImg"/>
          </p:nvPr>
        </p:nvSpPr>
        <p:spPr>
          <a:xfrm>
            <a:off x="-1112838" y="0"/>
            <a:ext cx="5226051" cy="30003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40" name="Google Shape;840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41" name="Google Shape;841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p14:notes"/>
          <p:cNvSpPr/>
          <p:nvPr>
            <p:ph idx="2" type="sldImg"/>
          </p:nvPr>
        </p:nvSpPr>
        <p:spPr>
          <a:xfrm>
            <a:off x="-1112838" y="0"/>
            <a:ext cx="5226051" cy="30003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87" name="Google Shape;887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88" name="Google Shape;888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p15:notes"/>
          <p:cNvSpPr/>
          <p:nvPr>
            <p:ph idx="2" type="sldImg"/>
          </p:nvPr>
        </p:nvSpPr>
        <p:spPr>
          <a:xfrm>
            <a:off x="-1112838" y="0"/>
            <a:ext cx="5226051" cy="30003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8" name="Google Shape;928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29" name="Google Shape;929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6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12341906" y="571499"/>
            <a:ext cx="6219825" cy="9429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1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9446571"/>
            <a:ext cx="19050000" cy="1528465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Relationship Id="rId4" Type="http://schemas.openxmlformats.org/officeDocument/2006/relationships/image" Target="../media/image25.jp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2.png"/><Relationship Id="rId8" Type="http://schemas.openxmlformats.org/officeDocument/2006/relationships/slide" Target="slide2.xml"/><Relationship Id="rId9" Type="http://schemas.openxmlformats.org/officeDocument/2006/relationships/image" Target="../media/image7.png"/><Relationship Id="rId10" Type="http://schemas.openxmlformats.org/officeDocument/2006/relationships/image" Target="../media/image6.png"/><Relationship Id="rId11" Type="http://schemas.openxmlformats.org/officeDocument/2006/relationships/image" Target="../media/image3.png"/><Relationship Id="rId12" Type="http://schemas.openxmlformats.org/officeDocument/2006/relationships/slide" Target="slide3.xml"/><Relationship Id="rId13" Type="http://schemas.openxmlformats.org/officeDocument/2006/relationships/slide" Target="slide2.xml"/><Relationship Id="rId14" Type="http://schemas.openxmlformats.org/officeDocument/2006/relationships/slide" Target="slide4.xml"/><Relationship Id="rId15" Type="http://schemas.openxmlformats.org/officeDocument/2006/relationships/slide" Target="slide8.xml"/><Relationship Id="rId16" Type="http://schemas.openxmlformats.org/officeDocument/2006/relationships/slide" Target="slide10.xml"/><Relationship Id="rId17" Type="http://schemas.openxmlformats.org/officeDocument/2006/relationships/slide" Target="slide11.xml"/><Relationship Id="rId18" Type="http://schemas.openxmlformats.org/officeDocument/2006/relationships/slide" Target="slide13.xml"/><Relationship Id="rId19" Type="http://schemas.openxmlformats.org/officeDocument/2006/relationships/slide" Target="slide1.xml"/><Relationship Id="rId20" Type="http://schemas.openxmlformats.org/officeDocument/2006/relationships/slide" Target="slide1.xml"/><Relationship Id="rId21" Type="http://schemas.openxmlformats.org/officeDocument/2006/relationships/image" Target="../media/image11.png"/><Relationship Id="rId22" Type="http://schemas.openxmlformats.org/officeDocument/2006/relationships/slide" Target="slide2.xml"/><Relationship Id="rId23" Type="http://schemas.openxmlformats.org/officeDocument/2006/relationships/image" Target="../media/image24.png"/><Relationship Id="rId24" Type="http://schemas.openxmlformats.org/officeDocument/2006/relationships/slide" Target="slide1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slide" Target="slide3.xml"/><Relationship Id="rId4" Type="http://schemas.openxmlformats.org/officeDocument/2006/relationships/slide" Target="slide2.xml"/><Relationship Id="rId5" Type="http://schemas.openxmlformats.org/officeDocument/2006/relationships/slide" Target="slide4.xml"/><Relationship Id="rId6" Type="http://schemas.openxmlformats.org/officeDocument/2006/relationships/slide" Target="slide8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13.xml"/><Relationship Id="rId10" Type="http://schemas.openxmlformats.org/officeDocument/2006/relationships/slide" Target="slide1.xml"/><Relationship Id="rId11" Type="http://schemas.openxmlformats.org/officeDocument/2006/relationships/slide" Target="slide3.xml"/><Relationship Id="rId12" Type="http://schemas.openxmlformats.org/officeDocument/2006/relationships/slide" Target="slide1.xml"/><Relationship Id="rId13" Type="http://schemas.openxmlformats.org/officeDocument/2006/relationships/slide" Target="slide1.xml"/><Relationship Id="rId14" Type="http://schemas.openxmlformats.org/officeDocument/2006/relationships/image" Target="../media/image11.png"/><Relationship Id="rId15" Type="http://schemas.openxmlformats.org/officeDocument/2006/relationships/slide" Target="slide2.xml"/><Relationship Id="rId16" Type="http://schemas.openxmlformats.org/officeDocument/2006/relationships/slide" Target="slide3.xml"/><Relationship Id="rId17" Type="http://schemas.openxmlformats.org/officeDocument/2006/relationships/slide" Target="slide4.xml"/><Relationship Id="rId18" Type="http://schemas.openxmlformats.org/officeDocument/2006/relationships/slide" Target="slide8.xml"/><Relationship Id="rId19" Type="http://schemas.openxmlformats.org/officeDocument/2006/relationships/slide" Target="slide10.xml"/><Relationship Id="rId20" Type="http://schemas.openxmlformats.org/officeDocument/2006/relationships/slide" Target="slide11.xml"/><Relationship Id="rId21" Type="http://schemas.openxmlformats.org/officeDocument/2006/relationships/slide" Target="slide13.xml"/><Relationship Id="rId22" Type="http://schemas.openxmlformats.org/officeDocument/2006/relationships/slide" Target="slide1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slide" Target="slide3.xml"/><Relationship Id="rId4" Type="http://schemas.openxmlformats.org/officeDocument/2006/relationships/slide" Target="slide2.xml"/><Relationship Id="rId5" Type="http://schemas.openxmlformats.org/officeDocument/2006/relationships/slide" Target="slide4.xml"/><Relationship Id="rId6" Type="http://schemas.openxmlformats.org/officeDocument/2006/relationships/hyperlink" Target="http://ppt/media/image13.png" TargetMode="External"/><Relationship Id="rId7" Type="http://schemas.openxmlformats.org/officeDocument/2006/relationships/slide" Target="slide8.xml"/><Relationship Id="rId8" Type="http://schemas.openxmlformats.org/officeDocument/2006/relationships/hyperlink" Target="http://ppt/media/image15.png" TargetMode="External"/><Relationship Id="rId9" Type="http://schemas.openxmlformats.org/officeDocument/2006/relationships/slide" Target="slide10.xml"/><Relationship Id="rId10" Type="http://schemas.openxmlformats.org/officeDocument/2006/relationships/slide" Target="slide11.xml"/><Relationship Id="rId11" Type="http://schemas.openxmlformats.org/officeDocument/2006/relationships/slide" Target="slide13.xml"/><Relationship Id="rId12" Type="http://schemas.openxmlformats.org/officeDocument/2006/relationships/slide" Target="slide2.xml"/><Relationship Id="rId13" Type="http://schemas.openxmlformats.org/officeDocument/2006/relationships/slide" Target="slide4.xml"/><Relationship Id="rId14" Type="http://schemas.openxmlformats.org/officeDocument/2006/relationships/slide" Target="slide1.xml"/><Relationship Id="rId15" Type="http://schemas.openxmlformats.org/officeDocument/2006/relationships/slide" Target="slide1.xml"/><Relationship Id="rId16" Type="http://schemas.openxmlformats.org/officeDocument/2006/relationships/image" Target="../media/image11.png"/><Relationship Id="rId17" Type="http://schemas.openxmlformats.org/officeDocument/2006/relationships/slide" Target="slide2.xml"/><Relationship Id="rId18" Type="http://schemas.openxmlformats.org/officeDocument/2006/relationships/image" Target="../media/image13.png"/><Relationship Id="rId19" Type="http://schemas.openxmlformats.org/officeDocument/2006/relationships/image" Target="../media/image9.png"/><Relationship Id="rId20" Type="http://schemas.openxmlformats.org/officeDocument/2006/relationships/image" Target="../media/image12.png"/><Relationship Id="rId21" Type="http://schemas.openxmlformats.org/officeDocument/2006/relationships/image" Target="../media/image18.png"/><Relationship Id="rId22" Type="http://schemas.openxmlformats.org/officeDocument/2006/relationships/slide" Target="slide1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slide" Target="slide3.xml"/><Relationship Id="rId4" Type="http://schemas.openxmlformats.org/officeDocument/2006/relationships/slide" Target="slide2.xml"/><Relationship Id="rId5" Type="http://schemas.openxmlformats.org/officeDocument/2006/relationships/slide" Target="slide4.xml"/><Relationship Id="rId6" Type="http://schemas.openxmlformats.org/officeDocument/2006/relationships/hyperlink" Target="http://ppt/media/image17.png" TargetMode="External"/><Relationship Id="rId7" Type="http://schemas.openxmlformats.org/officeDocument/2006/relationships/slide" Target="slide8.xml"/><Relationship Id="rId8" Type="http://schemas.openxmlformats.org/officeDocument/2006/relationships/hyperlink" Target="http://ppt/media/image19.png" TargetMode="External"/><Relationship Id="rId9" Type="http://schemas.openxmlformats.org/officeDocument/2006/relationships/slide" Target="slide10.xml"/><Relationship Id="rId10" Type="http://schemas.openxmlformats.org/officeDocument/2006/relationships/slide" Target="slide11.xml"/><Relationship Id="rId11" Type="http://schemas.openxmlformats.org/officeDocument/2006/relationships/slide" Target="slide13.xml"/><Relationship Id="rId12" Type="http://schemas.openxmlformats.org/officeDocument/2006/relationships/slide" Target="slide3.xml"/><Relationship Id="rId13" Type="http://schemas.openxmlformats.org/officeDocument/2006/relationships/slide" Target="slide5.xml"/><Relationship Id="rId14" Type="http://schemas.openxmlformats.org/officeDocument/2006/relationships/slide" Target="slide1.xml"/><Relationship Id="rId15" Type="http://schemas.openxmlformats.org/officeDocument/2006/relationships/slide" Target="slide1.xml"/><Relationship Id="rId16" Type="http://schemas.openxmlformats.org/officeDocument/2006/relationships/image" Target="../media/image11.png"/><Relationship Id="rId17" Type="http://schemas.openxmlformats.org/officeDocument/2006/relationships/slide" Target="slide2.xml"/><Relationship Id="rId18" Type="http://schemas.openxmlformats.org/officeDocument/2006/relationships/image" Target="../media/image4.png"/><Relationship Id="rId19" Type="http://schemas.openxmlformats.org/officeDocument/2006/relationships/image" Target="../media/image23.png"/><Relationship Id="rId20" Type="http://schemas.openxmlformats.org/officeDocument/2006/relationships/image" Target="../media/image22.png"/><Relationship Id="rId21" Type="http://schemas.openxmlformats.org/officeDocument/2006/relationships/image" Target="../media/image18.png"/><Relationship Id="rId22" Type="http://schemas.openxmlformats.org/officeDocument/2006/relationships/slide" Target="slide1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slide" Target="slide3.xml"/><Relationship Id="rId4" Type="http://schemas.openxmlformats.org/officeDocument/2006/relationships/slide" Target="slide2.xml"/><Relationship Id="rId5" Type="http://schemas.openxmlformats.org/officeDocument/2006/relationships/slide" Target="slide4.xml"/><Relationship Id="rId6" Type="http://schemas.openxmlformats.org/officeDocument/2006/relationships/hyperlink" Target="http://ppt/media/image17.png" TargetMode="External"/><Relationship Id="rId7" Type="http://schemas.openxmlformats.org/officeDocument/2006/relationships/slide" Target="slide8.xml"/><Relationship Id="rId8" Type="http://schemas.openxmlformats.org/officeDocument/2006/relationships/slide" Target="slide10.xml"/><Relationship Id="rId9" Type="http://schemas.openxmlformats.org/officeDocument/2006/relationships/slide" Target="slide11.xml"/><Relationship Id="rId10" Type="http://schemas.openxmlformats.org/officeDocument/2006/relationships/slide" Target="slide13.xml"/><Relationship Id="rId11" Type="http://schemas.openxmlformats.org/officeDocument/2006/relationships/slide" Target="slide4.xml"/><Relationship Id="rId12" Type="http://schemas.openxmlformats.org/officeDocument/2006/relationships/slide" Target="slide6.xml"/><Relationship Id="rId13" Type="http://schemas.openxmlformats.org/officeDocument/2006/relationships/slide" Target="slide1.xml"/><Relationship Id="rId14" Type="http://schemas.openxmlformats.org/officeDocument/2006/relationships/slide" Target="slide1.xml"/><Relationship Id="rId15" Type="http://schemas.openxmlformats.org/officeDocument/2006/relationships/image" Target="../media/image11.png"/><Relationship Id="rId16" Type="http://schemas.openxmlformats.org/officeDocument/2006/relationships/slide" Target="slide2.xml"/><Relationship Id="rId17" Type="http://schemas.openxmlformats.org/officeDocument/2006/relationships/image" Target="../media/image4.png"/><Relationship Id="rId18" Type="http://schemas.openxmlformats.org/officeDocument/2006/relationships/image" Target="../media/image18.png"/><Relationship Id="rId19" Type="http://schemas.openxmlformats.org/officeDocument/2006/relationships/slide" Target="slide1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slide" Target="slide3.xml"/><Relationship Id="rId4" Type="http://schemas.openxmlformats.org/officeDocument/2006/relationships/slide" Target="slide2.xml"/><Relationship Id="rId5" Type="http://schemas.openxmlformats.org/officeDocument/2006/relationships/slide" Target="slide4.xml"/><Relationship Id="rId6" Type="http://schemas.openxmlformats.org/officeDocument/2006/relationships/hyperlink" Target="http://ppt/media/image18.png" TargetMode="External"/><Relationship Id="rId7" Type="http://schemas.openxmlformats.org/officeDocument/2006/relationships/slide" Target="slide8.xml"/><Relationship Id="rId8" Type="http://schemas.openxmlformats.org/officeDocument/2006/relationships/slide" Target="slide10.xml"/><Relationship Id="rId9" Type="http://schemas.openxmlformats.org/officeDocument/2006/relationships/slide" Target="slide11.xml"/><Relationship Id="rId10" Type="http://schemas.openxmlformats.org/officeDocument/2006/relationships/slide" Target="slide13.xml"/><Relationship Id="rId11" Type="http://schemas.openxmlformats.org/officeDocument/2006/relationships/slide" Target="slide5.xml"/><Relationship Id="rId12" Type="http://schemas.openxmlformats.org/officeDocument/2006/relationships/slide" Target="slide7.xml"/><Relationship Id="rId13" Type="http://schemas.openxmlformats.org/officeDocument/2006/relationships/slide" Target="slide1.xml"/><Relationship Id="rId14" Type="http://schemas.openxmlformats.org/officeDocument/2006/relationships/slide" Target="slide1.xml"/><Relationship Id="rId15" Type="http://schemas.openxmlformats.org/officeDocument/2006/relationships/image" Target="../media/image11.png"/><Relationship Id="rId16" Type="http://schemas.openxmlformats.org/officeDocument/2006/relationships/slide" Target="slide2.xml"/><Relationship Id="rId17" Type="http://schemas.openxmlformats.org/officeDocument/2006/relationships/image" Target="../media/image15.png"/><Relationship Id="rId18" Type="http://schemas.openxmlformats.org/officeDocument/2006/relationships/image" Target="../media/image18.png"/><Relationship Id="rId19" Type="http://schemas.openxmlformats.org/officeDocument/2006/relationships/slide" Target="slide1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slide" Target="slide3.xml"/><Relationship Id="rId4" Type="http://schemas.openxmlformats.org/officeDocument/2006/relationships/slide" Target="slide2.xml"/><Relationship Id="rId5" Type="http://schemas.openxmlformats.org/officeDocument/2006/relationships/slide" Target="slide4.xml"/><Relationship Id="rId6" Type="http://schemas.openxmlformats.org/officeDocument/2006/relationships/hyperlink" Target="http://ppt/media/image19.png" TargetMode="External"/><Relationship Id="rId7" Type="http://schemas.openxmlformats.org/officeDocument/2006/relationships/slide" Target="slide8.xml"/><Relationship Id="rId8" Type="http://schemas.openxmlformats.org/officeDocument/2006/relationships/slide" Target="slide10.xml"/><Relationship Id="rId9" Type="http://schemas.openxmlformats.org/officeDocument/2006/relationships/slide" Target="slide11.xml"/><Relationship Id="rId10" Type="http://schemas.openxmlformats.org/officeDocument/2006/relationships/slide" Target="slide13.xml"/><Relationship Id="rId11" Type="http://schemas.openxmlformats.org/officeDocument/2006/relationships/slide" Target="slide6.xml"/><Relationship Id="rId12" Type="http://schemas.openxmlformats.org/officeDocument/2006/relationships/slide" Target="slide8.xml"/><Relationship Id="rId13" Type="http://schemas.openxmlformats.org/officeDocument/2006/relationships/slide" Target="slide1.xml"/><Relationship Id="rId14" Type="http://schemas.openxmlformats.org/officeDocument/2006/relationships/slide" Target="slide1.xml"/><Relationship Id="rId15" Type="http://schemas.openxmlformats.org/officeDocument/2006/relationships/image" Target="../media/image11.png"/><Relationship Id="rId16" Type="http://schemas.openxmlformats.org/officeDocument/2006/relationships/slide" Target="slide2.xml"/><Relationship Id="rId17" Type="http://schemas.openxmlformats.org/officeDocument/2006/relationships/image" Target="../media/image23.png"/><Relationship Id="rId18" Type="http://schemas.openxmlformats.org/officeDocument/2006/relationships/image" Target="../media/image18.png"/><Relationship Id="rId19" Type="http://schemas.openxmlformats.org/officeDocument/2006/relationships/slide" Target="slide1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slide" Target="slide3.xml"/><Relationship Id="rId4" Type="http://schemas.openxmlformats.org/officeDocument/2006/relationships/slide" Target="slide2.xml"/><Relationship Id="rId5" Type="http://schemas.openxmlformats.org/officeDocument/2006/relationships/slide" Target="slide4.xml"/><Relationship Id="rId6" Type="http://schemas.openxmlformats.org/officeDocument/2006/relationships/hyperlink" Target="http://ppt/media/image20.png" TargetMode="External"/><Relationship Id="rId7" Type="http://schemas.openxmlformats.org/officeDocument/2006/relationships/slide" Target="slide8.xml"/><Relationship Id="rId8" Type="http://schemas.openxmlformats.org/officeDocument/2006/relationships/hyperlink" Target="http://ppt/media/image22.png" TargetMode="External"/><Relationship Id="rId9" Type="http://schemas.openxmlformats.org/officeDocument/2006/relationships/slide" Target="slide10.xml"/><Relationship Id="rId10" Type="http://schemas.openxmlformats.org/officeDocument/2006/relationships/hyperlink" Target="http://ppt/media/image16.png" TargetMode="External"/><Relationship Id="rId11" Type="http://schemas.openxmlformats.org/officeDocument/2006/relationships/slide" Target="slide11.xml"/><Relationship Id="rId12" Type="http://schemas.openxmlformats.org/officeDocument/2006/relationships/slide" Target="slide13.xml"/><Relationship Id="rId13" Type="http://schemas.openxmlformats.org/officeDocument/2006/relationships/slide" Target="slide7.xml"/><Relationship Id="rId14" Type="http://schemas.openxmlformats.org/officeDocument/2006/relationships/slide" Target="slide9.xml"/><Relationship Id="rId15" Type="http://schemas.openxmlformats.org/officeDocument/2006/relationships/slide" Target="slide1.xml"/><Relationship Id="rId16" Type="http://schemas.openxmlformats.org/officeDocument/2006/relationships/slide" Target="slide1.xml"/><Relationship Id="rId17" Type="http://schemas.openxmlformats.org/officeDocument/2006/relationships/image" Target="../media/image11.png"/><Relationship Id="rId18" Type="http://schemas.openxmlformats.org/officeDocument/2006/relationships/slide" Target="slide2.xml"/><Relationship Id="rId19" Type="http://schemas.openxmlformats.org/officeDocument/2006/relationships/image" Target="../media/image19.png"/><Relationship Id="rId20" Type="http://schemas.openxmlformats.org/officeDocument/2006/relationships/image" Target="../media/image17.png"/><Relationship Id="rId21" Type="http://schemas.openxmlformats.org/officeDocument/2006/relationships/image" Target="../media/image20.png"/><Relationship Id="rId22" Type="http://schemas.openxmlformats.org/officeDocument/2006/relationships/image" Target="../media/image16.png"/><Relationship Id="rId23" Type="http://schemas.openxmlformats.org/officeDocument/2006/relationships/image" Target="../media/image18.png"/><Relationship Id="rId24" Type="http://schemas.openxmlformats.org/officeDocument/2006/relationships/slide" Target="slide1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slide" Target="slide3.xml"/><Relationship Id="rId4" Type="http://schemas.openxmlformats.org/officeDocument/2006/relationships/slide" Target="slide2.xml"/><Relationship Id="rId5" Type="http://schemas.openxmlformats.org/officeDocument/2006/relationships/slide" Target="slide4.xml"/><Relationship Id="rId6" Type="http://schemas.openxmlformats.org/officeDocument/2006/relationships/hyperlink" Target="http://ppt/media/image20.png" TargetMode="External"/><Relationship Id="rId7" Type="http://schemas.openxmlformats.org/officeDocument/2006/relationships/slide" Target="slide8.xml"/><Relationship Id="rId8" Type="http://schemas.openxmlformats.org/officeDocument/2006/relationships/hyperlink" Target="http://ppt/media/image22.png" TargetMode="External"/><Relationship Id="rId9" Type="http://schemas.openxmlformats.org/officeDocument/2006/relationships/slide" Target="slide10.xml"/><Relationship Id="rId10" Type="http://schemas.openxmlformats.org/officeDocument/2006/relationships/hyperlink" Target="http://ppt/media/image24.png" TargetMode="External"/><Relationship Id="rId11" Type="http://schemas.openxmlformats.org/officeDocument/2006/relationships/slide" Target="slide11.xml"/><Relationship Id="rId12" Type="http://schemas.openxmlformats.org/officeDocument/2006/relationships/slide" Target="slide13.xml"/><Relationship Id="rId13" Type="http://schemas.openxmlformats.org/officeDocument/2006/relationships/slide" Target="slide8.xml"/><Relationship Id="rId14" Type="http://schemas.openxmlformats.org/officeDocument/2006/relationships/slide" Target="slide10.xml"/><Relationship Id="rId15" Type="http://schemas.openxmlformats.org/officeDocument/2006/relationships/slide" Target="slide1.xml"/><Relationship Id="rId16" Type="http://schemas.openxmlformats.org/officeDocument/2006/relationships/slide" Target="slide1.xml"/><Relationship Id="rId17" Type="http://schemas.openxmlformats.org/officeDocument/2006/relationships/image" Target="../media/image11.png"/><Relationship Id="rId18" Type="http://schemas.openxmlformats.org/officeDocument/2006/relationships/slide" Target="slide2.xml"/><Relationship Id="rId19" Type="http://schemas.openxmlformats.org/officeDocument/2006/relationships/image" Target="../media/image19.png"/><Relationship Id="rId20" Type="http://schemas.openxmlformats.org/officeDocument/2006/relationships/image" Target="../media/image17.png"/><Relationship Id="rId21" Type="http://schemas.openxmlformats.org/officeDocument/2006/relationships/image" Target="../media/image21.png"/><Relationship Id="rId22" Type="http://schemas.openxmlformats.org/officeDocument/2006/relationships/image" Target="../media/image20.png"/><Relationship Id="rId23" Type="http://schemas.openxmlformats.org/officeDocument/2006/relationships/image" Target="../media/image16.png"/><Relationship Id="rId24" Type="http://schemas.openxmlformats.org/officeDocument/2006/relationships/image" Target="../media/image18.png"/><Relationship Id="rId25" Type="http://schemas.openxmlformats.org/officeDocument/2006/relationships/slide" Target="slide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slide" Target="slide3.xml"/><Relationship Id="rId4" Type="http://schemas.openxmlformats.org/officeDocument/2006/relationships/slide" Target="slide2.xml"/><Relationship Id="rId5" Type="http://schemas.openxmlformats.org/officeDocument/2006/relationships/slide" Target="slide4.xml"/><Relationship Id="rId6" Type="http://schemas.openxmlformats.org/officeDocument/2006/relationships/hyperlink" Target="http://ppt/media/image16.png" TargetMode="External"/><Relationship Id="rId7" Type="http://schemas.openxmlformats.org/officeDocument/2006/relationships/slide" Target="slide8.xml"/><Relationship Id="rId8" Type="http://schemas.openxmlformats.org/officeDocument/2006/relationships/slide" Target="slide10.xml"/><Relationship Id="rId9" Type="http://schemas.openxmlformats.org/officeDocument/2006/relationships/slide" Target="slide11.xml"/><Relationship Id="rId10" Type="http://schemas.openxmlformats.org/officeDocument/2006/relationships/slide" Target="slide13.xml"/><Relationship Id="rId11" Type="http://schemas.openxmlformats.org/officeDocument/2006/relationships/slide" Target="slide9.xml"/><Relationship Id="rId12" Type="http://schemas.openxmlformats.org/officeDocument/2006/relationships/slide" Target="slide11.xml"/><Relationship Id="rId13" Type="http://schemas.openxmlformats.org/officeDocument/2006/relationships/slide" Target="slide1.xml"/><Relationship Id="rId14" Type="http://schemas.openxmlformats.org/officeDocument/2006/relationships/slide" Target="slide1.xml"/><Relationship Id="rId15" Type="http://schemas.openxmlformats.org/officeDocument/2006/relationships/image" Target="../media/image11.png"/><Relationship Id="rId16" Type="http://schemas.openxmlformats.org/officeDocument/2006/relationships/slide" Target="slide2.xml"/><Relationship Id="rId17" Type="http://schemas.openxmlformats.org/officeDocument/2006/relationships/image" Target="../media/image18.png"/><Relationship Id="rId18" Type="http://schemas.openxmlformats.org/officeDocument/2006/relationships/slide" Target="slide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slide" Target="slide3.xml"/><Relationship Id="rId4" Type="http://schemas.openxmlformats.org/officeDocument/2006/relationships/slide" Target="slide2.xml"/><Relationship Id="rId5" Type="http://schemas.openxmlformats.org/officeDocument/2006/relationships/slide" Target="slide4.xml"/><Relationship Id="rId6" Type="http://schemas.openxmlformats.org/officeDocument/2006/relationships/hyperlink" Target="http://ppt/media/image24.png" TargetMode="External"/><Relationship Id="rId7" Type="http://schemas.openxmlformats.org/officeDocument/2006/relationships/slide" Target="slide8.xml"/><Relationship Id="rId8" Type="http://schemas.openxmlformats.org/officeDocument/2006/relationships/slide" Target="slide10.xml"/><Relationship Id="rId9" Type="http://schemas.openxmlformats.org/officeDocument/2006/relationships/slide" Target="slide11.xml"/><Relationship Id="rId10" Type="http://schemas.openxmlformats.org/officeDocument/2006/relationships/slide" Target="slide13.xml"/><Relationship Id="rId11" Type="http://schemas.openxmlformats.org/officeDocument/2006/relationships/slide" Target="slide10.xml"/><Relationship Id="rId12" Type="http://schemas.openxmlformats.org/officeDocument/2006/relationships/slide" Target="slide12.xml"/><Relationship Id="rId13" Type="http://schemas.openxmlformats.org/officeDocument/2006/relationships/slide" Target="slide1.xml"/><Relationship Id="rId14" Type="http://schemas.openxmlformats.org/officeDocument/2006/relationships/slide" Target="slide1.xml"/><Relationship Id="rId15" Type="http://schemas.openxmlformats.org/officeDocument/2006/relationships/image" Target="../media/image11.png"/><Relationship Id="rId16" Type="http://schemas.openxmlformats.org/officeDocument/2006/relationships/slide" Target="slide2.xml"/><Relationship Id="rId17" Type="http://schemas.openxmlformats.org/officeDocument/2006/relationships/image" Target="../media/image21.png"/><Relationship Id="rId18" Type="http://schemas.openxmlformats.org/officeDocument/2006/relationships/image" Target="../media/image18.png"/><Relationship Id="rId19" Type="http://schemas.openxmlformats.org/officeDocument/2006/relationships/slide" Target="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slide" Target="slide3.xml"/><Relationship Id="rId4" Type="http://schemas.openxmlformats.org/officeDocument/2006/relationships/slide" Target="slide2.xml"/><Relationship Id="rId5" Type="http://schemas.openxmlformats.org/officeDocument/2006/relationships/slide" Target="slide4.xml"/><Relationship Id="rId6" Type="http://schemas.openxmlformats.org/officeDocument/2006/relationships/hyperlink" Target="http://ppt/media/image13.png" TargetMode="External"/><Relationship Id="rId7" Type="http://schemas.openxmlformats.org/officeDocument/2006/relationships/slide" Target="slide8.xml"/><Relationship Id="rId8" Type="http://schemas.openxmlformats.org/officeDocument/2006/relationships/hyperlink" Target="http://ppt/media/image15.png" TargetMode="External"/><Relationship Id="rId9" Type="http://schemas.openxmlformats.org/officeDocument/2006/relationships/slide" Target="slide10.xml"/><Relationship Id="rId10" Type="http://schemas.openxmlformats.org/officeDocument/2006/relationships/slide" Target="slide11.xml"/><Relationship Id="rId11" Type="http://schemas.openxmlformats.org/officeDocument/2006/relationships/slide" Target="slide13.xml"/><Relationship Id="rId12" Type="http://schemas.openxmlformats.org/officeDocument/2006/relationships/slide" Target="slide11.xml"/><Relationship Id="rId13" Type="http://schemas.openxmlformats.org/officeDocument/2006/relationships/slide" Target="slide13.xml"/><Relationship Id="rId14" Type="http://schemas.openxmlformats.org/officeDocument/2006/relationships/slide" Target="slide1.xml"/><Relationship Id="rId15" Type="http://schemas.openxmlformats.org/officeDocument/2006/relationships/slide" Target="slide1.xml"/><Relationship Id="rId16" Type="http://schemas.openxmlformats.org/officeDocument/2006/relationships/image" Target="../media/image11.png"/><Relationship Id="rId17" Type="http://schemas.openxmlformats.org/officeDocument/2006/relationships/slide" Target="slide2.xml"/><Relationship Id="rId18" Type="http://schemas.openxmlformats.org/officeDocument/2006/relationships/image" Target="../media/image13.png"/><Relationship Id="rId19" Type="http://schemas.openxmlformats.org/officeDocument/2006/relationships/image" Target="../media/image9.png"/><Relationship Id="rId20" Type="http://schemas.openxmlformats.org/officeDocument/2006/relationships/image" Target="../media/image12.png"/><Relationship Id="rId21" Type="http://schemas.openxmlformats.org/officeDocument/2006/relationships/image" Target="../media/image18.png"/><Relationship Id="rId22" Type="http://schemas.openxmlformats.org/officeDocument/2006/relationships/slide" Target="slide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slide" Target="slide15.xml"/><Relationship Id="rId4" Type="http://schemas.openxmlformats.org/officeDocument/2006/relationships/slide" Target="slide15.xml"/><Relationship Id="rId5" Type="http://schemas.openxmlformats.org/officeDocument/2006/relationships/slide" Target="slide15.xml"/><Relationship Id="rId6" Type="http://schemas.openxmlformats.org/officeDocument/2006/relationships/slide" Target="slide14.xml"/><Relationship Id="rId7" Type="http://schemas.openxmlformats.org/officeDocument/2006/relationships/slide" Target="slide14.xml"/><Relationship Id="rId8" Type="http://schemas.openxmlformats.org/officeDocument/2006/relationships/slide" Target="slide15.xml"/><Relationship Id="rId9" Type="http://schemas.openxmlformats.org/officeDocument/2006/relationships/slide" Target="slide3.xml"/><Relationship Id="rId10" Type="http://schemas.openxmlformats.org/officeDocument/2006/relationships/slide" Target="slide2.xml"/><Relationship Id="rId11" Type="http://schemas.openxmlformats.org/officeDocument/2006/relationships/slide" Target="slide4.xml"/><Relationship Id="rId12" Type="http://schemas.openxmlformats.org/officeDocument/2006/relationships/slide" Target="slide8.xml"/><Relationship Id="rId13" Type="http://schemas.openxmlformats.org/officeDocument/2006/relationships/slide" Target="slide10.xml"/><Relationship Id="rId14" Type="http://schemas.openxmlformats.org/officeDocument/2006/relationships/slide" Target="slide11.xml"/><Relationship Id="rId15" Type="http://schemas.openxmlformats.org/officeDocument/2006/relationships/slide" Target="slide13.xml"/><Relationship Id="rId16" Type="http://schemas.openxmlformats.org/officeDocument/2006/relationships/slide" Target="slide12.xml"/><Relationship Id="rId17" Type="http://schemas.openxmlformats.org/officeDocument/2006/relationships/slide" Target="slide13.xml"/><Relationship Id="rId18" Type="http://schemas.openxmlformats.org/officeDocument/2006/relationships/slide" Target="slide1.xml"/><Relationship Id="rId19" Type="http://schemas.openxmlformats.org/officeDocument/2006/relationships/slide" Target="slide1.xml"/><Relationship Id="rId20" Type="http://schemas.openxmlformats.org/officeDocument/2006/relationships/image" Target="../media/image11.png"/><Relationship Id="rId21" Type="http://schemas.openxmlformats.org/officeDocument/2006/relationships/slide" Target="slide2.xml"/><Relationship Id="rId22" Type="http://schemas.openxmlformats.org/officeDocument/2006/relationships/slide" Target="slide15.xml"/><Relationship Id="rId23" Type="http://schemas.openxmlformats.org/officeDocument/2006/relationships/slide" Target="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2.xml"/><Relationship Id="rId6" Type="http://schemas.openxmlformats.org/officeDocument/2006/relationships/slide" Target="slide4.xml"/><Relationship Id="rId7" Type="http://schemas.openxmlformats.org/officeDocument/2006/relationships/slide" Target="slide8.xml"/><Relationship Id="rId8" Type="http://schemas.openxmlformats.org/officeDocument/2006/relationships/slide" Target="slide10.xml"/><Relationship Id="rId9" Type="http://schemas.openxmlformats.org/officeDocument/2006/relationships/slide" Target="slide11.xml"/><Relationship Id="rId10" Type="http://schemas.openxmlformats.org/officeDocument/2006/relationships/slide" Target="slide13.xml"/><Relationship Id="rId11" Type="http://schemas.openxmlformats.org/officeDocument/2006/relationships/slide" Target="slide13.xml"/><Relationship Id="rId12" Type="http://schemas.openxmlformats.org/officeDocument/2006/relationships/slide" Target="slide13.xml"/><Relationship Id="rId13" Type="http://schemas.openxmlformats.org/officeDocument/2006/relationships/slide" Target="slide13.xml"/><Relationship Id="rId16" Type="http://schemas.openxmlformats.org/officeDocument/2006/relationships/slide" Target="slide1.xml"/><Relationship Id="rId17" Type="http://schemas.openxmlformats.org/officeDocument/2006/relationships/slide" Target="slide1.xml"/><Relationship Id="rId18" Type="http://schemas.openxmlformats.org/officeDocument/2006/relationships/image" Target="../media/image11.png"/><Relationship Id="rId19" Type="http://schemas.openxmlformats.org/officeDocument/2006/relationships/slide" Target="slide2.xml"/><Relationship Id="rId20" Type="http://schemas.openxmlformats.org/officeDocument/2006/relationships/slide" Target="slide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slide" Target="slide13.xml"/><Relationship Id="rId4" Type="http://schemas.openxmlformats.org/officeDocument/2006/relationships/slide" Target="slide13.xml"/><Relationship Id="rId5" Type="http://schemas.openxmlformats.org/officeDocument/2006/relationships/slide" Target="slide3.xml"/><Relationship Id="rId6" Type="http://schemas.openxmlformats.org/officeDocument/2006/relationships/slide" Target="slide2.xml"/><Relationship Id="rId7" Type="http://schemas.openxmlformats.org/officeDocument/2006/relationships/slide" Target="slide4.xml"/><Relationship Id="rId8" Type="http://schemas.openxmlformats.org/officeDocument/2006/relationships/slide" Target="slide8.xml"/><Relationship Id="rId9" Type="http://schemas.openxmlformats.org/officeDocument/2006/relationships/slide" Target="slide10.xml"/><Relationship Id="rId10" Type="http://schemas.openxmlformats.org/officeDocument/2006/relationships/slide" Target="slide11.xml"/><Relationship Id="rId11" Type="http://schemas.openxmlformats.org/officeDocument/2006/relationships/slide" Target="slide13.xml"/><Relationship Id="rId12" Type="http://schemas.openxmlformats.org/officeDocument/2006/relationships/slide" Target="slide13.xml"/><Relationship Id="rId13" Type="http://schemas.openxmlformats.org/officeDocument/2006/relationships/slide" Target="slide13.xml"/><Relationship Id="rId14" Type="http://schemas.openxmlformats.org/officeDocument/2006/relationships/slide" Target="slide13.xml"/><Relationship Id="rId15" Type="http://schemas.openxmlformats.org/officeDocument/2006/relationships/slide" Target="slide2.xml"/><Relationship Id="rId16" Type="http://schemas.openxmlformats.org/officeDocument/2006/relationships/slide" Target="slide2.xml"/><Relationship Id="rId17" Type="http://schemas.openxmlformats.org/officeDocument/2006/relationships/slide" Target="slide1.xml"/><Relationship Id="rId18" Type="http://schemas.openxmlformats.org/officeDocument/2006/relationships/slide" Target="slide1.xml"/><Relationship Id="rId19" Type="http://schemas.openxmlformats.org/officeDocument/2006/relationships/image" Target="../media/image11.png"/><Relationship Id="rId20" Type="http://schemas.openxmlformats.org/officeDocument/2006/relationships/slide" Target="slide2.xml"/><Relationship Id="rId21" Type="http://schemas.openxmlformats.org/officeDocument/2006/relationships/slide" Target="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.xml"/><Relationship Id="rId3" Type="http://schemas.openxmlformats.org/officeDocument/2006/relationships/slide" Target="slide2.xml"/><Relationship Id="rId4" Type="http://schemas.openxmlformats.org/officeDocument/2006/relationships/slide" Target="slide4.xml"/><Relationship Id="rId5" Type="http://schemas.openxmlformats.org/officeDocument/2006/relationships/slide" Target="slide8.xml"/><Relationship Id="rId6" Type="http://schemas.openxmlformats.org/officeDocument/2006/relationships/slide" Target="slide10.xml"/><Relationship Id="rId7" Type="http://schemas.openxmlformats.org/officeDocument/2006/relationships/slide" Target="slide11.xml"/><Relationship Id="rId8" Type="http://schemas.openxmlformats.org/officeDocument/2006/relationships/slide" Target="slide13.xml"/><Relationship Id="rId9" Type="http://schemas.openxmlformats.org/officeDocument/2006/relationships/slide" Target="slide1.xml"/><Relationship Id="rId10" Type="http://schemas.openxmlformats.org/officeDocument/2006/relationships/image" Target="../media/image11.png"/><Relationship Id="rId11" Type="http://schemas.openxmlformats.org/officeDocument/2006/relationships/slide" Target="slide16.xml"/><Relationship Id="rId12" Type="http://schemas.openxmlformats.org/officeDocument/2006/relationships/slide" Target="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17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34425" y="-177800"/>
            <a:ext cx="17123301" cy="11169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18;p1" title="pexels-startup-stock-photos-7376.jpg"/>
          <p:cNvPicPr preferRelativeResize="0"/>
          <p:nvPr/>
        </p:nvPicPr>
        <p:blipFill rotWithShape="1">
          <a:blip r:embed="rId4">
            <a:alphaModFix amt="35000"/>
          </a:blip>
          <a:srcRect b="0" l="22988" r="22988" t="0"/>
          <a:stretch/>
        </p:blipFill>
        <p:spPr>
          <a:xfrm>
            <a:off x="1339036" y="-120650"/>
            <a:ext cx="9058929" cy="11175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360402" y="1245308"/>
            <a:ext cx="12845207" cy="876229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20;p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296400" y="-114301"/>
            <a:ext cx="9058926" cy="11169647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467658" y="4595812"/>
            <a:ext cx="2263176" cy="182642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1"/>
          <p:cNvSpPr txBox="1"/>
          <p:nvPr/>
        </p:nvSpPr>
        <p:spPr>
          <a:xfrm>
            <a:off x="6115750" y="5449075"/>
            <a:ext cx="93699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CO" sz="2200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Scrum funciona como un sistema en el que personas, momentos de inspección y elementos de trabajo se conectan para avanzar hacia un objetivo y generar valor.</a:t>
            </a:r>
            <a:endParaRPr b="0" i="0" sz="2800" u="none" cap="none" strike="noStrike">
              <a:solidFill>
                <a:srgbClr val="663D8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6202428" y="8028299"/>
            <a:ext cx="3225900" cy="863100"/>
          </a:xfrm>
          <a:prstGeom prst="roundRect">
            <a:avLst>
              <a:gd fmla="val 27586" name="adj"/>
            </a:avLst>
          </a:prstGeom>
          <a:solidFill>
            <a:srgbClr val="C8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1">
            <a:hlinkClick action="ppaction://hlinksldjump" r:id="rId8"/>
          </p:cNvPr>
          <p:cNvSpPr/>
          <p:nvPr/>
        </p:nvSpPr>
        <p:spPr>
          <a:xfrm>
            <a:off x="6202428" y="7968768"/>
            <a:ext cx="3225900" cy="863100"/>
          </a:xfrm>
          <a:prstGeom prst="roundRect">
            <a:avLst>
              <a:gd fmla="val 27586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92"/>
              <a:buFont typeface="Arial"/>
              <a:buNone/>
            </a:pPr>
            <a:r>
              <a:rPr b="1" i="0" lang="es-CO" sz="1992" u="sng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Comenzar</a:t>
            </a:r>
            <a:endParaRPr b="1" i="0" sz="1992" u="sng" cap="none" strike="noStrike">
              <a:solidFill>
                <a:srgbClr val="663D8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" name="Google Shape;25;p1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275859" y="1067484"/>
            <a:ext cx="1191145" cy="118320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" name="Google Shape;26;p1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5865645" y="420404"/>
            <a:ext cx="2398173" cy="539986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Google Shape;27;p1"/>
          <p:cNvSpPr txBox="1"/>
          <p:nvPr/>
        </p:nvSpPr>
        <p:spPr>
          <a:xfrm>
            <a:off x="6115751" y="2834640"/>
            <a:ext cx="124101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s-CO" sz="7200" u="none" cap="none" strike="noStrike">
                <a:solidFill>
                  <a:srgbClr val="024791"/>
                </a:solidFill>
                <a:latin typeface="Arial"/>
                <a:ea typeface="Arial"/>
                <a:cs typeface="Arial"/>
                <a:sym typeface="Arial"/>
              </a:rPr>
              <a:t>Scrum por dentro</a:t>
            </a:r>
            <a:endParaRPr b="0" i="0" sz="7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" name="Google Shape;28;p1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18525915" y="10310812"/>
            <a:ext cx="1040267" cy="1040267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9;p1"/>
          <p:cNvSpPr/>
          <p:nvPr/>
        </p:nvSpPr>
        <p:spPr>
          <a:xfrm>
            <a:off x="0" y="0"/>
            <a:ext cx="3168000" cy="10934700"/>
          </a:xfrm>
          <a:prstGeom prst="rect">
            <a:avLst/>
          </a:prstGeom>
          <a:solidFill>
            <a:srgbClr val="F5F3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3153046" y="0"/>
            <a:ext cx="15000" cy="10934700"/>
          </a:xfrm>
          <a:prstGeom prst="rect">
            <a:avLst/>
          </a:prstGeom>
          <a:solidFill>
            <a:srgbClr val="E0DA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191751" y="1550000"/>
            <a:ext cx="2784600" cy="14100"/>
          </a:xfrm>
          <a:prstGeom prst="rect">
            <a:avLst/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191751" y="1730000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">
            <a:hlinkClick action="ppaction://hlinksldjump" r:id="rId12"/>
          </p:cNvPr>
          <p:cNvSpPr/>
          <p:nvPr/>
        </p:nvSpPr>
        <p:spPr>
          <a:xfrm>
            <a:off x="266783" y="1730000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Estructura Scrum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1">
            <a:hlinkClick action="ppaction://hlinksldjump" r:id="rId13"/>
          </p:cNvPr>
          <p:cNvSpPr/>
          <p:nvPr/>
        </p:nvSpPr>
        <p:spPr>
          <a:xfrm>
            <a:off x="191751" y="2997813"/>
            <a:ext cx="75000" cy="1117697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1">
            <a:hlinkClick action="ppaction://hlinksldjump" r:id="rId14"/>
          </p:cNvPr>
          <p:cNvSpPr/>
          <p:nvPr/>
        </p:nvSpPr>
        <p:spPr>
          <a:xfrm>
            <a:off x="266783" y="2997813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0DAE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Responsabilidades del Scrum Team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1"/>
          <p:cNvSpPr/>
          <p:nvPr/>
        </p:nvSpPr>
        <p:spPr>
          <a:xfrm>
            <a:off x="191751" y="4265626"/>
            <a:ext cx="75000" cy="1117697"/>
          </a:xfrm>
          <a:prstGeom prst="rect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">
            <a:hlinkClick action="ppaction://hlinksldjump" r:id="rId15"/>
          </p:cNvPr>
          <p:cNvSpPr/>
          <p:nvPr/>
        </p:nvSpPr>
        <p:spPr>
          <a:xfrm>
            <a:off x="266783" y="4265626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1EAF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Eventos del Scrum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1"/>
          <p:cNvSpPr/>
          <p:nvPr/>
        </p:nvSpPr>
        <p:spPr>
          <a:xfrm>
            <a:off x="191751" y="5533439"/>
            <a:ext cx="75000" cy="1117697"/>
          </a:xfrm>
          <a:prstGeom prst="rect">
            <a:avLst/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">
            <a:hlinkClick action="ppaction://hlinksldjump" r:id="rId16"/>
          </p:cNvPr>
          <p:cNvSpPr/>
          <p:nvPr/>
        </p:nvSpPr>
        <p:spPr>
          <a:xfrm>
            <a:off x="266783" y="5533439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FDBE4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Artefactos y compromisos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1"/>
          <p:cNvSpPr/>
          <p:nvPr/>
        </p:nvSpPr>
        <p:spPr>
          <a:xfrm>
            <a:off x="191751" y="6801252"/>
            <a:ext cx="75000" cy="1117697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1">
            <a:hlinkClick action="ppaction://hlinksldjump" r:id="rId17"/>
          </p:cNvPr>
          <p:cNvSpPr/>
          <p:nvPr/>
        </p:nvSpPr>
        <p:spPr>
          <a:xfrm>
            <a:off x="266783" y="6801252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6E1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Integración y aprendizaje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1"/>
          <p:cNvSpPr/>
          <p:nvPr/>
        </p:nvSpPr>
        <p:spPr>
          <a:xfrm>
            <a:off x="191751" y="8069065"/>
            <a:ext cx="75000" cy="1117697"/>
          </a:xfrm>
          <a:prstGeom prst="rect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1">
            <a:hlinkClick action="ppaction://hlinksldjump" r:id="rId18"/>
          </p:cNvPr>
          <p:cNvSpPr/>
          <p:nvPr/>
        </p:nvSpPr>
        <p:spPr>
          <a:xfrm>
            <a:off x="266783" y="8069065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FF8D6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Comprueba lo aprendido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1">
            <a:hlinkClick action="ppaction://hlinksldjump" r:id="rId19"/>
          </p:cNvPr>
          <p:cNvSpPr/>
          <p:nvPr/>
        </p:nvSpPr>
        <p:spPr>
          <a:xfrm>
            <a:off x="191792" y="399700"/>
            <a:ext cx="75000" cy="984000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1">
            <a:hlinkClick action="ppaction://hlinksldjump" r:id="rId20"/>
          </p:cNvPr>
          <p:cNvSpPr/>
          <p:nvPr/>
        </p:nvSpPr>
        <p:spPr>
          <a:xfrm>
            <a:off x="266825" y="399900"/>
            <a:ext cx="2709300" cy="984000"/>
          </a:xfrm>
          <a:prstGeom prst="roundRect">
            <a:avLst>
              <a:gd fmla="val 14000" name="adj"/>
            </a:avLst>
          </a:prstGeom>
          <a:solidFill>
            <a:srgbClr val="D1E0F2"/>
          </a:solidFill>
          <a:ln>
            <a:noFill/>
          </a:ln>
        </p:spPr>
        <p:txBody>
          <a:bodyPr anchorCtr="0" anchor="ctr" bIns="40000" lIns="160000" spcFirstLastPara="1" rIns="100000" wrap="square" tIns="4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1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6" name="Google Shape;46;p1" title="correcciones sapiencia.png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266783" y="600314"/>
            <a:ext cx="486192" cy="486192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47;p1">
            <a:hlinkClick action="ppaction://hlinksldjump" r:id="rId22"/>
          </p:cNvPr>
          <p:cNvSpPr txBox="1"/>
          <p:nvPr/>
        </p:nvSpPr>
        <p:spPr>
          <a:xfrm>
            <a:off x="939099" y="660838"/>
            <a:ext cx="1541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Scrum por dentro</a:t>
            </a:r>
            <a:endParaRPr b="1" i="0" sz="1200" u="none" cap="none" strike="noStrike">
              <a:solidFill>
                <a:srgbClr val="3D21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1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Inicio</a:t>
            </a:r>
            <a:endParaRPr b="1" i="0" sz="1200" u="none" cap="none" strike="noStrike">
              <a:solidFill>
                <a:srgbClr val="A719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" name="Google Shape;48;p1"/>
          <p:cNvPicPr preferRelativeResize="0"/>
          <p:nvPr/>
        </p:nvPicPr>
        <p:blipFill rotWithShape="1">
          <a:blip r:embed="rId23">
            <a:alphaModFix/>
          </a:blip>
          <a:srcRect b="0" l="0" r="0" t="0"/>
          <a:stretch/>
        </p:blipFill>
        <p:spPr>
          <a:xfrm>
            <a:off x="13064074" y="9342814"/>
            <a:ext cx="5209845" cy="873507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2">
            <a:hlinkClick action="ppaction://hlinksldjump" r:id="rId24"/>
          </p:cNvPr>
          <p:cNvSpPr/>
          <p:nvPr/>
        </p:nvSpPr>
        <p:spPr>
          <a:xfrm>
            <a:off x="191751" y="9336878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2">
            <a:hlinkClick action="ppaction://hlinksldjump" r:id="rId24"/>
          </p:cNvPr>
          <p:cNvSpPr/>
          <p:nvPr/>
        </p:nvSpPr>
        <p:spPr>
          <a:xfrm>
            <a:off x="266783" y="9336878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Créditos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Equipo de producción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"/>
          <p:cNvSpPr/>
          <p:nvPr/>
        </p:nvSpPr>
        <p:spPr>
          <a:xfrm>
            <a:off x="3887703" y="1984772"/>
            <a:ext cx="14264640" cy="922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s-CO" sz="34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Elige por dónde comenzar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2"/>
          <p:cNvSpPr/>
          <p:nvPr/>
        </p:nvSpPr>
        <p:spPr>
          <a:xfrm>
            <a:off x="0" y="0"/>
            <a:ext cx="3168000" cy="10934700"/>
          </a:xfrm>
          <a:prstGeom prst="rect">
            <a:avLst/>
          </a:prstGeom>
          <a:solidFill>
            <a:srgbClr val="F5F3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2"/>
          <p:cNvSpPr/>
          <p:nvPr/>
        </p:nvSpPr>
        <p:spPr>
          <a:xfrm>
            <a:off x="3153046" y="0"/>
            <a:ext cx="15000" cy="10934700"/>
          </a:xfrm>
          <a:prstGeom prst="rect">
            <a:avLst/>
          </a:prstGeom>
          <a:solidFill>
            <a:srgbClr val="E0DA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2"/>
          <p:cNvSpPr/>
          <p:nvPr/>
        </p:nvSpPr>
        <p:spPr>
          <a:xfrm>
            <a:off x="191751" y="1550000"/>
            <a:ext cx="2784600" cy="14100"/>
          </a:xfrm>
          <a:prstGeom prst="rect">
            <a:avLst/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2"/>
          <p:cNvSpPr/>
          <p:nvPr/>
        </p:nvSpPr>
        <p:spPr>
          <a:xfrm>
            <a:off x="191751" y="1730000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2">
            <a:hlinkClick action="ppaction://hlinksldjump" r:id="rId3"/>
          </p:cNvPr>
          <p:cNvSpPr/>
          <p:nvPr/>
        </p:nvSpPr>
        <p:spPr>
          <a:xfrm>
            <a:off x="266783" y="1730000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Estructura Scrum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2">
            <a:hlinkClick action="ppaction://hlinksldjump" r:id="rId4"/>
          </p:cNvPr>
          <p:cNvSpPr/>
          <p:nvPr/>
        </p:nvSpPr>
        <p:spPr>
          <a:xfrm>
            <a:off x="191751" y="2997813"/>
            <a:ext cx="75000" cy="1117697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2">
            <a:hlinkClick action="ppaction://hlinksldjump" r:id="rId5"/>
          </p:cNvPr>
          <p:cNvSpPr/>
          <p:nvPr/>
        </p:nvSpPr>
        <p:spPr>
          <a:xfrm>
            <a:off x="266783" y="2997813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0DAEC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Responsabilidades del Scrum Team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2"/>
          <p:cNvSpPr/>
          <p:nvPr/>
        </p:nvSpPr>
        <p:spPr>
          <a:xfrm>
            <a:off x="191751" y="4265626"/>
            <a:ext cx="75000" cy="1117697"/>
          </a:xfrm>
          <a:prstGeom prst="rect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2">
            <a:hlinkClick action="ppaction://hlinksldjump" r:id="rId6"/>
          </p:cNvPr>
          <p:cNvSpPr/>
          <p:nvPr/>
        </p:nvSpPr>
        <p:spPr>
          <a:xfrm>
            <a:off x="266783" y="4265626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1EAF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Eventos del Scrum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2"/>
          <p:cNvSpPr/>
          <p:nvPr/>
        </p:nvSpPr>
        <p:spPr>
          <a:xfrm>
            <a:off x="191751" y="5533439"/>
            <a:ext cx="75000" cy="1117697"/>
          </a:xfrm>
          <a:prstGeom prst="rect">
            <a:avLst/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2">
            <a:hlinkClick action="ppaction://hlinksldjump" r:id="rId7"/>
          </p:cNvPr>
          <p:cNvSpPr/>
          <p:nvPr/>
        </p:nvSpPr>
        <p:spPr>
          <a:xfrm>
            <a:off x="266783" y="5533439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FDBE4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Artefactos y compromisos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2"/>
          <p:cNvSpPr/>
          <p:nvPr/>
        </p:nvSpPr>
        <p:spPr>
          <a:xfrm>
            <a:off x="191751" y="6801252"/>
            <a:ext cx="75000" cy="1117697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p2">
            <a:hlinkClick action="ppaction://hlinksldjump" r:id="rId8"/>
          </p:cNvPr>
          <p:cNvSpPr/>
          <p:nvPr/>
        </p:nvSpPr>
        <p:spPr>
          <a:xfrm>
            <a:off x="266783" y="6801252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6E1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Integración y aprendizaje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2"/>
          <p:cNvSpPr/>
          <p:nvPr/>
        </p:nvSpPr>
        <p:spPr>
          <a:xfrm>
            <a:off x="191751" y="8069065"/>
            <a:ext cx="75000" cy="1117697"/>
          </a:xfrm>
          <a:prstGeom prst="rect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2">
            <a:hlinkClick action="ppaction://hlinksldjump" r:id="rId9"/>
          </p:cNvPr>
          <p:cNvSpPr/>
          <p:nvPr/>
        </p:nvSpPr>
        <p:spPr>
          <a:xfrm>
            <a:off x="266783" y="8069065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FF8D6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Comprueba lo aprendido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2"/>
          <p:cNvSpPr/>
          <p:nvPr/>
        </p:nvSpPr>
        <p:spPr>
          <a:xfrm>
            <a:off x="4591655" y="9872067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2">
            <a:hlinkClick action="ppaction://hlinksldjump" r:id="rId10"/>
          </p:cNvPr>
          <p:cNvSpPr/>
          <p:nvPr/>
        </p:nvSpPr>
        <p:spPr>
          <a:xfrm>
            <a:off x="4591655" y="9812536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4275">
            <a:solidFill>
              <a:srgbClr val="66409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sng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Anterior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2"/>
          <p:cNvSpPr/>
          <p:nvPr/>
        </p:nvSpPr>
        <p:spPr>
          <a:xfrm>
            <a:off x="6378374" y="9872067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C8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2">
            <a:hlinkClick action="ppaction://hlinksldjump" r:id="rId11"/>
          </p:cNvPr>
          <p:cNvSpPr/>
          <p:nvPr/>
        </p:nvSpPr>
        <p:spPr>
          <a:xfrm>
            <a:off x="6378374" y="9812536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sng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Siguiente</a:t>
            </a:r>
            <a:endParaRPr b="1" i="0" sz="1578" u="sng" cap="none" strike="noStrike">
              <a:solidFill>
                <a:srgbClr val="663D8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2">
            <a:hlinkClick action="ppaction://hlinksldjump" r:id="rId12"/>
          </p:cNvPr>
          <p:cNvSpPr/>
          <p:nvPr/>
        </p:nvSpPr>
        <p:spPr>
          <a:xfrm>
            <a:off x="191792" y="399700"/>
            <a:ext cx="75000" cy="984000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2">
            <a:hlinkClick action="ppaction://hlinksldjump" r:id="rId13"/>
          </p:cNvPr>
          <p:cNvSpPr/>
          <p:nvPr/>
        </p:nvSpPr>
        <p:spPr>
          <a:xfrm>
            <a:off x="266825" y="399900"/>
            <a:ext cx="2709300" cy="984000"/>
          </a:xfrm>
          <a:prstGeom prst="roundRect">
            <a:avLst>
              <a:gd fmla="val 14000" name="adj"/>
            </a:avLst>
          </a:prstGeom>
          <a:solidFill>
            <a:srgbClr val="D1E0F2"/>
          </a:solidFill>
          <a:ln>
            <a:noFill/>
          </a:ln>
        </p:spPr>
        <p:txBody>
          <a:bodyPr anchorCtr="0" anchor="ctr" bIns="40000" lIns="160000" spcFirstLastPara="1" rIns="100000" wrap="square" tIns="4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1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6" name="Google Shape;76;p2" title="correcciones sapiencia.png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266783" y="600314"/>
            <a:ext cx="486192" cy="486192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2">
            <a:hlinkClick action="ppaction://hlinksldjump" r:id="rId15"/>
          </p:cNvPr>
          <p:cNvSpPr txBox="1"/>
          <p:nvPr/>
        </p:nvSpPr>
        <p:spPr>
          <a:xfrm>
            <a:off x="939099" y="660838"/>
            <a:ext cx="1541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Scrum por dentro</a:t>
            </a:r>
            <a:endParaRPr b="1" i="0" sz="1200" u="none" cap="none" strike="noStrike">
              <a:solidFill>
                <a:srgbClr val="3D21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1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Inicio</a:t>
            </a:r>
            <a:endParaRPr b="1" i="0" sz="1200" u="none" cap="none" strike="noStrike">
              <a:solidFill>
                <a:srgbClr val="A719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2"/>
          <p:cNvSpPr txBox="1"/>
          <p:nvPr/>
        </p:nvSpPr>
        <p:spPr>
          <a:xfrm>
            <a:off x="3886200" y="1481328"/>
            <a:ext cx="9144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s-CO" sz="15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Mapa de navegación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2"/>
          <p:cNvSpPr/>
          <p:nvPr/>
        </p:nvSpPr>
        <p:spPr>
          <a:xfrm>
            <a:off x="3886200" y="2834640"/>
            <a:ext cx="128016" cy="128016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2"/>
          <p:cNvSpPr/>
          <p:nvPr/>
        </p:nvSpPr>
        <p:spPr>
          <a:xfrm>
            <a:off x="4114800" y="2852928"/>
            <a:ext cx="91440" cy="9144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2"/>
          <p:cNvSpPr/>
          <p:nvPr/>
        </p:nvSpPr>
        <p:spPr>
          <a:xfrm>
            <a:off x="4334256" y="2852928"/>
            <a:ext cx="91440" cy="9144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2"/>
          <p:cNvSpPr/>
          <p:nvPr/>
        </p:nvSpPr>
        <p:spPr>
          <a:xfrm>
            <a:off x="4553712" y="2852928"/>
            <a:ext cx="91440" cy="9144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"/>
          <p:cNvSpPr/>
          <p:nvPr/>
        </p:nvSpPr>
        <p:spPr>
          <a:xfrm>
            <a:off x="4782312" y="2852928"/>
            <a:ext cx="91440" cy="9144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"/>
          <p:cNvSpPr/>
          <p:nvPr/>
        </p:nvSpPr>
        <p:spPr>
          <a:xfrm>
            <a:off x="5001768" y="2834640"/>
            <a:ext cx="128016" cy="128016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2"/>
          <p:cNvSpPr/>
          <p:nvPr/>
        </p:nvSpPr>
        <p:spPr>
          <a:xfrm>
            <a:off x="3886200" y="3429000"/>
            <a:ext cx="4541520" cy="201168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5875">
            <a:solidFill>
              <a:srgbClr val="DDD6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2"/>
          <p:cNvSpPr/>
          <p:nvPr/>
        </p:nvSpPr>
        <p:spPr>
          <a:xfrm>
            <a:off x="3886200" y="3429000"/>
            <a:ext cx="128016" cy="2011680"/>
          </a:xfrm>
          <a:prstGeom prst="roundRect">
            <a:avLst>
              <a:gd fmla="val 30000" name="adj"/>
            </a:avLst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2">
            <a:hlinkClick action="ppaction://hlinksldjump" r:id="rId16"/>
          </p:cNvPr>
          <p:cNvSpPr txBox="1"/>
          <p:nvPr/>
        </p:nvSpPr>
        <p:spPr>
          <a:xfrm>
            <a:off x="4297680" y="3840480"/>
            <a:ext cx="3810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s-CO" sz="20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1. Estructura Scrum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2"/>
          <p:cNvSpPr txBox="1"/>
          <p:nvPr/>
        </p:nvSpPr>
        <p:spPr>
          <a:xfrm>
            <a:off x="4297680" y="4758690"/>
            <a:ext cx="3810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s-CO" sz="160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Todo está conectado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2"/>
          <p:cNvSpPr/>
          <p:nvPr/>
        </p:nvSpPr>
        <p:spPr>
          <a:xfrm>
            <a:off x="8747760" y="3429000"/>
            <a:ext cx="4541520" cy="201168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5875">
            <a:solidFill>
              <a:srgbClr val="DDD6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2"/>
          <p:cNvSpPr/>
          <p:nvPr/>
        </p:nvSpPr>
        <p:spPr>
          <a:xfrm>
            <a:off x="8747760" y="3429000"/>
            <a:ext cx="128016" cy="2011680"/>
          </a:xfrm>
          <a:prstGeom prst="roundRect">
            <a:avLst>
              <a:gd fmla="val 30000" name="adj"/>
            </a:avLst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2">
            <a:hlinkClick action="ppaction://hlinksldjump" r:id="rId17"/>
          </p:cNvPr>
          <p:cNvSpPr txBox="1"/>
          <p:nvPr/>
        </p:nvSpPr>
        <p:spPr>
          <a:xfrm>
            <a:off x="9159240" y="3840480"/>
            <a:ext cx="3810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s-CO" sz="20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2. Responsabilidades del Scrum Team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2"/>
          <p:cNvSpPr txBox="1"/>
          <p:nvPr/>
        </p:nvSpPr>
        <p:spPr>
          <a:xfrm>
            <a:off x="9159240" y="4758690"/>
            <a:ext cx="3810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s-CO" sz="160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¿Quién hace qué?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2"/>
          <p:cNvSpPr/>
          <p:nvPr/>
        </p:nvSpPr>
        <p:spPr>
          <a:xfrm>
            <a:off x="13609320" y="3429000"/>
            <a:ext cx="4541520" cy="201168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5875">
            <a:solidFill>
              <a:srgbClr val="DDD6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13609320" y="3429000"/>
            <a:ext cx="128016" cy="2011680"/>
          </a:xfrm>
          <a:prstGeom prst="roundRect">
            <a:avLst>
              <a:gd fmla="val 30000" name="adj"/>
            </a:avLst>
          </a:prstGeom>
          <a:solidFill>
            <a:srgbClr val="2A56C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2">
            <a:hlinkClick action="ppaction://hlinksldjump" r:id="rId18"/>
          </p:cNvPr>
          <p:cNvSpPr txBox="1"/>
          <p:nvPr/>
        </p:nvSpPr>
        <p:spPr>
          <a:xfrm>
            <a:off x="14020799" y="3840480"/>
            <a:ext cx="3810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s-CO" sz="2000" u="none" cap="none" strike="noStrike">
                <a:solidFill>
                  <a:srgbClr val="2A56C6"/>
                </a:solidFill>
                <a:latin typeface="Arial"/>
                <a:ea typeface="Arial"/>
                <a:cs typeface="Arial"/>
                <a:sym typeface="Arial"/>
              </a:rPr>
              <a:t>3. Eventos del Scrum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2"/>
          <p:cNvSpPr txBox="1"/>
          <p:nvPr/>
        </p:nvSpPr>
        <p:spPr>
          <a:xfrm>
            <a:off x="14020799" y="4758690"/>
            <a:ext cx="3810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s-CO" sz="160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El ritmo de Scrum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2"/>
          <p:cNvSpPr/>
          <p:nvPr/>
        </p:nvSpPr>
        <p:spPr>
          <a:xfrm>
            <a:off x="3886200" y="5760720"/>
            <a:ext cx="4541520" cy="201168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5875">
            <a:solidFill>
              <a:srgbClr val="DDD6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2"/>
          <p:cNvSpPr/>
          <p:nvPr/>
        </p:nvSpPr>
        <p:spPr>
          <a:xfrm>
            <a:off x="3886200" y="5760720"/>
            <a:ext cx="128016" cy="2011680"/>
          </a:xfrm>
          <a:prstGeom prst="roundRect">
            <a:avLst>
              <a:gd fmla="val 30000" name="adj"/>
            </a:avLst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2">
            <a:hlinkClick action="ppaction://hlinksldjump" r:id="rId19"/>
          </p:cNvPr>
          <p:cNvSpPr txBox="1"/>
          <p:nvPr/>
        </p:nvSpPr>
        <p:spPr>
          <a:xfrm>
            <a:off x="4297680" y="6172200"/>
            <a:ext cx="3810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s-CO" sz="20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4. Artefactos y compromisos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4297680" y="7090410"/>
            <a:ext cx="3810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s-CO" sz="160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El trabajo se hace visible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2"/>
          <p:cNvSpPr/>
          <p:nvPr/>
        </p:nvSpPr>
        <p:spPr>
          <a:xfrm>
            <a:off x="8747760" y="5760720"/>
            <a:ext cx="4541520" cy="201168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5875">
            <a:solidFill>
              <a:srgbClr val="DDD6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2"/>
          <p:cNvSpPr/>
          <p:nvPr/>
        </p:nvSpPr>
        <p:spPr>
          <a:xfrm>
            <a:off x="8747760" y="5760720"/>
            <a:ext cx="128016" cy="2011680"/>
          </a:xfrm>
          <a:prstGeom prst="roundRect">
            <a:avLst>
              <a:gd fmla="val 30000" name="adj"/>
            </a:avLst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2">
            <a:hlinkClick action="ppaction://hlinksldjump" r:id="rId20"/>
          </p:cNvPr>
          <p:cNvSpPr txBox="1"/>
          <p:nvPr/>
        </p:nvSpPr>
        <p:spPr>
          <a:xfrm>
            <a:off x="9159240" y="6172200"/>
            <a:ext cx="3810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s-CO" sz="2000" u="none" cap="none" strike="noStrike">
                <a:solidFill>
                  <a:srgbClr val="024791"/>
                </a:solidFill>
                <a:latin typeface="Arial"/>
                <a:ea typeface="Arial"/>
                <a:cs typeface="Arial"/>
                <a:sym typeface="Arial"/>
              </a:rPr>
              <a:t>5. Integración y aprendizaje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2"/>
          <p:cNvSpPr txBox="1"/>
          <p:nvPr/>
        </p:nvSpPr>
        <p:spPr>
          <a:xfrm>
            <a:off x="9159240" y="7090410"/>
            <a:ext cx="3810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s-CO" sz="160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Las piezas se conectan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2"/>
          <p:cNvSpPr/>
          <p:nvPr/>
        </p:nvSpPr>
        <p:spPr>
          <a:xfrm>
            <a:off x="13609320" y="5760720"/>
            <a:ext cx="4541520" cy="201168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5875">
            <a:solidFill>
              <a:srgbClr val="DDD6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13609320" y="5760720"/>
            <a:ext cx="128016" cy="2011680"/>
          </a:xfrm>
          <a:prstGeom prst="roundRect">
            <a:avLst>
              <a:gd fmla="val 3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2">
            <a:hlinkClick action="ppaction://hlinksldjump" r:id="rId21"/>
          </p:cNvPr>
          <p:cNvSpPr txBox="1"/>
          <p:nvPr/>
        </p:nvSpPr>
        <p:spPr>
          <a:xfrm>
            <a:off x="14020799" y="6172200"/>
            <a:ext cx="3810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s-CO" sz="20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2"/>
          <p:cNvSpPr txBox="1"/>
          <p:nvPr/>
        </p:nvSpPr>
        <p:spPr>
          <a:xfrm>
            <a:off x="14020799" y="7090410"/>
            <a:ext cx="3810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s-CO" sz="160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Comprueba lo aprendido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2"/>
          <p:cNvSpPr txBox="1"/>
          <p:nvPr/>
        </p:nvSpPr>
        <p:spPr>
          <a:xfrm>
            <a:off x="3886200" y="8229600"/>
            <a:ext cx="14264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1" lang="es-CO" sz="1500" u="none" cap="none" strike="noStrike">
                <a:solidFill>
                  <a:srgbClr val="6B6570"/>
                </a:solidFill>
                <a:latin typeface="Arial"/>
                <a:ea typeface="Arial"/>
                <a:cs typeface="Arial"/>
                <a:sym typeface="Arial"/>
              </a:rPr>
              <a:t>Usa Inicio para volver a este menú desde cualquier otra sección.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2">
            <a:hlinkClick action="ppaction://hlinksldjump" r:id="rId22"/>
          </p:cNvPr>
          <p:cNvSpPr/>
          <p:nvPr/>
        </p:nvSpPr>
        <p:spPr>
          <a:xfrm>
            <a:off x="191751" y="9336878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2">
            <a:hlinkClick action="ppaction://hlinksldjump" r:id="rId22"/>
          </p:cNvPr>
          <p:cNvSpPr/>
          <p:nvPr/>
        </p:nvSpPr>
        <p:spPr>
          <a:xfrm>
            <a:off x="266783" y="9336878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Créditos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Equipo de producción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"/>
          <p:cNvSpPr/>
          <p:nvPr/>
        </p:nvSpPr>
        <p:spPr>
          <a:xfrm>
            <a:off x="3887703" y="1984772"/>
            <a:ext cx="1426464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s-CO" sz="3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1. Todo está conectado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3"/>
          <p:cNvSpPr/>
          <p:nvPr/>
        </p:nvSpPr>
        <p:spPr>
          <a:xfrm>
            <a:off x="0" y="0"/>
            <a:ext cx="3168000" cy="10934700"/>
          </a:xfrm>
          <a:prstGeom prst="rect">
            <a:avLst/>
          </a:prstGeom>
          <a:solidFill>
            <a:srgbClr val="F5F3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3"/>
          <p:cNvSpPr/>
          <p:nvPr/>
        </p:nvSpPr>
        <p:spPr>
          <a:xfrm>
            <a:off x="3153046" y="0"/>
            <a:ext cx="15000" cy="10934700"/>
          </a:xfrm>
          <a:prstGeom prst="rect">
            <a:avLst/>
          </a:prstGeom>
          <a:solidFill>
            <a:srgbClr val="E0DA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3"/>
          <p:cNvSpPr/>
          <p:nvPr/>
        </p:nvSpPr>
        <p:spPr>
          <a:xfrm>
            <a:off x="191751" y="1550000"/>
            <a:ext cx="2784600" cy="14100"/>
          </a:xfrm>
          <a:prstGeom prst="rect">
            <a:avLst/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3"/>
          <p:cNvSpPr/>
          <p:nvPr/>
        </p:nvSpPr>
        <p:spPr>
          <a:xfrm>
            <a:off x="191751" y="1730000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3">
            <a:hlinkClick action="ppaction://hlinksldjump" r:id="rId3"/>
          </p:cNvPr>
          <p:cNvSpPr/>
          <p:nvPr/>
        </p:nvSpPr>
        <p:spPr>
          <a:xfrm>
            <a:off x="266783" y="1730000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664092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Estructura Scrum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3">
            <a:hlinkClick action="ppaction://hlinksldjump" r:id="rId4"/>
          </p:cNvPr>
          <p:cNvSpPr/>
          <p:nvPr/>
        </p:nvSpPr>
        <p:spPr>
          <a:xfrm>
            <a:off x="191751" y="2997813"/>
            <a:ext cx="75000" cy="1117697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3">
            <a:hlinkClick action="ppaction://hlinksldjump" r:id="rId5"/>
          </p:cNvPr>
          <p:cNvSpPr/>
          <p:nvPr/>
        </p:nvSpPr>
        <p:spPr>
          <a:xfrm>
            <a:off x="266783" y="2997813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0DAEC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Responsabilidades del Scrum Team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3">
            <a:hlinkClick r:id="rId6"/>
          </p:cNvPr>
          <p:cNvSpPr/>
          <p:nvPr/>
        </p:nvSpPr>
        <p:spPr>
          <a:xfrm>
            <a:off x="191751" y="4265626"/>
            <a:ext cx="75000" cy="1117697"/>
          </a:xfrm>
          <a:prstGeom prst="rect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3">
            <a:hlinkClick action="ppaction://hlinksldjump" r:id="rId7"/>
          </p:cNvPr>
          <p:cNvSpPr/>
          <p:nvPr/>
        </p:nvSpPr>
        <p:spPr>
          <a:xfrm>
            <a:off x="266783" y="4265626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1EAF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Eventos del Scrum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3">
            <a:hlinkClick r:id="rId8"/>
          </p:cNvPr>
          <p:cNvSpPr/>
          <p:nvPr/>
        </p:nvSpPr>
        <p:spPr>
          <a:xfrm>
            <a:off x="191751" y="5533439"/>
            <a:ext cx="75000" cy="1117697"/>
          </a:xfrm>
          <a:prstGeom prst="rect">
            <a:avLst/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3">
            <a:hlinkClick action="ppaction://hlinksldjump" r:id="rId9"/>
          </p:cNvPr>
          <p:cNvSpPr/>
          <p:nvPr/>
        </p:nvSpPr>
        <p:spPr>
          <a:xfrm>
            <a:off x="266783" y="5533439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FDBE4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Artefactos y compromisos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3"/>
          <p:cNvSpPr/>
          <p:nvPr/>
        </p:nvSpPr>
        <p:spPr>
          <a:xfrm>
            <a:off x="191751" y="6801252"/>
            <a:ext cx="75000" cy="1117697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3">
            <a:hlinkClick action="ppaction://hlinksldjump" r:id="rId10"/>
          </p:cNvPr>
          <p:cNvSpPr/>
          <p:nvPr/>
        </p:nvSpPr>
        <p:spPr>
          <a:xfrm>
            <a:off x="266783" y="6801252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6E1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Integración y aprendizaje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3"/>
          <p:cNvSpPr/>
          <p:nvPr/>
        </p:nvSpPr>
        <p:spPr>
          <a:xfrm>
            <a:off x="191751" y="8069065"/>
            <a:ext cx="75000" cy="1117697"/>
          </a:xfrm>
          <a:prstGeom prst="rect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3">
            <a:hlinkClick action="ppaction://hlinksldjump" r:id="rId11"/>
          </p:cNvPr>
          <p:cNvSpPr/>
          <p:nvPr/>
        </p:nvSpPr>
        <p:spPr>
          <a:xfrm>
            <a:off x="266783" y="8069065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FF8D6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Comprueba lo aprendido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3"/>
          <p:cNvSpPr/>
          <p:nvPr/>
        </p:nvSpPr>
        <p:spPr>
          <a:xfrm>
            <a:off x="4591655" y="9872067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3">
            <a:hlinkClick action="ppaction://hlinksldjump" r:id="rId12"/>
          </p:cNvPr>
          <p:cNvSpPr/>
          <p:nvPr/>
        </p:nvSpPr>
        <p:spPr>
          <a:xfrm>
            <a:off x="4591655" y="9812536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4275">
            <a:solidFill>
              <a:srgbClr val="66409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sng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Anterior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3"/>
          <p:cNvSpPr/>
          <p:nvPr/>
        </p:nvSpPr>
        <p:spPr>
          <a:xfrm>
            <a:off x="6378374" y="9872067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C8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3">
            <a:hlinkClick action="ppaction://hlinksldjump" r:id="rId13"/>
          </p:cNvPr>
          <p:cNvSpPr/>
          <p:nvPr/>
        </p:nvSpPr>
        <p:spPr>
          <a:xfrm>
            <a:off x="6378374" y="9812536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sng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Siguiente</a:t>
            </a:r>
            <a:endParaRPr b="1" i="0" sz="1578" u="sng" cap="none" strike="noStrike">
              <a:solidFill>
                <a:srgbClr val="663D8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3">
            <a:hlinkClick action="ppaction://hlinksldjump" r:id="rId14"/>
          </p:cNvPr>
          <p:cNvSpPr/>
          <p:nvPr/>
        </p:nvSpPr>
        <p:spPr>
          <a:xfrm>
            <a:off x="191792" y="399700"/>
            <a:ext cx="75000" cy="984000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3">
            <a:hlinkClick action="ppaction://hlinksldjump" r:id="rId15"/>
          </p:cNvPr>
          <p:cNvSpPr/>
          <p:nvPr/>
        </p:nvSpPr>
        <p:spPr>
          <a:xfrm>
            <a:off x="266825" y="399900"/>
            <a:ext cx="2709300" cy="984000"/>
          </a:xfrm>
          <a:prstGeom prst="roundRect">
            <a:avLst>
              <a:gd fmla="val 14000" name="adj"/>
            </a:avLst>
          </a:prstGeom>
          <a:solidFill>
            <a:srgbClr val="D1E0F2"/>
          </a:solidFill>
          <a:ln>
            <a:noFill/>
          </a:ln>
        </p:spPr>
        <p:txBody>
          <a:bodyPr anchorCtr="0" anchor="ctr" bIns="40000" lIns="160000" spcFirstLastPara="1" rIns="100000" wrap="square" tIns="4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1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6" name="Google Shape;136;p3" title="correcciones sapiencia.png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266783" y="600314"/>
            <a:ext cx="486192" cy="486192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3">
            <a:hlinkClick action="ppaction://hlinksldjump" r:id="rId17"/>
          </p:cNvPr>
          <p:cNvSpPr txBox="1"/>
          <p:nvPr/>
        </p:nvSpPr>
        <p:spPr>
          <a:xfrm>
            <a:off x="939099" y="660838"/>
            <a:ext cx="1541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Scrum por dentro</a:t>
            </a:r>
            <a:endParaRPr b="1" i="0" sz="1200" u="none" cap="none" strike="noStrike">
              <a:solidFill>
                <a:srgbClr val="3D21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1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Inicio</a:t>
            </a:r>
            <a:endParaRPr b="1" i="0" sz="1200" u="none" cap="none" strike="noStrike">
              <a:solidFill>
                <a:srgbClr val="A719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3"/>
          <p:cNvSpPr txBox="1"/>
          <p:nvPr/>
        </p:nvSpPr>
        <p:spPr>
          <a:xfrm>
            <a:off x="3886200" y="1481328"/>
            <a:ext cx="9144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s-CO" sz="15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Tema 2 · Estructura del sistema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3"/>
          <p:cNvSpPr/>
          <p:nvPr/>
        </p:nvSpPr>
        <p:spPr>
          <a:xfrm>
            <a:off x="3886200" y="2834640"/>
            <a:ext cx="128016" cy="128016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3"/>
          <p:cNvSpPr/>
          <p:nvPr/>
        </p:nvSpPr>
        <p:spPr>
          <a:xfrm>
            <a:off x="4114800" y="2852928"/>
            <a:ext cx="91440" cy="9144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3"/>
          <p:cNvSpPr/>
          <p:nvPr/>
        </p:nvSpPr>
        <p:spPr>
          <a:xfrm>
            <a:off x="4334256" y="2852928"/>
            <a:ext cx="91440" cy="9144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3"/>
          <p:cNvSpPr/>
          <p:nvPr/>
        </p:nvSpPr>
        <p:spPr>
          <a:xfrm>
            <a:off x="4553712" y="2852928"/>
            <a:ext cx="91440" cy="9144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3"/>
          <p:cNvSpPr/>
          <p:nvPr/>
        </p:nvSpPr>
        <p:spPr>
          <a:xfrm>
            <a:off x="4782312" y="2852928"/>
            <a:ext cx="91440" cy="9144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3"/>
          <p:cNvSpPr/>
          <p:nvPr/>
        </p:nvSpPr>
        <p:spPr>
          <a:xfrm>
            <a:off x="5001768" y="2834640"/>
            <a:ext cx="128016" cy="128016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3"/>
          <p:cNvSpPr txBox="1"/>
          <p:nvPr/>
        </p:nvSpPr>
        <p:spPr>
          <a:xfrm>
            <a:off x="3886200" y="3200400"/>
            <a:ext cx="14264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s-CO" sz="190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Tres componentes, un mismo sistema: cómo se articulan para organizar el trabajo del equipo.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3"/>
          <p:cNvSpPr/>
          <p:nvPr/>
        </p:nvSpPr>
        <p:spPr>
          <a:xfrm>
            <a:off x="3886200" y="3786639"/>
            <a:ext cx="4541520" cy="306324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5875">
            <a:solidFill>
              <a:srgbClr val="DDD6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3"/>
          <p:cNvSpPr/>
          <p:nvPr/>
        </p:nvSpPr>
        <p:spPr>
          <a:xfrm>
            <a:off x="3886200" y="3786639"/>
            <a:ext cx="4541520" cy="91440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3"/>
          <p:cNvSpPr/>
          <p:nvPr/>
        </p:nvSpPr>
        <p:spPr>
          <a:xfrm>
            <a:off x="4206240" y="4152400"/>
            <a:ext cx="731520" cy="731520"/>
          </a:xfrm>
          <a:prstGeom prst="ellipse">
            <a:avLst/>
          </a:prstGeom>
          <a:solidFill>
            <a:srgbClr val="F1EB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9" name="Google Shape;149;p3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4352544" y="4298704"/>
            <a:ext cx="438912" cy="438912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3"/>
          <p:cNvSpPr txBox="1"/>
          <p:nvPr/>
        </p:nvSpPr>
        <p:spPr>
          <a:xfrm>
            <a:off x="4206240" y="5009650"/>
            <a:ext cx="390144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s-CO" sz="20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Responsabilidades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3"/>
          <p:cNvSpPr txBox="1"/>
          <p:nvPr/>
        </p:nvSpPr>
        <p:spPr>
          <a:xfrm>
            <a:off x="4206240" y="5676400"/>
            <a:ext cx="390144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s-CO" sz="170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¿Quiénes hacen posible el trabajo?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3"/>
          <p:cNvSpPr/>
          <p:nvPr/>
        </p:nvSpPr>
        <p:spPr>
          <a:xfrm>
            <a:off x="8747760" y="3786639"/>
            <a:ext cx="4541520" cy="306324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5875">
            <a:solidFill>
              <a:srgbClr val="DDD6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3"/>
          <p:cNvSpPr/>
          <p:nvPr/>
        </p:nvSpPr>
        <p:spPr>
          <a:xfrm>
            <a:off x="8747760" y="3786639"/>
            <a:ext cx="4541520" cy="91440"/>
          </a:xfrm>
          <a:prstGeom prst="rect">
            <a:avLst/>
          </a:prstGeom>
          <a:solidFill>
            <a:srgbClr val="2A56C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3"/>
          <p:cNvSpPr/>
          <p:nvPr/>
        </p:nvSpPr>
        <p:spPr>
          <a:xfrm>
            <a:off x="9067800" y="4152400"/>
            <a:ext cx="731520" cy="731520"/>
          </a:xfrm>
          <a:prstGeom prst="ellipse">
            <a:avLst/>
          </a:prstGeom>
          <a:solidFill>
            <a:srgbClr val="E8F1F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3"/>
          <p:cNvSpPr/>
          <p:nvPr/>
        </p:nvSpPr>
        <p:spPr>
          <a:xfrm>
            <a:off x="9214104" y="429870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3"/>
          <p:cNvSpPr txBox="1"/>
          <p:nvPr/>
        </p:nvSpPr>
        <p:spPr>
          <a:xfrm>
            <a:off x="9067800" y="5009650"/>
            <a:ext cx="390144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s-CO" sz="2000" u="none" cap="none" strike="noStrike">
                <a:solidFill>
                  <a:srgbClr val="2A56C6"/>
                </a:solidFill>
                <a:latin typeface="Arial"/>
                <a:ea typeface="Arial"/>
                <a:cs typeface="Arial"/>
                <a:sym typeface="Arial"/>
              </a:rPr>
              <a:t>Eventos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3"/>
          <p:cNvSpPr txBox="1"/>
          <p:nvPr/>
        </p:nvSpPr>
        <p:spPr>
          <a:xfrm>
            <a:off x="9067800" y="5676400"/>
            <a:ext cx="390144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s-CO" sz="170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¿Cuándo planificamos, inspeccionamos y adaptamos?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3"/>
          <p:cNvSpPr/>
          <p:nvPr/>
        </p:nvSpPr>
        <p:spPr>
          <a:xfrm>
            <a:off x="13609320" y="3786639"/>
            <a:ext cx="4541520" cy="306324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5875">
            <a:solidFill>
              <a:srgbClr val="DDD6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3"/>
          <p:cNvSpPr/>
          <p:nvPr/>
        </p:nvSpPr>
        <p:spPr>
          <a:xfrm>
            <a:off x="13609320" y="3786639"/>
            <a:ext cx="4541520" cy="91440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3"/>
          <p:cNvSpPr/>
          <p:nvPr/>
        </p:nvSpPr>
        <p:spPr>
          <a:xfrm>
            <a:off x="13929360" y="4152400"/>
            <a:ext cx="731520" cy="731520"/>
          </a:xfrm>
          <a:prstGeom prst="ellipse">
            <a:avLst/>
          </a:prstGeom>
          <a:solidFill>
            <a:srgbClr val="E6EE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1" name="Google Shape;161;p3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14075664" y="4298704"/>
            <a:ext cx="438912" cy="438912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3"/>
          <p:cNvSpPr txBox="1"/>
          <p:nvPr/>
        </p:nvSpPr>
        <p:spPr>
          <a:xfrm>
            <a:off x="13929360" y="5009650"/>
            <a:ext cx="390144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s-CO" sz="2000" u="none" cap="none" strike="noStrike">
                <a:solidFill>
                  <a:srgbClr val="024791"/>
                </a:solidFill>
                <a:latin typeface="Arial"/>
                <a:ea typeface="Arial"/>
                <a:cs typeface="Arial"/>
                <a:sym typeface="Arial"/>
              </a:rPr>
              <a:t>Artefactos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3"/>
          <p:cNvSpPr txBox="1"/>
          <p:nvPr/>
        </p:nvSpPr>
        <p:spPr>
          <a:xfrm>
            <a:off x="13929360" y="5676400"/>
            <a:ext cx="390144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s-CO" sz="170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¿Qué hace visible el trabajo y el valor generado?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3"/>
          <p:cNvSpPr/>
          <p:nvPr/>
        </p:nvSpPr>
        <p:spPr>
          <a:xfrm>
            <a:off x="3886200" y="7238500"/>
            <a:ext cx="14264640" cy="1170432"/>
          </a:xfrm>
          <a:prstGeom prst="roundRect">
            <a:avLst>
              <a:gd fmla="val 12000" name="adj"/>
            </a:avLst>
          </a:prstGeom>
          <a:solidFill>
            <a:srgbClr val="F1EB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3"/>
          <p:cNvSpPr/>
          <p:nvPr/>
        </p:nvSpPr>
        <p:spPr>
          <a:xfrm>
            <a:off x="3886200" y="7238500"/>
            <a:ext cx="82296" cy="1170432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3"/>
          <p:cNvSpPr/>
          <p:nvPr/>
        </p:nvSpPr>
        <p:spPr>
          <a:xfrm>
            <a:off x="4160520" y="7512820"/>
            <a:ext cx="603504" cy="603504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3"/>
          <p:cNvSpPr/>
          <p:nvPr/>
        </p:nvSpPr>
        <p:spPr>
          <a:xfrm>
            <a:off x="4288536" y="7640836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3"/>
          <p:cNvSpPr txBox="1"/>
          <p:nvPr/>
        </p:nvSpPr>
        <p:spPr>
          <a:xfrm>
            <a:off x="4983480" y="7366516"/>
            <a:ext cx="1298448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s-CO" sz="16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¿Qué nos plantea?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3"/>
          <p:cNvSpPr txBox="1"/>
          <p:nvPr/>
        </p:nvSpPr>
        <p:spPr>
          <a:xfrm>
            <a:off x="4983480" y="7713988"/>
            <a:ext cx="12984480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s-CO" sz="150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Ningún componente funciona de manera aislada: Scrum adquiere sentido en la relación entre ellos, no en su cumplimiento individual.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3"/>
          <p:cNvSpPr/>
          <p:nvPr/>
        </p:nvSpPr>
        <p:spPr>
          <a:xfrm>
            <a:off x="3886200" y="8696968"/>
            <a:ext cx="3638550" cy="402336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C9B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3"/>
          <p:cNvSpPr txBox="1"/>
          <p:nvPr/>
        </p:nvSpPr>
        <p:spPr>
          <a:xfrm>
            <a:off x="3886200" y="8696968"/>
            <a:ext cx="363855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s-CO" sz="1350" u="none" cap="none" strike="noStrike">
                <a:solidFill>
                  <a:srgbClr val="6B6570"/>
                </a:solidFill>
                <a:latin typeface="Arial"/>
                <a:ea typeface="Arial"/>
                <a:cs typeface="Arial"/>
                <a:sym typeface="Arial"/>
              </a:rPr>
              <a:t>Componentes aislados</a:t>
            </a:r>
            <a:endParaRPr b="0" i="0" sz="13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3"/>
          <p:cNvSpPr txBox="1"/>
          <p:nvPr/>
        </p:nvSpPr>
        <p:spPr>
          <a:xfrm>
            <a:off x="7600950" y="8696968"/>
            <a:ext cx="51435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s-CO" sz="22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≠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3"/>
          <p:cNvSpPr/>
          <p:nvPr/>
        </p:nvSpPr>
        <p:spPr>
          <a:xfrm>
            <a:off x="8210550" y="8696968"/>
            <a:ext cx="3857625" cy="402336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3"/>
          <p:cNvSpPr txBox="1"/>
          <p:nvPr/>
        </p:nvSpPr>
        <p:spPr>
          <a:xfrm>
            <a:off x="8210550" y="8696968"/>
            <a:ext cx="3857625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s-CO" sz="135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Sistema interdependiente</a:t>
            </a:r>
            <a:endParaRPr b="0" i="0" sz="13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hosphor calendar-blank, regular, #ddd5e7. https://phosphoricons.com/" id="175" name="Google Shape;175;p3"/>
          <p:cNvPicPr preferRelativeResize="0"/>
          <p:nvPr/>
        </p:nvPicPr>
        <p:blipFill rotWithShape="1">
          <a:blip r:embed="rId20">
            <a:alphaModFix/>
          </a:blip>
          <a:srcRect b="0" l="0" r="0" t="0"/>
          <a:stretch/>
        </p:blipFill>
        <p:spPr>
          <a:xfrm>
            <a:off x="9214104" y="4298704"/>
            <a:ext cx="438912" cy="43891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hosphor lightbulb, regular, #ddd5e7. https://phosphoricons.com/" id="176" name="Google Shape;176;p3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4288536" y="7640836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2">
            <a:hlinkClick action="ppaction://hlinksldjump" r:id="rId22"/>
          </p:cNvPr>
          <p:cNvSpPr/>
          <p:nvPr/>
        </p:nvSpPr>
        <p:spPr>
          <a:xfrm>
            <a:off x="191751" y="9336878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2">
            <a:hlinkClick action="ppaction://hlinksldjump" r:id="rId22"/>
          </p:cNvPr>
          <p:cNvSpPr/>
          <p:nvPr/>
        </p:nvSpPr>
        <p:spPr>
          <a:xfrm>
            <a:off x="266783" y="9336878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Créditos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Equipo de producción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4"/>
          <p:cNvSpPr/>
          <p:nvPr/>
        </p:nvSpPr>
        <p:spPr>
          <a:xfrm>
            <a:off x="3887703" y="1984772"/>
            <a:ext cx="1426464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s-CO" sz="3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2. ¿Quién hace qué?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4"/>
          <p:cNvSpPr/>
          <p:nvPr/>
        </p:nvSpPr>
        <p:spPr>
          <a:xfrm>
            <a:off x="0" y="0"/>
            <a:ext cx="3168000" cy="10934700"/>
          </a:xfrm>
          <a:prstGeom prst="rect">
            <a:avLst/>
          </a:prstGeom>
          <a:solidFill>
            <a:srgbClr val="F5F3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4"/>
          <p:cNvSpPr/>
          <p:nvPr/>
        </p:nvSpPr>
        <p:spPr>
          <a:xfrm>
            <a:off x="3153046" y="0"/>
            <a:ext cx="15000" cy="10934700"/>
          </a:xfrm>
          <a:prstGeom prst="rect">
            <a:avLst/>
          </a:prstGeom>
          <a:solidFill>
            <a:srgbClr val="E0DA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4"/>
          <p:cNvSpPr/>
          <p:nvPr/>
        </p:nvSpPr>
        <p:spPr>
          <a:xfrm>
            <a:off x="191751" y="1550000"/>
            <a:ext cx="2784600" cy="14100"/>
          </a:xfrm>
          <a:prstGeom prst="rect">
            <a:avLst/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4"/>
          <p:cNvSpPr/>
          <p:nvPr/>
        </p:nvSpPr>
        <p:spPr>
          <a:xfrm>
            <a:off x="191751" y="1730000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4">
            <a:hlinkClick action="ppaction://hlinksldjump" r:id="rId3"/>
          </p:cNvPr>
          <p:cNvSpPr/>
          <p:nvPr/>
        </p:nvSpPr>
        <p:spPr>
          <a:xfrm>
            <a:off x="266783" y="1730000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Estructura Scrum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4">
            <a:hlinkClick action="ppaction://hlinksldjump" r:id="rId4"/>
          </p:cNvPr>
          <p:cNvSpPr/>
          <p:nvPr/>
        </p:nvSpPr>
        <p:spPr>
          <a:xfrm>
            <a:off x="191751" y="2997813"/>
            <a:ext cx="75000" cy="1117697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4">
            <a:hlinkClick action="ppaction://hlinksldjump" r:id="rId5"/>
          </p:cNvPr>
          <p:cNvSpPr/>
          <p:nvPr/>
        </p:nvSpPr>
        <p:spPr>
          <a:xfrm>
            <a:off x="266783" y="2997813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A71989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Responsabilidades del Scrum Team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4">
            <a:hlinkClick r:id="rId6"/>
          </p:cNvPr>
          <p:cNvSpPr/>
          <p:nvPr/>
        </p:nvSpPr>
        <p:spPr>
          <a:xfrm>
            <a:off x="191751" y="4265626"/>
            <a:ext cx="75000" cy="1117697"/>
          </a:xfrm>
          <a:prstGeom prst="rect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4">
            <a:hlinkClick action="ppaction://hlinksldjump" r:id="rId7"/>
          </p:cNvPr>
          <p:cNvSpPr/>
          <p:nvPr/>
        </p:nvSpPr>
        <p:spPr>
          <a:xfrm>
            <a:off x="266783" y="4265626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1EAF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Eventos del Scrum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4">
            <a:hlinkClick r:id="rId8"/>
          </p:cNvPr>
          <p:cNvSpPr/>
          <p:nvPr/>
        </p:nvSpPr>
        <p:spPr>
          <a:xfrm>
            <a:off x="191751" y="5533439"/>
            <a:ext cx="75000" cy="1117697"/>
          </a:xfrm>
          <a:prstGeom prst="rect">
            <a:avLst/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4">
            <a:hlinkClick action="ppaction://hlinksldjump" r:id="rId9"/>
          </p:cNvPr>
          <p:cNvSpPr/>
          <p:nvPr/>
        </p:nvSpPr>
        <p:spPr>
          <a:xfrm>
            <a:off x="266783" y="5533439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FDBE4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Artefactos y compromisos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4"/>
          <p:cNvSpPr/>
          <p:nvPr/>
        </p:nvSpPr>
        <p:spPr>
          <a:xfrm>
            <a:off x="191751" y="6801252"/>
            <a:ext cx="75000" cy="1117697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4">
            <a:hlinkClick action="ppaction://hlinksldjump" r:id="rId10"/>
          </p:cNvPr>
          <p:cNvSpPr/>
          <p:nvPr/>
        </p:nvSpPr>
        <p:spPr>
          <a:xfrm>
            <a:off x="266783" y="6801252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6E1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Integración y aprendizaje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4"/>
          <p:cNvSpPr/>
          <p:nvPr/>
        </p:nvSpPr>
        <p:spPr>
          <a:xfrm>
            <a:off x="191751" y="8069065"/>
            <a:ext cx="75000" cy="1117697"/>
          </a:xfrm>
          <a:prstGeom prst="rect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4">
            <a:hlinkClick action="ppaction://hlinksldjump" r:id="rId11"/>
          </p:cNvPr>
          <p:cNvSpPr/>
          <p:nvPr/>
        </p:nvSpPr>
        <p:spPr>
          <a:xfrm>
            <a:off x="266783" y="8069065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FF8D6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Comprueba lo aprendido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4"/>
          <p:cNvSpPr/>
          <p:nvPr/>
        </p:nvSpPr>
        <p:spPr>
          <a:xfrm>
            <a:off x="4591655" y="9872067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4">
            <a:hlinkClick action="ppaction://hlinksldjump" r:id="rId12"/>
          </p:cNvPr>
          <p:cNvSpPr/>
          <p:nvPr/>
        </p:nvSpPr>
        <p:spPr>
          <a:xfrm>
            <a:off x="4591655" y="9812536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4275">
            <a:solidFill>
              <a:srgbClr val="66409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sng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Anterior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4"/>
          <p:cNvSpPr/>
          <p:nvPr/>
        </p:nvSpPr>
        <p:spPr>
          <a:xfrm>
            <a:off x="6378374" y="9872067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C8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">
            <a:hlinkClick action="ppaction://hlinksldjump" r:id="rId13"/>
          </p:cNvPr>
          <p:cNvSpPr/>
          <p:nvPr/>
        </p:nvSpPr>
        <p:spPr>
          <a:xfrm>
            <a:off x="6378374" y="9812536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sng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Siguiente</a:t>
            </a:r>
            <a:endParaRPr b="1" i="0" sz="1578" u="sng" cap="none" strike="noStrike">
              <a:solidFill>
                <a:srgbClr val="663D8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4">
            <a:hlinkClick action="ppaction://hlinksldjump" r:id="rId14"/>
          </p:cNvPr>
          <p:cNvSpPr/>
          <p:nvPr/>
        </p:nvSpPr>
        <p:spPr>
          <a:xfrm>
            <a:off x="191792" y="399700"/>
            <a:ext cx="75000" cy="984000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4">
            <a:hlinkClick action="ppaction://hlinksldjump" r:id="rId15"/>
          </p:cNvPr>
          <p:cNvSpPr/>
          <p:nvPr/>
        </p:nvSpPr>
        <p:spPr>
          <a:xfrm>
            <a:off x="266825" y="399900"/>
            <a:ext cx="2709300" cy="984000"/>
          </a:xfrm>
          <a:prstGeom prst="roundRect">
            <a:avLst>
              <a:gd fmla="val 14000" name="adj"/>
            </a:avLst>
          </a:prstGeom>
          <a:solidFill>
            <a:srgbClr val="D1E0F2"/>
          </a:solidFill>
          <a:ln>
            <a:noFill/>
          </a:ln>
        </p:spPr>
        <p:txBody>
          <a:bodyPr anchorCtr="0" anchor="ctr" bIns="40000" lIns="160000" spcFirstLastPara="1" rIns="100000" wrap="square" tIns="4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1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3" name="Google Shape;203;p4" title="correcciones sapiencia.png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266783" y="600314"/>
            <a:ext cx="486192" cy="486192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4">
            <a:hlinkClick action="ppaction://hlinksldjump" r:id="rId17"/>
          </p:cNvPr>
          <p:cNvSpPr txBox="1"/>
          <p:nvPr/>
        </p:nvSpPr>
        <p:spPr>
          <a:xfrm>
            <a:off x="939099" y="660838"/>
            <a:ext cx="1541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Scrum por dentro</a:t>
            </a:r>
            <a:endParaRPr b="1" i="0" sz="1200" u="none" cap="none" strike="noStrike">
              <a:solidFill>
                <a:srgbClr val="3D21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1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Inicio</a:t>
            </a:r>
            <a:endParaRPr b="1" i="0" sz="1200" u="none" cap="none" strike="noStrike">
              <a:solidFill>
                <a:srgbClr val="A719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4"/>
          <p:cNvSpPr txBox="1"/>
          <p:nvPr/>
        </p:nvSpPr>
        <p:spPr>
          <a:xfrm>
            <a:off x="3886200" y="1481328"/>
            <a:ext cx="9144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s-CO" sz="15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Tema 2 · Estructura del sistema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4"/>
          <p:cNvSpPr/>
          <p:nvPr/>
        </p:nvSpPr>
        <p:spPr>
          <a:xfrm>
            <a:off x="3886200" y="2834640"/>
            <a:ext cx="128016" cy="128016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4"/>
          <p:cNvSpPr/>
          <p:nvPr/>
        </p:nvSpPr>
        <p:spPr>
          <a:xfrm>
            <a:off x="4114800" y="2852928"/>
            <a:ext cx="91440" cy="9144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4"/>
          <p:cNvSpPr/>
          <p:nvPr/>
        </p:nvSpPr>
        <p:spPr>
          <a:xfrm>
            <a:off x="4334256" y="2852928"/>
            <a:ext cx="91440" cy="9144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4"/>
          <p:cNvSpPr/>
          <p:nvPr/>
        </p:nvSpPr>
        <p:spPr>
          <a:xfrm>
            <a:off x="4553712" y="2852928"/>
            <a:ext cx="91440" cy="9144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4"/>
          <p:cNvSpPr/>
          <p:nvPr/>
        </p:nvSpPr>
        <p:spPr>
          <a:xfrm>
            <a:off x="4782312" y="2852928"/>
            <a:ext cx="91440" cy="9144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4"/>
          <p:cNvSpPr/>
          <p:nvPr/>
        </p:nvSpPr>
        <p:spPr>
          <a:xfrm>
            <a:off x="5001768" y="2834640"/>
            <a:ext cx="128016" cy="128016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4"/>
          <p:cNvSpPr txBox="1"/>
          <p:nvPr/>
        </p:nvSpPr>
        <p:spPr>
          <a:xfrm>
            <a:off x="3886200" y="3200400"/>
            <a:ext cx="14264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s-CO" sz="190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Las responsabilidades en el Scrum Team: un equipo orientado a objetivos compartidos.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4"/>
          <p:cNvSpPr/>
          <p:nvPr/>
        </p:nvSpPr>
        <p:spPr>
          <a:xfrm>
            <a:off x="3886200" y="3786639"/>
            <a:ext cx="4541520" cy="306324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5875">
            <a:solidFill>
              <a:srgbClr val="DDD6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4"/>
          <p:cNvSpPr/>
          <p:nvPr/>
        </p:nvSpPr>
        <p:spPr>
          <a:xfrm>
            <a:off x="3886200" y="3786639"/>
            <a:ext cx="4541520" cy="91440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4"/>
          <p:cNvSpPr/>
          <p:nvPr/>
        </p:nvSpPr>
        <p:spPr>
          <a:xfrm>
            <a:off x="4206240" y="4152400"/>
            <a:ext cx="731520" cy="731520"/>
          </a:xfrm>
          <a:prstGeom prst="ellipse">
            <a:avLst/>
          </a:prstGeom>
          <a:solidFill>
            <a:srgbClr val="F1EB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6" name="Google Shape;216;p4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4352544" y="4298704"/>
            <a:ext cx="438912" cy="438912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4"/>
          <p:cNvSpPr txBox="1"/>
          <p:nvPr/>
        </p:nvSpPr>
        <p:spPr>
          <a:xfrm>
            <a:off x="4206240" y="5009650"/>
            <a:ext cx="390144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s-CO" sz="20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Product Owner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4"/>
          <p:cNvSpPr txBox="1"/>
          <p:nvPr/>
        </p:nvSpPr>
        <p:spPr>
          <a:xfrm>
            <a:off x="4206240" y="5676400"/>
            <a:ext cx="390144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50"/>
              <a:buFont typeface="Arial"/>
              <a:buNone/>
            </a:pPr>
            <a:r>
              <a:rPr b="0" i="0" lang="es-CO" sz="155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Maximiza el valor del producto y gestiona eficazmente el Product Backlog.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4"/>
          <p:cNvSpPr/>
          <p:nvPr/>
        </p:nvSpPr>
        <p:spPr>
          <a:xfrm>
            <a:off x="8747760" y="3786639"/>
            <a:ext cx="4541520" cy="306324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5875">
            <a:solidFill>
              <a:srgbClr val="DDD6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"/>
          <p:cNvSpPr/>
          <p:nvPr/>
        </p:nvSpPr>
        <p:spPr>
          <a:xfrm>
            <a:off x="8747760" y="3786639"/>
            <a:ext cx="4541520" cy="91440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4"/>
          <p:cNvSpPr/>
          <p:nvPr/>
        </p:nvSpPr>
        <p:spPr>
          <a:xfrm>
            <a:off x="9067800" y="4152400"/>
            <a:ext cx="731520" cy="731520"/>
          </a:xfrm>
          <a:prstGeom prst="ellipse">
            <a:avLst/>
          </a:prstGeom>
          <a:solidFill>
            <a:srgbClr val="F6EB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4"/>
          <p:cNvSpPr/>
          <p:nvPr/>
        </p:nvSpPr>
        <p:spPr>
          <a:xfrm>
            <a:off x="9214104" y="429870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4"/>
          <p:cNvSpPr txBox="1"/>
          <p:nvPr/>
        </p:nvSpPr>
        <p:spPr>
          <a:xfrm>
            <a:off x="9067800" y="5009650"/>
            <a:ext cx="390144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s-CO" sz="20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Scrum Master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4"/>
          <p:cNvSpPr txBox="1"/>
          <p:nvPr/>
        </p:nvSpPr>
        <p:spPr>
          <a:xfrm>
            <a:off x="9067800" y="5676400"/>
            <a:ext cx="390144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50"/>
              <a:buFont typeface="Arial"/>
              <a:buNone/>
            </a:pPr>
            <a:r>
              <a:rPr b="0" i="0" lang="es-CO" sz="155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Favorece la comprensión y aplicación de Scrum, y contribuye a mejorar la efectividad del equipo.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"/>
          <p:cNvSpPr/>
          <p:nvPr/>
        </p:nvSpPr>
        <p:spPr>
          <a:xfrm>
            <a:off x="13609320" y="3786639"/>
            <a:ext cx="4541520" cy="306324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5875">
            <a:solidFill>
              <a:srgbClr val="DDD6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"/>
          <p:cNvSpPr/>
          <p:nvPr/>
        </p:nvSpPr>
        <p:spPr>
          <a:xfrm>
            <a:off x="13609320" y="3786639"/>
            <a:ext cx="4541520" cy="91440"/>
          </a:xfrm>
          <a:prstGeom prst="rect">
            <a:avLst/>
          </a:prstGeom>
          <a:solidFill>
            <a:srgbClr val="2A56C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4"/>
          <p:cNvSpPr/>
          <p:nvPr/>
        </p:nvSpPr>
        <p:spPr>
          <a:xfrm>
            <a:off x="13929360" y="4152400"/>
            <a:ext cx="731520" cy="731520"/>
          </a:xfrm>
          <a:prstGeom prst="ellipse">
            <a:avLst/>
          </a:prstGeom>
          <a:solidFill>
            <a:srgbClr val="E8F1F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8" name="Google Shape;228;p4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14075664" y="4298704"/>
            <a:ext cx="438912" cy="4389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4"/>
          <p:cNvSpPr txBox="1"/>
          <p:nvPr/>
        </p:nvSpPr>
        <p:spPr>
          <a:xfrm>
            <a:off x="13929360" y="5009650"/>
            <a:ext cx="390144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s-CO" sz="2000" u="none" cap="none" strike="noStrike">
                <a:solidFill>
                  <a:srgbClr val="2A56C6"/>
                </a:solidFill>
                <a:latin typeface="Arial"/>
                <a:ea typeface="Arial"/>
                <a:cs typeface="Arial"/>
                <a:sym typeface="Arial"/>
              </a:rPr>
              <a:t>Developers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4"/>
          <p:cNvSpPr txBox="1"/>
          <p:nvPr/>
        </p:nvSpPr>
        <p:spPr>
          <a:xfrm>
            <a:off x="13929360" y="5676400"/>
            <a:ext cx="390144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50"/>
              <a:buFont typeface="Arial"/>
              <a:buNone/>
            </a:pPr>
            <a:r>
              <a:rPr b="0" i="0" lang="es-CO" sz="155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Crean un incremento utilizable y adaptan su plan de trabajo durante cada Sprint.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4"/>
          <p:cNvSpPr/>
          <p:nvPr/>
        </p:nvSpPr>
        <p:spPr>
          <a:xfrm>
            <a:off x="3886200" y="7238500"/>
            <a:ext cx="14264640" cy="1170432"/>
          </a:xfrm>
          <a:prstGeom prst="roundRect">
            <a:avLst>
              <a:gd fmla="val 12000" name="adj"/>
            </a:avLst>
          </a:prstGeom>
          <a:solidFill>
            <a:srgbClr val="F1EB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4"/>
          <p:cNvSpPr/>
          <p:nvPr/>
        </p:nvSpPr>
        <p:spPr>
          <a:xfrm>
            <a:off x="3886200" y="7238500"/>
            <a:ext cx="82296" cy="1170432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4"/>
          <p:cNvSpPr/>
          <p:nvPr/>
        </p:nvSpPr>
        <p:spPr>
          <a:xfrm>
            <a:off x="4160520" y="7512820"/>
            <a:ext cx="603504" cy="603504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4"/>
          <p:cNvSpPr/>
          <p:nvPr/>
        </p:nvSpPr>
        <p:spPr>
          <a:xfrm>
            <a:off x="4288536" y="7640836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4"/>
          <p:cNvSpPr txBox="1"/>
          <p:nvPr/>
        </p:nvSpPr>
        <p:spPr>
          <a:xfrm>
            <a:off x="4983480" y="7366516"/>
            <a:ext cx="1298448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s-CO" sz="16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¿Qué nos plantea?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"/>
          <p:cNvSpPr txBox="1"/>
          <p:nvPr/>
        </p:nvSpPr>
        <p:spPr>
          <a:xfrm>
            <a:off x="4983480" y="7713988"/>
            <a:ext cx="12984480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s-CO" sz="150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El equipo trabaja de manera colaborativa hacia objetivos compartidos. Cada responsabilidad tiene un propósito particular, pero ninguna genera valor de manera aislada.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4"/>
          <p:cNvSpPr/>
          <p:nvPr/>
        </p:nvSpPr>
        <p:spPr>
          <a:xfrm>
            <a:off x="3886200" y="8696968"/>
            <a:ext cx="3638550" cy="402336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C9B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4"/>
          <p:cNvSpPr txBox="1"/>
          <p:nvPr/>
        </p:nvSpPr>
        <p:spPr>
          <a:xfrm>
            <a:off x="3886200" y="8696968"/>
            <a:ext cx="363855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s-CO" sz="1350" u="none" cap="none" strike="noStrike">
                <a:solidFill>
                  <a:srgbClr val="6B6570"/>
                </a:solidFill>
                <a:latin typeface="Arial"/>
                <a:ea typeface="Arial"/>
                <a:cs typeface="Arial"/>
                <a:sym typeface="Arial"/>
              </a:rPr>
              <a:t>Jerarquía fragmentada</a:t>
            </a:r>
            <a:endParaRPr b="0" i="0" sz="13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4"/>
          <p:cNvSpPr txBox="1"/>
          <p:nvPr/>
        </p:nvSpPr>
        <p:spPr>
          <a:xfrm>
            <a:off x="7600950" y="8696968"/>
            <a:ext cx="51435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s-CO" sz="22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≠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4"/>
          <p:cNvSpPr/>
          <p:nvPr/>
        </p:nvSpPr>
        <p:spPr>
          <a:xfrm>
            <a:off x="8210550" y="8696968"/>
            <a:ext cx="3857625" cy="402336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4"/>
          <p:cNvSpPr txBox="1"/>
          <p:nvPr/>
        </p:nvSpPr>
        <p:spPr>
          <a:xfrm>
            <a:off x="8210550" y="8696968"/>
            <a:ext cx="3857625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s-CO" sz="135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Responsabilidades compartidas</a:t>
            </a:r>
            <a:endParaRPr b="0" i="0" sz="13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hosphor handshake, regular, #ddd5e7. https://phosphoricons.com/" id="242" name="Google Shape;242;p4"/>
          <p:cNvPicPr preferRelativeResize="0"/>
          <p:nvPr/>
        </p:nvPicPr>
        <p:blipFill rotWithShape="1">
          <a:blip r:embed="rId20">
            <a:alphaModFix/>
          </a:blip>
          <a:srcRect b="0" l="0" r="0" t="0"/>
          <a:stretch/>
        </p:blipFill>
        <p:spPr>
          <a:xfrm>
            <a:off x="9214104" y="4298704"/>
            <a:ext cx="438912" cy="43891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hosphor lightbulb, regular, #ddd5e7. https://phosphoricons.com/" id="243" name="Google Shape;243;p4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4288536" y="7640836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2">
            <a:hlinkClick action="ppaction://hlinksldjump" r:id="rId22"/>
          </p:cNvPr>
          <p:cNvSpPr/>
          <p:nvPr/>
        </p:nvSpPr>
        <p:spPr>
          <a:xfrm>
            <a:off x="191751" y="9336878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2">
            <a:hlinkClick action="ppaction://hlinksldjump" r:id="rId22"/>
          </p:cNvPr>
          <p:cNvSpPr/>
          <p:nvPr/>
        </p:nvSpPr>
        <p:spPr>
          <a:xfrm>
            <a:off x="266783" y="9336878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Créditos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Equipo de producción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5"/>
          <p:cNvSpPr/>
          <p:nvPr/>
        </p:nvSpPr>
        <p:spPr>
          <a:xfrm>
            <a:off x="3887703" y="1984772"/>
            <a:ext cx="1426464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s-CO" sz="3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3. Product Owner: mantener el foco en el valor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5"/>
          <p:cNvSpPr/>
          <p:nvPr/>
        </p:nvSpPr>
        <p:spPr>
          <a:xfrm>
            <a:off x="0" y="0"/>
            <a:ext cx="3168000" cy="10934700"/>
          </a:xfrm>
          <a:prstGeom prst="rect">
            <a:avLst/>
          </a:prstGeom>
          <a:solidFill>
            <a:srgbClr val="F5F3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5"/>
          <p:cNvSpPr/>
          <p:nvPr/>
        </p:nvSpPr>
        <p:spPr>
          <a:xfrm>
            <a:off x="3153046" y="0"/>
            <a:ext cx="15000" cy="10934700"/>
          </a:xfrm>
          <a:prstGeom prst="rect">
            <a:avLst/>
          </a:prstGeom>
          <a:solidFill>
            <a:srgbClr val="E0DA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5"/>
          <p:cNvSpPr/>
          <p:nvPr/>
        </p:nvSpPr>
        <p:spPr>
          <a:xfrm>
            <a:off x="191751" y="1550000"/>
            <a:ext cx="2784600" cy="14100"/>
          </a:xfrm>
          <a:prstGeom prst="rect">
            <a:avLst/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5"/>
          <p:cNvSpPr/>
          <p:nvPr/>
        </p:nvSpPr>
        <p:spPr>
          <a:xfrm>
            <a:off x="191751" y="1730000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5">
            <a:hlinkClick action="ppaction://hlinksldjump" r:id="rId3"/>
          </p:cNvPr>
          <p:cNvSpPr/>
          <p:nvPr/>
        </p:nvSpPr>
        <p:spPr>
          <a:xfrm>
            <a:off x="266783" y="1730000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Estructura Scrum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">
            <a:hlinkClick action="ppaction://hlinksldjump" r:id="rId4"/>
          </p:cNvPr>
          <p:cNvSpPr/>
          <p:nvPr/>
        </p:nvSpPr>
        <p:spPr>
          <a:xfrm>
            <a:off x="191751" y="2997813"/>
            <a:ext cx="75000" cy="1117697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5">
            <a:hlinkClick action="ppaction://hlinksldjump" r:id="rId5"/>
          </p:cNvPr>
          <p:cNvSpPr/>
          <p:nvPr/>
        </p:nvSpPr>
        <p:spPr>
          <a:xfrm>
            <a:off x="266783" y="2997813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A71989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Responsabilidades del Scrum Team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5">
            <a:hlinkClick r:id="rId6"/>
          </p:cNvPr>
          <p:cNvSpPr/>
          <p:nvPr/>
        </p:nvSpPr>
        <p:spPr>
          <a:xfrm>
            <a:off x="191751" y="4265626"/>
            <a:ext cx="75000" cy="1117697"/>
          </a:xfrm>
          <a:prstGeom prst="rect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5">
            <a:hlinkClick action="ppaction://hlinksldjump" r:id="rId7"/>
          </p:cNvPr>
          <p:cNvSpPr/>
          <p:nvPr/>
        </p:nvSpPr>
        <p:spPr>
          <a:xfrm>
            <a:off x="266783" y="4265626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1EAF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Eventos del Scrum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5"/>
          <p:cNvSpPr/>
          <p:nvPr/>
        </p:nvSpPr>
        <p:spPr>
          <a:xfrm>
            <a:off x="191751" y="5533439"/>
            <a:ext cx="75000" cy="1117697"/>
          </a:xfrm>
          <a:prstGeom prst="rect">
            <a:avLst/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5">
            <a:hlinkClick action="ppaction://hlinksldjump" r:id="rId8"/>
          </p:cNvPr>
          <p:cNvSpPr/>
          <p:nvPr/>
        </p:nvSpPr>
        <p:spPr>
          <a:xfrm>
            <a:off x="266783" y="5533439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FDBE4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Artefactos y compromisos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5"/>
          <p:cNvSpPr/>
          <p:nvPr/>
        </p:nvSpPr>
        <p:spPr>
          <a:xfrm>
            <a:off x="191751" y="6801252"/>
            <a:ext cx="75000" cy="1117697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5">
            <a:hlinkClick action="ppaction://hlinksldjump" r:id="rId9"/>
          </p:cNvPr>
          <p:cNvSpPr/>
          <p:nvPr/>
        </p:nvSpPr>
        <p:spPr>
          <a:xfrm>
            <a:off x="266783" y="6801252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6E1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Integración y aprendizaje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5"/>
          <p:cNvSpPr/>
          <p:nvPr/>
        </p:nvSpPr>
        <p:spPr>
          <a:xfrm>
            <a:off x="191751" y="8069065"/>
            <a:ext cx="75000" cy="1117697"/>
          </a:xfrm>
          <a:prstGeom prst="rect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5">
            <a:hlinkClick action="ppaction://hlinksldjump" r:id="rId10"/>
          </p:cNvPr>
          <p:cNvSpPr/>
          <p:nvPr/>
        </p:nvSpPr>
        <p:spPr>
          <a:xfrm>
            <a:off x="266783" y="8069065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FF8D6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Comprueba lo aprendido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"/>
          <p:cNvSpPr/>
          <p:nvPr/>
        </p:nvSpPr>
        <p:spPr>
          <a:xfrm>
            <a:off x="4591655" y="9872067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5">
            <a:hlinkClick action="ppaction://hlinksldjump" r:id="rId11"/>
          </p:cNvPr>
          <p:cNvSpPr/>
          <p:nvPr/>
        </p:nvSpPr>
        <p:spPr>
          <a:xfrm>
            <a:off x="4591655" y="9812536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4275">
            <a:solidFill>
              <a:srgbClr val="66409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sng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Anterior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5"/>
          <p:cNvSpPr/>
          <p:nvPr/>
        </p:nvSpPr>
        <p:spPr>
          <a:xfrm>
            <a:off x="6378374" y="9872067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C8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5">
            <a:hlinkClick action="ppaction://hlinksldjump" r:id="rId12"/>
          </p:cNvPr>
          <p:cNvSpPr/>
          <p:nvPr/>
        </p:nvSpPr>
        <p:spPr>
          <a:xfrm>
            <a:off x="6378374" y="9812536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sng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Siguiente</a:t>
            </a:r>
            <a:endParaRPr b="1" i="0" sz="1578" u="sng" cap="none" strike="noStrike">
              <a:solidFill>
                <a:srgbClr val="663D8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5">
            <a:hlinkClick action="ppaction://hlinksldjump" r:id="rId13"/>
          </p:cNvPr>
          <p:cNvSpPr/>
          <p:nvPr/>
        </p:nvSpPr>
        <p:spPr>
          <a:xfrm>
            <a:off x="191792" y="399700"/>
            <a:ext cx="75000" cy="984000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5">
            <a:hlinkClick action="ppaction://hlinksldjump" r:id="rId14"/>
          </p:cNvPr>
          <p:cNvSpPr/>
          <p:nvPr/>
        </p:nvSpPr>
        <p:spPr>
          <a:xfrm>
            <a:off x="266825" y="399900"/>
            <a:ext cx="2709300" cy="984000"/>
          </a:xfrm>
          <a:prstGeom prst="roundRect">
            <a:avLst>
              <a:gd fmla="val 14000" name="adj"/>
            </a:avLst>
          </a:prstGeom>
          <a:solidFill>
            <a:srgbClr val="D1E0F2"/>
          </a:solidFill>
          <a:ln>
            <a:noFill/>
          </a:ln>
        </p:spPr>
        <p:txBody>
          <a:bodyPr anchorCtr="0" anchor="ctr" bIns="40000" lIns="160000" spcFirstLastPara="1" rIns="100000" wrap="square" tIns="4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1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0" name="Google Shape;270;p5" title="correcciones sapiencia.png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266783" y="600314"/>
            <a:ext cx="486192" cy="486192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5">
            <a:hlinkClick action="ppaction://hlinksldjump" r:id="rId16"/>
          </p:cNvPr>
          <p:cNvSpPr txBox="1"/>
          <p:nvPr/>
        </p:nvSpPr>
        <p:spPr>
          <a:xfrm>
            <a:off x="939099" y="660838"/>
            <a:ext cx="1541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Scrum por dentro</a:t>
            </a:r>
            <a:endParaRPr b="1" i="0" sz="1200" u="none" cap="none" strike="noStrike">
              <a:solidFill>
                <a:srgbClr val="3D21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1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Inicio</a:t>
            </a:r>
            <a:endParaRPr b="1" i="0" sz="1200" u="none" cap="none" strike="noStrike">
              <a:solidFill>
                <a:srgbClr val="A719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5"/>
          <p:cNvSpPr txBox="1"/>
          <p:nvPr/>
        </p:nvSpPr>
        <p:spPr>
          <a:xfrm>
            <a:off x="3886200" y="1481328"/>
            <a:ext cx="9144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s-CO" sz="15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Tema 2 · Estructura del sistema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5"/>
          <p:cNvSpPr/>
          <p:nvPr/>
        </p:nvSpPr>
        <p:spPr>
          <a:xfrm>
            <a:off x="3886200" y="2834640"/>
            <a:ext cx="128016" cy="128016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5"/>
          <p:cNvSpPr/>
          <p:nvPr/>
        </p:nvSpPr>
        <p:spPr>
          <a:xfrm>
            <a:off x="4114800" y="2852928"/>
            <a:ext cx="91440" cy="9144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5"/>
          <p:cNvSpPr/>
          <p:nvPr/>
        </p:nvSpPr>
        <p:spPr>
          <a:xfrm>
            <a:off x="4334256" y="2852928"/>
            <a:ext cx="91440" cy="9144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5"/>
          <p:cNvSpPr/>
          <p:nvPr/>
        </p:nvSpPr>
        <p:spPr>
          <a:xfrm>
            <a:off x="4553712" y="2852928"/>
            <a:ext cx="91440" cy="9144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5"/>
          <p:cNvSpPr/>
          <p:nvPr/>
        </p:nvSpPr>
        <p:spPr>
          <a:xfrm>
            <a:off x="4782312" y="2852928"/>
            <a:ext cx="91440" cy="9144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"/>
          <p:cNvSpPr/>
          <p:nvPr/>
        </p:nvSpPr>
        <p:spPr>
          <a:xfrm>
            <a:off x="5001768" y="2834640"/>
            <a:ext cx="128016" cy="128016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5"/>
          <p:cNvSpPr txBox="1"/>
          <p:nvPr/>
        </p:nvSpPr>
        <p:spPr>
          <a:xfrm>
            <a:off x="3886200" y="3200400"/>
            <a:ext cx="14264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s-CO" sz="190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Responsabilidad orientada a maximizar el impacto y orientar las prioridades del producto.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5"/>
          <p:cNvSpPr/>
          <p:nvPr/>
        </p:nvSpPr>
        <p:spPr>
          <a:xfrm>
            <a:off x="3886200" y="3803083"/>
            <a:ext cx="3931920" cy="3108960"/>
          </a:xfrm>
          <a:prstGeom prst="roundRect">
            <a:avLst>
              <a:gd fmla="val 8000" name="adj"/>
            </a:avLst>
          </a:prstGeom>
          <a:solidFill>
            <a:srgbClr val="F1EB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5"/>
          <p:cNvSpPr/>
          <p:nvPr/>
        </p:nvSpPr>
        <p:spPr>
          <a:xfrm>
            <a:off x="5349240" y="4123123"/>
            <a:ext cx="1005840" cy="10058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2" name="Google Shape;282;p5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5577840" y="4351723"/>
            <a:ext cx="548640" cy="548640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5"/>
          <p:cNvSpPr/>
          <p:nvPr/>
        </p:nvSpPr>
        <p:spPr>
          <a:xfrm>
            <a:off x="4343400" y="5266123"/>
            <a:ext cx="3017520" cy="384048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5"/>
          <p:cNvSpPr txBox="1"/>
          <p:nvPr/>
        </p:nvSpPr>
        <p:spPr>
          <a:xfrm>
            <a:off x="4343400" y="5266123"/>
            <a:ext cx="30175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s-CO" sz="14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Foco principal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5"/>
          <p:cNvSpPr txBox="1"/>
          <p:nvPr/>
        </p:nvSpPr>
        <p:spPr>
          <a:xfrm>
            <a:off x="4160520" y="5814764"/>
            <a:ext cx="338327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s-CO" sz="19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Maximizar el valor del producto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5"/>
          <p:cNvSpPr txBox="1"/>
          <p:nvPr/>
        </p:nvSpPr>
        <p:spPr>
          <a:xfrm>
            <a:off x="8229600" y="3803083"/>
            <a:ext cx="99212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s-CO" sz="20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¿Cómo contribuye?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5"/>
          <p:cNvSpPr/>
          <p:nvPr/>
        </p:nvSpPr>
        <p:spPr>
          <a:xfrm>
            <a:off x="8229600" y="4351723"/>
            <a:ext cx="9921240" cy="76200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2700">
            <a:solidFill>
              <a:srgbClr val="DDD6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5"/>
          <p:cNvSpPr/>
          <p:nvPr/>
        </p:nvSpPr>
        <p:spPr>
          <a:xfrm>
            <a:off x="8412480" y="4531556"/>
            <a:ext cx="402336" cy="402336"/>
          </a:xfrm>
          <a:prstGeom prst="ellipse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5"/>
          <p:cNvSpPr txBox="1"/>
          <p:nvPr/>
        </p:nvSpPr>
        <p:spPr>
          <a:xfrm>
            <a:off x="8412480" y="4531556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s-CO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5"/>
          <p:cNvSpPr txBox="1"/>
          <p:nvPr/>
        </p:nvSpPr>
        <p:spPr>
          <a:xfrm>
            <a:off x="9006840" y="4351723"/>
            <a:ext cx="8961120" cy="76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50"/>
              <a:buFont typeface="Arial"/>
              <a:buNone/>
            </a:pPr>
            <a:r>
              <a:rPr b="0" i="0" lang="es-CO" sz="155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Comunica el </a:t>
            </a:r>
            <a:r>
              <a:rPr b="1" i="0" lang="es-CO" sz="155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Product Goal</a:t>
            </a:r>
            <a:r>
              <a:rPr b="0" i="0" lang="es-CO" sz="155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 de manera clara y compartida para alinear los esfuerzos.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5"/>
          <p:cNvSpPr/>
          <p:nvPr/>
        </p:nvSpPr>
        <p:spPr>
          <a:xfrm>
            <a:off x="8229600" y="5250883"/>
            <a:ext cx="9921240" cy="76200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2700">
            <a:solidFill>
              <a:srgbClr val="DDD6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5"/>
          <p:cNvSpPr/>
          <p:nvPr/>
        </p:nvSpPr>
        <p:spPr>
          <a:xfrm>
            <a:off x="8412480" y="5430716"/>
            <a:ext cx="402336" cy="402336"/>
          </a:xfrm>
          <a:prstGeom prst="ellipse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5"/>
          <p:cNvSpPr txBox="1"/>
          <p:nvPr/>
        </p:nvSpPr>
        <p:spPr>
          <a:xfrm>
            <a:off x="8412480" y="5430716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s-CO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5"/>
          <p:cNvSpPr txBox="1"/>
          <p:nvPr/>
        </p:nvSpPr>
        <p:spPr>
          <a:xfrm>
            <a:off x="9006840" y="5250883"/>
            <a:ext cx="8961120" cy="76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50"/>
              <a:buFont typeface="Arial"/>
              <a:buNone/>
            </a:pPr>
            <a:r>
              <a:rPr b="0" i="0" lang="es-CO" sz="155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Ordena y prioriza los elementos del </a:t>
            </a:r>
            <a:r>
              <a:rPr b="1" i="0" lang="es-CO" sz="155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Product Backlog</a:t>
            </a:r>
            <a:r>
              <a:rPr b="0" i="0" lang="es-CO" sz="155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 en función del valor que aportan.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5"/>
          <p:cNvSpPr/>
          <p:nvPr/>
        </p:nvSpPr>
        <p:spPr>
          <a:xfrm>
            <a:off x="8229600" y="6150043"/>
            <a:ext cx="9921240" cy="76200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2700">
            <a:solidFill>
              <a:srgbClr val="DDD6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5"/>
          <p:cNvSpPr/>
          <p:nvPr/>
        </p:nvSpPr>
        <p:spPr>
          <a:xfrm>
            <a:off x="8412480" y="6329876"/>
            <a:ext cx="402336" cy="402336"/>
          </a:xfrm>
          <a:prstGeom prst="ellipse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p5"/>
          <p:cNvSpPr txBox="1"/>
          <p:nvPr/>
        </p:nvSpPr>
        <p:spPr>
          <a:xfrm>
            <a:off x="8412480" y="6329876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s-CO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5"/>
          <p:cNvSpPr txBox="1"/>
          <p:nvPr/>
        </p:nvSpPr>
        <p:spPr>
          <a:xfrm>
            <a:off x="9006840" y="6150043"/>
            <a:ext cx="8961120" cy="76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50"/>
              <a:buFont typeface="Arial"/>
              <a:buNone/>
            </a:pPr>
            <a:r>
              <a:rPr b="0" i="0" lang="es-CO" sz="155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Favorece que el backlog sea </a:t>
            </a:r>
            <a:r>
              <a:rPr b="1" i="0" lang="es-CO" sz="155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visible, transparente y comprendido</a:t>
            </a:r>
            <a:r>
              <a:rPr b="0" i="0" lang="es-CO" sz="155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 por todo el equipo y las partes interesadas.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5"/>
          <p:cNvSpPr/>
          <p:nvPr/>
        </p:nvSpPr>
        <p:spPr>
          <a:xfrm>
            <a:off x="3886200" y="7254944"/>
            <a:ext cx="14264640" cy="1170432"/>
          </a:xfrm>
          <a:prstGeom prst="roundRect">
            <a:avLst>
              <a:gd fmla="val 12000" name="adj"/>
            </a:avLst>
          </a:prstGeom>
          <a:solidFill>
            <a:srgbClr val="F1EB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Google Shape;300;p5"/>
          <p:cNvSpPr/>
          <p:nvPr/>
        </p:nvSpPr>
        <p:spPr>
          <a:xfrm>
            <a:off x="3886200" y="7254944"/>
            <a:ext cx="82296" cy="1170432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5"/>
          <p:cNvSpPr/>
          <p:nvPr/>
        </p:nvSpPr>
        <p:spPr>
          <a:xfrm>
            <a:off x="4160520" y="7529264"/>
            <a:ext cx="603504" cy="603504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5"/>
          <p:cNvSpPr/>
          <p:nvPr/>
        </p:nvSpPr>
        <p:spPr>
          <a:xfrm>
            <a:off x="4288536" y="765728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"/>
          <p:cNvSpPr txBox="1"/>
          <p:nvPr/>
        </p:nvSpPr>
        <p:spPr>
          <a:xfrm>
            <a:off x="4983480" y="7382960"/>
            <a:ext cx="1298448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s-CO" sz="16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¿Qué nos plantea?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5"/>
          <p:cNvSpPr txBox="1"/>
          <p:nvPr/>
        </p:nvSpPr>
        <p:spPr>
          <a:xfrm>
            <a:off x="4983480" y="7730432"/>
            <a:ext cx="12984480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s-CO" sz="150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Decidir qué resulta más valioso también implica establecer prioridades. No se trata de intentar abarcarlo todo, sino de elegir conscientemente qué entrega genera el mayor impacto.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5"/>
          <p:cNvSpPr/>
          <p:nvPr/>
        </p:nvSpPr>
        <p:spPr>
          <a:xfrm>
            <a:off x="3886200" y="8713412"/>
            <a:ext cx="3638550" cy="402336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C9B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5"/>
          <p:cNvSpPr txBox="1"/>
          <p:nvPr/>
        </p:nvSpPr>
        <p:spPr>
          <a:xfrm>
            <a:off x="3886200" y="8713412"/>
            <a:ext cx="363855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s-CO" sz="1350" u="none" cap="none" strike="noStrike">
                <a:solidFill>
                  <a:srgbClr val="6B6570"/>
                </a:solidFill>
                <a:latin typeface="Arial"/>
                <a:ea typeface="Arial"/>
                <a:cs typeface="Arial"/>
                <a:sym typeface="Arial"/>
              </a:rPr>
              <a:t>Acumular peticiones</a:t>
            </a:r>
            <a:endParaRPr b="0" i="0" sz="13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5"/>
          <p:cNvSpPr txBox="1"/>
          <p:nvPr/>
        </p:nvSpPr>
        <p:spPr>
          <a:xfrm>
            <a:off x="7600950" y="8713412"/>
            <a:ext cx="51435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s-CO" sz="22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≠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5"/>
          <p:cNvSpPr/>
          <p:nvPr/>
        </p:nvSpPr>
        <p:spPr>
          <a:xfrm>
            <a:off x="8210550" y="8713412"/>
            <a:ext cx="3857625" cy="402336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5"/>
          <p:cNvSpPr txBox="1"/>
          <p:nvPr/>
        </p:nvSpPr>
        <p:spPr>
          <a:xfrm>
            <a:off x="8210550" y="8713412"/>
            <a:ext cx="3857625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s-CO" sz="135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Priorizar por valor real</a:t>
            </a:r>
            <a:endParaRPr b="0" i="0" sz="13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hosphor lightbulb, regular, #ddd5e7. https://phosphoricons.com/" id="310" name="Google Shape;310;p5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4288536" y="7657280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2">
            <a:hlinkClick action="ppaction://hlinksldjump" r:id="rId19"/>
          </p:cNvPr>
          <p:cNvSpPr/>
          <p:nvPr/>
        </p:nvSpPr>
        <p:spPr>
          <a:xfrm>
            <a:off x="191751" y="9336878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2">
            <a:hlinkClick action="ppaction://hlinksldjump" r:id="rId19"/>
          </p:cNvPr>
          <p:cNvSpPr/>
          <p:nvPr/>
        </p:nvSpPr>
        <p:spPr>
          <a:xfrm>
            <a:off x="266783" y="9336878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Créditos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Equipo de producción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6"/>
          <p:cNvSpPr/>
          <p:nvPr/>
        </p:nvSpPr>
        <p:spPr>
          <a:xfrm>
            <a:off x="3887703" y="1984772"/>
            <a:ext cx="1426464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s-CO" sz="3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4. Scrum Master: hacer posible Scrum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6"/>
          <p:cNvSpPr/>
          <p:nvPr/>
        </p:nvSpPr>
        <p:spPr>
          <a:xfrm>
            <a:off x="0" y="0"/>
            <a:ext cx="3168000" cy="10934700"/>
          </a:xfrm>
          <a:prstGeom prst="rect">
            <a:avLst/>
          </a:prstGeom>
          <a:solidFill>
            <a:srgbClr val="F5F3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6"/>
          <p:cNvSpPr/>
          <p:nvPr/>
        </p:nvSpPr>
        <p:spPr>
          <a:xfrm>
            <a:off x="3153046" y="0"/>
            <a:ext cx="15000" cy="10934700"/>
          </a:xfrm>
          <a:prstGeom prst="rect">
            <a:avLst/>
          </a:prstGeom>
          <a:solidFill>
            <a:srgbClr val="E0DA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6"/>
          <p:cNvSpPr/>
          <p:nvPr/>
        </p:nvSpPr>
        <p:spPr>
          <a:xfrm>
            <a:off x="191751" y="1550000"/>
            <a:ext cx="2784600" cy="14100"/>
          </a:xfrm>
          <a:prstGeom prst="rect">
            <a:avLst/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6"/>
          <p:cNvSpPr/>
          <p:nvPr/>
        </p:nvSpPr>
        <p:spPr>
          <a:xfrm>
            <a:off x="191751" y="1730000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0" name="Google Shape;320;p6">
            <a:hlinkClick action="ppaction://hlinksldjump" r:id="rId3"/>
          </p:cNvPr>
          <p:cNvSpPr/>
          <p:nvPr/>
        </p:nvSpPr>
        <p:spPr>
          <a:xfrm>
            <a:off x="266783" y="1730000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Estructura Scrum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6">
            <a:hlinkClick action="ppaction://hlinksldjump" r:id="rId4"/>
          </p:cNvPr>
          <p:cNvSpPr/>
          <p:nvPr/>
        </p:nvSpPr>
        <p:spPr>
          <a:xfrm>
            <a:off x="191751" y="2997813"/>
            <a:ext cx="75000" cy="1117697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6">
            <a:hlinkClick action="ppaction://hlinksldjump" r:id="rId5"/>
          </p:cNvPr>
          <p:cNvSpPr/>
          <p:nvPr/>
        </p:nvSpPr>
        <p:spPr>
          <a:xfrm>
            <a:off x="266783" y="2997813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A71989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Responsabilidades del Scrum Team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6">
            <a:hlinkClick r:id="rId6"/>
          </p:cNvPr>
          <p:cNvSpPr/>
          <p:nvPr/>
        </p:nvSpPr>
        <p:spPr>
          <a:xfrm>
            <a:off x="191751" y="4265626"/>
            <a:ext cx="75000" cy="1117697"/>
          </a:xfrm>
          <a:prstGeom prst="rect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6">
            <a:hlinkClick action="ppaction://hlinksldjump" r:id="rId7"/>
          </p:cNvPr>
          <p:cNvSpPr/>
          <p:nvPr/>
        </p:nvSpPr>
        <p:spPr>
          <a:xfrm>
            <a:off x="266783" y="4265626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1EAF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Eventos del Scrum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6"/>
          <p:cNvSpPr/>
          <p:nvPr/>
        </p:nvSpPr>
        <p:spPr>
          <a:xfrm>
            <a:off x="191751" y="5533439"/>
            <a:ext cx="75000" cy="1117697"/>
          </a:xfrm>
          <a:prstGeom prst="rect">
            <a:avLst/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6">
            <a:hlinkClick action="ppaction://hlinksldjump" r:id="rId8"/>
          </p:cNvPr>
          <p:cNvSpPr/>
          <p:nvPr/>
        </p:nvSpPr>
        <p:spPr>
          <a:xfrm>
            <a:off x="266783" y="5533439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FDBE4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Artefactos y compromisos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6"/>
          <p:cNvSpPr/>
          <p:nvPr/>
        </p:nvSpPr>
        <p:spPr>
          <a:xfrm>
            <a:off x="191751" y="6801252"/>
            <a:ext cx="75000" cy="1117697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6">
            <a:hlinkClick action="ppaction://hlinksldjump" r:id="rId9"/>
          </p:cNvPr>
          <p:cNvSpPr/>
          <p:nvPr/>
        </p:nvSpPr>
        <p:spPr>
          <a:xfrm>
            <a:off x="266783" y="6801252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6E1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Integración y aprendizaje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6"/>
          <p:cNvSpPr/>
          <p:nvPr/>
        </p:nvSpPr>
        <p:spPr>
          <a:xfrm>
            <a:off x="191751" y="8069065"/>
            <a:ext cx="75000" cy="1117697"/>
          </a:xfrm>
          <a:prstGeom prst="rect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6">
            <a:hlinkClick action="ppaction://hlinksldjump" r:id="rId10"/>
          </p:cNvPr>
          <p:cNvSpPr/>
          <p:nvPr/>
        </p:nvSpPr>
        <p:spPr>
          <a:xfrm>
            <a:off x="266783" y="8069065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FF8D6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Comprueba lo aprendido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6"/>
          <p:cNvSpPr/>
          <p:nvPr/>
        </p:nvSpPr>
        <p:spPr>
          <a:xfrm>
            <a:off x="4591655" y="9872067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6">
            <a:hlinkClick action="ppaction://hlinksldjump" r:id="rId11"/>
          </p:cNvPr>
          <p:cNvSpPr/>
          <p:nvPr/>
        </p:nvSpPr>
        <p:spPr>
          <a:xfrm>
            <a:off x="4591655" y="9812536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4275">
            <a:solidFill>
              <a:srgbClr val="66409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sng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Anterior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6"/>
          <p:cNvSpPr/>
          <p:nvPr/>
        </p:nvSpPr>
        <p:spPr>
          <a:xfrm>
            <a:off x="6378374" y="9872067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C8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6">
            <a:hlinkClick action="ppaction://hlinksldjump" r:id="rId12"/>
          </p:cNvPr>
          <p:cNvSpPr/>
          <p:nvPr/>
        </p:nvSpPr>
        <p:spPr>
          <a:xfrm>
            <a:off x="6378374" y="9812536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sng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Siguiente</a:t>
            </a:r>
            <a:endParaRPr b="1" i="0" sz="1578" u="sng" cap="none" strike="noStrike">
              <a:solidFill>
                <a:srgbClr val="663D8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6">
            <a:hlinkClick action="ppaction://hlinksldjump" r:id="rId13"/>
          </p:cNvPr>
          <p:cNvSpPr/>
          <p:nvPr/>
        </p:nvSpPr>
        <p:spPr>
          <a:xfrm>
            <a:off x="191792" y="399700"/>
            <a:ext cx="75000" cy="984000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6">
            <a:hlinkClick action="ppaction://hlinksldjump" r:id="rId14"/>
          </p:cNvPr>
          <p:cNvSpPr/>
          <p:nvPr/>
        </p:nvSpPr>
        <p:spPr>
          <a:xfrm>
            <a:off x="266825" y="399900"/>
            <a:ext cx="2709300" cy="984000"/>
          </a:xfrm>
          <a:prstGeom prst="roundRect">
            <a:avLst>
              <a:gd fmla="val 14000" name="adj"/>
            </a:avLst>
          </a:prstGeom>
          <a:solidFill>
            <a:srgbClr val="D1E0F2"/>
          </a:solidFill>
          <a:ln>
            <a:noFill/>
          </a:ln>
        </p:spPr>
        <p:txBody>
          <a:bodyPr anchorCtr="0" anchor="ctr" bIns="40000" lIns="160000" spcFirstLastPara="1" rIns="100000" wrap="square" tIns="4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1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7" name="Google Shape;337;p6" title="correcciones sapiencia.png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266783" y="600314"/>
            <a:ext cx="486192" cy="486192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6">
            <a:hlinkClick action="ppaction://hlinksldjump" r:id="rId16"/>
          </p:cNvPr>
          <p:cNvSpPr txBox="1"/>
          <p:nvPr/>
        </p:nvSpPr>
        <p:spPr>
          <a:xfrm>
            <a:off x="939099" y="660838"/>
            <a:ext cx="1541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Scrum por dentro</a:t>
            </a:r>
            <a:endParaRPr b="1" i="0" sz="1200" u="none" cap="none" strike="noStrike">
              <a:solidFill>
                <a:srgbClr val="3D21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1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Inicio</a:t>
            </a:r>
            <a:endParaRPr b="1" i="0" sz="1200" u="none" cap="none" strike="noStrike">
              <a:solidFill>
                <a:srgbClr val="A719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6"/>
          <p:cNvSpPr txBox="1"/>
          <p:nvPr/>
        </p:nvSpPr>
        <p:spPr>
          <a:xfrm>
            <a:off x="3886200" y="1481328"/>
            <a:ext cx="9144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s-CO" sz="15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Tema 2 · Estructura del sistema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6"/>
          <p:cNvSpPr/>
          <p:nvPr/>
        </p:nvSpPr>
        <p:spPr>
          <a:xfrm>
            <a:off x="3886200" y="2834640"/>
            <a:ext cx="128016" cy="128016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6"/>
          <p:cNvSpPr/>
          <p:nvPr/>
        </p:nvSpPr>
        <p:spPr>
          <a:xfrm>
            <a:off x="4114800" y="2852928"/>
            <a:ext cx="91440" cy="9144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6"/>
          <p:cNvSpPr/>
          <p:nvPr/>
        </p:nvSpPr>
        <p:spPr>
          <a:xfrm>
            <a:off x="4334256" y="2852928"/>
            <a:ext cx="91440" cy="9144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6"/>
          <p:cNvSpPr/>
          <p:nvPr/>
        </p:nvSpPr>
        <p:spPr>
          <a:xfrm>
            <a:off x="4553712" y="2852928"/>
            <a:ext cx="91440" cy="9144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6"/>
          <p:cNvSpPr/>
          <p:nvPr/>
        </p:nvSpPr>
        <p:spPr>
          <a:xfrm>
            <a:off x="4782312" y="2852928"/>
            <a:ext cx="91440" cy="9144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6"/>
          <p:cNvSpPr/>
          <p:nvPr/>
        </p:nvSpPr>
        <p:spPr>
          <a:xfrm>
            <a:off x="5001768" y="2834640"/>
            <a:ext cx="128016" cy="128016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p6"/>
          <p:cNvSpPr txBox="1"/>
          <p:nvPr/>
        </p:nvSpPr>
        <p:spPr>
          <a:xfrm>
            <a:off x="3886200" y="3200400"/>
            <a:ext cx="14264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s-CO" sz="190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El Scrum Master contribuye a que Scrum sea comprendido y aplicado de manera efectiva.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6"/>
          <p:cNvSpPr/>
          <p:nvPr/>
        </p:nvSpPr>
        <p:spPr>
          <a:xfrm>
            <a:off x="3886200" y="3793251"/>
            <a:ext cx="3931920" cy="3108960"/>
          </a:xfrm>
          <a:prstGeom prst="roundRect">
            <a:avLst>
              <a:gd fmla="val 8000" name="adj"/>
            </a:avLst>
          </a:prstGeom>
          <a:solidFill>
            <a:srgbClr val="F6EB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6"/>
          <p:cNvSpPr/>
          <p:nvPr/>
        </p:nvSpPr>
        <p:spPr>
          <a:xfrm>
            <a:off x="5349240" y="4113291"/>
            <a:ext cx="1005840" cy="10058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49" name="Google Shape;349;p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5577840" y="4341891"/>
            <a:ext cx="548640" cy="548640"/>
          </a:xfrm>
          <a:prstGeom prst="rect">
            <a:avLst/>
          </a:prstGeom>
          <a:noFill/>
          <a:ln>
            <a:noFill/>
          </a:ln>
        </p:spPr>
      </p:pic>
      <p:sp>
        <p:nvSpPr>
          <p:cNvPr id="350" name="Google Shape;350;p6"/>
          <p:cNvSpPr/>
          <p:nvPr/>
        </p:nvSpPr>
        <p:spPr>
          <a:xfrm>
            <a:off x="4343400" y="5256291"/>
            <a:ext cx="3017520" cy="384048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6"/>
          <p:cNvSpPr txBox="1"/>
          <p:nvPr/>
        </p:nvSpPr>
        <p:spPr>
          <a:xfrm>
            <a:off x="4343400" y="5256291"/>
            <a:ext cx="30175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s-CO" sz="14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Liderazgo servicial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6"/>
          <p:cNvSpPr txBox="1"/>
          <p:nvPr/>
        </p:nvSpPr>
        <p:spPr>
          <a:xfrm>
            <a:off x="4160520" y="5804932"/>
            <a:ext cx="338327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s-CO" sz="19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Hacer posible Scrum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" name="Google Shape;353;p6"/>
          <p:cNvSpPr txBox="1"/>
          <p:nvPr/>
        </p:nvSpPr>
        <p:spPr>
          <a:xfrm>
            <a:off x="4160520" y="6399291"/>
            <a:ext cx="338327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s-CO" sz="140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Al servicio de la efectividad del equipo.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6"/>
          <p:cNvSpPr txBox="1"/>
          <p:nvPr/>
        </p:nvSpPr>
        <p:spPr>
          <a:xfrm>
            <a:off x="8334375" y="3793251"/>
            <a:ext cx="98107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s-CO" sz="19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¿Cómo hace posible el trabajo?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6"/>
          <p:cNvSpPr/>
          <p:nvPr/>
        </p:nvSpPr>
        <p:spPr>
          <a:xfrm>
            <a:off x="8229600" y="4341891"/>
            <a:ext cx="9921240" cy="537209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2700">
            <a:solidFill>
              <a:srgbClr val="DDD6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6"/>
          <p:cNvSpPr/>
          <p:nvPr/>
        </p:nvSpPr>
        <p:spPr>
          <a:xfrm>
            <a:off x="8412480" y="4409329"/>
            <a:ext cx="402336" cy="402336"/>
          </a:xfrm>
          <a:prstGeom prst="ellipse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6"/>
          <p:cNvSpPr txBox="1"/>
          <p:nvPr/>
        </p:nvSpPr>
        <p:spPr>
          <a:xfrm>
            <a:off x="8412480" y="4409329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s-CO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6"/>
          <p:cNvSpPr txBox="1"/>
          <p:nvPr/>
        </p:nvSpPr>
        <p:spPr>
          <a:xfrm>
            <a:off x="9006840" y="4341891"/>
            <a:ext cx="8961120" cy="53720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50"/>
              <a:buFont typeface="Arial"/>
              <a:buNone/>
            </a:pPr>
            <a:r>
              <a:rPr b="1" i="0" lang="es-CO" sz="155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Facilita </a:t>
            </a:r>
            <a:r>
              <a:rPr b="0" i="0" lang="es-CO" sz="155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conversaciones, acuerdos y eventos para que cumplan su propósito.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6"/>
          <p:cNvSpPr/>
          <p:nvPr/>
        </p:nvSpPr>
        <p:spPr>
          <a:xfrm>
            <a:off x="8229600" y="5016261"/>
            <a:ext cx="9921240" cy="537209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2700">
            <a:solidFill>
              <a:srgbClr val="DDD6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6"/>
          <p:cNvSpPr/>
          <p:nvPr/>
        </p:nvSpPr>
        <p:spPr>
          <a:xfrm>
            <a:off x="8412480" y="5083699"/>
            <a:ext cx="402336" cy="402336"/>
          </a:xfrm>
          <a:prstGeom prst="ellipse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1" name="Google Shape;361;p6"/>
          <p:cNvSpPr txBox="1"/>
          <p:nvPr/>
        </p:nvSpPr>
        <p:spPr>
          <a:xfrm>
            <a:off x="8412480" y="5083699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s-CO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6"/>
          <p:cNvSpPr txBox="1"/>
          <p:nvPr/>
        </p:nvSpPr>
        <p:spPr>
          <a:xfrm>
            <a:off x="9006840" y="5016261"/>
            <a:ext cx="8961120" cy="53720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50"/>
              <a:buFont typeface="Arial"/>
              <a:buNone/>
            </a:pPr>
            <a:r>
              <a:rPr b="1" i="0" lang="es-CO" sz="155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Orienta </a:t>
            </a:r>
            <a:r>
              <a:rPr b="0" i="0" lang="es-CO" sz="155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al equipo y a la organización en los principios y valores de la agilidad.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6"/>
          <p:cNvSpPr/>
          <p:nvPr/>
        </p:nvSpPr>
        <p:spPr>
          <a:xfrm>
            <a:off x="8229600" y="5690631"/>
            <a:ext cx="9921240" cy="537209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2700">
            <a:solidFill>
              <a:srgbClr val="DDD6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6"/>
          <p:cNvSpPr/>
          <p:nvPr/>
        </p:nvSpPr>
        <p:spPr>
          <a:xfrm>
            <a:off x="8412480" y="5758068"/>
            <a:ext cx="402336" cy="402336"/>
          </a:xfrm>
          <a:prstGeom prst="ellipse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6"/>
          <p:cNvSpPr txBox="1"/>
          <p:nvPr/>
        </p:nvSpPr>
        <p:spPr>
          <a:xfrm>
            <a:off x="8412480" y="5758068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s-CO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6"/>
          <p:cNvSpPr txBox="1"/>
          <p:nvPr/>
        </p:nvSpPr>
        <p:spPr>
          <a:xfrm>
            <a:off x="9006840" y="5690631"/>
            <a:ext cx="8961120" cy="53720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50"/>
              <a:buFont typeface="Arial"/>
              <a:buNone/>
            </a:pPr>
            <a:r>
              <a:rPr b="1" i="0" lang="es-CO" sz="155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Ayuda a remover obstáculos </a:t>
            </a:r>
            <a:r>
              <a:rPr b="0" i="0" lang="es-CO" sz="155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que frenan el avance del Scrum Team.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6"/>
          <p:cNvSpPr/>
          <p:nvPr/>
        </p:nvSpPr>
        <p:spPr>
          <a:xfrm>
            <a:off x="8229600" y="6365002"/>
            <a:ext cx="9921240" cy="537209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2700">
            <a:solidFill>
              <a:srgbClr val="DDD6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6"/>
          <p:cNvSpPr/>
          <p:nvPr/>
        </p:nvSpPr>
        <p:spPr>
          <a:xfrm>
            <a:off x="8412480" y="6432439"/>
            <a:ext cx="402336" cy="402336"/>
          </a:xfrm>
          <a:prstGeom prst="ellipse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6"/>
          <p:cNvSpPr txBox="1"/>
          <p:nvPr/>
        </p:nvSpPr>
        <p:spPr>
          <a:xfrm>
            <a:off x="8412480" y="6432439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s-CO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6"/>
          <p:cNvSpPr txBox="1"/>
          <p:nvPr/>
        </p:nvSpPr>
        <p:spPr>
          <a:xfrm>
            <a:off x="9006840" y="6365002"/>
            <a:ext cx="8961120" cy="53720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50"/>
              <a:buFont typeface="Arial"/>
              <a:buNone/>
            </a:pPr>
            <a:r>
              <a:rPr b="1" i="0" lang="es-CO" sz="155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Promueve la mejora continua </a:t>
            </a:r>
            <a:r>
              <a:rPr b="0" i="0" lang="es-CO" sz="155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de las prácticas y la efectividad colectiva.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6"/>
          <p:cNvSpPr/>
          <p:nvPr/>
        </p:nvSpPr>
        <p:spPr>
          <a:xfrm>
            <a:off x="3886200" y="7245112"/>
            <a:ext cx="14264640" cy="1170432"/>
          </a:xfrm>
          <a:prstGeom prst="roundRect">
            <a:avLst>
              <a:gd fmla="val 12000" name="adj"/>
            </a:avLst>
          </a:prstGeom>
          <a:solidFill>
            <a:srgbClr val="F1EB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6"/>
          <p:cNvSpPr/>
          <p:nvPr/>
        </p:nvSpPr>
        <p:spPr>
          <a:xfrm>
            <a:off x="3886200" y="7245112"/>
            <a:ext cx="82296" cy="1170432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6"/>
          <p:cNvSpPr/>
          <p:nvPr/>
        </p:nvSpPr>
        <p:spPr>
          <a:xfrm>
            <a:off x="4160520" y="7519432"/>
            <a:ext cx="603504" cy="603504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6"/>
          <p:cNvSpPr/>
          <p:nvPr/>
        </p:nvSpPr>
        <p:spPr>
          <a:xfrm>
            <a:off x="4288536" y="764744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p6"/>
          <p:cNvSpPr txBox="1"/>
          <p:nvPr/>
        </p:nvSpPr>
        <p:spPr>
          <a:xfrm>
            <a:off x="4983480" y="7373128"/>
            <a:ext cx="1298448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s-CO" sz="16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¿Qué nos plantea?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6"/>
          <p:cNvSpPr txBox="1"/>
          <p:nvPr/>
        </p:nvSpPr>
        <p:spPr>
          <a:xfrm>
            <a:off x="4983480" y="7720600"/>
            <a:ext cx="12984480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s-CO" sz="150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No dirige al equipo como un jefe tradicional; favorece las condiciones y la cultura necesarias para que el Scrum Team pueda autoorganizarse y trabajar con mayor efectividad.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6"/>
          <p:cNvSpPr/>
          <p:nvPr/>
        </p:nvSpPr>
        <p:spPr>
          <a:xfrm>
            <a:off x="3886200" y="8703580"/>
            <a:ext cx="3638550" cy="402336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C9B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6"/>
          <p:cNvSpPr txBox="1"/>
          <p:nvPr/>
        </p:nvSpPr>
        <p:spPr>
          <a:xfrm>
            <a:off x="3886200" y="8703580"/>
            <a:ext cx="363855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s-CO" sz="1350" u="none" cap="none" strike="noStrike">
                <a:solidFill>
                  <a:srgbClr val="6B6570"/>
                </a:solidFill>
                <a:latin typeface="Arial"/>
                <a:ea typeface="Arial"/>
                <a:cs typeface="Arial"/>
                <a:sym typeface="Arial"/>
              </a:rPr>
              <a:t>Jefe o supervisor tradicional</a:t>
            </a:r>
            <a:endParaRPr b="0" i="0" sz="13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6"/>
          <p:cNvSpPr txBox="1"/>
          <p:nvPr/>
        </p:nvSpPr>
        <p:spPr>
          <a:xfrm>
            <a:off x="7600950" y="8703580"/>
            <a:ext cx="51435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s-CO" sz="22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≠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6"/>
          <p:cNvSpPr/>
          <p:nvPr/>
        </p:nvSpPr>
        <p:spPr>
          <a:xfrm>
            <a:off x="8210550" y="8703580"/>
            <a:ext cx="3857625" cy="402336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1" name="Google Shape;381;p6"/>
          <p:cNvSpPr txBox="1"/>
          <p:nvPr/>
        </p:nvSpPr>
        <p:spPr>
          <a:xfrm>
            <a:off x="8210550" y="8703580"/>
            <a:ext cx="3857625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s-CO" sz="135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Líder que facilita y remueve obstáculos</a:t>
            </a:r>
            <a:endParaRPr b="0" i="0" sz="13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hosphor lightbulb, regular, #ddd5e7. https://phosphoricons.com/" id="382" name="Google Shape;382;p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4288536" y="7647448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2">
            <a:hlinkClick action="ppaction://hlinksldjump" r:id="rId19"/>
          </p:cNvPr>
          <p:cNvSpPr/>
          <p:nvPr/>
        </p:nvSpPr>
        <p:spPr>
          <a:xfrm>
            <a:off x="191751" y="9336878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2">
            <a:hlinkClick action="ppaction://hlinksldjump" r:id="rId19"/>
          </p:cNvPr>
          <p:cNvSpPr/>
          <p:nvPr/>
        </p:nvSpPr>
        <p:spPr>
          <a:xfrm>
            <a:off x="266783" y="9336878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Créditos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Equipo de producción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7"/>
          <p:cNvSpPr/>
          <p:nvPr/>
        </p:nvSpPr>
        <p:spPr>
          <a:xfrm>
            <a:off x="3887703" y="1984772"/>
            <a:ext cx="1426464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s-CO" sz="3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5. Developers: convertir objetivos en resultados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8" name="Google Shape;388;p7"/>
          <p:cNvSpPr/>
          <p:nvPr/>
        </p:nvSpPr>
        <p:spPr>
          <a:xfrm>
            <a:off x="0" y="0"/>
            <a:ext cx="3168000" cy="10934700"/>
          </a:xfrm>
          <a:prstGeom prst="rect">
            <a:avLst/>
          </a:prstGeom>
          <a:solidFill>
            <a:srgbClr val="F5F3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9" name="Google Shape;389;p7"/>
          <p:cNvSpPr/>
          <p:nvPr/>
        </p:nvSpPr>
        <p:spPr>
          <a:xfrm>
            <a:off x="3153046" y="0"/>
            <a:ext cx="15000" cy="10934700"/>
          </a:xfrm>
          <a:prstGeom prst="rect">
            <a:avLst/>
          </a:prstGeom>
          <a:solidFill>
            <a:srgbClr val="E0DA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7"/>
          <p:cNvSpPr/>
          <p:nvPr/>
        </p:nvSpPr>
        <p:spPr>
          <a:xfrm>
            <a:off x="191751" y="1550000"/>
            <a:ext cx="2784600" cy="14100"/>
          </a:xfrm>
          <a:prstGeom prst="rect">
            <a:avLst/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" name="Google Shape;391;p7"/>
          <p:cNvSpPr/>
          <p:nvPr/>
        </p:nvSpPr>
        <p:spPr>
          <a:xfrm>
            <a:off x="191751" y="1730000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7">
            <a:hlinkClick action="ppaction://hlinksldjump" r:id="rId3"/>
          </p:cNvPr>
          <p:cNvSpPr/>
          <p:nvPr/>
        </p:nvSpPr>
        <p:spPr>
          <a:xfrm>
            <a:off x="266783" y="1730000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Estructura Scrum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7">
            <a:hlinkClick action="ppaction://hlinksldjump" r:id="rId4"/>
          </p:cNvPr>
          <p:cNvSpPr/>
          <p:nvPr/>
        </p:nvSpPr>
        <p:spPr>
          <a:xfrm>
            <a:off x="191751" y="2997813"/>
            <a:ext cx="75000" cy="1117697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7">
            <a:hlinkClick action="ppaction://hlinksldjump" r:id="rId5"/>
          </p:cNvPr>
          <p:cNvSpPr/>
          <p:nvPr/>
        </p:nvSpPr>
        <p:spPr>
          <a:xfrm>
            <a:off x="266783" y="2997813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A71989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Responsabilidades del Scrum Team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7">
            <a:hlinkClick r:id="rId6"/>
          </p:cNvPr>
          <p:cNvSpPr/>
          <p:nvPr/>
        </p:nvSpPr>
        <p:spPr>
          <a:xfrm>
            <a:off x="191751" y="4265626"/>
            <a:ext cx="75000" cy="1117697"/>
          </a:xfrm>
          <a:prstGeom prst="rect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7">
            <a:hlinkClick action="ppaction://hlinksldjump" r:id="rId7"/>
          </p:cNvPr>
          <p:cNvSpPr/>
          <p:nvPr/>
        </p:nvSpPr>
        <p:spPr>
          <a:xfrm>
            <a:off x="266783" y="4265626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1EAF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Eventos del Scrum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7" name="Google Shape;397;p7"/>
          <p:cNvSpPr/>
          <p:nvPr/>
        </p:nvSpPr>
        <p:spPr>
          <a:xfrm>
            <a:off x="191751" y="5533439"/>
            <a:ext cx="75000" cy="1117697"/>
          </a:xfrm>
          <a:prstGeom prst="rect">
            <a:avLst/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">
            <a:hlinkClick action="ppaction://hlinksldjump" r:id="rId8"/>
          </p:cNvPr>
          <p:cNvSpPr/>
          <p:nvPr/>
        </p:nvSpPr>
        <p:spPr>
          <a:xfrm>
            <a:off x="266783" y="5533439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FDBE4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Artefactos y compromisos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9" name="Google Shape;399;p7"/>
          <p:cNvSpPr/>
          <p:nvPr/>
        </p:nvSpPr>
        <p:spPr>
          <a:xfrm>
            <a:off x="191751" y="6801252"/>
            <a:ext cx="75000" cy="1117697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0" name="Google Shape;400;p7">
            <a:hlinkClick action="ppaction://hlinksldjump" r:id="rId9"/>
          </p:cNvPr>
          <p:cNvSpPr/>
          <p:nvPr/>
        </p:nvSpPr>
        <p:spPr>
          <a:xfrm>
            <a:off x="266783" y="6801252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6E1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Integración y aprendizaje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" name="Google Shape;401;p7"/>
          <p:cNvSpPr/>
          <p:nvPr/>
        </p:nvSpPr>
        <p:spPr>
          <a:xfrm>
            <a:off x="191751" y="8069065"/>
            <a:ext cx="75000" cy="1117697"/>
          </a:xfrm>
          <a:prstGeom prst="rect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">
            <a:hlinkClick action="ppaction://hlinksldjump" r:id="rId10"/>
          </p:cNvPr>
          <p:cNvSpPr/>
          <p:nvPr/>
        </p:nvSpPr>
        <p:spPr>
          <a:xfrm>
            <a:off x="266783" y="8069065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FF8D6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Comprueba lo aprendido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" name="Google Shape;403;p7"/>
          <p:cNvSpPr/>
          <p:nvPr/>
        </p:nvSpPr>
        <p:spPr>
          <a:xfrm>
            <a:off x="4591655" y="9872067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" name="Google Shape;404;p7">
            <a:hlinkClick action="ppaction://hlinksldjump" r:id="rId11"/>
          </p:cNvPr>
          <p:cNvSpPr/>
          <p:nvPr/>
        </p:nvSpPr>
        <p:spPr>
          <a:xfrm>
            <a:off x="4591655" y="9812536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4275">
            <a:solidFill>
              <a:srgbClr val="66409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sng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Anterior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7"/>
          <p:cNvSpPr/>
          <p:nvPr/>
        </p:nvSpPr>
        <p:spPr>
          <a:xfrm>
            <a:off x="6378374" y="9872067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C8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7">
            <a:hlinkClick action="ppaction://hlinksldjump" r:id="rId12"/>
          </p:cNvPr>
          <p:cNvSpPr/>
          <p:nvPr/>
        </p:nvSpPr>
        <p:spPr>
          <a:xfrm>
            <a:off x="6378374" y="9812536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sng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Siguiente</a:t>
            </a:r>
            <a:endParaRPr b="1" i="0" sz="1578" u="sng" cap="none" strike="noStrike">
              <a:solidFill>
                <a:srgbClr val="663D8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7" name="Google Shape;407;p7">
            <a:hlinkClick action="ppaction://hlinksldjump" r:id="rId13"/>
          </p:cNvPr>
          <p:cNvSpPr/>
          <p:nvPr/>
        </p:nvSpPr>
        <p:spPr>
          <a:xfrm>
            <a:off x="191792" y="399700"/>
            <a:ext cx="75000" cy="984000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">
            <a:hlinkClick action="ppaction://hlinksldjump" r:id="rId14"/>
          </p:cNvPr>
          <p:cNvSpPr/>
          <p:nvPr/>
        </p:nvSpPr>
        <p:spPr>
          <a:xfrm>
            <a:off x="266825" y="399900"/>
            <a:ext cx="2709300" cy="984000"/>
          </a:xfrm>
          <a:prstGeom prst="roundRect">
            <a:avLst>
              <a:gd fmla="val 14000" name="adj"/>
            </a:avLst>
          </a:prstGeom>
          <a:solidFill>
            <a:srgbClr val="D1E0F2"/>
          </a:solidFill>
          <a:ln>
            <a:noFill/>
          </a:ln>
        </p:spPr>
        <p:txBody>
          <a:bodyPr anchorCtr="0" anchor="ctr" bIns="40000" lIns="160000" spcFirstLastPara="1" rIns="100000" wrap="square" tIns="4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1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09" name="Google Shape;409;p7" title="correcciones sapiencia.png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266783" y="600314"/>
            <a:ext cx="486192" cy="486192"/>
          </a:xfrm>
          <a:prstGeom prst="rect">
            <a:avLst/>
          </a:prstGeom>
          <a:noFill/>
          <a:ln>
            <a:noFill/>
          </a:ln>
        </p:spPr>
      </p:pic>
      <p:sp>
        <p:nvSpPr>
          <p:cNvPr id="410" name="Google Shape;410;p7">
            <a:hlinkClick action="ppaction://hlinksldjump" r:id="rId16"/>
          </p:cNvPr>
          <p:cNvSpPr txBox="1"/>
          <p:nvPr/>
        </p:nvSpPr>
        <p:spPr>
          <a:xfrm>
            <a:off x="939099" y="660838"/>
            <a:ext cx="1541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Scrum por dentro</a:t>
            </a:r>
            <a:endParaRPr b="1" i="0" sz="1200" u="none" cap="none" strike="noStrike">
              <a:solidFill>
                <a:srgbClr val="3D21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1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Inicio</a:t>
            </a:r>
            <a:endParaRPr b="1" i="0" sz="1200" u="none" cap="none" strike="noStrike">
              <a:solidFill>
                <a:srgbClr val="A719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7"/>
          <p:cNvSpPr txBox="1"/>
          <p:nvPr/>
        </p:nvSpPr>
        <p:spPr>
          <a:xfrm>
            <a:off x="3886200" y="1481328"/>
            <a:ext cx="9144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s-CO" sz="15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Tema 2 · Estructura del sistema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7"/>
          <p:cNvSpPr/>
          <p:nvPr/>
        </p:nvSpPr>
        <p:spPr>
          <a:xfrm>
            <a:off x="3886200" y="2834640"/>
            <a:ext cx="128016" cy="128016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"/>
          <p:cNvSpPr/>
          <p:nvPr/>
        </p:nvSpPr>
        <p:spPr>
          <a:xfrm>
            <a:off x="4114800" y="2852928"/>
            <a:ext cx="91440" cy="9144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7"/>
          <p:cNvSpPr/>
          <p:nvPr/>
        </p:nvSpPr>
        <p:spPr>
          <a:xfrm>
            <a:off x="4334256" y="2852928"/>
            <a:ext cx="91440" cy="9144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7"/>
          <p:cNvSpPr/>
          <p:nvPr/>
        </p:nvSpPr>
        <p:spPr>
          <a:xfrm>
            <a:off x="4553712" y="2852928"/>
            <a:ext cx="91440" cy="9144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7"/>
          <p:cNvSpPr/>
          <p:nvPr/>
        </p:nvSpPr>
        <p:spPr>
          <a:xfrm>
            <a:off x="4782312" y="2852928"/>
            <a:ext cx="91440" cy="9144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7"/>
          <p:cNvSpPr/>
          <p:nvPr/>
        </p:nvSpPr>
        <p:spPr>
          <a:xfrm>
            <a:off x="5001768" y="2834640"/>
            <a:ext cx="128016" cy="128016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" name="Google Shape;418;p7"/>
          <p:cNvSpPr txBox="1"/>
          <p:nvPr/>
        </p:nvSpPr>
        <p:spPr>
          <a:xfrm>
            <a:off x="3886200" y="3200400"/>
            <a:ext cx="14264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s-CO" sz="190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Transforman las prioridades seleccionadas en un incremento utilizable durante el Sprint.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7"/>
          <p:cNvSpPr/>
          <p:nvPr/>
        </p:nvSpPr>
        <p:spPr>
          <a:xfrm>
            <a:off x="3886200" y="3781553"/>
            <a:ext cx="3931920" cy="3108960"/>
          </a:xfrm>
          <a:prstGeom prst="roundRect">
            <a:avLst>
              <a:gd fmla="val 8000" name="adj"/>
            </a:avLst>
          </a:prstGeom>
          <a:solidFill>
            <a:srgbClr val="E8F1F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p7"/>
          <p:cNvSpPr/>
          <p:nvPr/>
        </p:nvSpPr>
        <p:spPr>
          <a:xfrm>
            <a:off x="5349240" y="4101593"/>
            <a:ext cx="1005840" cy="10058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21" name="Google Shape;421;p7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5577840" y="4330193"/>
            <a:ext cx="548640" cy="548640"/>
          </a:xfrm>
          <a:prstGeom prst="rect">
            <a:avLst/>
          </a:prstGeom>
          <a:noFill/>
          <a:ln>
            <a:noFill/>
          </a:ln>
        </p:spPr>
      </p:pic>
      <p:sp>
        <p:nvSpPr>
          <p:cNvPr id="422" name="Google Shape;422;p7"/>
          <p:cNvSpPr/>
          <p:nvPr/>
        </p:nvSpPr>
        <p:spPr>
          <a:xfrm>
            <a:off x="4343400" y="5244593"/>
            <a:ext cx="3017520" cy="384048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3" name="Google Shape;423;p7"/>
          <p:cNvSpPr txBox="1"/>
          <p:nvPr/>
        </p:nvSpPr>
        <p:spPr>
          <a:xfrm>
            <a:off x="4343400" y="5244593"/>
            <a:ext cx="30175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s-CO" sz="14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Foco técnico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7"/>
          <p:cNvSpPr txBox="1"/>
          <p:nvPr/>
        </p:nvSpPr>
        <p:spPr>
          <a:xfrm>
            <a:off x="4160520" y="5793234"/>
            <a:ext cx="3383279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s-CO" sz="1900" u="none" cap="none" strike="noStrike">
                <a:solidFill>
                  <a:srgbClr val="2A56C6"/>
                </a:solidFill>
                <a:latin typeface="Arial"/>
                <a:ea typeface="Arial"/>
                <a:cs typeface="Arial"/>
                <a:sym typeface="Arial"/>
              </a:rPr>
              <a:t>Crear un incremento utilizable y con alta calidad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7"/>
          <p:cNvSpPr txBox="1"/>
          <p:nvPr/>
        </p:nvSpPr>
        <p:spPr>
          <a:xfrm>
            <a:off x="8229600" y="3781553"/>
            <a:ext cx="99212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s-CO" sz="20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¿Cómo contribuyen al resultado?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7"/>
          <p:cNvSpPr/>
          <p:nvPr/>
        </p:nvSpPr>
        <p:spPr>
          <a:xfrm>
            <a:off x="8229600" y="4330193"/>
            <a:ext cx="9921240" cy="537209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2700">
            <a:solidFill>
              <a:srgbClr val="DDD6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7"/>
          <p:cNvSpPr/>
          <p:nvPr/>
        </p:nvSpPr>
        <p:spPr>
          <a:xfrm>
            <a:off x="8412480" y="4397631"/>
            <a:ext cx="402336" cy="402336"/>
          </a:xfrm>
          <a:prstGeom prst="ellipse">
            <a:avLst/>
          </a:prstGeom>
          <a:solidFill>
            <a:srgbClr val="2A56C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7"/>
          <p:cNvSpPr txBox="1"/>
          <p:nvPr/>
        </p:nvSpPr>
        <p:spPr>
          <a:xfrm>
            <a:off x="8412480" y="4397631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s-CO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7"/>
          <p:cNvSpPr txBox="1"/>
          <p:nvPr/>
        </p:nvSpPr>
        <p:spPr>
          <a:xfrm>
            <a:off x="9006840" y="4330193"/>
            <a:ext cx="8961120" cy="53720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50"/>
              <a:buFont typeface="Arial"/>
              <a:buNone/>
            </a:pPr>
            <a:r>
              <a:rPr b="1" i="0" lang="es-CO" sz="1550" u="none" cap="none" strike="noStrike">
                <a:solidFill>
                  <a:srgbClr val="2A56C6"/>
                </a:solidFill>
                <a:latin typeface="Arial"/>
                <a:ea typeface="Arial"/>
                <a:cs typeface="Arial"/>
                <a:sym typeface="Arial"/>
              </a:rPr>
              <a:t>Planifican el trabajo: </a:t>
            </a:r>
            <a:r>
              <a:rPr b="0" i="0" lang="es-CO" sz="155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analizan los ítems seleccionados y definen cómo abordarlos en el Sprint.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"/>
          <p:cNvSpPr/>
          <p:nvPr/>
        </p:nvSpPr>
        <p:spPr>
          <a:xfrm>
            <a:off x="8229600" y="5004563"/>
            <a:ext cx="9921240" cy="537209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2700">
            <a:solidFill>
              <a:srgbClr val="DDD6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"/>
          <p:cNvSpPr/>
          <p:nvPr/>
        </p:nvSpPr>
        <p:spPr>
          <a:xfrm>
            <a:off x="8412480" y="5072001"/>
            <a:ext cx="402336" cy="402336"/>
          </a:xfrm>
          <a:prstGeom prst="ellipse">
            <a:avLst/>
          </a:prstGeom>
          <a:solidFill>
            <a:srgbClr val="2A56C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7"/>
          <p:cNvSpPr txBox="1"/>
          <p:nvPr/>
        </p:nvSpPr>
        <p:spPr>
          <a:xfrm>
            <a:off x="8412480" y="5072001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s-CO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7"/>
          <p:cNvSpPr txBox="1"/>
          <p:nvPr/>
        </p:nvSpPr>
        <p:spPr>
          <a:xfrm>
            <a:off x="9006840" y="5004563"/>
            <a:ext cx="8961120" cy="53720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50"/>
              <a:buFont typeface="Arial"/>
              <a:buNone/>
            </a:pPr>
            <a:r>
              <a:rPr b="1" i="0" lang="es-CO" sz="1550" u="none" cap="none" strike="noStrike">
                <a:solidFill>
                  <a:srgbClr val="2A56C6"/>
                </a:solidFill>
                <a:latin typeface="Arial"/>
                <a:ea typeface="Arial"/>
                <a:cs typeface="Arial"/>
                <a:sym typeface="Arial"/>
              </a:rPr>
              <a:t>Adaptan el Sprint Backlog: </a:t>
            </a:r>
            <a:r>
              <a:rPr b="0" i="0" lang="es-CO" sz="155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ajustan su plan de trabajo de manera continua según el avance y los hallazgos.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"/>
          <p:cNvSpPr/>
          <p:nvPr/>
        </p:nvSpPr>
        <p:spPr>
          <a:xfrm>
            <a:off x="8229600" y="5678933"/>
            <a:ext cx="9921240" cy="537209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2700">
            <a:solidFill>
              <a:srgbClr val="DDD6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7"/>
          <p:cNvSpPr/>
          <p:nvPr/>
        </p:nvSpPr>
        <p:spPr>
          <a:xfrm>
            <a:off x="8412480" y="5746370"/>
            <a:ext cx="402336" cy="402336"/>
          </a:xfrm>
          <a:prstGeom prst="ellipse">
            <a:avLst/>
          </a:prstGeom>
          <a:solidFill>
            <a:srgbClr val="2A56C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7"/>
          <p:cNvSpPr txBox="1"/>
          <p:nvPr/>
        </p:nvSpPr>
        <p:spPr>
          <a:xfrm>
            <a:off x="8412480" y="5746370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s-CO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7" name="Google Shape;437;p7"/>
          <p:cNvSpPr txBox="1"/>
          <p:nvPr/>
        </p:nvSpPr>
        <p:spPr>
          <a:xfrm>
            <a:off x="9006840" y="5678933"/>
            <a:ext cx="8961120" cy="53720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50"/>
              <a:buFont typeface="Arial"/>
              <a:buNone/>
            </a:pPr>
            <a:r>
              <a:rPr b="1" i="0" lang="es-CO" sz="1550" u="none" cap="none" strike="noStrike">
                <a:solidFill>
                  <a:srgbClr val="2A56C6"/>
                </a:solidFill>
                <a:latin typeface="Arial"/>
                <a:ea typeface="Arial"/>
                <a:cs typeface="Arial"/>
                <a:sym typeface="Arial"/>
              </a:rPr>
              <a:t>Mantienen la calidad: </a:t>
            </a:r>
            <a:r>
              <a:rPr b="0" i="0" lang="es-CO" sz="155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aplican buenas prácticas técnicas, realizan pruebas y aseguran un trabajo bien hecho.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7"/>
          <p:cNvSpPr/>
          <p:nvPr/>
        </p:nvSpPr>
        <p:spPr>
          <a:xfrm>
            <a:off x="8229600" y="6353304"/>
            <a:ext cx="9921240" cy="537209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12700">
            <a:solidFill>
              <a:srgbClr val="DDD6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7"/>
          <p:cNvSpPr/>
          <p:nvPr/>
        </p:nvSpPr>
        <p:spPr>
          <a:xfrm>
            <a:off x="8412480" y="6420741"/>
            <a:ext cx="402336" cy="402336"/>
          </a:xfrm>
          <a:prstGeom prst="ellipse">
            <a:avLst/>
          </a:prstGeom>
          <a:solidFill>
            <a:srgbClr val="2A56C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0" name="Google Shape;440;p7"/>
          <p:cNvSpPr txBox="1"/>
          <p:nvPr/>
        </p:nvSpPr>
        <p:spPr>
          <a:xfrm>
            <a:off x="8412480" y="6420741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s-CO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7"/>
          <p:cNvSpPr txBox="1"/>
          <p:nvPr/>
        </p:nvSpPr>
        <p:spPr>
          <a:xfrm>
            <a:off x="9006840" y="6353304"/>
            <a:ext cx="8961120" cy="53720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50"/>
              <a:buFont typeface="Arial"/>
              <a:buNone/>
            </a:pPr>
            <a:r>
              <a:rPr b="1" i="0" lang="es-CO" sz="1550" u="none" cap="none" strike="noStrike">
                <a:solidFill>
                  <a:srgbClr val="2A56C6"/>
                </a:solidFill>
                <a:latin typeface="Arial"/>
                <a:ea typeface="Arial"/>
                <a:cs typeface="Arial"/>
                <a:sym typeface="Arial"/>
              </a:rPr>
              <a:t>Construyen el Incremento: </a:t>
            </a:r>
            <a:r>
              <a:rPr b="0" i="0" lang="es-CO" sz="155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entregan un resultado funcional, utilizable y que aporta valor al producto.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p7"/>
          <p:cNvSpPr/>
          <p:nvPr/>
        </p:nvSpPr>
        <p:spPr>
          <a:xfrm>
            <a:off x="3886200" y="7233414"/>
            <a:ext cx="14264640" cy="1170432"/>
          </a:xfrm>
          <a:prstGeom prst="roundRect">
            <a:avLst>
              <a:gd fmla="val 12000" name="adj"/>
            </a:avLst>
          </a:prstGeom>
          <a:solidFill>
            <a:srgbClr val="F1EB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3" name="Google Shape;443;p7"/>
          <p:cNvSpPr/>
          <p:nvPr/>
        </p:nvSpPr>
        <p:spPr>
          <a:xfrm>
            <a:off x="3886200" y="7233414"/>
            <a:ext cx="82296" cy="1170432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7"/>
          <p:cNvSpPr/>
          <p:nvPr/>
        </p:nvSpPr>
        <p:spPr>
          <a:xfrm>
            <a:off x="4160520" y="7507734"/>
            <a:ext cx="603504" cy="603504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7"/>
          <p:cNvSpPr/>
          <p:nvPr/>
        </p:nvSpPr>
        <p:spPr>
          <a:xfrm>
            <a:off x="4288536" y="763575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7"/>
          <p:cNvSpPr txBox="1"/>
          <p:nvPr/>
        </p:nvSpPr>
        <p:spPr>
          <a:xfrm>
            <a:off x="4983480" y="7361430"/>
            <a:ext cx="1298448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s-CO" sz="16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¿Qué nos plantea?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p7"/>
          <p:cNvSpPr txBox="1"/>
          <p:nvPr/>
        </p:nvSpPr>
        <p:spPr>
          <a:xfrm>
            <a:off x="4983480" y="7708902"/>
            <a:ext cx="12984480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s-CO" sz="150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Su responsabilidad se orienta a convertir el objetivo del Sprint en un resultado concreto, utilizable y verificado en la realidad.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" name="Google Shape;448;p7"/>
          <p:cNvSpPr/>
          <p:nvPr/>
        </p:nvSpPr>
        <p:spPr>
          <a:xfrm>
            <a:off x="3886200" y="8691882"/>
            <a:ext cx="3638550" cy="402336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C9B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7"/>
          <p:cNvSpPr txBox="1"/>
          <p:nvPr/>
        </p:nvSpPr>
        <p:spPr>
          <a:xfrm>
            <a:off x="3886200" y="8691882"/>
            <a:ext cx="363855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s-CO" sz="1350" u="none" cap="none" strike="noStrike">
                <a:solidFill>
                  <a:srgbClr val="6B6570"/>
                </a:solidFill>
                <a:latin typeface="Arial"/>
                <a:ea typeface="Arial"/>
                <a:cs typeface="Arial"/>
                <a:sym typeface="Arial"/>
              </a:rPr>
              <a:t>Ejecutar tareas aisladas</a:t>
            </a:r>
            <a:endParaRPr b="0" i="0" sz="13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7"/>
          <p:cNvSpPr txBox="1"/>
          <p:nvPr/>
        </p:nvSpPr>
        <p:spPr>
          <a:xfrm>
            <a:off x="7600950" y="8691882"/>
            <a:ext cx="51435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s-CO" sz="22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≠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1" name="Google Shape;451;p7"/>
          <p:cNvSpPr/>
          <p:nvPr/>
        </p:nvSpPr>
        <p:spPr>
          <a:xfrm>
            <a:off x="8210550" y="8691882"/>
            <a:ext cx="3857625" cy="402336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2" name="Google Shape;452;p7"/>
          <p:cNvSpPr txBox="1"/>
          <p:nvPr/>
        </p:nvSpPr>
        <p:spPr>
          <a:xfrm>
            <a:off x="8210550" y="8691882"/>
            <a:ext cx="3857625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s-CO" sz="135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Entregar incrementos útiles</a:t>
            </a:r>
            <a:endParaRPr b="0" i="0" sz="13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hosphor lightbulb, regular, #ddd5e7. https://phosphoricons.com/" id="453" name="Google Shape;453;p7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4288536" y="7635750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2">
            <a:hlinkClick action="ppaction://hlinksldjump" r:id="rId19"/>
          </p:cNvPr>
          <p:cNvSpPr/>
          <p:nvPr/>
        </p:nvSpPr>
        <p:spPr>
          <a:xfrm>
            <a:off x="191751" y="9336878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2">
            <a:hlinkClick action="ppaction://hlinksldjump" r:id="rId19"/>
          </p:cNvPr>
          <p:cNvSpPr/>
          <p:nvPr/>
        </p:nvSpPr>
        <p:spPr>
          <a:xfrm>
            <a:off x="266783" y="9336878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Créditos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Equipo de producción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"/>
          <p:cNvSpPr/>
          <p:nvPr/>
        </p:nvSpPr>
        <p:spPr>
          <a:xfrm>
            <a:off x="3887703" y="1984772"/>
            <a:ext cx="1426464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s-CO" sz="3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6. El ritmo de Scrum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9" name="Google Shape;459;p8"/>
          <p:cNvSpPr/>
          <p:nvPr/>
        </p:nvSpPr>
        <p:spPr>
          <a:xfrm>
            <a:off x="0" y="0"/>
            <a:ext cx="3168000" cy="10934700"/>
          </a:xfrm>
          <a:prstGeom prst="rect">
            <a:avLst/>
          </a:prstGeom>
          <a:solidFill>
            <a:srgbClr val="F5F3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0" name="Google Shape;460;p8"/>
          <p:cNvSpPr/>
          <p:nvPr/>
        </p:nvSpPr>
        <p:spPr>
          <a:xfrm>
            <a:off x="3153046" y="0"/>
            <a:ext cx="15000" cy="10934700"/>
          </a:xfrm>
          <a:prstGeom prst="rect">
            <a:avLst/>
          </a:prstGeom>
          <a:solidFill>
            <a:srgbClr val="E0DA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1" name="Google Shape;461;p8"/>
          <p:cNvSpPr/>
          <p:nvPr/>
        </p:nvSpPr>
        <p:spPr>
          <a:xfrm>
            <a:off x="191751" y="1550000"/>
            <a:ext cx="2784600" cy="14100"/>
          </a:xfrm>
          <a:prstGeom prst="rect">
            <a:avLst/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8"/>
          <p:cNvSpPr/>
          <p:nvPr/>
        </p:nvSpPr>
        <p:spPr>
          <a:xfrm>
            <a:off x="191751" y="1730000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">
            <a:hlinkClick action="ppaction://hlinksldjump" r:id="rId3"/>
          </p:cNvPr>
          <p:cNvSpPr/>
          <p:nvPr/>
        </p:nvSpPr>
        <p:spPr>
          <a:xfrm>
            <a:off x="266783" y="1730000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Estructura Scrum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4" name="Google Shape;464;p8">
            <a:hlinkClick action="ppaction://hlinksldjump" r:id="rId4"/>
          </p:cNvPr>
          <p:cNvSpPr/>
          <p:nvPr/>
        </p:nvSpPr>
        <p:spPr>
          <a:xfrm>
            <a:off x="191751" y="2997813"/>
            <a:ext cx="75000" cy="1117697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5" name="Google Shape;465;p8">
            <a:hlinkClick action="ppaction://hlinksldjump" r:id="rId5"/>
          </p:cNvPr>
          <p:cNvSpPr/>
          <p:nvPr/>
        </p:nvSpPr>
        <p:spPr>
          <a:xfrm>
            <a:off x="266783" y="2997813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0DAEC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Responsabilidades del Scrum Team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6" name="Google Shape;466;p8">
            <a:hlinkClick r:id="rId6"/>
          </p:cNvPr>
          <p:cNvSpPr/>
          <p:nvPr/>
        </p:nvSpPr>
        <p:spPr>
          <a:xfrm>
            <a:off x="191751" y="4265626"/>
            <a:ext cx="75000" cy="1117697"/>
          </a:xfrm>
          <a:prstGeom prst="rect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7" name="Google Shape;467;p8">
            <a:hlinkClick action="ppaction://hlinksldjump" r:id="rId7"/>
          </p:cNvPr>
          <p:cNvSpPr/>
          <p:nvPr/>
        </p:nvSpPr>
        <p:spPr>
          <a:xfrm>
            <a:off x="266783" y="4265626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2A56C6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Eventos del Scrum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8" name="Google Shape;468;p8">
            <a:hlinkClick r:id="rId8"/>
          </p:cNvPr>
          <p:cNvSpPr/>
          <p:nvPr/>
        </p:nvSpPr>
        <p:spPr>
          <a:xfrm>
            <a:off x="191751" y="5533439"/>
            <a:ext cx="75000" cy="1117697"/>
          </a:xfrm>
          <a:prstGeom prst="rect">
            <a:avLst/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9" name="Google Shape;469;p8">
            <a:hlinkClick action="ppaction://hlinksldjump" r:id="rId9"/>
          </p:cNvPr>
          <p:cNvSpPr/>
          <p:nvPr/>
        </p:nvSpPr>
        <p:spPr>
          <a:xfrm>
            <a:off x="266783" y="5533439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FDBE4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Artefactos y compromisos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0" name="Google Shape;470;p8">
            <a:hlinkClick r:id="rId10"/>
          </p:cNvPr>
          <p:cNvSpPr/>
          <p:nvPr/>
        </p:nvSpPr>
        <p:spPr>
          <a:xfrm>
            <a:off x="191751" y="6801252"/>
            <a:ext cx="75000" cy="1117697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1" name="Google Shape;471;p8">
            <a:hlinkClick action="ppaction://hlinksldjump" r:id="rId11"/>
          </p:cNvPr>
          <p:cNvSpPr/>
          <p:nvPr/>
        </p:nvSpPr>
        <p:spPr>
          <a:xfrm>
            <a:off x="266783" y="6801252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6E1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Integración y aprendizaje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2" name="Google Shape;472;p8"/>
          <p:cNvSpPr/>
          <p:nvPr/>
        </p:nvSpPr>
        <p:spPr>
          <a:xfrm>
            <a:off x="191751" y="8069065"/>
            <a:ext cx="75000" cy="1117697"/>
          </a:xfrm>
          <a:prstGeom prst="rect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8">
            <a:hlinkClick action="ppaction://hlinksldjump" r:id="rId12"/>
          </p:cNvPr>
          <p:cNvSpPr/>
          <p:nvPr/>
        </p:nvSpPr>
        <p:spPr>
          <a:xfrm>
            <a:off x="266783" y="8069065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FF8D6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Comprueba lo aprendido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4" name="Google Shape;474;p8"/>
          <p:cNvSpPr/>
          <p:nvPr/>
        </p:nvSpPr>
        <p:spPr>
          <a:xfrm>
            <a:off x="4591655" y="9872067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5" name="Google Shape;475;p8">
            <a:hlinkClick action="ppaction://hlinksldjump" r:id="rId13"/>
          </p:cNvPr>
          <p:cNvSpPr/>
          <p:nvPr/>
        </p:nvSpPr>
        <p:spPr>
          <a:xfrm>
            <a:off x="4591655" y="9812536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4275">
            <a:solidFill>
              <a:srgbClr val="66409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sng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Anterior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6" name="Google Shape;476;p8"/>
          <p:cNvSpPr/>
          <p:nvPr/>
        </p:nvSpPr>
        <p:spPr>
          <a:xfrm>
            <a:off x="6378374" y="9872067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C8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7" name="Google Shape;477;p8">
            <a:hlinkClick action="ppaction://hlinksldjump" r:id="rId14"/>
          </p:cNvPr>
          <p:cNvSpPr/>
          <p:nvPr/>
        </p:nvSpPr>
        <p:spPr>
          <a:xfrm>
            <a:off x="6378374" y="9812536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sng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Siguiente</a:t>
            </a:r>
            <a:endParaRPr b="1" i="0" sz="1578" u="sng" cap="none" strike="noStrike">
              <a:solidFill>
                <a:srgbClr val="663D8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8" name="Google Shape;478;p8">
            <a:hlinkClick action="ppaction://hlinksldjump" r:id="rId15"/>
          </p:cNvPr>
          <p:cNvSpPr/>
          <p:nvPr/>
        </p:nvSpPr>
        <p:spPr>
          <a:xfrm>
            <a:off x="191792" y="399700"/>
            <a:ext cx="75000" cy="984000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9" name="Google Shape;479;p8">
            <a:hlinkClick action="ppaction://hlinksldjump" r:id="rId16"/>
          </p:cNvPr>
          <p:cNvSpPr/>
          <p:nvPr/>
        </p:nvSpPr>
        <p:spPr>
          <a:xfrm>
            <a:off x="266825" y="399900"/>
            <a:ext cx="2709300" cy="984000"/>
          </a:xfrm>
          <a:prstGeom prst="roundRect">
            <a:avLst>
              <a:gd fmla="val 14000" name="adj"/>
            </a:avLst>
          </a:prstGeom>
          <a:solidFill>
            <a:srgbClr val="D1E0F2"/>
          </a:solidFill>
          <a:ln>
            <a:noFill/>
          </a:ln>
        </p:spPr>
        <p:txBody>
          <a:bodyPr anchorCtr="0" anchor="ctr" bIns="40000" lIns="160000" spcFirstLastPara="1" rIns="100000" wrap="square" tIns="4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1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0" name="Google Shape;480;p8" title="correcciones sapiencia.png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266783" y="600314"/>
            <a:ext cx="486192" cy="486192"/>
          </a:xfrm>
          <a:prstGeom prst="rect">
            <a:avLst/>
          </a:prstGeom>
          <a:noFill/>
          <a:ln>
            <a:noFill/>
          </a:ln>
        </p:spPr>
      </p:pic>
      <p:sp>
        <p:nvSpPr>
          <p:cNvPr id="481" name="Google Shape;481;p8">
            <a:hlinkClick action="ppaction://hlinksldjump" r:id="rId18"/>
          </p:cNvPr>
          <p:cNvSpPr txBox="1"/>
          <p:nvPr/>
        </p:nvSpPr>
        <p:spPr>
          <a:xfrm>
            <a:off x="939099" y="660838"/>
            <a:ext cx="1541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Scrum por dentro</a:t>
            </a:r>
            <a:endParaRPr b="1" i="0" sz="1200" u="none" cap="none" strike="noStrike">
              <a:solidFill>
                <a:srgbClr val="3D21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1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Inicio</a:t>
            </a:r>
            <a:endParaRPr b="1" i="0" sz="1200" u="none" cap="none" strike="noStrike">
              <a:solidFill>
                <a:srgbClr val="A719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8"/>
          <p:cNvSpPr txBox="1"/>
          <p:nvPr/>
        </p:nvSpPr>
        <p:spPr>
          <a:xfrm>
            <a:off x="3886200" y="1481328"/>
            <a:ext cx="9144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s-CO" sz="15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Tema 2 · Estructura del sistema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"/>
          <p:cNvSpPr/>
          <p:nvPr/>
        </p:nvSpPr>
        <p:spPr>
          <a:xfrm>
            <a:off x="3886200" y="2834640"/>
            <a:ext cx="128016" cy="128016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"/>
          <p:cNvSpPr/>
          <p:nvPr/>
        </p:nvSpPr>
        <p:spPr>
          <a:xfrm>
            <a:off x="4114800" y="2852928"/>
            <a:ext cx="91440" cy="9144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"/>
          <p:cNvSpPr/>
          <p:nvPr/>
        </p:nvSpPr>
        <p:spPr>
          <a:xfrm>
            <a:off x="4334256" y="2852928"/>
            <a:ext cx="91440" cy="9144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"/>
          <p:cNvSpPr/>
          <p:nvPr/>
        </p:nvSpPr>
        <p:spPr>
          <a:xfrm>
            <a:off x="4553712" y="2852928"/>
            <a:ext cx="91440" cy="9144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"/>
          <p:cNvSpPr/>
          <p:nvPr/>
        </p:nvSpPr>
        <p:spPr>
          <a:xfrm>
            <a:off x="4782312" y="2852928"/>
            <a:ext cx="91440" cy="9144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8" name="Google Shape;488;p8"/>
          <p:cNvSpPr/>
          <p:nvPr/>
        </p:nvSpPr>
        <p:spPr>
          <a:xfrm>
            <a:off x="5001768" y="2834640"/>
            <a:ext cx="128016" cy="128016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9" name="Google Shape;489;p8"/>
          <p:cNvSpPr txBox="1"/>
          <p:nvPr/>
        </p:nvSpPr>
        <p:spPr>
          <a:xfrm>
            <a:off x="3886200" y="3200400"/>
            <a:ext cx="14264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s-CO" sz="190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El Sprint contiene eventos que crean oportunidades formales para inspeccionar y adaptar.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" name="Google Shape;490;p8"/>
          <p:cNvSpPr/>
          <p:nvPr/>
        </p:nvSpPr>
        <p:spPr>
          <a:xfrm>
            <a:off x="3886200" y="3767196"/>
            <a:ext cx="14264640" cy="384048"/>
          </a:xfrm>
          <a:prstGeom prst="roundRect">
            <a:avLst>
              <a:gd fmla="val 50000" name="adj"/>
            </a:avLst>
          </a:prstGeom>
          <a:solidFill>
            <a:srgbClr val="E8F1F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1" name="Google Shape;491;p8"/>
          <p:cNvSpPr txBox="1"/>
          <p:nvPr/>
        </p:nvSpPr>
        <p:spPr>
          <a:xfrm>
            <a:off x="3886200" y="3767196"/>
            <a:ext cx="142646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s-CO" sz="1500" u="none" cap="none" strike="noStrike">
                <a:solidFill>
                  <a:srgbClr val="024791"/>
                </a:solidFill>
                <a:latin typeface="Arial"/>
                <a:ea typeface="Arial"/>
                <a:cs typeface="Arial"/>
                <a:sym typeface="Arial"/>
              </a:rPr>
              <a:t>Ciclo del Sprint  </a:t>
            </a:r>
            <a:r>
              <a:rPr b="0" i="0" lang="es-CO" sz="1500" u="none" cap="none" strike="noStrike">
                <a:solidFill>
                  <a:srgbClr val="2A56C6"/>
                </a:solidFill>
                <a:latin typeface="Arial"/>
                <a:ea typeface="Arial"/>
                <a:cs typeface="Arial"/>
                <a:sym typeface="Arial"/>
              </a:rPr>
              <a:t>Inspeccionar · Adaptar · Generar valor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8"/>
          <p:cNvSpPr/>
          <p:nvPr/>
        </p:nvSpPr>
        <p:spPr>
          <a:xfrm>
            <a:off x="3886200" y="4361555"/>
            <a:ext cx="3326130" cy="26289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5875">
            <a:solidFill>
              <a:srgbClr val="DDD6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" name="Google Shape;493;p8"/>
          <p:cNvSpPr/>
          <p:nvPr/>
        </p:nvSpPr>
        <p:spPr>
          <a:xfrm>
            <a:off x="3886200" y="4361555"/>
            <a:ext cx="3326130" cy="91440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8"/>
          <p:cNvSpPr/>
          <p:nvPr/>
        </p:nvSpPr>
        <p:spPr>
          <a:xfrm>
            <a:off x="4267200" y="4559676"/>
            <a:ext cx="609600" cy="609600"/>
          </a:xfrm>
          <a:prstGeom prst="ellipse">
            <a:avLst/>
          </a:prstGeom>
          <a:solidFill>
            <a:srgbClr val="F1EB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95" name="Google Shape;495;p8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4352544" y="4645020"/>
            <a:ext cx="438912" cy="438912"/>
          </a:xfrm>
          <a:prstGeom prst="rect">
            <a:avLst/>
          </a:prstGeom>
          <a:noFill/>
          <a:ln>
            <a:noFill/>
          </a:ln>
        </p:spPr>
      </p:pic>
      <p:sp>
        <p:nvSpPr>
          <p:cNvPr id="496" name="Google Shape;496;p8"/>
          <p:cNvSpPr txBox="1"/>
          <p:nvPr/>
        </p:nvSpPr>
        <p:spPr>
          <a:xfrm>
            <a:off x="4206240" y="5340726"/>
            <a:ext cx="2686050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1" i="0" lang="es-CO" sz="165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Sprint Planning</a:t>
            </a:r>
            <a:endParaRPr b="0" i="0" sz="16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7" name="Google Shape;497;p8"/>
          <p:cNvSpPr txBox="1"/>
          <p:nvPr/>
        </p:nvSpPr>
        <p:spPr>
          <a:xfrm>
            <a:off x="4206240" y="5893176"/>
            <a:ext cx="268605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s-CO" sz="140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Define por qué el Sprint es valioso, qué puede realizarse y cómo se abordará el trabajo.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8" name="Google Shape;498;p8"/>
          <p:cNvSpPr/>
          <p:nvPr/>
        </p:nvSpPr>
        <p:spPr>
          <a:xfrm>
            <a:off x="7532370" y="4361555"/>
            <a:ext cx="3326130" cy="26289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5875">
            <a:solidFill>
              <a:srgbClr val="DDD6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9" name="Google Shape;499;p8"/>
          <p:cNvSpPr/>
          <p:nvPr/>
        </p:nvSpPr>
        <p:spPr>
          <a:xfrm>
            <a:off x="7532370" y="4361555"/>
            <a:ext cx="3326130" cy="91440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8"/>
          <p:cNvSpPr/>
          <p:nvPr/>
        </p:nvSpPr>
        <p:spPr>
          <a:xfrm>
            <a:off x="7913370" y="4559676"/>
            <a:ext cx="609600" cy="609600"/>
          </a:xfrm>
          <a:prstGeom prst="ellipse">
            <a:avLst/>
          </a:prstGeom>
          <a:solidFill>
            <a:srgbClr val="F6EB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8"/>
          <p:cNvSpPr/>
          <p:nvPr/>
        </p:nvSpPr>
        <p:spPr>
          <a:xfrm>
            <a:off x="7998714" y="464502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2" name="Google Shape;502;p8"/>
          <p:cNvSpPr txBox="1"/>
          <p:nvPr/>
        </p:nvSpPr>
        <p:spPr>
          <a:xfrm>
            <a:off x="7852410" y="5340726"/>
            <a:ext cx="2686050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1" i="0" lang="es-CO" sz="165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Daily Scrum</a:t>
            </a:r>
            <a:endParaRPr b="0" i="0" sz="16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8"/>
          <p:cNvSpPr txBox="1"/>
          <p:nvPr/>
        </p:nvSpPr>
        <p:spPr>
          <a:xfrm>
            <a:off x="7852410" y="5893176"/>
            <a:ext cx="268605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s-CO" sz="140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Permite inspeccionar el progreso hacia el Sprint Goal y adaptar el plan cuando sea necesario.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4" name="Google Shape;504;p8"/>
          <p:cNvSpPr/>
          <p:nvPr/>
        </p:nvSpPr>
        <p:spPr>
          <a:xfrm>
            <a:off x="11178540" y="4361555"/>
            <a:ext cx="3326130" cy="26289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5875">
            <a:solidFill>
              <a:srgbClr val="DDD6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" name="Google Shape;505;p8"/>
          <p:cNvSpPr/>
          <p:nvPr/>
        </p:nvSpPr>
        <p:spPr>
          <a:xfrm>
            <a:off x="11178540" y="4361555"/>
            <a:ext cx="3326130" cy="91440"/>
          </a:xfrm>
          <a:prstGeom prst="rect">
            <a:avLst/>
          </a:prstGeom>
          <a:solidFill>
            <a:srgbClr val="2A56C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p8"/>
          <p:cNvSpPr/>
          <p:nvPr/>
        </p:nvSpPr>
        <p:spPr>
          <a:xfrm>
            <a:off x="11559540" y="4559676"/>
            <a:ext cx="609600" cy="609600"/>
          </a:xfrm>
          <a:prstGeom prst="ellipse">
            <a:avLst/>
          </a:prstGeom>
          <a:solidFill>
            <a:srgbClr val="E8F1F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07" name="Google Shape;507;p8"/>
          <p:cNvPicPr preferRelativeResize="0"/>
          <p:nvPr/>
        </p:nvPicPr>
        <p:blipFill rotWithShape="1">
          <a:blip r:embed="rId20">
            <a:alphaModFix/>
          </a:blip>
          <a:srcRect b="0" l="0" r="0" t="0"/>
          <a:stretch/>
        </p:blipFill>
        <p:spPr>
          <a:xfrm>
            <a:off x="11644884" y="4645020"/>
            <a:ext cx="438912" cy="438912"/>
          </a:xfrm>
          <a:prstGeom prst="rect">
            <a:avLst/>
          </a:prstGeom>
          <a:noFill/>
          <a:ln>
            <a:noFill/>
          </a:ln>
        </p:spPr>
      </p:pic>
      <p:sp>
        <p:nvSpPr>
          <p:cNvPr id="508" name="Google Shape;508;p8"/>
          <p:cNvSpPr txBox="1"/>
          <p:nvPr/>
        </p:nvSpPr>
        <p:spPr>
          <a:xfrm>
            <a:off x="11498580" y="5340726"/>
            <a:ext cx="2686050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1" i="0" lang="es-CO" sz="1650" u="none" cap="none" strike="noStrike">
                <a:solidFill>
                  <a:srgbClr val="2A56C6"/>
                </a:solidFill>
                <a:latin typeface="Arial"/>
                <a:ea typeface="Arial"/>
                <a:cs typeface="Arial"/>
                <a:sym typeface="Arial"/>
              </a:rPr>
              <a:t>Sprint Review</a:t>
            </a:r>
            <a:endParaRPr b="0" i="0" sz="16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9" name="Google Shape;509;p8"/>
          <p:cNvSpPr txBox="1"/>
          <p:nvPr/>
        </p:nvSpPr>
        <p:spPr>
          <a:xfrm>
            <a:off x="11498580" y="5893176"/>
            <a:ext cx="268605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s-CO" sz="140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Permite inspeccionar el resultado del Sprint y analizar posibles adaptaciones futuras con los interesados.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0" name="Google Shape;510;p8"/>
          <p:cNvSpPr/>
          <p:nvPr/>
        </p:nvSpPr>
        <p:spPr>
          <a:xfrm>
            <a:off x="14824709" y="4361555"/>
            <a:ext cx="3326130" cy="26289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5875">
            <a:solidFill>
              <a:srgbClr val="DDD6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1" name="Google Shape;511;p8"/>
          <p:cNvSpPr/>
          <p:nvPr/>
        </p:nvSpPr>
        <p:spPr>
          <a:xfrm>
            <a:off x="14824709" y="4361555"/>
            <a:ext cx="3326130" cy="91440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2" name="Google Shape;512;p8"/>
          <p:cNvSpPr/>
          <p:nvPr/>
        </p:nvSpPr>
        <p:spPr>
          <a:xfrm>
            <a:off x="15205710" y="4559676"/>
            <a:ext cx="609600" cy="609600"/>
          </a:xfrm>
          <a:prstGeom prst="ellipse">
            <a:avLst/>
          </a:prstGeom>
          <a:solidFill>
            <a:srgbClr val="E6EE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3" name="Google Shape;513;p8"/>
          <p:cNvSpPr/>
          <p:nvPr/>
        </p:nvSpPr>
        <p:spPr>
          <a:xfrm>
            <a:off x="15291054" y="464502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4" name="Google Shape;514;p8"/>
          <p:cNvSpPr txBox="1"/>
          <p:nvPr/>
        </p:nvSpPr>
        <p:spPr>
          <a:xfrm>
            <a:off x="15144750" y="5340726"/>
            <a:ext cx="2686050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1" i="0" lang="es-CO" sz="1650" u="none" cap="none" strike="noStrike">
                <a:solidFill>
                  <a:srgbClr val="024791"/>
                </a:solidFill>
                <a:latin typeface="Arial"/>
                <a:ea typeface="Arial"/>
                <a:cs typeface="Arial"/>
                <a:sym typeface="Arial"/>
              </a:rPr>
              <a:t>Sprint Retrospective</a:t>
            </a:r>
            <a:endParaRPr b="0" i="0" sz="16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5" name="Google Shape;515;p8"/>
          <p:cNvSpPr txBox="1"/>
          <p:nvPr/>
        </p:nvSpPr>
        <p:spPr>
          <a:xfrm>
            <a:off x="15144750" y="5893176"/>
            <a:ext cx="2686050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s-CO" sz="140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Permite analizar cómo trabajó el equipo y planificar mejoras en calidad y efectividad.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6" name="Google Shape;516;p8"/>
          <p:cNvSpPr/>
          <p:nvPr/>
        </p:nvSpPr>
        <p:spPr>
          <a:xfrm>
            <a:off x="3886200" y="7264776"/>
            <a:ext cx="14264640" cy="1170432"/>
          </a:xfrm>
          <a:prstGeom prst="roundRect">
            <a:avLst>
              <a:gd fmla="val 12000" name="adj"/>
            </a:avLst>
          </a:prstGeom>
          <a:solidFill>
            <a:srgbClr val="F1EB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7" name="Google Shape;517;p8"/>
          <p:cNvSpPr/>
          <p:nvPr/>
        </p:nvSpPr>
        <p:spPr>
          <a:xfrm>
            <a:off x="3886200" y="7264776"/>
            <a:ext cx="82296" cy="1170432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8" name="Google Shape;518;p8"/>
          <p:cNvSpPr/>
          <p:nvPr/>
        </p:nvSpPr>
        <p:spPr>
          <a:xfrm>
            <a:off x="4160520" y="7539096"/>
            <a:ext cx="603504" cy="603504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9" name="Google Shape;519;p8"/>
          <p:cNvSpPr txBox="1"/>
          <p:nvPr/>
        </p:nvSpPr>
        <p:spPr>
          <a:xfrm>
            <a:off x="4983480" y="7392792"/>
            <a:ext cx="1298448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s-CO" sz="16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¿Qué nos plantea?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0" name="Google Shape;520;p8"/>
          <p:cNvSpPr txBox="1"/>
          <p:nvPr/>
        </p:nvSpPr>
        <p:spPr>
          <a:xfrm>
            <a:off x="4983480" y="7740264"/>
            <a:ext cx="12984480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s-CO" sz="150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Todos estos eventos ocurren dentro del Sprint, que funciona como el ciclo que contiene el trabajo necesario para convertir ideas en valor.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1" name="Google Shape;521;p8"/>
          <p:cNvSpPr/>
          <p:nvPr/>
        </p:nvSpPr>
        <p:spPr>
          <a:xfrm>
            <a:off x="3886200" y="8723244"/>
            <a:ext cx="3638550" cy="402336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C9B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2" name="Google Shape;522;p8"/>
          <p:cNvSpPr txBox="1"/>
          <p:nvPr/>
        </p:nvSpPr>
        <p:spPr>
          <a:xfrm>
            <a:off x="3886200" y="8723244"/>
            <a:ext cx="363855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s-CO" sz="1350" u="none" cap="none" strike="noStrike">
                <a:solidFill>
                  <a:srgbClr val="6B6570"/>
                </a:solidFill>
                <a:latin typeface="Arial"/>
                <a:ea typeface="Arial"/>
                <a:cs typeface="Arial"/>
                <a:sym typeface="Arial"/>
              </a:rPr>
              <a:t>Reuniones burocráticas</a:t>
            </a:r>
            <a:endParaRPr b="0" i="0" sz="13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3" name="Google Shape;523;p8"/>
          <p:cNvSpPr txBox="1"/>
          <p:nvPr/>
        </p:nvSpPr>
        <p:spPr>
          <a:xfrm>
            <a:off x="7600950" y="8723244"/>
            <a:ext cx="51435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s-CO" sz="22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≠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4" name="Google Shape;524;p8"/>
          <p:cNvSpPr/>
          <p:nvPr/>
        </p:nvSpPr>
        <p:spPr>
          <a:xfrm>
            <a:off x="8210550" y="8723244"/>
            <a:ext cx="3857625" cy="402336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5" name="Google Shape;525;p8"/>
          <p:cNvSpPr txBox="1"/>
          <p:nvPr/>
        </p:nvSpPr>
        <p:spPr>
          <a:xfrm>
            <a:off x="8210550" y="8723244"/>
            <a:ext cx="3857625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s-CO" sz="135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Espacios formales de adaptación</a:t>
            </a:r>
            <a:endParaRPr b="0" i="0" sz="13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hosphor chats-circle, regular, #ddd5e7. https://phosphoricons.com/" id="526" name="Google Shape;526;p8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7998714" y="4645020"/>
            <a:ext cx="438912" cy="43891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hosphor arrows-clockwise, regular, #ddd5e7. https://phosphoricons.com/" id="527" name="Google Shape;527;p8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15291054" y="4645020"/>
            <a:ext cx="438912" cy="43891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hosphor lightbulb, regular, #ddd5e7. https://phosphoricons.com/" id="528" name="Google Shape;528;p8"/>
          <p:cNvPicPr preferRelativeResize="0"/>
          <p:nvPr/>
        </p:nvPicPr>
        <p:blipFill rotWithShape="1">
          <a:blip r:embed="rId23">
            <a:alphaModFix/>
          </a:blip>
          <a:srcRect b="0" l="0" r="0" t="0"/>
          <a:stretch/>
        </p:blipFill>
        <p:spPr>
          <a:xfrm>
            <a:off x="4288536" y="7676256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2">
            <a:hlinkClick action="ppaction://hlinksldjump" r:id="rId24"/>
          </p:cNvPr>
          <p:cNvSpPr/>
          <p:nvPr/>
        </p:nvSpPr>
        <p:spPr>
          <a:xfrm>
            <a:off x="191751" y="9336878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2">
            <a:hlinkClick action="ppaction://hlinksldjump" r:id="rId24"/>
          </p:cNvPr>
          <p:cNvSpPr/>
          <p:nvPr/>
        </p:nvSpPr>
        <p:spPr>
          <a:xfrm>
            <a:off x="266783" y="9336878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Créditos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Equipo de producción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2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9"/>
          <p:cNvSpPr/>
          <p:nvPr/>
        </p:nvSpPr>
        <p:spPr>
          <a:xfrm>
            <a:off x="3887703" y="1984772"/>
            <a:ext cx="1426464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s-CO" sz="3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7. Del plan al aprendizaje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4" name="Google Shape;534;p9"/>
          <p:cNvSpPr/>
          <p:nvPr/>
        </p:nvSpPr>
        <p:spPr>
          <a:xfrm>
            <a:off x="0" y="0"/>
            <a:ext cx="3168000" cy="10934700"/>
          </a:xfrm>
          <a:prstGeom prst="rect">
            <a:avLst/>
          </a:prstGeom>
          <a:solidFill>
            <a:srgbClr val="F5F3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9"/>
          <p:cNvSpPr/>
          <p:nvPr/>
        </p:nvSpPr>
        <p:spPr>
          <a:xfrm>
            <a:off x="3153046" y="0"/>
            <a:ext cx="15000" cy="10934700"/>
          </a:xfrm>
          <a:prstGeom prst="rect">
            <a:avLst/>
          </a:prstGeom>
          <a:solidFill>
            <a:srgbClr val="E0DA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9"/>
          <p:cNvSpPr/>
          <p:nvPr/>
        </p:nvSpPr>
        <p:spPr>
          <a:xfrm>
            <a:off x="191751" y="1550000"/>
            <a:ext cx="2784600" cy="14100"/>
          </a:xfrm>
          <a:prstGeom prst="rect">
            <a:avLst/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7" name="Google Shape;537;p9"/>
          <p:cNvSpPr/>
          <p:nvPr/>
        </p:nvSpPr>
        <p:spPr>
          <a:xfrm>
            <a:off x="191751" y="1730000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8" name="Google Shape;538;p9">
            <a:hlinkClick action="ppaction://hlinksldjump" r:id="rId3"/>
          </p:cNvPr>
          <p:cNvSpPr/>
          <p:nvPr/>
        </p:nvSpPr>
        <p:spPr>
          <a:xfrm>
            <a:off x="266783" y="1730000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Estructura Scrum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9" name="Google Shape;539;p9">
            <a:hlinkClick action="ppaction://hlinksldjump" r:id="rId4"/>
          </p:cNvPr>
          <p:cNvSpPr/>
          <p:nvPr/>
        </p:nvSpPr>
        <p:spPr>
          <a:xfrm>
            <a:off x="191751" y="2997813"/>
            <a:ext cx="75000" cy="1117697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0" name="Google Shape;540;p9">
            <a:hlinkClick action="ppaction://hlinksldjump" r:id="rId5"/>
          </p:cNvPr>
          <p:cNvSpPr/>
          <p:nvPr/>
        </p:nvSpPr>
        <p:spPr>
          <a:xfrm>
            <a:off x="266783" y="2997813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0DAEC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Responsabilidades del Scrum Team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1" name="Google Shape;541;p9">
            <a:hlinkClick r:id="rId6"/>
          </p:cNvPr>
          <p:cNvSpPr/>
          <p:nvPr/>
        </p:nvSpPr>
        <p:spPr>
          <a:xfrm>
            <a:off x="191751" y="4265626"/>
            <a:ext cx="75000" cy="1117697"/>
          </a:xfrm>
          <a:prstGeom prst="rect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2" name="Google Shape;542;p9">
            <a:hlinkClick action="ppaction://hlinksldjump" r:id="rId7"/>
          </p:cNvPr>
          <p:cNvSpPr/>
          <p:nvPr/>
        </p:nvSpPr>
        <p:spPr>
          <a:xfrm>
            <a:off x="266783" y="4265626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2A56C6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Eventos del Scrum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3" name="Google Shape;543;p9">
            <a:hlinkClick r:id="rId8"/>
          </p:cNvPr>
          <p:cNvSpPr/>
          <p:nvPr/>
        </p:nvSpPr>
        <p:spPr>
          <a:xfrm>
            <a:off x="191751" y="5533439"/>
            <a:ext cx="75000" cy="1117697"/>
          </a:xfrm>
          <a:prstGeom prst="rect">
            <a:avLst/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4" name="Google Shape;544;p9">
            <a:hlinkClick action="ppaction://hlinksldjump" r:id="rId9"/>
          </p:cNvPr>
          <p:cNvSpPr/>
          <p:nvPr/>
        </p:nvSpPr>
        <p:spPr>
          <a:xfrm>
            <a:off x="266783" y="5533439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FDBE4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Artefactos y compromisos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5" name="Google Shape;545;p9">
            <a:hlinkClick r:id="rId10"/>
          </p:cNvPr>
          <p:cNvSpPr/>
          <p:nvPr/>
        </p:nvSpPr>
        <p:spPr>
          <a:xfrm>
            <a:off x="191751" y="6801252"/>
            <a:ext cx="75000" cy="1117697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6" name="Google Shape;546;p9">
            <a:hlinkClick action="ppaction://hlinksldjump" r:id="rId11"/>
          </p:cNvPr>
          <p:cNvSpPr/>
          <p:nvPr/>
        </p:nvSpPr>
        <p:spPr>
          <a:xfrm>
            <a:off x="266783" y="6801252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6E1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Integración y aprendizaje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7" name="Google Shape;547;p9"/>
          <p:cNvSpPr/>
          <p:nvPr/>
        </p:nvSpPr>
        <p:spPr>
          <a:xfrm>
            <a:off x="191751" y="8069065"/>
            <a:ext cx="75000" cy="1117697"/>
          </a:xfrm>
          <a:prstGeom prst="rect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8" name="Google Shape;548;p9">
            <a:hlinkClick action="ppaction://hlinksldjump" r:id="rId12"/>
          </p:cNvPr>
          <p:cNvSpPr/>
          <p:nvPr/>
        </p:nvSpPr>
        <p:spPr>
          <a:xfrm>
            <a:off x="266783" y="8069065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FF8D6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Comprueba lo aprendido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9" name="Google Shape;549;p9"/>
          <p:cNvSpPr/>
          <p:nvPr/>
        </p:nvSpPr>
        <p:spPr>
          <a:xfrm>
            <a:off x="4591655" y="9872067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0" name="Google Shape;550;p9">
            <a:hlinkClick action="ppaction://hlinksldjump" r:id="rId13"/>
          </p:cNvPr>
          <p:cNvSpPr/>
          <p:nvPr/>
        </p:nvSpPr>
        <p:spPr>
          <a:xfrm>
            <a:off x="4591655" y="9812536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4275">
            <a:solidFill>
              <a:srgbClr val="66409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sng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Anterior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1" name="Google Shape;551;p9"/>
          <p:cNvSpPr/>
          <p:nvPr/>
        </p:nvSpPr>
        <p:spPr>
          <a:xfrm>
            <a:off x="6378374" y="9872067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C8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2" name="Google Shape;552;p9">
            <a:hlinkClick action="ppaction://hlinksldjump" r:id="rId14"/>
          </p:cNvPr>
          <p:cNvSpPr/>
          <p:nvPr/>
        </p:nvSpPr>
        <p:spPr>
          <a:xfrm>
            <a:off x="6378374" y="9812536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sng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Siguiente</a:t>
            </a:r>
            <a:endParaRPr b="1" i="0" sz="1578" u="sng" cap="none" strike="noStrike">
              <a:solidFill>
                <a:srgbClr val="663D8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3" name="Google Shape;553;p9">
            <a:hlinkClick action="ppaction://hlinksldjump" r:id="rId15"/>
          </p:cNvPr>
          <p:cNvSpPr/>
          <p:nvPr/>
        </p:nvSpPr>
        <p:spPr>
          <a:xfrm>
            <a:off x="191792" y="399700"/>
            <a:ext cx="75000" cy="984000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4" name="Google Shape;554;p9">
            <a:hlinkClick action="ppaction://hlinksldjump" r:id="rId16"/>
          </p:cNvPr>
          <p:cNvSpPr/>
          <p:nvPr/>
        </p:nvSpPr>
        <p:spPr>
          <a:xfrm>
            <a:off x="266825" y="399900"/>
            <a:ext cx="2709300" cy="984000"/>
          </a:xfrm>
          <a:prstGeom prst="roundRect">
            <a:avLst>
              <a:gd fmla="val 14000" name="adj"/>
            </a:avLst>
          </a:prstGeom>
          <a:solidFill>
            <a:srgbClr val="D1E0F2"/>
          </a:solidFill>
          <a:ln>
            <a:noFill/>
          </a:ln>
        </p:spPr>
        <p:txBody>
          <a:bodyPr anchorCtr="0" anchor="ctr" bIns="40000" lIns="160000" spcFirstLastPara="1" rIns="100000" wrap="square" tIns="4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1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55" name="Google Shape;555;p9" title="correcciones sapiencia.png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266783" y="600314"/>
            <a:ext cx="486192" cy="486192"/>
          </a:xfrm>
          <a:prstGeom prst="rect">
            <a:avLst/>
          </a:prstGeom>
          <a:noFill/>
          <a:ln>
            <a:noFill/>
          </a:ln>
        </p:spPr>
      </p:pic>
      <p:sp>
        <p:nvSpPr>
          <p:cNvPr id="556" name="Google Shape;556;p9">
            <a:hlinkClick action="ppaction://hlinksldjump" r:id="rId18"/>
          </p:cNvPr>
          <p:cNvSpPr txBox="1"/>
          <p:nvPr/>
        </p:nvSpPr>
        <p:spPr>
          <a:xfrm>
            <a:off x="939099" y="660838"/>
            <a:ext cx="1541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Scrum por dentro</a:t>
            </a:r>
            <a:endParaRPr b="1" i="0" sz="1200" u="none" cap="none" strike="noStrike">
              <a:solidFill>
                <a:srgbClr val="3D21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1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Inicio</a:t>
            </a:r>
            <a:endParaRPr b="1" i="0" sz="1200" u="none" cap="none" strike="noStrike">
              <a:solidFill>
                <a:srgbClr val="A719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7" name="Google Shape;557;p9"/>
          <p:cNvSpPr txBox="1"/>
          <p:nvPr/>
        </p:nvSpPr>
        <p:spPr>
          <a:xfrm>
            <a:off x="3886200" y="1481328"/>
            <a:ext cx="9144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s-CO" sz="15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Tema 2 · Estructura del sistema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8" name="Google Shape;558;p9"/>
          <p:cNvSpPr/>
          <p:nvPr/>
        </p:nvSpPr>
        <p:spPr>
          <a:xfrm>
            <a:off x="3886200" y="2834640"/>
            <a:ext cx="128016" cy="128016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9" name="Google Shape;559;p9"/>
          <p:cNvSpPr/>
          <p:nvPr/>
        </p:nvSpPr>
        <p:spPr>
          <a:xfrm>
            <a:off x="4114800" y="2852928"/>
            <a:ext cx="91440" cy="9144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0" name="Google Shape;560;p9"/>
          <p:cNvSpPr/>
          <p:nvPr/>
        </p:nvSpPr>
        <p:spPr>
          <a:xfrm>
            <a:off x="4334256" y="2852928"/>
            <a:ext cx="91440" cy="9144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1" name="Google Shape;561;p9"/>
          <p:cNvSpPr/>
          <p:nvPr/>
        </p:nvSpPr>
        <p:spPr>
          <a:xfrm>
            <a:off x="4553712" y="2852928"/>
            <a:ext cx="91440" cy="9144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2" name="Google Shape;562;p9"/>
          <p:cNvSpPr/>
          <p:nvPr/>
        </p:nvSpPr>
        <p:spPr>
          <a:xfrm>
            <a:off x="4782312" y="2852928"/>
            <a:ext cx="91440" cy="9144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3" name="Google Shape;563;p9"/>
          <p:cNvSpPr/>
          <p:nvPr/>
        </p:nvSpPr>
        <p:spPr>
          <a:xfrm>
            <a:off x="5001768" y="2834640"/>
            <a:ext cx="128016" cy="128016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4" name="Google Shape;564;p9"/>
          <p:cNvSpPr txBox="1"/>
          <p:nvPr/>
        </p:nvSpPr>
        <p:spPr>
          <a:xfrm>
            <a:off x="3886200" y="3200400"/>
            <a:ext cx="14264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s-CO" sz="190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Cuatro momentos sincronizados para observar el avance y adaptar las decisiones del equipo.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5" name="Google Shape;565;p9"/>
          <p:cNvSpPr/>
          <p:nvPr/>
        </p:nvSpPr>
        <p:spPr>
          <a:xfrm>
            <a:off x="3886200" y="3751850"/>
            <a:ext cx="3326130" cy="25146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5875">
            <a:solidFill>
              <a:srgbClr val="DDD6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6" name="Google Shape;566;p9"/>
          <p:cNvSpPr/>
          <p:nvPr/>
        </p:nvSpPr>
        <p:spPr>
          <a:xfrm>
            <a:off x="3886200" y="3751850"/>
            <a:ext cx="3326130" cy="91440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7" name="Google Shape;567;p9"/>
          <p:cNvSpPr/>
          <p:nvPr/>
        </p:nvSpPr>
        <p:spPr>
          <a:xfrm>
            <a:off x="4206240" y="4117611"/>
            <a:ext cx="731520" cy="731520"/>
          </a:xfrm>
          <a:prstGeom prst="ellipse">
            <a:avLst/>
          </a:prstGeom>
          <a:solidFill>
            <a:srgbClr val="F1EB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8" name="Google Shape;568;p9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4352544" y="4263915"/>
            <a:ext cx="438912" cy="438912"/>
          </a:xfrm>
          <a:prstGeom prst="rect">
            <a:avLst/>
          </a:prstGeom>
          <a:noFill/>
          <a:ln>
            <a:noFill/>
          </a:ln>
        </p:spPr>
      </p:pic>
      <p:sp>
        <p:nvSpPr>
          <p:cNvPr id="569" name="Google Shape;569;p9"/>
          <p:cNvSpPr txBox="1"/>
          <p:nvPr/>
        </p:nvSpPr>
        <p:spPr>
          <a:xfrm>
            <a:off x="4206240" y="5012961"/>
            <a:ext cx="26860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50"/>
              <a:buFont typeface="Arial"/>
              <a:buNone/>
            </a:pPr>
            <a:r>
              <a:rPr b="1" i="0" lang="es-CO" sz="175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Sprint Planning</a:t>
            </a:r>
            <a:endParaRPr b="0" i="0" sz="17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0" name="Google Shape;570;p9"/>
          <p:cNvSpPr txBox="1"/>
          <p:nvPr/>
        </p:nvSpPr>
        <p:spPr>
          <a:xfrm>
            <a:off x="4206240" y="5603511"/>
            <a:ext cx="268605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0" i="0" lang="es-CO" sz="165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¿Qué buscamos lograr?</a:t>
            </a:r>
            <a:endParaRPr b="0" i="0" sz="16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9"/>
          <p:cNvSpPr/>
          <p:nvPr/>
        </p:nvSpPr>
        <p:spPr>
          <a:xfrm>
            <a:off x="7532370" y="3751850"/>
            <a:ext cx="3326130" cy="25146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5875">
            <a:solidFill>
              <a:srgbClr val="DDD6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2" name="Google Shape;572;p9"/>
          <p:cNvSpPr/>
          <p:nvPr/>
        </p:nvSpPr>
        <p:spPr>
          <a:xfrm>
            <a:off x="7532370" y="3751850"/>
            <a:ext cx="3326130" cy="91440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3" name="Google Shape;573;p9"/>
          <p:cNvSpPr/>
          <p:nvPr/>
        </p:nvSpPr>
        <p:spPr>
          <a:xfrm>
            <a:off x="7852410" y="4117611"/>
            <a:ext cx="731520" cy="731520"/>
          </a:xfrm>
          <a:prstGeom prst="ellipse">
            <a:avLst/>
          </a:prstGeom>
          <a:solidFill>
            <a:srgbClr val="F6EB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4" name="Google Shape;574;p9"/>
          <p:cNvSpPr/>
          <p:nvPr/>
        </p:nvSpPr>
        <p:spPr>
          <a:xfrm>
            <a:off x="7998714" y="4263915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5" name="Google Shape;575;p9"/>
          <p:cNvSpPr txBox="1"/>
          <p:nvPr/>
        </p:nvSpPr>
        <p:spPr>
          <a:xfrm>
            <a:off x="7852410" y="5012961"/>
            <a:ext cx="26860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50"/>
              <a:buFont typeface="Arial"/>
              <a:buNone/>
            </a:pPr>
            <a:r>
              <a:rPr b="1" i="0" lang="es-CO" sz="175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Daily Scrum</a:t>
            </a:r>
            <a:endParaRPr b="0" i="0" sz="17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9"/>
          <p:cNvSpPr txBox="1"/>
          <p:nvPr/>
        </p:nvSpPr>
        <p:spPr>
          <a:xfrm>
            <a:off x="7852410" y="5603511"/>
            <a:ext cx="268605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0" i="0" lang="es-CO" sz="165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¿Cómo estamos avanzando?</a:t>
            </a:r>
            <a:endParaRPr b="0" i="0" sz="16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7" name="Google Shape;577;p9"/>
          <p:cNvSpPr/>
          <p:nvPr/>
        </p:nvSpPr>
        <p:spPr>
          <a:xfrm>
            <a:off x="11178540" y="3751850"/>
            <a:ext cx="3326130" cy="25146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5875">
            <a:solidFill>
              <a:srgbClr val="DDD6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8" name="Google Shape;578;p9"/>
          <p:cNvSpPr/>
          <p:nvPr/>
        </p:nvSpPr>
        <p:spPr>
          <a:xfrm>
            <a:off x="11178540" y="3751850"/>
            <a:ext cx="3326130" cy="91440"/>
          </a:xfrm>
          <a:prstGeom prst="rect">
            <a:avLst/>
          </a:prstGeom>
          <a:solidFill>
            <a:srgbClr val="2A56C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9"/>
          <p:cNvSpPr/>
          <p:nvPr/>
        </p:nvSpPr>
        <p:spPr>
          <a:xfrm>
            <a:off x="11498580" y="4117611"/>
            <a:ext cx="731520" cy="731520"/>
          </a:xfrm>
          <a:prstGeom prst="ellipse">
            <a:avLst/>
          </a:prstGeom>
          <a:solidFill>
            <a:srgbClr val="E8F1F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80" name="Google Shape;580;p9"/>
          <p:cNvPicPr preferRelativeResize="0"/>
          <p:nvPr/>
        </p:nvPicPr>
        <p:blipFill rotWithShape="1">
          <a:blip r:embed="rId20">
            <a:alphaModFix/>
          </a:blip>
          <a:srcRect b="0" l="0" r="0" t="0"/>
          <a:stretch/>
        </p:blipFill>
        <p:spPr>
          <a:xfrm>
            <a:off x="11644884" y="4263915"/>
            <a:ext cx="438912" cy="438912"/>
          </a:xfrm>
          <a:prstGeom prst="rect">
            <a:avLst/>
          </a:prstGeom>
          <a:noFill/>
          <a:ln>
            <a:noFill/>
          </a:ln>
        </p:spPr>
      </p:pic>
      <p:sp>
        <p:nvSpPr>
          <p:cNvPr id="581" name="Google Shape;581;p9"/>
          <p:cNvSpPr txBox="1"/>
          <p:nvPr/>
        </p:nvSpPr>
        <p:spPr>
          <a:xfrm>
            <a:off x="11498580" y="5012961"/>
            <a:ext cx="26860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50"/>
              <a:buFont typeface="Arial"/>
              <a:buNone/>
            </a:pPr>
            <a:r>
              <a:rPr b="1" i="0" lang="es-CO" sz="1750" u="none" cap="none" strike="noStrike">
                <a:solidFill>
                  <a:srgbClr val="2A56C6"/>
                </a:solidFill>
                <a:latin typeface="Arial"/>
                <a:ea typeface="Arial"/>
                <a:cs typeface="Arial"/>
                <a:sym typeface="Arial"/>
              </a:rPr>
              <a:t>Sprint Review</a:t>
            </a:r>
            <a:endParaRPr b="0" i="0" sz="17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2" name="Google Shape;582;p9"/>
          <p:cNvSpPr txBox="1"/>
          <p:nvPr/>
        </p:nvSpPr>
        <p:spPr>
          <a:xfrm>
            <a:off x="11498580" y="5603511"/>
            <a:ext cx="268605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0" i="0" lang="es-CO" sz="165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¿Qué resultado obtuvimos?</a:t>
            </a:r>
            <a:endParaRPr b="0" i="0" sz="16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3" name="Google Shape;583;p9"/>
          <p:cNvSpPr/>
          <p:nvPr/>
        </p:nvSpPr>
        <p:spPr>
          <a:xfrm>
            <a:off x="14824709" y="3751850"/>
            <a:ext cx="3326130" cy="25146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5875">
            <a:solidFill>
              <a:srgbClr val="DDD6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4" name="Google Shape;584;p9"/>
          <p:cNvSpPr/>
          <p:nvPr/>
        </p:nvSpPr>
        <p:spPr>
          <a:xfrm>
            <a:off x="14824709" y="3751850"/>
            <a:ext cx="3326130" cy="91440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5" name="Google Shape;585;p9"/>
          <p:cNvSpPr/>
          <p:nvPr/>
        </p:nvSpPr>
        <p:spPr>
          <a:xfrm>
            <a:off x="15144750" y="4117611"/>
            <a:ext cx="731520" cy="731520"/>
          </a:xfrm>
          <a:prstGeom prst="ellipse">
            <a:avLst/>
          </a:prstGeom>
          <a:solidFill>
            <a:srgbClr val="E6EE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6" name="Google Shape;586;p9"/>
          <p:cNvSpPr/>
          <p:nvPr/>
        </p:nvSpPr>
        <p:spPr>
          <a:xfrm>
            <a:off x="15291054" y="4263915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7" name="Google Shape;587;p9"/>
          <p:cNvSpPr txBox="1"/>
          <p:nvPr/>
        </p:nvSpPr>
        <p:spPr>
          <a:xfrm>
            <a:off x="15144750" y="5012961"/>
            <a:ext cx="26860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50"/>
              <a:buFont typeface="Arial"/>
              <a:buNone/>
            </a:pPr>
            <a:r>
              <a:rPr b="1" i="0" lang="es-CO" sz="1750" u="none" cap="none" strike="noStrike">
                <a:solidFill>
                  <a:srgbClr val="024791"/>
                </a:solidFill>
                <a:latin typeface="Arial"/>
                <a:ea typeface="Arial"/>
                <a:cs typeface="Arial"/>
                <a:sym typeface="Arial"/>
              </a:rPr>
              <a:t>Sprint Retrospective</a:t>
            </a:r>
            <a:endParaRPr b="0" i="0" sz="17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8" name="Google Shape;588;p9"/>
          <p:cNvSpPr txBox="1"/>
          <p:nvPr/>
        </p:nvSpPr>
        <p:spPr>
          <a:xfrm>
            <a:off x="15144750" y="5603511"/>
            <a:ext cx="268605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0" i="0" lang="es-CO" sz="165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¿Cómo podemos mejorar?</a:t>
            </a:r>
            <a:endParaRPr b="0" i="0" sz="16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9" name="Google Shape;589;p9"/>
          <p:cNvSpPr/>
          <p:nvPr/>
        </p:nvSpPr>
        <p:spPr>
          <a:xfrm>
            <a:off x="8641080" y="6534490"/>
            <a:ext cx="4754880" cy="420624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90" name="Google Shape;590;p9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8778240" y="6580210"/>
            <a:ext cx="329184" cy="329184"/>
          </a:xfrm>
          <a:prstGeom prst="rect">
            <a:avLst/>
          </a:prstGeom>
          <a:noFill/>
          <a:ln>
            <a:noFill/>
          </a:ln>
        </p:spPr>
      </p:pic>
      <p:sp>
        <p:nvSpPr>
          <p:cNvPr id="591" name="Google Shape;591;p9"/>
          <p:cNvSpPr txBox="1"/>
          <p:nvPr/>
        </p:nvSpPr>
        <p:spPr>
          <a:xfrm>
            <a:off x="9189720" y="6534490"/>
            <a:ext cx="402336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s-CO" sz="14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Bucle adaptativo · Siguiente Sprint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2" name="Google Shape;592;p9"/>
          <p:cNvSpPr/>
          <p:nvPr/>
        </p:nvSpPr>
        <p:spPr>
          <a:xfrm>
            <a:off x="3886200" y="7203711"/>
            <a:ext cx="14264640" cy="1170432"/>
          </a:xfrm>
          <a:prstGeom prst="roundRect">
            <a:avLst>
              <a:gd fmla="val 12000" name="adj"/>
            </a:avLst>
          </a:prstGeom>
          <a:solidFill>
            <a:srgbClr val="F1EB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3" name="Google Shape;593;p9"/>
          <p:cNvSpPr/>
          <p:nvPr/>
        </p:nvSpPr>
        <p:spPr>
          <a:xfrm>
            <a:off x="3886200" y="7203711"/>
            <a:ext cx="82296" cy="1170432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4" name="Google Shape;594;p9"/>
          <p:cNvSpPr/>
          <p:nvPr/>
        </p:nvSpPr>
        <p:spPr>
          <a:xfrm>
            <a:off x="4160520" y="7478031"/>
            <a:ext cx="603504" cy="603504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5" name="Google Shape;595;p9"/>
          <p:cNvSpPr/>
          <p:nvPr/>
        </p:nvSpPr>
        <p:spPr>
          <a:xfrm>
            <a:off x="4288536" y="7606047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6" name="Google Shape;596;p9"/>
          <p:cNvSpPr txBox="1"/>
          <p:nvPr/>
        </p:nvSpPr>
        <p:spPr>
          <a:xfrm>
            <a:off x="4983480" y="7331727"/>
            <a:ext cx="1298448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s-CO" sz="16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¿Qué nos plantea?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7" name="Google Shape;597;p9"/>
          <p:cNvSpPr txBox="1"/>
          <p:nvPr/>
        </p:nvSpPr>
        <p:spPr>
          <a:xfrm>
            <a:off x="4983480" y="7679199"/>
            <a:ext cx="12984480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s-CO" sz="150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Cada evento genera una oportunidad formal para observar, aprender y ajustar. El valor del marco no está en realizar reuniones por inercia, sino en la capacidad de utilizar la información obtenida para orientar las siguientes decisiones.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8" name="Google Shape;598;p9"/>
          <p:cNvSpPr/>
          <p:nvPr/>
        </p:nvSpPr>
        <p:spPr>
          <a:xfrm>
            <a:off x="3886200" y="8662179"/>
            <a:ext cx="3638550" cy="402336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C9B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9" name="Google Shape;599;p9"/>
          <p:cNvSpPr txBox="1"/>
          <p:nvPr/>
        </p:nvSpPr>
        <p:spPr>
          <a:xfrm>
            <a:off x="3886200" y="8662179"/>
            <a:ext cx="363855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s-CO" sz="1350" u="none" cap="none" strike="noStrike">
                <a:solidFill>
                  <a:srgbClr val="6B6570"/>
                </a:solidFill>
                <a:latin typeface="Arial"/>
                <a:ea typeface="Arial"/>
                <a:cs typeface="Arial"/>
                <a:sym typeface="Arial"/>
              </a:rPr>
              <a:t>Repetición mecánica</a:t>
            </a:r>
            <a:endParaRPr b="0" i="0" sz="13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0" name="Google Shape;600;p9"/>
          <p:cNvSpPr txBox="1"/>
          <p:nvPr/>
        </p:nvSpPr>
        <p:spPr>
          <a:xfrm>
            <a:off x="7600950" y="8662179"/>
            <a:ext cx="51435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s-CO" sz="22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≠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1" name="Google Shape;601;p9"/>
          <p:cNvSpPr/>
          <p:nvPr/>
        </p:nvSpPr>
        <p:spPr>
          <a:xfrm>
            <a:off x="8210550" y="8662179"/>
            <a:ext cx="3857625" cy="402336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2" name="Google Shape;602;p9"/>
          <p:cNvSpPr txBox="1"/>
          <p:nvPr/>
        </p:nvSpPr>
        <p:spPr>
          <a:xfrm>
            <a:off x="8210550" y="8662179"/>
            <a:ext cx="3857625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s-CO" sz="135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Aprendizaje continuo del equipo</a:t>
            </a:r>
            <a:endParaRPr b="0" i="0" sz="13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hosphor chats-circle, regular, #ddd5e7. https://phosphoricons.com/" id="603" name="Google Shape;603;p9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998714" y="4263915"/>
            <a:ext cx="438912" cy="43891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hosphor arrows-clockwise, regular, #ddd5e7. https://phosphoricons.com/" id="604" name="Google Shape;604;p9"/>
          <p:cNvPicPr preferRelativeResize="0"/>
          <p:nvPr/>
        </p:nvPicPr>
        <p:blipFill rotWithShape="1">
          <a:blip r:embed="rId23">
            <a:alphaModFix/>
          </a:blip>
          <a:srcRect b="0" l="0" r="0" t="0"/>
          <a:stretch/>
        </p:blipFill>
        <p:spPr>
          <a:xfrm>
            <a:off x="15291054" y="4263915"/>
            <a:ext cx="438912" cy="43891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hosphor lightbulb, regular, #ddd5e7. https://phosphoricons.com/" id="605" name="Google Shape;605;p9"/>
          <p:cNvPicPr preferRelativeResize="0"/>
          <p:nvPr/>
        </p:nvPicPr>
        <p:blipFill rotWithShape="1">
          <a:blip r:embed="rId24">
            <a:alphaModFix/>
          </a:blip>
          <a:srcRect b="0" l="0" r="0" t="0"/>
          <a:stretch/>
        </p:blipFill>
        <p:spPr>
          <a:xfrm>
            <a:off x="4288536" y="7606047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2">
            <a:hlinkClick action="ppaction://hlinksldjump" r:id="rId25"/>
          </p:cNvPr>
          <p:cNvSpPr/>
          <p:nvPr/>
        </p:nvSpPr>
        <p:spPr>
          <a:xfrm>
            <a:off x="191751" y="9336878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2">
            <a:hlinkClick action="ppaction://hlinksldjump" r:id="rId25"/>
          </p:cNvPr>
          <p:cNvSpPr/>
          <p:nvPr/>
        </p:nvSpPr>
        <p:spPr>
          <a:xfrm>
            <a:off x="266783" y="9336878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Créditos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Equipo de producción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9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p10"/>
          <p:cNvSpPr/>
          <p:nvPr/>
        </p:nvSpPr>
        <p:spPr>
          <a:xfrm>
            <a:off x="3887703" y="1984772"/>
            <a:ext cx="1426464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s-CO" sz="3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8. El trabajo se hace visible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1" name="Google Shape;611;p10"/>
          <p:cNvSpPr/>
          <p:nvPr/>
        </p:nvSpPr>
        <p:spPr>
          <a:xfrm>
            <a:off x="0" y="0"/>
            <a:ext cx="3168000" cy="10934700"/>
          </a:xfrm>
          <a:prstGeom prst="rect">
            <a:avLst/>
          </a:prstGeom>
          <a:solidFill>
            <a:srgbClr val="F5F3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2" name="Google Shape;612;p10"/>
          <p:cNvSpPr/>
          <p:nvPr/>
        </p:nvSpPr>
        <p:spPr>
          <a:xfrm>
            <a:off x="3153046" y="0"/>
            <a:ext cx="15000" cy="10934700"/>
          </a:xfrm>
          <a:prstGeom prst="rect">
            <a:avLst/>
          </a:prstGeom>
          <a:solidFill>
            <a:srgbClr val="E0DA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3" name="Google Shape;613;p10"/>
          <p:cNvSpPr/>
          <p:nvPr/>
        </p:nvSpPr>
        <p:spPr>
          <a:xfrm>
            <a:off x="191751" y="1550000"/>
            <a:ext cx="2784600" cy="14100"/>
          </a:xfrm>
          <a:prstGeom prst="rect">
            <a:avLst/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4" name="Google Shape;614;p10"/>
          <p:cNvSpPr/>
          <p:nvPr/>
        </p:nvSpPr>
        <p:spPr>
          <a:xfrm>
            <a:off x="191751" y="1730000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5" name="Google Shape;615;p10">
            <a:hlinkClick action="ppaction://hlinksldjump" r:id="rId3"/>
          </p:cNvPr>
          <p:cNvSpPr/>
          <p:nvPr/>
        </p:nvSpPr>
        <p:spPr>
          <a:xfrm>
            <a:off x="266783" y="1730000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Estructura Scrum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6" name="Google Shape;616;p10">
            <a:hlinkClick action="ppaction://hlinksldjump" r:id="rId4"/>
          </p:cNvPr>
          <p:cNvSpPr/>
          <p:nvPr/>
        </p:nvSpPr>
        <p:spPr>
          <a:xfrm>
            <a:off x="191751" y="2997813"/>
            <a:ext cx="75000" cy="1117697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7" name="Google Shape;617;p10">
            <a:hlinkClick action="ppaction://hlinksldjump" r:id="rId5"/>
          </p:cNvPr>
          <p:cNvSpPr/>
          <p:nvPr/>
        </p:nvSpPr>
        <p:spPr>
          <a:xfrm>
            <a:off x="266783" y="2997813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0DAEC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Responsabilidades del Scrum Team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8" name="Google Shape;618;p10">
            <a:hlinkClick r:id="rId6"/>
          </p:cNvPr>
          <p:cNvSpPr/>
          <p:nvPr/>
        </p:nvSpPr>
        <p:spPr>
          <a:xfrm>
            <a:off x="191751" y="4265626"/>
            <a:ext cx="75000" cy="1117697"/>
          </a:xfrm>
          <a:prstGeom prst="rect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9" name="Google Shape;619;p10">
            <a:hlinkClick action="ppaction://hlinksldjump" r:id="rId7"/>
          </p:cNvPr>
          <p:cNvSpPr/>
          <p:nvPr/>
        </p:nvSpPr>
        <p:spPr>
          <a:xfrm>
            <a:off x="266783" y="4265626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1EAF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Eventos del Scrum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0" name="Google Shape;620;p10"/>
          <p:cNvSpPr/>
          <p:nvPr/>
        </p:nvSpPr>
        <p:spPr>
          <a:xfrm>
            <a:off x="191751" y="5533439"/>
            <a:ext cx="75000" cy="1117697"/>
          </a:xfrm>
          <a:prstGeom prst="rect">
            <a:avLst/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1" name="Google Shape;621;p10">
            <a:hlinkClick action="ppaction://hlinksldjump" r:id="rId8"/>
          </p:cNvPr>
          <p:cNvSpPr/>
          <p:nvPr/>
        </p:nvSpPr>
        <p:spPr>
          <a:xfrm>
            <a:off x="266783" y="5533439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3D2159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Artefactos y compromisos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2" name="Google Shape;622;p10"/>
          <p:cNvSpPr/>
          <p:nvPr/>
        </p:nvSpPr>
        <p:spPr>
          <a:xfrm>
            <a:off x="191751" y="6801252"/>
            <a:ext cx="75000" cy="1117697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3" name="Google Shape;623;p10">
            <a:hlinkClick action="ppaction://hlinksldjump" r:id="rId9"/>
          </p:cNvPr>
          <p:cNvSpPr/>
          <p:nvPr/>
        </p:nvSpPr>
        <p:spPr>
          <a:xfrm>
            <a:off x="266783" y="6801252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6E1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Integración y aprendizaje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4" name="Google Shape;624;p10"/>
          <p:cNvSpPr/>
          <p:nvPr/>
        </p:nvSpPr>
        <p:spPr>
          <a:xfrm>
            <a:off x="191751" y="8069065"/>
            <a:ext cx="75000" cy="1117697"/>
          </a:xfrm>
          <a:prstGeom prst="rect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5" name="Google Shape;625;p10">
            <a:hlinkClick action="ppaction://hlinksldjump" r:id="rId10"/>
          </p:cNvPr>
          <p:cNvSpPr/>
          <p:nvPr/>
        </p:nvSpPr>
        <p:spPr>
          <a:xfrm>
            <a:off x="266783" y="8069065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FF8D6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Comprueba lo aprendido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6" name="Google Shape;626;p10"/>
          <p:cNvSpPr/>
          <p:nvPr/>
        </p:nvSpPr>
        <p:spPr>
          <a:xfrm>
            <a:off x="4591655" y="9872067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7" name="Google Shape;627;p10">
            <a:hlinkClick action="ppaction://hlinksldjump" r:id="rId11"/>
          </p:cNvPr>
          <p:cNvSpPr/>
          <p:nvPr/>
        </p:nvSpPr>
        <p:spPr>
          <a:xfrm>
            <a:off x="4591655" y="9812536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4275">
            <a:solidFill>
              <a:srgbClr val="66409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sng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Anterior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8" name="Google Shape;628;p10"/>
          <p:cNvSpPr/>
          <p:nvPr/>
        </p:nvSpPr>
        <p:spPr>
          <a:xfrm>
            <a:off x="6378374" y="9872067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C8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9" name="Google Shape;629;p10">
            <a:hlinkClick action="ppaction://hlinksldjump" r:id="rId12"/>
          </p:cNvPr>
          <p:cNvSpPr/>
          <p:nvPr/>
        </p:nvSpPr>
        <p:spPr>
          <a:xfrm>
            <a:off x="6378374" y="9812536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sng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Siguiente</a:t>
            </a:r>
            <a:endParaRPr b="1" i="0" sz="1578" u="sng" cap="none" strike="noStrike">
              <a:solidFill>
                <a:srgbClr val="663D8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0" name="Google Shape;630;p10">
            <a:hlinkClick action="ppaction://hlinksldjump" r:id="rId13"/>
          </p:cNvPr>
          <p:cNvSpPr/>
          <p:nvPr/>
        </p:nvSpPr>
        <p:spPr>
          <a:xfrm>
            <a:off x="191792" y="399700"/>
            <a:ext cx="75000" cy="984000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1" name="Google Shape;631;p10">
            <a:hlinkClick action="ppaction://hlinksldjump" r:id="rId14"/>
          </p:cNvPr>
          <p:cNvSpPr/>
          <p:nvPr/>
        </p:nvSpPr>
        <p:spPr>
          <a:xfrm>
            <a:off x="266825" y="399900"/>
            <a:ext cx="2709300" cy="984000"/>
          </a:xfrm>
          <a:prstGeom prst="roundRect">
            <a:avLst>
              <a:gd fmla="val 14000" name="adj"/>
            </a:avLst>
          </a:prstGeom>
          <a:solidFill>
            <a:srgbClr val="D1E0F2"/>
          </a:solidFill>
          <a:ln>
            <a:noFill/>
          </a:ln>
        </p:spPr>
        <p:txBody>
          <a:bodyPr anchorCtr="0" anchor="ctr" bIns="40000" lIns="160000" spcFirstLastPara="1" rIns="100000" wrap="square" tIns="4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1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32" name="Google Shape;632;p10" title="correcciones sapiencia.png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266783" y="600314"/>
            <a:ext cx="486192" cy="486192"/>
          </a:xfrm>
          <a:prstGeom prst="rect">
            <a:avLst/>
          </a:prstGeom>
          <a:noFill/>
          <a:ln>
            <a:noFill/>
          </a:ln>
        </p:spPr>
      </p:pic>
      <p:sp>
        <p:nvSpPr>
          <p:cNvPr id="633" name="Google Shape;633;p10">
            <a:hlinkClick action="ppaction://hlinksldjump" r:id="rId16"/>
          </p:cNvPr>
          <p:cNvSpPr txBox="1"/>
          <p:nvPr/>
        </p:nvSpPr>
        <p:spPr>
          <a:xfrm>
            <a:off x="939099" y="660838"/>
            <a:ext cx="1541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Scrum por dentro</a:t>
            </a:r>
            <a:endParaRPr b="1" i="0" sz="1200" u="none" cap="none" strike="noStrike">
              <a:solidFill>
                <a:srgbClr val="3D21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1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Inicio</a:t>
            </a:r>
            <a:endParaRPr b="1" i="0" sz="1200" u="none" cap="none" strike="noStrike">
              <a:solidFill>
                <a:srgbClr val="A719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4" name="Google Shape;634;p10"/>
          <p:cNvSpPr txBox="1"/>
          <p:nvPr/>
        </p:nvSpPr>
        <p:spPr>
          <a:xfrm>
            <a:off x="3886200" y="1481328"/>
            <a:ext cx="9144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s-CO" sz="15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Tema 2 · Estructura del sistema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5" name="Google Shape;635;p10"/>
          <p:cNvSpPr/>
          <p:nvPr/>
        </p:nvSpPr>
        <p:spPr>
          <a:xfrm>
            <a:off x="3886200" y="2834640"/>
            <a:ext cx="128016" cy="128016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6" name="Google Shape;636;p10"/>
          <p:cNvSpPr/>
          <p:nvPr/>
        </p:nvSpPr>
        <p:spPr>
          <a:xfrm>
            <a:off x="4114800" y="2852928"/>
            <a:ext cx="91440" cy="9144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7" name="Google Shape;637;p10"/>
          <p:cNvSpPr/>
          <p:nvPr/>
        </p:nvSpPr>
        <p:spPr>
          <a:xfrm>
            <a:off x="4334256" y="2852928"/>
            <a:ext cx="91440" cy="9144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8" name="Google Shape;638;p10"/>
          <p:cNvSpPr/>
          <p:nvPr/>
        </p:nvSpPr>
        <p:spPr>
          <a:xfrm>
            <a:off x="4553712" y="2852928"/>
            <a:ext cx="91440" cy="9144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9" name="Google Shape;639;p10"/>
          <p:cNvSpPr/>
          <p:nvPr/>
        </p:nvSpPr>
        <p:spPr>
          <a:xfrm>
            <a:off x="4782312" y="2852928"/>
            <a:ext cx="91440" cy="9144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0" name="Google Shape;640;p10"/>
          <p:cNvSpPr/>
          <p:nvPr/>
        </p:nvSpPr>
        <p:spPr>
          <a:xfrm>
            <a:off x="5001768" y="2834640"/>
            <a:ext cx="128016" cy="128016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1" name="Google Shape;641;p10"/>
          <p:cNvSpPr txBox="1"/>
          <p:nvPr/>
        </p:nvSpPr>
        <p:spPr>
          <a:xfrm>
            <a:off x="3886200" y="3200400"/>
            <a:ext cx="14264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s-CO" sz="190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Scrum utiliza tres artefactos para representar trabajo o valor. Exploremos qué hace visible cada uno y a qué compromiso responde.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2" name="Google Shape;642;p10"/>
          <p:cNvSpPr/>
          <p:nvPr/>
        </p:nvSpPr>
        <p:spPr>
          <a:xfrm>
            <a:off x="3886200" y="3754239"/>
            <a:ext cx="4541520" cy="301752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5875">
            <a:solidFill>
              <a:srgbClr val="DDD6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3" name="Google Shape;643;p10"/>
          <p:cNvSpPr/>
          <p:nvPr/>
        </p:nvSpPr>
        <p:spPr>
          <a:xfrm>
            <a:off x="3886200" y="3754239"/>
            <a:ext cx="4541520" cy="91440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4" name="Google Shape;644;p10"/>
          <p:cNvSpPr txBox="1"/>
          <p:nvPr/>
        </p:nvSpPr>
        <p:spPr>
          <a:xfrm>
            <a:off x="4206240" y="4074279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s-CO" sz="20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Product Backlog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5" name="Google Shape;645;p10"/>
          <p:cNvSpPr txBox="1"/>
          <p:nvPr/>
        </p:nvSpPr>
        <p:spPr>
          <a:xfrm>
            <a:off x="4206240" y="4619110"/>
            <a:ext cx="390144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s-CO" sz="150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Lista ordenada y emergente de lo que se necesita para el producto.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6" name="Google Shape;646;p10"/>
          <p:cNvSpPr/>
          <p:nvPr/>
        </p:nvSpPr>
        <p:spPr>
          <a:xfrm>
            <a:off x="4114800" y="5537319"/>
            <a:ext cx="4084320" cy="1005840"/>
          </a:xfrm>
          <a:prstGeom prst="roundRect">
            <a:avLst>
              <a:gd fmla="val 12000" name="adj"/>
            </a:avLst>
          </a:prstGeom>
          <a:solidFill>
            <a:srgbClr val="F1EB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7" name="Google Shape;647;p10"/>
          <p:cNvSpPr txBox="1"/>
          <p:nvPr/>
        </p:nvSpPr>
        <p:spPr>
          <a:xfrm>
            <a:off x="4297680" y="5628760"/>
            <a:ext cx="371856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s-CO" sz="12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Compromiso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8" name="Google Shape;648;p10"/>
          <p:cNvSpPr txBox="1"/>
          <p:nvPr/>
        </p:nvSpPr>
        <p:spPr>
          <a:xfrm>
            <a:off x="4297680" y="5952610"/>
            <a:ext cx="3718560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b="1" i="0" lang="es-CO" sz="145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Product Goal: </a:t>
            </a:r>
            <a:r>
              <a:rPr b="0" i="0" lang="es-CO" sz="145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Hacia qué objetivo avanzamos.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9" name="Google Shape;649;p10"/>
          <p:cNvSpPr/>
          <p:nvPr/>
        </p:nvSpPr>
        <p:spPr>
          <a:xfrm>
            <a:off x="8747760" y="3754239"/>
            <a:ext cx="4541520" cy="301752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5875">
            <a:solidFill>
              <a:srgbClr val="DDD6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0" name="Google Shape;650;p10"/>
          <p:cNvSpPr/>
          <p:nvPr/>
        </p:nvSpPr>
        <p:spPr>
          <a:xfrm>
            <a:off x="8747760" y="3754239"/>
            <a:ext cx="4541520" cy="91440"/>
          </a:xfrm>
          <a:prstGeom prst="rect">
            <a:avLst/>
          </a:prstGeom>
          <a:solidFill>
            <a:srgbClr val="2A56C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1" name="Google Shape;651;p10"/>
          <p:cNvSpPr txBox="1"/>
          <p:nvPr/>
        </p:nvSpPr>
        <p:spPr>
          <a:xfrm>
            <a:off x="9067800" y="4074279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s-CO" sz="2000" u="none" cap="none" strike="noStrike">
                <a:solidFill>
                  <a:srgbClr val="2A56C6"/>
                </a:solidFill>
                <a:latin typeface="Arial"/>
                <a:ea typeface="Arial"/>
                <a:cs typeface="Arial"/>
                <a:sym typeface="Arial"/>
              </a:rPr>
              <a:t>Sprint Backlog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2" name="Google Shape;652;p10"/>
          <p:cNvSpPr txBox="1"/>
          <p:nvPr/>
        </p:nvSpPr>
        <p:spPr>
          <a:xfrm>
            <a:off x="9067800" y="4619110"/>
            <a:ext cx="390144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s-CO" sz="150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Integra el objetivo, elementos elegidos y el plan de trabajo.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3" name="Google Shape;653;p10"/>
          <p:cNvSpPr/>
          <p:nvPr/>
        </p:nvSpPr>
        <p:spPr>
          <a:xfrm>
            <a:off x="8976360" y="5537319"/>
            <a:ext cx="4084320" cy="1005840"/>
          </a:xfrm>
          <a:prstGeom prst="roundRect">
            <a:avLst>
              <a:gd fmla="val 12000" name="adj"/>
            </a:avLst>
          </a:prstGeom>
          <a:solidFill>
            <a:srgbClr val="E8F1F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4" name="Google Shape;654;p10"/>
          <p:cNvSpPr txBox="1"/>
          <p:nvPr/>
        </p:nvSpPr>
        <p:spPr>
          <a:xfrm>
            <a:off x="9159240" y="5628760"/>
            <a:ext cx="371856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s-CO" sz="12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Compromiso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5" name="Google Shape;655;p10"/>
          <p:cNvSpPr txBox="1"/>
          <p:nvPr/>
        </p:nvSpPr>
        <p:spPr>
          <a:xfrm>
            <a:off x="9159240" y="5952610"/>
            <a:ext cx="3718560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b="1" i="0" lang="es-CO" sz="1450" u="none" cap="none" strike="noStrike">
                <a:solidFill>
                  <a:srgbClr val="2A56C6"/>
                </a:solidFill>
                <a:latin typeface="Arial"/>
                <a:ea typeface="Arial"/>
                <a:cs typeface="Arial"/>
                <a:sym typeface="Arial"/>
              </a:rPr>
              <a:t>Sprint Goal: </a:t>
            </a:r>
            <a:r>
              <a:rPr b="0" i="0" lang="es-CO" sz="145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Propósito que orienta el Sprint.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6" name="Google Shape;656;p10"/>
          <p:cNvSpPr/>
          <p:nvPr/>
        </p:nvSpPr>
        <p:spPr>
          <a:xfrm>
            <a:off x="13609320" y="3754239"/>
            <a:ext cx="4541520" cy="301752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5875">
            <a:solidFill>
              <a:srgbClr val="DDD6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7" name="Google Shape;657;p10"/>
          <p:cNvSpPr/>
          <p:nvPr/>
        </p:nvSpPr>
        <p:spPr>
          <a:xfrm>
            <a:off x="13609320" y="3754239"/>
            <a:ext cx="4541520" cy="91440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8" name="Google Shape;658;p10"/>
          <p:cNvSpPr txBox="1"/>
          <p:nvPr/>
        </p:nvSpPr>
        <p:spPr>
          <a:xfrm>
            <a:off x="13929360" y="4074279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s-CO" sz="2000" u="none" cap="none" strike="noStrike">
                <a:solidFill>
                  <a:srgbClr val="024791"/>
                </a:solidFill>
                <a:latin typeface="Arial"/>
                <a:ea typeface="Arial"/>
                <a:cs typeface="Arial"/>
                <a:sym typeface="Arial"/>
              </a:rPr>
              <a:t>Incremento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9" name="Google Shape;659;p10"/>
          <p:cNvSpPr txBox="1"/>
          <p:nvPr/>
        </p:nvSpPr>
        <p:spPr>
          <a:xfrm>
            <a:off x="13929360" y="4619110"/>
            <a:ext cx="390144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s-CO" sz="150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Resultado concreto que se integra con los anteriores.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0" name="Google Shape;660;p10"/>
          <p:cNvSpPr/>
          <p:nvPr/>
        </p:nvSpPr>
        <p:spPr>
          <a:xfrm>
            <a:off x="13837920" y="5537319"/>
            <a:ext cx="4084320" cy="1005840"/>
          </a:xfrm>
          <a:prstGeom prst="roundRect">
            <a:avLst>
              <a:gd fmla="val 12000" name="adj"/>
            </a:avLst>
          </a:prstGeom>
          <a:solidFill>
            <a:srgbClr val="E6EE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1" name="Google Shape;661;p10"/>
          <p:cNvSpPr txBox="1"/>
          <p:nvPr/>
        </p:nvSpPr>
        <p:spPr>
          <a:xfrm>
            <a:off x="14020799" y="5628760"/>
            <a:ext cx="3718560" cy="209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s-CO" sz="12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Compromiso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2" name="Google Shape;662;p10"/>
          <p:cNvSpPr txBox="1"/>
          <p:nvPr/>
        </p:nvSpPr>
        <p:spPr>
          <a:xfrm>
            <a:off x="14020799" y="5952610"/>
            <a:ext cx="3718560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b="1" i="0" lang="es-CO" sz="1450" u="none" cap="none" strike="noStrike">
                <a:solidFill>
                  <a:srgbClr val="024791"/>
                </a:solidFill>
                <a:latin typeface="Arial"/>
                <a:ea typeface="Arial"/>
                <a:cs typeface="Arial"/>
                <a:sym typeface="Arial"/>
              </a:rPr>
              <a:t>Definition of Done: </a:t>
            </a:r>
            <a:r>
              <a:rPr b="0" i="0" lang="es-CO" sz="145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Criterios de calidad del incremento.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3" name="Google Shape;663;p10"/>
          <p:cNvSpPr/>
          <p:nvPr/>
        </p:nvSpPr>
        <p:spPr>
          <a:xfrm>
            <a:off x="3886200" y="7114660"/>
            <a:ext cx="14264640" cy="1170432"/>
          </a:xfrm>
          <a:prstGeom prst="roundRect">
            <a:avLst>
              <a:gd fmla="val 12000" name="adj"/>
            </a:avLst>
          </a:prstGeom>
          <a:solidFill>
            <a:srgbClr val="F1EB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"/>
          <p:cNvSpPr/>
          <p:nvPr/>
        </p:nvSpPr>
        <p:spPr>
          <a:xfrm>
            <a:off x="3886200" y="7114660"/>
            <a:ext cx="82296" cy="1170432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5" name="Google Shape;665;p10"/>
          <p:cNvSpPr/>
          <p:nvPr/>
        </p:nvSpPr>
        <p:spPr>
          <a:xfrm>
            <a:off x="4160520" y="7388980"/>
            <a:ext cx="603504" cy="603504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6" name="Google Shape;666;p10"/>
          <p:cNvSpPr txBox="1"/>
          <p:nvPr/>
        </p:nvSpPr>
        <p:spPr>
          <a:xfrm>
            <a:off x="4983480" y="7242676"/>
            <a:ext cx="1298448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s-CO" sz="16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¿Qué nos plantea?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7" name="Google Shape;667;p10"/>
          <p:cNvSpPr txBox="1"/>
          <p:nvPr/>
        </p:nvSpPr>
        <p:spPr>
          <a:xfrm>
            <a:off x="4983480" y="7590148"/>
            <a:ext cx="12984480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s-CO" sz="150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Cada artefacto contiene un compromiso asociado que refuerza la transparencia y el foco: sin una meta clara o un estándar de calidad, el trabajo pierde rumbo y valor.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8" name="Google Shape;668;p10"/>
          <p:cNvSpPr/>
          <p:nvPr/>
        </p:nvSpPr>
        <p:spPr>
          <a:xfrm>
            <a:off x="3886200" y="8573128"/>
            <a:ext cx="3638550" cy="402336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C9B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9" name="Google Shape;669;p10"/>
          <p:cNvSpPr txBox="1"/>
          <p:nvPr/>
        </p:nvSpPr>
        <p:spPr>
          <a:xfrm>
            <a:off x="3886200" y="8573128"/>
            <a:ext cx="363855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s-CO" sz="1350" u="none" cap="none" strike="noStrike">
                <a:solidFill>
                  <a:srgbClr val="6B6570"/>
                </a:solidFill>
                <a:latin typeface="Arial"/>
                <a:ea typeface="Arial"/>
                <a:cs typeface="Arial"/>
                <a:sym typeface="Arial"/>
              </a:rPr>
              <a:t>Documentación estática</a:t>
            </a:r>
            <a:endParaRPr b="0" i="0" sz="13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0" name="Google Shape;670;p10"/>
          <p:cNvSpPr txBox="1"/>
          <p:nvPr/>
        </p:nvSpPr>
        <p:spPr>
          <a:xfrm>
            <a:off x="7600950" y="8573128"/>
            <a:ext cx="51435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s-CO" sz="22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≠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1" name="Google Shape;671;p10"/>
          <p:cNvSpPr/>
          <p:nvPr/>
        </p:nvSpPr>
        <p:spPr>
          <a:xfrm>
            <a:off x="8210550" y="8573128"/>
            <a:ext cx="3857625" cy="402336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2" name="Google Shape;672;p10"/>
          <p:cNvSpPr txBox="1"/>
          <p:nvPr/>
        </p:nvSpPr>
        <p:spPr>
          <a:xfrm>
            <a:off x="8210550" y="8573128"/>
            <a:ext cx="3857625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s-CO" sz="135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Artefactos vivos con compromiso</a:t>
            </a:r>
            <a:endParaRPr b="0" i="0" sz="13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hosphor lightbulb, regular, #ddd5e7. https://phosphoricons.com/" id="673" name="Google Shape;673;p10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4288536" y="7528426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2">
            <a:hlinkClick action="ppaction://hlinksldjump" r:id="rId18"/>
          </p:cNvPr>
          <p:cNvSpPr/>
          <p:nvPr/>
        </p:nvSpPr>
        <p:spPr>
          <a:xfrm>
            <a:off x="191751" y="9336878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2">
            <a:hlinkClick action="ppaction://hlinksldjump" r:id="rId18"/>
          </p:cNvPr>
          <p:cNvSpPr/>
          <p:nvPr/>
        </p:nvSpPr>
        <p:spPr>
          <a:xfrm>
            <a:off x="266783" y="9336878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Créditos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Equipo de producción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7" name="Shape 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Google Shape;678;p11"/>
          <p:cNvSpPr/>
          <p:nvPr/>
        </p:nvSpPr>
        <p:spPr>
          <a:xfrm>
            <a:off x="3887703" y="1984772"/>
            <a:ext cx="1426464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s-CO" sz="3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9. Las piezas se conectan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9" name="Google Shape;679;p11"/>
          <p:cNvSpPr/>
          <p:nvPr/>
        </p:nvSpPr>
        <p:spPr>
          <a:xfrm>
            <a:off x="0" y="0"/>
            <a:ext cx="3168000" cy="10934700"/>
          </a:xfrm>
          <a:prstGeom prst="rect">
            <a:avLst/>
          </a:prstGeom>
          <a:solidFill>
            <a:srgbClr val="F5F3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0" name="Google Shape;680;p11"/>
          <p:cNvSpPr/>
          <p:nvPr/>
        </p:nvSpPr>
        <p:spPr>
          <a:xfrm>
            <a:off x="3153046" y="0"/>
            <a:ext cx="15000" cy="10934700"/>
          </a:xfrm>
          <a:prstGeom prst="rect">
            <a:avLst/>
          </a:prstGeom>
          <a:solidFill>
            <a:srgbClr val="E0DA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1" name="Google Shape;681;p11"/>
          <p:cNvSpPr/>
          <p:nvPr/>
        </p:nvSpPr>
        <p:spPr>
          <a:xfrm>
            <a:off x="191751" y="1550000"/>
            <a:ext cx="2784600" cy="14100"/>
          </a:xfrm>
          <a:prstGeom prst="rect">
            <a:avLst/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11"/>
          <p:cNvSpPr/>
          <p:nvPr/>
        </p:nvSpPr>
        <p:spPr>
          <a:xfrm>
            <a:off x="191751" y="1730000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3" name="Google Shape;683;p11">
            <a:hlinkClick action="ppaction://hlinksldjump" r:id="rId3"/>
          </p:cNvPr>
          <p:cNvSpPr/>
          <p:nvPr/>
        </p:nvSpPr>
        <p:spPr>
          <a:xfrm>
            <a:off x="266783" y="1730000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Estructura Scrum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4" name="Google Shape;684;p11">
            <a:hlinkClick action="ppaction://hlinksldjump" r:id="rId4"/>
          </p:cNvPr>
          <p:cNvSpPr/>
          <p:nvPr/>
        </p:nvSpPr>
        <p:spPr>
          <a:xfrm>
            <a:off x="191751" y="2997813"/>
            <a:ext cx="75000" cy="1117697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5" name="Google Shape;685;p11">
            <a:hlinkClick action="ppaction://hlinksldjump" r:id="rId5"/>
          </p:cNvPr>
          <p:cNvSpPr/>
          <p:nvPr/>
        </p:nvSpPr>
        <p:spPr>
          <a:xfrm>
            <a:off x="266783" y="2997813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0DAEC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Responsabilidades del Scrum Team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6" name="Google Shape;686;p11">
            <a:hlinkClick r:id="rId6"/>
          </p:cNvPr>
          <p:cNvSpPr/>
          <p:nvPr/>
        </p:nvSpPr>
        <p:spPr>
          <a:xfrm>
            <a:off x="191751" y="4265626"/>
            <a:ext cx="75000" cy="1117697"/>
          </a:xfrm>
          <a:prstGeom prst="rect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7" name="Google Shape;687;p11">
            <a:hlinkClick action="ppaction://hlinksldjump" r:id="rId7"/>
          </p:cNvPr>
          <p:cNvSpPr/>
          <p:nvPr/>
        </p:nvSpPr>
        <p:spPr>
          <a:xfrm>
            <a:off x="266783" y="4265626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1EAF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Eventos del Scrum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8" name="Google Shape;688;p11"/>
          <p:cNvSpPr/>
          <p:nvPr/>
        </p:nvSpPr>
        <p:spPr>
          <a:xfrm>
            <a:off x="191751" y="5533439"/>
            <a:ext cx="75000" cy="1117697"/>
          </a:xfrm>
          <a:prstGeom prst="rect">
            <a:avLst/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9" name="Google Shape;689;p11">
            <a:hlinkClick action="ppaction://hlinksldjump" r:id="rId8"/>
          </p:cNvPr>
          <p:cNvSpPr/>
          <p:nvPr/>
        </p:nvSpPr>
        <p:spPr>
          <a:xfrm>
            <a:off x="266783" y="5533439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FDBE4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Artefactos y compromisos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0" name="Google Shape;690;p11"/>
          <p:cNvSpPr/>
          <p:nvPr/>
        </p:nvSpPr>
        <p:spPr>
          <a:xfrm>
            <a:off x="191751" y="6801252"/>
            <a:ext cx="75000" cy="1117697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1" name="Google Shape;691;p11">
            <a:hlinkClick action="ppaction://hlinksldjump" r:id="rId9"/>
          </p:cNvPr>
          <p:cNvSpPr/>
          <p:nvPr/>
        </p:nvSpPr>
        <p:spPr>
          <a:xfrm>
            <a:off x="266783" y="6801252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024791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Integración y aprendizaje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2" name="Google Shape;692;p11"/>
          <p:cNvSpPr/>
          <p:nvPr/>
        </p:nvSpPr>
        <p:spPr>
          <a:xfrm>
            <a:off x="191751" y="8069065"/>
            <a:ext cx="75000" cy="1117697"/>
          </a:xfrm>
          <a:prstGeom prst="rect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3" name="Google Shape;693;p11">
            <a:hlinkClick action="ppaction://hlinksldjump" r:id="rId10"/>
          </p:cNvPr>
          <p:cNvSpPr/>
          <p:nvPr/>
        </p:nvSpPr>
        <p:spPr>
          <a:xfrm>
            <a:off x="266783" y="8069065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FF8D6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Comprueba lo aprendido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4" name="Google Shape;694;p11"/>
          <p:cNvSpPr/>
          <p:nvPr/>
        </p:nvSpPr>
        <p:spPr>
          <a:xfrm>
            <a:off x="4591655" y="9872067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5" name="Google Shape;695;p11">
            <a:hlinkClick action="ppaction://hlinksldjump" r:id="rId11"/>
          </p:cNvPr>
          <p:cNvSpPr/>
          <p:nvPr/>
        </p:nvSpPr>
        <p:spPr>
          <a:xfrm>
            <a:off x="4591655" y="9812536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4275">
            <a:solidFill>
              <a:srgbClr val="66409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sng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Anterior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6" name="Google Shape;696;p11"/>
          <p:cNvSpPr/>
          <p:nvPr/>
        </p:nvSpPr>
        <p:spPr>
          <a:xfrm>
            <a:off x="6378374" y="9872067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C8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7" name="Google Shape;697;p11">
            <a:hlinkClick action="ppaction://hlinksldjump" r:id="rId12"/>
          </p:cNvPr>
          <p:cNvSpPr/>
          <p:nvPr/>
        </p:nvSpPr>
        <p:spPr>
          <a:xfrm>
            <a:off x="6378374" y="9812536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sng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Siguiente</a:t>
            </a:r>
            <a:endParaRPr b="1" i="0" sz="1578" u="sng" cap="none" strike="noStrike">
              <a:solidFill>
                <a:srgbClr val="663D8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8" name="Google Shape;698;p11">
            <a:hlinkClick action="ppaction://hlinksldjump" r:id="rId13"/>
          </p:cNvPr>
          <p:cNvSpPr/>
          <p:nvPr/>
        </p:nvSpPr>
        <p:spPr>
          <a:xfrm>
            <a:off x="191792" y="399700"/>
            <a:ext cx="75000" cy="984000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9" name="Google Shape;699;p11">
            <a:hlinkClick action="ppaction://hlinksldjump" r:id="rId14"/>
          </p:cNvPr>
          <p:cNvSpPr/>
          <p:nvPr/>
        </p:nvSpPr>
        <p:spPr>
          <a:xfrm>
            <a:off x="266825" y="399900"/>
            <a:ext cx="2709300" cy="984000"/>
          </a:xfrm>
          <a:prstGeom prst="roundRect">
            <a:avLst>
              <a:gd fmla="val 14000" name="adj"/>
            </a:avLst>
          </a:prstGeom>
          <a:solidFill>
            <a:srgbClr val="D1E0F2"/>
          </a:solidFill>
          <a:ln>
            <a:noFill/>
          </a:ln>
        </p:spPr>
        <p:txBody>
          <a:bodyPr anchorCtr="0" anchor="ctr" bIns="40000" lIns="160000" spcFirstLastPara="1" rIns="100000" wrap="square" tIns="4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1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0" name="Google Shape;700;p11" title="correcciones sapiencia.png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266783" y="600314"/>
            <a:ext cx="486192" cy="486192"/>
          </a:xfrm>
          <a:prstGeom prst="rect">
            <a:avLst/>
          </a:prstGeom>
          <a:noFill/>
          <a:ln>
            <a:noFill/>
          </a:ln>
        </p:spPr>
      </p:pic>
      <p:sp>
        <p:nvSpPr>
          <p:cNvPr id="701" name="Google Shape;701;p11">
            <a:hlinkClick action="ppaction://hlinksldjump" r:id="rId16"/>
          </p:cNvPr>
          <p:cNvSpPr txBox="1"/>
          <p:nvPr/>
        </p:nvSpPr>
        <p:spPr>
          <a:xfrm>
            <a:off x="939099" y="660838"/>
            <a:ext cx="1541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Scrum por dentro</a:t>
            </a:r>
            <a:endParaRPr b="1" i="0" sz="1200" u="none" cap="none" strike="noStrike">
              <a:solidFill>
                <a:srgbClr val="3D21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1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Inicio</a:t>
            </a:r>
            <a:endParaRPr b="1" i="0" sz="1200" u="none" cap="none" strike="noStrike">
              <a:solidFill>
                <a:srgbClr val="A719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2" name="Google Shape;702;p11"/>
          <p:cNvSpPr txBox="1"/>
          <p:nvPr/>
        </p:nvSpPr>
        <p:spPr>
          <a:xfrm>
            <a:off x="3886200" y="1481328"/>
            <a:ext cx="9144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s-CO" sz="15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Tema 2 · Estructura del sistema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3" name="Google Shape;703;p11"/>
          <p:cNvSpPr/>
          <p:nvPr/>
        </p:nvSpPr>
        <p:spPr>
          <a:xfrm>
            <a:off x="3886200" y="2834640"/>
            <a:ext cx="128016" cy="128016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4" name="Google Shape;704;p11"/>
          <p:cNvSpPr/>
          <p:nvPr/>
        </p:nvSpPr>
        <p:spPr>
          <a:xfrm>
            <a:off x="4114800" y="2852928"/>
            <a:ext cx="91440" cy="9144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5" name="Google Shape;705;p11"/>
          <p:cNvSpPr/>
          <p:nvPr/>
        </p:nvSpPr>
        <p:spPr>
          <a:xfrm>
            <a:off x="4334256" y="2852928"/>
            <a:ext cx="91440" cy="9144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6" name="Google Shape;706;p11"/>
          <p:cNvSpPr/>
          <p:nvPr/>
        </p:nvSpPr>
        <p:spPr>
          <a:xfrm>
            <a:off x="4553712" y="2852928"/>
            <a:ext cx="91440" cy="9144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7" name="Google Shape;707;p11"/>
          <p:cNvSpPr/>
          <p:nvPr/>
        </p:nvSpPr>
        <p:spPr>
          <a:xfrm>
            <a:off x="4782312" y="2852928"/>
            <a:ext cx="91440" cy="9144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8" name="Google Shape;708;p11"/>
          <p:cNvSpPr/>
          <p:nvPr/>
        </p:nvSpPr>
        <p:spPr>
          <a:xfrm>
            <a:off x="5001768" y="2834640"/>
            <a:ext cx="128016" cy="128016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9" name="Google Shape;709;p11"/>
          <p:cNvSpPr txBox="1"/>
          <p:nvPr/>
        </p:nvSpPr>
        <p:spPr>
          <a:xfrm>
            <a:off x="3886200" y="3200400"/>
            <a:ext cx="14264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s-CO" sz="190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Cómo interactúan personas, artefactos y eventos para transformar ideas en valor continuo.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0" name="Google Shape;710;p11"/>
          <p:cNvSpPr txBox="1"/>
          <p:nvPr/>
        </p:nvSpPr>
        <p:spPr>
          <a:xfrm>
            <a:off x="3886200" y="3666744"/>
            <a:ext cx="14264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Nivel 1 · Definición y planificación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1" name="Google Shape;711;p11"/>
          <p:cNvSpPr/>
          <p:nvPr/>
        </p:nvSpPr>
        <p:spPr>
          <a:xfrm>
            <a:off x="3886200" y="4050793"/>
            <a:ext cx="3257550" cy="1005840"/>
          </a:xfrm>
          <a:prstGeom prst="roundRect">
            <a:avLst>
              <a:gd fmla="val 15000" name="adj"/>
            </a:avLst>
          </a:prstGeom>
          <a:solidFill>
            <a:srgbClr val="F1EB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2" name="Google Shape;712;p11"/>
          <p:cNvSpPr txBox="1"/>
          <p:nvPr/>
        </p:nvSpPr>
        <p:spPr>
          <a:xfrm>
            <a:off x="4069080" y="4160521"/>
            <a:ext cx="289179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s-CO" sz="16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Product Owner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3" name="Google Shape;713;p11"/>
          <p:cNvSpPr txBox="1"/>
          <p:nvPr/>
        </p:nvSpPr>
        <p:spPr>
          <a:xfrm>
            <a:off x="4069080" y="4553712"/>
            <a:ext cx="289179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s-CO" sz="135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prioriza valor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4" name="Google Shape;714;p11"/>
          <p:cNvSpPr/>
          <p:nvPr/>
        </p:nvSpPr>
        <p:spPr>
          <a:xfrm>
            <a:off x="7216902" y="4434841"/>
            <a:ext cx="265176" cy="237744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B9C3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5" name="Google Shape;715;p11"/>
          <p:cNvSpPr/>
          <p:nvPr/>
        </p:nvSpPr>
        <p:spPr>
          <a:xfrm>
            <a:off x="7555229" y="4050793"/>
            <a:ext cx="3257550" cy="1005840"/>
          </a:xfrm>
          <a:prstGeom prst="roundRect">
            <a:avLst>
              <a:gd fmla="val 15000" name="adj"/>
            </a:avLst>
          </a:prstGeom>
          <a:solidFill>
            <a:srgbClr val="F1EB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6" name="Google Shape;716;p11"/>
          <p:cNvSpPr txBox="1"/>
          <p:nvPr/>
        </p:nvSpPr>
        <p:spPr>
          <a:xfrm>
            <a:off x="7738109" y="4160521"/>
            <a:ext cx="289179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s-CO" sz="16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Product Backlog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7" name="Google Shape;717;p11"/>
          <p:cNvSpPr txBox="1"/>
          <p:nvPr/>
        </p:nvSpPr>
        <p:spPr>
          <a:xfrm>
            <a:off x="7738109" y="4553712"/>
            <a:ext cx="289179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s-CO" sz="135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orienta qué necesitamos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8" name="Google Shape;718;p11"/>
          <p:cNvSpPr/>
          <p:nvPr/>
        </p:nvSpPr>
        <p:spPr>
          <a:xfrm>
            <a:off x="10885932" y="4434841"/>
            <a:ext cx="265176" cy="237744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B9C3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9" name="Google Shape;719;p11"/>
          <p:cNvSpPr/>
          <p:nvPr/>
        </p:nvSpPr>
        <p:spPr>
          <a:xfrm>
            <a:off x="11224260" y="4050793"/>
            <a:ext cx="3257550" cy="1005840"/>
          </a:xfrm>
          <a:prstGeom prst="roundRect">
            <a:avLst>
              <a:gd fmla="val 15000" name="adj"/>
            </a:avLst>
          </a:prstGeom>
          <a:solidFill>
            <a:srgbClr val="F1EB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0" name="Google Shape;720;p11"/>
          <p:cNvSpPr txBox="1"/>
          <p:nvPr/>
        </p:nvSpPr>
        <p:spPr>
          <a:xfrm>
            <a:off x="11407140" y="4160521"/>
            <a:ext cx="289179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s-CO" sz="16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Sprint Planning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1" name="Google Shape;721;p11"/>
          <p:cNvSpPr txBox="1"/>
          <p:nvPr/>
        </p:nvSpPr>
        <p:spPr>
          <a:xfrm>
            <a:off x="11407140" y="4553712"/>
            <a:ext cx="289179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s-CO" sz="135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seleccionamos y planificamos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2" name="Google Shape;722;p11"/>
          <p:cNvSpPr/>
          <p:nvPr/>
        </p:nvSpPr>
        <p:spPr>
          <a:xfrm>
            <a:off x="14554962" y="4434841"/>
            <a:ext cx="265176" cy="237744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B9C3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3" name="Google Shape;723;p11"/>
          <p:cNvSpPr/>
          <p:nvPr/>
        </p:nvSpPr>
        <p:spPr>
          <a:xfrm>
            <a:off x="14893290" y="4050793"/>
            <a:ext cx="3257550" cy="1005840"/>
          </a:xfrm>
          <a:prstGeom prst="roundRect">
            <a:avLst>
              <a:gd fmla="val 15000" name="adj"/>
            </a:avLst>
          </a:prstGeom>
          <a:solidFill>
            <a:srgbClr val="F1EB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4" name="Google Shape;724;p11"/>
          <p:cNvSpPr txBox="1"/>
          <p:nvPr/>
        </p:nvSpPr>
        <p:spPr>
          <a:xfrm>
            <a:off x="15076170" y="4160521"/>
            <a:ext cx="289179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s-CO" sz="16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Sprint Backlog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5" name="Google Shape;725;p11"/>
          <p:cNvSpPr txBox="1"/>
          <p:nvPr/>
        </p:nvSpPr>
        <p:spPr>
          <a:xfrm>
            <a:off x="15076170" y="4553712"/>
            <a:ext cx="289179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s-CO" sz="135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organiza el trabajo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6" name="Google Shape;726;p11"/>
          <p:cNvSpPr txBox="1"/>
          <p:nvPr/>
        </p:nvSpPr>
        <p:spPr>
          <a:xfrm>
            <a:off x="3886200" y="5239512"/>
            <a:ext cx="142646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Nivel 2 · Ejecución, entrega y aprendizaje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7" name="Google Shape;727;p11"/>
          <p:cNvSpPr/>
          <p:nvPr/>
        </p:nvSpPr>
        <p:spPr>
          <a:xfrm>
            <a:off x="3886200" y="5623560"/>
            <a:ext cx="4480559" cy="1005840"/>
          </a:xfrm>
          <a:prstGeom prst="roundRect">
            <a:avLst>
              <a:gd fmla="val 15000" name="adj"/>
            </a:avLst>
          </a:prstGeom>
          <a:solidFill>
            <a:srgbClr val="E8F1F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8" name="Google Shape;728;p11"/>
          <p:cNvSpPr txBox="1"/>
          <p:nvPr/>
        </p:nvSpPr>
        <p:spPr>
          <a:xfrm>
            <a:off x="4069080" y="5733288"/>
            <a:ext cx="4114799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s-CO" sz="1600" u="none" cap="none" strike="noStrike">
                <a:solidFill>
                  <a:srgbClr val="2A56C6"/>
                </a:solidFill>
                <a:latin typeface="Arial"/>
                <a:ea typeface="Arial"/>
                <a:cs typeface="Arial"/>
                <a:sym typeface="Arial"/>
              </a:rPr>
              <a:t>Sprint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9" name="Google Shape;729;p11"/>
          <p:cNvSpPr txBox="1"/>
          <p:nvPr/>
        </p:nvSpPr>
        <p:spPr>
          <a:xfrm>
            <a:off x="4069080" y="6126480"/>
            <a:ext cx="411479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s-CO" sz="135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desarrollamos + inspeccionamos + adaptamos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0" name="Google Shape;730;p11"/>
          <p:cNvSpPr/>
          <p:nvPr/>
        </p:nvSpPr>
        <p:spPr>
          <a:xfrm>
            <a:off x="8439911" y="6007608"/>
            <a:ext cx="265176" cy="237744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B9C3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1" name="Google Shape;731;p11"/>
          <p:cNvSpPr/>
          <p:nvPr/>
        </p:nvSpPr>
        <p:spPr>
          <a:xfrm>
            <a:off x="8778240" y="5623560"/>
            <a:ext cx="4480559" cy="1005840"/>
          </a:xfrm>
          <a:prstGeom prst="roundRect">
            <a:avLst>
              <a:gd fmla="val 15000" name="adj"/>
            </a:avLst>
          </a:prstGeom>
          <a:solidFill>
            <a:srgbClr val="E8F1F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2" name="Google Shape;732;p11"/>
          <p:cNvSpPr txBox="1"/>
          <p:nvPr/>
        </p:nvSpPr>
        <p:spPr>
          <a:xfrm>
            <a:off x="8961119" y="5733288"/>
            <a:ext cx="4114799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s-CO" sz="1600" u="none" cap="none" strike="noStrike">
                <a:solidFill>
                  <a:srgbClr val="2A56C6"/>
                </a:solidFill>
                <a:latin typeface="Arial"/>
                <a:ea typeface="Arial"/>
                <a:cs typeface="Arial"/>
                <a:sym typeface="Arial"/>
              </a:rPr>
              <a:t>Incremento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3" name="Google Shape;733;p11"/>
          <p:cNvSpPr txBox="1"/>
          <p:nvPr/>
        </p:nvSpPr>
        <p:spPr>
          <a:xfrm>
            <a:off x="8961119" y="6126480"/>
            <a:ext cx="411479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s-CO" sz="135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generamos un resultado utilizable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4" name="Google Shape;734;p11"/>
          <p:cNvSpPr/>
          <p:nvPr/>
        </p:nvSpPr>
        <p:spPr>
          <a:xfrm>
            <a:off x="13331952" y="6007608"/>
            <a:ext cx="265176" cy="237744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B9C3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5" name="Google Shape;735;p11"/>
          <p:cNvSpPr/>
          <p:nvPr/>
        </p:nvSpPr>
        <p:spPr>
          <a:xfrm>
            <a:off x="13670280" y="5623560"/>
            <a:ext cx="4480559" cy="1005840"/>
          </a:xfrm>
          <a:prstGeom prst="roundRect">
            <a:avLst>
              <a:gd fmla="val 15000" name="adj"/>
            </a:avLst>
          </a:prstGeom>
          <a:solidFill>
            <a:srgbClr val="E8F1F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6" name="Google Shape;736;p11"/>
          <p:cNvSpPr txBox="1"/>
          <p:nvPr/>
        </p:nvSpPr>
        <p:spPr>
          <a:xfrm>
            <a:off x="13853159" y="5733288"/>
            <a:ext cx="4114799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s-CO" sz="1600" u="none" cap="none" strike="noStrike">
                <a:solidFill>
                  <a:srgbClr val="2A56C6"/>
                </a:solidFill>
                <a:latin typeface="Arial"/>
                <a:ea typeface="Arial"/>
                <a:cs typeface="Arial"/>
                <a:sym typeface="Arial"/>
              </a:rPr>
              <a:t>Review + Retrospective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7" name="Google Shape;737;p11"/>
          <p:cNvSpPr txBox="1"/>
          <p:nvPr/>
        </p:nvSpPr>
        <p:spPr>
          <a:xfrm>
            <a:off x="13853159" y="6126480"/>
            <a:ext cx="411479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s-CO" sz="135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aprendemos y mejoramos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8" name="Google Shape;738;p11"/>
          <p:cNvSpPr/>
          <p:nvPr/>
        </p:nvSpPr>
        <p:spPr>
          <a:xfrm>
            <a:off x="8915400" y="6778753"/>
            <a:ext cx="4206240" cy="384048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39" name="Google Shape;739;p11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9052560" y="6815329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740" name="Google Shape;740;p11"/>
          <p:cNvSpPr txBox="1"/>
          <p:nvPr/>
        </p:nvSpPr>
        <p:spPr>
          <a:xfrm>
            <a:off x="9464040" y="6778753"/>
            <a:ext cx="35661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s-CO" sz="14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Retorno al siguiente Sprint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1" name="Google Shape;741;p11"/>
          <p:cNvSpPr/>
          <p:nvPr/>
        </p:nvSpPr>
        <p:spPr>
          <a:xfrm>
            <a:off x="3886200" y="7309105"/>
            <a:ext cx="14264640" cy="1170432"/>
          </a:xfrm>
          <a:prstGeom prst="roundRect">
            <a:avLst>
              <a:gd fmla="val 12000" name="adj"/>
            </a:avLst>
          </a:prstGeom>
          <a:solidFill>
            <a:srgbClr val="F1EB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2" name="Google Shape;742;p11"/>
          <p:cNvSpPr/>
          <p:nvPr/>
        </p:nvSpPr>
        <p:spPr>
          <a:xfrm>
            <a:off x="3886200" y="7309105"/>
            <a:ext cx="82296" cy="1170432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3" name="Google Shape;743;p11"/>
          <p:cNvSpPr/>
          <p:nvPr/>
        </p:nvSpPr>
        <p:spPr>
          <a:xfrm>
            <a:off x="4160520" y="7583425"/>
            <a:ext cx="603504" cy="603504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4" name="Google Shape;744;p11"/>
          <p:cNvSpPr/>
          <p:nvPr/>
        </p:nvSpPr>
        <p:spPr>
          <a:xfrm>
            <a:off x="4288536" y="7711441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5" name="Google Shape;745;p11"/>
          <p:cNvSpPr txBox="1"/>
          <p:nvPr/>
        </p:nvSpPr>
        <p:spPr>
          <a:xfrm>
            <a:off x="4983480" y="7437121"/>
            <a:ext cx="1298448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s-CO" sz="16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¿Qué nos plantea?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6" name="Google Shape;746;p11"/>
          <p:cNvSpPr txBox="1"/>
          <p:nvPr/>
        </p:nvSpPr>
        <p:spPr>
          <a:xfrm>
            <a:off x="4983480" y="7784593"/>
            <a:ext cx="12984480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s-CO" sz="150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Scrum conecta objetivos, trabajo, resultados y aprendizaje en ciclos sucesivos.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7" name="Google Shape;747;p11"/>
          <p:cNvSpPr/>
          <p:nvPr/>
        </p:nvSpPr>
        <p:spPr>
          <a:xfrm>
            <a:off x="3886200" y="8653534"/>
            <a:ext cx="3638550" cy="402336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C9B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8" name="Google Shape;748;p11"/>
          <p:cNvSpPr txBox="1"/>
          <p:nvPr/>
        </p:nvSpPr>
        <p:spPr>
          <a:xfrm>
            <a:off x="3886200" y="8653534"/>
            <a:ext cx="363855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s-CO" sz="1350" u="none" cap="none" strike="noStrike">
                <a:solidFill>
                  <a:srgbClr val="6B6570"/>
                </a:solidFill>
                <a:latin typeface="Arial"/>
                <a:ea typeface="Arial"/>
                <a:cs typeface="Arial"/>
                <a:sym typeface="Arial"/>
              </a:rPr>
              <a:t>Engranajes aislados</a:t>
            </a:r>
            <a:endParaRPr b="0" i="0" sz="13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9" name="Google Shape;749;p11"/>
          <p:cNvSpPr txBox="1"/>
          <p:nvPr/>
        </p:nvSpPr>
        <p:spPr>
          <a:xfrm>
            <a:off x="7600950" y="8653534"/>
            <a:ext cx="51435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s-CO" sz="22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≠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0" name="Google Shape;750;p11"/>
          <p:cNvSpPr/>
          <p:nvPr/>
        </p:nvSpPr>
        <p:spPr>
          <a:xfrm>
            <a:off x="8210550" y="8653534"/>
            <a:ext cx="3857625" cy="402336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1" name="Google Shape;751;p11"/>
          <p:cNvSpPr txBox="1"/>
          <p:nvPr/>
        </p:nvSpPr>
        <p:spPr>
          <a:xfrm>
            <a:off x="8210550" y="8653534"/>
            <a:ext cx="3857625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s-CO" sz="135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Cadena continua de valor</a:t>
            </a:r>
            <a:endParaRPr b="0" i="0" sz="13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hosphor lightbulb, regular, #ddd5e7. https://phosphoricons.com/" id="752" name="Google Shape;752;p11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4288536" y="7711441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2">
            <a:hlinkClick action="ppaction://hlinksldjump" r:id="rId19"/>
          </p:cNvPr>
          <p:cNvSpPr/>
          <p:nvPr/>
        </p:nvSpPr>
        <p:spPr>
          <a:xfrm>
            <a:off x="191751" y="9336878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2">
            <a:hlinkClick action="ppaction://hlinksldjump" r:id="rId19"/>
          </p:cNvPr>
          <p:cNvSpPr/>
          <p:nvPr/>
        </p:nvSpPr>
        <p:spPr>
          <a:xfrm>
            <a:off x="266783" y="9336878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Créditos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Equipo de producción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p12"/>
          <p:cNvSpPr/>
          <p:nvPr/>
        </p:nvSpPr>
        <p:spPr>
          <a:xfrm>
            <a:off x="3887703" y="1984772"/>
            <a:ext cx="1426464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s-CO" sz="3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10. Scrum funciona como sistema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8" name="Google Shape;758;p12"/>
          <p:cNvSpPr/>
          <p:nvPr/>
        </p:nvSpPr>
        <p:spPr>
          <a:xfrm>
            <a:off x="0" y="0"/>
            <a:ext cx="3168000" cy="10934700"/>
          </a:xfrm>
          <a:prstGeom prst="rect">
            <a:avLst/>
          </a:prstGeom>
          <a:solidFill>
            <a:srgbClr val="F5F3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9" name="Google Shape;759;p12"/>
          <p:cNvSpPr/>
          <p:nvPr/>
        </p:nvSpPr>
        <p:spPr>
          <a:xfrm>
            <a:off x="3153046" y="0"/>
            <a:ext cx="15000" cy="10934700"/>
          </a:xfrm>
          <a:prstGeom prst="rect">
            <a:avLst/>
          </a:prstGeom>
          <a:solidFill>
            <a:srgbClr val="E0DA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0" name="Google Shape;760;p12"/>
          <p:cNvSpPr/>
          <p:nvPr/>
        </p:nvSpPr>
        <p:spPr>
          <a:xfrm>
            <a:off x="191751" y="1550000"/>
            <a:ext cx="2784600" cy="14100"/>
          </a:xfrm>
          <a:prstGeom prst="rect">
            <a:avLst/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1" name="Google Shape;761;p12"/>
          <p:cNvSpPr/>
          <p:nvPr/>
        </p:nvSpPr>
        <p:spPr>
          <a:xfrm>
            <a:off x="191751" y="1730000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2" name="Google Shape;762;p12">
            <a:hlinkClick action="ppaction://hlinksldjump" r:id="rId3"/>
          </p:cNvPr>
          <p:cNvSpPr/>
          <p:nvPr/>
        </p:nvSpPr>
        <p:spPr>
          <a:xfrm>
            <a:off x="266783" y="1730000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Estructura Scrum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3" name="Google Shape;763;p12">
            <a:hlinkClick action="ppaction://hlinksldjump" r:id="rId4"/>
          </p:cNvPr>
          <p:cNvSpPr/>
          <p:nvPr/>
        </p:nvSpPr>
        <p:spPr>
          <a:xfrm>
            <a:off x="191751" y="2997813"/>
            <a:ext cx="75000" cy="1117697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4" name="Google Shape;764;p12">
            <a:hlinkClick action="ppaction://hlinksldjump" r:id="rId5"/>
          </p:cNvPr>
          <p:cNvSpPr/>
          <p:nvPr/>
        </p:nvSpPr>
        <p:spPr>
          <a:xfrm>
            <a:off x="266783" y="2997813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0DAEC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Responsabilidades del Scrum Team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5" name="Google Shape;765;p12">
            <a:hlinkClick r:id="rId6"/>
          </p:cNvPr>
          <p:cNvSpPr/>
          <p:nvPr/>
        </p:nvSpPr>
        <p:spPr>
          <a:xfrm>
            <a:off x="191751" y="4265626"/>
            <a:ext cx="75000" cy="1117697"/>
          </a:xfrm>
          <a:prstGeom prst="rect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6" name="Google Shape;766;p12">
            <a:hlinkClick action="ppaction://hlinksldjump" r:id="rId7"/>
          </p:cNvPr>
          <p:cNvSpPr/>
          <p:nvPr/>
        </p:nvSpPr>
        <p:spPr>
          <a:xfrm>
            <a:off x="266783" y="4265626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1EAF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Eventos del Scrum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7" name="Google Shape;767;p12">
            <a:hlinkClick r:id="rId8"/>
          </p:cNvPr>
          <p:cNvSpPr/>
          <p:nvPr/>
        </p:nvSpPr>
        <p:spPr>
          <a:xfrm>
            <a:off x="191751" y="5533439"/>
            <a:ext cx="75000" cy="1117697"/>
          </a:xfrm>
          <a:prstGeom prst="rect">
            <a:avLst/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8" name="Google Shape;768;p12">
            <a:hlinkClick action="ppaction://hlinksldjump" r:id="rId9"/>
          </p:cNvPr>
          <p:cNvSpPr/>
          <p:nvPr/>
        </p:nvSpPr>
        <p:spPr>
          <a:xfrm>
            <a:off x="266783" y="5533439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FDBE4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Artefactos y compromisos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9" name="Google Shape;769;p12"/>
          <p:cNvSpPr/>
          <p:nvPr/>
        </p:nvSpPr>
        <p:spPr>
          <a:xfrm>
            <a:off x="191751" y="6801252"/>
            <a:ext cx="75000" cy="1117697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0" name="Google Shape;770;p12">
            <a:hlinkClick action="ppaction://hlinksldjump" r:id="rId10"/>
          </p:cNvPr>
          <p:cNvSpPr/>
          <p:nvPr/>
        </p:nvSpPr>
        <p:spPr>
          <a:xfrm>
            <a:off x="266783" y="6801252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024791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Integración y aprendizaje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1" name="Google Shape;771;p12"/>
          <p:cNvSpPr/>
          <p:nvPr/>
        </p:nvSpPr>
        <p:spPr>
          <a:xfrm>
            <a:off x="191751" y="8069065"/>
            <a:ext cx="75000" cy="1117697"/>
          </a:xfrm>
          <a:prstGeom prst="rect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2" name="Google Shape;772;p12">
            <a:hlinkClick action="ppaction://hlinksldjump" r:id="rId11"/>
          </p:cNvPr>
          <p:cNvSpPr/>
          <p:nvPr/>
        </p:nvSpPr>
        <p:spPr>
          <a:xfrm>
            <a:off x="266783" y="8069065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FF8D6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Comprueba lo aprendido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3" name="Google Shape;773;p12"/>
          <p:cNvSpPr/>
          <p:nvPr/>
        </p:nvSpPr>
        <p:spPr>
          <a:xfrm>
            <a:off x="4591655" y="9872067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4" name="Google Shape;774;p12">
            <a:hlinkClick action="ppaction://hlinksldjump" r:id="rId12"/>
          </p:cNvPr>
          <p:cNvSpPr/>
          <p:nvPr/>
        </p:nvSpPr>
        <p:spPr>
          <a:xfrm>
            <a:off x="4591655" y="9812536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4275">
            <a:solidFill>
              <a:srgbClr val="66409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sng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Anterior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5" name="Google Shape;775;p12"/>
          <p:cNvSpPr/>
          <p:nvPr/>
        </p:nvSpPr>
        <p:spPr>
          <a:xfrm>
            <a:off x="6378374" y="9872067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C8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6" name="Google Shape;776;p12">
            <a:hlinkClick action="ppaction://hlinksldjump" r:id="rId13"/>
          </p:cNvPr>
          <p:cNvSpPr/>
          <p:nvPr/>
        </p:nvSpPr>
        <p:spPr>
          <a:xfrm>
            <a:off x="6378374" y="9812536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sng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Siguiente</a:t>
            </a:r>
            <a:endParaRPr b="1" i="0" sz="1578" u="sng" cap="none" strike="noStrike">
              <a:solidFill>
                <a:srgbClr val="663D8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7" name="Google Shape;777;p12">
            <a:hlinkClick action="ppaction://hlinksldjump" r:id="rId14"/>
          </p:cNvPr>
          <p:cNvSpPr/>
          <p:nvPr/>
        </p:nvSpPr>
        <p:spPr>
          <a:xfrm>
            <a:off x="191792" y="399700"/>
            <a:ext cx="75000" cy="984000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8" name="Google Shape;778;p12">
            <a:hlinkClick action="ppaction://hlinksldjump" r:id="rId15"/>
          </p:cNvPr>
          <p:cNvSpPr/>
          <p:nvPr/>
        </p:nvSpPr>
        <p:spPr>
          <a:xfrm>
            <a:off x="266825" y="399900"/>
            <a:ext cx="2709300" cy="984000"/>
          </a:xfrm>
          <a:prstGeom prst="roundRect">
            <a:avLst>
              <a:gd fmla="val 14000" name="adj"/>
            </a:avLst>
          </a:prstGeom>
          <a:solidFill>
            <a:srgbClr val="D1E0F2"/>
          </a:solidFill>
          <a:ln>
            <a:noFill/>
          </a:ln>
        </p:spPr>
        <p:txBody>
          <a:bodyPr anchorCtr="0" anchor="ctr" bIns="40000" lIns="160000" spcFirstLastPara="1" rIns="100000" wrap="square" tIns="4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1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79" name="Google Shape;779;p12" title="correcciones sapiencia.png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266783" y="600314"/>
            <a:ext cx="486192" cy="486192"/>
          </a:xfrm>
          <a:prstGeom prst="rect">
            <a:avLst/>
          </a:prstGeom>
          <a:noFill/>
          <a:ln>
            <a:noFill/>
          </a:ln>
        </p:spPr>
      </p:pic>
      <p:sp>
        <p:nvSpPr>
          <p:cNvPr id="780" name="Google Shape;780;p12">
            <a:hlinkClick action="ppaction://hlinksldjump" r:id="rId17"/>
          </p:cNvPr>
          <p:cNvSpPr txBox="1"/>
          <p:nvPr/>
        </p:nvSpPr>
        <p:spPr>
          <a:xfrm>
            <a:off x="939099" y="660838"/>
            <a:ext cx="1541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Scrum por dentro</a:t>
            </a:r>
            <a:endParaRPr b="1" i="0" sz="1200" u="none" cap="none" strike="noStrike">
              <a:solidFill>
                <a:srgbClr val="3D21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1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Inicio</a:t>
            </a:r>
            <a:endParaRPr b="1" i="0" sz="1200" u="none" cap="none" strike="noStrike">
              <a:solidFill>
                <a:srgbClr val="A719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1" name="Google Shape;781;p12"/>
          <p:cNvSpPr txBox="1"/>
          <p:nvPr/>
        </p:nvSpPr>
        <p:spPr>
          <a:xfrm>
            <a:off x="3886200" y="1481328"/>
            <a:ext cx="9144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s-CO" sz="15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Tema 2 · Estructura del sistema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2" name="Google Shape;782;p12"/>
          <p:cNvSpPr/>
          <p:nvPr/>
        </p:nvSpPr>
        <p:spPr>
          <a:xfrm>
            <a:off x="3886200" y="2834640"/>
            <a:ext cx="128016" cy="128016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3" name="Google Shape;783;p12"/>
          <p:cNvSpPr/>
          <p:nvPr/>
        </p:nvSpPr>
        <p:spPr>
          <a:xfrm>
            <a:off x="4114800" y="2852928"/>
            <a:ext cx="91440" cy="9144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4" name="Google Shape;784;p12"/>
          <p:cNvSpPr/>
          <p:nvPr/>
        </p:nvSpPr>
        <p:spPr>
          <a:xfrm>
            <a:off x="4334256" y="2852928"/>
            <a:ext cx="91440" cy="9144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5" name="Google Shape;785;p12"/>
          <p:cNvSpPr/>
          <p:nvPr/>
        </p:nvSpPr>
        <p:spPr>
          <a:xfrm>
            <a:off x="4553712" y="2852928"/>
            <a:ext cx="91440" cy="9144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6" name="Google Shape;786;p12"/>
          <p:cNvSpPr/>
          <p:nvPr/>
        </p:nvSpPr>
        <p:spPr>
          <a:xfrm>
            <a:off x="4782312" y="2852928"/>
            <a:ext cx="91440" cy="9144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7" name="Google Shape;787;p12"/>
          <p:cNvSpPr/>
          <p:nvPr/>
        </p:nvSpPr>
        <p:spPr>
          <a:xfrm>
            <a:off x="5001768" y="2834640"/>
            <a:ext cx="128016" cy="128016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8" name="Google Shape;788;p12"/>
          <p:cNvSpPr txBox="1"/>
          <p:nvPr/>
        </p:nvSpPr>
        <p:spPr>
          <a:xfrm>
            <a:off x="3886200" y="3200400"/>
            <a:ext cx="14264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s-CO" sz="190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No son piezas aisladas: la articulación que da sentido a la agilidad en equipo.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9" name="Google Shape;789;p12"/>
          <p:cNvSpPr/>
          <p:nvPr/>
        </p:nvSpPr>
        <p:spPr>
          <a:xfrm>
            <a:off x="3886200" y="3717131"/>
            <a:ext cx="4541520" cy="306324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5875">
            <a:solidFill>
              <a:srgbClr val="DDD6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0" name="Google Shape;790;p12"/>
          <p:cNvSpPr/>
          <p:nvPr/>
        </p:nvSpPr>
        <p:spPr>
          <a:xfrm>
            <a:off x="3886200" y="3717131"/>
            <a:ext cx="4541520" cy="91440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91" name="Google Shape;791;p12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4206240" y="4037171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792" name="Google Shape;792;p12"/>
          <p:cNvSpPr txBox="1"/>
          <p:nvPr/>
        </p:nvSpPr>
        <p:spPr>
          <a:xfrm>
            <a:off x="4800600" y="4018884"/>
            <a:ext cx="3444240" cy="41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s-CO" sz="19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Responsabilidades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3" name="Google Shape;793;p12"/>
          <p:cNvSpPr txBox="1"/>
          <p:nvPr/>
        </p:nvSpPr>
        <p:spPr>
          <a:xfrm>
            <a:off x="4206240" y="4631532"/>
            <a:ext cx="39014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b="0" i="0" lang="es-CO" sz="145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Organizan quién asume cada compromiso y cómo contribuye al valor del producto.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4" name="Google Shape;794;p12"/>
          <p:cNvSpPr/>
          <p:nvPr/>
        </p:nvSpPr>
        <p:spPr>
          <a:xfrm>
            <a:off x="4160520" y="5637371"/>
            <a:ext cx="1950720" cy="365760"/>
          </a:xfrm>
          <a:prstGeom prst="roundRect">
            <a:avLst>
              <a:gd fmla="val 50000" name="adj"/>
            </a:avLst>
          </a:prstGeom>
          <a:solidFill>
            <a:srgbClr val="F1EB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5" name="Google Shape;795;p12"/>
          <p:cNvSpPr txBox="1"/>
          <p:nvPr/>
        </p:nvSpPr>
        <p:spPr>
          <a:xfrm>
            <a:off x="4160520" y="5637371"/>
            <a:ext cx="1950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es-CO" sz="125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Product Owner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6" name="Google Shape;796;p12"/>
          <p:cNvSpPr/>
          <p:nvPr/>
        </p:nvSpPr>
        <p:spPr>
          <a:xfrm>
            <a:off x="6202680" y="5637371"/>
            <a:ext cx="1950720" cy="365760"/>
          </a:xfrm>
          <a:prstGeom prst="roundRect">
            <a:avLst>
              <a:gd fmla="val 50000" name="adj"/>
            </a:avLst>
          </a:prstGeom>
          <a:solidFill>
            <a:srgbClr val="F1EB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7" name="Google Shape;797;p12"/>
          <p:cNvSpPr txBox="1"/>
          <p:nvPr/>
        </p:nvSpPr>
        <p:spPr>
          <a:xfrm>
            <a:off x="6202680" y="5637371"/>
            <a:ext cx="1950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es-CO" sz="125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Developers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8" name="Google Shape;798;p12"/>
          <p:cNvSpPr/>
          <p:nvPr/>
        </p:nvSpPr>
        <p:spPr>
          <a:xfrm>
            <a:off x="4160520" y="6094571"/>
            <a:ext cx="1950720" cy="365760"/>
          </a:xfrm>
          <a:prstGeom prst="roundRect">
            <a:avLst>
              <a:gd fmla="val 50000" name="adj"/>
            </a:avLst>
          </a:prstGeom>
          <a:solidFill>
            <a:srgbClr val="F1EB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9" name="Google Shape;799;p12"/>
          <p:cNvSpPr txBox="1"/>
          <p:nvPr/>
        </p:nvSpPr>
        <p:spPr>
          <a:xfrm>
            <a:off x="4160520" y="6094571"/>
            <a:ext cx="1950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es-CO" sz="125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Scrum Master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0" name="Google Shape;800;p12"/>
          <p:cNvSpPr/>
          <p:nvPr/>
        </p:nvSpPr>
        <p:spPr>
          <a:xfrm>
            <a:off x="8747760" y="3717131"/>
            <a:ext cx="4541520" cy="306324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5875">
            <a:solidFill>
              <a:srgbClr val="DDD6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1" name="Google Shape;801;p12"/>
          <p:cNvSpPr/>
          <p:nvPr/>
        </p:nvSpPr>
        <p:spPr>
          <a:xfrm>
            <a:off x="8747760" y="3717131"/>
            <a:ext cx="4541520" cy="91440"/>
          </a:xfrm>
          <a:prstGeom prst="rect">
            <a:avLst/>
          </a:prstGeom>
          <a:solidFill>
            <a:srgbClr val="2A56C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2" name="Google Shape;802;p12"/>
          <p:cNvSpPr/>
          <p:nvPr/>
        </p:nvSpPr>
        <p:spPr>
          <a:xfrm>
            <a:off x="9067800" y="4037171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3" name="Google Shape;803;p12"/>
          <p:cNvSpPr txBox="1"/>
          <p:nvPr/>
        </p:nvSpPr>
        <p:spPr>
          <a:xfrm>
            <a:off x="9662160" y="4018884"/>
            <a:ext cx="3444240" cy="41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s-CO" sz="1900" u="none" cap="none" strike="noStrike">
                <a:solidFill>
                  <a:srgbClr val="2A56C6"/>
                </a:solidFill>
                <a:latin typeface="Arial"/>
                <a:ea typeface="Arial"/>
                <a:cs typeface="Arial"/>
                <a:sym typeface="Arial"/>
              </a:rPr>
              <a:t>Eventos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4" name="Google Shape;804;p12"/>
          <p:cNvSpPr txBox="1"/>
          <p:nvPr/>
        </p:nvSpPr>
        <p:spPr>
          <a:xfrm>
            <a:off x="9067800" y="4631532"/>
            <a:ext cx="39014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b="0" i="0" lang="es-CO" sz="145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Crean oportunidades formales para inspeccionar y adaptar el trabajo.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5" name="Google Shape;805;p12"/>
          <p:cNvSpPr/>
          <p:nvPr/>
        </p:nvSpPr>
        <p:spPr>
          <a:xfrm>
            <a:off x="9022080" y="5637371"/>
            <a:ext cx="1950720" cy="365760"/>
          </a:xfrm>
          <a:prstGeom prst="roundRect">
            <a:avLst>
              <a:gd fmla="val 50000" name="adj"/>
            </a:avLst>
          </a:prstGeom>
          <a:solidFill>
            <a:srgbClr val="E8F1F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6" name="Google Shape;806;p12"/>
          <p:cNvSpPr txBox="1"/>
          <p:nvPr/>
        </p:nvSpPr>
        <p:spPr>
          <a:xfrm>
            <a:off x="9022080" y="5637371"/>
            <a:ext cx="1950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es-CO" sz="1250" u="none" cap="none" strike="noStrike">
                <a:solidFill>
                  <a:srgbClr val="2A56C6"/>
                </a:solidFill>
                <a:latin typeface="Arial"/>
                <a:ea typeface="Arial"/>
                <a:cs typeface="Arial"/>
                <a:sym typeface="Arial"/>
              </a:rPr>
              <a:t>Sprint Planning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7" name="Google Shape;807;p12"/>
          <p:cNvSpPr/>
          <p:nvPr/>
        </p:nvSpPr>
        <p:spPr>
          <a:xfrm>
            <a:off x="11064240" y="5637371"/>
            <a:ext cx="1950720" cy="365760"/>
          </a:xfrm>
          <a:prstGeom prst="roundRect">
            <a:avLst>
              <a:gd fmla="val 50000" name="adj"/>
            </a:avLst>
          </a:prstGeom>
          <a:solidFill>
            <a:srgbClr val="E8F1F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8" name="Google Shape;808;p12"/>
          <p:cNvSpPr txBox="1"/>
          <p:nvPr/>
        </p:nvSpPr>
        <p:spPr>
          <a:xfrm>
            <a:off x="11064240" y="5637371"/>
            <a:ext cx="1950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es-CO" sz="1250" u="none" cap="none" strike="noStrike">
                <a:solidFill>
                  <a:srgbClr val="2A56C6"/>
                </a:solidFill>
                <a:latin typeface="Arial"/>
                <a:ea typeface="Arial"/>
                <a:cs typeface="Arial"/>
                <a:sym typeface="Arial"/>
              </a:rPr>
              <a:t>Daily Scrum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9" name="Google Shape;809;p12"/>
          <p:cNvSpPr/>
          <p:nvPr/>
        </p:nvSpPr>
        <p:spPr>
          <a:xfrm>
            <a:off x="9022080" y="6094571"/>
            <a:ext cx="1950720" cy="365760"/>
          </a:xfrm>
          <a:prstGeom prst="roundRect">
            <a:avLst>
              <a:gd fmla="val 50000" name="adj"/>
            </a:avLst>
          </a:prstGeom>
          <a:solidFill>
            <a:srgbClr val="E8F1F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0" name="Google Shape;810;p12"/>
          <p:cNvSpPr txBox="1"/>
          <p:nvPr/>
        </p:nvSpPr>
        <p:spPr>
          <a:xfrm>
            <a:off x="9022080" y="6094571"/>
            <a:ext cx="1950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es-CO" sz="1250" u="none" cap="none" strike="noStrike">
                <a:solidFill>
                  <a:srgbClr val="2A56C6"/>
                </a:solidFill>
                <a:latin typeface="Arial"/>
                <a:ea typeface="Arial"/>
                <a:cs typeface="Arial"/>
                <a:sym typeface="Arial"/>
              </a:rPr>
              <a:t>Sprint Review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1" name="Google Shape;811;p12"/>
          <p:cNvSpPr/>
          <p:nvPr/>
        </p:nvSpPr>
        <p:spPr>
          <a:xfrm>
            <a:off x="11064240" y="6094571"/>
            <a:ext cx="1950720" cy="365760"/>
          </a:xfrm>
          <a:prstGeom prst="roundRect">
            <a:avLst>
              <a:gd fmla="val 50000" name="adj"/>
            </a:avLst>
          </a:prstGeom>
          <a:solidFill>
            <a:srgbClr val="E8F1F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2" name="Google Shape;812;p12"/>
          <p:cNvSpPr txBox="1"/>
          <p:nvPr/>
        </p:nvSpPr>
        <p:spPr>
          <a:xfrm>
            <a:off x="11064240" y="6094571"/>
            <a:ext cx="1950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es-CO" sz="1250" u="none" cap="none" strike="noStrike">
                <a:solidFill>
                  <a:srgbClr val="2A56C6"/>
                </a:solidFill>
                <a:latin typeface="Arial"/>
                <a:ea typeface="Arial"/>
                <a:cs typeface="Arial"/>
                <a:sym typeface="Arial"/>
              </a:rPr>
              <a:t>Sprint Retrospective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3" name="Google Shape;813;p12"/>
          <p:cNvSpPr/>
          <p:nvPr/>
        </p:nvSpPr>
        <p:spPr>
          <a:xfrm>
            <a:off x="13609320" y="3717131"/>
            <a:ext cx="4541520" cy="306324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5875">
            <a:solidFill>
              <a:srgbClr val="DDD6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4" name="Google Shape;814;p12"/>
          <p:cNvSpPr/>
          <p:nvPr/>
        </p:nvSpPr>
        <p:spPr>
          <a:xfrm>
            <a:off x="13609320" y="3717131"/>
            <a:ext cx="4541520" cy="91440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15" name="Google Shape;815;p12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13929360" y="4037171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816" name="Google Shape;816;p12"/>
          <p:cNvSpPr txBox="1"/>
          <p:nvPr/>
        </p:nvSpPr>
        <p:spPr>
          <a:xfrm>
            <a:off x="14523720" y="4018884"/>
            <a:ext cx="3444240" cy="41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s-CO" sz="1900" u="none" cap="none" strike="noStrike">
                <a:solidFill>
                  <a:srgbClr val="024791"/>
                </a:solidFill>
                <a:latin typeface="Arial"/>
                <a:ea typeface="Arial"/>
                <a:cs typeface="Arial"/>
                <a:sym typeface="Arial"/>
              </a:rPr>
              <a:t>Artefactos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7" name="Google Shape;817;p12"/>
          <p:cNvSpPr txBox="1"/>
          <p:nvPr/>
        </p:nvSpPr>
        <p:spPr>
          <a:xfrm>
            <a:off x="13929360" y="4631532"/>
            <a:ext cx="39014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b="0" i="0" lang="es-CO" sz="145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Hacen visible el trabajo y el valor generado, y permiten tomar decisiones con evidencia.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8" name="Google Shape;818;p12"/>
          <p:cNvSpPr/>
          <p:nvPr/>
        </p:nvSpPr>
        <p:spPr>
          <a:xfrm>
            <a:off x="13883640" y="5637371"/>
            <a:ext cx="1950720" cy="365760"/>
          </a:xfrm>
          <a:prstGeom prst="roundRect">
            <a:avLst>
              <a:gd fmla="val 50000" name="adj"/>
            </a:avLst>
          </a:prstGeom>
          <a:solidFill>
            <a:srgbClr val="E6EE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9" name="Google Shape;819;p12"/>
          <p:cNvSpPr txBox="1"/>
          <p:nvPr/>
        </p:nvSpPr>
        <p:spPr>
          <a:xfrm>
            <a:off x="13883640" y="5637371"/>
            <a:ext cx="1950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es-CO" sz="1250" u="none" cap="none" strike="noStrike">
                <a:solidFill>
                  <a:srgbClr val="024791"/>
                </a:solidFill>
                <a:latin typeface="Arial"/>
                <a:ea typeface="Arial"/>
                <a:cs typeface="Arial"/>
                <a:sym typeface="Arial"/>
              </a:rPr>
              <a:t>Product Backlog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0" name="Google Shape;820;p12"/>
          <p:cNvSpPr/>
          <p:nvPr/>
        </p:nvSpPr>
        <p:spPr>
          <a:xfrm>
            <a:off x="15925800" y="5637371"/>
            <a:ext cx="1950720" cy="365760"/>
          </a:xfrm>
          <a:prstGeom prst="roundRect">
            <a:avLst>
              <a:gd fmla="val 50000" name="adj"/>
            </a:avLst>
          </a:prstGeom>
          <a:solidFill>
            <a:srgbClr val="E6EE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1" name="Google Shape;821;p12"/>
          <p:cNvSpPr txBox="1"/>
          <p:nvPr/>
        </p:nvSpPr>
        <p:spPr>
          <a:xfrm>
            <a:off x="15925800" y="5637371"/>
            <a:ext cx="1950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es-CO" sz="1250" u="none" cap="none" strike="noStrike">
                <a:solidFill>
                  <a:srgbClr val="024791"/>
                </a:solidFill>
                <a:latin typeface="Arial"/>
                <a:ea typeface="Arial"/>
                <a:cs typeface="Arial"/>
                <a:sym typeface="Arial"/>
              </a:rPr>
              <a:t>Sprint Backlog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2" name="Google Shape;822;p12"/>
          <p:cNvSpPr/>
          <p:nvPr/>
        </p:nvSpPr>
        <p:spPr>
          <a:xfrm>
            <a:off x="13883640" y="6094571"/>
            <a:ext cx="1950720" cy="365760"/>
          </a:xfrm>
          <a:prstGeom prst="roundRect">
            <a:avLst>
              <a:gd fmla="val 50000" name="adj"/>
            </a:avLst>
          </a:prstGeom>
          <a:solidFill>
            <a:srgbClr val="E6EE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3" name="Google Shape;823;p12"/>
          <p:cNvSpPr txBox="1"/>
          <p:nvPr/>
        </p:nvSpPr>
        <p:spPr>
          <a:xfrm>
            <a:off x="13883640" y="6094571"/>
            <a:ext cx="1950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es-CO" sz="1250" u="none" cap="none" strike="noStrike">
                <a:solidFill>
                  <a:srgbClr val="024791"/>
                </a:solidFill>
                <a:latin typeface="Arial"/>
                <a:ea typeface="Arial"/>
                <a:cs typeface="Arial"/>
                <a:sym typeface="Arial"/>
              </a:rPr>
              <a:t>Incremento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4" name="Google Shape;824;p12"/>
          <p:cNvSpPr/>
          <p:nvPr/>
        </p:nvSpPr>
        <p:spPr>
          <a:xfrm>
            <a:off x="3886200" y="7168992"/>
            <a:ext cx="14264640" cy="1170432"/>
          </a:xfrm>
          <a:prstGeom prst="roundRect">
            <a:avLst>
              <a:gd fmla="val 12000" name="adj"/>
            </a:avLst>
          </a:prstGeom>
          <a:solidFill>
            <a:srgbClr val="F1EB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5" name="Google Shape;825;p12"/>
          <p:cNvSpPr/>
          <p:nvPr/>
        </p:nvSpPr>
        <p:spPr>
          <a:xfrm>
            <a:off x="3886200" y="7168992"/>
            <a:ext cx="82296" cy="1170432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6" name="Google Shape;826;p12"/>
          <p:cNvSpPr/>
          <p:nvPr/>
        </p:nvSpPr>
        <p:spPr>
          <a:xfrm>
            <a:off x="4160520" y="7443312"/>
            <a:ext cx="603504" cy="603504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7" name="Google Shape;827;p12"/>
          <p:cNvSpPr/>
          <p:nvPr/>
        </p:nvSpPr>
        <p:spPr>
          <a:xfrm>
            <a:off x="4288536" y="757132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8" name="Google Shape;828;p12"/>
          <p:cNvSpPr txBox="1"/>
          <p:nvPr/>
        </p:nvSpPr>
        <p:spPr>
          <a:xfrm>
            <a:off x="4983480" y="7297008"/>
            <a:ext cx="1298448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s-CO" sz="16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¿Qué nos plantea?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"/>
          <p:cNvSpPr txBox="1"/>
          <p:nvPr/>
        </p:nvSpPr>
        <p:spPr>
          <a:xfrm>
            <a:off x="4983480" y="7644480"/>
            <a:ext cx="12984480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s-CO" sz="1500" u="none" cap="none" strike="noStrike">
                <a:solidFill>
                  <a:srgbClr val="3F3A48"/>
                </a:solidFill>
                <a:latin typeface="Arial"/>
                <a:ea typeface="Arial"/>
                <a:cs typeface="Arial"/>
                <a:sym typeface="Arial"/>
              </a:rPr>
              <a:t>Comprender Scrum implica reconocer las conexiones: quiénes participan, qué hacen visible, cuándo revisan los resultados y cómo utilizan lo aprendido para decidir el siguiente paso.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"/>
          <p:cNvSpPr/>
          <p:nvPr/>
        </p:nvSpPr>
        <p:spPr>
          <a:xfrm>
            <a:off x="3886200" y="8627460"/>
            <a:ext cx="3638550" cy="402336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C9B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"/>
          <p:cNvSpPr txBox="1"/>
          <p:nvPr/>
        </p:nvSpPr>
        <p:spPr>
          <a:xfrm>
            <a:off x="3886200" y="8627460"/>
            <a:ext cx="363855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s-CO" sz="1350" u="none" cap="none" strike="noStrike">
                <a:solidFill>
                  <a:srgbClr val="6B6570"/>
                </a:solidFill>
                <a:latin typeface="Arial"/>
                <a:ea typeface="Arial"/>
                <a:cs typeface="Arial"/>
                <a:sym typeface="Arial"/>
              </a:rPr>
              <a:t>Piezas aisladas</a:t>
            </a:r>
            <a:endParaRPr b="0" i="0" sz="13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"/>
          <p:cNvSpPr txBox="1"/>
          <p:nvPr/>
        </p:nvSpPr>
        <p:spPr>
          <a:xfrm>
            <a:off x="7600950" y="8627460"/>
            <a:ext cx="51435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s-CO" sz="22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≠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"/>
          <p:cNvSpPr/>
          <p:nvPr/>
        </p:nvSpPr>
        <p:spPr>
          <a:xfrm>
            <a:off x="8210550" y="8627460"/>
            <a:ext cx="3857625" cy="402336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"/>
          <p:cNvSpPr txBox="1"/>
          <p:nvPr/>
        </p:nvSpPr>
        <p:spPr>
          <a:xfrm>
            <a:off x="8210550" y="8627460"/>
            <a:ext cx="3857625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1" i="0" lang="es-CO" sz="135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Sistema articulado de valor</a:t>
            </a:r>
            <a:endParaRPr b="0" i="0" sz="13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"/>
          <p:cNvSpPr txBox="1"/>
          <p:nvPr/>
        </p:nvSpPr>
        <p:spPr>
          <a:xfrm>
            <a:off x="9334500" y="6892767"/>
            <a:ext cx="8572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1" lang="es-CO" sz="1100" u="none" cap="none" strike="noStrike">
                <a:solidFill>
                  <a:srgbClr val="6B6570"/>
                </a:solidFill>
                <a:latin typeface="Arial"/>
                <a:ea typeface="Arial"/>
                <a:cs typeface="Arial"/>
                <a:sym typeface="Arial"/>
              </a:rPr>
              <a:t>Nota. Elaboración basada en Schwaber y Sutherland (2020).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hosphor calendar-blank, regular, #ddd5e7. https://phosphoricons.com/" id="836" name="Google Shape;836;p12"/>
          <p:cNvPicPr preferRelativeResize="0"/>
          <p:nvPr/>
        </p:nvPicPr>
        <p:blipFill rotWithShape="1">
          <a:blip r:embed="rId20">
            <a:alphaModFix/>
          </a:blip>
          <a:srcRect b="0" l="0" r="0" t="0"/>
          <a:stretch/>
        </p:blipFill>
        <p:spPr>
          <a:xfrm>
            <a:off x="9067800" y="4037172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hosphor lightbulb, regular, #ddd5e7. https://phosphoricons.com/" id="837" name="Google Shape;837;p12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4288536" y="7571328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2">
            <a:hlinkClick action="ppaction://hlinksldjump" r:id="rId22"/>
          </p:cNvPr>
          <p:cNvSpPr/>
          <p:nvPr/>
        </p:nvSpPr>
        <p:spPr>
          <a:xfrm>
            <a:off x="191751" y="9336878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2">
            <a:hlinkClick action="ppaction://hlinksldjump" r:id="rId22"/>
          </p:cNvPr>
          <p:cNvSpPr/>
          <p:nvPr/>
        </p:nvSpPr>
        <p:spPr>
          <a:xfrm>
            <a:off x="266783" y="9336878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Créditos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Equipo de producción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2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Google Shape;843;p13"/>
          <p:cNvSpPr/>
          <p:nvPr/>
        </p:nvSpPr>
        <p:spPr>
          <a:xfrm>
            <a:off x="3887703" y="1371600"/>
            <a:ext cx="6452100" cy="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41"/>
              <a:buFont typeface="Arial"/>
              <a:buNone/>
            </a:pPr>
            <a:r>
              <a:rPr b="1" i="0" lang="es-CO" sz="1641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Comprueba lo aprendido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3"/>
          <p:cNvSpPr/>
          <p:nvPr/>
        </p:nvSpPr>
        <p:spPr>
          <a:xfrm>
            <a:off x="3887703" y="1810512"/>
            <a:ext cx="1408176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s-CO" sz="28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¿Cuál de las siguientes opciones describe correctamente cómo se articulan los componentes de Scrum?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3"/>
          <p:cNvSpPr/>
          <p:nvPr/>
        </p:nvSpPr>
        <p:spPr>
          <a:xfrm>
            <a:off x="3887703" y="2818210"/>
            <a:ext cx="124200" cy="14880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3"/>
          <p:cNvSpPr/>
          <p:nvPr/>
        </p:nvSpPr>
        <p:spPr>
          <a:xfrm>
            <a:off x="4111047" y="2840538"/>
            <a:ext cx="87000" cy="10410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3"/>
          <p:cNvSpPr/>
          <p:nvPr/>
        </p:nvSpPr>
        <p:spPr>
          <a:xfrm>
            <a:off x="4334386" y="2840538"/>
            <a:ext cx="87000" cy="10410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3"/>
          <p:cNvSpPr/>
          <p:nvPr/>
        </p:nvSpPr>
        <p:spPr>
          <a:xfrm>
            <a:off x="4557726" y="2840538"/>
            <a:ext cx="87000" cy="10410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3"/>
          <p:cNvSpPr/>
          <p:nvPr/>
        </p:nvSpPr>
        <p:spPr>
          <a:xfrm>
            <a:off x="4781066" y="2840538"/>
            <a:ext cx="87000" cy="10410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3"/>
          <p:cNvSpPr/>
          <p:nvPr/>
        </p:nvSpPr>
        <p:spPr>
          <a:xfrm>
            <a:off x="5004402" y="2818210"/>
            <a:ext cx="124200" cy="14880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3"/>
          <p:cNvSpPr/>
          <p:nvPr/>
        </p:nvSpPr>
        <p:spPr>
          <a:xfrm>
            <a:off x="4418886" y="3349396"/>
            <a:ext cx="13480800" cy="1041900"/>
          </a:xfrm>
          <a:prstGeom prst="roundRect">
            <a:avLst>
              <a:gd fmla="val 26829" name="adj"/>
            </a:avLst>
          </a:prstGeom>
          <a:gradFill>
            <a:gsLst>
              <a:gs pos="0">
                <a:srgbClr val="467CF1"/>
              </a:gs>
              <a:gs pos="100000">
                <a:srgbClr val="664092"/>
              </a:gs>
            </a:gsLst>
            <a:lin ang="8100000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3"/>
          <p:cNvSpPr/>
          <p:nvPr/>
        </p:nvSpPr>
        <p:spPr>
          <a:xfrm>
            <a:off x="4359786" y="3577995"/>
            <a:ext cx="13599000" cy="595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27"/>
              <a:buFont typeface="Arial"/>
              <a:buNone/>
            </a:pPr>
            <a:r>
              <a:rPr b="1" i="0" lang="es-CO" sz="1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Marco Scrum: responsabilidades, eventos y artefactos como sistema integrado.</a:t>
            </a:r>
            <a:endParaRPr b="0" i="0" sz="1295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3"/>
          <p:cNvSpPr/>
          <p:nvPr/>
        </p:nvSpPr>
        <p:spPr>
          <a:xfrm>
            <a:off x="3887703" y="4538116"/>
            <a:ext cx="144426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44"/>
              <a:buFont typeface="Arial"/>
              <a:buNone/>
            </a:pPr>
            <a:r>
              <a:rPr b="1" i="0" lang="es-CO" sz="2344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Selecciona una respuesta para comprobarla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3"/>
          <p:cNvSpPr/>
          <p:nvPr/>
        </p:nvSpPr>
        <p:spPr>
          <a:xfrm>
            <a:off x="4706616" y="5150764"/>
            <a:ext cx="12804900" cy="762000"/>
          </a:xfrm>
          <a:prstGeom prst="roundRect">
            <a:avLst>
              <a:gd fmla="val 27586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5" name="Google Shape;855;p13">
            <a:hlinkClick action="ppaction://hlinksldjump" r:id="rId3"/>
          </p:cNvPr>
          <p:cNvSpPr/>
          <p:nvPr/>
        </p:nvSpPr>
        <p:spPr>
          <a:xfrm>
            <a:off x="4706616" y="5086756"/>
            <a:ext cx="12804900" cy="762000"/>
          </a:xfrm>
          <a:prstGeom prst="roundRect">
            <a:avLst>
              <a:gd fmla="val 27586" name="adj"/>
            </a:avLst>
          </a:prstGeom>
          <a:solidFill>
            <a:srgbClr val="FFFFFF"/>
          </a:solidFill>
          <a:ln cap="flat" cmpd="sng" w="14275">
            <a:solidFill>
              <a:srgbClr val="66409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9525" lIns="274300" spcFirstLastPara="1" rIns="148825" wrap="square" tIns="595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92"/>
              <a:buFont typeface="Arial"/>
              <a:buNone/>
            </a:pPr>
            <a:r>
              <a:rPr b="1" i="0" lang="es-CO" sz="1650" u="sng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  <a:hlinkClick action="ppaction://hlinksldjump"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 · Los eventos sustituyen los artefactos cuando se necesita modificar el plan.</a:t>
            </a:r>
            <a:endParaRPr b="0" i="0" sz="1650" u="none" cap="none" strike="noStrike">
              <a:solidFill>
                <a:srgbClr val="3D21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6" name="Google Shape;856;p13"/>
          <p:cNvSpPr/>
          <p:nvPr/>
        </p:nvSpPr>
        <p:spPr>
          <a:xfrm>
            <a:off x="4706616" y="6065164"/>
            <a:ext cx="12804900" cy="762000"/>
          </a:xfrm>
          <a:prstGeom prst="roundRect">
            <a:avLst>
              <a:gd fmla="val 23529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7" name="Google Shape;857;p13">
            <a:hlinkClick action="ppaction://hlinksldjump" r:id="rId5"/>
          </p:cNvPr>
          <p:cNvSpPr/>
          <p:nvPr/>
        </p:nvSpPr>
        <p:spPr>
          <a:xfrm>
            <a:off x="4706616" y="6001156"/>
            <a:ext cx="12804900" cy="762000"/>
          </a:xfrm>
          <a:prstGeom prst="roundRect">
            <a:avLst>
              <a:gd fmla="val 23529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59525" lIns="274300" spcFirstLastPara="1" rIns="148825" wrap="square" tIns="595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92"/>
              <a:buFont typeface="Arial"/>
              <a:buNone/>
            </a:pPr>
            <a:r>
              <a:rPr b="1" i="0" lang="es-CO" sz="1650" u="sng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  <a:hlinkClick action="ppaction://hlinksldjump"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B · Las responsabilidades, eventos y artefactos funcionan de manera independiente.</a:t>
            </a:r>
            <a:endParaRPr b="0" i="0" sz="1650" u="none" cap="none" strike="noStrike">
              <a:solidFill>
                <a:srgbClr val="3D21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3"/>
          <p:cNvSpPr/>
          <p:nvPr/>
        </p:nvSpPr>
        <p:spPr>
          <a:xfrm>
            <a:off x="4706616" y="6979564"/>
            <a:ext cx="12804900" cy="1066800"/>
          </a:xfrm>
          <a:prstGeom prst="roundRect">
            <a:avLst>
              <a:gd fmla="val 27586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9" name="Google Shape;859;p13">
            <a:hlinkClick action="ppaction://hlinksldjump" r:id="rId7"/>
          </p:cNvPr>
          <p:cNvSpPr/>
          <p:nvPr/>
        </p:nvSpPr>
        <p:spPr>
          <a:xfrm>
            <a:off x="4706616" y="6915556"/>
            <a:ext cx="12804900" cy="1066800"/>
          </a:xfrm>
          <a:prstGeom prst="roundRect">
            <a:avLst>
              <a:gd fmla="val 27586" name="adj"/>
            </a:avLst>
          </a:prstGeom>
          <a:solidFill>
            <a:srgbClr val="FFFFFF"/>
          </a:solidFill>
          <a:ln cap="flat" cmpd="sng" w="14275">
            <a:solidFill>
              <a:srgbClr val="66409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9525" lIns="274300" spcFirstLastPara="1" rIns="148825" wrap="square" tIns="595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92"/>
              <a:buFont typeface="Arial"/>
              <a:buNone/>
            </a:pPr>
            <a:r>
              <a:rPr b="1" i="0" lang="es-CO" sz="1650" u="sng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  <a:hlinkClick action="ppaction://hlinksldjump" r:id="rId8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C · Las responsabilidades organizan la participación, los eventos permiten inspeccionar y adaptar, y los artefactos hacen visible el trabajo y el valor.</a:t>
            </a:r>
            <a:endParaRPr b="0" i="0" sz="1650" u="none" cap="none" strike="noStrike">
              <a:solidFill>
                <a:srgbClr val="3D21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3"/>
          <p:cNvSpPr/>
          <p:nvPr/>
        </p:nvSpPr>
        <p:spPr>
          <a:xfrm>
            <a:off x="0" y="0"/>
            <a:ext cx="3168000" cy="10934700"/>
          </a:xfrm>
          <a:prstGeom prst="rect">
            <a:avLst/>
          </a:prstGeom>
          <a:solidFill>
            <a:srgbClr val="F5F3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1" name="Google Shape;861;p13"/>
          <p:cNvSpPr/>
          <p:nvPr/>
        </p:nvSpPr>
        <p:spPr>
          <a:xfrm>
            <a:off x="3153046" y="0"/>
            <a:ext cx="15000" cy="10934700"/>
          </a:xfrm>
          <a:prstGeom prst="rect">
            <a:avLst/>
          </a:prstGeom>
          <a:solidFill>
            <a:srgbClr val="E0DA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3"/>
          <p:cNvSpPr/>
          <p:nvPr/>
        </p:nvSpPr>
        <p:spPr>
          <a:xfrm>
            <a:off x="191751" y="1550000"/>
            <a:ext cx="2784600" cy="14100"/>
          </a:xfrm>
          <a:prstGeom prst="rect">
            <a:avLst/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3" name="Google Shape;863;p13"/>
          <p:cNvSpPr/>
          <p:nvPr/>
        </p:nvSpPr>
        <p:spPr>
          <a:xfrm>
            <a:off x="191751" y="1730000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3">
            <a:hlinkClick action="ppaction://hlinksldjump" r:id="rId9"/>
          </p:cNvPr>
          <p:cNvSpPr/>
          <p:nvPr/>
        </p:nvSpPr>
        <p:spPr>
          <a:xfrm>
            <a:off x="266783" y="1730000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Estructura Scrum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5" name="Google Shape;865;p13">
            <a:hlinkClick action="ppaction://hlinksldjump" r:id="rId10"/>
          </p:cNvPr>
          <p:cNvSpPr/>
          <p:nvPr/>
        </p:nvSpPr>
        <p:spPr>
          <a:xfrm>
            <a:off x="191751" y="2997813"/>
            <a:ext cx="75000" cy="1117697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3">
            <a:hlinkClick action="ppaction://hlinksldjump" r:id="rId11"/>
          </p:cNvPr>
          <p:cNvSpPr/>
          <p:nvPr/>
        </p:nvSpPr>
        <p:spPr>
          <a:xfrm>
            <a:off x="266783" y="2997813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0DAE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Responsabilidades del Scrum Team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7" name="Google Shape;867;p13"/>
          <p:cNvSpPr/>
          <p:nvPr/>
        </p:nvSpPr>
        <p:spPr>
          <a:xfrm>
            <a:off x="191751" y="4265626"/>
            <a:ext cx="75000" cy="1117697"/>
          </a:xfrm>
          <a:prstGeom prst="rect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3">
            <a:hlinkClick action="ppaction://hlinksldjump" r:id="rId12"/>
          </p:cNvPr>
          <p:cNvSpPr/>
          <p:nvPr/>
        </p:nvSpPr>
        <p:spPr>
          <a:xfrm>
            <a:off x="266783" y="4265626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1EAF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Eventos del Scrum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9" name="Google Shape;869;p13"/>
          <p:cNvSpPr/>
          <p:nvPr/>
        </p:nvSpPr>
        <p:spPr>
          <a:xfrm>
            <a:off x="191751" y="5533439"/>
            <a:ext cx="75000" cy="1117697"/>
          </a:xfrm>
          <a:prstGeom prst="rect">
            <a:avLst/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0" name="Google Shape;870;p13">
            <a:hlinkClick action="ppaction://hlinksldjump" r:id="rId13"/>
          </p:cNvPr>
          <p:cNvSpPr/>
          <p:nvPr/>
        </p:nvSpPr>
        <p:spPr>
          <a:xfrm>
            <a:off x="266783" y="5533439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FDBE4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Artefactos y compromisos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1" name="Google Shape;871;p13"/>
          <p:cNvSpPr/>
          <p:nvPr/>
        </p:nvSpPr>
        <p:spPr>
          <a:xfrm>
            <a:off x="191751" y="6801252"/>
            <a:ext cx="75000" cy="1117697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3">
            <a:hlinkClick action="ppaction://hlinksldjump" r:id="rId14"/>
          </p:cNvPr>
          <p:cNvSpPr/>
          <p:nvPr/>
        </p:nvSpPr>
        <p:spPr>
          <a:xfrm>
            <a:off x="266783" y="6801252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6E1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Integración y aprendizaje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3" name="Google Shape;873;p13"/>
          <p:cNvSpPr/>
          <p:nvPr/>
        </p:nvSpPr>
        <p:spPr>
          <a:xfrm>
            <a:off x="191751" y="8069065"/>
            <a:ext cx="75000" cy="1117697"/>
          </a:xfrm>
          <a:prstGeom prst="rect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3">
            <a:hlinkClick action="ppaction://hlinksldjump" r:id="rId15"/>
          </p:cNvPr>
          <p:cNvSpPr/>
          <p:nvPr/>
        </p:nvSpPr>
        <p:spPr>
          <a:xfrm>
            <a:off x="266783" y="8069065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FD900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Comprueba lo aprendido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5" name="Google Shape;875;p13"/>
          <p:cNvSpPr/>
          <p:nvPr/>
        </p:nvSpPr>
        <p:spPr>
          <a:xfrm>
            <a:off x="4591655" y="9872067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6" name="Google Shape;876;p13">
            <a:hlinkClick action="ppaction://hlinksldjump" r:id="rId16"/>
          </p:cNvPr>
          <p:cNvSpPr/>
          <p:nvPr/>
        </p:nvSpPr>
        <p:spPr>
          <a:xfrm>
            <a:off x="4591655" y="9812536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4275">
            <a:solidFill>
              <a:srgbClr val="66409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sng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Anterior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7" name="Google Shape;877;p13"/>
          <p:cNvSpPr/>
          <p:nvPr/>
        </p:nvSpPr>
        <p:spPr>
          <a:xfrm>
            <a:off x="6378374" y="9872067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C8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8" name="Google Shape;878;p13">
            <a:hlinkClick action="ppaction://hlinksldjump" r:id="rId17"/>
          </p:cNvPr>
          <p:cNvSpPr/>
          <p:nvPr/>
        </p:nvSpPr>
        <p:spPr>
          <a:xfrm>
            <a:off x="6378374" y="9812536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sng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Siguiente</a:t>
            </a:r>
            <a:endParaRPr b="1" i="0" sz="1578" u="sng" cap="none" strike="noStrike">
              <a:solidFill>
                <a:srgbClr val="663D8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9" name="Google Shape;879;p13">
            <a:hlinkClick action="ppaction://hlinksldjump" r:id="rId18"/>
          </p:cNvPr>
          <p:cNvSpPr/>
          <p:nvPr/>
        </p:nvSpPr>
        <p:spPr>
          <a:xfrm>
            <a:off x="191792" y="399700"/>
            <a:ext cx="75000" cy="984000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0" name="Google Shape;880;p13">
            <a:hlinkClick action="ppaction://hlinksldjump" r:id="rId19"/>
          </p:cNvPr>
          <p:cNvSpPr/>
          <p:nvPr/>
        </p:nvSpPr>
        <p:spPr>
          <a:xfrm>
            <a:off x="266825" y="399900"/>
            <a:ext cx="2709300" cy="984000"/>
          </a:xfrm>
          <a:prstGeom prst="roundRect">
            <a:avLst>
              <a:gd fmla="val 14000" name="adj"/>
            </a:avLst>
          </a:prstGeom>
          <a:solidFill>
            <a:srgbClr val="D1E0F2"/>
          </a:solidFill>
          <a:ln>
            <a:noFill/>
          </a:ln>
        </p:spPr>
        <p:txBody>
          <a:bodyPr anchorCtr="0" anchor="ctr" bIns="40000" lIns="160000" spcFirstLastPara="1" rIns="100000" wrap="square" tIns="4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1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81" name="Google Shape;881;p13" title="correcciones sapiencia.png"/>
          <p:cNvPicPr preferRelativeResize="0"/>
          <p:nvPr/>
        </p:nvPicPr>
        <p:blipFill rotWithShape="1">
          <a:blip r:embed="rId20">
            <a:alphaModFix/>
          </a:blip>
          <a:srcRect b="0" l="0" r="0" t="0"/>
          <a:stretch/>
        </p:blipFill>
        <p:spPr>
          <a:xfrm>
            <a:off x="266783" y="600314"/>
            <a:ext cx="486192" cy="486192"/>
          </a:xfrm>
          <a:prstGeom prst="rect">
            <a:avLst/>
          </a:prstGeom>
          <a:noFill/>
          <a:ln>
            <a:noFill/>
          </a:ln>
        </p:spPr>
      </p:pic>
      <p:sp>
        <p:nvSpPr>
          <p:cNvPr id="882" name="Google Shape;882;p13">
            <a:hlinkClick action="ppaction://hlinksldjump" r:id="rId21"/>
          </p:cNvPr>
          <p:cNvSpPr txBox="1"/>
          <p:nvPr/>
        </p:nvSpPr>
        <p:spPr>
          <a:xfrm>
            <a:off x="939099" y="660838"/>
            <a:ext cx="1541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Scrum por dentro</a:t>
            </a:r>
            <a:endParaRPr b="1" i="0" sz="1200" u="none" cap="none" strike="noStrike">
              <a:solidFill>
                <a:srgbClr val="3D21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1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Inicio</a:t>
            </a:r>
            <a:endParaRPr b="1" i="0" sz="1200" u="none" cap="none" strike="noStrike">
              <a:solidFill>
                <a:srgbClr val="A719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3" name="Google Shape;883;p13"/>
          <p:cNvSpPr/>
          <p:nvPr/>
        </p:nvSpPr>
        <p:spPr>
          <a:xfrm>
            <a:off x="4709160" y="8198764"/>
            <a:ext cx="12801600" cy="609600"/>
          </a:xfrm>
          <a:prstGeom prst="roundRect">
            <a:avLst>
              <a:gd fmla="val 30000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4" name="Google Shape;884;p13">
            <a:hlinkClick action="ppaction://hlinksldjump" r:id="rId22"/>
          </p:cNvPr>
          <p:cNvSpPr/>
          <p:nvPr/>
        </p:nvSpPr>
        <p:spPr>
          <a:xfrm>
            <a:off x="4709160" y="8134756"/>
            <a:ext cx="12801600" cy="609600"/>
          </a:xfrm>
          <a:prstGeom prst="roundRect">
            <a:avLst>
              <a:gd fmla="val 30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45700" lIns="2743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1" i="0" lang="es-CO" sz="1650" u="sng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D · Los artefactos determinan funciones y establecen cuándo realizar los eventos.</a:t>
            </a:r>
            <a:endParaRPr b="0" i="0" sz="1650" u="sng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2">
            <a:hlinkClick action="ppaction://hlinksldjump" r:id="rId23"/>
          </p:cNvPr>
          <p:cNvSpPr/>
          <p:nvPr/>
        </p:nvSpPr>
        <p:spPr>
          <a:xfrm>
            <a:off x="191751" y="9336878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2">
            <a:hlinkClick action="ppaction://hlinksldjump" r:id="rId23"/>
          </p:cNvPr>
          <p:cNvSpPr/>
          <p:nvPr/>
        </p:nvSpPr>
        <p:spPr>
          <a:xfrm>
            <a:off x="266783" y="9336878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Créditos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Equipo de producción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9" name="Shape 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" name="Google Shape;890;p14"/>
          <p:cNvSpPr/>
          <p:nvPr/>
        </p:nvSpPr>
        <p:spPr>
          <a:xfrm>
            <a:off x="4359199" y="4276750"/>
            <a:ext cx="1861200" cy="187500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1" name="Google Shape;891;p14"/>
          <p:cNvSpPr/>
          <p:nvPr/>
        </p:nvSpPr>
        <p:spPr>
          <a:xfrm>
            <a:off x="3887703" y="1984772"/>
            <a:ext cx="12531900" cy="922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s-CO" sz="36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Respuesta correcta</a:t>
            </a:r>
            <a:endParaRPr b="1" i="0" sz="3600" u="none" cap="none" strike="noStrike">
              <a:solidFill>
                <a:srgbClr val="3D21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2" name="Google Shape;892;p14"/>
          <p:cNvSpPr/>
          <p:nvPr/>
        </p:nvSpPr>
        <p:spPr>
          <a:xfrm>
            <a:off x="3887703" y="3115866"/>
            <a:ext cx="124200" cy="14880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3" name="Google Shape;893;p14"/>
          <p:cNvSpPr/>
          <p:nvPr/>
        </p:nvSpPr>
        <p:spPr>
          <a:xfrm>
            <a:off x="4111047" y="3138194"/>
            <a:ext cx="87000" cy="10410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4" name="Google Shape;894;p14"/>
          <p:cNvSpPr/>
          <p:nvPr/>
        </p:nvSpPr>
        <p:spPr>
          <a:xfrm>
            <a:off x="4334386" y="3138194"/>
            <a:ext cx="87000" cy="10410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5" name="Google Shape;895;p14"/>
          <p:cNvSpPr/>
          <p:nvPr/>
        </p:nvSpPr>
        <p:spPr>
          <a:xfrm>
            <a:off x="4557726" y="3138194"/>
            <a:ext cx="87000" cy="10410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6" name="Google Shape;896;p14"/>
          <p:cNvSpPr/>
          <p:nvPr/>
        </p:nvSpPr>
        <p:spPr>
          <a:xfrm>
            <a:off x="4781066" y="3138194"/>
            <a:ext cx="87000" cy="10410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7" name="Google Shape;897;p14"/>
          <p:cNvSpPr/>
          <p:nvPr/>
        </p:nvSpPr>
        <p:spPr>
          <a:xfrm>
            <a:off x="5004402" y="3115866"/>
            <a:ext cx="124200" cy="14880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8" name="Google Shape;898;p14"/>
          <p:cNvSpPr/>
          <p:nvPr/>
        </p:nvSpPr>
        <p:spPr>
          <a:xfrm>
            <a:off x="4359199" y="4663600"/>
            <a:ext cx="1861200" cy="11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824"/>
              <a:buFont typeface="Arial"/>
              <a:buNone/>
            </a:pPr>
            <a:r>
              <a:rPr b="1" i="0" lang="es-CO" sz="7824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9" name="Google Shape;899;p14"/>
          <p:cNvSpPr/>
          <p:nvPr/>
        </p:nvSpPr>
        <p:spPr>
          <a:xfrm>
            <a:off x="6840752" y="3473054"/>
            <a:ext cx="10224000" cy="8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s-CO" sz="36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¡Muy bien!</a:t>
            </a:r>
            <a:endParaRPr b="1" i="0" sz="3600" u="none" cap="none" strike="noStrike">
              <a:solidFill>
                <a:srgbClr val="3D21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0" name="Google Shape;900;p14"/>
          <p:cNvSpPr/>
          <p:nvPr/>
        </p:nvSpPr>
        <p:spPr>
          <a:xfrm>
            <a:off x="6840752" y="4574382"/>
            <a:ext cx="10224000" cy="20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95"/>
              <a:buFont typeface="Arial"/>
              <a:buNone/>
            </a:pPr>
            <a:r>
              <a:rPr b="0" i="0" lang="es-CO" sz="21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En Scrum, responsabilidades, eventos y artefactos se relacionan como parte de un mismo sistema para hacer visible el trabajo, inspeccionar los resultados y favorecer la adaptación.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1" name="Google Shape;901;p14"/>
          <p:cNvSpPr/>
          <p:nvPr/>
        </p:nvSpPr>
        <p:spPr>
          <a:xfrm>
            <a:off x="8602657" y="7932440"/>
            <a:ext cx="5012700" cy="714300"/>
          </a:xfrm>
          <a:prstGeom prst="roundRect">
            <a:avLst>
              <a:gd fmla="val 33333" name="adj"/>
            </a:avLst>
          </a:prstGeom>
          <a:solidFill>
            <a:srgbClr val="C8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2" name="Google Shape;902;p14">
            <a:hlinkClick action="ppaction://hlinksldjump" r:id="rId3"/>
          </p:cNvPr>
          <p:cNvSpPr/>
          <p:nvPr/>
        </p:nvSpPr>
        <p:spPr>
          <a:xfrm>
            <a:off x="8602657" y="7872909"/>
            <a:ext cx="5012700" cy="714300"/>
          </a:xfrm>
          <a:prstGeom prst="roundRect">
            <a:avLst>
              <a:gd fmla="val 33333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92"/>
              <a:buFont typeface="Arial"/>
              <a:buNone/>
            </a:pPr>
            <a:r>
              <a:rPr b="1" i="0" lang="es-CO" sz="1992" u="sng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Continuar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3" name="Google Shape;903;p14"/>
          <p:cNvSpPr/>
          <p:nvPr/>
        </p:nvSpPr>
        <p:spPr>
          <a:xfrm>
            <a:off x="0" y="0"/>
            <a:ext cx="3168000" cy="10934700"/>
          </a:xfrm>
          <a:prstGeom prst="rect">
            <a:avLst/>
          </a:prstGeom>
          <a:solidFill>
            <a:srgbClr val="F5F3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4" name="Google Shape;904;p14"/>
          <p:cNvSpPr/>
          <p:nvPr/>
        </p:nvSpPr>
        <p:spPr>
          <a:xfrm>
            <a:off x="3153046" y="0"/>
            <a:ext cx="15000" cy="10934700"/>
          </a:xfrm>
          <a:prstGeom prst="rect">
            <a:avLst/>
          </a:prstGeom>
          <a:solidFill>
            <a:srgbClr val="E0DA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5" name="Google Shape;905;p14"/>
          <p:cNvSpPr/>
          <p:nvPr/>
        </p:nvSpPr>
        <p:spPr>
          <a:xfrm>
            <a:off x="191751" y="1550000"/>
            <a:ext cx="2784600" cy="14100"/>
          </a:xfrm>
          <a:prstGeom prst="rect">
            <a:avLst/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6" name="Google Shape;906;p14"/>
          <p:cNvSpPr/>
          <p:nvPr/>
        </p:nvSpPr>
        <p:spPr>
          <a:xfrm>
            <a:off x="191751" y="1730000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7" name="Google Shape;907;p14">
            <a:hlinkClick action="ppaction://hlinksldjump" r:id="rId4"/>
          </p:cNvPr>
          <p:cNvSpPr/>
          <p:nvPr/>
        </p:nvSpPr>
        <p:spPr>
          <a:xfrm>
            <a:off x="266783" y="1730000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Estructura Scrum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8" name="Google Shape;908;p14">
            <a:hlinkClick action="ppaction://hlinksldjump" r:id="rId5"/>
          </p:cNvPr>
          <p:cNvSpPr/>
          <p:nvPr/>
        </p:nvSpPr>
        <p:spPr>
          <a:xfrm>
            <a:off x="191751" y="2997813"/>
            <a:ext cx="75000" cy="1117697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9" name="Google Shape;909;p14">
            <a:hlinkClick action="ppaction://hlinksldjump" r:id="rId6"/>
          </p:cNvPr>
          <p:cNvSpPr/>
          <p:nvPr/>
        </p:nvSpPr>
        <p:spPr>
          <a:xfrm>
            <a:off x="266783" y="2997813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0DAE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Responsabilidades del Scrum Team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0" name="Google Shape;910;p14"/>
          <p:cNvSpPr/>
          <p:nvPr/>
        </p:nvSpPr>
        <p:spPr>
          <a:xfrm>
            <a:off x="191751" y="4265626"/>
            <a:ext cx="75000" cy="1117697"/>
          </a:xfrm>
          <a:prstGeom prst="rect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1" name="Google Shape;911;p14">
            <a:hlinkClick action="ppaction://hlinksldjump" r:id="rId7"/>
          </p:cNvPr>
          <p:cNvSpPr/>
          <p:nvPr/>
        </p:nvSpPr>
        <p:spPr>
          <a:xfrm>
            <a:off x="266783" y="4265626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1EAF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Eventos del Scrum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2" name="Google Shape;912;p14"/>
          <p:cNvSpPr/>
          <p:nvPr/>
        </p:nvSpPr>
        <p:spPr>
          <a:xfrm>
            <a:off x="191751" y="5533439"/>
            <a:ext cx="75000" cy="1117697"/>
          </a:xfrm>
          <a:prstGeom prst="rect">
            <a:avLst/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3" name="Google Shape;913;p14">
            <a:hlinkClick action="ppaction://hlinksldjump" r:id="rId8"/>
          </p:cNvPr>
          <p:cNvSpPr/>
          <p:nvPr/>
        </p:nvSpPr>
        <p:spPr>
          <a:xfrm>
            <a:off x="266783" y="5533439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FDBE4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Artefactos y compromisos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4" name="Google Shape;914;p14"/>
          <p:cNvSpPr/>
          <p:nvPr/>
        </p:nvSpPr>
        <p:spPr>
          <a:xfrm>
            <a:off x="191751" y="6801252"/>
            <a:ext cx="75000" cy="1117697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5" name="Google Shape;915;p14">
            <a:hlinkClick action="ppaction://hlinksldjump" r:id="rId9"/>
          </p:cNvPr>
          <p:cNvSpPr/>
          <p:nvPr/>
        </p:nvSpPr>
        <p:spPr>
          <a:xfrm>
            <a:off x="266783" y="6801252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6E1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Integración y aprendizaje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6" name="Google Shape;916;p14"/>
          <p:cNvSpPr/>
          <p:nvPr/>
        </p:nvSpPr>
        <p:spPr>
          <a:xfrm>
            <a:off x="191751" y="8069065"/>
            <a:ext cx="75000" cy="1117697"/>
          </a:xfrm>
          <a:prstGeom prst="rect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7" name="Google Shape;917;p14">
            <a:hlinkClick action="ppaction://hlinksldjump" r:id="rId10"/>
          </p:cNvPr>
          <p:cNvSpPr/>
          <p:nvPr/>
        </p:nvSpPr>
        <p:spPr>
          <a:xfrm>
            <a:off x="266783" y="8069065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FD900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Comprueba lo aprendido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8" name="Google Shape;918;p14">
            <a:hlinkClick action="ppaction://hlinksldjump" r:id="rId11"/>
          </p:cNvPr>
          <p:cNvSpPr/>
          <p:nvPr/>
        </p:nvSpPr>
        <p:spPr>
          <a:xfrm>
            <a:off x="4591655" y="9872067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s-CO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Anterior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9" name="Google Shape;919;p14">
            <a:hlinkClick action="ppaction://hlinksldjump" r:id="rId12"/>
          </p:cNvPr>
          <p:cNvSpPr/>
          <p:nvPr/>
        </p:nvSpPr>
        <p:spPr>
          <a:xfrm>
            <a:off x="4591655" y="9812536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4275">
            <a:solidFill>
              <a:srgbClr val="66409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action="ppaction://hlinksldjump" r:id="rId13"/>
              </a:rPr>
              <a:t>Anterior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0" name="Google Shape;920;p14">
            <a:hlinkClick action="ppaction://hlinksldjump" r:id="rId20"/>
          </p:cNvPr>
          <p:cNvSpPr/>
          <p:nvPr/>
        </p:nvSpPr>
        <p:spPr>
          <a:xfrm>
            <a:off x="6378374" y="9872067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C8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s-CO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Siguiente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1" name="Google Shape;921;p14">
            <a:hlinkClick action="ppaction://hlinksldjump" r:id="rId20"/>
          </p:cNvPr>
          <p:cNvSpPr/>
          <p:nvPr/>
        </p:nvSpPr>
        <p:spPr>
          <a:xfrm>
            <a:off x="6378374" y="9812536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sng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Siguiente</a:t>
            </a:r>
            <a:endParaRPr b="1" i="0" sz="1578" u="sng" cap="none" strike="noStrike">
              <a:solidFill>
                <a:srgbClr val="663D8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2" name="Google Shape;922;p14">
            <a:hlinkClick action="ppaction://hlinksldjump" r:id="rId16"/>
          </p:cNvPr>
          <p:cNvSpPr/>
          <p:nvPr/>
        </p:nvSpPr>
        <p:spPr>
          <a:xfrm>
            <a:off x="191792" y="399700"/>
            <a:ext cx="75000" cy="984000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3" name="Google Shape;923;p14">
            <a:hlinkClick action="ppaction://hlinksldjump" r:id="rId17"/>
          </p:cNvPr>
          <p:cNvSpPr/>
          <p:nvPr/>
        </p:nvSpPr>
        <p:spPr>
          <a:xfrm>
            <a:off x="266825" y="399900"/>
            <a:ext cx="2709300" cy="984000"/>
          </a:xfrm>
          <a:prstGeom prst="roundRect">
            <a:avLst>
              <a:gd fmla="val 14000" name="adj"/>
            </a:avLst>
          </a:prstGeom>
          <a:solidFill>
            <a:srgbClr val="D1E0F2"/>
          </a:solidFill>
          <a:ln>
            <a:noFill/>
          </a:ln>
        </p:spPr>
        <p:txBody>
          <a:bodyPr anchorCtr="0" anchor="ctr" bIns="40000" lIns="160000" spcFirstLastPara="1" rIns="100000" wrap="square" tIns="4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1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4" name="Google Shape;924;p14" title="correcciones sapiencia.png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266783" y="600314"/>
            <a:ext cx="486192" cy="486192"/>
          </a:xfrm>
          <a:prstGeom prst="rect">
            <a:avLst/>
          </a:prstGeom>
          <a:noFill/>
          <a:ln>
            <a:noFill/>
          </a:ln>
        </p:spPr>
      </p:pic>
      <p:sp>
        <p:nvSpPr>
          <p:cNvPr id="925" name="Google Shape;925;p14">
            <a:hlinkClick action="ppaction://hlinksldjump" r:id="rId19"/>
          </p:cNvPr>
          <p:cNvSpPr txBox="1"/>
          <p:nvPr/>
        </p:nvSpPr>
        <p:spPr>
          <a:xfrm>
            <a:off x="939099" y="660838"/>
            <a:ext cx="1541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Scrum por dentro</a:t>
            </a:r>
            <a:endParaRPr b="1" i="0" sz="1200" u="none" cap="none" strike="noStrike">
              <a:solidFill>
                <a:srgbClr val="3D21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1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Inicio</a:t>
            </a:r>
            <a:endParaRPr b="1" i="0" sz="1200" u="none" cap="none" strike="noStrike">
              <a:solidFill>
                <a:srgbClr val="A719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2">
            <a:hlinkClick action="ppaction://hlinksldjump" r:id="rId20"/>
          </p:cNvPr>
          <p:cNvSpPr/>
          <p:nvPr/>
        </p:nvSpPr>
        <p:spPr>
          <a:xfrm>
            <a:off x="191751" y="9336878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2">
            <a:hlinkClick action="ppaction://hlinksldjump" r:id="rId20"/>
          </p:cNvPr>
          <p:cNvSpPr/>
          <p:nvPr/>
        </p:nvSpPr>
        <p:spPr>
          <a:xfrm>
            <a:off x="266783" y="9336878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Créditos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Equipo de producción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0" name="Shape 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Google Shape;931;p15"/>
          <p:cNvSpPr/>
          <p:nvPr/>
        </p:nvSpPr>
        <p:spPr>
          <a:xfrm>
            <a:off x="3887703" y="1478756"/>
            <a:ext cx="6452100" cy="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41"/>
              <a:buFont typeface="Arial"/>
              <a:buNone/>
            </a:pPr>
            <a:r>
              <a:rPr b="1" i="0" lang="es-CO" sz="1641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Retroalimentación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2" name="Google Shape;932;p15"/>
          <p:cNvSpPr/>
          <p:nvPr/>
        </p:nvSpPr>
        <p:spPr>
          <a:xfrm>
            <a:off x="3887703" y="1984772"/>
            <a:ext cx="12531900" cy="922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s-CO" sz="36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Respuesta a revisar</a:t>
            </a:r>
            <a:endParaRPr b="1" i="0" sz="3600" u="none" cap="none" strike="noStrike">
              <a:solidFill>
                <a:srgbClr val="3D21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3" name="Google Shape;933;p15"/>
          <p:cNvSpPr/>
          <p:nvPr/>
        </p:nvSpPr>
        <p:spPr>
          <a:xfrm>
            <a:off x="3887703" y="2826942"/>
            <a:ext cx="124200" cy="14880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4" name="Google Shape;934;p15"/>
          <p:cNvSpPr/>
          <p:nvPr/>
        </p:nvSpPr>
        <p:spPr>
          <a:xfrm>
            <a:off x="4111047" y="2849270"/>
            <a:ext cx="87000" cy="10410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5" name="Google Shape;935;p15"/>
          <p:cNvSpPr/>
          <p:nvPr/>
        </p:nvSpPr>
        <p:spPr>
          <a:xfrm>
            <a:off x="4334386" y="2849270"/>
            <a:ext cx="87000" cy="10410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6" name="Google Shape;936;p15"/>
          <p:cNvSpPr/>
          <p:nvPr/>
        </p:nvSpPr>
        <p:spPr>
          <a:xfrm>
            <a:off x="4557726" y="2849270"/>
            <a:ext cx="87000" cy="10410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7" name="Google Shape;937;p15"/>
          <p:cNvSpPr/>
          <p:nvPr/>
        </p:nvSpPr>
        <p:spPr>
          <a:xfrm>
            <a:off x="4781066" y="2849270"/>
            <a:ext cx="87000" cy="10410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8" name="Google Shape;938;p15"/>
          <p:cNvSpPr/>
          <p:nvPr/>
        </p:nvSpPr>
        <p:spPr>
          <a:xfrm>
            <a:off x="5004402" y="2826942"/>
            <a:ext cx="124200" cy="14880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9" name="Google Shape;939;p15"/>
          <p:cNvSpPr/>
          <p:nvPr/>
        </p:nvSpPr>
        <p:spPr>
          <a:xfrm>
            <a:off x="4359199" y="3996650"/>
            <a:ext cx="1861200" cy="1875000"/>
          </a:xfrm>
          <a:prstGeom prst="ellipse">
            <a:avLst/>
          </a:prstGeom>
          <a:solidFill>
            <a:srgbClr val="F1EB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0" name="Google Shape;940;p15"/>
          <p:cNvSpPr/>
          <p:nvPr/>
        </p:nvSpPr>
        <p:spPr>
          <a:xfrm>
            <a:off x="4359199" y="4413200"/>
            <a:ext cx="1861200" cy="104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836"/>
              <a:buFont typeface="Arial"/>
              <a:buNone/>
            </a:pPr>
            <a:r>
              <a:rPr b="1" i="0" lang="es-CO" sz="6836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↺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1" name="Google Shape;941;p15"/>
          <p:cNvSpPr/>
          <p:nvPr/>
        </p:nvSpPr>
        <p:spPr>
          <a:xfrm>
            <a:off x="6840752" y="3246438"/>
            <a:ext cx="10224000" cy="8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s-CO" sz="36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Revisemos nuevamente</a:t>
            </a:r>
            <a:endParaRPr b="0" i="0" sz="3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2" name="Google Shape;942;p15"/>
          <p:cNvSpPr/>
          <p:nvPr/>
        </p:nvSpPr>
        <p:spPr>
          <a:xfrm>
            <a:off x="6840752" y="4347766"/>
            <a:ext cx="10224000" cy="20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95"/>
              <a:buFont typeface="Arial"/>
              <a:buNone/>
            </a:pPr>
            <a:r>
              <a:rPr b="0" i="0" lang="es-CO" sz="21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Revisemos nuevamente la presentación. Los componentes de Scrum no funcionan de manera aislada ni se sustituyen entre sí. Identifiquemos qué función cumplen las responsabilidades, los eventos y los artefactos dentro del marco de trabajo.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3" name="Google Shape;943;p15"/>
          <p:cNvSpPr/>
          <p:nvPr/>
        </p:nvSpPr>
        <p:spPr>
          <a:xfrm>
            <a:off x="8602657" y="7807324"/>
            <a:ext cx="5012700" cy="714300"/>
          </a:xfrm>
          <a:prstGeom prst="roundRect">
            <a:avLst>
              <a:gd fmla="val 33333" name="adj"/>
            </a:avLst>
          </a:prstGeom>
          <a:solidFill>
            <a:srgbClr val="C8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4" name="Google Shape;944;p15">
            <a:hlinkClick action="ppaction://hlinksldjump" r:id="rId3"/>
          </p:cNvPr>
          <p:cNvSpPr/>
          <p:nvPr/>
        </p:nvSpPr>
        <p:spPr>
          <a:xfrm>
            <a:off x="8602657" y="7747793"/>
            <a:ext cx="5012700" cy="714300"/>
          </a:xfrm>
          <a:prstGeom prst="roundRect">
            <a:avLst>
              <a:gd fmla="val 33333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92"/>
              <a:buFont typeface="Arial"/>
              <a:buNone/>
            </a:pPr>
            <a:r>
              <a:rPr b="1" i="0" lang="es-CO" sz="1992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action="ppaction://hlinksldjump" r:id="rId4"/>
              </a:rPr>
              <a:t>Volver a intentar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5" name="Google Shape;945;p15"/>
          <p:cNvSpPr/>
          <p:nvPr/>
        </p:nvSpPr>
        <p:spPr>
          <a:xfrm>
            <a:off x="0" y="0"/>
            <a:ext cx="3168000" cy="10934700"/>
          </a:xfrm>
          <a:prstGeom prst="rect">
            <a:avLst/>
          </a:prstGeom>
          <a:solidFill>
            <a:srgbClr val="F5F3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6" name="Google Shape;946;p15"/>
          <p:cNvSpPr/>
          <p:nvPr/>
        </p:nvSpPr>
        <p:spPr>
          <a:xfrm>
            <a:off x="3153046" y="0"/>
            <a:ext cx="15000" cy="10934700"/>
          </a:xfrm>
          <a:prstGeom prst="rect">
            <a:avLst/>
          </a:prstGeom>
          <a:solidFill>
            <a:srgbClr val="E0DA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7" name="Google Shape;947;p15"/>
          <p:cNvSpPr/>
          <p:nvPr/>
        </p:nvSpPr>
        <p:spPr>
          <a:xfrm>
            <a:off x="191751" y="1550000"/>
            <a:ext cx="2784600" cy="14100"/>
          </a:xfrm>
          <a:prstGeom prst="rect">
            <a:avLst/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8" name="Google Shape;948;p15"/>
          <p:cNvSpPr/>
          <p:nvPr/>
        </p:nvSpPr>
        <p:spPr>
          <a:xfrm>
            <a:off x="191751" y="1730000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9" name="Google Shape;949;p15">
            <a:hlinkClick action="ppaction://hlinksldjump" r:id="rId5"/>
          </p:cNvPr>
          <p:cNvSpPr/>
          <p:nvPr/>
        </p:nvSpPr>
        <p:spPr>
          <a:xfrm>
            <a:off x="266783" y="1730000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Estructura Scrum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0" name="Google Shape;950;p15">
            <a:hlinkClick action="ppaction://hlinksldjump" r:id="rId6"/>
          </p:cNvPr>
          <p:cNvSpPr/>
          <p:nvPr/>
        </p:nvSpPr>
        <p:spPr>
          <a:xfrm>
            <a:off x="191751" y="2997813"/>
            <a:ext cx="75000" cy="1117697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1" name="Google Shape;951;p15">
            <a:hlinkClick action="ppaction://hlinksldjump" r:id="rId7"/>
          </p:cNvPr>
          <p:cNvSpPr/>
          <p:nvPr/>
        </p:nvSpPr>
        <p:spPr>
          <a:xfrm>
            <a:off x="266783" y="2997813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0DAE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Responsabilidades del Scrum Team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2" name="Google Shape;952;p15"/>
          <p:cNvSpPr/>
          <p:nvPr/>
        </p:nvSpPr>
        <p:spPr>
          <a:xfrm>
            <a:off x="191751" y="4265626"/>
            <a:ext cx="75000" cy="1117697"/>
          </a:xfrm>
          <a:prstGeom prst="rect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3" name="Google Shape;953;p15">
            <a:hlinkClick action="ppaction://hlinksldjump" r:id="rId8"/>
          </p:cNvPr>
          <p:cNvSpPr/>
          <p:nvPr/>
        </p:nvSpPr>
        <p:spPr>
          <a:xfrm>
            <a:off x="266783" y="4265626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1EAF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Eventos del Scrum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4" name="Google Shape;954;p15"/>
          <p:cNvSpPr/>
          <p:nvPr/>
        </p:nvSpPr>
        <p:spPr>
          <a:xfrm>
            <a:off x="191751" y="5533439"/>
            <a:ext cx="75000" cy="1117697"/>
          </a:xfrm>
          <a:prstGeom prst="rect">
            <a:avLst/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5" name="Google Shape;955;p15">
            <a:hlinkClick action="ppaction://hlinksldjump" r:id="rId9"/>
          </p:cNvPr>
          <p:cNvSpPr/>
          <p:nvPr/>
        </p:nvSpPr>
        <p:spPr>
          <a:xfrm>
            <a:off x="266783" y="5533439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FDBE4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Artefactos y compromisos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6" name="Google Shape;956;p15"/>
          <p:cNvSpPr/>
          <p:nvPr/>
        </p:nvSpPr>
        <p:spPr>
          <a:xfrm>
            <a:off x="191751" y="6801252"/>
            <a:ext cx="75000" cy="1117697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7" name="Google Shape;957;p15">
            <a:hlinkClick action="ppaction://hlinksldjump" r:id="rId10"/>
          </p:cNvPr>
          <p:cNvSpPr/>
          <p:nvPr/>
        </p:nvSpPr>
        <p:spPr>
          <a:xfrm>
            <a:off x="266783" y="6801252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6E1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Integración y aprendizaje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8" name="Google Shape;958;p15"/>
          <p:cNvSpPr/>
          <p:nvPr/>
        </p:nvSpPr>
        <p:spPr>
          <a:xfrm>
            <a:off x="191751" y="8069065"/>
            <a:ext cx="75000" cy="1117697"/>
          </a:xfrm>
          <a:prstGeom prst="rect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9" name="Google Shape;959;p15">
            <a:hlinkClick action="ppaction://hlinksldjump" r:id="rId11"/>
          </p:cNvPr>
          <p:cNvSpPr/>
          <p:nvPr/>
        </p:nvSpPr>
        <p:spPr>
          <a:xfrm>
            <a:off x="266783" y="8069065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FD900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Comprueba lo aprendido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0" name="Google Shape;960;p15">
            <a:hlinkClick action="ppaction://hlinksldjump" r:id="rId12"/>
          </p:cNvPr>
          <p:cNvSpPr/>
          <p:nvPr/>
        </p:nvSpPr>
        <p:spPr>
          <a:xfrm>
            <a:off x="4591655" y="9872067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s-CO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Anterior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1" name="Google Shape;961;p15">
            <a:hlinkClick action="ppaction://hlinksldjump" r:id="rId13"/>
          </p:cNvPr>
          <p:cNvSpPr/>
          <p:nvPr/>
        </p:nvSpPr>
        <p:spPr>
          <a:xfrm>
            <a:off x="4591655" y="9812536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4275">
            <a:solidFill>
              <a:srgbClr val="66409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action="ppaction://hlinksldjump" r:id="rId14"/>
              </a:rPr>
              <a:t>Anterior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2" name="Google Shape;962;p15">
            <a:hlinkClick action="ppaction://hlinksldjump" r:id="rId15"/>
          </p:cNvPr>
          <p:cNvSpPr/>
          <p:nvPr/>
        </p:nvSpPr>
        <p:spPr>
          <a:xfrm>
            <a:off x="6378374" y="9872067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C8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s-CO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Siguiente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3" name="Google Shape;963;p15">
            <a:hlinkClick action="ppaction://hlinksldjump" r:id="rId16"/>
          </p:cNvPr>
          <p:cNvSpPr/>
          <p:nvPr/>
        </p:nvSpPr>
        <p:spPr>
          <a:xfrm>
            <a:off x="6378374" y="9812536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sng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Siguiente</a:t>
            </a:r>
            <a:endParaRPr b="1" i="0" sz="1578" u="sng" cap="none" strike="noStrike">
              <a:solidFill>
                <a:srgbClr val="663D8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4" name="Google Shape;964;p15">
            <a:hlinkClick action="ppaction://hlinksldjump" r:id="rId17"/>
          </p:cNvPr>
          <p:cNvSpPr/>
          <p:nvPr/>
        </p:nvSpPr>
        <p:spPr>
          <a:xfrm>
            <a:off x="191792" y="399700"/>
            <a:ext cx="75000" cy="984000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5" name="Google Shape;965;p15">
            <a:hlinkClick action="ppaction://hlinksldjump" r:id="rId18"/>
          </p:cNvPr>
          <p:cNvSpPr/>
          <p:nvPr/>
        </p:nvSpPr>
        <p:spPr>
          <a:xfrm>
            <a:off x="266825" y="399900"/>
            <a:ext cx="2709300" cy="984000"/>
          </a:xfrm>
          <a:prstGeom prst="roundRect">
            <a:avLst>
              <a:gd fmla="val 14000" name="adj"/>
            </a:avLst>
          </a:prstGeom>
          <a:solidFill>
            <a:srgbClr val="D1E0F2"/>
          </a:solidFill>
          <a:ln>
            <a:noFill/>
          </a:ln>
        </p:spPr>
        <p:txBody>
          <a:bodyPr anchorCtr="0" anchor="ctr" bIns="40000" lIns="160000" spcFirstLastPara="1" rIns="100000" wrap="square" tIns="4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1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66" name="Google Shape;966;p15" title="correcciones sapiencia.png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66783" y="600314"/>
            <a:ext cx="486192" cy="486192"/>
          </a:xfrm>
          <a:prstGeom prst="rect">
            <a:avLst/>
          </a:prstGeom>
          <a:noFill/>
          <a:ln>
            <a:noFill/>
          </a:ln>
        </p:spPr>
      </p:pic>
      <p:sp>
        <p:nvSpPr>
          <p:cNvPr id="967" name="Google Shape;967;p15">
            <a:hlinkClick action="ppaction://hlinksldjump" r:id="rId20"/>
          </p:cNvPr>
          <p:cNvSpPr txBox="1"/>
          <p:nvPr/>
        </p:nvSpPr>
        <p:spPr>
          <a:xfrm>
            <a:off x="939099" y="660838"/>
            <a:ext cx="1541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Scrum por dentro</a:t>
            </a:r>
            <a:endParaRPr b="1" i="0" sz="1200" u="none" cap="none" strike="noStrike">
              <a:solidFill>
                <a:srgbClr val="3D21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1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Inicio</a:t>
            </a:r>
            <a:endParaRPr b="1" i="0" sz="1200" u="none" cap="none" strike="noStrike">
              <a:solidFill>
                <a:srgbClr val="A719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2">
            <a:hlinkClick action="ppaction://hlinksldjump" r:id="rId21"/>
          </p:cNvPr>
          <p:cNvSpPr/>
          <p:nvPr/>
        </p:nvSpPr>
        <p:spPr>
          <a:xfrm>
            <a:off x="191751" y="9336878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2">
            <a:hlinkClick action="ppaction://hlinksldjump" r:id="rId21"/>
          </p:cNvPr>
          <p:cNvSpPr/>
          <p:nvPr/>
        </p:nvSpPr>
        <p:spPr>
          <a:xfrm>
            <a:off x="266783" y="9336878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Créditos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Equipo de producción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5" name="Google Shape;55;p2"/>
          <p:cNvSpPr/>
          <p:nvPr/>
        </p:nvSpPr>
        <p:spPr>
          <a:xfrm>
            <a:off x="0" y="0"/>
            <a:ext cx="3168000" cy="10934700"/>
          </a:xfrm>
          <a:prstGeom prst="rect">
            <a:avLst/>
          </a:prstGeom>
          <a:solidFill>
            <a:srgbClr val="F5F3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2"/>
          <p:cNvSpPr/>
          <p:nvPr/>
        </p:nvSpPr>
        <p:spPr>
          <a:xfrm>
            <a:off x="3153046" y="0"/>
            <a:ext cx="15000" cy="10934700"/>
          </a:xfrm>
          <a:prstGeom prst="rect">
            <a:avLst/>
          </a:prstGeom>
          <a:solidFill>
            <a:srgbClr val="E0DA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2"/>
          <p:cNvSpPr/>
          <p:nvPr/>
        </p:nvSpPr>
        <p:spPr>
          <a:xfrm>
            <a:off x="191751" y="1550000"/>
            <a:ext cx="2784600" cy="14100"/>
          </a:xfrm>
          <a:prstGeom prst="rect">
            <a:avLst/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2"/>
          <p:cNvSpPr/>
          <p:nvPr/>
        </p:nvSpPr>
        <p:spPr>
          <a:xfrm>
            <a:off x="191751" y="1730000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2">
            <a:hlinkClick action="ppaction://hlinksldjump" r:id="rId2"/>
          </p:cNvPr>
          <p:cNvSpPr/>
          <p:nvPr/>
        </p:nvSpPr>
        <p:spPr>
          <a:xfrm>
            <a:off x="266783" y="1730000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Estructura Scrum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2">
            <a:hlinkClick action="ppaction://hlinksldjump" r:id="rId3"/>
          </p:cNvPr>
          <p:cNvSpPr/>
          <p:nvPr/>
        </p:nvSpPr>
        <p:spPr>
          <a:xfrm>
            <a:off x="191751" y="2997813"/>
            <a:ext cx="75000" cy="1117697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2">
            <a:hlinkClick action="ppaction://hlinksldjump" r:id="rId4"/>
          </p:cNvPr>
          <p:cNvSpPr/>
          <p:nvPr/>
        </p:nvSpPr>
        <p:spPr>
          <a:xfrm>
            <a:off x="266783" y="2997813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0DAEC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Responsabilidades del Scrum Team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2"/>
          <p:cNvSpPr/>
          <p:nvPr/>
        </p:nvSpPr>
        <p:spPr>
          <a:xfrm>
            <a:off x="191751" y="4265626"/>
            <a:ext cx="75000" cy="1117697"/>
          </a:xfrm>
          <a:prstGeom prst="rect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2">
            <a:hlinkClick action="ppaction://hlinksldjump" r:id="rId5"/>
          </p:cNvPr>
          <p:cNvSpPr/>
          <p:nvPr/>
        </p:nvSpPr>
        <p:spPr>
          <a:xfrm>
            <a:off x="266783" y="4265626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1EAF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Eventos del Scrum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2"/>
          <p:cNvSpPr/>
          <p:nvPr/>
        </p:nvSpPr>
        <p:spPr>
          <a:xfrm>
            <a:off x="191751" y="5533439"/>
            <a:ext cx="75000" cy="1117697"/>
          </a:xfrm>
          <a:prstGeom prst="rect">
            <a:avLst/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2">
            <a:hlinkClick action="ppaction://hlinksldjump" r:id="rId6"/>
          </p:cNvPr>
          <p:cNvSpPr/>
          <p:nvPr/>
        </p:nvSpPr>
        <p:spPr>
          <a:xfrm>
            <a:off x="266783" y="5533439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FDBE4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Artefactos y compromisos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2"/>
          <p:cNvSpPr/>
          <p:nvPr/>
        </p:nvSpPr>
        <p:spPr>
          <a:xfrm>
            <a:off x="191751" y="6801252"/>
            <a:ext cx="75000" cy="1117697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p2">
            <a:hlinkClick action="ppaction://hlinksldjump" r:id="rId7"/>
          </p:cNvPr>
          <p:cNvSpPr/>
          <p:nvPr/>
        </p:nvSpPr>
        <p:spPr>
          <a:xfrm>
            <a:off x="266783" y="6801252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6E1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Integración y aprendizaje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2"/>
          <p:cNvSpPr/>
          <p:nvPr/>
        </p:nvSpPr>
        <p:spPr>
          <a:xfrm>
            <a:off x="191751" y="8069065"/>
            <a:ext cx="75000" cy="1117697"/>
          </a:xfrm>
          <a:prstGeom prst="rect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2">
            <a:hlinkClick action="ppaction://hlinksldjump" r:id="rId8"/>
          </p:cNvPr>
          <p:cNvSpPr/>
          <p:nvPr/>
        </p:nvSpPr>
        <p:spPr>
          <a:xfrm>
            <a:off x="266783" y="8069065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FF8D6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Comprueba lo aprendido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2">
            <a:hlinkClick action="ppaction://hlinksldjump" r:id="rId9"/>
          </p:cNvPr>
          <p:cNvSpPr/>
          <p:nvPr/>
        </p:nvSpPr>
        <p:spPr>
          <a:xfrm>
            <a:off x="191792" y="399700"/>
            <a:ext cx="75000" cy="984000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2">
            <a:hlinkClick action="ppaction://hlinksldjump" r:id="rId9"/>
          </p:cNvPr>
          <p:cNvSpPr/>
          <p:nvPr/>
        </p:nvSpPr>
        <p:spPr>
          <a:xfrm>
            <a:off x="266825" y="399900"/>
            <a:ext cx="2709300" cy="984000"/>
          </a:xfrm>
          <a:prstGeom prst="roundRect">
            <a:avLst>
              <a:gd fmla="val 14000" name="adj"/>
            </a:avLst>
          </a:prstGeom>
          <a:solidFill>
            <a:srgbClr val="D1E0F2"/>
          </a:solidFill>
          <a:ln>
            <a:noFill/>
          </a:ln>
        </p:spPr>
        <p:txBody>
          <a:bodyPr anchorCtr="0" anchor="ctr" bIns="40000" lIns="160000" spcFirstLastPara="1" rIns="100000" wrap="square" tIns="4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1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6" name="Picture 7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6783" y="600314"/>
            <a:ext cx="486192" cy="486192"/>
          </a:xfrm>
          <a:prstGeom prst="rect">
            <a:avLst/>
          </a:prstGeom>
        </p:spPr>
      </p:pic>
      <p:sp>
        <p:nvSpPr>
          <p:cNvPr id="77" name="Google Shape;77;p2">
            <a:hlinkClick action="ppaction://hlinksldjump" r:id="rId3"/>
          </p:cNvPr>
          <p:cNvSpPr txBox="1"/>
          <p:nvPr/>
        </p:nvSpPr>
        <p:spPr>
          <a:xfrm>
            <a:off x="939099" y="660838"/>
            <a:ext cx="1541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Scrum por dentro</a:t>
            </a:r>
            <a:endParaRPr b="1" i="0" sz="1200" u="none" cap="none" strike="noStrike">
              <a:solidFill>
                <a:srgbClr val="3D21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1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Inicio</a:t>
            </a:r>
            <a:endParaRPr b="1" i="0" sz="1200" u="none" cap="none" strike="noStrike">
              <a:solidFill>
                <a:srgbClr val="A719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3"/>
          <p:cNvSpPr/>
          <p:nvPr/>
        </p:nvSpPr>
        <p:spPr>
          <a:xfrm>
            <a:off x="3887703" y="1984772"/>
            <a:ext cx="1426464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s-CO" sz="3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Créditos de producción y postproducción</a:t>
            </a:r>
            <a:endParaRPr b="0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3"/>
          <p:cNvSpPr txBox="1"/>
          <p:nvPr/>
        </p:nvSpPr>
        <p:spPr>
          <a:xfrm>
            <a:off x="3886200" y="1481328"/>
            <a:ext cx="9144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s-CO" sz="15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Créditos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3"/>
          <p:cNvSpPr/>
          <p:nvPr/>
        </p:nvSpPr>
        <p:spPr>
          <a:xfrm>
            <a:off x="3886200" y="2834640"/>
            <a:ext cx="128016" cy="128016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3"/>
          <p:cNvSpPr/>
          <p:nvPr/>
        </p:nvSpPr>
        <p:spPr>
          <a:xfrm>
            <a:off x="4114800" y="2852928"/>
            <a:ext cx="91440" cy="9144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3"/>
          <p:cNvSpPr/>
          <p:nvPr/>
        </p:nvSpPr>
        <p:spPr>
          <a:xfrm>
            <a:off x="4334256" y="2852928"/>
            <a:ext cx="91440" cy="9144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3"/>
          <p:cNvSpPr/>
          <p:nvPr/>
        </p:nvSpPr>
        <p:spPr>
          <a:xfrm>
            <a:off x="4553712" y="2852928"/>
            <a:ext cx="91440" cy="9144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3"/>
          <p:cNvSpPr/>
          <p:nvPr/>
        </p:nvSpPr>
        <p:spPr>
          <a:xfrm>
            <a:off x="4782312" y="2852928"/>
            <a:ext cx="91440" cy="9144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3"/>
          <p:cNvSpPr/>
          <p:nvPr/>
        </p:nvSpPr>
        <p:spPr>
          <a:xfrm>
            <a:off x="5001768" y="2834640"/>
            <a:ext cx="128016" cy="128016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3">
            <a:hlinkClick action="ppaction://hlinksldjump" r:id="rId11"/>
          </p:cNvPr>
          <p:cNvSpPr/>
          <p:nvPr/>
        </p:nvSpPr>
        <p:spPr>
          <a:xfrm>
            <a:off x="191751" y="9336878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3">
            <a:hlinkClick action="ppaction://hlinksldjump" r:id="rId11"/>
          </p:cNvPr>
          <p:cNvSpPr/>
          <p:nvPr/>
        </p:nvSpPr>
        <p:spPr>
          <a:xfrm>
            <a:off x="266783" y="9336878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664092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Créditos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Equipo de producción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8" name="Google Shape;918;p14">
            <a:hlinkClick action="ppaction://hlinksldjump" r:id="rId12"/>
          </p:cNvPr>
          <p:cNvSpPr/>
          <p:nvPr/>
        </p:nvSpPr>
        <p:spPr>
          <a:xfrm>
            <a:off x="4591655" y="9872067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s-CO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Anterior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9" name="Google Shape;919;p14">
            <a:hlinkClick action="ppaction://hlinksldjump" r:id="rId12"/>
          </p:cNvPr>
          <p:cNvSpPr/>
          <p:nvPr/>
        </p:nvSpPr>
        <p:spPr>
          <a:xfrm>
            <a:off x="4591655" y="9812536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4275">
            <a:solidFill>
              <a:srgbClr val="66409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</a:rPr>
              <a:t>Anterior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8"/>
          <p:cNvSpPr/>
          <p:nvPr/>
        </p:nvSpPr>
        <p:spPr>
          <a:xfrm>
            <a:off x="3886200" y="3429000"/>
            <a:ext cx="6949440" cy="960120"/>
          </a:xfrm>
          <a:prstGeom prst="roundRect">
            <a:avLst>
              <a:gd fmla="val 12000" name="adj"/>
            </a:avLst>
          </a:prstGeom>
          <a:solidFill>
            <a:srgbClr val="F5F3FA"/>
          </a:solidFill>
          <a:ln cap="flat" cmpd="sng" w="12700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8"/>
          <p:cNvSpPr/>
          <p:nvPr/>
        </p:nvSpPr>
        <p:spPr>
          <a:xfrm>
            <a:off x="3886200" y="3429000"/>
            <a:ext cx="91440" cy="960120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8"/>
          <p:cNvSpPr txBox="1"/>
          <p:nvPr/>
        </p:nvSpPr>
        <p:spPr>
          <a:xfrm>
            <a:off x="4206240" y="3538728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3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Coordinación general</a:t>
            </a:r>
            <a:endParaRPr/>
          </a:p>
        </p:txBody>
      </p:sp>
      <p:sp>
        <p:nvSpPr>
          <p:cNvPr id="843" name="Google Shape;843;p18"/>
          <p:cNvSpPr txBox="1"/>
          <p:nvPr/>
        </p:nvSpPr>
        <p:spPr>
          <a:xfrm>
            <a:off x="4206240" y="3904487"/>
            <a:ext cx="6400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6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Luz Dary Morales Galvis</a:t>
            </a:r>
            <a:endParaRPr/>
          </a:p>
        </p:txBody>
      </p:sp>
      <p:sp>
        <p:nvSpPr>
          <p:cNvPr id="844" name="Google Shape;844;p18"/>
          <p:cNvSpPr/>
          <p:nvPr/>
        </p:nvSpPr>
        <p:spPr>
          <a:xfrm>
            <a:off x="11155680" y="3429000"/>
            <a:ext cx="6949440" cy="960120"/>
          </a:xfrm>
          <a:prstGeom prst="roundRect">
            <a:avLst>
              <a:gd fmla="val 12000" name="adj"/>
            </a:avLst>
          </a:prstGeom>
          <a:solidFill>
            <a:srgbClr val="F5F3FA"/>
          </a:solidFill>
          <a:ln cap="flat" cmpd="sng" w="12700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8"/>
          <p:cNvSpPr/>
          <p:nvPr/>
        </p:nvSpPr>
        <p:spPr>
          <a:xfrm>
            <a:off x="11155680" y="3429000"/>
            <a:ext cx="91440" cy="960120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8"/>
          <p:cNvSpPr txBox="1"/>
          <p:nvPr/>
        </p:nvSpPr>
        <p:spPr>
          <a:xfrm>
            <a:off x="11475719" y="3538728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3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Experto temático</a:t>
            </a:r>
            <a:endParaRPr/>
          </a:p>
        </p:txBody>
      </p:sp>
      <p:sp>
        <p:nvSpPr>
          <p:cNvPr id="847" name="Google Shape;847;p18"/>
          <p:cNvSpPr txBox="1"/>
          <p:nvPr/>
        </p:nvSpPr>
        <p:spPr>
          <a:xfrm>
            <a:off x="11475719" y="3904487"/>
            <a:ext cx="6400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6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Diana María Velázquez García</a:t>
            </a:r>
            <a:endParaRPr/>
          </a:p>
        </p:txBody>
      </p:sp>
      <p:sp>
        <p:nvSpPr>
          <p:cNvPr id="848" name="Google Shape;848;p18"/>
          <p:cNvSpPr/>
          <p:nvPr/>
        </p:nvSpPr>
        <p:spPr>
          <a:xfrm>
            <a:off x="3886200" y="4572000"/>
            <a:ext cx="6949440" cy="960120"/>
          </a:xfrm>
          <a:prstGeom prst="roundRect">
            <a:avLst>
              <a:gd fmla="val 12000" name="adj"/>
            </a:avLst>
          </a:prstGeom>
          <a:solidFill>
            <a:srgbClr val="F5F3FA"/>
          </a:solidFill>
          <a:ln cap="flat" cmpd="sng" w="12700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8"/>
          <p:cNvSpPr/>
          <p:nvPr/>
        </p:nvSpPr>
        <p:spPr>
          <a:xfrm>
            <a:off x="3886200" y="4572000"/>
            <a:ext cx="91440" cy="960120"/>
          </a:xfrm>
          <a:prstGeom prst="rect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8"/>
          <p:cNvSpPr txBox="1"/>
          <p:nvPr/>
        </p:nvSpPr>
        <p:spPr>
          <a:xfrm>
            <a:off x="4206240" y="4681728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300" u="none" cap="none" strike="noStrike">
                <a:solidFill>
                  <a:srgbClr val="2A56C6"/>
                </a:solidFill>
                <a:latin typeface="Arial"/>
                <a:ea typeface="Arial"/>
                <a:cs typeface="Arial"/>
                <a:sym typeface="Arial"/>
              </a:rPr>
              <a:t>Diseñador de la experiencia virtual de aprendizaje</a:t>
            </a:r>
            <a:endParaRPr/>
          </a:p>
        </p:txBody>
      </p:sp>
      <p:sp>
        <p:nvSpPr>
          <p:cNvPr id="851" name="Google Shape;851;p18"/>
          <p:cNvSpPr txBox="1"/>
          <p:nvPr/>
        </p:nvSpPr>
        <p:spPr>
          <a:xfrm>
            <a:off x="4206240" y="5047488"/>
            <a:ext cx="6400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6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Julieta Márquez Gutiérrez</a:t>
            </a:r>
            <a:endParaRPr/>
          </a:p>
        </p:txBody>
      </p:sp>
      <p:sp>
        <p:nvSpPr>
          <p:cNvPr id="852" name="Google Shape;852;p18"/>
          <p:cNvSpPr/>
          <p:nvPr/>
        </p:nvSpPr>
        <p:spPr>
          <a:xfrm>
            <a:off x="11155680" y="4572000"/>
            <a:ext cx="6949440" cy="960120"/>
          </a:xfrm>
          <a:prstGeom prst="roundRect">
            <a:avLst>
              <a:gd fmla="val 12000" name="adj"/>
            </a:avLst>
          </a:prstGeom>
          <a:solidFill>
            <a:srgbClr val="F5F3FA"/>
          </a:solidFill>
          <a:ln cap="flat" cmpd="sng" w="12700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8"/>
          <p:cNvSpPr/>
          <p:nvPr/>
        </p:nvSpPr>
        <p:spPr>
          <a:xfrm>
            <a:off x="11155680" y="4572000"/>
            <a:ext cx="91440" cy="960120"/>
          </a:xfrm>
          <a:prstGeom prst="rect">
            <a:avLst/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8"/>
          <p:cNvSpPr txBox="1"/>
          <p:nvPr/>
        </p:nvSpPr>
        <p:spPr>
          <a:xfrm>
            <a:off x="11475719" y="4681728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Corrección de estilo</a:t>
            </a:r>
            <a:endParaRPr/>
          </a:p>
        </p:txBody>
      </p:sp>
      <p:sp>
        <p:nvSpPr>
          <p:cNvPr id="855" name="Google Shape;855;p18"/>
          <p:cNvSpPr txBox="1"/>
          <p:nvPr/>
        </p:nvSpPr>
        <p:spPr>
          <a:xfrm>
            <a:off x="11475719" y="5047488"/>
            <a:ext cx="6400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6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Julieta Márquez Gutiérrez y Sergio Andrés Ocampo Rivera</a:t>
            </a:r>
            <a:endParaRPr/>
          </a:p>
        </p:txBody>
      </p:sp>
      <p:sp>
        <p:nvSpPr>
          <p:cNvPr id="856" name="Google Shape;856;p18"/>
          <p:cNvSpPr/>
          <p:nvPr/>
        </p:nvSpPr>
        <p:spPr>
          <a:xfrm>
            <a:off x="3886200" y="5715000"/>
            <a:ext cx="6949440" cy="960120"/>
          </a:xfrm>
          <a:prstGeom prst="roundRect">
            <a:avLst>
              <a:gd fmla="val 12000" name="adj"/>
            </a:avLst>
          </a:prstGeom>
          <a:solidFill>
            <a:srgbClr val="F5F3FA"/>
          </a:solidFill>
          <a:ln cap="flat" cmpd="sng" w="12700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7" name="Google Shape;857;p18"/>
          <p:cNvSpPr/>
          <p:nvPr/>
        </p:nvSpPr>
        <p:spPr>
          <a:xfrm>
            <a:off x="3886200" y="5715000"/>
            <a:ext cx="91440" cy="960120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8"/>
          <p:cNvSpPr txBox="1"/>
          <p:nvPr/>
        </p:nvSpPr>
        <p:spPr>
          <a:xfrm>
            <a:off x="4206240" y="5824728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3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Validación pedagógica</a:t>
            </a:r>
            <a:endParaRPr/>
          </a:p>
        </p:txBody>
      </p:sp>
      <p:sp>
        <p:nvSpPr>
          <p:cNvPr id="859" name="Google Shape;859;p18"/>
          <p:cNvSpPr txBox="1"/>
          <p:nvPr/>
        </p:nvSpPr>
        <p:spPr>
          <a:xfrm>
            <a:off x="4206240" y="6190488"/>
            <a:ext cx="6400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6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Sandra Patricia Hoyos Sepúlveda</a:t>
            </a:r>
            <a:endParaRPr/>
          </a:p>
        </p:txBody>
      </p:sp>
      <p:sp>
        <p:nvSpPr>
          <p:cNvPr id="860" name="Google Shape;860;p18"/>
          <p:cNvSpPr/>
          <p:nvPr/>
        </p:nvSpPr>
        <p:spPr>
          <a:xfrm>
            <a:off x="11155680" y="5715000"/>
            <a:ext cx="6949440" cy="960120"/>
          </a:xfrm>
          <a:prstGeom prst="roundRect">
            <a:avLst>
              <a:gd fmla="val 12000" name="adj"/>
            </a:avLst>
          </a:prstGeom>
          <a:solidFill>
            <a:srgbClr val="F5F3FA"/>
          </a:solidFill>
          <a:ln cap="flat" cmpd="sng" w="12700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1" name="Google Shape;861;p18"/>
          <p:cNvSpPr/>
          <p:nvPr/>
        </p:nvSpPr>
        <p:spPr>
          <a:xfrm>
            <a:off x="11155680" y="5715000"/>
            <a:ext cx="91440" cy="960120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8"/>
          <p:cNvSpPr txBox="1"/>
          <p:nvPr/>
        </p:nvSpPr>
        <p:spPr>
          <a:xfrm>
            <a:off x="11475719" y="5824728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3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Diseño gráfico</a:t>
            </a:r>
            <a:endParaRPr/>
          </a:p>
        </p:txBody>
      </p:sp>
      <p:sp>
        <p:nvSpPr>
          <p:cNvPr id="863" name="Google Shape;863;p18"/>
          <p:cNvSpPr txBox="1"/>
          <p:nvPr/>
        </p:nvSpPr>
        <p:spPr>
          <a:xfrm>
            <a:off x="11475719" y="6190488"/>
            <a:ext cx="6400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6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Andrea Valentina Roa Orozco</a:t>
            </a:r>
            <a:endParaRPr/>
          </a:p>
        </p:txBody>
      </p:sp>
      <p:sp>
        <p:nvSpPr>
          <p:cNvPr id="864" name="Google Shape;864;p18"/>
          <p:cNvSpPr/>
          <p:nvPr/>
        </p:nvSpPr>
        <p:spPr>
          <a:xfrm>
            <a:off x="3886200" y="6858000"/>
            <a:ext cx="6949440" cy="960120"/>
          </a:xfrm>
          <a:prstGeom prst="roundRect">
            <a:avLst>
              <a:gd fmla="val 12000" name="adj"/>
            </a:avLst>
          </a:prstGeom>
          <a:solidFill>
            <a:srgbClr val="F5F3FA"/>
          </a:solidFill>
          <a:ln cap="flat" cmpd="sng" w="12700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5" name="Google Shape;865;p18"/>
          <p:cNvSpPr/>
          <p:nvPr/>
        </p:nvSpPr>
        <p:spPr>
          <a:xfrm>
            <a:off x="3886200" y="6858000"/>
            <a:ext cx="91440" cy="960120"/>
          </a:xfrm>
          <a:prstGeom prst="rect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8"/>
          <p:cNvSpPr txBox="1"/>
          <p:nvPr/>
        </p:nvSpPr>
        <p:spPr>
          <a:xfrm>
            <a:off x="4206240" y="6967728"/>
            <a:ext cx="64008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300" u="none" cap="none" strike="noStrike">
                <a:solidFill>
                  <a:srgbClr val="2A56C6"/>
                </a:solidFill>
                <a:latin typeface="Arial"/>
                <a:ea typeface="Arial"/>
                <a:cs typeface="Arial"/>
                <a:sym typeface="Arial"/>
              </a:rPr>
              <a:t>Desarrollo </a:t>
            </a:r>
            <a:r>
              <a:rPr b="1" lang="es-CO" sz="1300">
                <a:solidFill>
                  <a:srgbClr val="2A56C6"/>
                </a:solidFill>
              </a:rPr>
              <a:t>d</a:t>
            </a:r>
            <a:r>
              <a:rPr b="1" i="0" lang="es-CO" sz="1300" u="none" cap="none" strike="noStrike">
                <a:solidFill>
                  <a:srgbClr val="2A56C6"/>
                </a:solidFill>
                <a:latin typeface="Arial"/>
                <a:ea typeface="Arial"/>
                <a:cs typeface="Arial"/>
                <a:sym typeface="Arial"/>
              </a:rPr>
              <a:t>e interactivos</a:t>
            </a:r>
            <a:endParaRPr/>
          </a:p>
        </p:txBody>
      </p:sp>
      <p:sp>
        <p:nvSpPr>
          <p:cNvPr id="867" name="Google Shape;867;p18"/>
          <p:cNvSpPr txBox="1"/>
          <p:nvPr/>
        </p:nvSpPr>
        <p:spPr>
          <a:xfrm>
            <a:off x="4206240" y="7333488"/>
            <a:ext cx="6400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6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Paola Andrea Quintero Aguilar</a:t>
            </a:r>
            <a:endParaRPr/>
          </a:p>
        </p:txBody>
      </p:sp>
      <p:sp>
        <p:nvSpPr>
          <p:cNvPr id="868" name="Google Shape;868;p18"/>
          <p:cNvSpPr/>
          <p:nvPr/>
        </p:nvSpPr>
        <p:spPr>
          <a:xfrm>
            <a:off x="11155680" y="6858000"/>
            <a:ext cx="6949440" cy="960120"/>
          </a:xfrm>
          <a:prstGeom prst="roundRect">
            <a:avLst>
              <a:gd fmla="val 12000" name="adj"/>
            </a:avLst>
          </a:prstGeom>
          <a:solidFill>
            <a:srgbClr val="F5F3FA"/>
          </a:solidFill>
          <a:ln cap="flat" cmpd="sng" w="12700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9" name="Google Shape;869;p18"/>
          <p:cNvSpPr/>
          <p:nvPr/>
        </p:nvSpPr>
        <p:spPr>
          <a:xfrm>
            <a:off x="11155680" y="6858000"/>
            <a:ext cx="91440" cy="960120"/>
          </a:xfrm>
          <a:prstGeom prst="rect">
            <a:avLst/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0" name="Google Shape;870;p18"/>
          <p:cNvSpPr txBox="1"/>
          <p:nvPr/>
        </p:nvSpPr>
        <p:spPr>
          <a:xfrm>
            <a:off x="11475719" y="6967728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Disposición y ensamble</a:t>
            </a:r>
            <a:endParaRPr/>
          </a:p>
        </p:txBody>
      </p:sp>
      <p:sp>
        <p:nvSpPr>
          <p:cNvPr id="871" name="Google Shape;871;p18"/>
          <p:cNvSpPr txBox="1"/>
          <p:nvPr/>
        </p:nvSpPr>
        <p:spPr>
          <a:xfrm>
            <a:off x="11475719" y="7333488"/>
            <a:ext cx="6400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6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Samayda Herrera Betancur</a:t>
            </a:r>
            <a:endParaRPr/>
          </a:p>
        </p:txBody>
      </p:sp>
      <p:sp>
        <p:nvSpPr>
          <p:cNvPr id="872" name="Google Shape;872;p18"/>
          <p:cNvSpPr txBox="1"/>
          <p:nvPr/>
        </p:nvSpPr>
        <p:spPr>
          <a:xfrm>
            <a:off x="3886200" y="8092440"/>
            <a:ext cx="14218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s-CO" sz="1200" u="none" cap="none" strike="noStrike">
                <a:solidFill>
                  <a:srgbClr val="6B6570"/>
                </a:solidFill>
                <a:latin typeface="Arial"/>
                <a:ea typeface="Arial"/>
                <a:cs typeface="Arial"/>
                <a:sym typeface="Arial"/>
              </a:rPr>
              <a:t>Proyecto C.I. 278 de 2026 · @Medellín — SAPIENCIA · Última actualización: octubre de 2026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