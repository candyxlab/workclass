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2"/>
  </p:sldIdLst>
  <p:sldSz cy="10934700" cx="1905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44">
          <p15:clr>
            <a:srgbClr val="A4A3A4"/>
          </p15:clr>
        </p15:guide>
        <p15:guide id="2" pos="5002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g+DfJjtGjJvNw1yGnKn3Uv0ZGE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44" orient="horz"/>
        <p:guide pos="5002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customschemas.google.com/relationships/presentationmetadata" Target="metadata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3"/>
              <a:buFont typeface="Arial"/>
              <a:buNone/>
            </a:pPr>
            <a:r>
              <a:t/>
            </a:r>
            <a:endParaRPr b="0" i="0" sz="28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/>
          <p:nvPr>
            <p:ph idx="2" type="sldImg"/>
          </p:nvPr>
        </p:nvSpPr>
        <p:spPr>
          <a:xfrm>
            <a:off x="-1112838" y="0"/>
            <a:ext cx="522605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-1112838" y="0"/>
            <a:ext cx="522605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-1112838" y="0"/>
            <a:ext cx="522605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4:notes"/>
          <p:cNvSpPr/>
          <p:nvPr>
            <p:ph idx="2" type="sldImg"/>
          </p:nvPr>
        </p:nvSpPr>
        <p:spPr>
          <a:xfrm>
            <a:off x="-1112838" y="0"/>
            <a:ext cx="522605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5:notes"/>
          <p:cNvSpPr/>
          <p:nvPr>
            <p:ph idx="2" type="sldImg"/>
          </p:nvPr>
        </p:nvSpPr>
        <p:spPr>
          <a:xfrm>
            <a:off x="-1112838" y="0"/>
            <a:ext cx="522605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6:notes"/>
          <p:cNvSpPr/>
          <p:nvPr>
            <p:ph idx="2" type="sldImg"/>
          </p:nvPr>
        </p:nvSpPr>
        <p:spPr>
          <a:xfrm>
            <a:off x="-1112838" y="0"/>
            <a:ext cx="522605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7:notes"/>
          <p:cNvSpPr/>
          <p:nvPr>
            <p:ph idx="2" type="sldImg"/>
          </p:nvPr>
        </p:nvSpPr>
        <p:spPr>
          <a:xfrm>
            <a:off x="-1112838" y="0"/>
            <a:ext cx="522605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8:notes"/>
          <p:cNvSpPr/>
          <p:nvPr>
            <p:ph idx="2" type="sldImg"/>
          </p:nvPr>
        </p:nvSpPr>
        <p:spPr>
          <a:xfrm>
            <a:off x="-1112838" y="0"/>
            <a:ext cx="522605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9:notes"/>
          <p:cNvSpPr/>
          <p:nvPr>
            <p:ph idx="2" type="sldImg"/>
          </p:nvPr>
        </p:nvSpPr>
        <p:spPr>
          <a:xfrm>
            <a:off x="-1112838" y="0"/>
            <a:ext cx="522605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8" name="Google Shape;608;p10:notes"/>
          <p:cNvSpPr/>
          <p:nvPr>
            <p:ph idx="2" type="sldImg"/>
          </p:nvPr>
        </p:nvSpPr>
        <p:spPr>
          <a:xfrm>
            <a:off x="-1112838" y="0"/>
            <a:ext cx="522605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6" name="Google Shape;676;p11:notes"/>
          <p:cNvSpPr/>
          <p:nvPr>
            <p:ph idx="2" type="sldImg"/>
          </p:nvPr>
        </p:nvSpPr>
        <p:spPr>
          <a:xfrm>
            <a:off x="-1112838" y="0"/>
            <a:ext cx="522605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5" name="Google Shape;755;p12:notes"/>
          <p:cNvSpPr/>
          <p:nvPr>
            <p:ph idx="2" type="sldImg"/>
          </p:nvPr>
        </p:nvSpPr>
        <p:spPr>
          <a:xfrm>
            <a:off x="-1112838" y="0"/>
            <a:ext cx="522605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13:notes"/>
          <p:cNvSpPr/>
          <p:nvPr>
            <p:ph idx="2" type="sldImg"/>
          </p:nvPr>
        </p:nvSpPr>
        <p:spPr>
          <a:xfrm>
            <a:off x="-1112838" y="0"/>
            <a:ext cx="522605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0" name="Google Shape;84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1" name="Google Shape;84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4:notes"/>
          <p:cNvSpPr/>
          <p:nvPr>
            <p:ph idx="2" type="sldImg"/>
          </p:nvPr>
        </p:nvSpPr>
        <p:spPr>
          <a:xfrm>
            <a:off x="-1112838" y="0"/>
            <a:ext cx="522605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7" name="Google Shape;88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8" name="Google Shape;88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15:notes"/>
          <p:cNvSpPr/>
          <p:nvPr>
            <p:ph idx="2" type="sldImg"/>
          </p:nvPr>
        </p:nvSpPr>
        <p:spPr>
          <a:xfrm>
            <a:off x="-1112838" y="0"/>
            <a:ext cx="522605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8" name="Google Shape;92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9" name="Google Shape;92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2341906" y="571499"/>
            <a:ext cx="6219825" cy="942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9446571"/>
            <a:ext cx="19050000" cy="152846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5.jp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slide" Target="slide2.xml"/><Relationship Id="rId9" Type="http://schemas.openxmlformats.org/officeDocument/2006/relationships/image" Target="../media/image7.png"/><Relationship Id="rId10" Type="http://schemas.openxmlformats.org/officeDocument/2006/relationships/image" Target="../media/image6.png"/><Relationship Id="rId11" Type="http://schemas.openxmlformats.org/officeDocument/2006/relationships/image" Target="../media/image3.png"/><Relationship Id="rId12" Type="http://schemas.openxmlformats.org/officeDocument/2006/relationships/slide" Target="slide3.xml"/><Relationship Id="rId13" Type="http://schemas.openxmlformats.org/officeDocument/2006/relationships/slide" Target="slide2.xml"/><Relationship Id="rId14" Type="http://schemas.openxmlformats.org/officeDocument/2006/relationships/slide" Target="slide4.xml"/><Relationship Id="rId15" Type="http://schemas.openxmlformats.org/officeDocument/2006/relationships/slide" Target="slide8.xml"/><Relationship Id="rId16" Type="http://schemas.openxmlformats.org/officeDocument/2006/relationships/slide" Target="slide10.xml"/><Relationship Id="rId17" Type="http://schemas.openxmlformats.org/officeDocument/2006/relationships/slide" Target="slide11.xml"/><Relationship Id="rId18" Type="http://schemas.openxmlformats.org/officeDocument/2006/relationships/slide" Target="slide13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slide" Target="slide2.xml"/><Relationship Id="rId23" Type="http://schemas.openxmlformats.org/officeDocument/2006/relationships/image" Target="../media/image24.png"/><Relationship Id="rId24" Type="http://schemas.openxmlformats.org/officeDocument/2006/relationships/slide" Target="slide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.xml"/><Relationship Id="rId11" Type="http://schemas.openxmlformats.org/officeDocument/2006/relationships/slide" Target="slide3.xml"/><Relationship Id="rId12" Type="http://schemas.openxmlformats.org/officeDocument/2006/relationships/slide" Target="slide1.xml"/><Relationship Id="rId13" Type="http://schemas.openxmlformats.org/officeDocument/2006/relationships/slide" Target="slide1.xml"/><Relationship Id="rId14" Type="http://schemas.openxmlformats.org/officeDocument/2006/relationships/image" Target="../media/image11.png"/><Relationship Id="rId15" Type="http://schemas.openxmlformats.org/officeDocument/2006/relationships/slide" Target="slide2.xml"/><Relationship Id="rId16" Type="http://schemas.openxmlformats.org/officeDocument/2006/relationships/slide" Target="slide3.xml"/><Relationship Id="rId17" Type="http://schemas.openxmlformats.org/officeDocument/2006/relationships/slide" Target="slide4.xml"/><Relationship Id="rId18" Type="http://schemas.openxmlformats.org/officeDocument/2006/relationships/slide" Target="slide8.xml"/><Relationship Id="rId19" Type="http://schemas.openxmlformats.org/officeDocument/2006/relationships/slide" Target="slide10.xml"/><Relationship Id="rId20" Type="http://schemas.openxmlformats.org/officeDocument/2006/relationships/slide" Target="slide11.xml"/><Relationship Id="rId21" Type="http://schemas.openxmlformats.org/officeDocument/2006/relationships/slide" Target="slide13.xml"/><Relationship Id="rId22" Type="http://schemas.openxmlformats.org/officeDocument/2006/relationships/slide" Target="slide1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hyperlink" Target="http://ppt/media/image13.png" TargetMode="External"/><Relationship Id="rId7" Type="http://schemas.openxmlformats.org/officeDocument/2006/relationships/slide" Target="slide8.xml"/><Relationship Id="rId8" Type="http://schemas.openxmlformats.org/officeDocument/2006/relationships/hyperlink" Target="http://ppt/media/image15.png" TargetMode="Externa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3.xml"/><Relationship Id="rId12" Type="http://schemas.openxmlformats.org/officeDocument/2006/relationships/slide" Target="slide2.xml"/><Relationship Id="rId13" Type="http://schemas.openxmlformats.org/officeDocument/2006/relationships/slide" Target="slide4.xml"/><Relationship Id="rId14" Type="http://schemas.openxmlformats.org/officeDocument/2006/relationships/slide" Target="slide1.xml"/><Relationship Id="rId15" Type="http://schemas.openxmlformats.org/officeDocument/2006/relationships/slide" Target="slide1.xml"/><Relationship Id="rId16" Type="http://schemas.openxmlformats.org/officeDocument/2006/relationships/image" Target="../media/image11.png"/><Relationship Id="rId17" Type="http://schemas.openxmlformats.org/officeDocument/2006/relationships/slide" Target="slide2.xml"/><Relationship Id="rId18" Type="http://schemas.openxmlformats.org/officeDocument/2006/relationships/image" Target="../media/image13.png"/><Relationship Id="rId19" Type="http://schemas.openxmlformats.org/officeDocument/2006/relationships/image" Target="../media/image9.png"/><Relationship Id="rId20" Type="http://schemas.openxmlformats.org/officeDocument/2006/relationships/image" Target="../media/image12.png"/><Relationship Id="rId21" Type="http://schemas.openxmlformats.org/officeDocument/2006/relationships/image" Target="../media/image18.png"/><Relationship Id="rId22" Type="http://schemas.openxmlformats.org/officeDocument/2006/relationships/slide" Target="slide1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slide" Target="slide3.xml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hyperlink" Target="http://ppt/media/image17.png" TargetMode="External"/><Relationship Id="rId7" Type="http://schemas.openxmlformats.org/officeDocument/2006/relationships/slide" Target="slide8.xml"/><Relationship Id="rId8" Type="http://schemas.openxmlformats.org/officeDocument/2006/relationships/hyperlink" Target="http://ppt/media/image19.png" TargetMode="Externa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3.xml"/><Relationship Id="rId12" Type="http://schemas.openxmlformats.org/officeDocument/2006/relationships/slide" Target="slide3.xml"/><Relationship Id="rId13" Type="http://schemas.openxmlformats.org/officeDocument/2006/relationships/slide" Target="slide5.xml"/><Relationship Id="rId14" Type="http://schemas.openxmlformats.org/officeDocument/2006/relationships/slide" Target="slide1.xml"/><Relationship Id="rId15" Type="http://schemas.openxmlformats.org/officeDocument/2006/relationships/slide" Target="slide1.xml"/><Relationship Id="rId16" Type="http://schemas.openxmlformats.org/officeDocument/2006/relationships/image" Target="../media/image11.png"/><Relationship Id="rId17" Type="http://schemas.openxmlformats.org/officeDocument/2006/relationships/slide" Target="slide2.xml"/><Relationship Id="rId18" Type="http://schemas.openxmlformats.org/officeDocument/2006/relationships/image" Target="../media/image4.png"/><Relationship Id="rId19" Type="http://schemas.openxmlformats.org/officeDocument/2006/relationships/image" Target="../media/image23.png"/><Relationship Id="rId20" Type="http://schemas.openxmlformats.org/officeDocument/2006/relationships/image" Target="../media/image22.png"/><Relationship Id="rId21" Type="http://schemas.openxmlformats.org/officeDocument/2006/relationships/image" Target="../media/image18.png"/><Relationship Id="rId22" Type="http://schemas.openxmlformats.org/officeDocument/2006/relationships/slide" Target="slide1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slide" Target="slide3.xml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hyperlink" Target="http://ppt/media/image17.png" TargetMode="External"/><Relationship Id="rId7" Type="http://schemas.openxmlformats.org/officeDocument/2006/relationships/slide" Target="slide8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3.xml"/><Relationship Id="rId11" Type="http://schemas.openxmlformats.org/officeDocument/2006/relationships/slide" Target="slide4.xml"/><Relationship Id="rId12" Type="http://schemas.openxmlformats.org/officeDocument/2006/relationships/slide" Target="slide6.xml"/><Relationship Id="rId13" Type="http://schemas.openxmlformats.org/officeDocument/2006/relationships/slide" Target="slide1.xml"/><Relationship Id="rId14" Type="http://schemas.openxmlformats.org/officeDocument/2006/relationships/slide" Target="slide1.xml"/><Relationship Id="rId15" Type="http://schemas.openxmlformats.org/officeDocument/2006/relationships/image" Target="../media/image11.png"/><Relationship Id="rId16" Type="http://schemas.openxmlformats.org/officeDocument/2006/relationships/slide" Target="slide2.xml"/><Relationship Id="rId17" Type="http://schemas.openxmlformats.org/officeDocument/2006/relationships/image" Target="../media/image4.png"/><Relationship Id="rId18" Type="http://schemas.openxmlformats.org/officeDocument/2006/relationships/image" Target="../media/image18.png"/><Relationship Id="rId19" Type="http://schemas.openxmlformats.org/officeDocument/2006/relationships/slide" Target="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slide" Target="slide3.xml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hyperlink" Target="http://ppt/media/image18.png" TargetMode="External"/><Relationship Id="rId7" Type="http://schemas.openxmlformats.org/officeDocument/2006/relationships/slide" Target="slide8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3.xml"/><Relationship Id="rId11" Type="http://schemas.openxmlformats.org/officeDocument/2006/relationships/slide" Target="slide5.xml"/><Relationship Id="rId12" Type="http://schemas.openxmlformats.org/officeDocument/2006/relationships/slide" Target="slide7.xml"/><Relationship Id="rId13" Type="http://schemas.openxmlformats.org/officeDocument/2006/relationships/slide" Target="slide1.xml"/><Relationship Id="rId14" Type="http://schemas.openxmlformats.org/officeDocument/2006/relationships/slide" Target="slide1.xml"/><Relationship Id="rId15" Type="http://schemas.openxmlformats.org/officeDocument/2006/relationships/image" Target="../media/image11.png"/><Relationship Id="rId16" Type="http://schemas.openxmlformats.org/officeDocument/2006/relationships/slide" Target="slide2.xml"/><Relationship Id="rId17" Type="http://schemas.openxmlformats.org/officeDocument/2006/relationships/image" Target="../media/image15.png"/><Relationship Id="rId18" Type="http://schemas.openxmlformats.org/officeDocument/2006/relationships/image" Target="../media/image18.png"/><Relationship Id="rId19" Type="http://schemas.openxmlformats.org/officeDocument/2006/relationships/slide" Target="slide1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slide" Target="slide3.xml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hyperlink" Target="http://ppt/media/image19.png" TargetMode="External"/><Relationship Id="rId7" Type="http://schemas.openxmlformats.org/officeDocument/2006/relationships/slide" Target="slide8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3.xml"/><Relationship Id="rId11" Type="http://schemas.openxmlformats.org/officeDocument/2006/relationships/slide" Target="slide6.xml"/><Relationship Id="rId12" Type="http://schemas.openxmlformats.org/officeDocument/2006/relationships/slide" Target="slide8.xml"/><Relationship Id="rId13" Type="http://schemas.openxmlformats.org/officeDocument/2006/relationships/slide" Target="slide1.xml"/><Relationship Id="rId14" Type="http://schemas.openxmlformats.org/officeDocument/2006/relationships/slide" Target="slide1.xml"/><Relationship Id="rId15" Type="http://schemas.openxmlformats.org/officeDocument/2006/relationships/image" Target="../media/image11.png"/><Relationship Id="rId16" Type="http://schemas.openxmlformats.org/officeDocument/2006/relationships/slide" Target="slide2.xml"/><Relationship Id="rId17" Type="http://schemas.openxmlformats.org/officeDocument/2006/relationships/image" Target="../media/image23.png"/><Relationship Id="rId18" Type="http://schemas.openxmlformats.org/officeDocument/2006/relationships/image" Target="../media/image18.png"/><Relationship Id="rId19" Type="http://schemas.openxmlformats.org/officeDocument/2006/relationships/slide" Target="slide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slide" Target="slide3.xml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hyperlink" Target="http://ppt/media/image20.png" TargetMode="External"/><Relationship Id="rId7" Type="http://schemas.openxmlformats.org/officeDocument/2006/relationships/slide" Target="slide8.xml"/><Relationship Id="rId8" Type="http://schemas.openxmlformats.org/officeDocument/2006/relationships/hyperlink" Target="http://ppt/media/image22.png" TargetMode="External"/><Relationship Id="rId9" Type="http://schemas.openxmlformats.org/officeDocument/2006/relationships/slide" Target="slide10.xml"/><Relationship Id="rId10" Type="http://schemas.openxmlformats.org/officeDocument/2006/relationships/hyperlink" Target="http://ppt/media/image16.png" TargetMode="External"/><Relationship Id="rId11" Type="http://schemas.openxmlformats.org/officeDocument/2006/relationships/slide" Target="slide11.xml"/><Relationship Id="rId12" Type="http://schemas.openxmlformats.org/officeDocument/2006/relationships/slide" Target="slide13.xml"/><Relationship Id="rId13" Type="http://schemas.openxmlformats.org/officeDocument/2006/relationships/slide" Target="slide7.xml"/><Relationship Id="rId14" Type="http://schemas.openxmlformats.org/officeDocument/2006/relationships/slide" Target="slide9.xml"/><Relationship Id="rId15" Type="http://schemas.openxmlformats.org/officeDocument/2006/relationships/slide" Target="slide1.xml"/><Relationship Id="rId16" Type="http://schemas.openxmlformats.org/officeDocument/2006/relationships/slide" Target="slide1.xml"/><Relationship Id="rId17" Type="http://schemas.openxmlformats.org/officeDocument/2006/relationships/image" Target="../media/image11.png"/><Relationship Id="rId18" Type="http://schemas.openxmlformats.org/officeDocument/2006/relationships/slide" Target="slide2.xml"/><Relationship Id="rId19" Type="http://schemas.openxmlformats.org/officeDocument/2006/relationships/image" Target="../media/image19.png"/><Relationship Id="rId20" Type="http://schemas.openxmlformats.org/officeDocument/2006/relationships/image" Target="../media/image17.png"/><Relationship Id="rId21" Type="http://schemas.openxmlformats.org/officeDocument/2006/relationships/image" Target="../media/image20.png"/><Relationship Id="rId22" Type="http://schemas.openxmlformats.org/officeDocument/2006/relationships/image" Target="../media/image16.png"/><Relationship Id="rId23" Type="http://schemas.openxmlformats.org/officeDocument/2006/relationships/image" Target="../media/image18.png"/><Relationship Id="rId24" Type="http://schemas.openxmlformats.org/officeDocument/2006/relationships/slide" Target="slide1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slide" Target="slide3.xml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hyperlink" Target="http://ppt/media/image20.png" TargetMode="External"/><Relationship Id="rId7" Type="http://schemas.openxmlformats.org/officeDocument/2006/relationships/slide" Target="slide8.xml"/><Relationship Id="rId8" Type="http://schemas.openxmlformats.org/officeDocument/2006/relationships/hyperlink" Target="http://ppt/media/image22.png" TargetMode="External"/><Relationship Id="rId9" Type="http://schemas.openxmlformats.org/officeDocument/2006/relationships/slide" Target="slide10.xml"/><Relationship Id="rId10" Type="http://schemas.openxmlformats.org/officeDocument/2006/relationships/hyperlink" Target="http://ppt/media/image24.png" TargetMode="External"/><Relationship Id="rId11" Type="http://schemas.openxmlformats.org/officeDocument/2006/relationships/slide" Target="slide11.xml"/><Relationship Id="rId12" Type="http://schemas.openxmlformats.org/officeDocument/2006/relationships/slide" Target="slide13.xml"/><Relationship Id="rId13" Type="http://schemas.openxmlformats.org/officeDocument/2006/relationships/slide" Target="slide8.xml"/><Relationship Id="rId14" Type="http://schemas.openxmlformats.org/officeDocument/2006/relationships/slide" Target="slide10.xml"/><Relationship Id="rId15" Type="http://schemas.openxmlformats.org/officeDocument/2006/relationships/slide" Target="slide1.xml"/><Relationship Id="rId16" Type="http://schemas.openxmlformats.org/officeDocument/2006/relationships/slide" Target="slide1.xml"/><Relationship Id="rId17" Type="http://schemas.openxmlformats.org/officeDocument/2006/relationships/image" Target="../media/image11.png"/><Relationship Id="rId18" Type="http://schemas.openxmlformats.org/officeDocument/2006/relationships/slide" Target="slide2.xml"/><Relationship Id="rId19" Type="http://schemas.openxmlformats.org/officeDocument/2006/relationships/image" Target="../media/image19.png"/><Relationship Id="rId20" Type="http://schemas.openxmlformats.org/officeDocument/2006/relationships/image" Target="../media/image17.png"/><Relationship Id="rId21" Type="http://schemas.openxmlformats.org/officeDocument/2006/relationships/image" Target="../media/image21.png"/><Relationship Id="rId22" Type="http://schemas.openxmlformats.org/officeDocument/2006/relationships/image" Target="../media/image20.png"/><Relationship Id="rId23" Type="http://schemas.openxmlformats.org/officeDocument/2006/relationships/image" Target="../media/image16.png"/><Relationship Id="rId24" Type="http://schemas.openxmlformats.org/officeDocument/2006/relationships/image" Target="../media/image18.png"/><Relationship Id="rId25" Type="http://schemas.openxmlformats.org/officeDocument/2006/relationships/slide" Target="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slide" Target="slide3.xml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hyperlink" Target="http://ppt/media/image16.png" TargetMode="External"/><Relationship Id="rId7" Type="http://schemas.openxmlformats.org/officeDocument/2006/relationships/slide" Target="slide8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3.xml"/><Relationship Id="rId11" Type="http://schemas.openxmlformats.org/officeDocument/2006/relationships/slide" Target="slide9.xml"/><Relationship Id="rId12" Type="http://schemas.openxmlformats.org/officeDocument/2006/relationships/slide" Target="slide11.xml"/><Relationship Id="rId13" Type="http://schemas.openxmlformats.org/officeDocument/2006/relationships/slide" Target="slide1.xml"/><Relationship Id="rId14" Type="http://schemas.openxmlformats.org/officeDocument/2006/relationships/slide" Target="slide1.xml"/><Relationship Id="rId15" Type="http://schemas.openxmlformats.org/officeDocument/2006/relationships/image" Target="../media/image11.png"/><Relationship Id="rId16" Type="http://schemas.openxmlformats.org/officeDocument/2006/relationships/slide" Target="slide2.xml"/><Relationship Id="rId17" Type="http://schemas.openxmlformats.org/officeDocument/2006/relationships/image" Target="../media/image18.png"/><Relationship Id="rId18" Type="http://schemas.openxmlformats.org/officeDocument/2006/relationships/slide" Target="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slide" Target="slide3.xml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hyperlink" Target="http://ppt/media/image24.png" TargetMode="External"/><Relationship Id="rId7" Type="http://schemas.openxmlformats.org/officeDocument/2006/relationships/slide" Target="slide8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3.xml"/><Relationship Id="rId11" Type="http://schemas.openxmlformats.org/officeDocument/2006/relationships/slide" Target="slide10.xml"/><Relationship Id="rId12" Type="http://schemas.openxmlformats.org/officeDocument/2006/relationships/slide" Target="slide12.xml"/><Relationship Id="rId13" Type="http://schemas.openxmlformats.org/officeDocument/2006/relationships/slide" Target="slide1.xml"/><Relationship Id="rId14" Type="http://schemas.openxmlformats.org/officeDocument/2006/relationships/slide" Target="slide1.xml"/><Relationship Id="rId15" Type="http://schemas.openxmlformats.org/officeDocument/2006/relationships/image" Target="../media/image11.png"/><Relationship Id="rId16" Type="http://schemas.openxmlformats.org/officeDocument/2006/relationships/slide" Target="slide2.xml"/><Relationship Id="rId17" Type="http://schemas.openxmlformats.org/officeDocument/2006/relationships/image" Target="../media/image21.png"/><Relationship Id="rId18" Type="http://schemas.openxmlformats.org/officeDocument/2006/relationships/image" Target="../media/image18.png"/><Relationship Id="rId19" Type="http://schemas.openxmlformats.org/officeDocument/2006/relationships/slide" Target="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slide" Target="slide3.xml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hyperlink" Target="http://ppt/media/image13.png" TargetMode="External"/><Relationship Id="rId7" Type="http://schemas.openxmlformats.org/officeDocument/2006/relationships/slide" Target="slide8.xml"/><Relationship Id="rId8" Type="http://schemas.openxmlformats.org/officeDocument/2006/relationships/hyperlink" Target="http://ppt/media/image15.png" TargetMode="Externa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3.xml"/><Relationship Id="rId12" Type="http://schemas.openxmlformats.org/officeDocument/2006/relationships/slide" Target="slide11.xml"/><Relationship Id="rId13" Type="http://schemas.openxmlformats.org/officeDocument/2006/relationships/slide" Target="slide13.xml"/><Relationship Id="rId14" Type="http://schemas.openxmlformats.org/officeDocument/2006/relationships/slide" Target="slide1.xml"/><Relationship Id="rId15" Type="http://schemas.openxmlformats.org/officeDocument/2006/relationships/slide" Target="slide1.xml"/><Relationship Id="rId16" Type="http://schemas.openxmlformats.org/officeDocument/2006/relationships/image" Target="../media/image11.png"/><Relationship Id="rId17" Type="http://schemas.openxmlformats.org/officeDocument/2006/relationships/slide" Target="slide2.xml"/><Relationship Id="rId18" Type="http://schemas.openxmlformats.org/officeDocument/2006/relationships/image" Target="../media/image13.png"/><Relationship Id="rId19" Type="http://schemas.openxmlformats.org/officeDocument/2006/relationships/image" Target="../media/image9.png"/><Relationship Id="rId20" Type="http://schemas.openxmlformats.org/officeDocument/2006/relationships/image" Target="../media/image12.png"/><Relationship Id="rId21" Type="http://schemas.openxmlformats.org/officeDocument/2006/relationships/image" Target="../media/image18.png"/><Relationship Id="rId22" Type="http://schemas.openxmlformats.org/officeDocument/2006/relationships/slide" Target="slide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slide" Target="slide15.xml"/><Relationship Id="rId4" Type="http://schemas.openxmlformats.org/officeDocument/2006/relationships/slide" Target="slide15.xml"/><Relationship Id="rId5" Type="http://schemas.openxmlformats.org/officeDocument/2006/relationships/slide" Target="slide15.xml"/><Relationship Id="rId6" Type="http://schemas.openxmlformats.org/officeDocument/2006/relationships/slide" Target="slide14.xml"/><Relationship Id="rId7" Type="http://schemas.openxmlformats.org/officeDocument/2006/relationships/slide" Target="slide14.xml"/><Relationship Id="rId8" Type="http://schemas.openxmlformats.org/officeDocument/2006/relationships/slide" Target="slide15.xml"/><Relationship Id="rId9" Type="http://schemas.openxmlformats.org/officeDocument/2006/relationships/slide" Target="slide3.xml"/><Relationship Id="rId10" Type="http://schemas.openxmlformats.org/officeDocument/2006/relationships/slide" Target="slide2.xml"/><Relationship Id="rId11" Type="http://schemas.openxmlformats.org/officeDocument/2006/relationships/slide" Target="slide4.xml"/><Relationship Id="rId12" Type="http://schemas.openxmlformats.org/officeDocument/2006/relationships/slide" Target="slide8.xml"/><Relationship Id="rId13" Type="http://schemas.openxmlformats.org/officeDocument/2006/relationships/slide" Target="slide10.xml"/><Relationship Id="rId14" Type="http://schemas.openxmlformats.org/officeDocument/2006/relationships/slide" Target="slide11.xml"/><Relationship Id="rId15" Type="http://schemas.openxmlformats.org/officeDocument/2006/relationships/slide" Target="slide13.xml"/><Relationship Id="rId16" Type="http://schemas.openxmlformats.org/officeDocument/2006/relationships/slide" Target="slide12.xml"/><Relationship Id="rId17" Type="http://schemas.openxmlformats.org/officeDocument/2006/relationships/slide" Target="slide13.xml"/><Relationship Id="rId18" Type="http://schemas.openxmlformats.org/officeDocument/2006/relationships/slide" Target="slide1.xml"/><Relationship Id="rId19" Type="http://schemas.openxmlformats.org/officeDocument/2006/relationships/slide" Target="slide1.xml"/><Relationship Id="rId20" Type="http://schemas.openxmlformats.org/officeDocument/2006/relationships/image" Target="../media/image11.png"/><Relationship Id="rId21" Type="http://schemas.openxmlformats.org/officeDocument/2006/relationships/slide" Target="slide2.xml"/><Relationship Id="rId22" Type="http://schemas.openxmlformats.org/officeDocument/2006/relationships/slide" Target="slide15.xml"/><Relationship Id="rId23" Type="http://schemas.openxmlformats.org/officeDocument/2006/relationships/slide" Target="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2.xml"/><Relationship Id="rId6" Type="http://schemas.openxmlformats.org/officeDocument/2006/relationships/slide" Target="slide4.xml"/><Relationship Id="rId7" Type="http://schemas.openxmlformats.org/officeDocument/2006/relationships/slide" Target="slide8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3.xml"/><Relationship Id="rId11" Type="http://schemas.openxmlformats.org/officeDocument/2006/relationships/slide" Target="slide13.xml"/><Relationship Id="rId12" Type="http://schemas.openxmlformats.org/officeDocument/2006/relationships/slide" Target="slide13.xml"/><Relationship Id="rId13" Type="http://schemas.openxmlformats.org/officeDocument/2006/relationships/slide" Target="slide13.xml"/><Relationship Id="rId16" Type="http://schemas.openxmlformats.org/officeDocument/2006/relationships/slide" Target="slide1.xml"/><Relationship Id="rId17" Type="http://schemas.openxmlformats.org/officeDocument/2006/relationships/slide" Target="slide1.xml"/><Relationship Id="rId18" Type="http://schemas.openxmlformats.org/officeDocument/2006/relationships/image" Target="../media/image11.png"/><Relationship Id="rId19" Type="http://schemas.openxmlformats.org/officeDocument/2006/relationships/slide" Target="slide2.xml"/><Relationship Id="rId20" Type="http://schemas.openxmlformats.org/officeDocument/2006/relationships/slide" Target="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slide" Target="slide13.xml"/><Relationship Id="rId4" Type="http://schemas.openxmlformats.org/officeDocument/2006/relationships/slide" Target="slide13.xml"/><Relationship Id="rId5" Type="http://schemas.openxmlformats.org/officeDocument/2006/relationships/slide" Target="slide3.xml"/><Relationship Id="rId6" Type="http://schemas.openxmlformats.org/officeDocument/2006/relationships/slide" Target="slide2.xml"/><Relationship Id="rId7" Type="http://schemas.openxmlformats.org/officeDocument/2006/relationships/slide" Target="slide4.xml"/><Relationship Id="rId8" Type="http://schemas.openxmlformats.org/officeDocument/2006/relationships/slide" Target="slide8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3.xml"/><Relationship Id="rId12" Type="http://schemas.openxmlformats.org/officeDocument/2006/relationships/slide" Target="slide13.xml"/><Relationship Id="rId13" Type="http://schemas.openxmlformats.org/officeDocument/2006/relationships/slide" Target="slide13.xml"/><Relationship Id="rId14" Type="http://schemas.openxmlformats.org/officeDocument/2006/relationships/slide" Target="slide13.xml"/><Relationship Id="rId15" Type="http://schemas.openxmlformats.org/officeDocument/2006/relationships/slide" Target="slide2.xml"/><Relationship Id="rId16" Type="http://schemas.openxmlformats.org/officeDocument/2006/relationships/slide" Target="slide2.xml"/><Relationship Id="rId17" Type="http://schemas.openxmlformats.org/officeDocument/2006/relationships/slide" Target="slide1.xml"/><Relationship Id="rId18" Type="http://schemas.openxmlformats.org/officeDocument/2006/relationships/slide" Target="slide1.xml"/><Relationship Id="rId19" Type="http://schemas.openxmlformats.org/officeDocument/2006/relationships/image" Target="../media/image11.png"/><Relationship Id="rId20" Type="http://schemas.openxmlformats.org/officeDocument/2006/relationships/slide" Target="slide2.xml"/><Relationship Id="rId21" Type="http://schemas.openxmlformats.org/officeDocument/2006/relationships/slide" Target="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8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3.xml"/><Relationship Id="rId9" Type="http://schemas.openxmlformats.org/officeDocument/2006/relationships/slide" Target="slide1.xml"/><Relationship Id="rId10" Type="http://schemas.openxmlformats.org/officeDocument/2006/relationships/image" Target="../media/image11.png"/><Relationship Id="rId11" Type="http://schemas.openxmlformats.org/officeDocument/2006/relationships/slide" Target="slide16.xml"/><Relationship Id="rId12" Type="http://schemas.openxmlformats.org/officeDocument/2006/relationships/slide" Target="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4425" y="-177800"/>
            <a:ext cx="17123301" cy="111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 title="pexels-startup-stock-photos-7376.jpg"/>
          <p:cNvPicPr preferRelativeResize="0"/>
          <p:nvPr/>
        </p:nvPicPr>
        <p:blipFill rotWithShape="1">
          <a:blip r:embed="rId4">
            <a:alphaModFix amt="35000"/>
          </a:blip>
          <a:srcRect b="0" l="22988" r="22988" t="0"/>
          <a:stretch/>
        </p:blipFill>
        <p:spPr>
          <a:xfrm>
            <a:off x="1339036" y="-120650"/>
            <a:ext cx="9058929" cy="1117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0402" y="1245308"/>
            <a:ext cx="12845207" cy="8762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96400" y="-114301"/>
            <a:ext cx="9058926" cy="11169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67658" y="4595812"/>
            <a:ext cx="2263176" cy="18264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 txBox="1"/>
          <p:nvPr/>
        </p:nvSpPr>
        <p:spPr>
          <a:xfrm>
            <a:off x="6115750" y="5449075"/>
            <a:ext cx="9369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O" sz="22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Scrum funciona como un sistema en el que personas, momentos de inspección y elementos de trabajo se conectan para avanzar hacia un objetivo y generar valor.</a:t>
            </a:r>
            <a:endParaRPr b="0" i="0" sz="2800" u="none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202428" y="8028299"/>
            <a:ext cx="3225900" cy="863100"/>
          </a:xfrm>
          <a:prstGeom prst="roundRect">
            <a:avLst>
              <a:gd fmla="val 27586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>
            <a:hlinkClick action="ppaction://hlinksldjump" r:id="rId8"/>
          </p:cNvPr>
          <p:cNvSpPr/>
          <p:nvPr/>
        </p:nvSpPr>
        <p:spPr>
          <a:xfrm>
            <a:off x="6202428" y="7968768"/>
            <a:ext cx="3225900" cy="863100"/>
          </a:xfrm>
          <a:prstGeom prst="roundRect">
            <a:avLst>
              <a:gd fmla="val 27586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Font typeface="Arial"/>
              <a:buNone/>
            </a:pPr>
            <a:r>
              <a:rPr b="1" i="0" lang="es-CO" sz="1992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Comenzar</a:t>
            </a:r>
            <a:endParaRPr b="1" i="0" sz="1992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75859" y="1067484"/>
            <a:ext cx="1191145" cy="1183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865645" y="420404"/>
            <a:ext cx="2398173" cy="53998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 txBox="1"/>
          <p:nvPr/>
        </p:nvSpPr>
        <p:spPr>
          <a:xfrm>
            <a:off x="6115751" y="2834640"/>
            <a:ext cx="124101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O" sz="7200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Scrum por dentro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8525915" y="10310812"/>
            <a:ext cx="1040267" cy="1040267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>
            <a:hlinkClick action="ppaction://hlinksldjump" r:id="rId12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Estructura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>
            <a:hlinkClick action="ppaction://hlinksldjump" r:id="rId13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>
            <a:hlinkClick action="ppaction://hlinksldjump" r:id="rId14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Responsabilidades del Scrum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>
            <a:hlinkClick action="ppaction://hlinksldjump" r:id="rId15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Eventos del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>
            <a:hlinkClick action="ppaction://hlinksldjump" r:id="rId16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Artefactos y compromisos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>
            <a:hlinkClick action="ppaction://hlinksldjump" r:id="rId17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Integración y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>
            <a:hlinkClick action="ppaction://hlinksldjump" r:id="rId18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>
            <a:hlinkClick action="ppaction://hlinksldjump" r:id="rId8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>
            <a:hlinkClick action="ppaction://hlinksldjump" r:id="rId8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1" title="correcciones sapiencia.png">
            <a:hlinkClick action="ppaction://hlinksldjump" r:id="rId8"/>
          </p:cNvPr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">
            <a:hlinkClick action="ppaction://hlinksldjump" r:id="rId8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por dentro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3064074" y="9342814"/>
            <a:ext cx="5209845" cy="87350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>
            <a:hlinkClick action="ppaction://hlinksldjump" r:id="rId24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24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/>
          <p:nvPr/>
        </p:nvSpPr>
        <p:spPr>
          <a:xfrm>
            <a:off x="3887703" y="1984772"/>
            <a:ext cx="1426464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3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Elige por dónde comenzar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3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Estructura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>
            <a:hlinkClick action="ppaction://hlinksldjump" r:id="rId4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5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Responsabilidades del Scrum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>
            <a:hlinkClick action="ppaction://hlinksldjump" r:id="rId6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Eventos del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>
            <a:hlinkClick action="ppaction://hlinksldjump" r:id="rId7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Artefactos y compromisos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8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Integración y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>
            <a:hlinkClick action="ppaction://hlinksldjump" r:id="rId9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591655" y="9872067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>
            <a:hlinkClick action="ppaction://hlinksldjump" r:id="rId10"/>
          </p:cNvPr>
          <p:cNvSpPr/>
          <p:nvPr/>
        </p:nvSpPr>
        <p:spPr>
          <a:xfrm>
            <a:off x="4591655" y="9812536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378374" y="9872067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>
            <a:hlinkClick action="ppaction://hlinksldjump" r:id="rId11"/>
          </p:cNvPr>
          <p:cNvSpPr/>
          <p:nvPr/>
        </p:nvSpPr>
        <p:spPr>
          <a:xfrm>
            <a:off x="6378374" y="9812536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>
            <a:hlinkClick action="ppaction://hlinksldjump" r:id="rId4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>
            <a:hlinkClick action="ppaction://hlinksldjump" r:id="rId4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2" title="correcciones sapiencia.png">
            <a:hlinkClick action="ppaction://hlinksldjump" r:id="rId4"/>
          </p:cNvPr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">
            <a:hlinkClick action="ppaction://hlinksldjump" r:id="rId4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por dentro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3886200" y="1481328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Mapa de navegación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3886200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114800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334256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45537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47823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5001768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3886200" y="3429000"/>
            <a:ext cx="4541520" cy="20116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3886200" y="3429000"/>
            <a:ext cx="128016" cy="2011680"/>
          </a:xfrm>
          <a:prstGeom prst="roundRect">
            <a:avLst>
              <a:gd fmla="val 3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>
            <a:hlinkClick action="ppaction://hlinksldjump" r:id="rId16"/>
          </p:cNvPr>
          <p:cNvSpPr txBox="1"/>
          <p:nvPr/>
        </p:nvSpPr>
        <p:spPr>
          <a:xfrm>
            <a:off x="4297680" y="3840480"/>
            <a:ext cx="381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1. Estructura Scrum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 txBox="1"/>
          <p:nvPr/>
        </p:nvSpPr>
        <p:spPr>
          <a:xfrm>
            <a:off x="4297680" y="4758690"/>
            <a:ext cx="3810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Todo está conectado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8747760" y="3429000"/>
            <a:ext cx="4541520" cy="20116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8747760" y="3429000"/>
            <a:ext cx="128016" cy="2011680"/>
          </a:xfrm>
          <a:prstGeom prst="roundRect">
            <a:avLst>
              <a:gd fmla="val 30000" name="adj"/>
            </a:avLst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>
            <a:hlinkClick action="ppaction://hlinksldjump" r:id="rId17"/>
          </p:cNvPr>
          <p:cNvSpPr txBox="1"/>
          <p:nvPr/>
        </p:nvSpPr>
        <p:spPr>
          <a:xfrm>
            <a:off x="9159240" y="3840480"/>
            <a:ext cx="381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2. Responsabilidades del Scrum Team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9159240" y="4758690"/>
            <a:ext cx="3810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¿Quién hace qué?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13609320" y="3429000"/>
            <a:ext cx="4541520" cy="20116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13609320" y="3429000"/>
            <a:ext cx="128016" cy="2011680"/>
          </a:xfrm>
          <a:prstGeom prst="roundRect">
            <a:avLst>
              <a:gd fmla="val 30000" name="adj"/>
            </a:avLst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>
            <a:hlinkClick action="ppaction://hlinksldjump" r:id="rId18"/>
          </p:cNvPr>
          <p:cNvSpPr txBox="1"/>
          <p:nvPr/>
        </p:nvSpPr>
        <p:spPr>
          <a:xfrm>
            <a:off x="14020799" y="3840480"/>
            <a:ext cx="381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3. Eventos del Scrum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4020799" y="4758690"/>
            <a:ext cx="3810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El ritmo de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886200" y="5760720"/>
            <a:ext cx="4541520" cy="20116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3886200" y="5760720"/>
            <a:ext cx="128016" cy="2011680"/>
          </a:xfrm>
          <a:prstGeom prst="roundRect">
            <a:avLst>
              <a:gd fmla="val 30000" name="adj"/>
            </a:avLst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hlinkClick action="ppaction://hlinksldjump" r:id="rId19"/>
          </p:cNvPr>
          <p:cNvSpPr txBox="1"/>
          <p:nvPr/>
        </p:nvSpPr>
        <p:spPr>
          <a:xfrm>
            <a:off x="4297680" y="6172200"/>
            <a:ext cx="381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4. Artefactos y compromisos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297680" y="7090410"/>
            <a:ext cx="3810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El trabajo se hace visible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747760" y="5760720"/>
            <a:ext cx="4541520" cy="20116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747760" y="5760720"/>
            <a:ext cx="128016" cy="2011680"/>
          </a:xfrm>
          <a:prstGeom prst="roundRect">
            <a:avLst>
              <a:gd fmla="val 30000" name="adj"/>
            </a:avLst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>
            <a:hlinkClick action="ppaction://hlinksldjump" r:id="rId20"/>
          </p:cNvPr>
          <p:cNvSpPr txBox="1"/>
          <p:nvPr/>
        </p:nvSpPr>
        <p:spPr>
          <a:xfrm>
            <a:off x="9159240" y="6172200"/>
            <a:ext cx="381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5. Integración y aprendizaje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9159240" y="7090410"/>
            <a:ext cx="3810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Las piezas se conectan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13609320" y="5760720"/>
            <a:ext cx="4541520" cy="20116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3609320" y="5760720"/>
            <a:ext cx="128016" cy="2011680"/>
          </a:xfrm>
          <a:prstGeom prst="roundRect">
            <a:avLst>
              <a:gd fmla="val 3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>
            <a:hlinkClick action="ppaction://hlinksldjump" r:id="rId21"/>
          </p:cNvPr>
          <p:cNvSpPr txBox="1"/>
          <p:nvPr/>
        </p:nvSpPr>
        <p:spPr>
          <a:xfrm>
            <a:off x="14020799" y="6172200"/>
            <a:ext cx="381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4020799" y="7090410"/>
            <a:ext cx="3810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3886200" y="8229600"/>
            <a:ext cx="1426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s-CO" sz="150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Usa Inicio para volver a este menú desde cualquier otra sección.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>
            <a:hlinkClick action="ppaction://hlinksldjump" r:id="rId22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22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3887703" y="1984772"/>
            <a:ext cx="1426464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3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1. Todo está conectado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>
            <a:hlinkClick action="ppaction://hlinksldjump" r:id="rId3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Estructura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>
            <a:hlinkClick action="ppaction://hlinksldjump" r:id="rId4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>
            <a:hlinkClick action="ppaction://hlinksldjump" r:id="rId5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Responsabilidades del Scrum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>
            <a:hlinkClick r:id="rId6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>
            <a:hlinkClick action="ppaction://hlinksldjump" r:id="rId7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Eventos del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>
            <a:hlinkClick r:id="rId8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>
            <a:hlinkClick action="ppaction://hlinksldjump" r:id="rId9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Artefactos y compromisos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>
            <a:hlinkClick action="ppaction://hlinksldjump" r:id="rId10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Integración y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>
            <a:hlinkClick action="ppaction://hlinksldjump" r:id="rId11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4591655" y="9872067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hlinkClick action="ppaction://hlinksldjump" r:id="rId12"/>
          </p:cNvPr>
          <p:cNvSpPr/>
          <p:nvPr/>
        </p:nvSpPr>
        <p:spPr>
          <a:xfrm>
            <a:off x="4591655" y="9812536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6378374" y="9872067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>
            <a:hlinkClick action="ppaction://hlinksldjump" r:id="rId13"/>
          </p:cNvPr>
          <p:cNvSpPr/>
          <p:nvPr/>
        </p:nvSpPr>
        <p:spPr>
          <a:xfrm>
            <a:off x="6378374" y="9812536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>
            <a:hlinkClick action="ppaction://hlinksldjump" r:id="rId4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>
            <a:hlinkClick action="ppaction://hlinksldjump" r:id="rId4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3" title="correcciones sapiencia.png">
            <a:hlinkClick action="ppaction://hlinksldjump" r:id="rId4"/>
          </p:cNvPr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>
            <a:hlinkClick action="ppaction://hlinksldjump" r:id="rId4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por dentro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3886200" y="1481328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2 · Estructura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3886200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4114800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4334256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45537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47823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5001768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3886200" y="3200400"/>
            <a:ext cx="1426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CO" sz="19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Tres componentes, un mismo sistema: cómo se articulan para organizar el trabajo del equipo.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3886200" y="3786639"/>
            <a:ext cx="4541520" cy="3063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3886200" y="3786639"/>
            <a:ext cx="4541520" cy="9144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4206240" y="4152400"/>
            <a:ext cx="731520" cy="731520"/>
          </a:xfrm>
          <a:prstGeom prst="ellipse">
            <a:avLst/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352544" y="42987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/>
          <p:cNvSpPr txBox="1"/>
          <p:nvPr/>
        </p:nvSpPr>
        <p:spPr>
          <a:xfrm>
            <a:off x="4206240" y="5009650"/>
            <a:ext cx="390144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Responsabilidades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4206240" y="5676400"/>
            <a:ext cx="390144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CO" sz="17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¿Quiénes hacen posible el trabajo?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8747760" y="3786639"/>
            <a:ext cx="4541520" cy="3063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8747760" y="3786639"/>
            <a:ext cx="4541520" cy="91440"/>
          </a:xfrm>
          <a:prstGeom prst="rect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9067800" y="4152400"/>
            <a:ext cx="731520" cy="731520"/>
          </a:xfrm>
          <a:prstGeom prst="ellipse">
            <a:avLst/>
          </a:prstGeom>
          <a:solidFill>
            <a:srgbClr val="E8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9214104" y="429870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9067800" y="5009650"/>
            <a:ext cx="390144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Eventos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9067800" y="5676400"/>
            <a:ext cx="390144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CO" sz="17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¿Cuándo planificamos, inspeccionamos y adaptamos?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13609320" y="3786639"/>
            <a:ext cx="4541520" cy="3063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13609320" y="3786639"/>
            <a:ext cx="4541520" cy="9144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13929360" y="4152400"/>
            <a:ext cx="731520" cy="731520"/>
          </a:xfrm>
          <a:prstGeom prst="ellipse">
            <a:avLst/>
          </a:prstGeom>
          <a:solidFill>
            <a:srgbClr val="E6EE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4075664" y="42987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"/>
          <p:cNvSpPr txBox="1"/>
          <p:nvPr/>
        </p:nvSpPr>
        <p:spPr>
          <a:xfrm>
            <a:off x="13929360" y="5009650"/>
            <a:ext cx="390144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Artefactos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13929360" y="5676400"/>
            <a:ext cx="390144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CO" sz="17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¿Qué hace visible el trabajo y el valor generado?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3886200" y="7238500"/>
            <a:ext cx="14264640" cy="1170432"/>
          </a:xfrm>
          <a:prstGeom prst="roundRect">
            <a:avLst>
              <a:gd fmla="val 12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3886200" y="7238500"/>
            <a:ext cx="82296" cy="1170432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4160520" y="7512820"/>
            <a:ext cx="603504" cy="603504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4288536" y="764083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4983480" y="7366516"/>
            <a:ext cx="129844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¿Qué nos plantea?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4983480" y="7713988"/>
            <a:ext cx="1298448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CO" sz="15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Ningún componente funciona de manera aislada: Scrum adquiere sentido en la relación entre ellos, no en su cumplimiento individual.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3886200" y="8696968"/>
            <a:ext cx="3638550" cy="40233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3886200" y="8696968"/>
            <a:ext cx="36385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O" sz="135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Componentes aislados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7600950" y="8696968"/>
            <a:ext cx="5143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O" sz="2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8210550" y="8696968"/>
            <a:ext cx="3857625" cy="402336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8210550" y="8696968"/>
            <a:ext cx="3857625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O" sz="135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Sistema interdependiente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hosphor calendar-blank, regular, #ddd5e7. https://phosphoricons.com/" id="175" name="Google Shape;175;p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214104" y="4298704"/>
            <a:ext cx="438912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osphor lightbulb, regular, #ddd5e7. https://phosphoricons.com/" id="176" name="Google Shape;176;p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288536" y="76408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>
            <a:hlinkClick action="ppaction://hlinksldjump" r:id="rId22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22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"/>
          <p:cNvSpPr/>
          <p:nvPr/>
        </p:nvSpPr>
        <p:spPr>
          <a:xfrm>
            <a:off x="3887703" y="1984772"/>
            <a:ext cx="1426464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3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2. ¿Quién hace qué?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>
            <a:hlinkClick action="ppaction://hlinksldjump" r:id="rId3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Estructura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>
            <a:hlinkClick action="ppaction://hlinksldjump" r:id="rId4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>
            <a:hlinkClick action="ppaction://hlinksldjump" r:id="rId5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A7198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Responsabilidades del Scrum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>
            <a:hlinkClick r:id="rId6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>
            <a:hlinkClick action="ppaction://hlinksldjump" r:id="rId7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Eventos del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>
            <a:hlinkClick r:id="rId8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>
            <a:hlinkClick action="ppaction://hlinksldjump" r:id="rId9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Artefactos y compromisos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>
            <a:hlinkClick action="ppaction://hlinksldjump" r:id="rId10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Integración y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>
            <a:hlinkClick action="ppaction://hlinksldjump" r:id="rId11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4591655" y="9872067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">
            <a:hlinkClick action="ppaction://hlinksldjump" r:id="rId12"/>
          </p:cNvPr>
          <p:cNvSpPr/>
          <p:nvPr/>
        </p:nvSpPr>
        <p:spPr>
          <a:xfrm>
            <a:off x="4591655" y="9812536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6378374" y="9872067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>
            <a:hlinkClick action="ppaction://hlinksldjump" r:id="rId13"/>
          </p:cNvPr>
          <p:cNvSpPr/>
          <p:nvPr/>
        </p:nvSpPr>
        <p:spPr>
          <a:xfrm>
            <a:off x="6378374" y="9812536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>
            <a:hlinkClick action="ppaction://hlinksldjump" r:id="rId4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>
            <a:hlinkClick action="ppaction://hlinksldjump" r:id="rId4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4" title="correcciones sapiencia.png">
            <a:hlinkClick action="ppaction://hlinksldjump" r:id="rId4"/>
          </p:cNvPr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4">
            <a:hlinkClick action="ppaction://hlinksldjump" r:id="rId4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por dentro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3886200" y="1481328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2 · Estructura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3886200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4114800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4334256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45537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47823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5001768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3886200" y="3200400"/>
            <a:ext cx="1426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CO" sz="19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Las responsabilidades en el Scrum Team: un equipo orientado a objetivos compartidos.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3886200" y="3786639"/>
            <a:ext cx="4541520" cy="3063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3886200" y="3786639"/>
            <a:ext cx="4541520" cy="9144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4206240" y="4152400"/>
            <a:ext cx="731520" cy="731520"/>
          </a:xfrm>
          <a:prstGeom prst="ellipse">
            <a:avLst/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352544" y="42987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"/>
          <p:cNvSpPr txBox="1"/>
          <p:nvPr/>
        </p:nvSpPr>
        <p:spPr>
          <a:xfrm>
            <a:off x="4206240" y="5009650"/>
            <a:ext cx="390144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Product Owner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4206240" y="5676400"/>
            <a:ext cx="390144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s-CO" sz="15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Maximiza el valor del producto y gestiona eficazmente el Product Backlog.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8747760" y="3786639"/>
            <a:ext cx="4541520" cy="3063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8747760" y="3786639"/>
            <a:ext cx="4541520" cy="9144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9067800" y="4152400"/>
            <a:ext cx="731520" cy="731520"/>
          </a:xfrm>
          <a:prstGeom prst="ellipse">
            <a:avLst/>
          </a:prstGeom>
          <a:solidFill>
            <a:srgbClr val="F6EB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9214104" y="429870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"/>
          <p:cNvSpPr txBox="1"/>
          <p:nvPr/>
        </p:nvSpPr>
        <p:spPr>
          <a:xfrm>
            <a:off x="9067800" y="5009650"/>
            <a:ext cx="390144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Scrum Master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 txBox="1"/>
          <p:nvPr/>
        </p:nvSpPr>
        <p:spPr>
          <a:xfrm>
            <a:off x="9067800" y="5676400"/>
            <a:ext cx="390144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s-CO" sz="15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Favorece la comprensión y aplicación de Scrum, y contribuye a mejorar la efectividad del equipo.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13609320" y="3786639"/>
            <a:ext cx="4541520" cy="3063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13609320" y="3786639"/>
            <a:ext cx="4541520" cy="91440"/>
          </a:xfrm>
          <a:prstGeom prst="rect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13929360" y="4152400"/>
            <a:ext cx="731520" cy="731520"/>
          </a:xfrm>
          <a:prstGeom prst="ellipse">
            <a:avLst/>
          </a:prstGeom>
          <a:solidFill>
            <a:srgbClr val="E8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4075664" y="42987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"/>
          <p:cNvSpPr txBox="1"/>
          <p:nvPr/>
        </p:nvSpPr>
        <p:spPr>
          <a:xfrm>
            <a:off x="13929360" y="5009650"/>
            <a:ext cx="390144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Developers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"/>
          <p:cNvSpPr txBox="1"/>
          <p:nvPr/>
        </p:nvSpPr>
        <p:spPr>
          <a:xfrm>
            <a:off x="13929360" y="5676400"/>
            <a:ext cx="390144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s-CO" sz="15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Crean un incremento utilizable y adaptan su plan de trabajo durante cada Sprint.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3886200" y="7238500"/>
            <a:ext cx="14264640" cy="1170432"/>
          </a:xfrm>
          <a:prstGeom prst="roundRect">
            <a:avLst>
              <a:gd fmla="val 12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3886200" y="7238500"/>
            <a:ext cx="82296" cy="1170432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4160520" y="7512820"/>
            <a:ext cx="603504" cy="603504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4288536" y="764083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"/>
          <p:cNvSpPr txBox="1"/>
          <p:nvPr/>
        </p:nvSpPr>
        <p:spPr>
          <a:xfrm>
            <a:off x="4983480" y="7366516"/>
            <a:ext cx="129844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¿Qué nos plantea?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"/>
          <p:cNvSpPr txBox="1"/>
          <p:nvPr/>
        </p:nvSpPr>
        <p:spPr>
          <a:xfrm>
            <a:off x="4983480" y="7713988"/>
            <a:ext cx="1298448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CO" sz="15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El equipo trabaja de manera colaborativa hacia objetivos compartidos. Cada responsabilidad tiene un propósito particular, pero ninguna genera valor de manera aislada.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3886200" y="8696968"/>
            <a:ext cx="3638550" cy="40233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"/>
          <p:cNvSpPr txBox="1"/>
          <p:nvPr/>
        </p:nvSpPr>
        <p:spPr>
          <a:xfrm>
            <a:off x="3886200" y="8696968"/>
            <a:ext cx="36385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O" sz="135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Jerarquía fragmentada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"/>
          <p:cNvSpPr txBox="1"/>
          <p:nvPr/>
        </p:nvSpPr>
        <p:spPr>
          <a:xfrm>
            <a:off x="7600950" y="8696968"/>
            <a:ext cx="5143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O" sz="2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"/>
          <p:cNvSpPr/>
          <p:nvPr/>
        </p:nvSpPr>
        <p:spPr>
          <a:xfrm>
            <a:off x="8210550" y="8696968"/>
            <a:ext cx="3857625" cy="402336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"/>
          <p:cNvSpPr txBox="1"/>
          <p:nvPr/>
        </p:nvSpPr>
        <p:spPr>
          <a:xfrm>
            <a:off x="8210550" y="8696968"/>
            <a:ext cx="3857625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O" sz="135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Responsabilidades compartidas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hosphor handshake, regular, #ddd5e7. https://phosphoricons.com/" id="242" name="Google Shape;242;p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214104" y="4298704"/>
            <a:ext cx="438912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osphor lightbulb, regular, #ddd5e7. https://phosphoricons.com/" id="243" name="Google Shape;243;p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288536" y="76408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>
            <a:hlinkClick action="ppaction://hlinksldjump" r:id="rId22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22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"/>
          <p:cNvSpPr/>
          <p:nvPr/>
        </p:nvSpPr>
        <p:spPr>
          <a:xfrm>
            <a:off x="3887703" y="1984772"/>
            <a:ext cx="1426464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3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3. Product Owner: mantener el foco en el valor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">
            <a:hlinkClick action="ppaction://hlinksldjump" r:id="rId3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Estructura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">
            <a:hlinkClick action="ppaction://hlinksldjump" r:id="rId4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5">
            <a:hlinkClick action="ppaction://hlinksldjump" r:id="rId5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A7198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Responsabilidades del Scrum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5">
            <a:hlinkClick r:id="rId6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">
            <a:hlinkClick action="ppaction://hlinksldjump" r:id="rId7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Eventos del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">
            <a:hlinkClick action="ppaction://hlinksldjump" r:id="rId8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Artefactos y compromisos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">
            <a:hlinkClick action="ppaction://hlinksldjump" r:id="rId9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Integración y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">
            <a:hlinkClick action="ppaction://hlinksldjump" r:id="rId10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4591655" y="9872067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">
            <a:hlinkClick action="ppaction://hlinksldjump" r:id="rId11"/>
          </p:cNvPr>
          <p:cNvSpPr/>
          <p:nvPr/>
        </p:nvSpPr>
        <p:spPr>
          <a:xfrm>
            <a:off x="4591655" y="9812536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6378374" y="9872067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">
            <a:hlinkClick action="ppaction://hlinksldjump" r:id="rId12"/>
          </p:cNvPr>
          <p:cNvSpPr/>
          <p:nvPr/>
        </p:nvSpPr>
        <p:spPr>
          <a:xfrm>
            <a:off x="6378374" y="9812536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5">
            <a:hlinkClick action="ppaction://hlinksldjump" r:id="rId4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">
            <a:hlinkClick action="ppaction://hlinksldjump" r:id="rId4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5" title="correcciones sapiencia.png">
            <a:hlinkClick action="ppaction://hlinksldjump" r:id="rId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5">
            <a:hlinkClick action="ppaction://hlinksldjump" r:id="rId4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por dentro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5"/>
          <p:cNvSpPr txBox="1"/>
          <p:nvPr/>
        </p:nvSpPr>
        <p:spPr>
          <a:xfrm>
            <a:off x="3886200" y="1481328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2 · Estructura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3886200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4114800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4334256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45537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47823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5001768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"/>
          <p:cNvSpPr txBox="1"/>
          <p:nvPr/>
        </p:nvSpPr>
        <p:spPr>
          <a:xfrm>
            <a:off x="3886200" y="3200400"/>
            <a:ext cx="1426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CO" sz="19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Responsabilidad orientada a maximizar el impacto y orientar las prioridades del producto.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3886200" y="3803083"/>
            <a:ext cx="3931920" cy="3108960"/>
          </a:xfrm>
          <a:prstGeom prst="roundRect">
            <a:avLst>
              <a:gd fmla="val 8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5349240" y="4123123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2" name="Google Shape;282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577840" y="4351723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5"/>
          <p:cNvSpPr/>
          <p:nvPr/>
        </p:nvSpPr>
        <p:spPr>
          <a:xfrm>
            <a:off x="4343400" y="5266123"/>
            <a:ext cx="3017520" cy="384048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"/>
          <p:cNvSpPr txBox="1"/>
          <p:nvPr/>
        </p:nvSpPr>
        <p:spPr>
          <a:xfrm>
            <a:off x="4343400" y="5266123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Foco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"/>
          <p:cNvSpPr txBox="1"/>
          <p:nvPr/>
        </p:nvSpPr>
        <p:spPr>
          <a:xfrm>
            <a:off x="4160520" y="5814764"/>
            <a:ext cx="33832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-CO" sz="19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Maximizar el valor del producto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"/>
          <p:cNvSpPr txBox="1"/>
          <p:nvPr/>
        </p:nvSpPr>
        <p:spPr>
          <a:xfrm>
            <a:off x="8229600" y="3803083"/>
            <a:ext cx="9921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¿Cómo contribuye?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"/>
          <p:cNvSpPr/>
          <p:nvPr/>
        </p:nvSpPr>
        <p:spPr>
          <a:xfrm>
            <a:off x="8229600" y="4351723"/>
            <a:ext cx="9921240" cy="762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5"/>
          <p:cNvSpPr/>
          <p:nvPr/>
        </p:nvSpPr>
        <p:spPr>
          <a:xfrm>
            <a:off x="8412480" y="4531556"/>
            <a:ext cx="402336" cy="402336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5"/>
          <p:cNvSpPr txBox="1"/>
          <p:nvPr/>
        </p:nvSpPr>
        <p:spPr>
          <a:xfrm>
            <a:off x="8412480" y="45315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"/>
          <p:cNvSpPr txBox="1"/>
          <p:nvPr/>
        </p:nvSpPr>
        <p:spPr>
          <a:xfrm>
            <a:off x="9006840" y="4351723"/>
            <a:ext cx="896112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s-CO" sz="15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Comunica el </a:t>
            </a:r>
            <a:r>
              <a:rPr b="1" i="0" lang="es-CO" sz="155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Product Goal</a:t>
            </a:r>
            <a:r>
              <a:rPr b="0" i="0" lang="es-CO" sz="15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 de manera clara y compartida para alinear los esfuerzos.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8229600" y="5250883"/>
            <a:ext cx="9921240" cy="762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8412480" y="5430716"/>
            <a:ext cx="402336" cy="402336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"/>
          <p:cNvSpPr txBox="1"/>
          <p:nvPr/>
        </p:nvSpPr>
        <p:spPr>
          <a:xfrm>
            <a:off x="8412480" y="543071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"/>
          <p:cNvSpPr txBox="1"/>
          <p:nvPr/>
        </p:nvSpPr>
        <p:spPr>
          <a:xfrm>
            <a:off x="9006840" y="5250883"/>
            <a:ext cx="896112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s-CO" sz="15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Ordena y prioriza los elementos del </a:t>
            </a:r>
            <a:r>
              <a:rPr b="1" i="0" lang="es-CO" sz="155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Product Backlog</a:t>
            </a:r>
            <a:r>
              <a:rPr b="0" i="0" lang="es-CO" sz="15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 en función del valor que aportan.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8229600" y="6150043"/>
            <a:ext cx="9921240" cy="762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8412480" y="6329876"/>
            <a:ext cx="402336" cy="402336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"/>
          <p:cNvSpPr txBox="1"/>
          <p:nvPr/>
        </p:nvSpPr>
        <p:spPr>
          <a:xfrm>
            <a:off x="8412480" y="63298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"/>
          <p:cNvSpPr txBox="1"/>
          <p:nvPr/>
        </p:nvSpPr>
        <p:spPr>
          <a:xfrm>
            <a:off x="9006840" y="6150043"/>
            <a:ext cx="896112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s-CO" sz="15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Favorece que el backlog sea </a:t>
            </a:r>
            <a:r>
              <a:rPr b="1" i="0" lang="es-CO" sz="155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visible, transparente y comprendido</a:t>
            </a:r>
            <a:r>
              <a:rPr b="0" i="0" lang="es-CO" sz="15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 por todo el equipo y las partes interesadas.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"/>
          <p:cNvSpPr/>
          <p:nvPr/>
        </p:nvSpPr>
        <p:spPr>
          <a:xfrm>
            <a:off x="3886200" y="7254944"/>
            <a:ext cx="14264640" cy="1170432"/>
          </a:xfrm>
          <a:prstGeom prst="roundRect">
            <a:avLst>
              <a:gd fmla="val 12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3886200" y="7254944"/>
            <a:ext cx="82296" cy="1170432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"/>
          <p:cNvSpPr/>
          <p:nvPr/>
        </p:nvSpPr>
        <p:spPr>
          <a:xfrm>
            <a:off x="4160520" y="7529264"/>
            <a:ext cx="603504" cy="603504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4288536" y="76572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5"/>
          <p:cNvSpPr txBox="1"/>
          <p:nvPr/>
        </p:nvSpPr>
        <p:spPr>
          <a:xfrm>
            <a:off x="4983480" y="7382960"/>
            <a:ext cx="129844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¿Qué nos plantea?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"/>
          <p:cNvSpPr txBox="1"/>
          <p:nvPr/>
        </p:nvSpPr>
        <p:spPr>
          <a:xfrm>
            <a:off x="4983480" y="7730432"/>
            <a:ext cx="1298448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CO" sz="15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Decidir qué resulta más valioso también implica establecer prioridades. No se trata de intentar abarcarlo todo, sino de elegir conscientemente qué entrega genera el mayor impacto.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5"/>
          <p:cNvSpPr/>
          <p:nvPr/>
        </p:nvSpPr>
        <p:spPr>
          <a:xfrm>
            <a:off x="3886200" y="8713412"/>
            <a:ext cx="3638550" cy="40233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"/>
          <p:cNvSpPr txBox="1"/>
          <p:nvPr/>
        </p:nvSpPr>
        <p:spPr>
          <a:xfrm>
            <a:off x="3886200" y="8713412"/>
            <a:ext cx="36385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O" sz="135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Acumular peticiones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5"/>
          <p:cNvSpPr txBox="1"/>
          <p:nvPr/>
        </p:nvSpPr>
        <p:spPr>
          <a:xfrm>
            <a:off x="7600950" y="8713412"/>
            <a:ext cx="5143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O" sz="2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5"/>
          <p:cNvSpPr/>
          <p:nvPr/>
        </p:nvSpPr>
        <p:spPr>
          <a:xfrm>
            <a:off x="8210550" y="8713412"/>
            <a:ext cx="3857625" cy="402336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"/>
          <p:cNvSpPr txBox="1"/>
          <p:nvPr/>
        </p:nvSpPr>
        <p:spPr>
          <a:xfrm>
            <a:off x="8210550" y="8713412"/>
            <a:ext cx="3857625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O" sz="135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Priorizar por valor real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hosphor lightbulb, regular, #ddd5e7. https://phosphoricons.com/" id="310" name="Google Shape;310;p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288536" y="76572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>
            <a:hlinkClick action="ppaction://hlinksldjump" r:id="rId19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19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/>
          <p:nvPr/>
        </p:nvSpPr>
        <p:spPr>
          <a:xfrm>
            <a:off x="3887703" y="1984772"/>
            <a:ext cx="1426464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3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4. Scrum Master: hacer posible Scrum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6">
            <a:hlinkClick action="ppaction://hlinksldjump" r:id="rId3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Estructura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6">
            <a:hlinkClick action="ppaction://hlinksldjump" r:id="rId4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6">
            <a:hlinkClick action="ppaction://hlinksldjump" r:id="rId5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A7198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Responsabilidades del Scrum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6">
            <a:hlinkClick r:id="rId6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6">
            <a:hlinkClick action="ppaction://hlinksldjump" r:id="rId7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Eventos del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">
            <a:hlinkClick action="ppaction://hlinksldjump" r:id="rId8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Artefactos y compromisos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6">
            <a:hlinkClick action="ppaction://hlinksldjump" r:id="rId9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Integración y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6">
            <a:hlinkClick action="ppaction://hlinksldjump" r:id="rId10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4591655" y="9872067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6">
            <a:hlinkClick action="ppaction://hlinksldjump" r:id="rId11"/>
          </p:cNvPr>
          <p:cNvSpPr/>
          <p:nvPr/>
        </p:nvSpPr>
        <p:spPr>
          <a:xfrm>
            <a:off x="4591655" y="9812536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6378374" y="9872067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6">
            <a:hlinkClick action="ppaction://hlinksldjump" r:id="rId12"/>
          </p:cNvPr>
          <p:cNvSpPr/>
          <p:nvPr/>
        </p:nvSpPr>
        <p:spPr>
          <a:xfrm>
            <a:off x="6378374" y="9812536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">
            <a:hlinkClick action="ppaction://hlinksldjump" r:id="rId4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6">
            <a:hlinkClick action="ppaction://hlinksldjump" r:id="rId4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6" title="correcciones sapiencia.png">
            <a:hlinkClick action="ppaction://hlinksldjump" r:id="rId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6">
            <a:hlinkClick action="ppaction://hlinksldjump" r:id="rId4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por dentro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"/>
          <p:cNvSpPr txBox="1"/>
          <p:nvPr/>
        </p:nvSpPr>
        <p:spPr>
          <a:xfrm>
            <a:off x="3886200" y="1481328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2 · Estructura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3886200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4114800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4334256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45537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47823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5001768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"/>
          <p:cNvSpPr txBox="1"/>
          <p:nvPr/>
        </p:nvSpPr>
        <p:spPr>
          <a:xfrm>
            <a:off x="3886200" y="3200400"/>
            <a:ext cx="1426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CO" sz="19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El Scrum Master contribuye a que Scrum sea comprendido y aplicado de manera efectiva.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3886200" y="3793251"/>
            <a:ext cx="3931920" cy="3108960"/>
          </a:xfrm>
          <a:prstGeom prst="roundRect">
            <a:avLst>
              <a:gd fmla="val 8000" name="adj"/>
            </a:avLst>
          </a:prstGeom>
          <a:solidFill>
            <a:srgbClr val="F6EB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6"/>
          <p:cNvSpPr/>
          <p:nvPr/>
        </p:nvSpPr>
        <p:spPr>
          <a:xfrm>
            <a:off x="5349240" y="4113291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577840" y="4341891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6"/>
          <p:cNvSpPr/>
          <p:nvPr/>
        </p:nvSpPr>
        <p:spPr>
          <a:xfrm>
            <a:off x="4343400" y="5256291"/>
            <a:ext cx="3017520" cy="384048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6"/>
          <p:cNvSpPr txBox="1"/>
          <p:nvPr/>
        </p:nvSpPr>
        <p:spPr>
          <a:xfrm>
            <a:off x="4343400" y="5256291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Liderazgo servicial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6"/>
          <p:cNvSpPr txBox="1"/>
          <p:nvPr/>
        </p:nvSpPr>
        <p:spPr>
          <a:xfrm>
            <a:off x="4160520" y="5804932"/>
            <a:ext cx="33832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-CO" sz="19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Hacer posible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6"/>
          <p:cNvSpPr txBox="1"/>
          <p:nvPr/>
        </p:nvSpPr>
        <p:spPr>
          <a:xfrm>
            <a:off x="4160520" y="6399291"/>
            <a:ext cx="3383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Al servicio de la efectividad del equipo.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6"/>
          <p:cNvSpPr txBox="1"/>
          <p:nvPr/>
        </p:nvSpPr>
        <p:spPr>
          <a:xfrm>
            <a:off x="8334375" y="3793251"/>
            <a:ext cx="9810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¿Cómo hace posible el trabajo?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6"/>
          <p:cNvSpPr/>
          <p:nvPr/>
        </p:nvSpPr>
        <p:spPr>
          <a:xfrm>
            <a:off x="8229600" y="4341891"/>
            <a:ext cx="9921240" cy="537209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6"/>
          <p:cNvSpPr/>
          <p:nvPr/>
        </p:nvSpPr>
        <p:spPr>
          <a:xfrm>
            <a:off x="8412480" y="4409329"/>
            <a:ext cx="402336" cy="402336"/>
          </a:xfrm>
          <a:prstGeom prst="ellipse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6"/>
          <p:cNvSpPr txBox="1"/>
          <p:nvPr/>
        </p:nvSpPr>
        <p:spPr>
          <a:xfrm>
            <a:off x="8412480" y="4409329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6"/>
          <p:cNvSpPr txBox="1"/>
          <p:nvPr/>
        </p:nvSpPr>
        <p:spPr>
          <a:xfrm>
            <a:off x="9006840" y="4341891"/>
            <a:ext cx="8961120" cy="537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s-CO" sz="155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Facilita </a:t>
            </a:r>
            <a:r>
              <a:rPr b="0" i="0" lang="es-CO" sz="15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conversaciones, acuerdos y eventos para que cumplan su propósito.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6"/>
          <p:cNvSpPr/>
          <p:nvPr/>
        </p:nvSpPr>
        <p:spPr>
          <a:xfrm>
            <a:off x="8229600" y="5016261"/>
            <a:ext cx="9921240" cy="537209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8412480" y="5083699"/>
            <a:ext cx="402336" cy="402336"/>
          </a:xfrm>
          <a:prstGeom prst="ellipse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6"/>
          <p:cNvSpPr txBox="1"/>
          <p:nvPr/>
        </p:nvSpPr>
        <p:spPr>
          <a:xfrm>
            <a:off x="8412480" y="5083699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"/>
          <p:cNvSpPr txBox="1"/>
          <p:nvPr/>
        </p:nvSpPr>
        <p:spPr>
          <a:xfrm>
            <a:off x="9006840" y="5016261"/>
            <a:ext cx="8961120" cy="537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s-CO" sz="155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Orienta </a:t>
            </a:r>
            <a:r>
              <a:rPr b="0" i="0" lang="es-CO" sz="15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al equipo y a la organización en los principios y valores de la agilidad.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6"/>
          <p:cNvSpPr/>
          <p:nvPr/>
        </p:nvSpPr>
        <p:spPr>
          <a:xfrm>
            <a:off x="8229600" y="5690631"/>
            <a:ext cx="9921240" cy="537209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8412480" y="5758068"/>
            <a:ext cx="402336" cy="402336"/>
          </a:xfrm>
          <a:prstGeom prst="ellipse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6"/>
          <p:cNvSpPr txBox="1"/>
          <p:nvPr/>
        </p:nvSpPr>
        <p:spPr>
          <a:xfrm>
            <a:off x="8412480" y="57580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"/>
          <p:cNvSpPr txBox="1"/>
          <p:nvPr/>
        </p:nvSpPr>
        <p:spPr>
          <a:xfrm>
            <a:off x="9006840" y="5690631"/>
            <a:ext cx="8961120" cy="537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s-CO" sz="155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Ayuda a remover obstáculos </a:t>
            </a:r>
            <a:r>
              <a:rPr b="0" i="0" lang="es-CO" sz="15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que frenan el avance del Scrum Team.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6"/>
          <p:cNvSpPr/>
          <p:nvPr/>
        </p:nvSpPr>
        <p:spPr>
          <a:xfrm>
            <a:off x="8229600" y="6365002"/>
            <a:ext cx="9921240" cy="537209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6"/>
          <p:cNvSpPr/>
          <p:nvPr/>
        </p:nvSpPr>
        <p:spPr>
          <a:xfrm>
            <a:off x="8412480" y="6432439"/>
            <a:ext cx="402336" cy="402336"/>
          </a:xfrm>
          <a:prstGeom prst="ellipse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6"/>
          <p:cNvSpPr txBox="1"/>
          <p:nvPr/>
        </p:nvSpPr>
        <p:spPr>
          <a:xfrm>
            <a:off x="8412480" y="6432439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6"/>
          <p:cNvSpPr txBox="1"/>
          <p:nvPr/>
        </p:nvSpPr>
        <p:spPr>
          <a:xfrm>
            <a:off x="9006840" y="6365002"/>
            <a:ext cx="8961120" cy="537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s-CO" sz="155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Promueve la mejora continua </a:t>
            </a:r>
            <a:r>
              <a:rPr b="0" i="0" lang="es-CO" sz="15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de las prácticas y la efectividad colectiva.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6"/>
          <p:cNvSpPr/>
          <p:nvPr/>
        </p:nvSpPr>
        <p:spPr>
          <a:xfrm>
            <a:off x="3886200" y="7245112"/>
            <a:ext cx="14264640" cy="1170432"/>
          </a:xfrm>
          <a:prstGeom prst="roundRect">
            <a:avLst>
              <a:gd fmla="val 12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6"/>
          <p:cNvSpPr/>
          <p:nvPr/>
        </p:nvSpPr>
        <p:spPr>
          <a:xfrm>
            <a:off x="3886200" y="7245112"/>
            <a:ext cx="82296" cy="1170432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6"/>
          <p:cNvSpPr/>
          <p:nvPr/>
        </p:nvSpPr>
        <p:spPr>
          <a:xfrm>
            <a:off x="4160520" y="7519432"/>
            <a:ext cx="603504" cy="603504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6"/>
          <p:cNvSpPr/>
          <p:nvPr/>
        </p:nvSpPr>
        <p:spPr>
          <a:xfrm>
            <a:off x="4288536" y="76474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6"/>
          <p:cNvSpPr txBox="1"/>
          <p:nvPr/>
        </p:nvSpPr>
        <p:spPr>
          <a:xfrm>
            <a:off x="4983480" y="7373128"/>
            <a:ext cx="129844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¿Qué nos plantea?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6"/>
          <p:cNvSpPr txBox="1"/>
          <p:nvPr/>
        </p:nvSpPr>
        <p:spPr>
          <a:xfrm>
            <a:off x="4983480" y="7720600"/>
            <a:ext cx="1298448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CO" sz="15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No dirige al equipo como un jefe tradicional; favorece las condiciones y la cultura necesarias para que el Scrum Team pueda autoorganizarse y trabajar con mayor efectividad.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6"/>
          <p:cNvSpPr/>
          <p:nvPr/>
        </p:nvSpPr>
        <p:spPr>
          <a:xfrm>
            <a:off x="3886200" y="8703580"/>
            <a:ext cx="3638550" cy="40233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6"/>
          <p:cNvSpPr txBox="1"/>
          <p:nvPr/>
        </p:nvSpPr>
        <p:spPr>
          <a:xfrm>
            <a:off x="3886200" y="8703580"/>
            <a:ext cx="36385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O" sz="135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Jefe o supervisor tradicional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6"/>
          <p:cNvSpPr txBox="1"/>
          <p:nvPr/>
        </p:nvSpPr>
        <p:spPr>
          <a:xfrm>
            <a:off x="7600950" y="8703580"/>
            <a:ext cx="5143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O" sz="2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6"/>
          <p:cNvSpPr/>
          <p:nvPr/>
        </p:nvSpPr>
        <p:spPr>
          <a:xfrm>
            <a:off x="8210550" y="8703580"/>
            <a:ext cx="3857625" cy="402336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6"/>
          <p:cNvSpPr txBox="1"/>
          <p:nvPr/>
        </p:nvSpPr>
        <p:spPr>
          <a:xfrm>
            <a:off x="8210550" y="8703580"/>
            <a:ext cx="3857625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O" sz="135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Líder que facilita y remueve obstáculos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hosphor lightbulb, regular, #ddd5e7. https://phosphoricons.com/" id="382" name="Google Shape;382;p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288536" y="764744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>
            <a:hlinkClick action="ppaction://hlinksldjump" r:id="rId19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19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"/>
          <p:cNvSpPr/>
          <p:nvPr/>
        </p:nvSpPr>
        <p:spPr>
          <a:xfrm>
            <a:off x="3887703" y="1984772"/>
            <a:ext cx="1426464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3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5. Developers: convertir objetivos en resultados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7">
            <a:hlinkClick action="ppaction://hlinksldjump" r:id="rId3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Estructura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7">
            <a:hlinkClick action="ppaction://hlinksldjump" r:id="rId4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7">
            <a:hlinkClick action="ppaction://hlinksldjump" r:id="rId5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A7198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Responsabilidades del Scrum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7">
            <a:hlinkClick r:id="rId6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7">
            <a:hlinkClick action="ppaction://hlinksldjump" r:id="rId7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Eventos del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7">
            <a:hlinkClick action="ppaction://hlinksldjump" r:id="rId8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Artefactos y compromisos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7">
            <a:hlinkClick action="ppaction://hlinksldjump" r:id="rId9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Integración y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7"/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7">
            <a:hlinkClick action="ppaction://hlinksldjump" r:id="rId10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4591655" y="9872067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7">
            <a:hlinkClick action="ppaction://hlinksldjump" r:id="rId11"/>
          </p:cNvPr>
          <p:cNvSpPr/>
          <p:nvPr/>
        </p:nvSpPr>
        <p:spPr>
          <a:xfrm>
            <a:off x="4591655" y="9812536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7"/>
          <p:cNvSpPr/>
          <p:nvPr/>
        </p:nvSpPr>
        <p:spPr>
          <a:xfrm>
            <a:off x="6378374" y="9872067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7">
            <a:hlinkClick action="ppaction://hlinksldjump" r:id="rId12"/>
          </p:cNvPr>
          <p:cNvSpPr/>
          <p:nvPr/>
        </p:nvSpPr>
        <p:spPr>
          <a:xfrm>
            <a:off x="6378374" y="9812536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7">
            <a:hlinkClick action="ppaction://hlinksldjump" r:id="rId4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7">
            <a:hlinkClick action="ppaction://hlinksldjump" r:id="rId4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7" title="correcciones sapiencia.png">
            <a:hlinkClick action="ppaction://hlinksldjump" r:id="rId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7">
            <a:hlinkClick action="ppaction://hlinksldjump" r:id="rId4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por dentro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7"/>
          <p:cNvSpPr txBox="1"/>
          <p:nvPr/>
        </p:nvSpPr>
        <p:spPr>
          <a:xfrm>
            <a:off x="3886200" y="1481328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2 · Estructura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3886200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7"/>
          <p:cNvSpPr/>
          <p:nvPr/>
        </p:nvSpPr>
        <p:spPr>
          <a:xfrm>
            <a:off x="4114800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7"/>
          <p:cNvSpPr/>
          <p:nvPr/>
        </p:nvSpPr>
        <p:spPr>
          <a:xfrm>
            <a:off x="4334256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7"/>
          <p:cNvSpPr/>
          <p:nvPr/>
        </p:nvSpPr>
        <p:spPr>
          <a:xfrm>
            <a:off x="45537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7"/>
          <p:cNvSpPr/>
          <p:nvPr/>
        </p:nvSpPr>
        <p:spPr>
          <a:xfrm>
            <a:off x="47823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7"/>
          <p:cNvSpPr/>
          <p:nvPr/>
        </p:nvSpPr>
        <p:spPr>
          <a:xfrm>
            <a:off x="5001768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7"/>
          <p:cNvSpPr txBox="1"/>
          <p:nvPr/>
        </p:nvSpPr>
        <p:spPr>
          <a:xfrm>
            <a:off x="3886200" y="3200400"/>
            <a:ext cx="1426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CO" sz="19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Transforman las prioridades seleccionadas en un incremento utilizable durante el Sprint.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7"/>
          <p:cNvSpPr/>
          <p:nvPr/>
        </p:nvSpPr>
        <p:spPr>
          <a:xfrm>
            <a:off x="3886200" y="3781553"/>
            <a:ext cx="3931920" cy="3108960"/>
          </a:xfrm>
          <a:prstGeom prst="roundRect">
            <a:avLst>
              <a:gd fmla="val 8000" name="adj"/>
            </a:avLst>
          </a:prstGeom>
          <a:solidFill>
            <a:srgbClr val="E8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7"/>
          <p:cNvSpPr/>
          <p:nvPr/>
        </p:nvSpPr>
        <p:spPr>
          <a:xfrm>
            <a:off x="5349240" y="4101593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577840" y="4330193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7"/>
          <p:cNvSpPr/>
          <p:nvPr/>
        </p:nvSpPr>
        <p:spPr>
          <a:xfrm>
            <a:off x="4343400" y="5244593"/>
            <a:ext cx="3017520" cy="384048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7"/>
          <p:cNvSpPr txBox="1"/>
          <p:nvPr/>
        </p:nvSpPr>
        <p:spPr>
          <a:xfrm>
            <a:off x="4343400" y="5244593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Foco técnico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7"/>
          <p:cNvSpPr txBox="1"/>
          <p:nvPr/>
        </p:nvSpPr>
        <p:spPr>
          <a:xfrm>
            <a:off x="4160520" y="5793234"/>
            <a:ext cx="33832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-CO" sz="19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Crear un incremento utilizable y con alta calidad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7"/>
          <p:cNvSpPr txBox="1"/>
          <p:nvPr/>
        </p:nvSpPr>
        <p:spPr>
          <a:xfrm>
            <a:off x="8229600" y="3781553"/>
            <a:ext cx="9921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¿Cómo contribuyen al resultado?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7"/>
          <p:cNvSpPr/>
          <p:nvPr/>
        </p:nvSpPr>
        <p:spPr>
          <a:xfrm>
            <a:off x="8229600" y="4330193"/>
            <a:ext cx="9921240" cy="537209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7"/>
          <p:cNvSpPr/>
          <p:nvPr/>
        </p:nvSpPr>
        <p:spPr>
          <a:xfrm>
            <a:off x="8412480" y="4397631"/>
            <a:ext cx="402336" cy="402336"/>
          </a:xfrm>
          <a:prstGeom prst="ellipse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7"/>
          <p:cNvSpPr txBox="1"/>
          <p:nvPr/>
        </p:nvSpPr>
        <p:spPr>
          <a:xfrm>
            <a:off x="8412480" y="4397631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7"/>
          <p:cNvSpPr txBox="1"/>
          <p:nvPr/>
        </p:nvSpPr>
        <p:spPr>
          <a:xfrm>
            <a:off x="9006840" y="4330193"/>
            <a:ext cx="8961120" cy="537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s-CO" sz="155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Planifican el trabajo: </a:t>
            </a:r>
            <a:r>
              <a:rPr b="0" i="0" lang="es-CO" sz="15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analizan los ítems seleccionados y definen cómo abordarlos en el Sprint.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7"/>
          <p:cNvSpPr/>
          <p:nvPr/>
        </p:nvSpPr>
        <p:spPr>
          <a:xfrm>
            <a:off x="8229600" y="5004563"/>
            <a:ext cx="9921240" cy="537209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7"/>
          <p:cNvSpPr/>
          <p:nvPr/>
        </p:nvSpPr>
        <p:spPr>
          <a:xfrm>
            <a:off x="8412480" y="5072001"/>
            <a:ext cx="402336" cy="402336"/>
          </a:xfrm>
          <a:prstGeom prst="ellipse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7"/>
          <p:cNvSpPr txBox="1"/>
          <p:nvPr/>
        </p:nvSpPr>
        <p:spPr>
          <a:xfrm>
            <a:off x="8412480" y="5072001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7"/>
          <p:cNvSpPr txBox="1"/>
          <p:nvPr/>
        </p:nvSpPr>
        <p:spPr>
          <a:xfrm>
            <a:off x="9006840" y="5004563"/>
            <a:ext cx="8961120" cy="537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s-CO" sz="155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Adaptan el Sprint Backlog: </a:t>
            </a:r>
            <a:r>
              <a:rPr b="0" i="0" lang="es-CO" sz="15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ajustan su plan de trabajo de manera continua según el avance y los hallazgos.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7"/>
          <p:cNvSpPr/>
          <p:nvPr/>
        </p:nvSpPr>
        <p:spPr>
          <a:xfrm>
            <a:off x="8229600" y="5678933"/>
            <a:ext cx="9921240" cy="537209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7"/>
          <p:cNvSpPr/>
          <p:nvPr/>
        </p:nvSpPr>
        <p:spPr>
          <a:xfrm>
            <a:off x="8412480" y="5746370"/>
            <a:ext cx="402336" cy="402336"/>
          </a:xfrm>
          <a:prstGeom prst="ellipse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7"/>
          <p:cNvSpPr txBox="1"/>
          <p:nvPr/>
        </p:nvSpPr>
        <p:spPr>
          <a:xfrm>
            <a:off x="8412480" y="574637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7"/>
          <p:cNvSpPr txBox="1"/>
          <p:nvPr/>
        </p:nvSpPr>
        <p:spPr>
          <a:xfrm>
            <a:off x="9006840" y="5678933"/>
            <a:ext cx="8961120" cy="537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s-CO" sz="155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Mantienen la calidad: </a:t>
            </a:r>
            <a:r>
              <a:rPr b="0" i="0" lang="es-CO" sz="15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aplican buenas prácticas técnicas, realizan pruebas y aseguran un trabajo bien hecho.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7"/>
          <p:cNvSpPr/>
          <p:nvPr/>
        </p:nvSpPr>
        <p:spPr>
          <a:xfrm>
            <a:off x="8229600" y="6353304"/>
            <a:ext cx="9921240" cy="537209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7"/>
          <p:cNvSpPr/>
          <p:nvPr/>
        </p:nvSpPr>
        <p:spPr>
          <a:xfrm>
            <a:off x="8412480" y="6420741"/>
            <a:ext cx="402336" cy="402336"/>
          </a:xfrm>
          <a:prstGeom prst="ellipse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7"/>
          <p:cNvSpPr txBox="1"/>
          <p:nvPr/>
        </p:nvSpPr>
        <p:spPr>
          <a:xfrm>
            <a:off x="8412480" y="6420741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7"/>
          <p:cNvSpPr txBox="1"/>
          <p:nvPr/>
        </p:nvSpPr>
        <p:spPr>
          <a:xfrm>
            <a:off x="9006840" y="6353304"/>
            <a:ext cx="8961120" cy="537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s-CO" sz="155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Construyen el Incremento: </a:t>
            </a:r>
            <a:r>
              <a:rPr b="0" i="0" lang="es-CO" sz="15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entregan un resultado funcional, utilizable y que aporta valor al producto.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7"/>
          <p:cNvSpPr/>
          <p:nvPr/>
        </p:nvSpPr>
        <p:spPr>
          <a:xfrm>
            <a:off x="3886200" y="7233414"/>
            <a:ext cx="14264640" cy="1170432"/>
          </a:xfrm>
          <a:prstGeom prst="roundRect">
            <a:avLst>
              <a:gd fmla="val 12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7"/>
          <p:cNvSpPr/>
          <p:nvPr/>
        </p:nvSpPr>
        <p:spPr>
          <a:xfrm>
            <a:off x="3886200" y="7233414"/>
            <a:ext cx="82296" cy="1170432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7"/>
          <p:cNvSpPr/>
          <p:nvPr/>
        </p:nvSpPr>
        <p:spPr>
          <a:xfrm>
            <a:off x="4160520" y="7507734"/>
            <a:ext cx="603504" cy="603504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7"/>
          <p:cNvSpPr/>
          <p:nvPr/>
        </p:nvSpPr>
        <p:spPr>
          <a:xfrm>
            <a:off x="4288536" y="763575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7"/>
          <p:cNvSpPr txBox="1"/>
          <p:nvPr/>
        </p:nvSpPr>
        <p:spPr>
          <a:xfrm>
            <a:off x="4983480" y="7361430"/>
            <a:ext cx="129844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¿Qué nos plantea?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7"/>
          <p:cNvSpPr txBox="1"/>
          <p:nvPr/>
        </p:nvSpPr>
        <p:spPr>
          <a:xfrm>
            <a:off x="4983480" y="7708902"/>
            <a:ext cx="1298448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CO" sz="15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Su responsabilidad se orienta a convertir el objetivo del Sprint en un resultado concreto, utilizable y verificado en la realidad.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7"/>
          <p:cNvSpPr/>
          <p:nvPr/>
        </p:nvSpPr>
        <p:spPr>
          <a:xfrm>
            <a:off x="3886200" y="8691882"/>
            <a:ext cx="3638550" cy="40233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7"/>
          <p:cNvSpPr txBox="1"/>
          <p:nvPr/>
        </p:nvSpPr>
        <p:spPr>
          <a:xfrm>
            <a:off x="3886200" y="8691882"/>
            <a:ext cx="36385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O" sz="135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Ejecutar tareas aisladas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7"/>
          <p:cNvSpPr txBox="1"/>
          <p:nvPr/>
        </p:nvSpPr>
        <p:spPr>
          <a:xfrm>
            <a:off x="7600950" y="8691882"/>
            <a:ext cx="5143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O" sz="2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"/>
          <p:cNvSpPr/>
          <p:nvPr/>
        </p:nvSpPr>
        <p:spPr>
          <a:xfrm>
            <a:off x="8210550" y="8691882"/>
            <a:ext cx="3857625" cy="402336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7"/>
          <p:cNvSpPr txBox="1"/>
          <p:nvPr/>
        </p:nvSpPr>
        <p:spPr>
          <a:xfrm>
            <a:off x="8210550" y="8691882"/>
            <a:ext cx="3857625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O" sz="135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Entregar incrementos útiles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hosphor lightbulb, regular, #ddd5e7. https://phosphoricons.com/" id="453" name="Google Shape;453;p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288536" y="763575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>
            <a:hlinkClick action="ppaction://hlinksldjump" r:id="rId19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19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8"/>
          <p:cNvSpPr/>
          <p:nvPr/>
        </p:nvSpPr>
        <p:spPr>
          <a:xfrm>
            <a:off x="3887703" y="1984772"/>
            <a:ext cx="1426464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3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6. El ritmo de Scrum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8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8"/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8">
            <a:hlinkClick action="ppaction://hlinksldjump" r:id="rId3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Estructura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8">
            <a:hlinkClick action="ppaction://hlinksldjump" r:id="rId4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8">
            <a:hlinkClick action="ppaction://hlinksldjump" r:id="rId5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Responsabilidades del Scrum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8">
            <a:hlinkClick r:id="rId6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8">
            <a:hlinkClick action="ppaction://hlinksldjump" r:id="rId7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2A56C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Eventos del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8">
            <a:hlinkClick r:id="rId8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8">
            <a:hlinkClick action="ppaction://hlinksldjump" r:id="rId9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Artefactos y compromisos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8">
            <a:hlinkClick r:id="rId10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8">
            <a:hlinkClick action="ppaction://hlinksldjump" r:id="rId11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Integración y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8"/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8">
            <a:hlinkClick action="ppaction://hlinksldjump" r:id="rId12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8"/>
          <p:cNvSpPr/>
          <p:nvPr/>
        </p:nvSpPr>
        <p:spPr>
          <a:xfrm>
            <a:off x="4591655" y="9872067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8">
            <a:hlinkClick action="ppaction://hlinksldjump" r:id="rId13"/>
          </p:cNvPr>
          <p:cNvSpPr/>
          <p:nvPr/>
        </p:nvSpPr>
        <p:spPr>
          <a:xfrm>
            <a:off x="4591655" y="9812536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8"/>
          <p:cNvSpPr/>
          <p:nvPr/>
        </p:nvSpPr>
        <p:spPr>
          <a:xfrm>
            <a:off x="6378374" y="9872067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8">
            <a:hlinkClick action="ppaction://hlinksldjump" r:id="rId14"/>
          </p:cNvPr>
          <p:cNvSpPr/>
          <p:nvPr/>
        </p:nvSpPr>
        <p:spPr>
          <a:xfrm>
            <a:off x="6378374" y="9812536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8">
            <a:hlinkClick action="ppaction://hlinksldjump" r:id="rId4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8">
            <a:hlinkClick action="ppaction://hlinksldjump" r:id="rId4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0" name="Google Shape;480;p8" title="correcciones sapiencia.png">
            <a:hlinkClick action="ppaction://hlinksldjump" r:id="rId4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8">
            <a:hlinkClick action="ppaction://hlinksldjump" r:id="rId4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por dentro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8"/>
          <p:cNvSpPr txBox="1"/>
          <p:nvPr/>
        </p:nvSpPr>
        <p:spPr>
          <a:xfrm>
            <a:off x="3886200" y="1481328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2 · Estructura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8"/>
          <p:cNvSpPr/>
          <p:nvPr/>
        </p:nvSpPr>
        <p:spPr>
          <a:xfrm>
            <a:off x="3886200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8"/>
          <p:cNvSpPr/>
          <p:nvPr/>
        </p:nvSpPr>
        <p:spPr>
          <a:xfrm>
            <a:off x="4114800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8"/>
          <p:cNvSpPr/>
          <p:nvPr/>
        </p:nvSpPr>
        <p:spPr>
          <a:xfrm>
            <a:off x="4334256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8"/>
          <p:cNvSpPr/>
          <p:nvPr/>
        </p:nvSpPr>
        <p:spPr>
          <a:xfrm>
            <a:off x="45537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8"/>
          <p:cNvSpPr/>
          <p:nvPr/>
        </p:nvSpPr>
        <p:spPr>
          <a:xfrm>
            <a:off x="47823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8"/>
          <p:cNvSpPr/>
          <p:nvPr/>
        </p:nvSpPr>
        <p:spPr>
          <a:xfrm>
            <a:off x="5001768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8"/>
          <p:cNvSpPr txBox="1"/>
          <p:nvPr/>
        </p:nvSpPr>
        <p:spPr>
          <a:xfrm>
            <a:off x="3886200" y="3200400"/>
            <a:ext cx="1426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CO" sz="19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El Sprint contiene eventos que crean oportunidades formales para inspeccionar y adaptar.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3886200" y="3767196"/>
            <a:ext cx="14264640" cy="384048"/>
          </a:xfrm>
          <a:prstGeom prst="roundRect">
            <a:avLst>
              <a:gd fmla="val 50000" name="adj"/>
            </a:avLst>
          </a:prstGeom>
          <a:solidFill>
            <a:srgbClr val="E8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8"/>
          <p:cNvSpPr txBox="1"/>
          <p:nvPr/>
        </p:nvSpPr>
        <p:spPr>
          <a:xfrm>
            <a:off x="3886200" y="3767196"/>
            <a:ext cx="1426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Ciclo del Sprint  </a:t>
            </a:r>
            <a:r>
              <a:rPr b="0" i="0" lang="es-CO" sz="15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Inspeccionar · Adaptar · Generar 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8"/>
          <p:cNvSpPr/>
          <p:nvPr/>
        </p:nvSpPr>
        <p:spPr>
          <a:xfrm>
            <a:off x="3886200" y="4361555"/>
            <a:ext cx="3326130" cy="26289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8"/>
          <p:cNvSpPr/>
          <p:nvPr/>
        </p:nvSpPr>
        <p:spPr>
          <a:xfrm>
            <a:off x="3886200" y="4361555"/>
            <a:ext cx="3326130" cy="9144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8"/>
          <p:cNvSpPr/>
          <p:nvPr/>
        </p:nvSpPr>
        <p:spPr>
          <a:xfrm>
            <a:off x="4267200" y="4559676"/>
            <a:ext cx="609600" cy="609600"/>
          </a:xfrm>
          <a:prstGeom prst="ellipse">
            <a:avLst/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5" name="Google Shape;495;p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352544" y="464502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8"/>
          <p:cNvSpPr txBox="1"/>
          <p:nvPr/>
        </p:nvSpPr>
        <p:spPr>
          <a:xfrm>
            <a:off x="4206240" y="5340726"/>
            <a:ext cx="26860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s-CO" sz="165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Sprint Planning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8"/>
          <p:cNvSpPr txBox="1"/>
          <p:nvPr/>
        </p:nvSpPr>
        <p:spPr>
          <a:xfrm>
            <a:off x="4206240" y="5893176"/>
            <a:ext cx="2686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Define por qué el Sprint es valioso, qué puede realizarse y cómo se abordará el trabajo.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8"/>
          <p:cNvSpPr/>
          <p:nvPr/>
        </p:nvSpPr>
        <p:spPr>
          <a:xfrm>
            <a:off x="7532370" y="4361555"/>
            <a:ext cx="3326130" cy="26289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8"/>
          <p:cNvSpPr/>
          <p:nvPr/>
        </p:nvSpPr>
        <p:spPr>
          <a:xfrm>
            <a:off x="7532370" y="4361555"/>
            <a:ext cx="3326130" cy="9144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8"/>
          <p:cNvSpPr/>
          <p:nvPr/>
        </p:nvSpPr>
        <p:spPr>
          <a:xfrm>
            <a:off x="7913370" y="4559676"/>
            <a:ext cx="609600" cy="609600"/>
          </a:xfrm>
          <a:prstGeom prst="ellipse">
            <a:avLst/>
          </a:prstGeom>
          <a:solidFill>
            <a:srgbClr val="F6EB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8"/>
          <p:cNvSpPr/>
          <p:nvPr/>
        </p:nvSpPr>
        <p:spPr>
          <a:xfrm>
            <a:off x="7998714" y="46450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8"/>
          <p:cNvSpPr txBox="1"/>
          <p:nvPr/>
        </p:nvSpPr>
        <p:spPr>
          <a:xfrm>
            <a:off x="7852410" y="5340726"/>
            <a:ext cx="26860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s-CO" sz="165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Daily Scrum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8"/>
          <p:cNvSpPr txBox="1"/>
          <p:nvPr/>
        </p:nvSpPr>
        <p:spPr>
          <a:xfrm>
            <a:off x="7852410" y="5893176"/>
            <a:ext cx="2686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Permite inspeccionar el progreso hacia el Sprint Goal y adaptar el plan cuando sea necesario.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8"/>
          <p:cNvSpPr/>
          <p:nvPr/>
        </p:nvSpPr>
        <p:spPr>
          <a:xfrm>
            <a:off x="11178540" y="4361555"/>
            <a:ext cx="3326130" cy="26289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8"/>
          <p:cNvSpPr/>
          <p:nvPr/>
        </p:nvSpPr>
        <p:spPr>
          <a:xfrm>
            <a:off x="11178540" y="4361555"/>
            <a:ext cx="3326130" cy="91440"/>
          </a:xfrm>
          <a:prstGeom prst="rect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8"/>
          <p:cNvSpPr/>
          <p:nvPr/>
        </p:nvSpPr>
        <p:spPr>
          <a:xfrm>
            <a:off x="11559540" y="4559676"/>
            <a:ext cx="609600" cy="609600"/>
          </a:xfrm>
          <a:prstGeom prst="ellipse">
            <a:avLst/>
          </a:prstGeom>
          <a:solidFill>
            <a:srgbClr val="E8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7" name="Google Shape;507;p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644884" y="464502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8"/>
          <p:cNvSpPr txBox="1"/>
          <p:nvPr/>
        </p:nvSpPr>
        <p:spPr>
          <a:xfrm>
            <a:off x="11498580" y="5340726"/>
            <a:ext cx="26860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s-CO" sz="165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Sprint Review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8"/>
          <p:cNvSpPr txBox="1"/>
          <p:nvPr/>
        </p:nvSpPr>
        <p:spPr>
          <a:xfrm>
            <a:off x="11498580" y="5893176"/>
            <a:ext cx="2686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Permite inspeccionar el resultado del Sprint y analizar posibles adaptaciones futuras con los interesados.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8"/>
          <p:cNvSpPr/>
          <p:nvPr/>
        </p:nvSpPr>
        <p:spPr>
          <a:xfrm>
            <a:off x="14824709" y="4361555"/>
            <a:ext cx="3326130" cy="26289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8"/>
          <p:cNvSpPr/>
          <p:nvPr/>
        </p:nvSpPr>
        <p:spPr>
          <a:xfrm>
            <a:off x="14824709" y="4361555"/>
            <a:ext cx="3326130" cy="9144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8"/>
          <p:cNvSpPr/>
          <p:nvPr/>
        </p:nvSpPr>
        <p:spPr>
          <a:xfrm>
            <a:off x="15205710" y="4559676"/>
            <a:ext cx="609600" cy="609600"/>
          </a:xfrm>
          <a:prstGeom prst="ellipse">
            <a:avLst/>
          </a:prstGeom>
          <a:solidFill>
            <a:srgbClr val="E6EE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8"/>
          <p:cNvSpPr/>
          <p:nvPr/>
        </p:nvSpPr>
        <p:spPr>
          <a:xfrm>
            <a:off x="15291054" y="46450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8"/>
          <p:cNvSpPr txBox="1"/>
          <p:nvPr/>
        </p:nvSpPr>
        <p:spPr>
          <a:xfrm>
            <a:off x="15144750" y="5340726"/>
            <a:ext cx="26860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s-CO" sz="1650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Sprint Retrospective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8"/>
          <p:cNvSpPr txBox="1"/>
          <p:nvPr/>
        </p:nvSpPr>
        <p:spPr>
          <a:xfrm>
            <a:off x="15144750" y="5893176"/>
            <a:ext cx="2686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Permite analizar cómo trabajó el equipo y planificar mejoras en calidad y efectividad.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8"/>
          <p:cNvSpPr/>
          <p:nvPr/>
        </p:nvSpPr>
        <p:spPr>
          <a:xfrm>
            <a:off x="3886200" y="7264776"/>
            <a:ext cx="14264640" cy="1170432"/>
          </a:xfrm>
          <a:prstGeom prst="roundRect">
            <a:avLst>
              <a:gd fmla="val 12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8"/>
          <p:cNvSpPr/>
          <p:nvPr/>
        </p:nvSpPr>
        <p:spPr>
          <a:xfrm>
            <a:off x="3886200" y="7264776"/>
            <a:ext cx="82296" cy="1170432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8"/>
          <p:cNvSpPr/>
          <p:nvPr/>
        </p:nvSpPr>
        <p:spPr>
          <a:xfrm>
            <a:off x="4160520" y="7539096"/>
            <a:ext cx="603504" cy="603504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8"/>
          <p:cNvSpPr txBox="1"/>
          <p:nvPr/>
        </p:nvSpPr>
        <p:spPr>
          <a:xfrm>
            <a:off x="4983480" y="7392792"/>
            <a:ext cx="129844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¿Qué nos plantea?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8"/>
          <p:cNvSpPr txBox="1"/>
          <p:nvPr/>
        </p:nvSpPr>
        <p:spPr>
          <a:xfrm>
            <a:off x="4983480" y="7740264"/>
            <a:ext cx="1298448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CO" sz="15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Todos estos eventos ocurren dentro del Sprint, que funciona como el ciclo que contiene el trabajo necesario para convertir ideas en valor.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8"/>
          <p:cNvSpPr/>
          <p:nvPr/>
        </p:nvSpPr>
        <p:spPr>
          <a:xfrm>
            <a:off x="3886200" y="8723244"/>
            <a:ext cx="3638550" cy="40233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8"/>
          <p:cNvSpPr txBox="1"/>
          <p:nvPr/>
        </p:nvSpPr>
        <p:spPr>
          <a:xfrm>
            <a:off x="3886200" y="8723244"/>
            <a:ext cx="36385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O" sz="135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Reuniones burocráticas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8"/>
          <p:cNvSpPr txBox="1"/>
          <p:nvPr/>
        </p:nvSpPr>
        <p:spPr>
          <a:xfrm>
            <a:off x="7600950" y="8723244"/>
            <a:ext cx="5143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O" sz="2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8"/>
          <p:cNvSpPr/>
          <p:nvPr/>
        </p:nvSpPr>
        <p:spPr>
          <a:xfrm>
            <a:off x="8210550" y="8723244"/>
            <a:ext cx="3857625" cy="402336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8"/>
          <p:cNvSpPr txBox="1"/>
          <p:nvPr/>
        </p:nvSpPr>
        <p:spPr>
          <a:xfrm>
            <a:off x="8210550" y="8723244"/>
            <a:ext cx="3857625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O" sz="135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Espacios formales de adaptación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hosphor chats-circle, regular, #ddd5e7. https://phosphoricons.com/" id="526" name="Google Shape;526;p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998714" y="4645020"/>
            <a:ext cx="438912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osphor arrows-clockwise, regular, #ddd5e7. https://phosphoricons.com/" id="527" name="Google Shape;527;p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5291054" y="4645020"/>
            <a:ext cx="438912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osphor lightbulb, regular, #ddd5e7. https://phosphoricons.com/" id="528" name="Google Shape;528;p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288536" y="76762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>
            <a:hlinkClick action="ppaction://hlinksldjump" r:id="rId24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24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9"/>
          <p:cNvSpPr/>
          <p:nvPr/>
        </p:nvSpPr>
        <p:spPr>
          <a:xfrm>
            <a:off x="3887703" y="1984772"/>
            <a:ext cx="1426464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3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7. Del plan al aprendizaje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9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9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9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9"/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9">
            <a:hlinkClick action="ppaction://hlinksldjump" r:id="rId3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Estructura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9">
            <a:hlinkClick action="ppaction://hlinksldjump" r:id="rId4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9">
            <a:hlinkClick action="ppaction://hlinksldjump" r:id="rId5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Responsabilidades del Scrum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9">
            <a:hlinkClick r:id="rId6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9">
            <a:hlinkClick action="ppaction://hlinksldjump" r:id="rId7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2A56C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Eventos del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9">
            <a:hlinkClick r:id="rId8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9">
            <a:hlinkClick action="ppaction://hlinksldjump" r:id="rId9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Artefactos y compromisos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9">
            <a:hlinkClick r:id="rId10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9">
            <a:hlinkClick action="ppaction://hlinksldjump" r:id="rId11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Integración y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9"/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9">
            <a:hlinkClick action="ppaction://hlinksldjump" r:id="rId12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9"/>
          <p:cNvSpPr/>
          <p:nvPr/>
        </p:nvSpPr>
        <p:spPr>
          <a:xfrm>
            <a:off x="4591655" y="9872067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9">
            <a:hlinkClick action="ppaction://hlinksldjump" r:id="rId13"/>
          </p:cNvPr>
          <p:cNvSpPr/>
          <p:nvPr/>
        </p:nvSpPr>
        <p:spPr>
          <a:xfrm>
            <a:off x="4591655" y="9812536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9"/>
          <p:cNvSpPr/>
          <p:nvPr/>
        </p:nvSpPr>
        <p:spPr>
          <a:xfrm>
            <a:off x="6378374" y="9872067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9">
            <a:hlinkClick action="ppaction://hlinksldjump" r:id="rId14"/>
          </p:cNvPr>
          <p:cNvSpPr/>
          <p:nvPr/>
        </p:nvSpPr>
        <p:spPr>
          <a:xfrm>
            <a:off x="6378374" y="9812536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9">
            <a:hlinkClick action="ppaction://hlinksldjump" r:id="rId4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9">
            <a:hlinkClick action="ppaction://hlinksldjump" r:id="rId4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5" name="Google Shape;555;p9" title="correcciones sapiencia.png">
            <a:hlinkClick action="ppaction://hlinksldjump" r:id="rId4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9">
            <a:hlinkClick action="ppaction://hlinksldjump" r:id="rId4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por dentro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9"/>
          <p:cNvSpPr txBox="1"/>
          <p:nvPr/>
        </p:nvSpPr>
        <p:spPr>
          <a:xfrm>
            <a:off x="3886200" y="1481328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2 · Estructura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9"/>
          <p:cNvSpPr/>
          <p:nvPr/>
        </p:nvSpPr>
        <p:spPr>
          <a:xfrm>
            <a:off x="3886200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9"/>
          <p:cNvSpPr/>
          <p:nvPr/>
        </p:nvSpPr>
        <p:spPr>
          <a:xfrm>
            <a:off x="4114800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9"/>
          <p:cNvSpPr/>
          <p:nvPr/>
        </p:nvSpPr>
        <p:spPr>
          <a:xfrm>
            <a:off x="4334256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9"/>
          <p:cNvSpPr/>
          <p:nvPr/>
        </p:nvSpPr>
        <p:spPr>
          <a:xfrm>
            <a:off x="45537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9"/>
          <p:cNvSpPr/>
          <p:nvPr/>
        </p:nvSpPr>
        <p:spPr>
          <a:xfrm>
            <a:off x="47823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9"/>
          <p:cNvSpPr/>
          <p:nvPr/>
        </p:nvSpPr>
        <p:spPr>
          <a:xfrm>
            <a:off x="5001768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9"/>
          <p:cNvSpPr txBox="1"/>
          <p:nvPr/>
        </p:nvSpPr>
        <p:spPr>
          <a:xfrm>
            <a:off x="3886200" y="3200400"/>
            <a:ext cx="1426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CO" sz="19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Cuatro momentos sincronizados para observar el avance y adaptar las decisiones del equipo.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9"/>
          <p:cNvSpPr/>
          <p:nvPr/>
        </p:nvSpPr>
        <p:spPr>
          <a:xfrm>
            <a:off x="3886200" y="3751850"/>
            <a:ext cx="3326130" cy="2514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9"/>
          <p:cNvSpPr/>
          <p:nvPr/>
        </p:nvSpPr>
        <p:spPr>
          <a:xfrm>
            <a:off x="3886200" y="3751850"/>
            <a:ext cx="3326130" cy="9144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9"/>
          <p:cNvSpPr/>
          <p:nvPr/>
        </p:nvSpPr>
        <p:spPr>
          <a:xfrm>
            <a:off x="4206240" y="4117611"/>
            <a:ext cx="731520" cy="731520"/>
          </a:xfrm>
          <a:prstGeom prst="ellipse">
            <a:avLst/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8" name="Google Shape;568;p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352544" y="4263915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9"/>
          <p:cNvSpPr txBox="1"/>
          <p:nvPr/>
        </p:nvSpPr>
        <p:spPr>
          <a:xfrm>
            <a:off x="4206240" y="5012961"/>
            <a:ext cx="2686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1" i="0" lang="es-CO" sz="175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Sprint Planning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9"/>
          <p:cNvSpPr txBox="1"/>
          <p:nvPr/>
        </p:nvSpPr>
        <p:spPr>
          <a:xfrm>
            <a:off x="4206240" y="5603511"/>
            <a:ext cx="2686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s-CO" sz="16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¿Qué buscamos lograr?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9"/>
          <p:cNvSpPr/>
          <p:nvPr/>
        </p:nvSpPr>
        <p:spPr>
          <a:xfrm>
            <a:off x="7532370" y="3751850"/>
            <a:ext cx="3326130" cy="2514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9"/>
          <p:cNvSpPr/>
          <p:nvPr/>
        </p:nvSpPr>
        <p:spPr>
          <a:xfrm>
            <a:off x="7532370" y="3751850"/>
            <a:ext cx="3326130" cy="9144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9"/>
          <p:cNvSpPr/>
          <p:nvPr/>
        </p:nvSpPr>
        <p:spPr>
          <a:xfrm>
            <a:off x="7852410" y="4117611"/>
            <a:ext cx="731520" cy="731520"/>
          </a:xfrm>
          <a:prstGeom prst="ellipse">
            <a:avLst/>
          </a:prstGeom>
          <a:solidFill>
            <a:srgbClr val="F6EB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9"/>
          <p:cNvSpPr/>
          <p:nvPr/>
        </p:nvSpPr>
        <p:spPr>
          <a:xfrm>
            <a:off x="7998714" y="4263915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9"/>
          <p:cNvSpPr txBox="1"/>
          <p:nvPr/>
        </p:nvSpPr>
        <p:spPr>
          <a:xfrm>
            <a:off x="7852410" y="5012961"/>
            <a:ext cx="2686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1" i="0" lang="es-CO" sz="175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Daily Scrum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9"/>
          <p:cNvSpPr txBox="1"/>
          <p:nvPr/>
        </p:nvSpPr>
        <p:spPr>
          <a:xfrm>
            <a:off x="7852410" y="5603511"/>
            <a:ext cx="2686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s-CO" sz="16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¿Cómo estamos avanzando?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9"/>
          <p:cNvSpPr/>
          <p:nvPr/>
        </p:nvSpPr>
        <p:spPr>
          <a:xfrm>
            <a:off x="11178540" y="3751850"/>
            <a:ext cx="3326130" cy="2514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9"/>
          <p:cNvSpPr/>
          <p:nvPr/>
        </p:nvSpPr>
        <p:spPr>
          <a:xfrm>
            <a:off x="11178540" y="3751850"/>
            <a:ext cx="3326130" cy="91440"/>
          </a:xfrm>
          <a:prstGeom prst="rect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9"/>
          <p:cNvSpPr/>
          <p:nvPr/>
        </p:nvSpPr>
        <p:spPr>
          <a:xfrm>
            <a:off x="11498580" y="4117611"/>
            <a:ext cx="731520" cy="731520"/>
          </a:xfrm>
          <a:prstGeom prst="ellipse">
            <a:avLst/>
          </a:prstGeom>
          <a:solidFill>
            <a:srgbClr val="E8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0" name="Google Shape;580;p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644884" y="4263915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9"/>
          <p:cNvSpPr txBox="1"/>
          <p:nvPr/>
        </p:nvSpPr>
        <p:spPr>
          <a:xfrm>
            <a:off x="11498580" y="5012961"/>
            <a:ext cx="2686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1" i="0" lang="es-CO" sz="175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Sprint Review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9"/>
          <p:cNvSpPr txBox="1"/>
          <p:nvPr/>
        </p:nvSpPr>
        <p:spPr>
          <a:xfrm>
            <a:off x="11498580" y="5603511"/>
            <a:ext cx="2686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s-CO" sz="16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¿Qué resultado obtuvimos?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9"/>
          <p:cNvSpPr/>
          <p:nvPr/>
        </p:nvSpPr>
        <p:spPr>
          <a:xfrm>
            <a:off x="14824709" y="3751850"/>
            <a:ext cx="3326130" cy="2514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9"/>
          <p:cNvSpPr/>
          <p:nvPr/>
        </p:nvSpPr>
        <p:spPr>
          <a:xfrm>
            <a:off x="14824709" y="3751850"/>
            <a:ext cx="3326130" cy="9144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9"/>
          <p:cNvSpPr/>
          <p:nvPr/>
        </p:nvSpPr>
        <p:spPr>
          <a:xfrm>
            <a:off x="15144750" y="4117611"/>
            <a:ext cx="731520" cy="731520"/>
          </a:xfrm>
          <a:prstGeom prst="ellipse">
            <a:avLst/>
          </a:prstGeom>
          <a:solidFill>
            <a:srgbClr val="E6EE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9"/>
          <p:cNvSpPr/>
          <p:nvPr/>
        </p:nvSpPr>
        <p:spPr>
          <a:xfrm>
            <a:off x="15291054" y="4263915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9"/>
          <p:cNvSpPr txBox="1"/>
          <p:nvPr/>
        </p:nvSpPr>
        <p:spPr>
          <a:xfrm>
            <a:off x="15144750" y="5012961"/>
            <a:ext cx="2686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1" i="0" lang="es-CO" sz="1750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Sprint Retrospective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9"/>
          <p:cNvSpPr txBox="1"/>
          <p:nvPr/>
        </p:nvSpPr>
        <p:spPr>
          <a:xfrm>
            <a:off x="15144750" y="5603511"/>
            <a:ext cx="2686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s-CO" sz="16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¿Cómo podemos mejorar?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9"/>
          <p:cNvSpPr/>
          <p:nvPr/>
        </p:nvSpPr>
        <p:spPr>
          <a:xfrm>
            <a:off x="8641080" y="6534490"/>
            <a:ext cx="4754880" cy="420624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0" name="Google Shape;590;p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778240" y="658021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9"/>
          <p:cNvSpPr txBox="1"/>
          <p:nvPr/>
        </p:nvSpPr>
        <p:spPr>
          <a:xfrm>
            <a:off x="9189720" y="6534490"/>
            <a:ext cx="4023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Bucle adaptativo · Siguiente Sprint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9"/>
          <p:cNvSpPr/>
          <p:nvPr/>
        </p:nvSpPr>
        <p:spPr>
          <a:xfrm>
            <a:off x="3886200" y="7203711"/>
            <a:ext cx="14264640" cy="1170432"/>
          </a:xfrm>
          <a:prstGeom prst="roundRect">
            <a:avLst>
              <a:gd fmla="val 12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9"/>
          <p:cNvSpPr/>
          <p:nvPr/>
        </p:nvSpPr>
        <p:spPr>
          <a:xfrm>
            <a:off x="3886200" y="7203711"/>
            <a:ext cx="82296" cy="1170432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9"/>
          <p:cNvSpPr/>
          <p:nvPr/>
        </p:nvSpPr>
        <p:spPr>
          <a:xfrm>
            <a:off x="4160520" y="7478031"/>
            <a:ext cx="603504" cy="603504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9"/>
          <p:cNvSpPr/>
          <p:nvPr/>
        </p:nvSpPr>
        <p:spPr>
          <a:xfrm>
            <a:off x="4288536" y="7606047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9"/>
          <p:cNvSpPr txBox="1"/>
          <p:nvPr/>
        </p:nvSpPr>
        <p:spPr>
          <a:xfrm>
            <a:off x="4983480" y="7331727"/>
            <a:ext cx="129844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¿Qué nos plantea?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9"/>
          <p:cNvSpPr txBox="1"/>
          <p:nvPr/>
        </p:nvSpPr>
        <p:spPr>
          <a:xfrm>
            <a:off x="4983480" y="7679199"/>
            <a:ext cx="1298448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CO" sz="15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Cada evento genera una oportunidad formal para observar, aprender y ajustar. El valor del marco no está en realizar reuniones por inercia, sino en la capacidad de utilizar la información obtenida para orientar las siguientes decisiones.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9"/>
          <p:cNvSpPr/>
          <p:nvPr/>
        </p:nvSpPr>
        <p:spPr>
          <a:xfrm>
            <a:off x="3886200" y="8662179"/>
            <a:ext cx="3638550" cy="40233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9"/>
          <p:cNvSpPr txBox="1"/>
          <p:nvPr/>
        </p:nvSpPr>
        <p:spPr>
          <a:xfrm>
            <a:off x="3886200" y="8662179"/>
            <a:ext cx="36385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O" sz="135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Repetición mecánica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9"/>
          <p:cNvSpPr txBox="1"/>
          <p:nvPr/>
        </p:nvSpPr>
        <p:spPr>
          <a:xfrm>
            <a:off x="7600950" y="8662179"/>
            <a:ext cx="5143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O" sz="2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9"/>
          <p:cNvSpPr/>
          <p:nvPr/>
        </p:nvSpPr>
        <p:spPr>
          <a:xfrm>
            <a:off x="8210550" y="8662179"/>
            <a:ext cx="3857625" cy="402336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9"/>
          <p:cNvSpPr txBox="1"/>
          <p:nvPr/>
        </p:nvSpPr>
        <p:spPr>
          <a:xfrm>
            <a:off x="8210550" y="8662179"/>
            <a:ext cx="3857625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O" sz="135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Aprendizaje continuo del equipo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hosphor chats-circle, regular, #ddd5e7. https://phosphoricons.com/" id="603" name="Google Shape;603;p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998714" y="4263915"/>
            <a:ext cx="438912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osphor arrows-clockwise, regular, #ddd5e7. https://phosphoricons.com/" id="604" name="Google Shape;604;p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5291054" y="4263915"/>
            <a:ext cx="438912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osphor lightbulb, regular, #ddd5e7. https://phosphoricons.com/" id="605" name="Google Shape;605;p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288536" y="7606047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>
            <a:hlinkClick action="ppaction://hlinksldjump" r:id="rId25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25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"/>
          <p:cNvSpPr/>
          <p:nvPr/>
        </p:nvSpPr>
        <p:spPr>
          <a:xfrm>
            <a:off x="3887703" y="1984772"/>
            <a:ext cx="1426464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3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8. El trabajo se hace visible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0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0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0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0"/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0">
            <a:hlinkClick action="ppaction://hlinksldjump" r:id="rId3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Estructura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0">
            <a:hlinkClick action="ppaction://hlinksldjump" r:id="rId4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0">
            <a:hlinkClick action="ppaction://hlinksldjump" r:id="rId5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Responsabilidades del Scrum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0">
            <a:hlinkClick r:id="rId6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0">
            <a:hlinkClick action="ppaction://hlinksldjump" r:id="rId7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Eventos del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0"/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0">
            <a:hlinkClick action="ppaction://hlinksldjump" r:id="rId8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3D2159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Artefactos y compromisos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0"/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0">
            <a:hlinkClick action="ppaction://hlinksldjump" r:id="rId9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Integración y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0"/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0">
            <a:hlinkClick action="ppaction://hlinksldjump" r:id="rId10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0"/>
          <p:cNvSpPr/>
          <p:nvPr/>
        </p:nvSpPr>
        <p:spPr>
          <a:xfrm>
            <a:off x="4591655" y="9872067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0">
            <a:hlinkClick action="ppaction://hlinksldjump" r:id="rId11"/>
          </p:cNvPr>
          <p:cNvSpPr/>
          <p:nvPr/>
        </p:nvSpPr>
        <p:spPr>
          <a:xfrm>
            <a:off x="4591655" y="9812536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0"/>
          <p:cNvSpPr/>
          <p:nvPr/>
        </p:nvSpPr>
        <p:spPr>
          <a:xfrm>
            <a:off x="6378374" y="9872067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0">
            <a:hlinkClick action="ppaction://hlinksldjump" r:id="rId12"/>
          </p:cNvPr>
          <p:cNvSpPr/>
          <p:nvPr/>
        </p:nvSpPr>
        <p:spPr>
          <a:xfrm>
            <a:off x="6378374" y="9812536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0">
            <a:hlinkClick action="ppaction://hlinksldjump" r:id="rId4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10">
            <a:hlinkClick action="ppaction://hlinksldjump" r:id="rId4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2" name="Google Shape;632;p10" title="correcciones sapiencia.png">
            <a:hlinkClick action="ppaction://hlinksldjump" r:id="rId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10">
            <a:hlinkClick action="ppaction://hlinksldjump" r:id="rId4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por dentro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0"/>
          <p:cNvSpPr txBox="1"/>
          <p:nvPr/>
        </p:nvSpPr>
        <p:spPr>
          <a:xfrm>
            <a:off x="3886200" y="1481328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2 · Estructura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0"/>
          <p:cNvSpPr/>
          <p:nvPr/>
        </p:nvSpPr>
        <p:spPr>
          <a:xfrm>
            <a:off x="3886200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0"/>
          <p:cNvSpPr/>
          <p:nvPr/>
        </p:nvSpPr>
        <p:spPr>
          <a:xfrm>
            <a:off x="4114800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0"/>
          <p:cNvSpPr/>
          <p:nvPr/>
        </p:nvSpPr>
        <p:spPr>
          <a:xfrm>
            <a:off x="4334256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0"/>
          <p:cNvSpPr/>
          <p:nvPr/>
        </p:nvSpPr>
        <p:spPr>
          <a:xfrm>
            <a:off x="45537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0"/>
          <p:cNvSpPr/>
          <p:nvPr/>
        </p:nvSpPr>
        <p:spPr>
          <a:xfrm>
            <a:off x="47823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0"/>
          <p:cNvSpPr/>
          <p:nvPr/>
        </p:nvSpPr>
        <p:spPr>
          <a:xfrm>
            <a:off x="5001768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0"/>
          <p:cNvSpPr txBox="1"/>
          <p:nvPr/>
        </p:nvSpPr>
        <p:spPr>
          <a:xfrm>
            <a:off x="3886200" y="3200400"/>
            <a:ext cx="1426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CO" sz="19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Scrum utiliza tres artefactos para representar trabajo o valor. Exploremos qué hace visible cada uno y a qué compromiso responde.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0"/>
          <p:cNvSpPr/>
          <p:nvPr/>
        </p:nvSpPr>
        <p:spPr>
          <a:xfrm>
            <a:off x="3886200" y="3754239"/>
            <a:ext cx="4541520" cy="30175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0"/>
          <p:cNvSpPr/>
          <p:nvPr/>
        </p:nvSpPr>
        <p:spPr>
          <a:xfrm>
            <a:off x="3886200" y="3754239"/>
            <a:ext cx="4541520" cy="9144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0"/>
          <p:cNvSpPr txBox="1"/>
          <p:nvPr/>
        </p:nvSpPr>
        <p:spPr>
          <a:xfrm>
            <a:off x="4206240" y="4074279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Product Backlog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0"/>
          <p:cNvSpPr txBox="1"/>
          <p:nvPr/>
        </p:nvSpPr>
        <p:spPr>
          <a:xfrm>
            <a:off x="4206240" y="4619110"/>
            <a:ext cx="390144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CO" sz="15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Lista ordenada y emergente de lo que se necesita para el producto.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0"/>
          <p:cNvSpPr/>
          <p:nvPr/>
        </p:nvSpPr>
        <p:spPr>
          <a:xfrm>
            <a:off x="4114800" y="5537319"/>
            <a:ext cx="4084320" cy="1005840"/>
          </a:xfrm>
          <a:prstGeom prst="roundRect">
            <a:avLst>
              <a:gd fmla="val 12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0"/>
          <p:cNvSpPr txBox="1"/>
          <p:nvPr/>
        </p:nvSpPr>
        <p:spPr>
          <a:xfrm>
            <a:off x="4297680" y="5628760"/>
            <a:ext cx="371856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Compromiso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0"/>
          <p:cNvSpPr txBox="1"/>
          <p:nvPr/>
        </p:nvSpPr>
        <p:spPr>
          <a:xfrm>
            <a:off x="4297680" y="5952610"/>
            <a:ext cx="371856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s-CO" sz="145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Product Goal: </a:t>
            </a:r>
            <a:r>
              <a:rPr b="0" i="0" lang="es-CO" sz="14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Hacia qué objetivo avanzamos.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0"/>
          <p:cNvSpPr/>
          <p:nvPr/>
        </p:nvSpPr>
        <p:spPr>
          <a:xfrm>
            <a:off x="8747760" y="3754239"/>
            <a:ext cx="4541520" cy="30175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0"/>
          <p:cNvSpPr/>
          <p:nvPr/>
        </p:nvSpPr>
        <p:spPr>
          <a:xfrm>
            <a:off x="8747760" y="3754239"/>
            <a:ext cx="4541520" cy="91440"/>
          </a:xfrm>
          <a:prstGeom prst="rect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0"/>
          <p:cNvSpPr txBox="1"/>
          <p:nvPr/>
        </p:nvSpPr>
        <p:spPr>
          <a:xfrm>
            <a:off x="9067800" y="4074279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Sprint Backlog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0"/>
          <p:cNvSpPr txBox="1"/>
          <p:nvPr/>
        </p:nvSpPr>
        <p:spPr>
          <a:xfrm>
            <a:off x="9067800" y="4619110"/>
            <a:ext cx="390144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CO" sz="15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Integra el objetivo, elementos elegidos y el plan de trabajo.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0"/>
          <p:cNvSpPr/>
          <p:nvPr/>
        </p:nvSpPr>
        <p:spPr>
          <a:xfrm>
            <a:off x="8976360" y="5537319"/>
            <a:ext cx="4084320" cy="1005840"/>
          </a:xfrm>
          <a:prstGeom prst="roundRect">
            <a:avLst>
              <a:gd fmla="val 12000" name="adj"/>
            </a:avLst>
          </a:prstGeom>
          <a:solidFill>
            <a:srgbClr val="E8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0"/>
          <p:cNvSpPr txBox="1"/>
          <p:nvPr/>
        </p:nvSpPr>
        <p:spPr>
          <a:xfrm>
            <a:off x="9159240" y="5628760"/>
            <a:ext cx="371856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Compromiso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0"/>
          <p:cNvSpPr txBox="1"/>
          <p:nvPr/>
        </p:nvSpPr>
        <p:spPr>
          <a:xfrm>
            <a:off x="9159240" y="5952610"/>
            <a:ext cx="371856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s-CO" sz="145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Sprint Goal: </a:t>
            </a:r>
            <a:r>
              <a:rPr b="0" i="0" lang="es-CO" sz="14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Propósito que orienta el Sprint.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0"/>
          <p:cNvSpPr/>
          <p:nvPr/>
        </p:nvSpPr>
        <p:spPr>
          <a:xfrm>
            <a:off x="13609320" y="3754239"/>
            <a:ext cx="4541520" cy="30175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0"/>
          <p:cNvSpPr/>
          <p:nvPr/>
        </p:nvSpPr>
        <p:spPr>
          <a:xfrm>
            <a:off x="13609320" y="3754239"/>
            <a:ext cx="4541520" cy="9144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0"/>
          <p:cNvSpPr txBox="1"/>
          <p:nvPr/>
        </p:nvSpPr>
        <p:spPr>
          <a:xfrm>
            <a:off x="13929360" y="4074279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Incremento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0"/>
          <p:cNvSpPr txBox="1"/>
          <p:nvPr/>
        </p:nvSpPr>
        <p:spPr>
          <a:xfrm>
            <a:off x="13929360" y="4619110"/>
            <a:ext cx="390144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CO" sz="15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Resultado concreto que se integra con los anteriores.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0"/>
          <p:cNvSpPr/>
          <p:nvPr/>
        </p:nvSpPr>
        <p:spPr>
          <a:xfrm>
            <a:off x="13837920" y="5537319"/>
            <a:ext cx="4084320" cy="1005840"/>
          </a:xfrm>
          <a:prstGeom prst="roundRect">
            <a:avLst>
              <a:gd fmla="val 12000" name="adj"/>
            </a:avLst>
          </a:prstGeom>
          <a:solidFill>
            <a:srgbClr val="E6EE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0"/>
          <p:cNvSpPr txBox="1"/>
          <p:nvPr/>
        </p:nvSpPr>
        <p:spPr>
          <a:xfrm>
            <a:off x="14020799" y="5628760"/>
            <a:ext cx="371856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Compromiso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0"/>
          <p:cNvSpPr txBox="1"/>
          <p:nvPr/>
        </p:nvSpPr>
        <p:spPr>
          <a:xfrm>
            <a:off x="14020799" y="5952610"/>
            <a:ext cx="371856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s-CO" sz="1450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Definition of Done: </a:t>
            </a:r>
            <a:r>
              <a:rPr b="0" i="0" lang="es-CO" sz="14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Criterios de calidad del incremento.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0"/>
          <p:cNvSpPr/>
          <p:nvPr/>
        </p:nvSpPr>
        <p:spPr>
          <a:xfrm>
            <a:off x="3886200" y="7114660"/>
            <a:ext cx="14264640" cy="1170432"/>
          </a:xfrm>
          <a:prstGeom prst="roundRect">
            <a:avLst>
              <a:gd fmla="val 12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0"/>
          <p:cNvSpPr/>
          <p:nvPr/>
        </p:nvSpPr>
        <p:spPr>
          <a:xfrm>
            <a:off x="3886200" y="7114660"/>
            <a:ext cx="82296" cy="1170432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0"/>
          <p:cNvSpPr/>
          <p:nvPr/>
        </p:nvSpPr>
        <p:spPr>
          <a:xfrm>
            <a:off x="4160520" y="7388980"/>
            <a:ext cx="603504" cy="603504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0"/>
          <p:cNvSpPr txBox="1"/>
          <p:nvPr/>
        </p:nvSpPr>
        <p:spPr>
          <a:xfrm>
            <a:off x="4983480" y="7242676"/>
            <a:ext cx="129844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¿Qué nos plantea?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0"/>
          <p:cNvSpPr txBox="1"/>
          <p:nvPr/>
        </p:nvSpPr>
        <p:spPr>
          <a:xfrm>
            <a:off x="4983480" y="7590148"/>
            <a:ext cx="1298448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CO" sz="15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Cada artefacto contiene un compromiso asociado que refuerza la transparencia y el foco: sin una meta clara o un estándar de calidad, el trabajo pierde rumbo y valor.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0"/>
          <p:cNvSpPr/>
          <p:nvPr/>
        </p:nvSpPr>
        <p:spPr>
          <a:xfrm>
            <a:off x="3886200" y="8573128"/>
            <a:ext cx="3638550" cy="40233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0"/>
          <p:cNvSpPr txBox="1"/>
          <p:nvPr/>
        </p:nvSpPr>
        <p:spPr>
          <a:xfrm>
            <a:off x="3886200" y="8573128"/>
            <a:ext cx="36385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O" sz="135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Documentación estática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0"/>
          <p:cNvSpPr txBox="1"/>
          <p:nvPr/>
        </p:nvSpPr>
        <p:spPr>
          <a:xfrm>
            <a:off x="7600950" y="8573128"/>
            <a:ext cx="5143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O" sz="2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0"/>
          <p:cNvSpPr/>
          <p:nvPr/>
        </p:nvSpPr>
        <p:spPr>
          <a:xfrm>
            <a:off x="8210550" y="8573128"/>
            <a:ext cx="3857625" cy="402336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0"/>
          <p:cNvSpPr txBox="1"/>
          <p:nvPr/>
        </p:nvSpPr>
        <p:spPr>
          <a:xfrm>
            <a:off x="8210550" y="8573128"/>
            <a:ext cx="3857625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O" sz="135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Artefactos vivos con compromiso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hosphor lightbulb, regular, #ddd5e7. https://phosphoricons.com/" id="673" name="Google Shape;673;p1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288536" y="752842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>
            <a:hlinkClick action="ppaction://hlinksldjump" r:id="rId18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18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1"/>
          <p:cNvSpPr/>
          <p:nvPr/>
        </p:nvSpPr>
        <p:spPr>
          <a:xfrm>
            <a:off x="3887703" y="1984772"/>
            <a:ext cx="1426464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3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9. Las piezas se conectan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1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1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1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1"/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1">
            <a:hlinkClick action="ppaction://hlinksldjump" r:id="rId3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Estructura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1">
            <a:hlinkClick action="ppaction://hlinksldjump" r:id="rId4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1">
            <a:hlinkClick action="ppaction://hlinksldjump" r:id="rId5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Responsabilidades del Scrum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1">
            <a:hlinkClick r:id="rId6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1">
            <a:hlinkClick action="ppaction://hlinksldjump" r:id="rId7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Eventos del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1"/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1">
            <a:hlinkClick action="ppaction://hlinksldjump" r:id="rId8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Artefactos y compromisos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1"/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1">
            <a:hlinkClick action="ppaction://hlinksldjump" r:id="rId9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024791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Integración y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1"/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1">
            <a:hlinkClick action="ppaction://hlinksldjump" r:id="rId10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1"/>
          <p:cNvSpPr/>
          <p:nvPr/>
        </p:nvSpPr>
        <p:spPr>
          <a:xfrm>
            <a:off x="4591655" y="9872067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1">
            <a:hlinkClick action="ppaction://hlinksldjump" r:id="rId11"/>
          </p:cNvPr>
          <p:cNvSpPr/>
          <p:nvPr/>
        </p:nvSpPr>
        <p:spPr>
          <a:xfrm>
            <a:off x="4591655" y="9812536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1"/>
          <p:cNvSpPr/>
          <p:nvPr/>
        </p:nvSpPr>
        <p:spPr>
          <a:xfrm>
            <a:off x="6378374" y="9872067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1">
            <a:hlinkClick action="ppaction://hlinksldjump" r:id="rId12"/>
          </p:cNvPr>
          <p:cNvSpPr/>
          <p:nvPr/>
        </p:nvSpPr>
        <p:spPr>
          <a:xfrm>
            <a:off x="6378374" y="9812536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1">
            <a:hlinkClick action="ppaction://hlinksldjump" r:id="rId4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1">
            <a:hlinkClick action="ppaction://hlinksldjump" r:id="rId4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0" name="Google Shape;700;p11" title="correcciones sapiencia.png">
            <a:hlinkClick action="ppaction://hlinksldjump" r:id="rId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11">
            <a:hlinkClick action="ppaction://hlinksldjump" r:id="rId4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por dentro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1"/>
          <p:cNvSpPr txBox="1"/>
          <p:nvPr/>
        </p:nvSpPr>
        <p:spPr>
          <a:xfrm>
            <a:off x="3886200" y="1481328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2 · Estructura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1"/>
          <p:cNvSpPr/>
          <p:nvPr/>
        </p:nvSpPr>
        <p:spPr>
          <a:xfrm>
            <a:off x="3886200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1"/>
          <p:cNvSpPr/>
          <p:nvPr/>
        </p:nvSpPr>
        <p:spPr>
          <a:xfrm>
            <a:off x="4114800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1"/>
          <p:cNvSpPr/>
          <p:nvPr/>
        </p:nvSpPr>
        <p:spPr>
          <a:xfrm>
            <a:off x="4334256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1"/>
          <p:cNvSpPr/>
          <p:nvPr/>
        </p:nvSpPr>
        <p:spPr>
          <a:xfrm>
            <a:off x="45537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11"/>
          <p:cNvSpPr/>
          <p:nvPr/>
        </p:nvSpPr>
        <p:spPr>
          <a:xfrm>
            <a:off x="47823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1"/>
          <p:cNvSpPr/>
          <p:nvPr/>
        </p:nvSpPr>
        <p:spPr>
          <a:xfrm>
            <a:off x="5001768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11"/>
          <p:cNvSpPr txBox="1"/>
          <p:nvPr/>
        </p:nvSpPr>
        <p:spPr>
          <a:xfrm>
            <a:off x="3886200" y="3200400"/>
            <a:ext cx="1426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CO" sz="19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Cómo interactúan personas, artefactos y eventos para transformar ideas en valor continuo.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1"/>
          <p:cNvSpPr txBox="1"/>
          <p:nvPr/>
        </p:nvSpPr>
        <p:spPr>
          <a:xfrm>
            <a:off x="3886200" y="3666744"/>
            <a:ext cx="1426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Nivel 1 · Definición y planificación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1"/>
          <p:cNvSpPr/>
          <p:nvPr/>
        </p:nvSpPr>
        <p:spPr>
          <a:xfrm>
            <a:off x="3886200" y="4050793"/>
            <a:ext cx="3257550" cy="1005840"/>
          </a:xfrm>
          <a:prstGeom prst="roundRect">
            <a:avLst>
              <a:gd fmla="val 15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1"/>
          <p:cNvSpPr txBox="1"/>
          <p:nvPr/>
        </p:nvSpPr>
        <p:spPr>
          <a:xfrm>
            <a:off x="4069080" y="4160521"/>
            <a:ext cx="289179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Product Owner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1"/>
          <p:cNvSpPr txBox="1"/>
          <p:nvPr/>
        </p:nvSpPr>
        <p:spPr>
          <a:xfrm>
            <a:off x="4069080" y="4553712"/>
            <a:ext cx="28917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O" sz="13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prioriza 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1"/>
          <p:cNvSpPr/>
          <p:nvPr/>
        </p:nvSpPr>
        <p:spPr>
          <a:xfrm>
            <a:off x="7216902" y="4434841"/>
            <a:ext cx="265176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C3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1"/>
          <p:cNvSpPr/>
          <p:nvPr/>
        </p:nvSpPr>
        <p:spPr>
          <a:xfrm>
            <a:off x="7555229" y="4050793"/>
            <a:ext cx="3257550" cy="1005840"/>
          </a:xfrm>
          <a:prstGeom prst="roundRect">
            <a:avLst>
              <a:gd fmla="val 15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1"/>
          <p:cNvSpPr txBox="1"/>
          <p:nvPr/>
        </p:nvSpPr>
        <p:spPr>
          <a:xfrm>
            <a:off x="7738109" y="4160521"/>
            <a:ext cx="289179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Product Backlog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1"/>
          <p:cNvSpPr txBox="1"/>
          <p:nvPr/>
        </p:nvSpPr>
        <p:spPr>
          <a:xfrm>
            <a:off x="7738109" y="4553712"/>
            <a:ext cx="28917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O" sz="13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orienta qué necesitamos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1"/>
          <p:cNvSpPr/>
          <p:nvPr/>
        </p:nvSpPr>
        <p:spPr>
          <a:xfrm>
            <a:off x="10885932" y="4434841"/>
            <a:ext cx="265176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C3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1"/>
          <p:cNvSpPr/>
          <p:nvPr/>
        </p:nvSpPr>
        <p:spPr>
          <a:xfrm>
            <a:off x="11224260" y="4050793"/>
            <a:ext cx="3257550" cy="1005840"/>
          </a:xfrm>
          <a:prstGeom prst="roundRect">
            <a:avLst>
              <a:gd fmla="val 15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1"/>
          <p:cNvSpPr txBox="1"/>
          <p:nvPr/>
        </p:nvSpPr>
        <p:spPr>
          <a:xfrm>
            <a:off x="11407140" y="4160521"/>
            <a:ext cx="289179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Sprint Planning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1"/>
          <p:cNvSpPr txBox="1"/>
          <p:nvPr/>
        </p:nvSpPr>
        <p:spPr>
          <a:xfrm>
            <a:off x="11407140" y="4553712"/>
            <a:ext cx="28917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O" sz="13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seleccionamos y planificamos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1"/>
          <p:cNvSpPr/>
          <p:nvPr/>
        </p:nvSpPr>
        <p:spPr>
          <a:xfrm>
            <a:off x="14554962" y="4434841"/>
            <a:ext cx="265176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C3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1"/>
          <p:cNvSpPr/>
          <p:nvPr/>
        </p:nvSpPr>
        <p:spPr>
          <a:xfrm>
            <a:off x="14893290" y="4050793"/>
            <a:ext cx="3257550" cy="1005840"/>
          </a:xfrm>
          <a:prstGeom prst="roundRect">
            <a:avLst>
              <a:gd fmla="val 15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1"/>
          <p:cNvSpPr txBox="1"/>
          <p:nvPr/>
        </p:nvSpPr>
        <p:spPr>
          <a:xfrm>
            <a:off x="15076170" y="4160521"/>
            <a:ext cx="289179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Sprint Backlog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1"/>
          <p:cNvSpPr txBox="1"/>
          <p:nvPr/>
        </p:nvSpPr>
        <p:spPr>
          <a:xfrm>
            <a:off x="15076170" y="4553712"/>
            <a:ext cx="28917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O" sz="13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organiza el trabajo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1"/>
          <p:cNvSpPr txBox="1"/>
          <p:nvPr/>
        </p:nvSpPr>
        <p:spPr>
          <a:xfrm>
            <a:off x="3886200" y="5239512"/>
            <a:ext cx="1426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Nivel 2 · Ejecución, entrega y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1"/>
          <p:cNvSpPr/>
          <p:nvPr/>
        </p:nvSpPr>
        <p:spPr>
          <a:xfrm>
            <a:off x="3886200" y="5623560"/>
            <a:ext cx="4480559" cy="1005840"/>
          </a:xfrm>
          <a:prstGeom prst="roundRect">
            <a:avLst>
              <a:gd fmla="val 15000" name="adj"/>
            </a:avLst>
          </a:prstGeom>
          <a:solidFill>
            <a:srgbClr val="E8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1"/>
          <p:cNvSpPr txBox="1"/>
          <p:nvPr/>
        </p:nvSpPr>
        <p:spPr>
          <a:xfrm>
            <a:off x="4069080" y="5733288"/>
            <a:ext cx="411479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Sprint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1"/>
          <p:cNvSpPr txBox="1"/>
          <p:nvPr/>
        </p:nvSpPr>
        <p:spPr>
          <a:xfrm>
            <a:off x="4069080" y="6126480"/>
            <a:ext cx="4114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O" sz="13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desarrollamos + inspeccionamos + adaptamos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11"/>
          <p:cNvSpPr/>
          <p:nvPr/>
        </p:nvSpPr>
        <p:spPr>
          <a:xfrm>
            <a:off x="8439911" y="6007608"/>
            <a:ext cx="265176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C3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1"/>
          <p:cNvSpPr/>
          <p:nvPr/>
        </p:nvSpPr>
        <p:spPr>
          <a:xfrm>
            <a:off x="8778240" y="5623560"/>
            <a:ext cx="4480559" cy="1005840"/>
          </a:xfrm>
          <a:prstGeom prst="roundRect">
            <a:avLst>
              <a:gd fmla="val 15000" name="adj"/>
            </a:avLst>
          </a:prstGeom>
          <a:solidFill>
            <a:srgbClr val="E8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11"/>
          <p:cNvSpPr txBox="1"/>
          <p:nvPr/>
        </p:nvSpPr>
        <p:spPr>
          <a:xfrm>
            <a:off x="8961119" y="5733288"/>
            <a:ext cx="411479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Incremento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1"/>
          <p:cNvSpPr txBox="1"/>
          <p:nvPr/>
        </p:nvSpPr>
        <p:spPr>
          <a:xfrm>
            <a:off x="8961119" y="6126480"/>
            <a:ext cx="4114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O" sz="13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generamos un resultado utilizable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1"/>
          <p:cNvSpPr/>
          <p:nvPr/>
        </p:nvSpPr>
        <p:spPr>
          <a:xfrm>
            <a:off x="13331952" y="6007608"/>
            <a:ext cx="265176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C3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1"/>
          <p:cNvSpPr/>
          <p:nvPr/>
        </p:nvSpPr>
        <p:spPr>
          <a:xfrm>
            <a:off x="13670280" y="5623560"/>
            <a:ext cx="4480559" cy="1005840"/>
          </a:xfrm>
          <a:prstGeom prst="roundRect">
            <a:avLst>
              <a:gd fmla="val 15000" name="adj"/>
            </a:avLst>
          </a:prstGeom>
          <a:solidFill>
            <a:srgbClr val="E8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1"/>
          <p:cNvSpPr txBox="1"/>
          <p:nvPr/>
        </p:nvSpPr>
        <p:spPr>
          <a:xfrm>
            <a:off x="13853159" y="5733288"/>
            <a:ext cx="411479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Review + Retrospective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1"/>
          <p:cNvSpPr txBox="1"/>
          <p:nvPr/>
        </p:nvSpPr>
        <p:spPr>
          <a:xfrm>
            <a:off x="13853159" y="6126480"/>
            <a:ext cx="4114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O" sz="13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aprendemos y mejoramos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1"/>
          <p:cNvSpPr/>
          <p:nvPr/>
        </p:nvSpPr>
        <p:spPr>
          <a:xfrm>
            <a:off x="8915400" y="6778753"/>
            <a:ext cx="4206240" cy="384048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9" name="Google Shape;739;p1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052560" y="6815329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11"/>
          <p:cNvSpPr txBox="1"/>
          <p:nvPr/>
        </p:nvSpPr>
        <p:spPr>
          <a:xfrm>
            <a:off x="9464040" y="6778753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Retorno al siguiente Sprint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11"/>
          <p:cNvSpPr/>
          <p:nvPr/>
        </p:nvSpPr>
        <p:spPr>
          <a:xfrm>
            <a:off x="3886200" y="7309105"/>
            <a:ext cx="14264640" cy="1170432"/>
          </a:xfrm>
          <a:prstGeom prst="roundRect">
            <a:avLst>
              <a:gd fmla="val 12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1"/>
          <p:cNvSpPr/>
          <p:nvPr/>
        </p:nvSpPr>
        <p:spPr>
          <a:xfrm>
            <a:off x="3886200" y="7309105"/>
            <a:ext cx="82296" cy="1170432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11"/>
          <p:cNvSpPr/>
          <p:nvPr/>
        </p:nvSpPr>
        <p:spPr>
          <a:xfrm>
            <a:off x="4160520" y="7583425"/>
            <a:ext cx="603504" cy="603504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1"/>
          <p:cNvSpPr/>
          <p:nvPr/>
        </p:nvSpPr>
        <p:spPr>
          <a:xfrm>
            <a:off x="4288536" y="7711441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1"/>
          <p:cNvSpPr txBox="1"/>
          <p:nvPr/>
        </p:nvSpPr>
        <p:spPr>
          <a:xfrm>
            <a:off x="4983480" y="7437121"/>
            <a:ext cx="129844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¿Qué nos plantea?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1"/>
          <p:cNvSpPr txBox="1"/>
          <p:nvPr/>
        </p:nvSpPr>
        <p:spPr>
          <a:xfrm>
            <a:off x="4983480" y="7784593"/>
            <a:ext cx="1298448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CO" sz="15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Scrum conecta objetivos, trabajo, resultados y aprendizaje en ciclos sucesivos.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11"/>
          <p:cNvSpPr/>
          <p:nvPr/>
        </p:nvSpPr>
        <p:spPr>
          <a:xfrm>
            <a:off x="3886200" y="8653534"/>
            <a:ext cx="3638550" cy="40233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11"/>
          <p:cNvSpPr txBox="1"/>
          <p:nvPr/>
        </p:nvSpPr>
        <p:spPr>
          <a:xfrm>
            <a:off x="3886200" y="8653534"/>
            <a:ext cx="36385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O" sz="135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Engranajes aislados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1"/>
          <p:cNvSpPr txBox="1"/>
          <p:nvPr/>
        </p:nvSpPr>
        <p:spPr>
          <a:xfrm>
            <a:off x="7600950" y="8653534"/>
            <a:ext cx="5143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O" sz="2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1"/>
          <p:cNvSpPr/>
          <p:nvPr/>
        </p:nvSpPr>
        <p:spPr>
          <a:xfrm>
            <a:off x="8210550" y="8653534"/>
            <a:ext cx="3857625" cy="402336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1"/>
          <p:cNvSpPr txBox="1"/>
          <p:nvPr/>
        </p:nvSpPr>
        <p:spPr>
          <a:xfrm>
            <a:off x="8210550" y="8653534"/>
            <a:ext cx="3857625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O" sz="135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Cadena continua de valor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hosphor lightbulb, regular, #ddd5e7. https://phosphoricons.com/" id="752" name="Google Shape;752;p1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288536" y="7711441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>
            <a:hlinkClick action="ppaction://hlinksldjump" r:id="rId19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19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2"/>
          <p:cNvSpPr/>
          <p:nvPr/>
        </p:nvSpPr>
        <p:spPr>
          <a:xfrm>
            <a:off x="3887703" y="1984772"/>
            <a:ext cx="1426464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3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10. Scrum funciona como sistema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2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2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2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2"/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12">
            <a:hlinkClick action="ppaction://hlinksldjump" r:id="rId3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Estructura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2">
            <a:hlinkClick action="ppaction://hlinksldjump" r:id="rId4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2">
            <a:hlinkClick action="ppaction://hlinksldjump" r:id="rId5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Responsabilidades del Scrum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12">
            <a:hlinkClick r:id="rId6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12">
            <a:hlinkClick action="ppaction://hlinksldjump" r:id="rId7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Eventos del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2">
            <a:hlinkClick r:id="rId8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12">
            <a:hlinkClick action="ppaction://hlinksldjump" r:id="rId9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Artefactos y compromisos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12"/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2">
            <a:hlinkClick action="ppaction://hlinksldjump" r:id="rId10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024791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Integración y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2"/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12">
            <a:hlinkClick action="ppaction://hlinksldjump" r:id="rId11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12"/>
          <p:cNvSpPr/>
          <p:nvPr/>
        </p:nvSpPr>
        <p:spPr>
          <a:xfrm>
            <a:off x="4591655" y="9872067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12">
            <a:hlinkClick action="ppaction://hlinksldjump" r:id="rId12"/>
          </p:cNvPr>
          <p:cNvSpPr/>
          <p:nvPr/>
        </p:nvSpPr>
        <p:spPr>
          <a:xfrm>
            <a:off x="4591655" y="9812536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2"/>
          <p:cNvSpPr/>
          <p:nvPr/>
        </p:nvSpPr>
        <p:spPr>
          <a:xfrm>
            <a:off x="6378374" y="9872067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2">
            <a:hlinkClick action="ppaction://hlinksldjump" r:id="rId13"/>
          </p:cNvPr>
          <p:cNvSpPr/>
          <p:nvPr/>
        </p:nvSpPr>
        <p:spPr>
          <a:xfrm>
            <a:off x="6378374" y="9812536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12">
            <a:hlinkClick action="ppaction://hlinksldjump" r:id="rId4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2">
            <a:hlinkClick action="ppaction://hlinksldjump" r:id="rId4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9" name="Google Shape;779;p12" title="correcciones sapiencia.png">
            <a:hlinkClick action="ppaction://hlinksldjump" r:id="rId4"/>
          </p:cNvPr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12">
            <a:hlinkClick action="ppaction://hlinksldjump" r:id="rId4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por dentro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12"/>
          <p:cNvSpPr txBox="1"/>
          <p:nvPr/>
        </p:nvSpPr>
        <p:spPr>
          <a:xfrm>
            <a:off x="3886200" y="1481328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2 · Estructura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12"/>
          <p:cNvSpPr/>
          <p:nvPr/>
        </p:nvSpPr>
        <p:spPr>
          <a:xfrm>
            <a:off x="3886200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2"/>
          <p:cNvSpPr/>
          <p:nvPr/>
        </p:nvSpPr>
        <p:spPr>
          <a:xfrm>
            <a:off x="4114800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12"/>
          <p:cNvSpPr/>
          <p:nvPr/>
        </p:nvSpPr>
        <p:spPr>
          <a:xfrm>
            <a:off x="4334256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12"/>
          <p:cNvSpPr/>
          <p:nvPr/>
        </p:nvSpPr>
        <p:spPr>
          <a:xfrm>
            <a:off x="45537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12"/>
          <p:cNvSpPr/>
          <p:nvPr/>
        </p:nvSpPr>
        <p:spPr>
          <a:xfrm>
            <a:off x="47823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2"/>
          <p:cNvSpPr/>
          <p:nvPr/>
        </p:nvSpPr>
        <p:spPr>
          <a:xfrm>
            <a:off x="5001768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12"/>
          <p:cNvSpPr txBox="1"/>
          <p:nvPr/>
        </p:nvSpPr>
        <p:spPr>
          <a:xfrm>
            <a:off x="3886200" y="3200400"/>
            <a:ext cx="1426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CO" sz="19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No son piezas aisladas: la articulación que da sentido a la agilidad en equipo.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12"/>
          <p:cNvSpPr/>
          <p:nvPr/>
        </p:nvSpPr>
        <p:spPr>
          <a:xfrm>
            <a:off x="3886200" y="3717131"/>
            <a:ext cx="4541520" cy="3063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12"/>
          <p:cNvSpPr/>
          <p:nvPr/>
        </p:nvSpPr>
        <p:spPr>
          <a:xfrm>
            <a:off x="3886200" y="3717131"/>
            <a:ext cx="4541520" cy="9144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1" name="Google Shape;791;p1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206240" y="403717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12"/>
          <p:cNvSpPr txBox="1"/>
          <p:nvPr/>
        </p:nvSpPr>
        <p:spPr>
          <a:xfrm>
            <a:off x="4800600" y="4018884"/>
            <a:ext cx="344424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-CO" sz="19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Responsabilidades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12"/>
          <p:cNvSpPr txBox="1"/>
          <p:nvPr/>
        </p:nvSpPr>
        <p:spPr>
          <a:xfrm>
            <a:off x="4206240" y="4631532"/>
            <a:ext cx="3901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s-CO" sz="14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Organizan quién asume cada compromiso y cómo contribuye al valor del producto.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2"/>
          <p:cNvSpPr/>
          <p:nvPr/>
        </p:nvSpPr>
        <p:spPr>
          <a:xfrm>
            <a:off x="4160520" y="5637371"/>
            <a:ext cx="1950720" cy="365760"/>
          </a:xfrm>
          <a:prstGeom prst="roundRect">
            <a:avLst>
              <a:gd fmla="val 50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12"/>
          <p:cNvSpPr txBox="1"/>
          <p:nvPr/>
        </p:nvSpPr>
        <p:spPr>
          <a:xfrm>
            <a:off x="4160520" y="5637371"/>
            <a:ext cx="195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CO" sz="125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Product Owner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12"/>
          <p:cNvSpPr/>
          <p:nvPr/>
        </p:nvSpPr>
        <p:spPr>
          <a:xfrm>
            <a:off x="6202680" y="5637371"/>
            <a:ext cx="1950720" cy="365760"/>
          </a:xfrm>
          <a:prstGeom prst="roundRect">
            <a:avLst>
              <a:gd fmla="val 50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12"/>
          <p:cNvSpPr txBox="1"/>
          <p:nvPr/>
        </p:nvSpPr>
        <p:spPr>
          <a:xfrm>
            <a:off x="6202680" y="5637371"/>
            <a:ext cx="195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CO" sz="125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Developers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12"/>
          <p:cNvSpPr/>
          <p:nvPr/>
        </p:nvSpPr>
        <p:spPr>
          <a:xfrm>
            <a:off x="4160520" y="6094571"/>
            <a:ext cx="1950720" cy="365760"/>
          </a:xfrm>
          <a:prstGeom prst="roundRect">
            <a:avLst>
              <a:gd fmla="val 50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2"/>
          <p:cNvSpPr txBox="1"/>
          <p:nvPr/>
        </p:nvSpPr>
        <p:spPr>
          <a:xfrm>
            <a:off x="4160520" y="6094571"/>
            <a:ext cx="195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CO" sz="125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Scrum Master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12"/>
          <p:cNvSpPr/>
          <p:nvPr/>
        </p:nvSpPr>
        <p:spPr>
          <a:xfrm>
            <a:off x="8747760" y="3717131"/>
            <a:ext cx="4541520" cy="3063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12"/>
          <p:cNvSpPr/>
          <p:nvPr/>
        </p:nvSpPr>
        <p:spPr>
          <a:xfrm>
            <a:off x="8747760" y="3717131"/>
            <a:ext cx="4541520" cy="91440"/>
          </a:xfrm>
          <a:prstGeom prst="rect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12"/>
          <p:cNvSpPr/>
          <p:nvPr/>
        </p:nvSpPr>
        <p:spPr>
          <a:xfrm>
            <a:off x="9067800" y="403717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2"/>
          <p:cNvSpPr txBox="1"/>
          <p:nvPr/>
        </p:nvSpPr>
        <p:spPr>
          <a:xfrm>
            <a:off x="9662160" y="4018884"/>
            <a:ext cx="344424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-CO" sz="19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Eventos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12"/>
          <p:cNvSpPr txBox="1"/>
          <p:nvPr/>
        </p:nvSpPr>
        <p:spPr>
          <a:xfrm>
            <a:off x="9067800" y="4631532"/>
            <a:ext cx="3901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s-CO" sz="14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Crean oportunidades formales para inspeccionar y adaptar el trabajo.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12"/>
          <p:cNvSpPr/>
          <p:nvPr/>
        </p:nvSpPr>
        <p:spPr>
          <a:xfrm>
            <a:off x="9022080" y="5637371"/>
            <a:ext cx="1950720" cy="365760"/>
          </a:xfrm>
          <a:prstGeom prst="roundRect">
            <a:avLst>
              <a:gd fmla="val 50000" name="adj"/>
            </a:avLst>
          </a:prstGeom>
          <a:solidFill>
            <a:srgbClr val="E8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12"/>
          <p:cNvSpPr txBox="1"/>
          <p:nvPr/>
        </p:nvSpPr>
        <p:spPr>
          <a:xfrm>
            <a:off x="9022080" y="5637371"/>
            <a:ext cx="195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CO" sz="125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Sprint Planning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12"/>
          <p:cNvSpPr/>
          <p:nvPr/>
        </p:nvSpPr>
        <p:spPr>
          <a:xfrm>
            <a:off x="11064240" y="5637371"/>
            <a:ext cx="1950720" cy="365760"/>
          </a:xfrm>
          <a:prstGeom prst="roundRect">
            <a:avLst>
              <a:gd fmla="val 50000" name="adj"/>
            </a:avLst>
          </a:prstGeom>
          <a:solidFill>
            <a:srgbClr val="E8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12"/>
          <p:cNvSpPr txBox="1"/>
          <p:nvPr/>
        </p:nvSpPr>
        <p:spPr>
          <a:xfrm>
            <a:off x="11064240" y="5637371"/>
            <a:ext cx="195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CO" sz="125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Daily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12"/>
          <p:cNvSpPr/>
          <p:nvPr/>
        </p:nvSpPr>
        <p:spPr>
          <a:xfrm>
            <a:off x="9022080" y="6094571"/>
            <a:ext cx="1950720" cy="365760"/>
          </a:xfrm>
          <a:prstGeom prst="roundRect">
            <a:avLst>
              <a:gd fmla="val 50000" name="adj"/>
            </a:avLst>
          </a:prstGeom>
          <a:solidFill>
            <a:srgbClr val="E8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12"/>
          <p:cNvSpPr txBox="1"/>
          <p:nvPr/>
        </p:nvSpPr>
        <p:spPr>
          <a:xfrm>
            <a:off x="9022080" y="6094571"/>
            <a:ext cx="195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CO" sz="125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Sprint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12"/>
          <p:cNvSpPr/>
          <p:nvPr/>
        </p:nvSpPr>
        <p:spPr>
          <a:xfrm>
            <a:off x="11064240" y="6094571"/>
            <a:ext cx="1950720" cy="365760"/>
          </a:xfrm>
          <a:prstGeom prst="roundRect">
            <a:avLst>
              <a:gd fmla="val 50000" name="adj"/>
            </a:avLst>
          </a:prstGeom>
          <a:solidFill>
            <a:srgbClr val="E8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12"/>
          <p:cNvSpPr txBox="1"/>
          <p:nvPr/>
        </p:nvSpPr>
        <p:spPr>
          <a:xfrm>
            <a:off x="11064240" y="6094571"/>
            <a:ext cx="195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CO" sz="125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Sprint Retrospective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12"/>
          <p:cNvSpPr/>
          <p:nvPr/>
        </p:nvSpPr>
        <p:spPr>
          <a:xfrm>
            <a:off x="13609320" y="3717131"/>
            <a:ext cx="4541520" cy="3063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D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12"/>
          <p:cNvSpPr/>
          <p:nvPr/>
        </p:nvSpPr>
        <p:spPr>
          <a:xfrm>
            <a:off x="13609320" y="3717131"/>
            <a:ext cx="4541520" cy="9144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5" name="Google Shape;815;p1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3929360" y="403717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12"/>
          <p:cNvSpPr txBox="1"/>
          <p:nvPr/>
        </p:nvSpPr>
        <p:spPr>
          <a:xfrm>
            <a:off x="14523720" y="4018884"/>
            <a:ext cx="344424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-CO" sz="1900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Artefactos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12"/>
          <p:cNvSpPr txBox="1"/>
          <p:nvPr/>
        </p:nvSpPr>
        <p:spPr>
          <a:xfrm>
            <a:off x="13929360" y="4631532"/>
            <a:ext cx="3901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s-CO" sz="145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Hacen visible el trabajo y el valor generado, y permiten tomar decisiones con evidencia.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12"/>
          <p:cNvSpPr/>
          <p:nvPr/>
        </p:nvSpPr>
        <p:spPr>
          <a:xfrm>
            <a:off x="13883640" y="5637371"/>
            <a:ext cx="1950720" cy="365760"/>
          </a:xfrm>
          <a:prstGeom prst="roundRect">
            <a:avLst>
              <a:gd fmla="val 50000" name="adj"/>
            </a:avLst>
          </a:prstGeom>
          <a:solidFill>
            <a:srgbClr val="E6EE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12"/>
          <p:cNvSpPr txBox="1"/>
          <p:nvPr/>
        </p:nvSpPr>
        <p:spPr>
          <a:xfrm>
            <a:off x="13883640" y="5637371"/>
            <a:ext cx="195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CO" sz="1250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Product Backlog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12"/>
          <p:cNvSpPr/>
          <p:nvPr/>
        </p:nvSpPr>
        <p:spPr>
          <a:xfrm>
            <a:off x="15925800" y="5637371"/>
            <a:ext cx="1950720" cy="365760"/>
          </a:xfrm>
          <a:prstGeom prst="roundRect">
            <a:avLst>
              <a:gd fmla="val 50000" name="adj"/>
            </a:avLst>
          </a:prstGeom>
          <a:solidFill>
            <a:srgbClr val="E6EE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2"/>
          <p:cNvSpPr txBox="1"/>
          <p:nvPr/>
        </p:nvSpPr>
        <p:spPr>
          <a:xfrm>
            <a:off x="15925800" y="5637371"/>
            <a:ext cx="195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CO" sz="1250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Sprint Backlog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12"/>
          <p:cNvSpPr/>
          <p:nvPr/>
        </p:nvSpPr>
        <p:spPr>
          <a:xfrm>
            <a:off x="13883640" y="6094571"/>
            <a:ext cx="1950720" cy="365760"/>
          </a:xfrm>
          <a:prstGeom prst="roundRect">
            <a:avLst>
              <a:gd fmla="val 50000" name="adj"/>
            </a:avLst>
          </a:prstGeom>
          <a:solidFill>
            <a:srgbClr val="E6EE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12"/>
          <p:cNvSpPr txBox="1"/>
          <p:nvPr/>
        </p:nvSpPr>
        <p:spPr>
          <a:xfrm>
            <a:off x="13883640" y="6094571"/>
            <a:ext cx="195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CO" sz="1250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Incremento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12"/>
          <p:cNvSpPr/>
          <p:nvPr/>
        </p:nvSpPr>
        <p:spPr>
          <a:xfrm>
            <a:off x="3886200" y="7168992"/>
            <a:ext cx="14264640" cy="1170432"/>
          </a:xfrm>
          <a:prstGeom prst="roundRect">
            <a:avLst>
              <a:gd fmla="val 12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12"/>
          <p:cNvSpPr/>
          <p:nvPr/>
        </p:nvSpPr>
        <p:spPr>
          <a:xfrm>
            <a:off x="3886200" y="7168992"/>
            <a:ext cx="82296" cy="1170432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12"/>
          <p:cNvSpPr/>
          <p:nvPr/>
        </p:nvSpPr>
        <p:spPr>
          <a:xfrm>
            <a:off x="4160520" y="7443312"/>
            <a:ext cx="603504" cy="603504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12"/>
          <p:cNvSpPr/>
          <p:nvPr/>
        </p:nvSpPr>
        <p:spPr>
          <a:xfrm>
            <a:off x="4288536" y="757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2"/>
          <p:cNvSpPr txBox="1"/>
          <p:nvPr/>
        </p:nvSpPr>
        <p:spPr>
          <a:xfrm>
            <a:off x="4983480" y="7297008"/>
            <a:ext cx="129844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¿Qué nos plantea?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12"/>
          <p:cNvSpPr txBox="1"/>
          <p:nvPr/>
        </p:nvSpPr>
        <p:spPr>
          <a:xfrm>
            <a:off x="4983480" y="7644480"/>
            <a:ext cx="1298448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CO" sz="1500" u="none" cap="none" strike="noStrike">
                <a:solidFill>
                  <a:srgbClr val="3F3A48"/>
                </a:solidFill>
                <a:latin typeface="Arial"/>
                <a:ea typeface="Arial"/>
                <a:cs typeface="Arial"/>
                <a:sym typeface="Arial"/>
              </a:rPr>
              <a:t>Comprender Scrum implica reconocer las conexiones: quiénes participan, qué hacen visible, cuándo revisan los resultados y cómo utilizan lo aprendido para decidir el siguiente paso.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12"/>
          <p:cNvSpPr/>
          <p:nvPr/>
        </p:nvSpPr>
        <p:spPr>
          <a:xfrm>
            <a:off x="3886200" y="8627460"/>
            <a:ext cx="3638550" cy="40233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2"/>
          <p:cNvSpPr txBox="1"/>
          <p:nvPr/>
        </p:nvSpPr>
        <p:spPr>
          <a:xfrm>
            <a:off x="3886200" y="8627460"/>
            <a:ext cx="36385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O" sz="135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Piezas aisladas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2"/>
          <p:cNvSpPr txBox="1"/>
          <p:nvPr/>
        </p:nvSpPr>
        <p:spPr>
          <a:xfrm>
            <a:off x="7600950" y="8627460"/>
            <a:ext cx="51435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O" sz="2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2"/>
          <p:cNvSpPr/>
          <p:nvPr/>
        </p:nvSpPr>
        <p:spPr>
          <a:xfrm>
            <a:off x="8210550" y="8627460"/>
            <a:ext cx="3857625" cy="402336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2"/>
          <p:cNvSpPr txBox="1"/>
          <p:nvPr/>
        </p:nvSpPr>
        <p:spPr>
          <a:xfrm>
            <a:off x="8210550" y="8627460"/>
            <a:ext cx="3857625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O" sz="135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Sistema articulado de valor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2"/>
          <p:cNvSpPr txBox="1"/>
          <p:nvPr/>
        </p:nvSpPr>
        <p:spPr>
          <a:xfrm>
            <a:off x="9334500" y="6892767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s-CO" sz="110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Nota. Elaboración basada en Schwaber y Sutherland (2020).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hosphor calendar-blank, regular, #ddd5e7. https://phosphoricons.com/" id="836" name="Google Shape;836;p1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067800" y="40371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osphor lightbulb, regular, #ddd5e7. https://phosphoricons.com/" id="837" name="Google Shape;837;p1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288536" y="75713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>
            <a:hlinkClick action="ppaction://hlinksldjump" r:id="rId22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22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3"/>
          <p:cNvSpPr/>
          <p:nvPr/>
        </p:nvSpPr>
        <p:spPr>
          <a:xfrm>
            <a:off x="3887703" y="1371600"/>
            <a:ext cx="64521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1"/>
              <a:buFont typeface="Arial"/>
              <a:buNone/>
            </a:pPr>
            <a:r>
              <a:rPr b="1" i="0" lang="es-CO" sz="1641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13"/>
          <p:cNvSpPr/>
          <p:nvPr/>
        </p:nvSpPr>
        <p:spPr>
          <a:xfrm>
            <a:off x="3887703" y="1810512"/>
            <a:ext cx="1408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28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¿Cuál de las siguientes opciones describe correctamente cómo se articulan los componentes de Scrum?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3"/>
          <p:cNvSpPr/>
          <p:nvPr/>
        </p:nvSpPr>
        <p:spPr>
          <a:xfrm>
            <a:off x="3887703" y="2818210"/>
            <a:ext cx="124200" cy="1488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13"/>
          <p:cNvSpPr/>
          <p:nvPr/>
        </p:nvSpPr>
        <p:spPr>
          <a:xfrm>
            <a:off x="4111047" y="2840538"/>
            <a:ext cx="87000" cy="1041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13"/>
          <p:cNvSpPr/>
          <p:nvPr/>
        </p:nvSpPr>
        <p:spPr>
          <a:xfrm>
            <a:off x="4334386" y="2840538"/>
            <a:ext cx="87000" cy="1041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13"/>
          <p:cNvSpPr/>
          <p:nvPr/>
        </p:nvSpPr>
        <p:spPr>
          <a:xfrm>
            <a:off x="4557726" y="2840538"/>
            <a:ext cx="87000" cy="1041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3"/>
          <p:cNvSpPr/>
          <p:nvPr/>
        </p:nvSpPr>
        <p:spPr>
          <a:xfrm>
            <a:off x="4781066" y="2840538"/>
            <a:ext cx="87000" cy="1041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13"/>
          <p:cNvSpPr/>
          <p:nvPr/>
        </p:nvSpPr>
        <p:spPr>
          <a:xfrm>
            <a:off x="5004402" y="2818210"/>
            <a:ext cx="124200" cy="1488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3"/>
          <p:cNvSpPr/>
          <p:nvPr/>
        </p:nvSpPr>
        <p:spPr>
          <a:xfrm>
            <a:off x="4418886" y="3349396"/>
            <a:ext cx="13480800" cy="1041900"/>
          </a:xfrm>
          <a:prstGeom prst="roundRect">
            <a:avLst>
              <a:gd fmla="val 26829" name="adj"/>
            </a:avLst>
          </a:prstGeom>
          <a:gradFill>
            <a:gsLst>
              <a:gs pos="0">
                <a:srgbClr val="467CF1"/>
              </a:gs>
              <a:gs pos="100000">
                <a:srgbClr val="664092"/>
              </a:gs>
            </a:gsLst>
            <a:lin ang="81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13"/>
          <p:cNvSpPr/>
          <p:nvPr/>
        </p:nvSpPr>
        <p:spPr>
          <a:xfrm>
            <a:off x="4359786" y="3577995"/>
            <a:ext cx="13599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7"/>
              <a:buFont typeface="Arial"/>
              <a:buNone/>
            </a:pPr>
            <a:r>
              <a:rPr b="1" i="0" lang="es-CO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Marco Scrum: responsabilidades, eventos y artefactos como sistema integrado.</a:t>
            </a:r>
            <a:endParaRPr b="0" i="0" sz="12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3"/>
          <p:cNvSpPr/>
          <p:nvPr/>
        </p:nvSpPr>
        <p:spPr>
          <a:xfrm>
            <a:off x="3887703" y="4538116"/>
            <a:ext cx="1444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4"/>
              <a:buFont typeface="Arial"/>
              <a:buNone/>
            </a:pPr>
            <a:r>
              <a:rPr b="1" i="0" lang="es-CO" sz="2344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Selecciona una respuesta para comprobarla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3"/>
          <p:cNvSpPr/>
          <p:nvPr/>
        </p:nvSpPr>
        <p:spPr>
          <a:xfrm>
            <a:off x="4706616" y="5150764"/>
            <a:ext cx="12804900" cy="762000"/>
          </a:xfrm>
          <a:prstGeom prst="roundRect">
            <a:avLst>
              <a:gd fmla="val 27586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13">
            <a:hlinkClick action="ppaction://hlinksldjump" r:id="rId3"/>
          </p:cNvPr>
          <p:cNvSpPr/>
          <p:nvPr/>
        </p:nvSpPr>
        <p:spPr>
          <a:xfrm>
            <a:off x="4706616" y="5086756"/>
            <a:ext cx="12804900" cy="762000"/>
          </a:xfrm>
          <a:prstGeom prst="roundRect">
            <a:avLst>
              <a:gd fmla="val 27586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274300" spcFirstLastPara="1" rIns="148825" wrap="square" tIns="59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Font typeface="Arial"/>
              <a:buNone/>
            </a:pPr>
            <a:r>
              <a:rPr b="1" i="0" lang="es-CO" sz="1650" u="sng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 · Los eventos sustituyen los artefactos cuando se necesita modificar el plan.</a:t>
            </a:r>
            <a:endParaRPr b="0" i="0" sz="165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13"/>
          <p:cNvSpPr/>
          <p:nvPr/>
        </p:nvSpPr>
        <p:spPr>
          <a:xfrm>
            <a:off x="4706616" y="6065164"/>
            <a:ext cx="12804900" cy="762000"/>
          </a:xfrm>
          <a:prstGeom prst="roundRect">
            <a:avLst>
              <a:gd fmla="val 23529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13">
            <a:hlinkClick action="ppaction://hlinksldjump" r:id="rId5"/>
          </p:cNvPr>
          <p:cNvSpPr/>
          <p:nvPr/>
        </p:nvSpPr>
        <p:spPr>
          <a:xfrm>
            <a:off x="4706616" y="6001156"/>
            <a:ext cx="12804900" cy="762000"/>
          </a:xfrm>
          <a:prstGeom prst="roundRect">
            <a:avLst>
              <a:gd fmla="val 235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59525" lIns="274300" spcFirstLastPara="1" rIns="148825" wrap="square" tIns="59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Font typeface="Arial"/>
              <a:buNone/>
            </a:pPr>
            <a:r>
              <a:rPr b="1" i="0" lang="es-CO" sz="1650" u="sng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 · Las responsabilidades, eventos y artefactos funcionan de manera independiente.</a:t>
            </a:r>
            <a:endParaRPr b="0" i="0" sz="165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13"/>
          <p:cNvSpPr/>
          <p:nvPr/>
        </p:nvSpPr>
        <p:spPr>
          <a:xfrm>
            <a:off x="4706616" y="6979564"/>
            <a:ext cx="12804900" cy="1066800"/>
          </a:xfrm>
          <a:prstGeom prst="roundRect">
            <a:avLst>
              <a:gd fmla="val 27586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13">
            <a:hlinkClick action="ppaction://hlinksldjump" r:id="rId7"/>
          </p:cNvPr>
          <p:cNvSpPr/>
          <p:nvPr/>
        </p:nvSpPr>
        <p:spPr>
          <a:xfrm>
            <a:off x="4706616" y="6915556"/>
            <a:ext cx="12804900" cy="1066800"/>
          </a:xfrm>
          <a:prstGeom prst="roundRect">
            <a:avLst>
              <a:gd fmla="val 27586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274300" spcFirstLastPara="1" rIns="148825" wrap="square" tIns="59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Font typeface="Arial"/>
              <a:buNone/>
            </a:pPr>
            <a:r>
              <a:rPr b="1" i="0" lang="es-CO" sz="1650" u="sng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 · Las responsabilidades organizan la participación, los eventos permiten inspeccionar y adaptar, y los artefactos hacen visible el trabajo y el valor.</a:t>
            </a:r>
            <a:endParaRPr b="0" i="0" sz="165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13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13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13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13"/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13">
            <a:hlinkClick action="ppaction://hlinksldjump" r:id="rId9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Estructura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13">
            <a:hlinkClick action="ppaction://hlinksldjump" r:id="rId10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13">
            <a:hlinkClick action="ppaction://hlinksldjump" r:id="rId11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Responsabilidades del Scrum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13"/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13">
            <a:hlinkClick action="ppaction://hlinksldjump" r:id="rId12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Eventos del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13"/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13">
            <a:hlinkClick action="ppaction://hlinksldjump" r:id="rId13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Artefactos y compromisos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13"/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13">
            <a:hlinkClick action="ppaction://hlinksldjump" r:id="rId14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Integración y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13"/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13">
            <a:hlinkClick action="ppaction://hlinksldjump" r:id="rId15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D9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13"/>
          <p:cNvSpPr/>
          <p:nvPr/>
        </p:nvSpPr>
        <p:spPr>
          <a:xfrm>
            <a:off x="4591655" y="9872067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13">
            <a:hlinkClick action="ppaction://hlinksldjump" r:id="rId16"/>
          </p:cNvPr>
          <p:cNvSpPr/>
          <p:nvPr/>
        </p:nvSpPr>
        <p:spPr>
          <a:xfrm>
            <a:off x="4591655" y="9812536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13"/>
          <p:cNvSpPr/>
          <p:nvPr/>
        </p:nvSpPr>
        <p:spPr>
          <a:xfrm>
            <a:off x="6378374" y="9872067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13">
            <a:hlinkClick action="ppaction://hlinksldjump" r:id="rId17"/>
          </p:cNvPr>
          <p:cNvSpPr/>
          <p:nvPr/>
        </p:nvSpPr>
        <p:spPr>
          <a:xfrm>
            <a:off x="6378374" y="9812536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13">
            <a:hlinkClick action="ppaction://hlinksldjump" r:id="rId10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13">
            <a:hlinkClick action="ppaction://hlinksldjump" r:id="rId1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1" name="Google Shape;881;p13" title="correcciones sapiencia.png">
            <a:hlinkClick action="ppaction://hlinksldjump" r:id="rId10"/>
          </p:cNvPr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13">
            <a:hlinkClick action="ppaction://hlinksldjump" r:id="rId10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por dentro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13"/>
          <p:cNvSpPr/>
          <p:nvPr/>
        </p:nvSpPr>
        <p:spPr>
          <a:xfrm>
            <a:off x="4709160" y="8198764"/>
            <a:ext cx="12801600" cy="609600"/>
          </a:xfrm>
          <a:prstGeom prst="roundRect">
            <a:avLst>
              <a:gd fmla="val 3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13">
            <a:hlinkClick action="ppaction://hlinksldjump" r:id="rId22"/>
          </p:cNvPr>
          <p:cNvSpPr/>
          <p:nvPr/>
        </p:nvSpPr>
        <p:spPr>
          <a:xfrm>
            <a:off x="4709160" y="8134756"/>
            <a:ext cx="12801600" cy="609600"/>
          </a:xfrm>
          <a:prstGeom prst="roundRect">
            <a:avLst>
              <a:gd fmla="val 3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27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s-CO" sz="1650" u="sng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 · Los artefactos determinan funciones y establecen cuándo realizar los eventos.</a:t>
            </a:r>
            <a:endParaRPr b="0" i="0" sz="165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>
            <a:hlinkClick action="ppaction://hlinksldjump" r:id="rId23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23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4"/>
          <p:cNvSpPr/>
          <p:nvPr/>
        </p:nvSpPr>
        <p:spPr>
          <a:xfrm>
            <a:off x="4359199" y="4276750"/>
            <a:ext cx="1861200" cy="18750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4"/>
          <p:cNvSpPr/>
          <p:nvPr/>
        </p:nvSpPr>
        <p:spPr>
          <a:xfrm>
            <a:off x="3887703" y="1984772"/>
            <a:ext cx="125319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3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Respuesta correcta</a:t>
            </a:r>
            <a:endParaRPr b="1" i="0" sz="36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14"/>
          <p:cNvSpPr/>
          <p:nvPr/>
        </p:nvSpPr>
        <p:spPr>
          <a:xfrm>
            <a:off x="3887703" y="3115866"/>
            <a:ext cx="124200" cy="1488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14"/>
          <p:cNvSpPr/>
          <p:nvPr/>
        </p:nvSpPr>
        <p:spPr>
          <a:xfrm>
            <a:off x="4111047" y="3138194"/>
            <a:ext cx="87000" cy="1041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14"/>
          <p:cNvSpPr/>
          <p:nvPr/>
        </p:nvSpPr>
        <p:spPr>
          <a:xfrm>
            <a:off x="4334386" y="3138194"/>
            <a:ext cx="87000" cy="1041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4"/>
          <p:cNvSpPr/>
          <p:nvPr/>
        </p:nvSpPr>
        <p:spPr>
          <a:xfrm>
            <a:off x="4557726" y="3138194"/>
            <a:ext cx="87000" cy="1041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14"/>
          <p:cNvSpPr/>
          <p:nvPr/>
        </p:nvSpPr>
        <p:spPr>
          <a:xfrm>
            <a:off x="4781066" y="3138194"/>
            <a:ext cx="87000" cy="1041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4"/>
          <p:cNvSpPr/>
          <p:nvPr/>
        </p:nvSpPr>
        <p:spPr>
          <a:xfrm>
            <a:off x="5004402" y="3115866"/>
            <a:ext cx="124200" cy="1488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14"/>
          <p:cNvSpPr/>
          <p:nvPr/>
        </p:nvSpPr>
        <p:spPr>
          <a:xfrm>
            <a:off x="4359199" y="4663600"/>
            <a:ext cx="1861200" cy="11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24"/>
              <a:buFont typeface="Arial"/>
              <a:buNone/>
            </a:pPr>
            <a:r>
              <a:rPr b="1" i="0" lang="es-CO" sz="7824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14"/>
          <p:cNvSpPr/>
          <p:nvPr/>
        </p:nvSpPr>
        <p:spPr>
          <a:xfrm>
            <a:off x="6840752" y="3473054"/>
            <a:ext cx="102240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3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¡Muy bien!</a:t>
            </a:r>
            <a:endParaRPr b="1" i="0" sz="36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14"/>
          <p:cNvSpPr/>
          <p:nvPr/>
        </p:nvSpPr>
        <p:spPr>
          <a:xfrm>
            <a:off x="6840752" y="4574382"/>
            <a:ext cx="102240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5"/>
              <a:buFont typeface="Arial"/>
              <a:buNone/>
            </a:pPr>
            <a:r>
              <a:rPr b="0" i="0" lang="es-CO" sz="21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En Scrum, responsabilidades, eventos y artefactos se relacionan como parte de un mismo sistema para hacer visible el trabajo, inspeccionar los resultados y favorecer la adaptación.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14"/>
          <p:cNvSpPr/>
          <p:nvPr/>
        </p:nvSpPr>
        <p:spPr>
          <a:xfrm>
            <a:off x="8602657" y="7932440"/>
            <a:ext cx="5012700" cy="714300"/>
          </a:xfrm>
          <a:prstGeom prst="roundRect">
            <a:avLst>
              <a:gd fmla="val 33333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14">
            <a:hlinkClick action="ppaction://hlinksldjump" r:id="rId3"/>
          </p:cNvPr>
          <p:cNvSpPr/>
          <p:nvPr/>
        </p:nvSpPr>
        <p:spPr>
          <a:xfrm>
            <a:off x="8602657" y="7872909"/>
            <a:ext cx="5012700" cy="714300"/>
          </a:xfrm>
          <a:prstGeom prst="roundRect">
            <a:avLst>
              <a:gd fmla="val 33333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Font typeface="Arial"/>
              <a:buNone/>
            </a:pPr>
            <a:r>
              <a:rPr b="1" i="0" lang="es-CO" sz="1992" u="sng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Continuar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14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14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14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14"/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4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Estructura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14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14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Responsabilidades del Scrum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14"/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14">
            <a:hlinkClick action="ppaction://hlinksldjump" r:id="rId7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Eventos del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14"/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14">
            <a:hlinkClick action="ppaction://hlinksldjump" r:id="rId8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Artefactos y compromisos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14"/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14">
            <a:hlinkClick action="ppaction://hlinksldjump" r:id="rId9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Integración y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14"/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14">
            <a:hlinkClick action="ppaction://hlinksldjump" r:id="rId10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D9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14">
            <a:hlinkClick action="ppaction://hlinksldjump" r:id="rId11"/>
          </p:cNvPr>
          <p:cNvSpPr/>
          <p:nvPr/>
        </p:nvSpPr>
        <p:spPr>
          <a:xfrm>
            <a:off x="4591655" y="9872067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14">
            <a:hlinkClick action="ppaction://hlinksldjump" r:id="rId12"/>
          </p:cNvPr>
          <p:cNvSpPr/>
          <p:nvPr/>
        </p:nvSpPr>
        <p:spPr>
          <a:xfrm>
            <a:off x="4591655" y="9812536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13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14">
            <a:hlinkClick action="ppaction://hlinksldjump" r:id="rId20"/>
          </p:cNvPr>
          <p:cNvSpPr/>
          <p:nvPr/>
        </p:nvSpPr>
        <p:spPr>
          <a:xfrm>
            <a:off x="6378374" y="9872067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14">
            <a:hlinkClick action="ppaction://hlinksldjump" r:id="rId20"/>
          </p:cNvPr>
          <p:cNvSpPr/>
          <p:nvPr/>
        </p:nvSpPr>
        <p:spPr>
          <a:xfrm>
            <a:off x="6378374" y="9812536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14">
            <a:hlinkClick action="ppaction://hlinksldjump" r:id="rId3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14">
            <a:hlinkClick action="ppaction://hlinksldjump" r:id="rId3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4" name="Google Shape;924;p14" title="correcciones sapiencia.png">
            <a:hlinkClick action="ppaction://hlinksldjump" r:id="rId3"/>
          </p:cNvPr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14">
            <a:hlinkClick action="ppaction://hlinksldjump" r:id="rId3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por dentro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>
            <a:hlinkClick action="ppaction://hlinksldjump" r:id="rId20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20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5"/>
          <p:cNvSpPr/>
          <p:nvPr/>
        </p:nvSpPr>
        <p:spPr>
          <a:xfrm>
            <a:off x="3887703" y="1478756"/>
            <a:ext cx="64521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1"/>
              <a:buFont typeface="Arial"/>
              <a:buNone/>
            </a:pPr>
            <a:r>
              <a:rPr b="1" i="0" lang="es-CO" sz="1641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15"/>
          <p:cNvSpPr/>
          <p:nvPr/>
        </p:nvSpPr>
        <p:spPr>
          <a:xfrm>
            <a:off x="3887703" y="1984772"/>
            <a:ext cx="125319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3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Respuesta a revisar</a:t>
            </a:r>
            <a:endParaRPr b="1" i="0" sz="36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15"/>
          <p:cNvSpPr/>
          <p:nvPr/>
        </p:nvSpPr>
        <p:spPr>
          <a:xfrm>
            <a:off x="3887703" y="2826942"/>
            <a:ext cx="124200" cy="1488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15"/>
          <p:cNvSpPr/>
          <p:nvPr/>
        </p:nvSpPr>
        <p:spPr>
          <a:xfrm>
            <a:off x="4111047" y="2849270"/>
            <a:ext cx="87000" cy="1041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15"/>
          <p:cNvSpPr/>
          <p:nvPr/>
        </p:nvSpPr>
        <p:spPr>
          <a:xfrm>
            <a:off x="4334386" y="2849270"/>
            <a:ext cx="87000" cy="1041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15"/>
          <p:cNvSpPr/>
          <p:nvPr/>
        </p:nvSpPr>
        <p:spPr>
          <a:xfrm>
            <a:off x="4557726" y="2849270"/>
            <a:ext cx="87000" cy="1041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15"/>
          <p:cNvSpPr/>
          <p:nvPr/>
        </p:nvSpPr>
        <p:spPr>
          <a:xfrm>
            <a:off x="4781066" y="2849270"/>
            <a:ext cx="87000" cy="1041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15"/>
          <p:cNvSpPr/>
          <p:nvPr/>
        </p:nvSpPr>
        <p:spPr>
          <a:xfrm>
            <a:off x="5004402" y="2826942"/>
            <a:ext cx="124200" cy="14880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15"/>
          <p:cNvSpPr/>
          <p:nvPr/>
        </p:nvSpPr>
        <p:spPr>
          <a:xfrm>
            <a:off x="4359199" y="3996650"/>
            <a:ext cx="1861200" cy="1875000"/>
          </a:xfrm>
          <a:prstGeom prst="ellipse">
            <a:avLst/>
          </a:prstGeom>
          <a:solidFill>
            <a:srgbClr val="F1EB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15"/>
          <p:cNvSpPr/>
          <p:nvPr/>
        </p:nvSpPr>
        <p:spPr>
          <a:xfrm>
            <a:off x="4359199" y="4413200"/>
            <a:ext cx="1861200" cy="10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6"/>
              <a:buFont typeface="Arial"/>
              <a:buNone/>
            </a:pPr>
            <a:r>
              <a:rPr b="1" i="0" lang="es-CO" sz="6836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15"/>
          <p:cNvSpPr/>
          <p:nvPr/>
        </p:nvSpPr>
        <p:spPr>
          <a:xfrm>
            <a:off x="6840752" y="3246438"/>
            <a:ext cx="102240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3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Revisemos nuevamente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15"/>
          <p:cNvSpPr/>
          <p:nvPr/>
        </p:nvSpPr>
        <p:spPr>
          <a:xfrm>
            <a:off x="6840752" y="4347766"/>
            <a:ext cx="102240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5"/>
              <a:buFont typeface="Arial"/>
              <a:buNone/>
            </a:pPr>
            <a:r>
              <a:rPr b="0" i="0" lang="es-CO" sz="21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Revisemos nuevamente la presentación. Los componentes de Scrum no funcionan de manera aislada ni se sustituyen entre sí. Identifiquemos qué función cumplen las responsabilidades, los eventos y los artefactos dentro del marco de trabajo.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15"/>
          <p:cNvSpPr/>
          <p:nvPr/>
        </p:nvSpPr>
        <p:spPr>
          <a:xfrm>
            <a:off x="8602657" y="7807324"/>
            <a:ext cx="5012700" cy="714300"/>
          </a:xfrm>
          <a:prstGeom prst="roundRect">
            <a:avLst>
              <a:gd fmla="val 33333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15">
            <a:hlinkClick action="ppaction://hlinksldjump" r:id="rId3"/>
          </p:cNvPr>
          <p:cNvSpPr/>
          <p:nvPr/>
        </p:nvSpPr>
        <p:spPr>
          <a:xfrm>
            <a:off x="8602657" y="7747793"/>
            <a:ext cx="5012700" cy="714300"/>
          </a:xfrm>
          <a:prstGeom prst="roundRect">
            <a:avLst>
              <a:gd fmla="val 33333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Font typeface="Arial"/>
              <a:buNone/>
            </a:pPr>
            <a:r>
              <a:rPr b="1" i="0" lang="es-CO" sz="1992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4"/>
              </a:rPr>
              <a:t>Volver a intentar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15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15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15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15"/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15">
            <a:hlinkClick action="ppaction://hlinksldjump" r:id="rId5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Estructura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15">
            <a:hlinkClick action="ppaction://hlinksldjump" r:id="rId6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15">
            <a:hlinkClick action="ppaction://hlinksldjump" r:id="rId7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Responsabilidades del Scrum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15"/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15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Eventos del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5"/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15">
            <a:hlinkClick action="ppaction://hlinksldjump" r:id="rId9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Artefactos y compromisos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15"/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15">
            <a:hlinkClick action="ppaction://hlinksldjump" r:id="rId10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Integración y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15"/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15">
            <a:hlinkClick action="ppaction://hlinksldjump" r:id="rId11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D9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15">
            <a:hlinkClick action="ppaction://hlinksldjump" r:id="rId12"/>
          </p:cNvPr>
          <p:cNvSpPr/>
          <p:nvPr/>
        </p:nvSpPr>
        <p:spPr>
          <a:xfrm>
            <a:off x="4591655" y="9872067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15">
            <a:hlinkClick action="ppaction://hlinksldjump" r:id="rId13"/>
          </p:cNvPr>
          <p:cNvSpPr/>
          <p:nvPr/>
        </p:nvSpPr>
        <p:spPr>
          <a:xfrm>
            <a:off x="4591655" y="9812536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14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15">
            <a:hlinkClick action="ppaction://hlinksldjump" r:id="rId15"/>
          </p:cNvPr>
          <p:cNvSpPr/>
          <p:nvPr/>
        </p:nvSpPr>
        <p:spPr>
          <a:xfrm>
            <a:off x="6378374" y="9872067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15">
            <a:hlinkClick action="ppaction://hlinksldjump" r:id="rId16"/>
          </p:cNvPr>
          <p:cNvSpPr/>
          <p:nvPr/>
        </p:nvSpPr>
        <p:spPr>
          <a:xfrm>
            <a:off x="6378374" y="9812536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15">
            <a:hlinkClick action="ppaction://hlinksldjump" r:id="rId6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15">
            <a:hlinkClick action="ppaction://hlinksldjump" r:id="rId6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6" name="Google Shape;966;p15" title="correcciones sapiencia.png">
            <a:hlinkClick action="ppaction://hlinksldjump" r:id="rId6"/>
          </p:cNvPr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15">
            <a:hlinkClick action="ppaction://hlinksldjump" r:id="rId6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por dentro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>
            <a:hlinkClick action="ppaction://hlinksldjump" r:id="rId21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21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5" name="Google Shape;55;p2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2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Estructura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>
            <a:hlinkClick action="ppaction://hlinksldjump" r:id="rId3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4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Responsabilidades del Scrum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>
            <a:hlinkClick action="ppaction://hlinksldjump" r:id="rId5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Eventos del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>
            <a:hlinkClick action="ppaction://hlinksldjump" r:id="rId6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Artefactos y compromisos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7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Integración y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>
            <a:hlinkClick action="ppaction://hlinksldjump" r:id="rId8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>
            <a:hlinkClick action="ppaction://hlinksldjump" r:id="rId3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>
            <a:hlinkClick action="ppaction://hlinksldjump" r:id="rId3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Picture 75" descr="image.png">
            <a:hlinkClick action="ppaction://hlinksldjump" r:id="rId3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783" y="600314"/>
            <a:ext cx="486192" cy="486192"/>
          </a:xfrm>
          <a:prstGeom prst="rect">
            <a:avLst/>
          </a:prstGeom>
        </p:spPr>
      </p:pic>
      <p:sp>
        <p:nvSpPr>
          <p:cNvPr id="77" name="Google Shape;77;p2">
            <a:hlinkClick action="ppaction://hlinksldjump" r:id="rId3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por dentro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3887703" y="1984772"/>
            <a:ext cx="1426464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3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 de producción y postproducción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3886200" y="1481328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3886200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4114800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4334256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45537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4782312" y="2852928"/>
            <a:ext cx="91440" cy="9144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5001768" y="2834640"/>
            <a:ext cx="128016" cy="12801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>
            <a:hlinkClick action="ppaction://hlinksldjump" r:id="rId11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>
            <a:hlinkClick action="ppaction://hlinksldjump" r:id="rId11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14">
            <a:hlinkClick action="ppaction://hlinksldjump" r:id="rId12"/>
          </p:cNvPr>
          <p:cNvSpPr/>
          <p:nvPr/>
        </p:nvSpPr>
        <p:spPr>
          <a:xfrm>
            <a:off x="4591655" y="9872067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14">
            <a:hlinkClick action="ppaction://hlinksldjump" r:id="rId12"/>
          </p:cNvPr>
          <p:cNvSpPr/>
          <p:nvPr/>
        </p:nvSpPr>
        <p:spPr>
          <a:xfrm>
            <a:off x="4591655" y="9812536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18"/>
          <p:cNvSpPr/>
          <p:nvPr/>
        </p:nvSpPr>
        <p:spPr>
          <a:xfrm>
            <a:off x="3886200" y="3429000"/>
            <a:ext cx="6949440" cy="96012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8"/>
          <p:cNvSpPr/>
          <p:nvPr/>
        </p:nvSpPr>
        <p:spPr>
          <a:xfrm>
            <a:off x="3886200" y="3429000"/>
            <a:ext cx="91440" cy="96012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18"/>
          <p:cNvSpPr txBox="1"/>
          <p:nvPr/>
        </p:nvSpPr>
        <p:spPr>
          <a:xfrm>
            <a:off x="4206240" y="3538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Coordinación general</a:t>
            </a:r>
            <a:endParaRPr/>
          </a:p>
        </p:txBody>
      </p:sp>
      <p:sp>
        <p:nvSpPr>
          <p:cNvPr id="843" name="Google Shape;843;p18"/>
          <p:cNvSpPr txBox="1"/>
          <p:nvPr/>
        </p:nvSpPr>
        <p:spPr>
          <a:xfrm>
            <a:off x="4206240" y="3904487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Luz Dary Morales Galvis</a:t>
            </a:r>
            <a:endParaRPr/>
          </a:p>
        </p:txBody>
      </p:sp>
      <p:sp>
        <p:nvSpPr>
          <p:cNvPr id="844" name="Google Shape;844;p18"/>
          <p:cNvSpPr/>
          <p:nvPr/>
        </p:nvSpPr>
        <p:spPr>
          <a:xfrm>
            <a:off x="11155680" y="3429000"/>
            <a:ext cx="6949440" cy="96012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8"/>
          <p:cNvSpPr/>
          <p:nvPr/>
        </p:nvSpPr>
        <p:spPr>
          <a:xfrm>
            <a:off x="11155680" y="3429000"/>
            <a:ext cx="91440" cy="96012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18"/>
          <p:cNvSpPr txBox="1"/>
          <p:nvPr/>
        </p:nvSpPr>
        <p:spPr>
          <a:xfrm>
            <a:off x="11475719" y="3538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Experto temático</a:t>
            </a:r>
            <a:endParaRPr/>
          </a:p>
        </p:txBody>
      </p:sp>
      <p:sp>
        <p:nvSpPr>
          <p:cNvPr id="847" name="Google Shape;847;p18"/>
          <p:cNvSpPr txBox="1"/>
          <p:nvPr/>
        </p:nvSpPr>
        <p:spPr>
          <a:xfrm>
            <a:off x="11475719" y="3904487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Diana María Velázquez García</a:t>
            </a:r>
            <a:endParaRPr/>
          </a:p>
        </p:txBody>
      </p:sp>
      <p:sp>
        <p:nvSpPr>
          <p:cNvPr id="848" name="Google Shape;848;p18"/>
          <p:cNvSpPr/>
          <p:nvPr/>
        </p:nvSpPr>
        <p:spPr>
          <a:xfrm>
            <a:off x="3886200" y="4572000"/>
            <a:ext cx="6949440" cy="96012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8"/>
          <p:cNvSpPr/>
          <p:nvPr/>
        </p:nvSpPr>
        <p:spPr>
          <a:xfrm>
            <a:off x="3886200" y="4572000"/>
            <a:ext cx="91440" cy="960120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18"/>
          <p:cNvSpPr txBox="1"/>
          <p:nvPr/>
        </p:nvSpPr>
        <p:spPr>
          <a:xfrm>
            <a:off x="4206240" y="4681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Diseñador de la experiencia virtual de aprendizaje</a:t>
            </a:r>
            <a:endParaRPr/>
          </a:p>
        </p:txBody>
      </p:sp>
      <p:sp>
        <p:nvSpPr>
          <p:cNvPr id="851" name="Google Shape;851;p18"/>
          <p:cNvSpPr txBox="1"/>
          <p:nvPr/>
        </p:nvSpPr>
        <p:spPr>
          <a:xfrm>
            <a:off x="4206240" y="5047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Julieta Márquez Gutiérrez</a:t>
            </a:r>
            <a:endParaRPr/>
          </a:p>
        </p:txBody>
      </p:sp>
      <p:sp>
        <p:nvSpPr>
          <p:cNvPr id="852" name="Google Shape;852;p18"/>
          <p:cNvSpPr/>
          <p:nvPr/>
        </p:nvSpPr>
        <p:spPr>
          <a:xfrm>
            <a:off x="11155680" y="4572000"/>
            <a:ext cx="6949440" cy="96012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8"/>
          <p:cNvSpPr/>
          <p:nvPr/>
        </p:nvSpPr>
        <p:spPr>
          <a:xfrm>
            <a:off x="11155680" y="4572000"/>
            <a:ext cx="91440" cy="96012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8"/>
          <p:cNvSpPr txBox="1"/>
          <p:nvPr/>
        </p:nvSpPr>
        <p:spPr>
          <a:xfrm>
            <a:off x="11475719" y="4681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Corrección de estilo</a:t>
            </a:r>
            <a:endParaRPr/>
          </a:p>
        </p:txBody>
      </p:sp>
      <p:sp>
        <p:nvSpPr>
          <p:cNvPr id="855" name="Google Shape;855;p18"/>
          <p:cNvSpPr txBox="1"/>
          <p:nvPr/>
        </p:nvSpPr>
        <p:spPr>
          <a:xfrm>
            <a:off x="11475719" y="5047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Julieta Márquez Gutiérrez y Sergio Andrés Ocampo Rivera</a:t>
            </a:r>
            <a:endParaRPr/>
          </a:p>
        </p:txBody>
      </p:sp>
      <p:sp>
        <p:nvSpPr>
          <p:cNvPr id="856" name="Google Shape;856;p18"/>
          <p:cNvSpPr/>
          <p:nvPr/>
        </p:nvSpPr>
        <p:spPr>
          <a:xfrm>
            <a:off x="3886200" y="5715000"/>
            <a:ext cx="6949440" cy="96012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18"/>
          <p:cNvSpPr/>
          <p:nvPr/>
        </p:nvSpPr>
        <p:spPr>
          <a:xfrm>
            <a:off x="3886200" y="5715000"/>
            <a:ext cx="91440" cy="96012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18"/>
          <p:cNvSpPr txBox="1"/>
          <p:nvPr/>
        </p:nvSpPr>
        <p:spPr>
          <a:xfrm>
            <a:off x="4206240" y="5824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Validación pedagógica</a:t>
            </a:r>
            <a:endParaRPr/>
          </a:p>
        </p:txBody>
      </p:sp>
      <p:sp>
        <p:nvSpPr>
          <p:cNvPr id="859" name="Google Shape;859;p18"/>
          <p:cNvSpPr txBox="1"/>
          <p:nvPr/>
        </p:nvSpPr>
        <p:spPr>
          <a:xfrm>
            <a:off x="4206240" y="6190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Sandra Patricia Hoyos Sepúlveda</a:t>
            </a:r>
            <a:endParaRPr/>
          </a:p>
        </p:txBody>
      </p:sp>
      <p:sp>
        <p:nvSpPr>
          <p:cNvPr id="860" name="Google Shape;860;p18"/>
          <p:cNvSpPr/>
          <p:nvPr/>
        </p:nvSpPr>
        <p:spPr>
          <a:xfrm>
            <a:off x="11155680" y="5715000"/>
            <a:ext cx="6949440" cy="96012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18"/>
          <p:cNvSpPr/>
          <p:nvPr/>
        </p:nvSpPr>
        <p:spPr>
          <a:xfrm>
            <a:off x="11155680" y="5715000"/>
            <a:ext cx="91440" cy="96012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18"/>
          <p:cNvSpPr txBox="1"/>
          <p:nvPr/>
        </p:nvSpPr>
        <p:spPr>
          <a:xfrm>
            <a:off x="11475719" y="5824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Diseño gráfico</a:t>
            </a:r>
            <a:endParaRPr/>
          </a:p>
        </p:txBody>
      </p:sp>
      <p:sp>
        <p:nvSpPr>
          <p:cNvPr id="863" name="Google Shape;863;p18"/>
          <p:cNvSpPr txBox="1"/>
          <p:nvPr/>
        </p:nvSpPr>
        <p:spPr>
          <a:xfrm>
            <a:off x="11475719" y="6190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Andrea Valentina Roa Orozco</a:t>
            </a:r>
            <a:endParaRPr/>
          </a:p>
        </p:txBody>
      </p:sp>
      <p:sp>
        <p:nvSpPr>
          <p:cNvPr id="864" name="Google Shape;864;p18"/>
          <p:cNvSpPr/>
          <p:nvPr/>
        </p:nvSpPr>
        <p:spPr>
          <a:xfrm>
            <a:off x="3886200" y="6858000"/>
            <a:ext cx="6949440" cy="96012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18"/>
          <p:cNvSpPr/>
          <p:nvPr/>
        </p:nvSpPr>
        <p:spPr>
          <a:xfrm>
            <a:off x="3886200" y="6858000"/>
            <a:ext cx="91440" cy="960120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18"/>
          <p:cNvSpPr txBox="1"/>
          <p:nvPr/>
        </p:nvSpPr>
        <p:spPr>
          <a:xfrm>
            <a:off x="4206240" y="6967728"/>
            <a:ext cx="6400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Desarrollo </a:t>
            </a:r>
            <a:r>
              <a:rPr b="1" lang="es-CO" sz="1300">
                <a:solidFill>
                  <a:srgbClr val="2A56C6"/>
                </a:solidFill>
              </a:rPr>
              <a:t>d</a:t>
            </a:r>
            <a:r>
              <a:rPr b="1" i="0" lang="es-CO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e interactivos</a:t>
            </a:r>
            <a:endParaRPr/>
          </a:p>
        </p:txBody>
      </p:sp>
      <p:sp>
        <p:nvSpPr>
          <p:cNvPr id="867" name="Google Shape;867;p18"/>
          <p:cNvSpPr txBox="1"/>
          <p:nvPr/>
        </p:nvSpPr>
        <p:spPr>
          <a:xfrm>
            <a:off x="4206240" y="7333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Paola Andrea Quintero Aguilar</a:t>
            </a:r>
            <a:endParaRPr/>
          </a:p>
        </p:txBody>
      </p:sp>
      <p:sp>
        <p:nvSpPr>
          <p:cNvPr id="868" name="Google Shape;868;p18"/>
          <p:cNvSpPr/>
          <p:nvPr/>
        </p:nvSpPr>
        <p:spPr>
          <a:xfrm>
            <a:off x="11155680" y="6858000"/>
            <a:ext cx="6949440" cy="96012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18"/>
          <p:cNvSpPr/>
          <p:nvPr/>
        </p:nvSpPr>
        <p:spPr>
          <a:xfrm>
            <a:off x="11155680" y="6858000"/>
            <a:ext cx="91440" cy="96012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18"/>
          <p:cNvSpPr txBox="1"/>
          <p:nvPr/>
        </p:nvSpPr>
        <p:spPr>
          <a:xfrm>
            <a:off x="11475719" y="6967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Disposición y ensamble</a:t>
            </a:r>
            <a:endParaRPr/>
          </a:p>
        </p:txBody>
      </p:sp>
      <p:sp>
        <p:nvSpPr>
          <p:cNvPr id="871" name="Google Shape;871;p18"/>
          <p:cNvSpPr txBox="1"/>
          <p:nvPr/>
        </p:nvSpPr>
        <p:spPr>
          <a:xfrm>
            <a:off x="11475719" y="7333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Samayda Herrera Betancur</a:t>
            </a:r>
            <a:endParaRPr/>
          </a:p>
        </p:txBody>
      </p:sp>
      <p:sp>
        <p:nvSpPr>
          <p:cNvPr id="872" name="Google Shape;872;p18"/>
          <p:cNvSpPr txBox="1"/>
          <p:nvPr/>
        </p:nvSpPr>
        <p:spPr>
          <a:xfrm>
            <a:off x="3886200" y="8092440"/>
            <a:ext cx="1421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120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Proyecto C.I. 278 de 2026 · @Medellín — SAPIENCIA · Última actualización: octubre de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