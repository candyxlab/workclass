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WEuMw4rj66imGnGetK5G9G6rs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E7F91E-28C6-4280-8E66-EA02E2E343C9}">
  <a:tblStyle styleId="{3BE7F91E-28C6-4280-8E66-EA02E2E343C9}"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FF7"/>
          </a:solidFill>
        </a:fill>
      </a:tcStyle>
    </a:wholeTbl>
    <a:band1H>
      <a:tcTxStyle/>
      <a:tcStyle>
        <a:fill>
          <a:solidFill>
            <a:srgbClr val="CADEEF"/>
          </a:solidFill>
        </a:fill>
      </a:tcStyle>
    </a:band1H>
    <a:band2H>
      <a:tcTxStyle/>
    </a:band2H>
    <a:band1V>
      <a:tcTxStyle/>
      <a:tcStyle>
        <a:fill>
          <a:solidFill>
            <a:srgbClr val="CADEEF"/>
          </a:solidFill>
        </a:fill>
      </a:tcStyle>
    </a:band1V>
    <a:band2V>
      <a:tcTxStyle/>
    </a:band2V>
    <a:lastCol>
      <a:tcTxStyle b="on" i="off">
        <a:font>
          <a:latin typeface="Arial"/>
          <a:ea typeface="Arial"/>
          <a:cs typeface="Arial"/>
        </a:font>
        <a:schemeClr val="lt1"/>
      </a:tcTxStyle>
      <a:tcStyle>
        <a:fill>
          <a:solidFill>
            <a:schemeClr val="accent4"/>
          </a:solidFill>
        </a:fill>
      </a:tcStyle>
    </a:lastCol>
    <a:firstCol>
      <a:tcTxStyle b="on" i="off">
        <a:font>
          <a:latin typeface="Arial"/>
          <a:ea typeface="Arial"/>
          <a:cs typeface="Arial"/>
        </a:font>
        <a:schemeClr val="lt1"/>
      </a:tcTxStyle>
      <a:tcStyle>
        <a:fill>
          <a:solidFill>
            <a:schemeClr val="accent4"/>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3: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6: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notes"/>
          <p:cNvSpPr/>
          <p:nvPr>
            <p:ph idx="2" type="sldImg"/>
          </p:nvPr>
        </p:nvSpPr>
        <p:spPr>
          <a:xfrm>
            <a:off x="461963" y="0"/>
            <a:ext cx="2076450" cy="30003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pic>
        <p:nvPicPr>
          <p:cNvPr id="11" name="Google Shape;11;p11"/>
          <p:cNvPicPr preferRelativeResize="0"/>
          <p:nvPr/>
        </p:nvPicPr>
        <p:blipFill rotWithShape="1">
          <a:blip r:embed="rId2">
            <a:alphaModFix/>
          </a:blip>
          <a:srcRect b="0" l="1041" r="1088" t="0"/>
          <a:stretch/>
        </p:blipFill>
        <p:spPr>
          <a:xfrm>
            <a:off x="0" y="0"/>
            <a:ext cx="6858000" cy="991056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5" name="Shape 15"/>
        <p:cNvGrpSpPr/>
        <p:nvPr/>
      </p:nvGrpSpPr>
      <p:grpSpPr>
        <a:xfrm>
          <a:off x="0" y="0"/>
          <a:ext cx="0" cy="0"/>
          <a:chOff x="0" y="0"/>
          <a:chExt cx="0" cy="0"/>
        </a:xfrm>
      </p:grpSpPr>
      <p:pic>
        <p:nvPicPr>
          <p:cNvPr id="16" name="Google Shape;16;p1"/>
          <p:cNvPicPr preferRelativeResize="0"/>
          <p:nvPr/>
        </p:nvPicPr>
        <p:blipFill rotWithShape="1">
          <a:blip r:embed="rId4">
            <a:alphaModFix/>
          </a:blip>
          <a:srcRect b="28199" l="0" r="0" t="11191"/>
          <a:stretch/>
        </p:blipFill>
        <p:spPr>
          <a:xfrm>
            <a:off x="-2443500" y="0"/>
            <a:ext cx="6903252" cy="2354238"/>
          </a:xfrm>
          <a:prstGeom prst="flowChartTerminator">
            <a:avLst/>
          </a:prstGeom>
          <a:noFill/>
          <a:ln>
            <a:noFill/>
          </a:ln>
        </p:spPr>
      </p:pic>
      <p:sp>
        <p:nvSpPr>
          <p:cNvPr id="17" name="Google Shape;17;p1"/>
          <p:cNvSpPr/>
          <p:nvPr/>
        </p:nvSpPr>
        <p:spPr>
          <a:xfrm>
            <a:off x="657775" y="4143720"/>
            <a:ext cx="3914225" cy="5486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125"/>
              <a:buFont typeface="Arial"/>
              <a:buNone/>
            </a:pPr>
            <a:r>
              <a:rPr b="1" i="0" lang="es-CO" sz="1125" u="none" cap="none" strike="noStrike">
                <a:solidFill>
                  <a:srgbClr val="024791"/>
                </a:solidFill>
                <a:latin typeface="Arial"/>
                <a:ea typeface="Arial"/>
                <a:cs typeface="Arial"/>
                <a:sym typeface="Arial"/>
              </a:rPr>
              <a:t>De los fundamentos de Scrum al aprendizaje, la adaptación y la generación de valor.</a:t>
            </a:r>
            <a:endParaRPr b="1" i="0" sz="1125" u="none" cap="none" strike="noStrike">
              <a:solidFill>
                <a:srgbClr val="024791"/>
              </a:solidFill>
              <a:latin typeface="Arial"/>
              <a:ea typeface="Arial"/>
              <a:cs typeface="Arial"/>
              <a:sym typeface="Arial"/>
            </a:endParaRPr>
          </a:p>
        </p:txBody>
      </p:sp>
      <p:sp>
        <p:nvSpPr>
          <p:cNvPr id="18" name="Google Shape;18;p1"/>
          <p:cNvSpPr/>
          <p:nvPr/>
        </p:nvSpPr>
        <p:spPr>
          <a:xfrm>
            <a:off x="657775" y="4754880"/>
            <a:ext cx="4387950" cy="12954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2983"/>
              <a:buFont typeface="Arial"/>
              <a:buNone/>
            </a:pPr>
            <a:r>
              <a:rPr b="1" i="0" lang="es-CO" sz="2983" u="none" cap="none" strike="noStrike">
                <a:solidFill>
                  <a:srgbClr val="24212A"/>
                </a:solidFill>
                <a:latin typeface="Arial"/>
                <a:ea typeface="Arial"/>
                <a:cs typeface="Arial"/>
                <a:sym typeface="Arial"/>
              </a:rPr>
              <a:t>Scrum: qué es, de dónde viene y en qué se sostiene</a:t>
            </a:r>
            <a:endParaRPr b="1" i="0" sz="2983" u="none" cap="none" strike="noStrike">
              <a:solidFill>
                <a:schemeClr val="dk1"/>
              </a:solidFill>
              <a:latin typeface="Arial"/>
              <a:ea typeface="Arial"/>
              <a:cs typeface="Arial"/>
              <a:sym typeface="Arial"/>
            </a:endParaRPr>
          </a:p>
        </p:txBody>
      </p:sp>
      <p:sp>
        <p:nvSpPr>
          <p:cNvPr id="19" name="Google Shape;19;p1"/>
          <p:cNvSpPr/>
          <p:nvPr/>
        </p:nvSpPr>
        <p:spPr>
          <a:xfrm>
            <a:off x="0" y="0"/>
            <a:ext cx="6858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 name="Google Shape;20;p1"/>
          <p:cNvPicPr preferRelativeResize="0"/>
          <p:nvPr/>
        </p:nvPicPr>
        <p:blipFill rotWithShape="1">
          <a:blip r:embed="rId5">
            <a:alphaModFix/>
          </a:blip>
          <a:srcRect b="0" l="0" r="0" t="0"/>
          <a:stretch/>
        </p:blipFill>
        <p:spPr>
          <a:xfrm>
            <a:off x="657775" y="6648766"/>
            <a:ext cx="1765069" cy="142444"/>
          </a:xfrm>
          <a:prstGeom prst="rect">
            <a:avLst/>
          </a:prstGeom>
          <a:noFill/>
          <a:ln>
            <a:noFill/>
          </a:ln>
        </p:spPr>
      </p:pic>
      <p:sp>
        <p:nvSpPr>
          <p:cNvPr id="21" name="Google Shape;21;p1"/>
          <p:cNvSpPr/>
          <p:nvPr/>
        </p:nvSpPr>
        <p:spPr>
          <a:xfrm>
            <a:off x="657775" y="3340865"/>
            <a:ext cx="2038350" cy="323850"/>
          </a:xfrm>
          <a:prstGeom prst="roundRect">
            <a:avLst>
              <a:gd fmla="val 50000" name="adj"/>
            </a:avLst>
          </a:prstGeom>
          <a:solidFill>
            <a:srgbClr val="A7198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791125" y="3426590"/>
            <a:ext cx="1771650" cy="17145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900"/>
              <a:buFont typeface="Arial"/>
              <a:buNone/>
            </a:pPr>
            <a:r>
              <a:rPr b="1" i="0" lang="es-CO" sz="900" u="none" cap="none" strike="noStrike">
                <a:solidFill>
                  <a:schemeClr val="lt1"/>
                </a:solidFill>
                <a:latin typeface="Arial"/>
                <a:ea typeface="Arial"/>
                <a:cs typeface="Arial"/>
                <a:sym typeface="Arial"/>
              </a:rPr>
              <a:t>Artículo educativo</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2"/>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Mapa de lectura</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76300" y="1409700"/>
            <a:ext cx="5105400" cy="690943"/>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Scrum: qué es, de dónde viene y en qué se sostiene</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876300" y="2637481"/>
            <a:ext cx="5105400" cy="1234440"/>
          </a:xfrm>
          <a:prstGeom prst="roundRect">
            <a:avLst>
              <a:gd fmla="val 18033" name="adj"/>
            </a:avLst>
          </a:prstGeom>
          <a:solidFill>
            <a:srgbClr val="E9FB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1104900" y="2856938"/>
            <a:ext cx="4629150" cy="13373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900"/>
              <a:buFont typeface="Arial"/>
              <a:buNone/>
            </a:pPr>
            <a:r>
              <a:rPr b="1" i="0" lang="es-CO" sz="900" u="none" cap="none" strike="noStrike">
                <a:solidFill>
                  <a:srgbClr val="024791"/>
                </a:solidFill>
                <a:latin typeface="Arial"/>
                <a:ea typeface="Arial"/>
                <a:cs typeface="Arial"/>
                <a:sym typeface="Arial"/>
              </a:rPr>
              <a:t>Resultado de aprendizaje</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1104900" y="3082109"/>
            <a:ext cx="4629150" cy="685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1050"/>
              <a:buFont typeface="Arial"/>
              <a:buNone/>
            </a:pPr>
            <a:r>
              <a:rPr b="1" i="0" lang="es-CO" sz="1050" u="none" cap="none" strike="noStrike">
                <a:solidFill>
                  <a:srgbClr val="332F37"/>
                </a:solidFill>
                <a:latin typeface="Arial"/>
                <a:ea typeface="Arial"/>
                <a:cs typeface="Arial"/>
                <a:sym typeface="Arial"/>
              </a:rPr>
              <a:t>Comprender los fundamentos de Scrum y reconocer sus principios, valores, responsabilidades, eventos y artefactos, identificando cómo se articulan para organizar el trabajo, favorecer la adaptación y generar valor en la gestión de proyectos.</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895350" y="4063050"/>
            <a:ext cx="5067300"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876300" y="4015425"/>
            <a:ext cx="5105400"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876300" y="4015425"/>
            <a:ext cx="723900" cy="742950"/>
          </a:xfrm>
          <a:prstGeom prst="roundRect">
            <a:avLst>
              <a:gd fmla="val 26316" name="adj"/>
            </a:avLst>
          </a:prstGeom>
          <a:solidFill>
            <a:srgbClr val="6640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876300" y="4234500"/>
            <a:ext cx="723900"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450"/>
              <a:buFont typeface="Arial"/>
              <a:buNone/>
            </a:pPr>
            <a:r>
              <a:rPr b="1" i="0" lang="es-CO" sz="145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1828800" y="4139250"/>
            <a:ext cx="371475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100"/>
              <a:buFont typeface="Arial"/>
              <a:buNone/>
            </a:pPr>
            <a:r>
              <a:rPr b="1" i="0" lang="es-CO" sz="1100" u="none" cap="none" strike="noStrike">
                <a:solidFill>
                  <a:srgbClr val="3D2159"/>
                </a:solidFill>
                <a:latin typeface="Arial"/>
                <a:ea typeface="Arial"/>
                <a:cs typeface="Arial"/>
                <a:sym typeface="Arial"/>
              </a:rPr>
              <a:t>Introducción – Tema 1</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1828800" y="4425000"/>
            <a:ext cx="37147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0" i="0" lang="es-CO" sz="900" u="none" cap="none" strike="noStrike">
                <a:solidFill>
                  <a:srgbClr val="7B7480"/>
                </a:solidFill>
                <a:latin typeface="Arial"/>
                <a:ea typeface="Arial"/>
                <a:cs typeface="Arial"/>
                <a:sym typeface="Arial"/>
              </a:rPr>
              <a:t>Comprender Scrum</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895350" y="5053650"/>
            <a:ext cx="5067300"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876300" y="5006025"/>
            <a:ext cx="5105400"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876300" y="5006025"/>
            <a:ext cx="723900" cy="742950"/>
          </a:xfrm>
          <a:prstGeom prst="roundRect">
            <a:avLst>
              <a:gd fmla="val 26316" name="adj"/>
            </a:avLst>
          </a:prstGeom>
          <a:solidFill>
            <a:srgbClr val="B316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876300" y="5225100"/>
            <a:ext cx="723900"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450"/>
              <a:buFont typeface="Arial"/>
              <a:buNone/>
            </a:pPr>
            <a:r>
              <a:rPr b="1" i="0" lang="es-CO" sz="145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1828800" y="5129850"/>
            <a:ext cx="371475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100"/>
              <a:buFont typeface="Arial"/>
              <a:buNone/>
            </a:pPr>
            <a:r>
              <a:rPr b="1" i="0" lang="es-CO" sz="1100" u="none" cap="none" strike="noStrike">
                <a:solidFill>
                  <a:srgbClr val="3D2159"/>
                </a:solidFill>
                <a:latin typeface="Arial"/>
                <a:ea typeface="Arial"/>
                <a:cs typeface="Arial"/>
                <a:sym typeface="Arial"/>
              </a:rPr>
              <a:t>Tema 2</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1828800" y="5415600"/>
            <a:ext cx="37147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0" i="0" lang="es-CO" sz="900" u="none" cap="none" strike="noStrike">
                <a:solidFill>
                  <a:srgbClr val="7B7480"/>
                </a:solidFill>
                <a:latin typeface="Arial"/>
                <a:ea typeface="Arial"/>
                <a:cs typeface="Arial"/>
                <a:sym typeface="Arial"/>
              </a:rPr>
              <a:t>Aprender desde la experiencia</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895350" y="6044250"/>
            <a:ext cx="5067300"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876300" y="5996625"/>
            <a:ext cx="5105400"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876300" y="5996625"/>
            <a:ext cx="723900" cy="742950"/>
          </a:xfrm>
          <a:prstGeom prst="roundRect">
            <a:avLst>
              <a:gd fmla="val 26316" name="adj"/>
            </a:avLst>
          </a:prstGeom>
          <a:solidFill>
            <a:srgbClr val="467C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876300" y="6215700"/>
            <a:ext cx="723900"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450"/>
              <a:buFont typeface="Arial"/>
              <a:buNone/>
            </a:pPr>
            <a:r>
              <a:rPr b="1" i="0" lang="es-CO" sz="145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1828800" y="6120450"/>
            <a:ext cx="371475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100"/>
              <a:buFont typeface="Arial"/>
              <a:buNone/>
            </a:pPr>
            <a:r>
              <a:rPr b="1" i="0" lang="es-CO" sz="1100" u="none" cap="none" strike="noStrike">
                <a:solidFill>
                  <a:srgbClr val="3D2159"/>
                </a:solidFill>
                <a:latin typeface="Arial"/>
                <a:ea typeface="Arial"/>
                <a:cs typeface="Arial"/>
                <a:sym typeface="Arial"/>
              </a:rPr>
              <a:t>Tema 3</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1828800" y="6406200"/>
            <a:ext cx="3714750" cy="1714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0" i="0" lang="es-CO" sz="900" u="none" cap="none" strike="noStrike">
                <a:solidFill>
                  <a:srgbClr val="7B7480"/>
                </a:solidFill>
                <a:latin typeface="Arial"/>
                <a:ea typeface="Arial"/>
                <a:cs typeface="Arial"/>
                <a:sym typeface="Arial"/>
              </a:rPr>
              <a:t>Trabajar desde los valores ágiles</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895350" y="7034850"/>
            <a:ext cx="5067300" cy="742950"/>
          </a:xfrm>
          <a:prstGeom prst="roundRect">
            <a:avLst>
              <a:gd fmla="val 25641" name="adj"/>
            </a:avLst>
          </a:prstGeom>
          <a:solidFill>
            <a:srgbClr val="D8D2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876300" y="6987225"/>
            <a:ext cx="5105400" cy="742950"/>
          </a:xfrm>
          <a:prstGeom prst="roundRect">
            <a:avLst>
              <a:gd fmla="val 25641" name="adj"/>
            </a:avLst>
          </a:prstGeom>
          <a:solidFill>
            <a:srgbClr val="FFFFFF"/>
          </a:solidFill>
          <a:ln cap="flat" cmpd="sng" w="9525">
            <a:solidFill>
              <a:srgbClr val="DDD8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876300" y="6987225"/>
            <a:ext cx="723900" cy="742950"/>
          </a:xfrm>
          <a:prstGeom prst="roundRect">
            <a:avLst>
              <a:gd fmla="val 26316" name="adj"/>
            </a:avLst>
          </a:prstGeom>
          <a:solidFill>
            <a:srgbClr val="0247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876300" y="7206300"/>
            <a:ext cx="723900" cy="2667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1450"/>
              <a:buFont typeface="Arial"/>
              <a:buNone/>
            </a:pPr>
            <a:r>
              <a:rPr b="1" i="0" lang="es-CO" sz="1450" u="none" cap="none" strike="noStrike">
                <a:solidFill>
                  <a:srgbClr val="FFFFFF"/>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1828800" y="7111050"/>
            <a:ext cx="371475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100"/>
              <a:buFont typeface="Arial"/>
              <a:buNone/>
            </a:pPr>
            <a:r>
              <a:rPr b="1" i="0" lang="es-CO" sz="1100" u="none" cap="none" strike="noStrike">
                <a:solidFill>
                  <a:srgbClr val="3D2159"/>
                </a:solidFill>
                <a:latin typeface="Arial"/>
                <a:ea typeface="Arial"/>
                <a:cs typeface="Arial"/>
                <a:sym typeface="Arial"/>
              </a:rPr>
              <a:t>Síntesis - Referencias</a:t>
            </a:r>
            <a:endParaRPr b="0" i="0" sz="1400" u="none" cap="none" strike="noStrike">
              <a:solidFill>
                <a:srgbClr val="000000"/>
              </a:solidFill>
              <a:latin typeface="Arial"/>
              <a:ea typeface="Arial"/>
              <a:cs typeface="Arial"/>
              <a:sym typeface="Arial"/>
            </a:endParaRPr>
          </a:p>
        </p:txBody>
      </p:sp>
      <p:pic>
        <p:nvPicPr>
          <p:cNvPr id="56" name="Google Shape;56;p2"/>
          <p:cNvPicPr preferRelativeResize="0"/>
          <p:nvPr/>
        </p:nvPicPr>
        <p:blipFill rotWithShape="1">
          <a:blip r:embed="rId3">
            <a:alphaModFix/>
          </a:blip>
          <a:srcRect b="0" l="0" r="0" t="0"/>
          <a:stretch/>
        </p:blipFill>
        <p:spPr>
          <a:xfrm>
            <a:off x="869156" y="2219515"/>
            <a:ext cx="1100138" cy="887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Introducción</a:t>
            </a:r>
            <a:endParaRPr b="1" i="0" sz="900" u="none" cap="none" strike="noStrike">
              <a:solidFill>
                <a:srgbClr val="B31686"/>
              </a:solidFill>
              <a:latin typeface="Arial"/>
              <a:ea typeface="Arial"/>
              <a:cs typeface="Arial"/>
              <a:sym typeface="Arial"/>
            </a:endParaRPr>
          </a:p>
        </p:txBody>
      </p:sp>
      <p:sp>
        <p:nvSpPr>
          <p:cNvPr id="62" name="Google Shape;62;p3"/>
          <p:cNvSpPr/>
          <p:nvPr/>
        </p:nvSpPr>
        <p:spPr>
          <a:xfrm>
            <a:off x="876300" y="1409700"/>
            <a:ext cx="5105400" cy="813816"/>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Comprender Scrum para aprender, adaptar y generar valor</a:t>
            </a:r>
            <a:endParaRPr b="0" i="0" sz="1400" u="none" cap="none" strike="noStrike">
              <a:solidFill>
                <a:srgbClr val="000000"/>
              </a:solidFill>
              <a:latin typeface="Arial"/>
              <a:ea typeface="Arial"/>
              <a:cs typeface="Arial"/>
              <a:sym typeface="Arial"/>
            </a:endParaRPr>
          </a:p>
        </p:txBody>
      </p:sp>
      <p:pic>
        <p:nvPicPr>
          <p:cNvPr id="63" name="Google Shape;63;p3"/>
          <p:cNvPicPr preferRelativeResize="0"/>
          <p:nvPr/>
        </p:nvPicPr>
        <p:blipFill rotWithShape="1">
          <a:blip r:embed="rId3">
            <a:alphaModFix/>
          </a:blip>
          <a:srcRect b="0" l="0" r="0" t="0"/>
          <a:stretch/>
        </p:blipFill>
        <p:spPr>
          <a:xfrm>
            <a:off x="869156" y="2340864"/>
            <a:ext cx="1100138" cy="88783"/>
          </a:xfrm>
          <a:prstGeom prst="rect">
            <a:avLst/>
          </a:prstGeom>
          <a:noFill/>
          <a:ln>
            <a:noFill/>
          </a:ln>
        </p:spPr>
      </p:pic>
      <p:sp>
        <p:nvSpPr>
          <p:cNvPr id="64" name="Google Shape;64;p3"/>
          <p:cNvSpPr txBox="1"/>
          <p:nvPr/>
        </p:nvSpPr>
        <p:spPr>
          <a:xfrm>
            <a:off x="877824" y="2752344"/>
            <a:ext cx="5102352" cy="14668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Gestionar un proyecto supone tomar decisiones aun cuando no disponemos de toda la información desde el comienzo. Los requerimientos pueden evolucionar, las prioridades pueden cambiar y los resultados obtenidos durante el proceso pueden mostrarnos que necesitamos modificar el camino previsto. En este escenario, Scrum ofrece una estructura para avanzar, observar lo que ocurre, aprender de la experiencia y adaptar las decisiones.</a:t>
            </a:r>
            <a:endParaRPr/>
          </a:p>
        </p:txBody>
      </p:sp>
      <p:sp>
        <p:nvSpPr>
          <p:cNvPr id="65" name="Google Shape;65;p3"/>
          <p:cNvSpPr txBox="1"/>
          <p:nvPr/>
        </p:nvSpPr>
        <p:spPr>
          <a:xfrm>
            <a:off x="877824" y="4402074"/>
            <a:ext cx="5102352" cy="1047749"/>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Scrum se inscribe en el campo de los enfoques ágiles y busca facilitar la generación de valor frente a problemas complejos. Sin embargo, comprenderlo exige ir más allá de asociarlo con reuniones frecuentes, tableros de tareas o periodos cortos de trabajo. Necesitamos conocer qué significa Scrum, cómo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1 · Comprender Scrum</a:t>
            </a:r>
            <a:endParaRPr b="1" i="0" sz="900" u="none" cap="none" strike="noStrike">
              <a:solidFill>
                <a:srgbClr val="B31686"/>
              </a:solidFill>
              <a:latin typeface="Arial"/>
              <a:ea typeface="Arial"/>
              <a:cs typeface="Arial"/>
              <a:sym typeface="Arial"/>
            </a:endParaRPr>
          </a:p>
        </p:txBody>
      </p:sp>
      <p:sp>
        <p:nvSpPr>
          <p:cNvPr id="71" name="Google Shape;71;p12"/>
          <p:cNvSpPr/>
          <p:nvPr/>
        </p:nvSpPr>
        <p:spPr>
          <a:xfrm>
            <a:off x="876300" y="1409700"/>
            <a:ext cx="5105400" cy="42976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¿Qué entendemos por Scrum?</a:t>
            </a:r>
            <a:endParaRPr b="0" i="0" sz="1400" u="none" cap="none" strike="noStrike">
              <a:solidFill>
                <a:srgbClr val="000000"/>
              </a:solidFill>
              <a:latin typeface="Arial"/>
              <a:ea typeface="Arial"/>
              <a:cs typeface="Arial"/>
              <a:sym typeface="Arial"/>
            </a:endParaRPr>
          </a:p>
        </p:txBody>
      </p:sp>
      <p:pic>
        <p:nvPicPr>
          <p:cNvPr id="72" name="Google Shape;72;p12"/>
          <p:cNvPicPr preferRelativeResize="0"/>
          <p:nvPr/>
        </p:nvPicPr>
        <p:blipFill rotWithShape="1">
          <a:blip r:embed="rId3">
            <a:alphaModFix/>
          </a:blip>
          <a:srcRect b="0" l="0" r="0" t="0"/>
          <a:stretch/>
        </p:blipFill>
        <p:spPr>
          <a:xfrm>
            <a:off x="869156" y="1956816"/>
            <a:ext cx="1100138" cy="88783"/>
          </a:xfrm>
          <a:prstGeom prst="rect">
            <a:avLst/>
          </a:prstGeom>
          <a:noFill/>
          <a:ln>
            <a:noFill/>
          </a:ln>
        </p:spPr>
      </p:pic>
      <p:sp>
        <p:nvSpPr>
          <p:cNvPr id="73" name="Google Shape;73;p12"/>
          <p:cNvSpPr txBox="1"/>
          <p:nvPr/>
        </p:nvSpPr>
        <p:spPr>
          <a:xfrm>
            <a:off x="877824" y="2368296"/>
            <a:ext cx="5102352" cy="1257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Scrum es un marco de trabajo ligero que ayuda a personas, equipos y organizaciones a generar valor mediante soluciones adaptativas frente a problemas complejos (Schwaber &amp; Sutherland, 2020). Esta definición contiene una distinción importante: hablamos de un marco de trabajo y no de un procedimiento que determina detalladamente cada actividad que debemos realizar.</a:t>
            </a:r>
            <a:endParaRPr/>
          </a:p>
        </p:txBody>
      </p:sp>
      <p:sp>
        <p:nvSpPr>
          <p:cNvPr id="74" name="Google Shape;74;p12"/>
          <p:cNvSpPr txBox="1"/>
          <p:nvPr/>
        </p:nvSpPr>
        <p:spPr>
          <a:xfrm>
            <a:off x="877824" y="3808476"/>
            <a:ext cx="5102352" cy="1257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Esto significa que Scrum establece una estructura esencial para organizar el trabajo, pero deja espacio para incorporar prácticas y técnicas de acuerdo con las características del proyecto. Podemos emplear diferentes herramientas para planificar, diseñar, desarrollar o controlar la calidad sin que Scrum determine exactamente cómo ejecutar cada una de estas actividades.</a:t>
            </a:r>
            <a:endParaRPr/>
          </a:p>
        </p:txBody>
      </p:sp>
      <p:sp>
        <p:nvSpPr>
          <p:cNvPr id="75" name="Google Shape;75;p12"/>
          <p:cNvSpPr/>
          <p:nvPr/>
        </p:nvSpPr>
        <p:spPr>
          <a:xfrm>
            <a:off x="877824" y="5248656"/>
            <a:ext cx="5102352" cy="1257300"/>
          </a:xfrm>
          <a:prstGeom prst="roundRect">
            <a:avLst>
              <a:gd fmla="val 10000" name="adj"/>
            </a:avLst>
          </a:prstGeom>
          <a:solidFill>
            <a:srgbClr val="E9FB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 name="Google Shape;76;p12"/>
          <p:cNvSpPr txBox="1"/>
          <p:nvPr/>
        </p:nvSpPr>
        <p:spPr>
          <a:xfrm>
            <a:off x="1106424" y="5431536"/>
            <a:ext cx="4645152" cy="1828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Idea importante</a:t>
            </a:r>
            <a:endParaRPr/>
          </a:p>
        </p:txBody>
      </p:sp>
      <p:sp>
        <p:nvSpPr>
          <p:cNvPr id="77" name="Google Shape;77;p12"/>
          <p:cNvSpPr txBox="1"/>
          <p:nvPr/>
        </p:nvSpPr>
        <p:spPr>
          <a:xfrm>
            <a:off x="1106424" y="5660136"/>
            <a:ext cx="4645152" cy="80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CO" sz="1050" u="none" cap="none" strike="noStrike">
                <a:solidFill>
                  <a:srgbClr val="3D2159"/>
                </a:solidFill>
                <a:latin typeface="Arial"/>
                <a:ea typeface="Arial"/>
                <a:cs typeface="Arial"/>
                <a:sym typeface="Arial"/>
              </a:rPr>
              <a:t>Scrum no nos indica paso a paso cómo realizar cada tarea. </a:t>
            </a:r>
            <a:r>
              <a:rPr b="0" i="0" lang="es-CO" sz="1050" u="none" cap="none" strike="noStrike">
                <a:solidFill>
                  <a:srgbClr val="353646"/>
                </a:solidFill>
                <a:latin typeface="Arial"/>
                <a:ea typeface="Arial"/>
                <a:cs typeface="Arial"/>
                <a:sym typeface="Arial"/>
              </a:rPr>
              <a:t>Proporciona una estructura mínima para organizar el trabajo, revisar los resultados y realizar ajustes a partir de lo aprendido.</a:t>
            </a:r>
            <a:endParaRPr/>
          </a:p>
        </p:txBody>
      </p:sp>
      <p:sp>
        <p:nvSpPr>
          <p:cNvPr id="78" name="Google Shape;78;p12"/>
          <p:cNvSpPr txBox="1"/>
          <p:nvPr/>
        </p:nvSpPr>
        <p:spPr>
          <a:xfrm>
            <a:off x="877824" y="6734556"/>
            <a:ext cx="5102352" cy="1257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Esta característica resulta especialmente relevante cuando trabajamos frente a problemas complejos. Si no podemos anticipar todas las respuestas desde el inicio, necesitamos generar información durante el proceso. Por ello, la gestión ágil favorece una planificación adaptable, la generación incremental de resultados, la colaboración y la retroalimentación frecuente (IEBS Business School, 2025).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3"/>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1 · Comprender Scrum</a:t>
            </a:r>
            <a:endParaRPr b="1" i="0" sz="900" u="none" cap="none" strike="noStrike">
              <a:solidFill>
                <a:srgbClr val="B31686"/>
              </a:solidFill>
              <a:latin typeface="Arial"/>
              <a:ea typeface="Arial"/>
              <a:cs typeface="Arial"/>
              <a:sym typeface="Arial"/>
            </a:endParaRPr>
          </a:p>
        </p:txBody>
      </p:sp>
      <p:sp>
        <p:nvSpPr>
          <p:cNvPr id="84" name="Google Shape;84;p13"/>
          <p:cNvSpPr/>
          <p:nvPr/>
        </p:nvSpPr>
        <p:spPr>
          <a:xfrm>
            <a:off x="876300" y="1409700"/>
            <a:ext cx="5105400" cy="42976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¿Por qué se llama Scrum?</a:t>
            </a:r>
            <a:endParaRPr b="0" i="0" sz="1400" u="none" cap="none" strike="noStrike">
              <a:solidFill>
                <a:srgbClr val="000000"/>
              </a:solidFill>
              <a:latin typeface="Arial"/>
              <a:ea typeface="Arial"/>
              <a:cs typeface="Arial"/>
              <a:sym typeface="Arial"/>
            </a:endParaRPr>
          </a:p>
        </p:txBody>
      </p:sp>
      <p:pic>
        <p:nvPicPr>
          <p:cNvPr id="85" name="Google Shape;85;p13"/>
          <p:cNvPicPr preferRelativeResize="0"/>
          <p:nvPr/>
        </p:nvPicPr>
        <p:blipFill rotWithShape="1">
          <a:blip r:embed="rId3">
            <a:alphaModFix/>
          </a:blip>
          <a:srcRect b="0" l="0" r="0" t="0"/>
          <a:stretch/>
        </p:blipFill>
        <p:spPr>
          <a:xfrm>
            <a:off x="869156" y="1956816"/>
            <a:ext cx="1100138" cy="88783"/>
          </a:xfrm>
          <a:prstGeom prst="rect">
            <a:avLst/>
          </a:prstGeom>
          <a:noFill/>
          <a:ln>
            <a:noFill/>
          </a:ln>
        </p:spPr>
      </p:pic>
      <p:sp>
        <p:nvSpPr>
          <p:cNvPr id="86" name="Google Shape;86;p13"/>
          <p:cNvSpPr txBox="1"/>
          <p:nvPr/>
        </p:nvSpPr>
        <p:spPr>
          <a:xfrm>
            <a:off x="877824" y="2368296"/>
            <a:ext cx="5102352" cy="1047749"/>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El término Scrum procede del rugby. En este deporte, hace referencia a una formación en la que varios integrantes actúan de manera coordinada para avanzar hacia un objetivo común. La metáfora permite representar una característica fundamental del marco: el resultado depende del trabajo conjunto y no de esfuerzos completamente aislados.</a:t>
            </a:r>
            <a:endParaRPr/>
          </a:p>
        </p:txBody>
      </p:sp>
      <p:sp>
        <p:nvSpPr>
          <p:cNvPr id="87" name="Google Shape;87;p13"/>
          <p:cNvSpPr txBox="1"/>
          <p:nvPr/>
        </p:nvSpPr>
        <p:spPr>
          <a:xfrm>
            <a:off x="877824" y="3598926"/>
            <a:ext cx="5102352" cy="1047749"/>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Esto no significa que todas las personas desempeñemos las mismas funciones. Scrum contempla responsabilidades diferenciadas que posteriormente estudiaremos con mayor profundidad. Lo importante es que estas responsabilidades forman parte de un mismo Scrum Team, orientado hacia objetivos compartidos.</a:t>
            </a:r>
            <a:endParaRPr/>
          </a:p>
        </p:txBody>
      </p:sp>
      <p:cxnSp>
        <p:nvCxnSpPr>
          <p:cNvPr id="88" name="Google Shape;88;p13"/>
          <p:cNvCxnSpPr/>
          <p:nvPr/>
        </p:nvCxnSpPr>
        <p:spPr>
          <a:xfrm>
            <a:off x="877824" y="4920995"/>
            <a:ext cx="5102352" cy="0"/>
          </a:xfrm>
          <a:prstGeom prst="straightConnector1">
            <a:avLst/>
          </a:prstGeom>
          <a:noFill/>
          <a:ln cap="flat" cmpd="sng" w="12700">
            <a:solidFill>
              <a:srgbClr val="D9DCE6"/>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1 · Comprender Scrum</a:t>
            </a:r>
            <a:endParaRPr b="1" i="0" sz="900" u="none" cap="none" strike="noStrike">
              <a:solidFill>
                <a:srgbClr val="B31686"/>
              </a:solidFill>
              <a:latin typeface="Arial"/>
              <a:ea typeface="Arial"/>
              <a:cs typeface="Arial"/>
              <a:sym typeface="Arial"/>
            </a:endParaRPr>
          </a:p>
        </p:txBody>
      </p:sp>
      <p:sp>
        <p:nvSpPr>
          <p:cNvPr id="94" name="Google Shape;94;p14"/>
          <p:cNvSpPr txBox="1"/>
          <p:nvPr/>
        </p:nvSpPr>
        <p:spPr>
          <a:xfrm>
            <a:off x="877824" y="148132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GESTIÓN DE EQUIPOS · LÓGICA DE ARTICULACIÓN</a:t>
            </a:r>
            <a:endParaRPr/>
          </a:p>
        </p:txBody>
      </p:sp>
      <p:sp>
        <p:nvSpPr>
          <p:cNvPr id="95" name="Google Shape;95;p14"/>
          <p:cNvSpPr txBox="1"/>
          <p:nvPr/>
        </p:nvSpPr>
        <p:spPr>
          <a:xfrm>
            <a:off x="877824" y="1755648"/>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Articulación y sentido colectivo en Scrum</a:t>
            </a:r>
            <a:endParaRPr/>
          </a:p>
        </p:txBody>
      </p:sp>
      <p:sp>
        <p:nvSpPr>
          <p:cNvPr id="96" name="Google Shape;96;p14"/>
          <p:cNvSpPr txBox="1"/>
          <p:nvPr/>
        </p:nvSpPr>
        <p:spPr>
          <a:xfrm>
            <a:off x="877824" y="2077593"/>
            <a:ext cx="5102352" cy="400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Cómo transformar la diversidad de roles en un resultado útil mediante la coordinación y el propósito común.</a:t>
            </a:r>
            <a:endParaRPr/>
          </a:p>
        </p:txBody>
      </p:sp>
      <p:sp>
        <p:nvSpPr>
          <p:cNvPr id="97" name="Google Shape;97;p14"/>
          <p:cNvSpPr/>
          <p:nvPr/>
        </p:nvSpPr>
        <p:spPr>
          <a:xfrm>
            <a:off x="877824" y="2678811"/>
            <a:ext cx="5102352" cy="868680"/>
          </a:xfrm>
          <a:prstGeom prst="roundRect">
            <a:avLst>
              <a:gd fmla="val 12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14"/>
          <p:cNvSpPr/>
          <p:nvPr/>
        </p:nvSpPr>
        <p:spPr>
          <a:xfrm>
            <a:off x="1060704" y="2879979"/>
            <a:ext cx="457200" cy="457200"/>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4"/>
          <p:cNvSpPr txBox="1"/>
          <p:nvPr/>
        </p:nvSpPr>
        <p:spPr>
          <a:xfrm>
            <a:off x="1060704" y="2879979"/>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1</a:t>
            </a:r>
            <a:endParaRPr/>
          </a:p>
        </p:txBody>
      </p:sp>
      <p:sp>
        <p:nvSpPr>
          <p:cNvPr id="100" name="Google Shape;100;p14"/>
          <p:cNvSpPr txBox="1"/>
          <p:nvPr/>
        </p:nvSpPr>
        <p:spPr>
          <a:xfrm>
            <a:off x="1700784" y="2806827"/>
            <a:ext cx="40965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664092"/>
                </a:solidFill>
                <a:latin typeface="Arial"/>
                <a:ea typeface="Arial"/>
                <a:cs typeface="Arial"/>
                <a:sym typeface="Arial"/>
              </a:rPr>
              <a:t>Responsabilidades diferentes</a:t>
            </a:r>
            <a:endParaRPr/>
          </a:p>
        </p:txBody>
      </p:sp>
      <p:sp>
        <p:nvSpPr>
          <p:cNvPr id="101" name="Google Shape;101;p14"/>
          <p:cNvSpPr txBox="1"/>
          <p:nvPr/>
        </p:nvSpPr>
        <p:spPr>
          <a:xfrm>
            <a:off x="1700784" y="3044571"/>
            <a:ext cx="4096512"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s-CO" sz="950" u="none" cap="none" strike="noStrike">
                <a:solidFill>
                  <a:srgbClr val="353646"/>
                </a:solidFill>
                <a:latin typeface="Arial"/>
                <a:ea typeface="Arial"/>
                <a:cs typeface="Arial"/>
                <a:sym typeface="Arial"/>
              </a:rPr>
              <a:t>Cada integrante asume un rol específico con margen de acción propio (visión del producto, facilitación del proceso o construcción técnica).</a:t>
            </a:r>
            <a:endParaRPr/>
          </a:p>
        </p:txBody>
      </p:sp>
      <p:sp>
        <p:nvSpPr>
          <p:cNvPr id="102" name="Google Shape;102;p14"/>
          <p:cNvSpPr/>
          <p:nvPr/>
        </p:nvSpPr>
        <p:spPr>
          <a:xfrm>
            <a:off x="1234440" y="3538347"/>
            <a:ext cx="109728" cy="128016"/>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4"/>
          <p:cNvSpPr/>
          <p:nvPr/>
        </p:nvSpPr>
        <p:spPr>
          <a:xfrm>
            <a:off x="877824" y="3657219"/>
            <a:ext cx="5102352" cy="868680"/>
          </a:xfrm>
          <a:prstGeom prst="roundRect">
            <a:avLst>
              <a:gd fmla="val 12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14"/>
          <p:cNvSpPr/>
          <p:nvPr/>
        </p:nvSpPr>
        <p:spPr>
          <a:xfrm>
            <a:off x="1060704" y="3858387"/>
            <a:ext cx="457200" cy="457200"/>
          </a:xfrm>
          <a:prstGeom prst="ellipse">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14"/>
          <p:cNvSpPr txBox="1"/>
          <p:nvPr/>
        </p:nvSpPr>
        <p:spPr>
          <a:xfrm>
            <a:off x="1060704" y="3858387"/>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2</a:t>
            </a:r>
            <a:endParaRPr/>
          </a:p>
        </p:txBody>
      </p:sp>
      <p:sp>
        <p:nvSpPr>
          <p:cNvPr id="106" name="Google Shape;106;p14"/>
          <p:cNvSpPr txBox="1"/>
          <p:nvPr/>
        </p:nvSpPr>
        <p:spPr>
          <a:xfrm>
            <a:off x="1700784" y="3785235"/>
            <a:ext cx="40965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2A56C6"/>
                </a:solidFill>
                <a:latin typeface="Arial"/>
                <a:ea typeface="Arial"/>
                <a:cs typeface="Arial"/>
                <a:sym typeface="Arial"/>
              </a:rPr>
              <a:t>Trabajo coordinado</a:t>
            </a:r>
            <a:endParaRPr/>
          </a:p>
        </p:txBody>
      </p:sp>
      <p:sp>
        <p:nvSpPr>
          <p:cNvPr id="107" name="Google Shape;107;p14"/>
          <p:cNvSpPr txBox="1"/>
          <p:nvPr/>
        </p:nvSpPr>
        <p:spPr>
          <a:xfrm>
            <a:off x="1700784" y="4022979"/>
            <a:ext cx="4096512"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s-CO" sz="950" u="none" cap="none" strike="noStrike">
                <a:solidFill>
                  <a:srgbClr val="353646"/>
                </a:solidFill>
                <a:latin typeface="Arial"/>
                <a:ea typeface="Arial"/>
                <a:cs typeface="Arial"/>
                <a:sym typeface="Arial"/>
              </a:rPr>
              <a:t>Las tareas no ocurren en aislamiento; se sincronizan a través de eventos regulares, comunicación directa y transparencia visual.</a:t>
            </a:r>
            <a:endParaRPr/>
          </a:p>
        </p:txBody>
      </p:sp>
      <p:sp>
        <p:nvSpPr>
          <p:cNvPr id="108" name="Google Shape;108;p14"/>
          <p:cNvSpPr/>
          <p:nvPr/>
        </p:nvSpPr>
        <p:spPr>
          <a:xfrm>
            <a:off x="1234440" y="4516755"/>
            <a:ext cx="109728" cy="128016"/>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14"/>
          <p:cNvSpPr/>
          <p:nvPr/>
        </p:nvSpPr>
        <p:spPr>
          <a:xfrm>
            <a:off x="877824" y="4635627"/>
            <a:ext cx="5102352" cy="868680"/>
          </a:xfrm>
          <a:prstGeom prst="roundRect">
            <a:avLst>
              <a:gd fmla="val 12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060704" y="4836795"/>
            <a:ext cx="457200" cy="457200"/>
          </a:xfrm>
          <a:prstGeom prst="ellipse">
            <a:avLst/>
          </a:prstGeom>
          <a:solidFill>
            <a:srgbClr val="B316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p14"/>
          <p:cNvSpPr txBox="1"/>
          <p:nvPr/>
        </p:nvSpPr>
        <p:spPr>
          <a:xfrm>
            <a:off x="1060704" y="4836795"/>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3</a:t>
            </a:r>
            <a:endParaRPr/>
          </a:p>
        </p:txBody>
      </p:sp>
      <p:sp>
        <p:nvSpPr>
          <p:cNvPr id="112" name="Google Shape;112;p14"/>
          <p:cNvSpPr txBox="1"/>
          <p:nvPr/>
        </p:nvSpPr>
        <p:spPr>
          <a:xfrm>
            <a:off x="1700784" y="4763643"/>
            <a:ext cx="40965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B31686"/>
                </a:solidFill>
                <a:latin typeface="Arial"/>
                <a:ea typeface="Arial"/>
                <a:cs typeface="Arial"/>
                <a:sym typeface="Arial"/>
              </a:rPr>
              <a:t>Objetivo compartido</a:t>
            </a:r>
            <a:endParaRPr/>
          </a:p>
        </p:txBody>
      </p:sp>
      <p:sp>
        <p:nvSpPr>
          <p:cNvPr id="113" name="Google Shape;113;p14"/>
          <p:cNvSpPr txBox="1"/>
          <p:nvPr/>
        </p:nvSpPr>
        <p:spPr>
          <a:xfrm>
            <a:off x="1700784" y="5001387"/>
            <a:ext cx="4096512"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s-CO" sz="950" u="none" cap="none" strike="noStrike">
                <a:solidFill>
                  <a:srgbClr val="353646"/>
                </a:solidFill>
                <a:latin typeface="Arial"/>
                <a:ea typeface="Arial"/>
                <a:cs typeface="Arial"/>
                <a:sym typeface="Arial"/>
              </a:rPr>
              <a:t>El esfuerzo colectivo no se mide por tareas individuales completadas, sino por el avance hacia una meta de sprint clara y común.</a:t>
            </a:r>
            <a:endParaRPr/>
          </a:p>
        </p:txBody>
      </p:sp>
      <p:sp>
        <p:nvSpPr>
          <p:cNvPr id="114" name="Google Shape;114;p14"/>
          <p:cNvSpPr/>
          <p:nvPr/>
        </p:nvSpPr>
        <p:spPr>
          <a:xfrm>
            <a:off x="1234440" y="5495163"/>
            <a:ext cx="109728" cy="128016"/>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14"/>
          <p:cNvSpPr/>
          <p:nvPr/>
        </p:nvSpPr>
        <p:spPr>
          <a:xfrm>
            <a:off x="877824" y="5614035"/>
            <a:ext cx="5102352" cy="868680"/>
          </a:xfrm>
          <a:prstGeom prst="roundRect">
            <a:avLst>
              <a:gd fmla="val 12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14"/>
          <p:cNvSpPr/>
          <p:nvPr/>
        </p:nvSpPr>
        <p:spPr>
          <a:xfrm>
            <a:off x="1060704" y="5815203"/>
            <a:ext cx="457200" cy="457200"/>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14"/>
          <p:cNvSpPr txBox="1"/>
          <p:nvPr/>
        </p:nvSpPr>
        <p:spPr>
          <a:xfrm>
            <a:off x="1060704" y="5815203"/>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4</a:t>
            </a:r>
            <a:endParaRPr/>
          </a:p>
        </p:txBody>
      </p:sp>
      <p:sp>
        <p:nvSpPr>
          <p:cNvPr id="118" name="Google Shape;118;p14"/>
          <p:cNvSpPr txBox="1"/>
          <p:nvPr/>
        </p:nvSpPr>
        <p:spPr>
          <a:xfrm>
            <a:off x="1700784" y="5742051"/>
            <a:ext cx="40965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024791"/>
                </a:solidFill>
                <a:latin typeface="Arial"/>
                <a:ea typeface="Arial"/>
                <a:cs typeface="Arial"/>
                <a:sym typeface="Arial"/>
              </a:rPr>
              <a:t>Generación de valor</a:t>
            </a:r>
            <a:endParaRPr/>
          </a:p>
        </p:txBody>
      </p:sp>
      <p:sp>
        <p:nvSpPr>
          <p:cNvPr id="119" name="Google Shape;119;p14"/>
          <p:cNvSpPr txBox="1"/>
          <p:nvPr/>
        </p:nvSpPr>
        <p:spPr>
          <a:xfrm>
            <a:off x="1700784" y="5979795"/>
            <a:ext cx="4096512"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s-CO" sz="950" u="none" cap="none" strike="noStrike">
                <a:solidFill>
                  <a:srgbClr val="353646"/>
                </a:solidFill>
                <a:latin typeface="Arial"/>
                <a:ea typeface="Arial"/>
                <a:cs typeface="Arial"/>
                <a:sym typeface="Arial"/>
              </a:rPr>
              <a:t>La meta se traduce en un incremento útil y funcional que resuelve un problema real y permite aprender de su uso.</a:t>
            </a:r>
            <a:endParaRPr/>
          </a:p>
        </p:txBody>
      </p:sp>
      <p:sp>
        <p:nvSpPr>
          <p:cNvPr id="120" name="Google Shape;120;p14"/>
          <p:cNvSpPr/>
          <p:nvPr/>
        </p:nvSpPr>
        <p:spPr>
          <a:xfrm>
            <a:off x="877824" y="6729603"/>
            <a:ext cx="5102352" cy="1057275"/>
          </a:xfrm>
          <a:prstGeom prst="roundRect">
            <a:avLst>
              <a:gd fmla="val 10000" name="adj"/>
            </a:avLst>
          </a:prstGeom>
          <a:solidFill>
            <a:srgbClr val="E9FB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14"/>
          <p:cNvSpPr txBox="1"/>
          <p:nvPr/>
        </p:nvSpPr>
        <p:spPr>
          <a:xfrm>
            <a:off x="1106424" y="6912483"/>
            <a:ext cx="4645152" cy="1828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El propósito de la analogía</a:t>
            </a:r>
            <a:endParaRPr/>
          </a:p>
        </p:txBody>
      </p:sp>
      <p:sp>
        <p:nvSpPr>
          <p:cNvPr id="122" name="Google Shape;122;p14"/>
          <p:cNvSpPr txBox="1"/>
          <p:nvPr/>
        </p:nvSpPr>
        <p:spPr>
          <a:xfrm>
            <a:off x="1106424" y="7141083"/>
            <a:ext cx="4645152" cy="6000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CO" sz="1050" u="none" cap="none" strike="noStrike">
                <a:solidFill>
                  <a:srgbClr val="3D2159"/>
                </a:solidFill>
                <a:latin typeface="Arial"/>
                <a:ea typeface="Arial"/>
                <a:cs typeface="Arial"/>
                <a:sym typeface="Arial"/>
              </a:rPr>
              <a:t>La especialización sin conexión crea silos; la agilidad surge cuando cada esfuerzo individual tiene sentido en función del impacto compartido.</a:t>
            </a:r>
            <a:endParaRPr/>
          </a:p>
        </p:txBody>
      </p:sp>
      <p:sp>
        <p:nvSpPr>
          <p:cNvPr id="123" name="Google Shape;123;p14"/>
          <p:cNvSpPr txBox="1"/>
          <p:nvPr/>
        </p:nvSpPr>
        <p:spPr>
          <a:xfrm>
            <a:off x="877824" y="7924038"/>
            <a:ext cx="5102352" cy="5715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000" u="none" cap="none" strike="noStrike">
                <a:solidFill>
                  <a:srgbClr val="353646"/>
                </a:solidFill>
                <a:latin typeface="Arial"/>
                <a:ea typeface="Arial"/>
                <a:cs typeface="Arial"/>
                <a:sym typeface="Arial"/>
              </a:rPr>
              <a:t>Scrum procura evitar una organización excesivamente fragmentada, en la que cada integrante conoce únicamente su propia tarea sin comprender cómo contribuye al resultado colectivo.</a:t>
            </a:r>
            <a:endParaRPr/>
          </a:p>
        </p:txBody>
      </p:sp>
      <p:sp>
        <p:nvSpPr>
          <p:cNvPr id="124" name="Google Shape;124;p14"/>
          <p:cNvSpPr txBox="1"/>
          <p:nvPr/>
        </p:nvSpPr>
        <p:spPr>
          <a:xfrm>
            <a:off x="877824" y="867841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Fuente: elaboración propia.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1 · Comprender Scrum</a:t>
            </a:r>
            <a:endParaRPr b="1" i="0" sz="900" u="none" cap="none" strike="noStrike">
              <a:solidFill>
                <a:srgbClr val="B31686"/>
              </a:solidFill>
              <a:latin typeface="Arial"/>
              <a:ea typeface="Arial"/>
              <a:cs typeface="Arial"/>
              <a:sym typeface="Arial"/>
            </a:endParaRPr>
          </a:p>
        </p:txBody>
      </p:sp>
      <p:sp>
        <p:nvSpPr>
          <p:cNvPr id="130" name="Google Shape;130;p15"/>
          <p:cNvSpPr/>
          <p:nvPr/>
        </p:nvSpPr>
        <p:spPr>
          <a:xfrm>
            <a:off x="876300" y="1409700"/>
            <a:ext cx="5105400" cy="813816"/>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De la necesidad de la adaptación a un marco de trabajo</a:t>
            </a:r>
            <a:endParaRPr b="0" i="0" sz="1400" u="none" cap="none" strike="noStrike">
              <a:solidFill>
                <a:srgbClr val="000000"/>
              </a:solidFill>
              <a:latin typeface="Arial"/>
              <a:ea typeface="Arial"/>
              <a:cs typeface="Arial"/>
              <a:sym typeface="Arial"/>
            </a:endParaRPr>
          </a:p>
        </p:txBody>
      </p:sp>
      <p:pic>
        <p:nvPicPr>
          <p:cNvPr id="131" name="Google Shape;131;p15"/>
          <p:cNvPicPr preferRelativeResize="0"/>
          <p:nvPr/>
        </p:nvPicPr>
        <p:blipFill rotWithShape="1">
          <a:blip r:embed="rId3">
            <a:alphaModFix/>
          </a:blip>
          <a:srcRect b="0" l="0" r="0" t="0"/>
          <a:stretch/>
        </p:blipFill>
        <p:spPr>
          <a:xfrm>
            <a:off x="869156" y="2340864"/>
            <a:ext cx="1100138" cy="88783"/>
          </a:xfrm>
          <a:prstGeom prst="rect">
            <a:avLst/>
          </a:prstGeom>
          <a:noFill/>
          <a:ln>
            <a:noFill/>
          </a:ln>
        </p:spPr>
      </p:pic>
      <p:sp>
        <p:nvSpPr>
          <p:cNvPr id="132" name="Google Shape;132;p15"/>
          <p:cNvSpPr txBox="1"/>
          <p:nvPr/>
        </p:nvSpPr>
        <p:spPr>
          <a:xfrm>
            <a:off x="877824" y="2752344"/>
            <a:ext cx="5102352" cy="1257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Scrum no apareció de manera aislada. Sus antecedentes se relacionan con la búsqueda de formas más flexibles de desarrollar productos en escenarios caracterizados por incertidumbre y cambio. Durante las décadas de 1980 y 1990 fueron adquiriendo relevancia enfoques basados en equipos coordinados, desarrollo iterativo y generación progresiva de resultados.</a:t>
            </a:r>
            <a:endParaRPr/>
          </a:p>
        </p:txBody>
      </p:sp>
      <p:sp>
        <p:nvSpPr>
          <p:cNvPr id="133" name="Google Shape;133;p15"/>
          <p:cNvSpPr txBox="1"/>
          <p:nvPr/>
        </p:nvSpPr>
        <p:spPr>
          <a:xfrm>
            <a:off x="877824" y="4192524"/>
            <a:ext cx="5102352" cy="1676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Durante la década de 1990, Ken Schwaber y Jeff Sutherland desarrollaron Scrum y, en 1995, realizaron una presentación conjunta del marco. Posteriormente, ambos participaron en la formulación del Manifiesto para el Desarrollo Ágil de Software en 2001. En 2010 se publicó la primera Scrum Guide, documento que posteriormente recibió diferentes actualizaciones. La versión de 2020 simplificó algunos componentes y reforzó la concepción de un único Scrum Team (Schwaber &amp; Sutherland, 2020).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1 · Comprender Scrum</a:t>
            </a:r>
            <a:endParaRPr b="1" i="0" sz="900" u="none" cap="none" strike="noStrike">
              <a:solidFill>
                <a:srgbClr val="B31686"/>
              </a:solidFill>
              <a:latin typeface="Arial"/>
              <a:ea typeface="Arial"/>
              <a:cs typeface="Arial"/>
              <a:sym typeface="Arial"/>
            </a:endParaRPr>
          </a:p>
        </p:txBody>
      </p:sp>
      <p:sp>
        <p:nvSpPr>
          <p:cNvPr id="139" name="Google Shape;139;p16"/>
          <p:cNvSpPr txBox="1"/>
          <p:nvPr/>
        </p:nvSpPr>
        <p:spPr>
          <a:xfrm>
            <a:off x="877824" y="148132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FIGURA 1 · EVOLUCIÓN HISTÓRICA</a:t>
            </a:r>
            <a:endParaRPr/>
          </a:p>
        </p:txBody>
      </p:sp>
      <p:sp>
        <p:nvSpPr>
          <p:cNvPr id="140" name="Google Shape;140;p16"/>
          <p:cNvSpPr txBox="1"/>
          <p:nvPr/>
        </p:nvSpPr>
        <p:spPr>
          <a:xfrm>
            <a:off x="877824" y="1755648"/>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Scrum a través del tiempo</a:t>
            </a:r>
            <a:endParaRPr/>
          </a:p>
        </p:txBody>
      </p:sp>
      <p:sp>
        <p:nvSpPr>
          <p:cNvPr id="141" name="Google Shape;141;p16"/>
          <p:cNvSpPr txBox="1"/>
          <p:nvPr/>
        </p:nvSpPr>
        <p:spPr>
          <a:xfrm>
            <a:off x="877824" y="2077593"/>
            <a:ext cx="5102352" cy="2000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Evolución histórica hacia la adaptabilidad y el aprendizaje empírico.</a:t>
            </a:r>
            <a:endParaRPr/>
          </a:p>
        </p:txBody>
      </p:sp>
      <p:cxnSp>
        <p:nvCxnSpPr>
          <p:cNvPr id="142" name="Google Shape;142;p16"/>
          <p:cNvCxnSpPr/>
          <p:nvPr/>
        </p:nvCxnSpPr>
        <p:spPr>
          <a:xfrm>
            <a:off x="1380744" y="2661666"/>
            <a:ext cx="0" cy="3566160"/>
          </a:xfrm>
          <a:prstGeom prst="straightConnector1">
            <a:avLst/>
          </a:prstGeom>
          <a:noFill/>
          <a:ln cap="flat" cmpd="sng" w="25400">
            <a:solidFill>
              <a:srgbClr val="C9D3EA"/>
            </a:solidFill>
            <a:prstDash val="solid"/>
            <a:round/>
            <a:headEnd len="sm" w="sm" type="none"/>
            <a:tailEnd len="sm" w="sm" type="none"/>
          </a:ln>
          <a:effectLst>
            <a:outerShdw blurRad="40000" rotWithShape="0" dir="5400000" dist="20000">
              <a:srgbClr val="000000">
                <a:alpha val="38039"/>
              </a:srgbClr>
            </a:outerShdw>
          </a:effectLst>
        </p:spPr>
      </p:cxnSp>
      <p:sp>
        <p:nvSpPr>
          <p:cNvPr id="143" name="Google Shape;143;p16"/>
          <p:cNvSpPr/>
          <p:nvPr/>
        </p:nvSpPr>
        <p:spPr>
          <a:xfrm>
            <a:off x="877824" y="2533650"/>
            <a:ext cx="1005840" cy="310896"/>
          </a:xfrm>
          <a:prstGeom prst="roundRect">
            <a:avLst>
              <a:gd fmla="val 50000" name="adj"/>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16"/>
          <p:cNvSpPr txBox="1"/>
          <p:nvPr/>
        </p:nvSpPr>
        <p:spPr>
          <a:xfrm>
            <a:off x="877824" y="2533650"/>
            <a:ext cx="1005840"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FFFFFF"/>
                </a:solidFill>
                <a:latin typeface="Arial"/>
                <a:ea typeface="Arial"/>
                <a:cs typeface="Arial"/>
                <a:sym typeface="Arial"/>
              </a:rPr>
              <a:t>1980s</a:t>
            </a:r>
            <a:endParaRPr/>
          </a:p>
        </p:txBody>
      </p:sp>
      <p:sp>
        <p:nvSpPr>
          <p:cNvPr id="145" name="Google Shape;145;p16"/>
          <p:cNvSpPr txBox="1"/>
          <p:nvPr/>
        </p:nvSpPr>
        <p:spPr>
          <a:xfrm>
            <a:off x="2112264" y="2478786"/>
            <a:ext cx="38679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Antecedentes</a:t>
            </a:r>
            <a:endParaRPr/>
          </a:p>
        </p:txBody>
      </p:sp>
      <p:sp>
        <p:nvSpPr>
          <p:cNvPr id="146" name="Google Shape;146;p16"/>
          <p:cNvSpPr txBox="1"/>
          <p:nvPr/>
        </p:nvSpPr>
        <p:spPr>
          <a:xfrm>
            <a:off x="2112264" y="2725674"/>
            <a:ext cx="3867912"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Nuevas formas de desarrollo de productos y trabajo en equipo.</a:t>
            </a:r>
            <a:endParaRPr/>
          </a:p>
        </p:txBody>
      </p:sp>
      <p:sp>
        <p:nvSpPr>
          <p:cNvPr id="147" name="Google Shape;147;p16"/>
          <p:cNvSpPr/>
          <p:nvPr/>
        </p:nvSpPr>
        <p:spPr>
          <a:xfrm>
            <a:off x="877824" y="3246882"/>
            <a:ext cx="1005840" cy="310896"/>
          </a:xfrm>
          <a:prstGeom prst="roundRect">
            <a:avLst>
              <a:gd fmla="val 50000" name="adj"/>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16"/>
          <p:cNvSpPr txBox="1"/>
          <p:nvPr/>
        </p:nvSpPr>
        <p:spPr>
          <a:xfrm>
            <a:off x="877824" y="3246882"/>
            <a:ext cx="1005840"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FFFFFF"/>
                </a:solidFill>
                <a:latin typeface="Arial"/>
                <a:ea typeface="Arial"/>
                <a:cs typeface="Arial"/>
                <a:sym typeface="Arial"/>
              </a:rPr>
              <a:t>1990s</a:t>
            </a:r>
            <a:endParaRPr/>
          </a:p>
        </p:txBody>
      </p:sp>
      <p:sp>
        <p:nvSpPr>
          <p:cNvPr id="149" name="Google Shape;149;p16"/>
          <p:cNvSpPr txBox="1"/>
          <p:nvPr/>
        </p:nvSpPr>
        <p:spPr>
          <a:xfrm>
            <a:off x="2112264" y="3192018"/>
            <a:ext cx="38679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Schwaber y Sutherland</a:t>
            </a:r>
            <a:endParaRPr/>
          </a:p>
        </p:txBody>
      </p:sp>
      <p:sp>
        <p:nvSpPr>
          <p:cNvPr id="150" name="Google Shape;150;p16"/>
          <p:cNvSpPr txBox="1"/>
          <p:nvPr/>
        </p:nvSpPr>
        <p:spPr>
          <a:xfrm>
            <a:off x="2112264" y="3438906"/>
            <a:ext cx="3867912"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Formalizan los principios de Scrum a partir de la experiencia práctica.</a:t>
            </a:r>
            <a:endParaRPr/>
          </a:p>
        </p:txBody>
      </p:sp>
      <p:sp>
        <p:nvSpPr>
          <p:cNvPr id="151" name="Google Shape;151;p16"/>
          <p:cNvSpPr/>
          <p:nvPr/>
        </p:nvSpPr>
        <p:spPr>
          <a:xfrm>
            <a:off x="877824" y="3960114"/>
            <a:ext cx="1005840" cy="310896"/>
          </a:xfrm>
          <a:prstGeom prst="roundRect">
            <a:avLst>
              <a:gd fmla="val 50000" name="adj"/>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16"/>
          <p:cNvSpPr txBox="1"/>
          <p:nvPr/>
        </p:nvSpPr>
        <p:spPr>
          <a:xfrm>
            <a:off x="877824" y="3960114"/>
            <a:ext cx="1005840"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FFFFFF"/>
                </a:solidFill>
                <a:latin typeface="Arial"/>
                <a:ea typeface="Arial"/>
                <a:cs typeface="Arial"/>
                <a:sym typeface="Arial"/>
              </a:rPr>
              <a:t>1995</a:t>
            </a:r>
            <a:endParaRPr/>
          </a:p>
        </p:txBody>
      </p:sp>
      <p:sp>
        <p:nvSpPr>
          <p:cNvPr id="153" name="Google Shape;153;p16"/>
          <p:cNvSpPr txBox="1"/>
          <p:nvPr/>
        </p:nvSpPr>
        <p:spPr>
          <a:xfrm>
            <a:off x="2112264" y="3905250"/>
            <a:ext cx="38679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Presentación del marco</a:t>
            </a:r>
            <a:endParaRPr/>
          </a:p>
        </p:txBody>
      </p:sp>
      <p:sp>
        <p:nvSpPr>
          <p:cNvPr id="154" name="Google Shape;154;p16"/>
          <p:cNvSpPr txBox="1"/>
          <p:nvPr/>
        </p:nvSpPr>
        <p:spPr>
          <a:xfrm>
            <a:off x="2112264" y="4152138"/>
            <a:ext cx="3867912"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Se presenta Scrum como un marco de trabajo ligero.</a:t>
            </a:r>
            <a:endParaRPr/>
          </a:p>
        </p:txBody>
      </p:sp>
      <p:sp>
        <p:nvSpPr>
          <p:cNvPr id="155" name="Google Shape;155;p16"/>
          <p:cNvSpPr/>
          <p:nvPr/>
        </p:nvSpPr>
        <p:spPr>
          <a:xfrm>
            <a:off x="877824" y="4673346"/>
            <a:ext cx="1005840" cy="310896"/>
          </a:xfrm>
          <a:prstGeom prst="roundRect">
            <a:avLst>
              <a:gd fmla="val 50000" name="adj"/>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16"/>
          <p:cNvSpPr txBox="1"/>
          <p:nvPr/>
        </p:nvSpPr>
        <p:spPr>
          <a:xfrm>
            <a:off x="877824" y="4673346"/>
            <a:ext cx="1005840"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FFFFFF"/>
                </a:solidFill>
                <a:latin typeface="Arial"/>
                <a:ea typeface="Arial"/>
                <a:cs typeface="Arial"/>
                <a:sym typeface="Arial"/>
              </a:rPr>
              <a:t>2001</a:t>
            </a:r>
            <a:endParaRPr/>
          </a:p>
        </p:txBody>
      </p:sp>
      <p:sp>
        <p:nvSpPr>
          <p:cNvPr id="157" name="Google Shape;157;p16"/>
          <p:cNvSpPr txBox="1"/>
          <p:nvPr/>
        </p:nvSpPr>
        <p:spPr>
          <a:xfrm>
            <a:off x="2112264" y="4618482"/>
            <a:ext cx="38679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Manifiesto Ágil</a:t>
            </a:r>
            <a:endParaRPr/>
          </a:p>
        </p:txBody>
      </p:sp>
      <p:sp>
        <p:nvSpPr>
          <p:cNvPr id="158" name="Google Shape;158;p16"/>
          <p:cNvSpPr txBox="1"/>
          <p:nvPr/>
        </p:nvSpPr>
        <p:spPr>
          <a:xfrm>
            <a:off x="2112264" y="4865370"/>
            <a:ext cx="3867912"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Scrum se alinea con los valores y principios del Manifiesto Ágil.</a:t>
            </a:r>
            <a:endParaRPr/>
          </a:p>
        </p:txBody>
      </p:sp>
      <p:sp>
        <p:nvSpPr>
          <p:cNvPr id="159" name="Google Shape;159;p16"/>
          <p:cNvSpPr/>
          <p:nvPr/>
        </p:nvSpPr>
        <p:spPr>
          <a:xfrm>
            <a:off x="877824" y="5386578"/>
            <a:ext cx="1005840" cy="310896"/>
          </a:xfrm>
          <a:prstGeom prst="roundRect">
            <a:avLst>
              <a:gd fmla="val 5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16"/>
          <p:cNvSpPr txBox="1"/>
          <p:nvPr/>
        </p:nvSpPr>
        <p:spPr>
          <a:xfrm>
            <a:off x="877824" y="5386578"/>
            <a:ext cx="1005840"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FFFFFF"/>
                </a:solidFill>
                <a:latin typeface="Arial"/>
                <a:ea typeface="Arial"/>
                <a:cs typeface="Arial"/>
                <a:sym typeface="Arial"/>
              </a:rPr>
              <a:t>2010</a:t>
            </a:r>
            <a:endParaRPr/>
          </a:p>
        </p:txBody>
      </p:sp>
      <p:sp>
        <p:nvSpPr>
          <p:cNvPr id="161" name="Google Shape;161;p16"/>
          <p:cNvSpPr txBox="1"/>
          <p:nvPr/>
        </p:nvSpPr>
        <p:spPr>
          <a:xfrm>
            <a:off x="2112264" y="5331714"/>
            <a:ext cx="38679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Primera Scrum Guide</a:t>
            </a:r>
            <a:endParaRPr/>
          </a:p>
        </p:txBody>
      </p:sp>
      <p:sp>
        <p:nvSpPr>
          <p:cNvPr id="162" name="Google Shape;162;p16"/>
          <p:cNvSpPr txBox="1"/>
          <p:nvPr/>
        </p:nvSpPr>
        <p:spPr>
          <a:xfrm>
            <a:off x="2112264" y="5578602"/>
            <a:ext cx="3867912"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Se publica la primera guía oficial de Scrum.</a:t>
            </a:r>
            <a:endParaRPr/>
          </a:p>
        </p:txBody>
      </p:sp>
      <p:sp>
        <p:nvSpPr>
          <p:cNvPr id="163" name="Google Shape;163;p16"/>
          <p:cNvSpPr/>
          <p:nvPr/>
        </p:nvSpPr>
        <p:spPr>
          <a:xfrm>
            <a:off x="877824" y="6099810"/>
            <a:ext cx="1005840" cy="310896"/>
          </a:xfrm>
          <a:prstGeom prst="roundRect">
            <a:avLst>
              <a:gd fmla="val 5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16"/>
          <p:cNvSpPr txBox="1"/>
          <p:nvPr/>
        </p:nvSpPr>
        <p:spPr>
          <a:xfrm>
            <a:off x="877824" y="6099810"/>
            <a:ext cx="1005840"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FFFFFF"/>
                </a:solidFill>
                <a:latin typeface="Arial"/>
                <a:ea typeface="Arial"/>
                <a:cs typeface="Arial"/>
                <a:sym typeface="Arial"/>
              </a:rPr>
              <a:t>2020</a:t>
            </a:r>
            <a:endParaRPr/>
          </a:p>
        </p:txBody>
      </p:sp>
      <p:sp>
        <p:nvSpPr>
          <p:cNvPr id="165" name="Google Shape;165;p16"/>
          <p:cNvSpPr txBox="1"/>
          <p:nvPr/>
        </p:nvSpPr>
        <p:spPr>
          <a:xfrm>
            <a:off x="2112264" y="6044946"/>
            <a:ext cx="386791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Simplificación y Scrum Team</a:t>
            </a:r>
            <a:endParaRPr/>
          </a:p>
        </p:txBody>
      </p:sp>
      <p:sp>
        <p:nvSpPr>
          <p:cNvPr id="166" name="Google Shape;166;p16"/>
          <p:cNvSpPr txBox="1"/>
          <p:nvPr/>
        </p:nvSpPr>
        <p:spPr>
          <a:xfrm>
            <a:off x="2112264" y="6291834"/>
            <a:ext cx="3867912"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Se simplifica la guía y se enfatiza el Scrum Team.</a:t>
            </a:r>
            <a:endParaRPr/>
          </a:p>
        </p:txBody>
      </p:sp>
      <p:sp>
        <p:nvSpPr>
          <p:cNvPr id="167" name="Google Shape;167;p16"/>
          <p:cNvSpPr/>
          <p:nvPr/>
        </p:nvSpPr>
        <p:spPr>
          <a:xfrm>
            <a:off x="877824" y="6941058"/>
            <a:ext cx="5102352" cy="857250"/>
          </a:xfrm>
          <a:prstGeom prst="roundRect">
            <a:avLst>
              <a:gd fmla="val 10000" name="adj"/>
            </a:avLst>
          </a:prstGeom>
          <a:solidFill>
            <a:srgbClr val="E9FB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16"/>
          <p:cNvSpPr txBox="1"/>
          <p:nvPr/>
        </p:nvSpPr>
        <p:spPr>
          <a:xfrm>
            <a:off x="1106424" y="7123938"/>
            <a:ext cx="4645152" cy="1828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El sentido de la evolución</a:t>
            </a:r>
            <a:endParaRPr/>
          </a:p>
        </p:txBody>
      </p:sp>
      <p:sp>
        <p:nvSpPr>
          <p:cNvPr id="169" name="Google Shape;169;p16"/>
          <p:cNvSpPr txBox="1"/>
          <p:nvPr/>
        </p:nvSpPr>
        <p:spPr>
          <a:xfrm>
            <a:off x="1106424" y="7352538"/>
            <a:ext cx="4645152" cy="400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CO" sz="1050" u="none" cap="none" strike="noStrike">
                <a:solidFill>
                  <a:srgbClr val="3D2159"/>
                </a:solidFill>
                <a:latin typeface="Arial"/>
                <a:ea typeface="Arial"/>
                <a:cs typeface="Arial"/>
                <a:sym typeface="Arial"/>
              </a:rPr>
              <a:t>«No fue concebido para hacer más tareas en menos tiempo, sino para decidir mejor».</a:t>
            </a:r>
            <a:endParaRPr/>
          </a:p>
        </p:txBody>
      </p:sp>
      <p:sp>
        <p:nvSpPr>
          <p:cNvPr id="170" name="Google Shape;170;p16"/>
          <p:cNvSpPr txBox="1"/>
          <p:nvPr/>
        </p:nvSpPr>
        <p:spPr>
          <a:xfrm>
            <a:off x="877824" y="802690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Fuente: elaboración propia.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1 · Comprender Scrum</a:t>
            </a:r>
            <a:endParaRPr b="1" i="0" sz="900" u="none" cap="none" strike="noStrike">
              <a:solidFill>
                <a:srgbClr val="B31686"/>
              </a:solidFill>
              <a:latin typeface="Arial"/>
              <a:ea typeface="Arial"/>
              <a:cs typeface="Arial"/>
              <a:sym typeface="Arial"/>
            </a:endParaRPr>
          </a:p>
        </p:txBody>
      </p:sp>
      <p:sp>
        <p:nvSpPr>
          <p:cNvPr id="176" name="Google Shape;176;p17"/>
          <p:cNvSpPr/>
          <p:nvPr/>
        </p:nvSpPr>
        <p:spPr>
          <a:xfrm>
            <a:off x="876300" y="1409700"/>
            <a:ext cx="5105400" cy="42976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Construyamos un lenguaje común</a:t>
            </a:r>
            <a:endParaRPr b="0" i="0" sz="1400" u="none" cap="none" strike="noStrike">
              <a:solidFill>
                <a:srgbClr val="000000"/>
              </a:solidFill>
              <a:latin typeface="Arial"/>
              <a:ea typeface="Arial"/>
              <a:cs typeface="Arial"/>
              <a:sym typeface="Arial"/>
            </a:endParaRPr>
          </a:p>
        </p:txBody>
      </p:sp>
      <p:pic>
        <p:nvPicPr>
          <p:cNvPr id="177" name="Google Shape;177;p17"/>
          <p:cNvPicPr preferRelativeResize="0"/>
          <p:nvPr/>
        </p:nvPicPr>
        <p:blipFill rotWithShape="1">
          <a:blip r:embed="rId3">
            <a:alphaModFix/>
          </a:blip>
          <a:srcRect b="0" l="0" r="0" t="0"/>
          <a:stretch/>
        </p:blipFill>
        <p:spPr>
          <a:xfrm>
            <a:off x="869156" y="1956816"/>
            <a:ext cx="1100138" cy="88783"/>
          </a:xfrm>
          <a:prstGeom prst="rect">
            <a:avLst/>
          </a:prstGeom>
          <a:noFill/>
          <a:ln>
            <a:noFill/>
          </a:ln>
        </p:spPr>
      </p:pic>
      <p:sp>
        <p:nvSpPr>
          <p:cNvPr id="178" name="Google Shape;178;p17"/>
          <p:cNvSpPr txBox="1"/>
          <p:nvPr/>
        </p:nvSpPr>
        <p:spPr>
          <a:xfrm>
            <a:off x="877824" y="2368296"/>
            <a:ext cx="5102352" cy="8382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Antes de continuar, necesitamos familiarizarnos con algunos términos que encontraremos de manera recurrente en Scrum. Conviene conservar su denominación en inglés porque así aparecen habitualmente en documentación, certificaciones, plataformas y contextos profesionales.</a:t>
            </a:r>
            <a:endParaRPr/>
          </a:p>
        </p:txBody>
      </p:sp>
      <p:sp>
        <p:nvSpPr>
          <p:cNvPr id="179" name="Google Shape;179;p17"/>
          <p:cNvSpPr txBox="1"/>
          <p:nvPr/>
        </p:nvSpPr>
        <p:spPr>
          <a:xfrm>
            <a:off x="877824" y="3389376"/>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VOCABULARIO COMÚN · COMPONENTES DEL MARCO</a:t>
            </a:r>
            <a:endParaRPr/>
          </a:p>
        </p:txBody>
      </p:sp>
      <p:sp>
        <p:nvSpPr>
          <p:cNvPr id="180" name="Google Shape;180;p17"/>
          <p:cNvSpPr txBox="1"/>
          <p:nvPr/>
        </p:nvSpPr>
        <p:spPr>
          <a:xfrm>
            <a:off x="877824" y="3663696"/>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Términos clave en Scrum</a:t>
            </a:r>
            <a:endParaRPr/>
          </a:p>
        </p:txBody>
      </p:sp>
      <p:sp>
        <p:nvSpPr>
          <p:cNvPr id="181" name="Google Shape;181;p17"/>
          <p:cNvSpPr txBox="1"/>
          <p:nvPr/>
        </p:nvSpPr>
        <p:spPr>
          <a:xfrm>
            <a:off x="877824" y="3985641"/>
            <a:ext cx="5102352" cy="400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Los conceptos fundamentales que articulan la estructura, los roles y los resultados del sistema.</a:t>
            </a:r>
            <a:endParaRPr/>
          </a:p>
        </p:txBody>
      </p:sp>
      <p:sp>
        <p:nvSpPr>
          <p:cNvPr id="182" name="Google Shape;182;p17"/>
          <p:cNvSpPr/>
          <p:nvPr/>
        </p:nvSpPr>
        <p:spPr>
          <a:xfrm>
            <a:off x="877824" y="4586859"/>
            <a:ext cx="5102352" cy="310896"/>
          </a:xfrm>
          <a:prstGeom prst="roundRect">
            <a:avLst>
              <a:gd fmla="val 2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17"/>
          <p:cNvSpPr txBox="1"/>
          <p:nvPr/>
        </p:nvSpPr>
        <p:spPr>
          <a:xfrm>
            <a:off x="969264" y="4586859"/>
            <a:ext cx="1188720" cy="310896"/>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FFFFFF"/>
                </a:solidFill>
                <a:latin typeface="Arial"/>
                <a:ea typeface="Arial"/>
                <a:cs typeface="Arial"/>
                <a:sym typeface="Arial"/>
              </a:rPr>
              <a:t>Categoría</a:t>
            </a:r>
            <a:endParaRPr/>
          </a:p>
        </p:txBody>
      </p:sp>
      <p:sp>
        <p:nvSpPr>
          <p:cNvPr id="184" name="Google Shape;184;p17"/>
          <p:cNvSpPr txBox="1"/>
          <p:nvPr/>
        </p:nvSpPr>
        <p:spPr>
          <a:xfrm>
            <a:off x="2249424" y="4586859"/>
            <a:ext cx="1280160" cy="310896"/>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FFFFFF"/>
                </a:solidFill>
                <a:latin typeface="Arial"/>
                <a:ea typeface="Arial"/>
                <a:cs typeface="Arial"/>
                <a:sym typeface="Arial"/>
              </a:rPr>
              <a:t>Término</a:t>
            </a:r>
            <a:endParaRPr/>
          </a:p>
        </p:txBody>
      </p:sp>
      <p:sp>
        <p:nvSpPr>
          <p:cNvPr id="185" name="Google Shape;185;p17"/>
          <p:cNvSpPr txBox="1"/>
          <p:nvPr/>
        </p:nvSpPr>
        <p:spPr>
          <a:xfrm>
            <a:off x="3621024" y="4586859"/>
            <a:ext cx="2286000" cy="310896"/>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FFFFFF"/>
                </a:solidFill>
                <a:latin typeface="Arial"/>
                <a:ea typeface="Arial"/>
                <a:cs typeface="Arial"/>
                <a:sym typeface="Arial"/>
              </a:rPr>
              <a:t>¿Qué representa?</a:t>
            </a:r>
            <a:endParaRPr/>
          </a:p>
        </p:txBody>
      </p:sp>
      <p:sp>
        <p:nvSpPr>
          <p:cNvPr id="186" name="Google Shape;186;p17"/>
          <p:cNvSpPr/>
          <p:nvPr/>
        </p:nvSpPr>
        <p:spPr>
          <a:xfrm>
            <a:off x="877824" y="4952619"/>
            <a:ext cx="1234440" cy="1527048"/>
          </a:xfrm>
          <a:prstGeom prst="roundRect">
            <a:avLst>
              <a:gd fmla="val 8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17"/>
          <p:cNvSpPr txBox="1"/>
          <p:nvPr/>
        </p:nvSpPr>
        <p:spPr>
          <a:xfrm>
            <a:off x="969264" y="4952619"/>
            <a:ext cx="1097280" cy="1527048"/>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664092"/>
                </a:solidFill>
                <a:latin typeface="Arial"/>
                <a:ea typeface="Arial"/>
                <a:cs typeface="Arial"/>
                <a:sym typeface="Arial"/>
              </a:rPr>
              <a:t>Equipo y responsabilidades</a:t>
            </a:r>
            <a:endParaRPr/>
          </a:p>
        </p:txBody>
      </p:sp>
      <p:sp>
        <p:nvSpPr>
          <p:cNvPr id="188" name="Google Shape;188;p17"/>
          <p:cNvSpPr txBox="1"/>
          <p:nvPr/>
        </p:nvSpPr>
        <p:spPr>
          <a:xfrm>
            <a:off x="2249424" y="4952619"/>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Scrum Team</a:t>
            </a:r>
            <a:endParaRPr/>
          </a:p>
        </p:txBody>
      </p:sp>
      <p:sp>
        <p:nvSpPr>
          <p:cNvPr id="189" name="Google Shape;189;p17"/>
          <p:cNvSpPr txBox="1"/>
          <p:nvPr/>
        </p:nvSpPr>
        <p:spPr>
          <a:xfrm>
            <a:off x="3621024" y="4952619"/>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Equipo que trabaja de manera colaborativa bajo el marco Scrum.</a:t>
            </a:r>
            <a:endParaRPr/>
          </a:p>
        </p:txBody>
      </p:sp>
      <p:cxnSp>
        <p:nvCxnSpPr>
          <p:cNvPr id="190" name="Google Shape;190;p17"/>
          <p:cNvCxnSpPr/>
          <p:nvPr/>
        </p:nvCxnSpPr>
        <p:spPr>
          <a:xfrm>
            <a:off x="2203704" y="5327523"/>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191" name="Google Shape;191;p17"/>
          <p:cNvSpPr txBox="1"/>
          <p:nvPr/>
        </p:nvSpPr>
        <p:spPr>
          <a:xfrm>
            <a:off x="2249424" y="5345811"/>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Product Owner</a:t>
            </a:r>
            <a:endParaRPr/>
          </a:p>
        </p:txBody>
      </p:sp>
      <p:sp>
        <p:nvSpPr>
          <p:cNvPr id="192" name="Google Shape;192;p17"/>
          <p:cNvSpPr txBox="1"/>
          <p:nvPr/>
        </p:nvSpPr>
        <p:spPr>
          <a:xfrm>
            <a:off x="3621024" y="5345811"/>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Responsable de maximizar el valor del producto y gestionar el Product Backlog.</a:t>
            </a:r>
            <a:endParaRPr/>
          </a:p>
        </p:txBody>
      </p:sp>
      <p:cxnSp>
        <p:nvCxnSpPr>
          <p:cNvPr id="193" name="Google Shape;193;p17"/>
          <p:cNvCxnSpPr/>
          <p:nvPr/>
        </p:nvCxnSpPr>
        <p:spPr>
          <a:xfrm>
            <a:off x="2203704" y="5720715"/>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194" name="Google Shape;194;p17"/>
          <p:cNvSpPr txBox="1"/>
          <p:nvPr/>
        </p:nvSpPr>
        <p:spPr>
          <a:xfrm>
            <a:off x="2249424" y="5739003"/>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Scrum Master</a:t>
            </a:r>
            <a:endParaRPr/>
          </a:p>
        </p:txBody>
      </p:sp>
      <p:sp>
        <p:nvSpPr>
          <p:cNvPr id="195" name="Google Shape;195;p17"/>
          <p:cNvSpPr txBox="1"/>
          <p:nvPr/>
        </p:nvSpPr>
        <p:spPr>
          <a:xfrm>
            <a:off x="3621024" y="5739003"/>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Facilita la comprensión y aplicación de Scrum, eliminando impedimentos.</a:t>
            </a:r>
            <a:endParaRPr/>
          </a:p>
        </p:txBody>
      </p:sp>
      <p:cxnSp>
        <p:nvCxnSpPr>
          <p:cNvPr id="196" name="Google Shape;196;p17"/>
          <p:cNvCxnSpPr/>
          <p:nvPr/>
        </p:nvCxnSpPr>
        <p:spPr>
          <a:xfrm>
            <a:off x="2203704" y="6113907"/>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197" name="Google Shape;197;p17"/>
          <p:cNvSpPr txBox="1"/>
          <p:nvPr/>
        </p:nvSpPr>
        <p:spPr>
          <a:xfrm>
            <a:off x="2249424" y="6132195"/>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Developers</a:t>
            </a:r>
            <a:endParaRPr/>
          </a:p>
        </p:txBody>
      </p:sp>
      <p:sp>
        <p:nvSpPr>
          <p:cNvPr id="198" name="Google Shape;198;p17"/>
          <p:cNvSpPr txBox="1"/>
          <p:nvPr/>
        </p:nvSpPr>
        <p:spPr>
          <a:xfrm>
            <a:off x="3621024" y="6132195"/>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Integrantes responsables de construir el incremento del producto.</a:t>
            </a:r>
            <a:endParaRPr/>
          </a:p>
        </p:txBody>
      </p:sp>
      <p:cxnSp>
        <p:nvCxnSpPr>
          <p:cNvPr id="199" name="Google Shape;199;p17"/>
          <p:cNvCxnSpPr/>
          <p:nvPr/>
        </p:nvCxnSpPr>
        <p:spPr>
          <a:xfrm>
            <a:off x="2203704" y="6507099"/>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200" name="Google Shape;200;p17"/>
          <p:cNvSpPr/>
          <p:nvPr/>
        </p:nvSpPr>
        <p:spPr>
          <a:xfrm>
            <a:off x="877824" y="6580251"/>
            <a:ext cx="1234440" cy="347472"/>
          </a:xfrm>
          <a:prstGeom prst="roundRect">
            <a:avLst>
              <a:gd fmla="val 8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17"/>
          <p:cNvSpPr txBox="1"/>
          <p:nvPr/>
        </p:nvSpPr>
        <p:spPr>
          <a:xfrm>
            <a:off x="969264" y="6580251"/>
            <a:ext cx="109728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Ritmo y flujo</a:t>
            </a:r>
            <a:endParaRPr/>
          </a:p>
        </p:txBody>
      </p:sp>
      <p:sp>
        <p:nvSpPr>
          <p:cNvPr id="202" name="Google Shape;202;p17"/>
          <p:cNvSpPr txBox="1"/>
          <p:nvPr/>
        </p:nvSpPr>
        <p:spPr>
          <a:xfrm>
            <a:off x="2249424" y="6580251"/>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Sprint</a:t>
            </a:r>
            <a:endParaRPr/>
          </a:p>
        </p:txBody>
      </p:sp>
      <p:sp>
        <p:nvSpPr>
          <p:cNvPr id="203" name="Google Shape;203;p17"/>
          <p:cNvSpPr txBox="1"/>
          <p:nvPr/>
        </p:nvSpPr>
        <p:spPr>
          <a:xfrm>
            <a:off x="3621024" y="6580251"/>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Ciclo de trabajo de duración fija, en el que se crea un incremento de valor.</a:t>
            </a:r>
            <a:endParaRPr/>
          </a:p>
        </p:txBody>
      </p:sp>
      <p:cxnSp>
        <p:nvCxnSpPr>
          <p:cNvPr id="204" name="Google Shape;204;p17"/>
          <p:cNvCxnSpPr/>
          <p:nvPr/>
        </p:nvCxnSpPr>
        <p:spPr>
          <a:xfrm>
            <a:off x="2203704" y="6955155"/>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205" name="Google Shape;205;p17"/>
          <p:cNvSpPr/>
          <p:nvPr/>
        </p:nvSpPr>
        <p:spPr>
          <a:xfrm>
            <a:off x="877824" y="7028307"/>
            <a:ext cx="1234440" cy="1527048"/>
          </a:xfrm>
          <a:prstGeom prst="roundRect">
            <a:avLst>
              <a:gd fmla="val 8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17"/>
          <p:cNvSpPr txBox="1"/>
          <p:nvPr/>
        </p:nvSpPr>
        <p:spPr>
          <a:xfrm>
            <a:off x="969264" y="7028307"/>
            <a:ext cx="1097280" cy="1527048"/>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024791"/>
                </a:solidFill>
                <a:latin typeface="Arial"/>
                <a:ea typeface="Arial"/>
                <a:cs typeface="Arial"/>
                <a:sym typeface="Arial"/>
              </a:rPr>
              <a:t>Artefactos y compromisos</a:t>
            </a:r>
            <a:endParaRPr/>
          </a:p>
        </p:txBody>
      </p:sp>
      <p:sp>
        <p:nvSpPr>
          <p:cNvPr id="207" name="Google Shape;207;p17"/>
          <p:cNvSpPr txBox="1"/>
          <p:nvPr/>
        </p:nvSpPr>
        <p:spPr>
          <a:xfrm>
            <a:off x="2249424" y="7028307"/>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Product Backlog</a:t>
            </a:r>
            <a:endParaRPr/>
          </a:p>
        </p:txBody>
      </p:sp>
      <p:sp>
        <p:nvSpPr>
          <p:cNvPr id="208" name="Google Shape;208;p17"/>
          <p:cNvSpPr txBox="1"/>
          <p:nvPr/>
        </p:nvSpPr>
        <p:spPr>
          <a:xfrm>
            <a:off x="3621024" y="7028307"/>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Lista ordenada y evolutiva de necesidades del producto.</a:t>
            </a:r>
            <a:endParaRPr/>
          </a:p>
        </p:txBody>
      </p:sp>
      <p:cxnSp>
        <p:nvCxnSpPr>
          <p:cNvPr id="209" name="Google Shape;209;p17"/>
          <p:cNvCxnSpPr/>
          <p:nvPr/>
        </p:nvCxnSpPr>
        <p:spPr>
          <a:xfrm>
            <a:off x="2203704" y="7403211"/>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210" name="Google Shape;210;p17"/>
          <p:cNvSpPr txBox="1"/>
          <p:nvPr/>
        </p:nvSpPr>
        <p:spPr>
          <a:xfrm>
            <a:off x="2249424" y="7421499"/>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Sprint Backlog</a:t>
            </a:r>
            <a:endParaRPr/>
          </a:p>
        </p:txBody>
      </p:sp>
      <p:sp>
        <p:nvSpPr>
          <p:cNvPr id="211" name="Google Shape;211;p17"/>
          <p:cNvSpPr txBox="1"/>
          <p:nvPr/>
        </p:nvSpPr>
        <p:spPr>
          <a:xfrm>
            <a:off x="3621024" y="7421499"/>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Trabajo seleccionado y planificado por el equipo para un Sprint.</a:t>
            </a:r>
            <a:endParaRPr/>
          </a:p>
        </p:txBody>
      </p:sp>
      <p:cxnSp>
        <p:nvCxnSpPr>
          <p:cNvPr id="212" name="Google Shape;212;p17"/>
          <p:cNvCxnSpPr/>
          <p:nvPr/>
        </p:nvCxnSpPr>
        <p:spPr>
          <a:xfrm>
            <a:off x="2203704" y="7796403"/>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213" name="Google Shape;213;p17"/>
          <p:cNvSpPr txBox="1"/>
          <p:nvPr/>
        </p:nvSpPr>
        <p:spPr>
          <a:xfrm>
            <a:off x="2249424" y="7814691"/>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Increment</a:t>
            </a:r>
            <a:endParaRPr/>
          </a:p>
        </p:txBody>
      </p:sp>
      <p:sp>
        <p:nvSpPr>
          <p:cNvPr id="214" name="Google Shape;214;p17"/>
          <p:cNvSpPr txBox="1"/>
          <p:nvPr/>
        </p:nvSpPr>
        <p:spPr>
          <a:xfrm>
            <a:off x="3621024" y="7814691"/>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Resultado integrado y potencialmente funcional que aporta valor.</a:t>
            </a:r>
            <a:endParaRPr/>
          </a:p>
        </p:txBody>
      </p:sp>
      <p:cxnSp>
        <p:nvCxnSpPr>
          <p:cNvPr id="215" name="Google Shape;215;p17"/>
          <p:cNvCxnSpPr/>
          <p:nvPr/>
        </p:nvCxnSpPr>
        <p:spPr>
          <a:xfrm>
            <a:off x="2203704" y="8189595"/>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216" name="Google Shape;216;p17"/>
          <p:cNvSpPr txBox="1"/>
          <p:nvPr/>
        </p:nvSpPr>
        <p:spPr>
          <a:xfrm>
            <a:off x="2249424" y="8207883"/>
            <a:ext cx="1280160" cy="347472"/>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3D2159"/>
                </a:solidFill>
                <a:latin typeface="Arial"/>
                <a:ea typeface="Arial"/>
                <a:cs typeface="Arial"/>
                <a:sym typeface="Arial"/>
              </a:rPr>
              <a:t>Definition of Done</a:t>
            </a:r>
            <a:endParaRPr/>
          </a:p>
        </p:txBody>
      </p:sp>
      <p:sp>
        <p:nvSpPr>
          <p:cNvPr id="217" name="Google Shape;217;p17"/>
          <p:cNvSpPr txBox="1"/>
          <p:nvPr/>
        </p:nvSpPr>
        <p:spPr>
          <a:xfrm>
            <a:off x="3621024" y="8207883"/>
            <a:ext cx="2331720" cy="34747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s-CO" sz="900" u="none" cap="none" strike="noStrike">
                <a:solidFill>
                  <a:srgbClr val="353646"/>
                </a:solidFill>
                <a:latin typeface="Arial"/>
                <a:ea typeface="Arial"/>
                <a:cs typeface="Arial"/>
                <a:sym typeface="Arial"/>
              </a:rPr>
              <a:t>Criterios acordados para determinar cuándo un incremento está terminado.</a:t>
            </a:r>
            <a:endParaRPr/>
          </a:p>
        </p:txBody>
      </p:sp>
      <p:cxnSp>
        <p:nvCxnSpPr>
          <p:cNvPr id="218" name="Google Shape;218;p17"/>
          <p:cNvCxnSpPr/>
          <p:nvPr/>
        </p:nvCxnSpPr>
        <p:spPr>
          <a:xfrm>
            <a:off x="2203704" y="8582787"/>
            <a:ext cx="3776472" cy="0"/>
          </a:xfrm>
          <a:prstGeom prst="straightConnector1">
            <a:avLst/>
          </a:prstGeom>
          <a:noFill/>
          <a:ln cap="flat" cmpd="sng" w="9525">
            <a:solidFill>
              <a:srgbClr val="E2E4EC"/>
            </a:solidFill>
            <a:prstDash val="solid"/>
            <a:round/>
            <a:headEnd len="sm" w="sm" type="none"/>
            <a:tailEnd len="sm" w="sm" type="none"/>
          </a:ln>
          <a:effectLst>
            <a:outerShdw blurRad="40000" rotWithShape="0" dir="5400000" dist="20000">
              <a:srgbClr val="000000">
                <a:alpha val="38039"/>
              </a:srgbClr>
            </a:outerShdw>
          </a:effectLst>
        </p:spPr>
      </p:cxnSp>
      <p:sp>
        <p:nvSpPr>
          <p:cNvPr id="219" name="Google Shape;219;p17"/>
          <p:cNvSpPr txBox="1"/>
          <p:nvPr/>
        </p:nvSpPr>
        <p:spPr>
          <a:xfrm>
            <a:off x="877824" y="8747379"/>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Fuente: elaboración propia.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8"/>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2 · Aprender desde la experiencia</a:t>
            </a:r>
            <a:endParaRPr b="1" i="0" sz="900" u="none" cap="none" strike="noStrike">
              <a:solidFill>
                <a:srgbClr val="B31686"/>
              </a:solidFill>
              <a:latin typeface="Arial"/>
              <a:ea typeface="Arial"/>
              <a:cs typeface="Arial"/>
              <a:sym typeface="Arial"/>
            </a:endParaRPr>
          </a:p>
        </p:txBody>
      </p:sp>
      <p:sp>
        <p:nvSpPr>
          <p:cNvPr id="225" name="Google Shape;225;p18"/>
          <p:cNvSpPr/>
          <p:nvPr/>
        </p:nvSpPr>
        <p:spPr>
          <a:xfrm>
            <a:off x="876300" y="1409700"/>
            <a:ext cx="5105400" cy="813816"/>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Experiencia como fuente de conocimiento</a:t>
            </a:r>
            <a:endParaRPr b="0" i="0" sz="1400" u="none" cap="none" strike="noStrike">
              <a:solidFill>
                <a:srgbClr val="000000"/>
              </a:solidFill>
              <a:latin typeface="Arial"/>
              <a:ea typeface="Arial"/>
              <a:cs typeface="Arial"/>
              <a:sym typeface="Arial"/>
            </a:endParaRPr>
          </a:p>
        </p:txBody>
      </p:sp>
      <p:pic>
        <p:nvPicPr>
          <p:cNvPr id="226" name="Google Shape;226;p18"/>
          <p:cNvPicPr preferRelativeResize="0"/>
          <p:nvPr/>
        </p:nvPicPr>
        <p:blipFill rotWithShape="1">
          <a:blip r:embed="rId3">
            <a:alphaModFix/>
          </a:blip>
          <a:srcRect b="0" l="0" r="0" t="0"/>
          <a:stretch/>
        </p:blipFill>
        <p:spPr>
          <a:xfrm>
            <a:off x="869156" y="2340864"/>
            <a:ext cx="1100138" cy="88783"/>
          </a:xfrm>
          <a:prstGeom prst="rect">
            <a:avLst/>
          </a:prstGeom>
          <a:noFill/>
          <a:ln>
            <a:noFill/>
          </a:ln>
        </p:spPr>
      </p:pic>
      <p:sp>
        <p:nvSpPr>
          <p:cNvPr id="227" name="Google Shape;227;p18"/>
          <p:cNvSpPr txBox="1"/>
          <p:nvPr/>
        </p:nvSpPr>
        <p:spPr>
          <a:xfrm>
            <a:off x="877824" y="2752344"/>
            <a:ext cx="5102352" cy="12573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Uno de los fundamentos centrales de Scrum es el empirismo. Desde esta perspectiva, el conocimiento se construye a partir de la experiencia y de la observación de lo que realmente sucede. Frente a un problema complejo, nuestras decisiones iniciales pueden necesitar ajustes porque parte de la información relevante solo aparece mientras desarrollamos el trabajo (Schwaber &amp; Sutherland, 2020).</a:t>
            </a:r>
            <a:endParaRPr/>
          </a:p>
        </p:txBody>
      </p:sp>
      <p:sp>
        <p:nvSpPr>
          <p:cNvPr id="228" name="Google Shape;228;p18"/>
          <p:cNvSpPr txBox="1"/>
          <p:nvPr/>
        </p:nvSpPr>
        <p:spPr>
          <a:xfrm>
            <a:off x="877824" y="4192524"/>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FUNDAMENTOS DE SCRUM · LÓGICA EMPÍRICA Y LEAN</a:t>
            </a:r>
            <a:endParaRPr/>
          </a:p>
        </p:txBody>
      </p:sp>
      <p:sp>
        <p:nvSpPr>
          <p:cNvPr id="229" name="Google Shape;229;p18"/>
          <p:cNvSpPr txBox="1"/>
          <p:nvPr/>
        </p:nvSpPr>
        <p:spPr>
          <a:xfrm>
            <a:off x="877824" y="4466844"/>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Aprender mientras se avanza</a:t>
            </a:r>
            <a:endParaRPr/>
          </a:p>
        </p:txBody>
      </p:sp>
      <p:sp>
        <p:nvSpPr>
          <p:cNvPr id="230" name="Google Shape;230;p18"/>
          <p:cNvSpPr txBox="1"/>
          <p:nvPr/>
        </p:nvSpPr>
        <p:spPr>
          <a:xfrm>
            <a:off x="877824" y="4788788"/>
            <a:ext cx="5102352" cy="400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El bucle adaptativo: aprender de la evidencia y concentrarse en lo esencial.</a:t>
            </a:r>
            <a:endParaRPr/>
          </a:p>
        </p:txBody>
      </p:sp>
      <p:sp>
        <p:nvSpPr>
          <p:cNvPr id="231" name="Google Shape;231;p18"/>
          <p:cNvSpPr/>
          <p:nvPr/>
        </p:nvSpPr>
        <p:spPr>
          <a:xfrm>
            <a:off x="877824" y="5390006"/>
            <a:ext cx="1138428" cy="13258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18"/>
          <p:cNvSpPr/>
          <p:nvPr/>
        </p:nvSpPr>
        <p:spPr>
          <a:xfrm>
            <a:off x="1218438" y="5527166"/>
            <a:ext cx="457200" cy="457200"/>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18"/>
          <p:cNvSpPr txBox="1"/>
          <p:nvPr/>
        </p:nvSpPr>
        <p:spPr>
          <a:xfrm>
            <a:off x="1218438" y="5527166"/>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1</a:t>
            </a:r>
            <a:endParaRPr/>
          </a:p>
        </p:txBody>
      </p:sp>
      <p:sp>
        <p:nvSpPr>
          <p:cNvPr id="234" name="Google Shape;234;p18"/>
          <p:cNvSpPr txBox="1"/>
          <p:nvPr/>
        </p:nvSpPr>
        <p:spPr>
          <a:xfrm>
            <a:off x="923544" y="6075806"/>
            <a:ext cx="1046988"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664092"/>
                </a:solidFill>
                <a:latin typeface="Arial"/>
                <a:ea typeface="Arial"/>
                <a:cs typeface="Arial"/>
                <a:sym typeface="Arial"/>
              </a:rPr>
              <a:t>Trabajamos</a:t>
            </a:r>
            <a:endParaRPr/>
          </a:p>
        </p:txBody>
      </p:sp>
      <p:sp>
        <p:nvSpPr>
          <p:cNvPr id="235" name="Google Shape;235;p18"/>
          <p:cNvSpPr txBox="1"/>
          <p:nvPr/>
        </p:nvSpPr>
        <p:spPr>
          <a:xfrm>
            <a:off x="923544" y="6322695"/>
            <a:ext cx="1046988" cy="3657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Construcción inicial.</a:t>
            </a:r>
            <a:endParaRPr/>
          </a:p>
        </p:txBody>
      </p:sp>
      <p:sp>
        <p:nvSpPr>
          <p:cNvPr id="236" name="Google Shape;236;p18"/>
          <p:cNvSpPr/>
          <p:nvPr/>
        </p:nvSpPr>
        <p:spPr>
          <a:xfrm>
            <a:off x="2043684" y="5691758"/>
            <a:ext cx="128016" cy="146304"/>
          </a:xfrm>
          <a:prstGeom prst="right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18"/>
          <p:cNvSpPr/>
          <p:nvPr/>
        </p:nvSpPr>
        <p:spPr>
          <a:xfrm>
            <a:off x="2199132" y="5390006"/>
            <a:ext cx="1138428" cy="13258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18"/>
          <p:cNvSpPr/>
          <p:nvPr/>
        </p:nvSpPr>
        <p:spPr>
          <a:xfrm>
            <a:off x="2539746" y="5527166"/>
            <a:ext cx="457200" cy="457200"/>
          </a:xfrm>
          <a:prstGeom prst="ellipse">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18"/>
          <p:cNvSpPr txBox="1"/>
          <p:nvPr/>
        </p:nvSpPr>
        <p:spPr>
          <a:xfrm>
            <a:off x="2539746" y="5527166"/>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2</a:t>
            </a:r>
            <a:endParaRPr/>
          </a:p>
        </p:txBody>
      </p:sp>
      <p:sp>
        <p:nvSpPr>
          <p:cNvPr id="240" name="Google Shape;240;p18"/>
          <p:cNvSpPr txBox="1"/>
          <p:nvPr/>
        </p:nvSpPr>
        <p:spPr>
          <a:xfrm>
            <a:off x="2244852" y="6075806"/>
            <a:ext cx="1046988"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2A56C6"/>
                </a:solidFill>
                <a:latin typeface="Arial"/>
                <a:ea typeface="Arial"/>
                <a:cs typeface="Arial"/>
                <a:sym typeface="Arial"/>
              </a:rPr>
              <a:t>Observamos</a:t>
            </a:r>
            <a:endParaRPr/>
          </a:p>
        </p:txBody>
      </p:sp>
      <p:sp>
        <p:nvSpPr>
          <p:cNvPr id="241" name="Google Shape;241;p18"/>
          <p:cNvSpPr txBox="1"/>
          <p:nvPr/>
        </p:nvSpPr>
        <p:spPr>
          <a:xfrm>
            <a:off x="2244852" y="6322695"/>
            <a:ext cx="1046988" cy="3657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Revisión con usuarios.</a:t>
            </a:r>
            <a:endParaRPr/>
          </a:p>
        </p:txBody>
      </p:sp>
      <p:sp>
        <p:nvSpPr>
          <p:cNvPr id="242" name="Google Shape;242;p18"/>
          <p:cNvSpPr/>
          <p:nvPr/>
        </p:nvSpPr>
        <p:spPr>
          <a:xfrm>
            <a:off x="3364992" y="5691758"/>
            <a:ext cx="128016" cy="146304"/>
          </a:xfrm>
          <a:prstGeom prst="right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18"/>
          <p:cNvSpPr/>
          <p:nvPr/>
        </p:nvSpPr>
        <p:spPr>
          <a:xfrm>
            <a:off x="3520440" y="5390006"/>
            <a:ext cx="1138428" cy="13258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18"/>
          <p:cNvSpPr/>
          <p:nvPr/>
        </p:nvSpPr>
        <p:spPr>
          <a:xfrm>
            <a:off x="3861054" y="5527166"/>
            <a:ext cx="457200" cy="457200"/>
          </a:xfrm>
          <a:prstGeom prst="ellipse">
            <a:avLst/>
          </a:prstGeom>
          <a:solidFill>
            <a:srgbClr val="B316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18"/>
          <p:cNvSpPr txBox="1"/>
          <p:nvPr/>
        </p:nvSpPr>
        <p:spPr>
          <a:xfrm>
            <a:off x="3861054" y="5527166"/>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3</a:t>
            </a:r>
            <a:endParaRPr/>
          </a:p>
        </p:txBody>
      </p:sp>
      <p:sp>
        <p:nvSpPr>
          <p:cNvPr id="246" name="Google Shape;246;p18"/>
          <p:cNvSpPr txBox="1"/>
          <p:nvPr/>
        </p:nvSpPr>
        <p:spPr>
          <a:xfrm>
            <a:off x="3566160" y="6075806"/>
            <a:ext cx="1046988"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B31686"/>
                </a:solidFill>
                <a:latin typeface="Arial"/>
                <a:ea typeface="Arial"/>
                <a:cs typeface="Arial"/>
                <a:sym typeface="Arial"/>
              </a:rPr>
              <a:t>Aprendemos</a:t>
            </a:r>
            <a:endParaRPr/>
          </a:p>
        </p:txBody>
      </p:sp>
      <p:sp>
        <p:nvSpPr>
          <p:cNvPr id="247" name="Google Shape;247;p18"/>
          <p:cNvSpPr txBox="1"/>
          <p:nvPr/>
        </p:nvSpPr>
        <p:spPr>
          <a:xfrm>
            <a:off x="3566160" y="6322695"/>
            <a:ext cx="1046988" cy="3657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Nueva evidencia.</a:t>
            </a:r>
            <a:endParaRPr/>
          </a:p>
        </p:txBody>
      </p:sp>
      <p:sp>
        <p:nvSpPr>
          <p:cNvPr id="248" name="Google Shape;248;p18"/>
          <p:cNvSpPr/>
          <p:nvPr/>
        </p:nvSpPr>
        <p:spPr>
          <a:xfrm>
            <a:off x="4686300" y="5691758"/>
            <a:ext cx="128016" cy="146304"/>
          </a:xfrm>
          <a:prstGeom prst="right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18"/>
          <p:cNvSpPr/>
          <p:nvPr/>
        </p:nvSpPr>
        <p:spPr>
          <a:xfrm>
            <a:off x="4841748" y="5390006"/>
            <a:ext cx="1138428" cy="13258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18"/>
          <p:cNvSpPr/>
          <p:nvPr/>
        </p:nvSpPr>
        <p:spPr>
          <a:xfrm>
            <a:off x="5182362" y="5527166"/>
            <a:ext cx="457200" cy="457200"/>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p18"/>
          <p:cNvSpPr txBox="1"/>
          <p:nvPr/>
        </p:nvSpPr>
        <p:spPr>
          <a:xfrm>
            <a:off x="5182362" y="5527166"/>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300" u="none" cap="none" strike="noStrike">
                <a:solidFill>
                  <a:srgbClr val="FFFFFF"/>
                </a:solidFill>
                <a:latin typeface="Arial"/>
                <a:ea typeface="Arial"/>
                <a:cs typeface="Arial"/>
                <a:sym typeface="Arial"/>
              </a:rPr>
              <a:t>4</a:t>
            </a:r>
            <a:endParaRPr/>
          </a:p>
        </p:txBody>
      </p:sp>
      <p:sp>
        <p:nvSpPr>
          <p:cNvPr id="252" name="Google Shape;252;p18"/>
          <p:cNvSpPr txBox="1"/>
          <p:nvPr/>
        </p:nvSpPr>
        <p:spPr>
          <a:xfrm>
            <a:off x="4887468" y="6075806"/>
            <a:ext cx="1046988"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1050" u="none" cap="none" strike="noStrike">
                <a:solidFill>
                  <a:srgbClr val="024791"/>
                </a:solidFill>
                <a:latin typeface="Arial"/>
                <a:ea typeface="Arial"/>
                <a:cs typeface="Arial"/>
                <a:sym typeface="Arial"/>
              </a:rPr>
              <a:t>Ajustamos</a:t>
            </a:r>
            <a:endParaRPr/>
          </a:p>
        </p:txBody>
      </p:sp>
      <p:sp>
        <p:nvSpPr>
          <p:cNvPr id="253" name="Google Shape;253;p18"/>
          <p:cNvSpPr txBox="1"/>
          <p:nvPr/>
        </p:nvSpPr>
        <p:spPr>
          <a:xfrm>
            <a:off x="4887468" y="6322695"/>
            <a:ext cx="1046988" cy="3657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Toma de decisión.</a:t>
            </a:r>
            <a:endParaRPr/>
          </a:p>
        </p:txBody>
      </p:sp>
      <p:sp>
        <p:nvSpPr>
          <p:cNvPr id="254" name="Google Shape;254;p18"/>
          <p:cNvSpPr/>
          <p:nvPr/>
        </p:nvSpPr>
        <p:spPr>
          <a:xfrm>
            <a:off x="2249424" y="7063358"/>
            <a:ext cx="2359152" cy="310896"/>
          </a:xfrm>
          <a:prstGeom prst="roundRect">
            <a:avLst>
              <a:gd fmla="val 5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55" name="Google Shape;255;p18"/>
          <p:cNvPicPr preferRelativeResize="0"/>
          <p:nvPr/>
        </p:nvPicPr>
        <p:blipFill rotWithShape="1">
          <a:blip r:embed="rId4">
            <a:alphaModFix/>
          </a:blip>
          <a:srcRect b="0" l="0" r="0" t="0"/>
          <a:stretch/>
        </p:blipFill>
        <p:spPr>
          <a:xfrm>
            <a:off x="2359152" y="7109077"/>
            <a:ext cx="219456" cy="219456"/>
          </a:xfrm>
          <a:prstGeom prst="rect">
            <a:avLst/>
          </a:prstGeom>
          <a:noFill/>
          <a:ln>
            <a:noFill/>
          </a:ln>
        </p:spPr>
      </p:pic>
      <p:sp>
        <p:nvSpPr>
          <p:cNvPr id="256" name="Google Shape;256;p18"/>
          <p:cNvSpPr txBox="1"/>
          <p:nvPr/>
        </p:nvSpPr>
        <p:spPr>
          <a:xfrm>
            <a:off x="2615184" y="7063358"/>
            <a:ext cx="1901952" cy="31089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000" u="none" cap="none" strike="noStrike">
                <a:solidFill>
                  <a:srgbClr val="024791"/>
                </a:solidFill>
                <a:latin typeface="Arial"/>
                <a:ea typeface="Arial"/>
                <a:cs typeface="Arial"/>
                <a:sym typeface="Arial"/>
              </a:rPr>
              <a:t>Retorno continuo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2 · Aprender desde la experiencia</a:t>
            </a:r>
            <a:endParaRPr b="1" i="0" sz="900" u="none" cap="none" strike="noStrike">
              <a:solidFill>
                <a:srgbClr val="B31686"/>
              </a:solidFill>
              <a:latin typeface="Arial"/>
              <a:ea typeface="Arial"/>
              <a:cs typeface="Arial"/>
              <a:sym typeface="Arial"/>
            </a:endParaRPr>
          </a:p>
        </p:txBody>
      </p:sp>
      <p:sp>
        <p:nvSpPr>
          <p:cNvPr id="262" name="Google Shape;262;p19"/>
          <p:cNvSpPr txBox="1"/>
          <p:nvPr/>
        </p:nvSpPr>
        <p:spPr>
          <a:xfrm>
            <a:off x="877824" y="148132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FUNDAMENTOS DE SCRUM · LÓGICA EMPÍRICA Y LEAN</a:t>
            </a:r>
            <a:endParaRPr/>
          </a:p>
        </p:txBody>
      </p:sp>
      <p:sp>
        <p:nvSpPr>
          <p:cNvPr id="263" name="Google Shape;263;p19"/>
          <p:cNvSpPr txBox="1"/>
          <p:nvPr/>
        </p:nvSpPr>
        <p:spPr>
          <a:xfrm>
            <a:off x="877824" y="1755648"/>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Dos maneras de interpretar un desvío</a:t>
            </a:r>
            <a:endParaRPr/>
          </a:p>
        </p:txBody>
      </p:sp>
      <p:sp>
        <p:nvSpPr>
          <p:cNvPr id="264" name="Google Shape;264;p19"/>
          <p:cNvSpPr/>
          <p:nvPr/>
        </p:nvSpPr>
        <p:spPr>
          <a:xfrm>
            <a:off x="877824" y="2278761"/>
            <a:ext cx="2459736" cy="1417320"/>
          </a:xfrm>
          <a:prstGeom prst="roundRect">
            <a:avLst>
              <a:gd fmla="val 1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19"/>
          <p:cNvSpPr/>
          <p:nvPr/>
        </p:nvSpPr>
        <p:spPr>
          <a:xfrm>
            <a:off x="877824" y="2278761"/>
            <a:ext cx="2459736" cy="64008"/>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19"/>
          <p:cNvSpPr txBox="1"/>
          <p:nvPr/>
        </p:nvSpPr>
        <p:spPr>
          <a:xfrm>
            <a:off x="1060704" y="2461641"/>
            <a:ext cx="2093976"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2A56C6"/>
                </a:solidFill>
                <a:latin typeface="Arial"/>
                <a:ea typeface="Arial"/>
                <a:cs typeface="Arial"/>
                <a:sym typeface="Arial"/>
              </a:rPr>
              <a:t>Perspectiva empírica</a:t>
            </a:r>
            <a:endParaRPr/>
          </a:p>
        </p:txBody>
      </p:sp>
      <p:sp>
        <p:nvSpPr>
          <p:cNvPr id="267" name="Google Shape;267;p19"/>
          <p:cNvSpPr txBox="1"/>
          <p:nvPr/>
        </p:nvSpPr>
        <p:spPr>
          <a:xfrm>
            <a:off x="1060704" y="2754249"/>
            <a:ext cx="2093976"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1" lang="es-CO" sz="1200" u="none" cap="none" strike="noStrike">
                <a:solidFill>
                  <a:srgbClr val="3D2159"/>
                </a:solidFill>
                <a:latin typeface="Arial"/>
                <a:ea typeface="Arial"/>
                <a:cs typeface="Arial"/>
                <a:sym typeface="Arial"/>
              </a:rPr>
              <a:t>“Tenemos evidencia”</a:t>
            </a:r>
            <a:endParaRPr/>
          </a:p>
        </p:txBody>
      </p:sp>
      <p:sp>
        <p:nvSpPr>
          <p:cNvPr id="268" name="Google Shape;268;p19"/>
          <p:cNvSpPr txBox="1"/>
          <p:nvPr/>
        </p:nvSpPr>
        <p:spPr>
          <a:xfrm>
            <a:off x="1060704" y="3101721"/>
            <a:ext cx="2093976"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El desvío es información para aprender y mejorar.</a:t>
            </a:r>
            <a:endParaRPr/>
          </a:p>
        </p:txBody>
      </p:sp>
      <p:sp>
        <p:nvSpPr>
          <p:cNvPr id="269" name="Google Shape;269;p19"/>
          <p:cNvSpPr/>
          <p:nvPr/>
        </p:nvSpPr>
        <p:spPr>
          <a:xfrm>
            <a:off x="3520440" y="2278761"/>
            <a:ext cx="2459736" cy="1417320"/>
          </a:xfrm>
          <a:prstGeom prst="roundRect">
            <a:avLst>
              <a:gd fmla="val 10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9"/>
          <p:cNvSpPr/>
          <p:nvPr/>
        </p:nvSpPr>
        <p:spPr>
          <a:xfrm>
            <a:off x="3520440" y="2278761"/>
            <a:ext cx="2459736" cy="64008"/>
          </a:xfrm>
          <a:prstGeom prst="rect">
            <a:avLst/>
          </a:prstGeom>
          <a:solidFill>
            <a:srgbClr val="B3168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19"/>
          <p:cNvSpPr txBox="1"/>
          <p:nvPr/>
        </p:nvSpPr>
        <p:spPr>
          <a:xfrm>
            <a:off x="3703320" y="2461641"/>
            <a:ext cx="2093976"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B31686"/>
                </a:solidFill>
                <a:latin typeface="Arial"/>
                <a:ea typeface="Arial"/>
                <a:cs typeface="Arial"/>
                <a:sym typeface="Arial"/>
              </a:rPr>
              <a:t>Perspectiva rígida</a:t>
            </a:r>
            <a:endParaRPr/>
          </a:p>
        </p:txBody>
      </p:sp>
      <p:sp>
        <p:nvSpPr>
          <p:cNvPr id="272" name="Google Shape;272;p19"/>
          <p:cNvSpPr txBox="1"/>
          <p:nvPr/>
        </p:nvSpPr>
        <p:spPr>
          <a:xfrm>
            <a:off x="3703320" y="2754249"/>
            <a:ext cx="2093976" cy="2743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1" lang="es-CO" sz="1200" u="none" cap="none" strike="noStrike">
                <a:solidFill>
                  <a:srgbClr val="3D2159"/>
                </a:solidFill>
                <a:latin typeface="Arial"/>
                <a:ea typeface="Arial"/>
                <a:cs typeface="Arial"/>
                <a:sym typeface="Arial"/>
              </a:rPr>
              <a:t>“El plan falló”</a:t>
            </a:r>
            <a:endParaRPr/>
          </a:p>
        </p:txBody>
      </p:sp>
      <p:sp>
        <p:nvSpPr>
          <p:cNvPr id="273" name="Google Shape;273;p19"/>
          <p:cNvSpPr txBox="1"/>
          <p:nvPr/>
        </p:nvSpPr>
        <p:spPr>
          <a:xfrm>
            <a:off x="3703320" y="3101721"/>
            <a:ext cx="2093976"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El desvío se interpreta como un fracaso.</a:t>
            </a:r>
            <a:endParaRPr/>
          </a:p>
        </p:txBody>
      </p:sp>
      <p:sp>
        <p:nvSpPr>
          <p:cNvPr id="274" name="Google Shape;274;p19"/>
          <p:cNvSpPr txBox="1"/>
          <p:nvPr/>
        </p:nvSpPr>
        <p:spPr>
          <a:xfrm>
            <a:off x="877824" y="3970401"/>
            <a:ext cx="5102352"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100" u="none" cap="none" strike="noStrike">
                <a:solidFill>
                  <a:srgbClr val="3D2159"/>
                </a:solidFill>
                <a:latin typeface="Arial"/>
                <a:ea typeface="Arial"/>
                <a:cs typeface="Arial"/>
                <a:sym typeface="Arial"/>
              </a:rPr>
              <a:t>Empirismo + Pensamiento Lean</a:t>
            </a:r>
            <a:endParaRPr/>
          </a:p>
        </p:txBody>
      </p:sp>
      <p:sp>
        <p:nvSpPr>
          <p:cNvPr id="275" name="Google Shape;275;p19"/>
          <p:cNvSpPr/>
          <p:nvPr/>
        </p:nvSpPr>
        <p:spPr>
          <a:xfrm>
            <a:off x="877824" y="4317873"/>
            <a:ext cx="2459736" cy="914400"/>
          </a:xfrm>
          <a:prstGeom prst="roundRect">
            <a:avLst>
              <a:gd fmla="val 10000" name="adj"/>
            </a:avLst>
          </a:prstGeom>
          <a:solidFill>
            <a:srgbClr val="FFFFFF"/>
          </a:solidFill>
          <a:ln cap="flat" cmpd="sng" w="12700">
            <a:solidFill>
              <a:srgbClr val="C9D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9"/>
          <p:cNvSpPr txBox="1"/>
          <p:nvPr/>
        </p:nvSpPr>
        <p:spPr>
          <a:xfrm>
            <a:off x="1060704" y="4445889"/>
            <a:ext cx="2093976"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050" u="none" cap="none" strike="noStrike">
                <a:solidFill>
                  <a:srgbClr val="024791"/>
                </a:solidFill>
                <a:latin typeface="Arial"/>
                <a:ea typeface="Arial"/>
                <a:cs typeface="Arial"/>
                <a:sym typeface="Arial"/>
              </a:rPr>
              <a:t>Empirismo</a:t>
            </a:r>
            <a:endParaRPr/>
          </a:p>
        </p:txBody>
      </p:sp>
      <p:sp>
        <p:nvSpPr>
          <p:cNvPr id="277" name="Google Shape;277;p19"/>
          <p:cNvSpPr txBox="1"/>
          <p:nvPr/>
        </p:nvSpPr>
        <p:spPr>
          <a:xfrm>
            <a:off x="1060704" y="4720209"/>
            <a:ext cx="2093976"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Aprender de la experiencia y la evidencia observable.</a:t>
            </a:r>
            <a:endParaRPr/>
          </a:p>
        </p:txBody>
      </p:sp>
      <p:sp>
        <p:nvSpPr>
          <p:cNvPr id="278" name="Google Shape;278;p19"/>
          <p:cNvSpPr/>
          <p:nvPr/>
        </p:nvSpPr>
        <p:spPr>
          <a:xfrm>
            <a:off x="3520440" y="4317873"/>
            <a:ext cx="2459736" cy="914400"/>
          </a:xfrm>
          <a:prstGeom prst="roundRect">
            <a:avLst>
              <a:gd fmla="val 10000" name="adj"/>
            </a:avLst>
          </a:prstGeom>
          <a:solidFill>
            <a:srgbClr val="FFFFFF"/>
          </a:solidFill>
          <a:ln cap="flat" cmpd="sng" w="12700">
            <a:solidFill>
              <a:srgbClr val="C9D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19"/>
          <p:cNvSpPr txBox="1"/>
          <p:nvPr/>
        </p:nvSpPr>
        <p:spPr>
          <a:xfrm>
            <a:off x="3703320" y="4445889"/>
            <a:ext cx="2093976"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050" u="none" cap="none" strike="noStrike">
                <a:solidFill>
                  <a:srgbClr val="024791"/>
                </a:solidFill>
                <a:latin typeface="Arial"/>
                <a:ea typeface="Arial"/>
                <a:cs typeface="Arial"/>
                <a:sym typeface="Arial"/>
              </a:rPr>
              <a:t>Pensamiento Lean</a:t>
            </a:r>
            <a:endParaRPr/>
          </a:p>
        </p:txBody>
      </p:sp>
      <p:sp>
        <p:nvSpPr>
          <p:cNvPr id="280" name="Google Shape;280;p19"/>
          <p:cNvSpPr txBox="1"/>
          <p:nvPr/>
        </p:nvSpPr>
        <p:spPr>
          <a:xfrm>
            <a:off x="3703320" y="4720209"/>
            <a:ext cx="2093976" cy="45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50" u="none" cap="none" strike="noStrike">
                <a:solidFill>
                  <a:srgbClr val="353646"/>
                </a:solidFill>
                <a:latin typeface="Arial"/>
                <a:ea typeface="Arial"/>
                <a:cs typeface="Arial"/>
                <a:sym typeface="Arial"/>
              </a:rPr>
              <a:t>Eliminar lo que no aporta valor y priorizar lo esencial.</a:t>
            </a:r>
            <a:endParaRPr/>
          </a:p>
        </p:txBody>
      </p:sp>
      <p:sp>
        <p:nvSpPr>
          <p:cNvPr id="281" name="Google Shape;281;p19"/>
          <p:cNvSpPr/>
          <p:nvPr/>
        </p:nvSpPr>
        <p:spPr>
          <a:xfrm>
            <a:off x="3264408" y="4628769"/>
            <a:ext cx="329184" cy="329184"/>
          </a:xfrm>
          <a:prstGeom prst="ellipse">
            <a:avLst/>
          </a:prstGeom>
          <a:solidFill>
            <a:srgbClr val="FFD9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19"/>
          <p:cNvSpPr txBox="1"/>
          <p:nvPr/>
        </p:nvSpPr>
        <p:spPr>
          <a:xfrm>
            <a:off x="3264408" y="4628769"/>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400" u="none" cap="none" strike="noStrike">
                <a:solidFill>
                  <a:srgbClr val="3D2159"/>
                </a:solidFill>
                <a:latin typeface="Arial"/>
                <a:ea typeface="Arial"/>
                <a:cs typeface="Arial"/>
                <a:sym typeface="Arial"/>
              </a:rPr>
              <a:t>+</a:t>
            </a:r>
            <a:endParaRPr/>
          </a:p>
        </p:txBody>
      </p:sp>
      <p:sp>
        <p:nvSpPr>
          <p:cNvPr id="283" name="Google Shape;283;p19"/>
          <p:cNvSpPr/>
          <p:nvPr/>
        </p:nvSpPr>
        <p:spPr>
          <a:xfrm>
            <a:off x="3319272" y="5369433"/>
            <a:ext cx="219456" cy="201168"/>
          </a:xfrm>
          <a:prstGeom prst="downArrow">
            <a:avLst>
              <a:gd fmla="val 50000" name="adj1"/>
              <a:gd fmla="val 50000" name="adj2"/>
            </a:avLst>
          </a:prstGeom>
          <a:solidFill>
            <a:srgbClr val="B9C3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19"/>
          <p:cNvSpPr/>
          <p:nvPr/>
        </p:nvSpPr>
        <p:spPr>
          <a:xfrm>
            <a:off x="877824" y="5643753"/>
            <a:ext cx="5102352" cy="502920"/>
          </a:xfrm>
          <a:prstGeom prst="roundRect">
            <a:avLst>
              <a:gd fmla="val 3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5" name="Google Shape;285;p19"/>
          <p:cNvSpPr txBox="1"/>
          <p:nvPr/>
        </p:nvSpPr>
        <p:spPr>
          <a:xfrm>
            <a:off x="877824" y="5643753"/>
            <a:ext cx="5102352" cy="5029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150" u="none" cap="none" strike="noStrike">
                <a:solidFill>
                  <a:srgbClr val="FFFFFF"/>
                </a:solidFill>
                <a:latin typeface="Arial"/>
                <a:ea typeface="Arial"/>
                <a:cs typeface="Arial"/>
                <a:sym typeface="Arial"/>
              </a:rPr>
              <a:t>Generación de valor continuo en cada decisión</a:t>
            </a:r>
            <a:endParaRPr/>
          </a:p>
        </p:txBody>
      </p:sp>
      <p:sp>
        <p:nvSpPr>
          <p:cNvPr id="286" name="Google Shape;286;p19"/>
          <p:cNvSpPr txBox="1"/>
          <p:nvPr/>
        </p:nvSpPr>
        <p:spPr>
          <a:xfrm>
            <a:off x="877824" y="6375273"/>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Fuente: elaboración propia.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0"/>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2 · Aprender desde la experiencia</a:t>
            </a:r>
            <a:endParaRPr b="1" i="0" sz="900" u="none" cap="none" strike="noStrike">
              <a:solidFill>
                <a:srgbClr val="B31686"/>
              </a:solidFill>
              <a:latin typeface="Arial"/>
              <a:ea typeface="Arial"/>
              <a:cs typeface="Arial"/>
              <a:sym typeface="Arial"/>
            </a:endParaRPr>
          </a:p>
        </p:txBody>
      </p:sp>
      <p:sp>
        <p:nvSpPr>
          <p:cNvPr id="292" name="Google Shape;292;p20"/>
          <p:cNvSpPr/>
          <p:nvPr/>
        </p:nvSpPr>
        <p:spPr>
          <a:xfrm>
            <a:off x="876300" y="1409700"/>
            <a:ext cx="5105400" cy="813816"/>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Tres pilares para aprender y adaptarnos</a:t>
            </a:r>
            <a:endParaRPr b="0" i="0" sz="1400" u="none" cap="none" strike="noStrike">
              <a:solidFill>
                <a:srgbClr val="000000"/>
              </a:solidFill>
              <a:latin typeface="Arial"/>
              <a:ea typeface="Arial"/>
              <a:cs typeface="Arial"/>
              <a:sym typeface="Arial"/>
            </a:endParaRPr>
          </a:p>
        </p:txBody>
      </p:sp>
      <p:pic>
        <p:nvPicPr>
          <p:cNvPr id="293" name="Google Shape;293;p20"/>
          <p:cNvPicPr preferRelativeResize="0"/>
          <p:nvPr/>
        </p:nvPicPr>
        <p:blipFill rotWithShape="1">
          <a:blip r:embed="rId3">
            <a:alphaModFix/>
          </a:blip>
          <a:srcRect b="0" l="0" r="0" t="0"/>
          <a:stretch/>
        </p:blipFill>
        <p:spPr>
          <a:xfrm>
            <a:off x="869156" y="2340864"/>
            <a:ext cx="1100138" cy="88783"/>
          </a:xfrm>
          <a:prstGeom prst="rect">
            <a:avLst/>
          </a:prstGeom>
          <a:noFill/>
          <a:ln>
            <a:noFill/>
          </a:ln>
        </p:spPr>
      </p:pic>
      <p:sp>
        <p:nvSpPr>
          <p:cNvPr id="294" name="Google Shape;294;p20"/>
          <p:cNvSpPr txBox="1"/>
          <p:nvPr/>
        </p:nvSpPr>
        <p:spPr>
          <a:xfrm>
            <a:off x="877824" y="2752344"/>
            <a:ext cx="5102352" cy="6286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La lógica empírica de Scrum se materializa mediante tres pilares estrechamente relacionados: transparencia, inspección y adaptación (Schwaber &amp; Sutherland, 2020).</a:t>
            </a:r>
            <a:endParaRPr/>
          </a:p>
        </p:txBody>
      </p:sp>
      <p:sp>
        <p:nvSpPr>
          <p:cNvPr id="295" name="Google Shape;295;p20"/>
          <p:cNvSpPr txBox="1"/>
          <p:nvPr/>
        </p:nvSpPr>
        <p:spPr>
          <a:xfrm>
            <a:off x="877824" y="3563874"/>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FIGURA 2 · FUNDAMENTOS EMPÍRICOS DE SCRUM</a:t>
            </a:r>
            <a:endParaRPr/>
          </a:p>
        </p:txBody>
      </p:sp>
      <p:sp>
        <p:nvSpPr>
          <p:cNvPr id="296" name="Google Shape;296;p20"/>
          <p:cNvSpPr txBox="1"/>
          <p:nvPr/>
        </p:nvSpPr>
        <p:spPr>
          <a:xfrm>
            <a:off x="877824" y="3838194"/>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Los tres pilares de Scrum</a:t>
            </a:r>
            <a:endParaRPr/>
          </a:p>
        </p:txBody>
      </p:sp>
      <p:sp>
        <p:nvSpPr>
          <p:cNvPr id="297" name="Google Shape;297;p20"/>
          <p:cNvSpPr txBox="1"/>
          <p:nvPr/>
        </p:nvSpPr>
        <p:spPr>
          <a:xfrm>
            <a:off x="877824" y="4160138"/>
            <a:ext cx="5102352" cy="400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Cómo la transparencia, la inspección y la adaptación operan como un sistema interdependiente para aprender de la evidencia.</a:t>
            </a:r>
            <a:endParaRPr/>
          </a:p>
        </p:txBody>
      </p:sp>
      <p:sp>
        <p:nvSpPr>
          <p:cNvPr id="298" name="Google Shape;298;p20"/>
          <p:cNvSpPr/>
          <p:nvPr/>
        </p:nvSpPr>
        <p:spPr>
          <a:xfrm>
            <a:off x="877824" y="4761356"/>
            <a:ext cx="1609344" cy="15544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20"/>
          <p:cNvSpPr/>
          <p:nvPr/>
        </p:nvSpPr>
        <p:spPr>
          <a:xfrm>
            <a:off x="877824" y="4761356"/>
            <a:ext cx="1609344" cy="64008"/>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20"/>
          <p:cNvSpPr/>
          <p:nvPr/>
        </p:nvSpPr>
        <p:spPr>
          <a:xfrm>
            <a:off x="1042415" y="4962524"/>
            <a:ext cx="402336" cy="402336"/>
          </a:xfrm>
          <a:prstGeom prst="ellipse">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20"/>
          <p:cNvSpPr txBox="1"/>
          <p:nvPr/>
        </p:nvSpPr>
        <p:spPr>
          <a:xfrm>
            <a:off x="1042415" y="4962524"/>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200" u="none" cap="none" strike="noStrike">
                <a:solidFill>
                  <a:srgbClr val="FFFFFF"/>
                </a:solidFill>
                <a:latin typeface="Arial"/>
                <a:ea typeface="Arial"/>
                <a:cs typeface="Arial"/>
                <a:sym typeface="Arial"/>
              </a:rPr>
              <a:t>1</a:t>
            </a:r>
            <a:endParaRPr/>
          </a:p>
        </p:txBody>
      </p:sp>
      <p:sp>
        <p:nvSpPr>
          <p:cNvPr id="302" name="Google Shape;302;p20"/>
          <p:cNvSpPr txBox="1"/>
          <p:nvPr/>
        </p:nvSpPr>
        <p:spPr>
          <a:xfrm>
            <a:off x="1042415" y="5474588"/>
            <a:ext cx="1335024"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050" u="none" cap="none" strike="noStrike">
                <a:solidFill>
                  <a:srgbClr val="664092"/>
                </a:solidFill>
                <a:latin typeface="Arial"/>
                <a:ea typeface="Arial"/>
                <a:cs typeface="Arial"/>
                <a:sym typeface="Arial"/>
              </a:rPr>
              <a:t>Transparencia</a:t>
            </a:r>
            <a:endParaRPr/>
          </a:p>
        </p:txBody>
      </p:sp>
      <p:sp>
        <p:nvSpPr>
          <p:cNvPr id="303" name="Google Shape;303;p20"/>
          <p:cNvSpPr txBox="1"/>
          <p:nvPr/>
        </p:nvSpPr>
        <p:spPr>
          <a:xfrm>
            <a:off x="1042415" y="5721476"/>
            <a:ext cx="1335024"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Visibilidad honesta y comprensible del trabajo.</a:t>
            </a:r>
            <a:endParaRPr/>
          </a:p>
        </p:txBody>
      </p:sp>
      <p:sp>
        <p:nvSpPr>
          <p:cNvPr id="304" name="Google Shape;304;p20"/>
          <p:cNvSpPr/>
          <p:nvPr/>
        </p:nvSpPr>
        <p:spPr>
          <a:xfrm>
            <a:off x="2624328" y="4761356"/>
            <a:ext cx="1609344" cy="15544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20"/>
          <p:cNvSpPr/>
          <p:nvPr/>
        </p:nvSpPr>
        <p:spPr>
          <a:xfrm>
            <a:off x="2624328" y="4761356"/>
            <a:ext cx="1609344" cy="64008"/>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20"/>
          <p:cNvSpPr/>
          <p:nvPr/>
        </p:nvSpPr>
        <p:spPr>
          <a:xfrm>
            <a:off x="2788920" y="4962524"/>
            <a:ext cx="402336" cy="402336"/>
          </a:xfrm>
          <a:prstGeom prst="ellipse">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20"/>
          <p:cNvSpPr txBox="1"/>
          <p:nvPr/>
        </p:nvSpPr>
        <p:spPr>
          <a:xfrm>
            <a:off x="2788920" y="4962524"/>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200" u="none" cap="none" strike="noStrike">
                <a:solidFill>
                  <a:srgbClr val="FFFFFF"/>
                </a:solidFill>
                <a:latin typeface="Arial"/>
                <a:ea typeface="Arial"/>
                <a:cs typeface="Arial"/>
                <a:sym typeface="Arial"/>
              </a:rPr>
              <a:t>2</a:t>
            </a:r>
            <a:endParaRPr/>
          </a:p>
        </p:txBody>
      </p:sp>
      <p:sp>
        <p:nvSpPr>
          <p:cNvPr id="308" name="Google Shape;308;p20"/>
          <p:cNvSpPr txBox="1"/>
          <p:nvPr/>
        </p:nvSpPr>
        <p:spPr>
          <a:xfrm>
            <a:off x="2788920" y="5474588"/>
            <a:ext cx="1335024"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050" u="none" cap="none" strike="noStrike">
                <a:solidFill>
                  <a:srgbClr val="2A56C6"/>
                </a:solidFill>
                <a:latin typeface="Arial"/>
                <a:ea typeface="Arial"/>
                <a:cs typeface="Arial"/>
                <a:sym typeface="Arial"/>
              </a:rPr>
              <a:t>Inspección</a:t>
            </a:r>
            <a:endParaRPr/>
          </a:p>
        </p:txBody>
      </p:sp>
      <p:sp>
        <p:nvSpPr>
          <p:cNvPr id="309" name="Google Shape;309;p20"/>
          <p:cNvSpPr txBox="1"/>
          <p:nvPr/>
        </p:nvSpPr>
        <p:spPr>
          <a:xfrm>
            <a:off x="2788920" y="5721476"/>
            <a:ext cx="1335024"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Revisión periódica del progreso y los resultados.</a:t>
            </a:r>
            <a:endParaRPr/>
          </a:p>
        </p:txBody>
      </p:sp>
      <p:sp>
        <p:nvSpPr>
          <p:cNvPr id="310" name="Google Shape;310;p20"/>
          <p:cNvSpPr/>
          <p:nvPr/>
        </p:nvSpPr>
        <p:spPr>
          <a:xfrm>
            <a:off x="4370831" y="4761356"/>
            <a:ext cx="1609344" cy="155448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20"/>
          <p:cNvSpPr/>
          <p:nvPr/>
        </p:nvSpPr>
        <p:spPr>
          <a:xfrm>
            <a:off x="4370831" y="4761356"/>
            <a:ext cx="1609344" cy="64008"/>
          </a:xfrm>
          <a:prstGeom prst="rect">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20"/>
          <p:cNvSpPr/>
          <p:nvPr/>
        </p:nvSpPr>
        <p:spPr>
          <a:xfrm>
            <a:off x="4535423" y="4962524"/>
            <a:ext cx="402336" cy="402336"/>
          </a:xfrm>
          <a:prstGeom prst="ellipse">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20"/>
          <p:cNvSpPr txBox="1"/>
          <p:nvPr/>
        </p:nvSpPr>
        <p:spPr>
          <a:xfrm>
            <a:off x="4535423" y="4962524"/>
            <a:ext cx="402336" cy="402336"/>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200" u="none" cap="none" strike="noStrike">
                <a:solidFill>
                  <a:srgbClr val="FFFFFF"/>
                </a:solidFill>
                <a:latin typeface="Arial"/>
                <a:ea typeface="Arial"/>
                <a:cs typeface="Arial"/>
                <a:sym typeface="Arial"/>
              </a:rPr>
              <a:t>3</a:t>
            </a:r>
            <a:endParaRPr/>
          </a:p>
        </p:txBody>
      </p:sp>
      <p:sp>
        <p:nvSpPr>
          <p:cNvPr id="314" name="Google Shape;314;p20"/>
          <p:cNvSpPr txBox="1"/>
          <p:nvPr/>
        </p:nvSpPr>
        <p:spPr>
          <a:xfrm>
            <a:off x="4535423" y="5474588"/>
            <a:ext cx="1335024" cy="22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050" u="none" cap="none" strike="noStrike">
                <a:solidFill>
                  <a:srgbClr val="024791"/>
                </a:solidFill>
                <a:latin typeface="Arial"/>
                <a:ea typeface="Arial"/>
                <a:cs typeface="Arial"/>
                <a:sym typeface="Arial"/>
              </a:rPr>
              <a:t>Adaptación</a:t>
            </a:r>
            <a:endParaRPr/>
          </a:p>
        </p:txBody>
      </p:sp>
      <p:sp>
        <p:nvSpPr>
          <p:cNvPr id="315" name="Google Shape;315;p20"/>
          <p:cNvSpPr txBox="1"/>
          <p:nvPr/>
        </p:nvSpPr>
        <p:spPr>
          <a:xfrm>
            <a:off x="4535423" y="5721476"/>
            <a:ext cx="1335024"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900" u="none" cap="none" strike="noStrike">
                <a:solidFill>
                  <a:srgbClr val="353646"/>
                </a:solidFill>
                <a:latin typeface="Arial"/>
                <a:ea typeface="Arial"/>
                <a:cs typeface="Arial"/>
                <a:sym typeface="Arial"/>
              </a:rPr>
              <a:t>Modificación oportuna de lo que se aprende para generar valor.</a:t>
            </a:r>
            <a:endParaRPr/>
          </a:p>
        </p:txBody>
      </p:sp>
      <p:sp>
        <p:nvSpPr>
          <p:cNvPr id="316" name="Google Shape;316;p20"/>
          <p:cNvSpPr/>
          <p:nvPr/>
        </p:nvSpPr>
        <p:spPr>
          <a:xfrm>
            <a:off x="2340864" y="6506337"/>
            <a:ext cx="2176272" cy="292608"/>
          </a:xfrm>
          <a:prstGeom prst="roundRect">
            <a:avLst>
              <a:gd fmla="val 5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17" name="Google Shape;317;p20"/>
          <p:cNvPicPr preferRelativeResize="0"/>
          <p:nvPr/>
        </p:nvPicPr>
        <p:blipFill rotWithShape="1">
          <a:blip r:embed="rId4">
            <a:alphaModFix/>
          </a:blip>
          <a:srcRect b="0" l="0" r="0" t="0"/>
          <a:stretch/>
        </p:blipFill>
        <p:spPr>
          <a:xfrm>
            <a:off x="2450591" y="6542913"/>
            <a:ext cx="219456" cy="219456"/>
          </a:xfrm>
          <a:prstGeom prst="rect">
            <a:avLst/>
          </a:prstGeom>
          <a:noFill/>
          <a:ln>
            <a:noFill/>
          </a:ln>
        </p:spPr>
      </p:pic>
      <p:sp>
        <p:nvSpPr>
          <p:cNvPr id="318" name="Google Shape;318;p20"/>
          <p:cNvSpPr txBox="1"/>
          <p:nvPr/>
        </p:nvSpPr>
        <p:spPr>
          <a:xfrm>
            <a:off x="2706624" y="6506337"/>
            <a:ext cx="1719072" cy="29260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024791"/>
                </a:solidFill>
                <a:latin typeface="Arial"/>
                <a:ea typeface="Arial"/>
                <a:cs typeface="Arial"/>
                <a:sym typeface="Arial"/>
              </a:rPr>
              <a:t>El ciclo continúa</a:t>
            </a:r>
            <a:endParaRPr/>
          </a:p>
        </p:txBody>
      </p:sp>
      <p:sp>
        <p:nvSpPr>
          <p:cNvPr id="319" name="Google Shape;319;p20"/>
          <p:cNvSpPr/>
          <p:nvPr/>
        </p:nvSpPr>
        <p:spPr>
          <a:xfrm>
            <a:off x="877824" y="7009257"/>
            <a:ext cx="5102352" cy="1057275"/>
          </a:xfrm>
          <a:prstGeom prst="roundRect">
            <a:avLst>
              <a:gd fmla="val 10000" name="adj"/>
            </a:avLst>
          </a:prstGeom>
          <a:solidFill>
            <a:srgbClr val="E9FB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20"/>
          <p:cNvSpPr txBox="1"/>
          <p:nvPr/>
        </p:nvSpPr>
        <p:spPr>
          <a:xfrm>
            <a:off x="1106424" y="7192137"/>
            <a:ext cx="4645152" cy="1828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El principio de interdependencia</a:t>
            </a:r>
            <a:endParaRPr/>
          </a:p>
        </p:txBody>
      </p:sp>
      <p:sp>
        <p:nvSpPr>
          <p:cNvPr id="321" name="Google Shape;321;p20"/>
          <p:cNvSpPr txBox="1"/>
          <p:nvPr/>
        </p:nvSpPr>
        <p:spPr>
          <a:xfrm>
            <a:off x="1106424" y="7420737"/>
            <a:ext cx="4645152" cy="6000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CO" sz="1050" u="none" cap="none" strike="noStrike">
                <a:solidFill>
                  <a:srgbClr val="3D2159"/>
                </a:solidFill>
                <a:latin typeface="Arial"/>
                <a:ea typeface="Arial"/>
                <a:cs typeface="Arial"/>
                <a:sym typeface="Arial"/>
              </a:rPr>
              <a:t>«Inspeccionar pierde su propósito si los hallazgos no conducen a ajustes reales». </a:t>
            </a:r>
            <a:r>
              <a:rPr b="0" i="0" lang="es-CO" sz="1050" u="none" cap="none" strike="noStrike">
                <a:solidFill>
                  <a:srgbClr val="353646"/>
                </a:solidFill>
                <a:latin typeface="Arial"/>
                <a:ea typeface="Arial"/>
                <a:cs typeface="Arial"/>
                <a:sym typeface="Arial"/>
              </a:rPr>
              <a:t>Sin transparencia, la inspección es ciega. Sin adaptación, la inspección pierde su propósito.</a:t>
            </a:r>
            <a:endParaRPr/>
          </a:p>
        </p:txBody>
      </p:sp>
      <p:sp>
        <p:nvSpPr>
          <p:cNvPr id="322" name="Google Shape;322;p20"/>
          <p:cNvSpPr txBox="1"/>
          <p:nvPr/>
        </p:nvSpPr>
        <p:spPr>
          <a:xfrm>
            <a:off x="877824" y="8295132"/>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Fuente: elaboración propia.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1"/>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3 · Trabajar desde los valores ágiles</a:t>
            </a:r>
            <a:endParaRPr b="1" i="0" sz="900" u="none" cap="none" strike="noStrike">
              <a:solidFill>
                <a:srgbClr val="B31686"/>
              </a:solidFill>
              <a:latin typeface="Arial"/>
              <a:ea typeface="Arial"/>
              <a:cs typeface="Arial"/>
              <a:sym typeface="Arial"/>
            </a:endParaRPr>
          </a:p>
        </p:txBody>
      </p:sp>
      <p:sp>
        <p:nvSpPr>
          <p:cNvPr id="328" name="Google Shape;328;p21"/>
          <p:cNvSpPr/>
          <p:nvPr/>
        </p:nvSpPr>
        <p:spPr>
          <a:xfrm>
            <a:off x="876300" y="1409700"/>
            <a:ext cx="5105400" cy="42976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Scrum dentro de la agilidad</a:t>
            </a:r>
            <a:endParaRPr b="0" i="0" sz="1400" u="none" cap="none" strike="noStrike">
              <a:solidFill>
                <a:srgbClr val="000000"/>
              </a:solidFill>
              <a:latin typeface="Arial"/>
              <a:ea typeface="Arial"/>
              <a:cs typeface="Arial"/>
              <a:sym typeface="Arial"/>
            </a:endParaRPr>
          </a:p>
        </p:txBody>
      </p:sp>
      <p:pic>
        <p:nvPicPr>
          <p:cNvPr id="329" name="Google Shape;329;p21"/>
          <p:cNvPicPr preferRelativeResize="0"/>
          <p:nvPr/>
        </p:nvPicPr>
        <p:blipFill rotWithShape="1">
          <a:blip r:embed="rId3">
            <a:alphaModFix/>
          </a:blip>
          <a:srcRect b="0" l="0" r="0" t="0"/>
          <a:stretch/>
        </p:blipFill>
        <p:spPr>
          <a:xfrm>
            <a:off x="869156" y="1956816"/>
            <a:ext cx="1100138" cy="88783"/>
          </a:xfrm>
          <a:prstGeom prst="rect">
            <a:avLst/>
          </a:prstGeom>
          <a:noFill/>
          <a:ln>
            <a:noFill/>
          </a:ln>
        </p:spPr>
      </p:pic>
      <p:sp>
        <p:nvSpPr>
          <p:cNvPr id="330" name="Google Shape;330;p21"/>
          <p:cNvSpPr txBox="1"/>
          <p:nvPr/>
        </p:nvSpPr>
        <p:spPr>
          <a:xfrm>
            <a:off x="877824" y="2368296"/>
            <a:ext cx="5102352" cy="14668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Scrum forma parte de un contexto conceptual más amplio: el movimiento ágil. El Manifiesto Ágil prioriza las personas y sus interacciones, los resultados funcionales, la colaboración con el cliente y la capacidad de responder al cambio. Sus principios amplían esta perspectiva mediante ideas relacionadas con entregas frecuentes, colaboración, sostenibilidad, simplicidad, autoorganización y mejora continua.</a:t>
            </a:r>
            <a:endParaRPr/>
          </a:p>
        </p:txBody>
      </p:sp>
      <p:sp>
        <p:nvSpPr>
          <p:cNvPr id="331" name="Google Shape;331;p21"/>
          <p:cNvSpPr txBox="1"/>
          <p:nvPr/>
        </p:nvSpPr>
        <p:spPr>
          <a:xfrm>
            <a:off x="877824" y="4018026"/>
            <a:ext cx="5102352" cy="2095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Aquí necesitamos establecer una diferencia importante:</a:t>
            </a:r>
            <a:endParaRPr/>
          </a:p>
        </p:txBody>
      </p:sp>
      <p:sp>
        <p:nvSpPr>
          <p:cNvPr id="332" name="Google Shape;332;p21"/>
          <p:cNvSpPr/>
          <p:nvPr/>
        </p:nvSpPr>
        <p:spPr>
          <a:xfrm>
            <a:off x="877824" y="4410456"/>
            <a:ext cx="5102352" cy="822960"/>
          </a:xfrm>
          <a:prstGeom prst="roundRect">
            <a:avLst>
              <a:gd fmla="val 15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21"/>
          <p:cNvSpPr/>
          <p:nvPr/>
        </p:nvSpPr>
        <p:spPr>
          <a:xfrm>
            <a:off x="877824" y="4410456"/>
            <a:ext cx="64008" cy="822960"/>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34" name="Google Shape;334;p21"/>
          <p:cNvPicPr preferRelativeResize="0"/>
          <p:nvPr/>
        </p:nvPicPr>
        <p:blipFill rotWithShape="1">
          <a:blip r:embed="rId4">
            <a:alphaModFix/>
          </a:blip>
          <a:srcRect b="0" l="0" r="0" t="0"/>
          <a:stretch/>
        </p:blipFill>
        <p:spPr>
          <a:xfrm>
            <a:off x="1106424" y="4611624"/>
            <a:ext cx="384048" cy="384048"/>
          </a:xfrm>
          <a:prstGeom prst="rect">
            <a:avLst/>
          </a:prstGeom>
          <a:noFill/>
          <a:ln>
            <a:noFill/>
          </a:ln>
        </p:spPr>
      </p:pic>
      <p:sp>
        <p:nvSpPr>
          <p:cNvPr id="335" name="Google Shape;335;p21"/>
          <p:cNvSpPr txBox="1"/>
          <p:nvPr/>
        </p:nvSpPr>
        <p:spPr>
          <a:xfrm>
            <a:off x="1655064" y="4410456"/>
            <a:ext cx="4142232" cy="82296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1" lang="es-CO" sz="1250" u="none" cap="none" strike="noStrike">
                <a:solidFill>
                  <a:srgbClr val="024791"/>
                </a:solidFill>
                <a:latin typeface="Arial"/>
                <a:ea typeface="Arial"/>
                <a:cs typeface="Arial"/>
                <a:sym typeface="Arial"/>
              </a:rPr>
              <a:t>“Los 12 principios del Manifiesto Ágil no son doce principios propios de Scrum”.</a:t>
            </a:r>
            <a:endParaRPr/>
          </a:p>
        </p:txBody>
      </p:sp>
      <p:sp>
        <p:nvSpPr>
          <p:cNvPr id="336" name="Google Shape;336;p21"/>
          <p:cNvSpPr txBox="1"/>
          <p:nvPr/>
        </p:nvSpPr>
        <p:spPr>
          <a:xfrm>
            <a:off x="877824" y="5462016"/>
            <a:ext cx="5102352" cy="8382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Scrum posee fundamentos específicos: </a:t>
            </a:r>
            <a:r>
              <a:rPr b="1" i="0" lang="es-CO" sz="1100" u="none" cap="none" strike="noStrike">
                <a:solidFill>
                  <a:srgbClr val="3D2159"/>
                </a:solidFill>
                <a:latin typeface="Arial"/>
                <a:ea typeface="Arial"/>
                <a:cs typeface="Arial"/>
                <a:sym typeface="Arial"/>
              </a:rPr>
              <a:t>empirismo, pensamiento Lean, tres pilares y cinco valores</a:t>
            </a:r>
            <a:r>
              <a:rPr b="0" i="0" lang="es-CO" sz="1100" u="none" cap="none" strike="noStrike">
                <a:solidFill>
                  <a:srgbClr val="353646"/>
                </a:solidFill>
                <a:latin typeface="Arial"/>
                <a:ea typeface="Arial"/>
                <a:cs typeface="Arial"/>
                <a:sym typeface="Arial"/>
              </a:rPr>
              <a:t>. Los principios ágiles pertenecen al marco conceptual más amplio dentro del cual Scrum se desarrolla (Schwaber &amp; Sutherland, 2020).</a:t>
            </a:r>
            <a:endParaRPr/>
          </a:p>
        </p:txBody>
      </p:sp>
      <p:sp>
        <p:nvSpPr>
          <p:cNvPr id="337" name="Google Shape;337;p21"/>
          <p:cNvSpPr txBox="1"/>
          <p:nvPr/>
        </p:nvSpPr>
        <p:spPr>
          <a:xfrm>
            <a:off x="877824" y="6483096"/>
            <a:ext cx="5102352" cy="6286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Esta distinción nos permitirá evitar una confusión frecuente y comprender que Scrum concreta la agilidad mediante una estructura particular de responsabilidades, eventos y artefactos.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2"/>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3 · Trabajar desde los valores ágiles</a:t>
            </a:r>
            <a:endParaRPr b="1" i="0" sz="900" u="none" cap="none" strike="noStrike">
              <a:solidFill>
                <a:srgbClr val="B31686"/>
              </a:solidFill>
              <a:latin typeface="Arial"/>
              <a:ea typeface="Arial"/>
              <a:cs typeface="Arial"/>
              <a:sym typeface="Arial"/>
            </a:endParaRPr>
          </a:p>
        </p:txBody>
      </p:sp>
      <p:sp>
        <p:nvSpPr>
          <p:cNvPr id="343" name="Google Shape;343;p22"/>
          <p:cNvSpPr/>
          <p:nvPr/>
        </p:nvSpPr>
        <p:spPr>
          <a:xfrm>
            <a:off x="876300" y="1409700"/>
            <a:ext cx="5105400" cy="813816"/>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Los valores que sostienen el trabajo</a:t>
            </a:r>
            <a:endParaRPr b="0" i="0" sz="1400" u="none" cap="none" strike="noStrike">
              <a:solidFill>
                <a:srgbClr val="000000"/>
              </a:solidFill>
              <a:latin typeface="Arial"/>
              <a:ea typeface="Arial"/>
              <a:cs typeface="Arial"/>
              <a:sym typeface="Arial"/>
            </a:endParaRPr>
          </a:p>
        </p:txBody>
      </p:sp>
      <p:pic>
        <p:nvPicPr>
          <p:cNvPr id="344" name="Google Shape;344;p22"/>
          <p:cNvPicPr preferRelativeResize="0"/>
          <p:nvPr/>
        </p:nvPicPr>
        <p:blipFill rotWithShape="1">
          <a:blip r:embed="rId3">
            <a:alphaModFix/>
          </a:blip>
          <a:srcRect b="0" l="0" r="0" t="0"/>
          <a:stretch/>
        </p:blipFill>
        <p:spPr>
          <a:xfrm>
            <a:off x="869156" y="2340864"/>
            <a:ext cx="1100138" cy="88783"/>
          </a:xfrm>
          <a:prstGeom prst="rect">
            <a:avLst/>
          </a:prstGeom>
          <a:noFill/>
          <a:ln>
            <a:noFill/>
          </a:ln>
        </p:spPr>
      </p:pic>
      <p:sp>
        <p:nvSpPr>
          <p:cNvPr id="345" name="Google Shape;345;p22"/>
          <p:cNvSpPr txBox="1"/>
          <p:nvPr/>
        </p:nvSpPr>
        <p:spPr>
          <a:xfrm>
            <a:off x="877824" y="2752344"/>
            <a:ext cx="5102352" cy="8382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Una estructura de trabajo no funciona únicamente porque existan reglas o eventos. Scrum reconoce cinco valores que orientan el comportamiento y las relaciones dentro del equipo: compromiso, enfoque, apertura, respeto y coraje (Schwaber &amp; Sutherland, 2020).</a:t>
            </a:r>
            <a:endParaRPr/>
          </a:p>
        </p:txBody>
      </p:sp>
      <p:sp>
        <p:nvSpPr>
          <p:cNvPr id="346" name="Google Shape;346;p22"/>
          <p:cNvSpPr txBox="1"/>
          <p:nvPr/>
        </p:nvSpPr>
        <p:spPr>
          <a:xfrm>
            <a:off x="877824" y="3773424"/>
            <a:ext cx="5102352" cy="14668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Compromiso implica asumir responsabilidad frente a los objetivos compartidos. Enfoque supone concentrarnos en aquello que resulta prioritario. Apertura requiere comunicar avances, dificultades y aprendizajes. Respeto implica reconocer las capacidades y responsabilidades de quienes integran el equipo. Finalmente, coraje supone afrontar problemas, comunicar situaciones difíciles y realizar cambios cuando son necesarios.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3"/>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Tema 3 · Trabajar desde los valores ágiles</a:t>
            </a:r>
            <a:endParaRPr b="1" i="0" sz="900" u="none" cap="none" strike="noStrike">
              <a:solidFill>
                <a:srgbClr val="B31686"/>
              </a:solidFill>
              <a:latin typeface="Arial"/>
              <a:ea typeface="Arial"/>
              <a:cs typeface="Arial"/>
              <a:sym typeface="Arial"/>
            </a:endParaRPr>
          </a:p>
        </p:txBody>
      </p:sp>
      <p:sp>
        <p:nvSpPr>
          <p:cNvPr id="352" name="Google Shape;352;p23"/>
          <p:cNvSpPr txBox="1"/>
          <p:nvPr/>
        </p:nvSpPr>
        <p:spPr>
          <a:xfrm>
            <a:off x="877824" y="148132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FUNDAMENTOS DE SCRUM · CULTURA Y EMPIRISMO</a:t>
            </a:r>
            <a:endParaRPr/>
          </a:p>
        </p:txBody>
      </p:sp>
      <p:sp>
        <p:nvSpPr>
          <p:cNvPr id="353" name="Google Shape;353;p23"/>
          <p:cNvSpPr txBox="1"/>
          <p:nvPr/>
        </p:nvSpPr>
        <p:spPr>
          <a:xfrm>
            <a:off x="877824" y="1755648"/>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Valores que hacen posible el empirismo</a:t>
            </a:r>
            <a:endParaRPr/>
          </a:p>
        </p:txBody>
      </p:sp>
      <p:sp>
        <p:nvSpPr>
          <p:cNvPr id="354" name="Google Shape;354;p23"/>
          <p:cNvSpPr txBox="1"/>
          <p:nvPr/>
        </p:nvSpPr>
        <p:spPr>
          <a:xfrm>
            <a:off x="877824" y="2077593"/>
            <a:ext cx="5102352" cy="400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Cómo la confianza, el respeto y el coraje construyen el entorno humano necesario para inspeccionar con honestidad y adaptar el rumbo.</a:t>
            </a:r>
            <a:endParaRPr/>
          </a:p>
        </p:txBody>
      </p:sp>
      <p:sp>
        <p:nvSpPr>
          <p:cNvPr id="355" name="Google Shape;355;p23"/>
          <p:cNvSpPr txBox="1"/>
          <p:nvPr/>
        </p:nvSpPr>
        <p:spPr>
          <a:xfrm>
            <a:off x="877824" y="2678811"/>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01 · LOS 5 VALORES DE SCRUM (LA BASE HUMANA)</a:t>
            </a:r>
            <a:endParaRPr/>
          </a:p>
        </p:txBody>
      </p:sp>
      <p:sp>
        <p:nvSpPr>
          <p:cNvPr id="356" name="Google Shape;356;p23"/>
          <p:cNvSpPr/>
          <p:nvPr/>
        </p:nvSpPr>
        <p:spPr>
          <a:xfrm>
            <a:off x="877824" y="2971419"/>
            <a:ext cx="961948" cy="384048"/>
          </a:xfrm>
          <a:prstGeom prst="roundRect">
            <a:avLst>
              <a:gd fmla="val 4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23"/>
          <p:cNvSpPr txBox="1"/>
          <p:nvPr/>
        </p:nvSpPr>
        <p:spPr>
          <a:xfrm>
            <a:off x="877824" y="2971419"/>
            <a:ext cx="961948"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00" u="none" cap="none" strike="noStrike">
                <a:solidFill>
                  <a:srgbClr val="664092"/>
                </a:solidFill>
                <a:latin typeface="Arial"/>
                <a:ea typeface="Arial"/>
                <a:cs typeface="Arial"/>
                <a:sym typeface="Arial"/>
              </a:rPr>
              <a:t>Compromiso</a:t>
            </a:r>
            <a:endParaRPr/>
          </a:p>
        </p:txBody>
      </p:sp>
      <p:sp>
        <p:nvSpPr>
          <p:cNvPr id="358" name="Google Shape;358;p23"/>
          <p:cNvSpPr/>
          <p:nvPr/>
        </p:nvSpPr>
        <p:spPr>
          <a:xfrm>
            <a:off x="1912924" y="2971419"/>
            <a:ext cx="961948" cy="384048"/>
          </a:xfrm>
          <a:prstGeom prst="roundRect">
            <a:avLst>
              <a:gd fmla="val 4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23"/>
          <p:cNvSpPr txBox="1"/>
          <p:nvPr/>
        </p:nvSpPr>
        <p:spPr>
          <a:xfrm>
            <a:off x="1912924" y="2971419"/>
            <a:ext cx="961948"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00" u="none" cap="none" strike="noStrike">
                <a:solidFill>
                  <a:srgbClr val="664092"/>
                </a:solidFill>
                <a:latin typeface="Arial"/>
                <a:ea typeface="Arial"/>
                <a:cs typeface="Arial"/>
                <a:sym typeface="Arial"/>
              </a:rPr>
              <a:t>Enfoque</a:t>
            </a:r>
            <a:endParaRPr/>
          </a:p>
        </p:txBody>
      </p:sp>
      <p:sp>
        <p:nvSpPr>
          <p:cNvPr id="360" name="Google Shape;360;p23"/>
          <p:cNvSpPr/>
          <p:nvPr/>
        </p:nvSpPr>
        <p:spPr>
          <a:xfrm>
            <a:off x="2948025" y="2971419"/>
            <a:ext cx="961948" cy="384048"/>
          </a:xfrm>
          <a:prstGeom prst="roundRect">
            <a:avLst>
              <a:gd fmla="val 4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23"/>
          <p:cNvSpPr txBox="1"/>
          <p:nvPr/>
        </p:nvSpPr>
        <p:spPr>
          <a:xfrm>
            <a:off x="2948025" y="2971419"/>
            <a:ext cx="961948"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00" u="none" cap="none" strike="noStrike">
                <a:solidFill>
                  <a:srgbClr val="664092"/>
                </a:solidFill>
                <a:latin typeface="Arial"/>
                <a:ea typeface="Arial"/>
                <a:cs typeface="Arial"/>
                <a:sym typeface="Arial"/>
              </a:rPr>
              <a:t>Apertura</a:t>
            </a:r>
            <a:endParaRPr/>
          </a:p>
        </p:txBody>
      </p:sp>
      <p:sp>
        <p:nvSpPr>
          <p:cNvPr id="362" name="Google Shape;362;p23"/>
          <p:cNvSpPr/>
          <p:nvPr/>
        </p:nvSpPr>
        <p:spPr>
          <a:xfrm>
            <a:off x="3983126" y="2971419"/>
            <a:ext cx="961948" cy="384048"/>
          </a:xfrm>
          <a:prstGeom prst="roundRect">
            <a:avLst>
              <a:gd fmla="val 4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23"/>
          <p:cNvSpPr txBox="1"/>
          <p:nvPr/>
        </p:nvSpPr>
        <p:spPr>
          <a:xfrm>
            <a:off x="3983126" y="2971419"/>
            <a:ext cx="961948"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00" u="none" cap="none" strike="noStrike">
                <a:solidFill>
                  <a:srgbClr val="664092"/>
                </a:solidFill>
                <a:latin typeface="Arial"/>
                <a:ea typeface="Arial"/>
                <a:cs typeface="Arial"/>
                <a:sym typeface="Arial"/>
              </a:rPr>
              <a:t>Respeto</a:t>
            </a:r>
            <a:endParaRPr/>
          </a:p>
        </p:txBody>
      </p:sp>
      <p:sp>
        <p:nvSpPr>
          <p:cNvPr id="364" name="Google Shape;364;p23"/>
          <p:cNvSpPr/>
          <p:nvPr/>
        </p:nvSpPr>
        <p:spPr>
          <a:xfrm>
            <a:off x="5018227" y="2971419"/>
            <a:ext cx="961948" cy="384048"/>
          </a:xfrm>
          <a:prstGeom prst="roundRect">
            <a:avLst>
              <a:gd fmla="val 4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23"/>
          <p:cNvSpPr txBox="1"/>
          <p:nvPr/>
        </p:nvSpPr>
        <p:spPr>
          <a:xfrm>
            <a:off x="5018227" y="2971419"/>
            <a:ext cx="961948"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00" u="none" cap="none" strike="noStrike">
                <a:solidFill>
                  <a:srgbClr val="664092"/>
                </a:solidFill>
                <a:latin typeface="Arial"/>
                <a:ea typeface="Arial"/>
                <a:cs typeface="Arial"/>
                <a:sym typeface="Arial"/>
              </a:rPr>
              <a:t>Coraje</a:t>
            </a:r>
            <a:endParaRPr/>
          </a:p>
        </p:txBody>
      </p:sp>
      <p:sp>
        <p:nvSpPr>
          <p:cNvPr id="366" name="Google Shape;366;p23"/>
          <p:cNvSpPr txBox="1"/>
          <p:nvPr/>
        </p:nvSpPr>
        <p:spPr>
          <a:xfrm>
            <a:off x="877824" y="3428619"/>
            <a:ext cx="5102352" cy="20116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Habilitan ↓</a:t>
            </a:r>
            <a:endParaRPr/>
          </a:p>
        </p:txBody>
      </p:sp>
      <p:sp>
        <p:nvSpPr>
          <p:cNvPr id="367" name="Google Shape;367;p23"/>
          <p:cNvSpPr txBox="1"/>
          <p:nvPr/>
        </p:nvSpPr>
        <p:spPr>
          <a:xfrm>
            <a:off x="877824" y="3721227"/>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02 · RELACIONES DE TRABAJO QUE FAVORECEN EL EMPIRISMO</a:t>
            </a:r>
            <a:endParaRPr/>
          </a:p>
        </p:txBody>
      </p:sp>
      <p:sp>
        <p:nvSpPr>
          <p:cNvPr id="368" name="Google Shape;368;p23"/>
          <p:cNvSpPr/>
          <p:nvPr/>
        </p:nvSpPr>
        <p:spPr>
          <a:xfrm>
            <a:off x="877824" y="4013835"/>
            <a:ext cx="1609344" cy="118872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23"/>
          <p:cNvSpPr txBox="1"/>
          <p:nvPr/>
        </p:nvSpPr>
        <p:spPr>
          <a:xfrm>
            <a:off x="1005840" y="4123563"/>
            <a:ext cx="135331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Confianza mutua</a:t>
            </a:r>
            <a:endParaRPr/>
          </a:p>
        </p:txBody>
      </p:sp>
      <p:sp>
        <p:nvSpPr>
          <p:cNvPr id="370" name="Google Shape;370;p23"/>
          <p:cNvSpPr txBox="1"/>
          <p:nvPr/>
        </p:nvSpPr>
        <p:spPr>
          <a:xfrm>
            <a:off x="1005840" y="4471035"/>
            <a:ext cx="1353312" cy="7315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850" u="none" cap="none" strike="noStrike">
                <a:solidFill>
                  <a:srgbClr val="353646"/>
                </a:solidFill>
                <a:latin typeface="Arial"/>
                <a:ea typeface="Arial"/>
                <a:cs typeface="Arial"/>
                <a:sym typeface="Arial"/>
              </a:rPr>
              <a:t>Seguridad psicológica para exponer la realidad del trabajo sin miedo al castigo.</a:t>
            </a:r>
            <a:endParaRPr/>
          </a:p>
        </p:txBody>
      </p:sp>
      <p:sp>
        <p:nvSpPr>
          <p:cNvPr id="371" name="Google Shape;371;p23"/>
          <p:cNvSpPr/>
          <p:nvPr/>
        </p:nvSpPr>
        <p:spPr>
          <a:xfrm>
            <a:off x="2624328" y="4013835"/>
            <a:ext cx="1609344" cy="118872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23"/>
          <p:cNvSpPr txBox="1"/>
          <p:nvPr/>
        </p:nvSpPr>
        <p:spPr>
          <a:xfrm>
            <a:off x="2752344" y="4123563"/>
            <a:ext cx="135331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Responsabilidad compartida</a:t>
            </a:r>
            <a:endParaRPr/>
          </a:p>
        </p:txBody>
      </p:sp>
      <p:sp>
        <p:nvSpPr>
          <p:cNvPr id="373" name="Google Shape;373;p23"/>
          <p:cNvSpPr txBox="1"/>
          <p:nvPr/>
        </p:nvSpPr>
        <p:spPr>
          <a:xfrm>
            <a:off x="2752344" y="4471035"/>
            <a:ext cx="1353312" cy="7315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850" u="none" cap="none" strike="noStrike">
                <a:solidFill>
                  <a:srgbClr val="353646"/>
                </a:solidFill>
                <a:latin typeface="Arial"/>
                <a:ea typeface="Arial"/>
                <a:cs typeface="Arial"/>
                <a:sym typeface="Arial"/>
              </a:rPr>
              <a:t>Sentido colectivo del resultado por encima del cumplimiento individual aislado.</a:t>
            </a:r>
            <a:endParaRPr/>
          </a:p>
        </p:txBody>
      </p:sp>
      <p:sp>
        <p:nvSpPr>
          <p:cNvPr id="374" name="Google Shape;374;p23"/>
          <p:cNvSpPr/>
          <p:nvPr/>
        </p:nvSpPr>
        <p:spPr>
          <a:xfrm>
            <a:off x="4370831" y="4013835"/>
            <a:ext cx="1609344" cy="1188720"/>
          </a:xfrm>
          <a:prstGeom prst="roundRect">
            <a:avLst>
              <a:gd fmla="val 10000" name="adj"/>
            </a:avLst>
          </a:prstGeom>
          <a:solidFill>
            <a:srgbClr val="FFFFFF"/>
          </a:solidFill>
          <a:ln cap="flat" cmpd="sng" w="12700">
            <a:solidFill>
              <a:srgbClr val="D9DC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23"/>
          <p:cNvSpPr txBox="1"/>
          <p:nvPr/>
        </p:nvSpPr>
        <p:spPr>
          <a:xfrm>
            <a:off x="4498847" y="4123563"/>
            <a:ext cx="1353312"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Comunicación honesta</a:t>
            </a:r>
            <a:endParaRPr/>
          </a:p>
        </p:txBody>
      </p:sp>
      <p:sp>
        <p:nvSpPr>
          <p:cNvPr id="376" name="Google Shape;376;p23"/>
          <p:cNvSpPr txBox="1"/>
          <p:nvPr/>
        </p:nvSpPr>
        <p:spPr>
          <a:xfrm>
            <a:off x="4498847" y="4471035"/>
            <a:ext cx="1353312" cy="7315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CO" sz="850" u="none" cap="none" strike="noStrike">
                <a:solidFill>
                  <a:srgbClr val="353646"/>
                </a:solidFill>
                <a:latin typeface="Arial"/>
                <a:ea typeface="Arial"/>
                <a:cs typeface="Arial"/>
                <a:sym typeface="Arial"/>
              </a:rPr>
              <a:t>Capacidad de visibilizar desvíos e incertidumbres con prontitud.</a:t>
            </a:r>
            <a:endParaRPr/>
          </a:p>
        </p:txBody>
      </p:sp>
      <p:sp>
        <p:nvSpPr>
          <p:cNvPr id="377" name="Google Shape;377;p23"/>
          <p:cNvSpPr txBox="1"/>
          <p:nvPr/>
        </p:nvSpPr>
        <p:spPr>
          <a:xfrm>
            <a:off x="877824" y="5275707"/>
            <a:ext cx="5102352" cy="20116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Hacen posible ↓</a:t>
            </a:r>
            <a:endParaRPr/>
          </a:p>
        </p:txBody>
      </p:sp>
      <p:sp>
        <p:nvSpPr>
          <p:cNvPr id="378" name="Google Shape;378;p23"/>
          <p:cNvSpPr txBox="1"/>
          <p:nvPr/>
        </p:nvSpPr>
        <p:spPr>
          <a:xfrm>
            <a:off x="877824" y="5568315"/>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03 · EL RESULTADO EMPÍRICO</a:t>
            </a:r>
            <a:endParaRPr/>
          </a:p>
        </p:txBody>
      </p:sp>
      <p:sp>
        <p:nvSpPr>
          <p:cNvPr id="379" name="Google Shape;379;p23"/>
          <p:cNvSpPr/>
          <p:nvPr/>
        </p:nvSpPr>
        <p:spPr>
          <a:xfrm>
            <a:off x="877824" y="5860923"/>
            <a:ext cx="1609344" cy="384048"/>
          </a:xfrm>
          <a:prstGeom prst="roundRect">
            <a:avLst>
              <a:gd fmla="val 4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23"/>
          <p:cNvSpPr txBox="1"/>
          <p:nvPr/>
        </p:nvSpPr>
        <p:spPr>
          <a:xfrm>
            <a:off x="877824" y="5860923"/>
            <a:ext cx="1609344"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FFFFFF"/>
                </a:solidFill>
                <a:latin typeface="Arial"/>
                <a:ea typeface="Arial"/>
                <a:cs typeface="Arial"/>
                <a:sym typeface="Arial"/>
              </a:rPr>
              <a:t>Transparencia</a:t>
            </a:r>
            <a:endParaRPr/>
          </a:p>
        </p:txBody>
      </p:sp>
      <p:sp>
        <p:nvSpPr>
          <p:cNvPr id="381" name="Google Shape;381;p23"/>
          <p:cNvSpPr/>
          <p:nvPr/>
        </p:nvSpPr>
        <p:spPr>
          <a:xfrm>
            <a:off x="2624328" y="5860923"/>
            <a:ext cx="1609344" cy="384048"/>
          </a:xfrm>
          <a:prstGeom prst="roundRect">
            <a:avLst>
              <a:gd fmla="val 4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23"/>
          <p:cNvSpPr txBox="1"/>
          <p:nvPr/>
        </p:nvSpPr>
        <p:spPr>
          <a:xfrm>
            <a:off x="2624328" y="5860923"/>
            <a:ext cx="1609344"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FFFFFF"/>
                </a:solidFill>
                <a:latin typeface="Arial"/>
                <a:ea typeface="Arial"/>
                <a:cs typeface="Arial"/>
                <a:sym typeface="Arial"/>
              </a:rPr>
              <a:t>Inspección</a:t>
            </a:r>
            <a:endParaRPr/>
          </a:p>
        </p:txBody>
      </p:sp>
      <p:sp>
        <p:nvSpPr>
          <p:cNvPr id="383" name="Google Shape;383;p23"/>
          <p:cNvSpPr/>
          <p:nvPr/>
        </p:nvSpPr>
        <p:spPr>
          <a:xfrm>
            <a:off x="4370831" y="5860923"/>
            <a:ext cx="1609344" cy="384048"/>
          </a:xfrm>
          <a:prstGeom prst="roundRect">
            <a:avLst>
              <a:gd fmla="val 40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23"/>
          <p:cNvSpPr txBox="1"/>
          <p:nvPr/>
        </p:nvSpPr>
        <p:spPr>
          <a:xfrm>
            <a:off x="4370831" y="5860923"/>
            <a:ext cx="1609344" cy="38404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FFFFFF"/>
                </a:solidFill>
                <a:latin typeface="Arial"/>
                <a:ea typeface="Arial"/>
                <a:cs typeface="Arial"/>
                <a:sym typeface="Arial"/>
              </a:rPr>
              <a:t>Adaptación</a:t>
            </a:r>
            <a:endParaRPr/>
          </a:p>
        </p:txBody>
      </p:sp>
      <p:sp>
        <p:nvSpPr>
          <p:cNvPr id="385" name="Google Shape;385;p23"/>
          <p:cNvSpPr txBox="1"/>
          <p:nvPr/>
        </p:nvSpPr>
        <p:spPr>
          <a:xfrm>
            <a:off x="877824" y="6318123"/>
            <a:ext cx="5102352" cy="3619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950" u="none" cap="none" strike="noStrike">
                <a:solidFill>
                  <a:srgbClr val="353646"/>
                </a:solidFill>
                <a:latin typeface="Arial"/>
                <a:ea typeface="Arial"/>
                <a:cs typeface="Arial"/>
                <a:sym typeface="Arial"/>
              </a:rPr>
              <a:t>El equipo cuenta con la madurez para ver lo que verdaderamente ocurre, examinarlo con rigor y ajustar sus decisiones oportunamente.</a:t>
            </a:r>
            <a:endParaRPr/>
          </a:p>
        </p:txBody>
      </p:sp>
      <p:sp>
        <p:nvSpPr>
          <p:cNvPr id="386" name="Google Shape;386;p23"/>
          <p:cNvSpPr txBox="1"/>
          <p:nvPr/>
        </p:nvSpPr>
        <p:spPr>
          <a:xfrm>
            <a:off x="877824" y="6771513"/>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Nota. Elaboración basada en Schwaber y Sutherland (2020).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4"/>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Síntesis</a:t>
            </a:r>
            <a:endParaRPr b="1" i="0" sz="900" u="none" cap="none" strike="noStrike">
              <a:solidFill>
                <a:srgbClr val="B31686"/>
              </a:solidFill>
              <a:latin typeface="Arial"/>
              <a:ea typeface="Arial"/>
              <a:cs typeface="Arial"/>
              <a:sym typeface="Arial"/>
            </a:endParaRPr>
          </a:p>
        </p:txBody>
      </p:sp>
      <p:sp>
        <p:nvSpPr>
          <p:cNvPr id="392" name="Google Shape;392;p24"/>
          <p:cNvSpPr/>
          <p:nvPr/>
        </p:nvSpPr>
        <p:spPr>
          <a:xfrm>
            <a:off x="876300" y="1409700"/>
            <a:ext cx="5105400" cy="42976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Para integrar lo aprendido</a:t>
            </a:r>
            <a:endParaRPr b="0" i="0" sz="1400" u="none" cap="none" strike="noStrike">
              <a:solidFill>
                <a:srgbClr val="000000"/>
              </a:solidFill>
              <a:latin typeface="Arial"/>
              <a:ea typeface="Arial"/>
              <a:cs typeface="Arial"/>
              <a:sym typeface="Arial"/>
            </a:endParaRPr>
          </a:p>
        </p:txBody>
      </p:sp>
      <p:pic>
        <p:nvPicPr>
          <p:cNvPr id="393" name="Google Shape;393;p24"/>
          <p:cNvPicPr preferRelativeResize="0"/>
          <p:nvPr/>
        </p:nvPicPr>
        <p:blipFill rotWithShape="1">
          <a:blip r:embed="rId3">
            <a:alphaModFix/>
          </a:blip>
          <a:srcRect b="0" l="0" r="0" t="0"/>
          <a:stretch/>
        </p:blipFill>
        <p:spPr>
          <a:xfrm>
            <a:off x="869156" y="1956816"/>
            <a:ext cx="1100138" cy="88783"/>
          </a:xfrm>
          <a:prstGeom prst="rect">
            <a:avLst/>
          </a:prstGeom>
          <a:noFill/>
          <a:ln>
            <a:noFill/>
          </a:ln>
        </p:spPr>
      </p:pic>
      <p:sp>
        <p:nvSpPr>
          <p:cNvPr id="394" name="Google Shape;394;p24"/>
          <p:cNvSpPr txBox="1"/>
          <p:nvPr/>
        </p:nvSpPr>
        <p:spPr>
          <a:xfrm>
            <a:off x="877824" y="2368296"/>
            <a:ext cx="5102352" cy="1676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s-CO" sz="1100" u="none" cap="none" strike="noStrike">
                <a:solidFill>
                  <a:srgbClr val="353646"/>
                </a:solidFill>
                <a:latin typeface="Arial"/>
                <a:ea typeface="Arial"/>
                <a:cs typeface="Arial"/>
                <a:sym typeface="Arial"/>
              </a:rPr>
              <a:t>Comprender Scrum implica superar la idea de que se trata únicamente de trabajar más rápido, realizar reuniones frecuentes o dividir un proyecto en ciclos. Su funcionamiento se construye sobre una lógica en la que la experiencia genera información, esta información permite inspeccionar y el aprendizaje conduce a la adaptación. Esta dinámica hace posible gestionar el trabajo sin esperar hasta el final del proyecto para descubrir si las decisiones tomadas fueron pertinentes (Sutherland, 2016).</a:t>
            </a:r>
            <a:endParaRPr/>
          </a:p>
        </p:txBody>
      </p:sp>
      <p:sp>
        <p:nvSpPr>
          <p:cNvPr id="395" name="Google Shape;395;p24"/>
          <p:cNvSpPr/>
          <p:nvPr/>
        </p:nvSpPr>
        <p:spPr>
          <a:xfrm>
            <a:off x="877824" y="4227576"/>
            <a:ext cx="5102352" cy="1409700"/>
          </a:xfrm>
          <a:prstGeom prst="roundRect">
            <a:avLst>
              <a:gd fmla="val 10000" name="adj"/>
            </a:avLst>
          </a:prstGeom>
          <a:solidFill>
            <a:srgbClr val="E9FB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24"/>
          <p:cNvSpPr txBox="1"/>
          <p:nvPr/>
        </p:nvSpPr>
        <p:spPr>
          <a:xfrm>
            <a:off x="1106424" y="4410456"/>
            <a:ext cx="4645152" cy="1828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El criterio de fondo · Los valores no son decorativos</a:t>
            </a:r>
            <a:endParaRPr/>
          </a:p>
        </p:txBody>
      </p:sp>
      <p:sp>
        <p:nvSpPr>
          <p:cNvPr id="397" name="Google Shape;397;p24"/>
          <p:cNvSpPr txBox="1"/>
          <p:nvPr/>
        </p:nvSpPr>
        <p:spPr>
          <a:xfrm>
            <a:off x="1106424" y="4639056"/>
            <a:ext cx="4645152" cy="952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CO" sz="1000" u="none" cap="none" strike="noStrike">
                <a:solidFill>
                  <a:srgbClr val="3D2159"/>
                </a:solidFill>
                <a:latin typeface="Arial"/>
                <a:ea typeface="Arial"/>
                <a:cs typeface="Arial"/>
                <a:sym typeface="Arial"/>
              </a:rPr>
              <a:t>Los valores, por tanto, no constituyen un elemento decorativo del marco. Sin condiciones que favorezcan la confianza, la responsabilidad y la comunicación, resulta mucho más difícil hacer visible lo que realmente ocurre y adaptar el trabajo a partir de la experiencia.</a:t>
            </a:r>
            <a:endParaRPr/>
          </a:p>
        </p:txBody>
      </p:sp>
      <p:sp>
        <p:nvSpPr>
          <p:cNvPr id="398" name="Google Shape;398;p24"/>
          <p:cNvSpPr txBox="1"/>
          <p:nvPr/>
        </p:nvSpPr>
        <p:spPr>
          <a:xfrm>
            <a:off x="877824" y="5865876"/>
            <a:ext cx="5102352" cy="6000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s-CO" sz="1050" u="none" cap="none" strike="noStrike">
                <a:solidFill>
                  <a:srgbClr val="3D2159"/>
                </a:solidFill>
                <a:latin typeface="Arial"/>
                <a:ea typeface="Arial"/>
                <a:cs typeface="Arial"/>
                <a:sym typeface="Arial"/>
              </a:rPr>
              <a:t>El empirismo no es un método técnico frío: es una disciplina humana que exige coraje para reconocer la verdad y honestidad para cambiar de rumbo.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5"/>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Síntesis</a:t>
            </a:r>
            <a:endParaRPr b="1" i="0" sz="900" u="none" cap="none" strike="noStrike">
              <a:solidFill>
                <a:srgbClr val="B31686"/>
              </a:solidFill>
              <a:latin typeface="Arial"/>
              <a:ea typeface="Arial"/>
              <a:cs typeface="Arial"/>
              <a:sym typeface="Arial"/>
            </a:endParaRPr>
          </a:p>
        </p:txBody>
      </p:sp>
      <p:sp>
        <p:nvSpPr>
          <p:cNvPr id="404" name="Google Shape;404;p25"/>
          <p:cNvSpPr txBox="1"/>
          <p:nvPr/>
        </p:nvSpPr>
        <p:spPr>
          <a:xfrm>
            <a:off x="877824" y="148132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INTEGRACIÓN CONCEPTUAL DE SCRUM</a:t>
            </a:r>
            <a:endParaRPr/>
          </a:p>
        </p:txBody>
      </p:sp>
      <p:sp>
        <p:nvSpPr>
          <p:cNvPr id="405" name="Google Shape;405;p25"/>
          <p:cNvSpPr txBox="1"/>
          <p:nvPr/>
        </p:nvSpPr>
        <p:spPr>
          <a:xfrm>
            <a:off x="877824" y="1755648"/>
            <a:ext cx="5102352" cy="2762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1450" u="none" cap="none" strike="noStrike">
                <a:solidFill>
                  <a:srgbClr val="3D2159"/>
                </a:solidFill>
                <a:latin typeface="Arial"/>
                <a:ea typeface="Arial"/>
                <a:cs typeface="Arial"/>
                <a:sym typeface="Arial"/>
              </a:rPr>
              <a:t>La arquitectura sistémica de Scrum</a:t>
            </a:r>
            <a:endParaRPr/>
          </a:p>
        </p:txBody>
      </p:sp>
      <p:sp>
        <p:nvSpPr>
          <p:cNvPr id="406" name="Google Shape;406;p25"/>
          <p:cNvSpPr txBox="1"/>
          <p:nvPr/>
        </p:nvSpPr>
        <p:spPr>
          <a:xfrm>
            <a:off x="877824" y="2077593"/>
            <a:ext cx="5102352" cy="2000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s-CO" sz="1050" u="none" cap="none" strike="noStrike">
                <a:solidFill>
                  <a:srgbClr val="5F5966"/>
                </a:solidFill>
                <a:latin typeface="Arial"/>
                <a:ea typeface="Arial"/>
                <a:cs typeface="Arial"/>
                <a:sym typeface="Arial"/>
              </a:rPr>
              <a:t>De las bases filosóficas a la generación de valor.</a:t>
            </a:r>
            <a:endParaRPr/>
          </a:p>
        </p:txBody>
      </p:sp>
      <p:sp>
        <p:nvSpPr>
          <p:cNvPr id="407" name="Google Shape;407;p25"/>
          <p:cNvSpPr txBox="1"/>
          <p:nvPr/>
        </p:nvSpPr>
        <p:spPr>
          <a:xfrm>
            <a:off x="877824" y="2478786"/>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664092"/>
                </a:solidFill>
                <a:latin typeface="Arial"/>
                <a:ea typeface="Arial"/>
                <a:cs typeface="Arial"/>
                <a:sym typeface="Arial"/>
              </a:rPr>
              <a:t>Nivel 1 · El cimiento teórico</a:t>
            </a:r>
            <a:endParaRPr/>
          </a:p>
        </p:txBody>
      </p:sp>
      <p:sp>
        <p:nvSpPr>
          <p:cNvPr id="408" name="Google Shape;408;p25"/>
          <p:cNvSpPr/>
          <p:nvPr/>
        </p:nvSpPr>
        <p:spPr>
          <a:xfrm>
            <a:off x="877824" y="2734818"/>
            <a:ext cx="2514600" cy="713232"/>
          </a:xfrm>
          <a:prstGeom prst="roundRect">
            <a:avLst>
              <a:gd fmla="val 1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25"/>
          <p:cNvSpPr txBox="1"/>
          <p:nvPr/>
        </p:nvSpPr>
        <p:spPr>
          <a:xfrm>
            <a:off x="950976" y="2807970"/>
            <a:ext cx="2368296"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664092"/>
                </a:solidFill>
                <a:latin typeface="Arial"/>
                <a:ea typeface="Arial"/>
                <a:cs typeface="Arial"/>
                <a:sym typeface="Arial"/>
              </a:rPr>
              <a:t>Empirismo</a:t>
            </a:r>
            <a:endParaRPr/>
          </a:p>
        </p:txBody>
      </p:sp>
      <p:sp>
        <p:nvSpPr>
          <p:cNvPr id="410" name="Google Shape;410;p25"/>
          <p:cNvSpPr txBox="1"/>
          <p:nvPr/>
        </p:nvSpPr>
        <p:spPr>
          <a:xfrm>
            <a:off x="950976" y="3064002"/>
            <a:ext cx="2368296" cy="34747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50" u="none" cap="none" strike="noStrike">
                <a:solidFill>
                  <a:srgbClr val="353646"/>
                </a:solidFill>
                <a:latin typeface="Arial"/>
                <a:ea typeface="Arial"/>
                <a:cs typeface="Arial"/>
                <a:sym typeface="Arial"/>
              </a:rPr>
              <a:t>Aprender de la experiencia y la evidencia.</a:t>
            </a:r>
            <a:endParaRPr/>
          </a:p>
        </p:txBody>
      </p:sp>
      <p:sp>
        <p:nvSpPr>
          <p:cNvPr id="411" name="Google Shape;411;p25"/>
          <p:cNvSpPr/>
          <p:nvPr/>
        </p:nvSpPr>
        <p:spPr>
          <a:xfrm>
            <a:off x="3465576" y="2734818"/>
            <a:ext cx="2514600" cy="713232"/>
          </a:xfrm>
          <a:prstGeom prst="roundRect">
            <a:avLst>
              <a:gd fmla="val 10000" name="adj"/>
            </a:avLst>
          </a:prstGeom>
          <a:solidFill>
            <a:srgbClr val="F1EB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25"/>
          <p:cNvSpPr txBox="1"/>
          <p:nvPr/>
        </p:nvSpPr>
        <p:spPr>
          <a:xfrm>
            <a:off x="3538728" y="2807970"/>
            <a:ext cx="2368296"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664092"/>
                </a:solidFill>
                <a:latin typeface="Arial"/>
                <a:ea typeface="Arial"/>
                <a:cs typeface="Arial"/>
                <a:sym typeface="Arial"/>
              </a:rPr>
              <a:t>Pensamiento Lean</a:t>
            </a:r>
            <a:endParaRPr/>
          </a:p>
        </p:txBody>
      </p:sp>
      <p:sp>
        <p:nvSpPr>
          <p:cNvPr id="413" name="Google Shape;413;p25"/>
          <p:cNvSpPr txBox="1"/>
          <p:nvPr/>
        </p:nvSpPr>
        <p:spPr>
          <a:xfrm>
            <a:off x="3538728" y="3064002"/>
            <a:ext cx="2368296" cy="34747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50" u="none" cap="none" strike="noStrike">
                <a:solidFill>
                  <a:srgbClr val="353646"/>
                </a:solidFill>
                <a:latin typeface="Arial"/>
                <a:ea typeface="Arial"/>
                <a:cs typeface="Arial"/>
                <a:sym typeface="Arial"/>
              </a:rPr>
              <a:t>Eliminar lo que no aporta valor y enfocarse en lo esencial.</a:t>
            </a:r>
            <a:endParaRPr/>
          </a:p>
        </p:txBody>
      </p:sp>
      <p:sp>
        <p:nvSpPr>
          <p:cNvPr id="414" name="Google Shape;414;p25"/>
          <p:cNvSpPr txBox="1"/>
          <p:nvPr/>
        </p:nvSpPr>
        <p:spPr>
          <a:xfrm>
            <a:off x="877824" y="3466338"/>
            <a:ext cx="5102352" cy="20116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Fundamentan ↓</a:t>
            </a:r>
            <a:endParaRPr/>
          </a:p>
        </p:txBody>
      </p:sp>
      <p:sp>
        <p:nvSpPr>
          <p:cNvPr id="415" name="Google Shape;415;p25"/>
          <p:cNvSpPr txBox="1"/>
          <p:nvPr/>
        </p:nvSpPr>
        <p:spPr>
          <a:xfrm>
            <a:off x="877824" y="3740658"/>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2A56C6"/>
                </a:solidFill>
                <a:latin typeface="Arial"/>
                <a:ea typeface="Arial"/>
                <a:cs typeface="Arial"/>
                <a:sym typeface="Arial"/>
              </a:rPr>
              <a:t>Nivel 2 · Los pilares operativos</a:t>
            </a:r>
            <a:endParaRPr/>
          </a:p>
        </p:txBody>
      </p:sp>
      <p:sp>
        <p:nvSpPr>
          <p:cNvPr id="416" name="Google Shape;416;p25"/>
          <p:cNvSpPr/>
          <p:nvPr/>
        </p:nvSpPr>
        <p:spPr>
          <a:xfrm>
            <a:off x="877824" y="3996690"/>
            <a:ext cx="1652016" cy="713232"/>
          </a:xfrm>
          <a:prstGeom prst="roundRect">
            <a:avLst>
              <a:gd fmla="val 1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25"/>
          <p:cNvSpPr txBox="1"/>
          <p:nvPr/>
        </p:nvSpPr>
        <p:spPr>
          <a:xfrm>
            <a:off x="950976" y="4069842"/>
            <a:ext cx="1505712"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Transparencia</a:t>
            </a:r>
            <a:endParaRPr/>
          </a:p>
        </p:txBody>
      </p:sp>
      <p:sp>
        <p:nvSpPr>
          <p:cNvPr id="418" name="Google Shape;418;p25"/>
          <p:cNvSpPr txBox="1"/>
          <p:nvPr/>
        </p:nvSpPr>
        <p:spPr>
          <a:xfrm>
            <a:off x="950976" y="4325874"/>
            <a:ext cx="1505712" cy="34747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50" u="none" cap="none" strike="noStrike">
                <a:solidFill>
                  <a:srgbClr val="353646"/>
                </a:solidFill>
                <a:latin typeface="Arial"/>
                <a:ea typeface="Arial"/>
                <a:cs typeface="Arial"/>
                <a:sym typeface="Arial"/>
              </a:rPr>
              <a:t>Visibilidad honesta del trabajo.</a:t>
            </a:r>
            <a:endParaRPr/>
          </a:p>
        </p:txBody>
      </p:sp>
      <p:sp>
        <p:nvSpPr>
          <p:cNvPr id="419" name="Google Shape;419;p25"/>
          <p:cNvSpPr/>
          <p:nvPr/>
        </p:nvSpPr>
        <p:spPr>
          <a:xfrm>
            <a:off x="2602992" y="3996690"/>
            <a:ext cx="1652016" cy="713232"/>
          </a:xfrm>
          <a:prstGeom prst="roundRect">
            <a:avLst>
              <a:gd fmla="val 1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25"/>
          <p:cNvSpPr txBox="1"/>
          <p:nvPr/>
        </p:nvSpPr>
        <p:spPr>
          <a:xfrm>
            <a:off x="2676144" y="4069842"/>
            <a:ext cx="1505712"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Inspección</a:t>
            </a:r>
            <a:endParaRPr/>
          </a:p>
        </p:txBody>
      </p:sp>
      <p:sp>
        <p:nvSpPr>
          <p:cNvPr id="421" name="Google Shape;421;p25"/>
          <p:cNvSpPr txBox="1"/>
          <p:nvPr/>
        </p:nvSpPr>
        <p:spPr>
          <a:xfrm>
            <a:off x="2676144" y="4325874"/>
            <a:ext cx="1505712" cy="34747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50" u="none" cap="none" strike="noStrike">
                <a:solidFill>
                  <a:srgbClr val="353646"/>
                </a:solidFill>
                <a:latin typeface="Arial"/>
                <a:ea typeface="Arial"/>
                <a:cs typeface="Arial"/>
                <a:sym typeface="Arial"/>
              </a:rPr>
              <a:t>Revisión periódica del progreso y resultados.</a:t>
            </a:r>
            <a:endParaRPr/>
          </a:p>
        </p:txBody>
      </p:sp>
      <p:sp>
        <p:nvSpPr>
          <p:cNvPr id="422" name="Google Shape;422;p25"/>
          <p:cNvSpPr/>
          <p:nvPr/>
        </p:nvSpPr>
        <p:spPr>
          <a:xfrm>
            <a:off x="4328160" y="3996690"/>
            <a:ext cx="1652016" cy="713232"/>
          </a:xfrm>
          <a:prstGeom prst="roundRect">
            <a:avLst>
              <a:gd fmla="val 10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25"/>
          <p:cNvSpPr txBox="1"/>
          <p:nvPr/>
        </p:nvSpPr>
        <p:spPr>
          <a:xfrm>
            <a:off x="4401312" y="4069842"/>
            <a:ext cx="1505712"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950" u="none" cap="none" strike="noStrike">
                <a:solidFill>
                  <a:srgbClr val="2A56C6"/>
                </a:solidFill>
                <a:latin typeface="Arial"/>
                <a:ea typeface="Arial"/>
                <a:cs typeface="Arial"/>
                <a:sym typeface="Arial"/>
              </a:rPr>
              <a:t>Adaptación</a:t>
            </a:r>
            <a:endParaRPr/>
          </a:p>
        </p:txBody>
      </p:sp>
      <p:sp>
        <p:nvSpPr>
          <p:cNvPr id="424" name="Google Shape;424;p25"/>
          <p:cNvSpPr txBox="1"/>
          <p:nvPr/>
        </p:nvSpPr>
        <p:spPr>
          <a:xfrm>
            <a:off x="4401312" y="4325874"/>
            <a:ext cx="1505712" cy="34747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50" u="none" cap="none" strike="noStrike">
                <a:solidFill>
                  <a:srgbClr val="353646"/>
                </a:solidFill>
                <a:latin typeface="Arial"/>
                <a:ea typeface="Arial"/>
                <a:cs typeface="Arial"/>
                <a:sym typeface="Arial"/>
              </a:rPr>
              <a:t>Modificación oportuna de lo que se aprende.</a:t>
            </a:r>
            <a:endParaRPr/>
          </a:p>
        </p:txBody>
      </p:sp>
      <p:sp>
        <p:nvSpPr>
          <p:cNvPr id="425" name="Google Shape;425;p25"/>
          <p:cNvSpPr txBox="1"/>
          <p:nvPr/>
        </p:nvSpPr>
        <p:spPr>
          <a:xfrm>
            <a:off x="877824" y="4728210"/>
            <a:ext cx="5102352" cy="20116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Se fortalecen mediante ↓</a:t>
            </a:r>
            <a:endParaRPr/>
          </a:p>
        </p:txBody>
      </p:sp>
      <p:sp>
        <p:nvSpPr>
          <p:cNvPr id="426" name="Google Shape;426;p25"/>
          <p:cNvSpPr txBox="1"/>
          <p:nvPr/>
        </p:nvSpPr>
        <p:spPr>
          <a:xfrm>
            <a:off x="877824" y="5002530"/>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B31686"/>
                </a:solidFill>
                <a:latin typeface="Arial"/>
                <a:ea typeface="Arial"/>
                <a:cs typeface="Arial"/>
                <a:sym typeface="Arial"/>
              </a:rPr>
              <a:t>Nivel 3 · La base humana y ética</a:t>
            </a:r>
            <a:endParaRPr/>
          </a:p>
        </p:txBody>
      </p:sp>
      <p:sp>
        <p:nvSpPr>
          <p:cNvPr id="427" name="Google Shape;427;p25"/>
          <p:cNvSpPr/>
          <p:nvPr/>
        </p:nvSpPr>
        <p:spPr>
          <a:xfrm>
            <a:off x="877824" y="5258562"/>
            <a:ext cx="961948" cy="868680"/>
          </a:xfrm>
          <a:prstGeom prst="roundRect">
            <a:avLst>
              <a:gd fmla="val 10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25"/>
          <p:cNvSpPr txBox="1"/>
          <p:nvPr/>
        </p:nvSpPr>
        <p:spPr>
          <a:xfrm>
            <a:off x="950976" y="5331714"/>
            <a:ext cx="815644"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850" u="none" cap="none" strike="noStrike">
                <a:solidFill>
                  <a:srgbClr val="B31686"/>
                </a:solidFill>
                <a:latin typeface="Arial"/>
                <a:ea typeface="Arial"/>
                <a:cs typeface="Arial"/>
                <a:sym typeface="Arial"/>
              </a:rPr>
              <a:t>Compromiso</a:t>
            </a:r>
            <a:endParaRPr/>
          </a:p>
        </p:txBody>
      </p:sp>
      <p:sp>
        <p:nvSpPr>
          <p:cNvPr id="429" name="Google Shape;429;p25"/>
          <p:cNvSpPr txBox="1"/>
          <p:nvPr/>
        </p:nvSpPr>
        <p:spPr>
          <a:xfrm>
            <a:off x="950976" y="5587746"/>
            <a:ext cx="815644" cy="502919"/>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00" u="none" cap="none" strike="noStrike">
                <a:solidFill>
                  <a:srgbClr val="353646"/>
                </a:solidFill>
                <a:latin typeface="Arial"/>
                <a:ea typeface="Arial"/>
                <a:cs typeface="Arial"/>
                <a:sym typeface="Arial"/>
              </a:rPr>
              <a:t>Con el objetivo común.</a:t>
            </a:r>
            <a:endParaRPr/>
          </a:p>
        </p:txBody>
      </p:sp>
      <p:sp>
        <p:nvSpPr>
          <p:cNvPr id="430" name="Google Shape;430;p25"/>
          <p:cNvSpPr/>
          <p:nvPr/>
        </p:nvSpPr>
        <p:spPr>
          <a:xfrm>
            <a:off x="1912924" y="5258562"/>
            <a:ext cx="961948" cy="868680"/>
          </a:xfrm>
          <a:prstGeom prst="roundRect">
            <a:avLst>
              <a:gd fmla="val 10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25"/>
          <p:cNvSpPr txBox="1"/>
          <p:nvPr/>
        </p:nvSpPr>
        <p:spPr>
          <a:xfrm>
            <a:off x="1986076" y="5331714"/>
            <a:ext cx="815644"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850" u="none" cap="none" strike="noStrike">
                <a:solidFill>
                  <a:srgbClr val="B31686"/>
                </a:solidFill>
                <a:latin typeface="Arial"/>
                <a:ea typeface="Arial"/>
                <a:cs typeface="Arial"/>
                <a:sym typeface="Arial"/>
              </a:rPr>
              <a:t>Enfoque</a:t>
            </a:r>
            <a:endParaRPr/>
          </a:p>
        </p:txBody>
      </p:sp>
      <p:sp>
        <p:nvSpPr>
          <p:cNvPr id="432" name="Google Shape;432;p25"/>
          <p:cNvSpPr txBox="1"/>
          <p:nvPr/>
        </p:nvSpPr>
        <p:spPr>
          <a:xfrm>
            <a:off x="1986076" y="5587746"/>
            <a:ext cx="815644" cy="502919"/>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00" u="none" cap="none" strike="noStrike">
                <a:solidFill>
                  <a:srgbClr val="353646"/>
                </a:solidFill>
                <a:latin typeface="Arial"/>
                <a:ea typeface="Arial"/>
                <a:cs typeface="Arial"/>
                <a:sym typeface="Arial"/>
              </a:rPr>
              <a:t>En lo que genera valor.</a:t>
            </a:r>
            <a:endParaRPr/>
          </a:p>
        </p:txBody>
      </p:sp>
      <p:sp>
        <p:nvSpPr>
          <p:cNvPr id="433" name="Google Shape;433;p25"/>
          <p:cNvSpPr/>
          <p:nvPr/>
        </p:nvSpPr>
        <p:spPr>
          <a:xfrm>
            <a:off x="2948025" y="5258562"/>
            <a:ext cx="961948" cy="868680"/>
          </a:xfrm>
          <a:prstGeom prst="roundRect">
            <a:avLst>
              <a:gd fmla="val 10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25"/>
          <p:cNvSpPr txBox="1"/>
          <p:nvPr/>
        </p:nvSpPr>
        <p:spPr>
          <a:xfrm>
            <a:off x="3021177" y="5331714"/>
            <a:ext cx="815644"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850" u="none" cap="none" strike="noStrike">
                <a:solidFill>
                  <a:srgbClr val="B31686"/>
                </a:solidFill>
                <a:latin typeface="Arial"/>
                <a:ea typeface="Arial"/>
                <a:cs typeface="Arial"/>
                <a:sym typeface="Arial"/>
              </a:rPr>
              <a:t>Apertura</a:t>
            </a:r>
            <a:endParaRPr/>
          </a:p>
        </p:txBody>
      </p:sp>
      <p:sp>
        <p:nvSpPr>
          <p:cNvPr id="435" name="Google Shape;435;p25"/>
          <p:cNvSpPr txBox="1"/>
          <p:nvPr/>
        </p:nvSpPr>
        <p:spPr>
          <a:xfrm>
            <a:off x="3021177" y="5587746"/>
            <a:ext cx="815644" cy="502919"/>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00" u="none" cap="none" strike="noStrike">
                <a:solidFill>
                  <a:srgbClr val="353646"/>
                </a:solidFill>
                <a:latin typeface="Arial"/>
                <a:ea typeface="Arial"/>
                <a:cs typeface="Arial"/>
                <a:sym typeface="Arial"/>
              </a:rPr>
              <a:t>A nuevas ideas y perspectivas.</a:t>
            </a:r>
            <a:endParaRPr/>
          </a:p>
        </p:txBody>
      </p:sp>
      <p:sp>
        <p:nvSpPr>
          <p:cNvPr id="436" name="Google Shape;436;p25"/>
          <p:cNvSpPr/>
          <p:nvPr/>
        </p:nvSpPr>
        <p:spPr>
          <a:xfrm>
            <a:off x="3983126" y="5258562"/>
            <a:ext cx="961948" cy="868680"/>
          </a:xfrm>
          <a:prstGeom prst="roundRect">
            <a:avLst>
              <a:gd fmla="val 10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25"/>
          <p:cNvSpPr txBox="1"/>
          <p:nvPr/>
        </p:nvSpPr>
        <p:spPr>
          <a:xfrm>
            <a:off x="4056278" y="5331714"/>
            <a:ext cx="815644"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850" u="none" cap="none" strike="noStrike">
                <a:solidFill>
                  <a:srgbClr val="B31686"/>
                </a:solidFill>
                <a:latin typeface="Arial"/>
                <a:ea typeface="Arial"/>
                <a:cs typeface="Arial"/>
                <a:sym typeface="Arial"/>
              </a:rPr>
              <a:t>Respeto</a:t>
            </a:r>
            <a:endParaRPr/>
          </a:p>
        </p:txBody>
      </p:sp>
      <p:sp>
        <p:nvSpPr>
          <p:cNvPr id="438" name="Google Shape;438;p25"/>
          <p:cNvSpPr txBox="1"/>
          <p:nvPr/>
        </p:nvSpPr>
        <p:spPr>
          <a:xfrm>
            <a:off x="4056278" y="5587746"/>
            <a:ext cx="815644" cy="502919"/>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00" u="none" cap="none" strike="noStrike">
                <a:solidFill>
                  <a:srgbClr val="353646"/>
                </a:solidFill>
                <a:latin typeface="Arial"/>
                <a:ea typeface="Arial"/>
                <a:cs typeface="Arial"/>
                <a:sym typeface="Arial"/>
              </a:rPr>
              <a:t>Por las personas y sus aportes.</a:t>
            </a:r>
            <a:endParaRPr/>
          </a:p>
        </p:txBody>
      </p:sp>
      <p:sp>
        <p:nvSpPr>
          <p:cNvPr id="439" name="Google Shape;439;p25"/>
          <p:cNvSpPr/>
          <p:nvPr/>
        </p:nvSpPr>
        <p:spPr>
          <a:xfrm>
            <a:off x="5018227" y="5258562"/>
            <a:ext cx="961948" cy="868680"/>
          </a:xfrm>
          <a:prstGeom prst="roundRect">
            <a:avLst>
              <a:gd fmla="val 10000" name="adj"/>
            </a:avLst>
          </a:prstGeom>
          <a:solidFill>
            <a:srgbClr val="F6EB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25"/>
          <p:cNvSpPr txBox="1"/>
          <p:nvPr/>
        </p:nvSpPr>
        <p:spPr>
          <a:xfrm>
            <a:off x="5091379" y="5331714"/>
            <a:ext cx="815644" cy="228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s-CO" sz="850" u="none" cap="none" strike="noStrike">
                <a:solidFill>
                  <a:srgbClr val="B31686"/>
                </a:solidFill>
                <a:latin typeface="Arial"/>
                <a:ea typeface="Arial"/>
                <a:cs typeface="Arial"/>
                <a:sym typeface="Arial"/>
              </a:rPr>
              <a:t>Coraje</a:t>
            </a:r>
            <a:endParaRPr/>
          </a:p>
        </p:txBody>
      </p:sp>
      <p:sp>
        <p:nvSpPr>
          <p:cNvPr id="441" name="Google Shape;441;p25"/>
          <p:cNvSpPr txBox="1"/>
          <p:nvPr/>
        </p:nvSpPr>
        <p:spPr>
          <a:xfrm>
            <a:off x="5091379" y="5587746"/>
            <a:ext cx="815644" cy="502919"/>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s-CO" sz="800" u="none" cap="none" strike="noStrike">
                <a:solidFill>
                  <a:srgbClr val="353646"/>
                </a:solidFill>
                <a:latin typeface="Arial"/>
                <a:ea typeface="Arial"/>
                <a:cs typeface="Arial"/>
                <a:sym typeface="Arial"/>
              </a:rPr>
              <a:t>Para enfrentar desafíos y cambiar.</a:t>
            </a:r>
            <a:endParaRPr/>
          </a:p>
        </p:txBody>
      </p:sp>
      <p:sp>
        <p:nvSpPr>
          <p:cNvPr id="442" name="Google Shape;442;p25"/>
          <p:cNvSpPr txBox="1"/>
          <p:nvPr/>
        </p:nvSpPr>
        <p:spPr>
          <a:xfrm>
            <a:off x="877824" y="6145530"/>
            <a:ext cx="5102352" cy="20116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1" lang="es-CO" sz="900" u="none" cap="none" strike="noStrike">
                <a:solidFill>
                  <a:srgbClr val="5F5966"/>
                </a:solidFill>
                <a:latin typeface="Arial"/>
                <a:ea typeface="Arial"/>
                <a:cs typeface="Arial"/>
                <a:sym typeface="Arial"/>
              </a:rPr>
              <a:t>Permiten ↓</a:t>
            </a:r>
            <a:endParaRPr/>
          </a:p>
        </p:txBody>
      </p:sp>
      <p:sp>
        <p:nvSpPr>
          <p:cNvPr id="443" name="Google Shape;443;p25"/>
          <p:cNvSpPr txBox="1"/>
          <p:nvPr/>
        </p:nvSpPr>
        <p:spPr>
          <a:xfrm>
            <a:off x="877824" y="6419850"/>
            <a:ext cx="5102352" cy="20116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Nivel 4 · El desenlace y propósito</a:t>
            </a:r>
            <a:endParaRPr/>
          </a:p>
        </p:txBody>
      </p:sp>
      <p:sp>
        <p:nvSpPr>
          <p:cNvPr id="444" name="Google Shape;444;p25"/>
          <p:cNvSpPr/>
          <p:nvPr/>
        </p:nvSpPr>
        <p:spPr>
          <a:xfrm>
            <a:off x="877824" y="6675882"/>
            <a:ext cx="5102352" cy="731520"/>
          </a:xfrm>
          <a:prstGeom prst="roundRect">
            <a:avLst>
              <a:gd fmla="val 12000" name="adj"/>
            </a:avLst>
          </a:prstGeom>
          <a:solidFill>
            <a:srgbClr val="0247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25"/>
          <p:cNvSpPr txBox="1"/>
          <p:nvPr/>
        </p:nvSpPr>
        <p:spPr>
          <a:xfrm>
            <a:off x="1060704" y="6749034"/>
            <a:ext cx="4736592" cy="64008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s-CO" sz="1100" u="none" cap="none" strike="noStrike">
                <a:solidFill>
                  <a:srgbClr val="FFFFFF"/>
                </a:solidFill>
                <a:latin typeface="Arial"/>
                <a:ea typeface="Arial"/>
                <a:cs typeface="Arial"/>
                <a:sym typeface="Arial"/>
              </a:rPr>
              <a:t>Aprender, adaptarnos y generar valor</a:t>
            </a:r>
            <a:endParaRPr/>
          </a:p>
          <a:p>
            <a:pPr indent="0" lvl="0" marL="0" marR="0" rtl="0" algn="ctr">
              <a:lnSpc>
                <a:spcPct val="110000"/>
              </a:lnSpc>
              <a:spcBef>
                <a:spcPts val="0"/>
              </a:spcBef>
              <a:spcAft>
                <a:spcPts val="0"/>
              </a:spcAft>
              <a:buNone/>
            </a:pPr>
            <a:r>
              <a:rPr b="0" i="0" lang="es-CO" sz="900" u="none" cap="none" strike="noStrike">
                <a:solidFill>
                  <a:srgbClr val="FFFFFF"/>
                </a:solidFill>
                <a:latin typeface="Arial"/>
                <a:ea typeface="Arial"/>
                <a:cs typeface="Arial"/>
                <a:sym typeface="Arial"/>
              </a:rPr>
              <a:t>Equipos más preparados para responder a la incertidumbre y entregar resultados que importan.</a:t>
            </a:r>
            <a:endParaRPr/>
          </a:p>
        </p:txBody>
      </p:sp>
      <p:sp>
        <p:nvSpPr>
          <p:cNvPr id="446" name="Google Shape;446;p25"/>
          <p:cNvSpPr/>
          <p:nvPr/>
        </p:nvSpPr>
        <p:spPr>
          <a:xfrm>
            <a:off x="877824" y="7498842"/>
            <a:ext cx="5102352" cy="1000125"/>
          </a:xfrm>
          <a:prstGeom prst="roundRect">
            <a:avLst>
              <a:gd fmla="val 10000" name="adj"/>
            </a:avLst>
          </a:prstGeom>
          <a:solidFill>
            <a:srgbClr val="E9FB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25"/>
          <p:cNvSpPr txBox="1"/>
          <p:nvPr/>
        </p:nvSpPr>
        <p:spPr>
          <a:xfrm>
            <a:off x="1106424" y="7681722"/>
            <a:ext cx="4645152" cy="1828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CO" sz="900" u="none" cap="none" strike="noStrike">
                <a:solidFill>
                  <a:srgbClr val="024791"/>
                </a:solidFill>
                <a:latin typeface="Arial"/>
                <a:ea typeface="Arial"/>
                <a:cs typeface="Arial"/>
                <a:sym typeface="Arial"/>
              </a:rPr>
              <a:t>Idea clave · La respuesta ante la incertidumbre</a:t>
            </a:r>
            <a:endParaRPr/>
          </a:p>
        </p:txBody>
      </p:sp>
      <p:sp>
        <p:nvSpPr>
          <p:cNvPr id="448" name="Google Shape;448;p25"/>
          <p:cNvSpPr txBox="1"/>
          <p:nvPr/>
        </p:nvSpPr>
        <p:spPr>
          <a:xfrm>
            <a:off x="1106424" y="7910322"/>
            <a:ext cx="4645152" cy="542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s-CO" sz="950" u="none" cap="none" strike="noStrike">
                <a:solidFill>
                  <a:srgbClr val="3D2159"/>
                </a:solidFill>
                <a:latin typeface="Arial"/>
                <a:ea typeface="Arial"/>
                <a:cs typeface="Arial"/>
                <a:sym typeface="Arial"/>
              </a:rPr>
              <a:t>«Scrum no busca eliminar la incertidumbre antes de comenzar; proporciona una estructura para aprender de lo que ocurre y adaptar nuestras decisiones mientras avanzamos.»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Referencias</a:t>
            </a:r>
            <a:endParaRPr b="1" i="0" sz="900" u="none" cap="none" strike="noStrike">
              <a:solidFill>
                <a:srgbClr val="B31686"/>
              </a:solidFill>
              <a:latin typeface="Arial"/>
              <a:ea typeface="Arial"/>
              <a:cs typeface="Arial"/>
              <a:sym typeface="Arial"/>
            </a:endParaRPr>
          </a:p>
        </p:txBody>
      </p:sp>
      <p:sp>
        <p:nvSpPr>
          <p:cNvPr id="454" name="Google Shape;454;p6"/>
          <p:cNvSpPr/>
          <p:nvPr/>
        </p:nvSpPr>
        <p:spPr>
          <a:xfrm>
            <a:off x="876300" y="1409700"/>
            <a:ext cx="5105400" cy="34547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Fuentes para continuar la lectura</a:t>
            </a:r>
            <a:endParaRPr b="0" i="0" sz="1400" u="none" cap="none" strike="noStrike">
              <a:solidFill>
                <a:srgbClr val="000000"/>
              </a:solidFill>
              <a:latin typeface="Arial"/>
              <a:ea typeface="Arial"/>
              <a:cs typeface="Arial"/>
              <a:sym typeface="Arial"/>
            </a:endParaRPr>
          </a:p>
        </p:txBody>
      </p:sp>
      <p:sp>
        <p:nvSpPr>
          <p:cNvPr id="455" name="Google Shape;455;p6"/>
          <p:cNvSpPr/>
          <p:nvPr/>
        </p:nvSpPr>
        <p:spPr>
          <a:xfrm>
            <a:off x="876300" y="2292009"/>
            <a:ext cx="5105400" cy="2468880"/>
          </a:xfrm>
          <a:prstGeom prst="roundRect">
            <a:avLst>
              <a:gd fmla="val 11881" name="adj"/>
            </a:avLst>
          </a:prstGeom>
          <a:solidFill>
            <a:srgbClr val="E9FB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6"/>
          <p:cNvSpPr/>
          <p:nvPr/>
        </p:nvSpPr>
        <p:spPr>
          <a:xfrm>
            <a:off x="1123950" y="2511465"/>
            <a:ext cx="4610100" cy="14116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950"/>
              <a:buFont typeface="Arial"/>
              <a:buNone/>
            </a:pPr>
            <a:r>
              <a:rPr b="1" i="0" lang="es-CO" sz="950" u="none" cap="none" strike="noStrike">
                <a:solidFill>
                  <a:srgbClr val="024791"/>
                </a:solidFill>
                <a:latin typeface="Arial"/>
                <a:ea typeface="Arial"/>
                <a:cs typeface="Arial"/>
                <a:sym typeface="Arial"/>
              </a:rPr>
              <a:t>Referencias · APA 7</a:t>
            </a:r>
            <a:endParaRPr b="0" i="0" sz="1400" u="none" cap="none" strike="noStrike">
              <a:solidFill>
                <a:srgbClr val="000000"/>
              </a:solidFill>
              <a:latin typeface="Arial"/>
              <a:ea typeface="Arial"/>
              <a:cs typeface="Arial"/>
              <a:sym typeface="Arial"/>
            </a:endParaRPr>
          </a:p>
        </p:txBody>
      </p:sp>
      <p:sp>
        <p:nvSpPr>
          <p:cNvPr id="457" name="Google Shape;457;p6"/>
          <p:cNvSpPr/>
          <p:nvPr/>
        </p:nvSpPr>
        <p:spPr>
          <a:xfrm>
            <a:off x="1123950" y="2744065"/>
            <a:ext cx="4610100" cy="210312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050"/>
              <a:buFont typeface="Arial"/>
              <a:buNone/>
            </a:pPr>
            <a:r>
              <a:rPr b="0" i="0" lang="es-CO" sz="1050" u="none" cap="none" strike="noStrike">
                <a:solidFill>
                  <a:srgbClr val="332F37"/>
                </a:solidFill>
                <a:latin typeface="Arial"/>
                <a:ea typeface="Arial"/>
                <a:cs typeface="Arial"/>
                <a:sym typeface="Arial"/>
              </a:rPr>
              <a:t>Garrido Sotomayor, S. (2025, 20 de abril). Guía de la gestión ágil de proyectos para liderar con eficacia. IEBS Business School. https://www.iebschool.com/hub/guia-de-la-gestion-agil-de-proyectos-para-liderar-con-eficacia/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50"/>
              <a:buFont typeface="Arial"/>
              <a:buNone/>
            </a:pPr>
            <a:r>
              <a:rPr b="0" i="0" lang="es-CO" sz="1050" u="none" cap="none" strike="noStrike">
                <a:solidFill>
                  <a:srgbClr val="332F37"/>
                </a:solidFill>
                <a:latin typeface="Arial"/>
                <a:ea typeface="Arial"/>
                <a:cs typeface="Arial"/>
                <a:sym typeface="Arial"/>
              </a:rPr>
              <a:t>Schwaber, K., &amp; Sutherland, J. (2020, noviembre). La Guía de Scrum: La Guía Definitiva de Scrum: Las Reglas del Juego. Scrum Guides. https://scrumguides.org/docs/scrumguide/v2020/2020-Scrum-Guide-Spanish-Latin-South-American.pdf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600"/>
              </a:spcAft>
              <a:buClr>
                <a:srgbClr val="000000"/>
              </a:buClr>
              <a:buSzPts val="1050"/>
              <a:buFont typeface="Arial"/>
              <a:buNone/>
            </a:pPr>
            <a:r>
              <a:rPr b="0" i="0" lang="es-CO" sz="1050" u="none" cap="none" strike="noStrike">
                <a:solidFill>
                  <a:srgbClr val="332F37"/>
                </a:solidFill>
                <a:latin typeface="Arial"/>
                <a:ea typeface="Arial"/>
                <a:cs typeface="Arial"/>
                <a:sym typeface="Arial"/>
              </a:rPr>
              <a:t>Sutherland, J. (2016). Scrum: El arte de hacer el doble de trabajo en la mitad de tiempo. Editorial Océano.</a:t>
            </a:r>
            <a:endParaRPr b="0" i="0" sz="1400" u="none" cap="none" strike="noStrike">
              <a:solidFill>
                <a:srgbClr val="000000"/>
              </a:solidFill>
              <a:latin typeface="Arial"/>
              <a:ea typeface="Arial"/>
              <a:cs typeface="Arial"/>
              <a:sym typeface="Arial"/>
            </a:endParaRPr>
          </a:p>
        </p:txBody>
      </p:sp>
      <p:pic>
        <p:nvPicPr>
          <p:cNvPr id="458" name="Google Shape;458;p6"/>
          <p:cNvPicPr preferRelativeResize="0"/>
          <p:nvPr/>
        </p:nvPicPr>
        <p:blipFill rotWithShape="1">
          <a:blip r:embed="rId3">
            <a:alphaModFix/>
          </a:blip>
          <a:srcRect b="0" l="0" r="0" t="0"/>
          <a:stretch/>
        </p:blipFill>
        <p:spPr>
          <a:xfrm>
            <a:off x="869156" y="1874043"/>
            <a:ext cx="1100138" cy="8878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
          <p:cNvSpPr/>
          <p:nvPr/>
        </p:nvSpPr>
        <p:spPr>
          <a:xfrm>
            <a:off x="876300" y="1104900"/>
            <a:ext cx="4953000" cy="22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900"/>
              <a:buFont typeface="Arial"/>
              <a:buNone/>
            </a:pPr>
            <a:r>
              <a:rPr b="1" i="0" lang="es-CO" sz="900" u="none" cap="none" strike="noStrike">
                <a:solidFill>
                  <a:srgbClr val="B31686"/>
                </a:solidFill>
                <a:latin typeface="Arial"/>
                <a:ea typeface="Arial"/>
                <a:cs typeface="Arial"/>
                <a:sym typeface="Arial"/>
              </a:rPr>
              <a:t>Créditos</a:t>
            </a:r>
            <a:endParaRPr b="1" i="0" sz="900" u="none" cap="none" strike="noStrike">
              <a:solidFill>
                <a:srgbClr val="B31686"/>
              </a:solidFill>
              <a:latin typeface="Arial"/>
              <a:ea typeface="Arial"/>
              <a:cs typeface="Arial"/>
              <a:sym typeface="Arial"/>
            </a:endParaRPr>
          </a:p>
        </p:txBody>
      </p:sp>
      <p:sp>
        <p:nvSpPr>
          <p:cNvPr id="464" name="Google Shape;464;p7"/>
          <p:cNvSpPr/>
          <p:nvPr/>
        </p:nvSpPr>
        <p:spPr>
          <a:xfrm>
            <a:off x="876300" y="1409700"/>
            <a:ext cx="5105400" cy="78105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325"/>
              <a:buFont typeface="Arial"/>
              <a:buNone/>
            </a:pPr>
            <a:r>
              <a:rPr b="1" i="0" lang="es-CO" sz="2325" u="none" cap="none" strike="noStrike">
                <a:solidFill>
                  <a:srgbClr val="3D2159"/>
                </a:solidFill>
                <a:latin typeface="Arial"/>
                <a:ea typeface="Arial"/>
                <a:cs typeface="Arial"/>
                <a:sym typeface="Arial"/>
              </a:rPr>
              <a:t>Sobre este documento</a:t>
            </a:r>
            <a:endParaRPr b="0" i="0" sz="1400" u="none" cap="none" strike="noStrike">
              <a:solidFill>
                <a:srgbClr val="000000"/>
              </a:solidFill>
              <a:latin typeface="Arial"/>
              <a:ea typeface="Arial"/>
              <a:cs typeface="Arial"/>
              <a:sym typeface="Arial"/>
            </a:endParaRPr>
          </a:p>
        </p:txBody>
      </p:sp>
      <p:sp>
        <p:nvSpPr>
          <p:cNvPr id="465" name="Google Shape;465;p7"/>
          <p:cNvSpPr/>
          <p:nvPr/>
        </p:nvSpPr>
        <p:spPr>
          <a:xfrm>
            <a:off x="876300" y="8401050"/>
            <a:ext cx="5105400" cy="2286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000000"/>
              </a:buClr>
              <a:buSzPts val="900"/>
              <a:buFont typeface="Arial"/>
              <a:buNone/>
            </a:pPr>
            <a:r>
              <a:rPr b="0" i="0" lang="es-CO" sz="900" u="none" cap="none" strike="noStrike">
                <a:solidFill>
                  <a:srgbClr val="7B7480"/>
                </a:solidFill>
                <a:latin typeface="Arial"/>
                <a:ea typeface="Arial"/>
                <a:cs typeface="Arial"/>
                <a:sym typeface="Arial"/>
              </a:rPr>
              <a:t>Copyright 2026. Todos los derechos reservados.</a:t>
            </a:r>
            <a:endParaRPr b="0" i="0" sz="1400" u="none" cap="none" strike="noStrike">
              <a:solidFill>
                <a:srgbClr val="000000"/>
              </a:solidFill>
              <a:latin typeface="Arial"/>
              <a:ea typeface="Arial"/>
              <a:cs typeface="Arial"/>
              <a:sym typeface="Arial"/>
            </a:endParaRPr>
          </a:p>
        </p:txBody>
      </p:sp>
      <p:graphicFrame>
        <p:nvGraphicFramePr>
          <p:cNvPr id="466" name="Google Shape;466;p7"/>
          <p:cNvGraphicFramePr/>
          <p:nvPr/>
        </p:nvGraphicFramePr>
        <p:xfrm>
          <a:off x="876300" y="2514600"/>
          <a:ext cx="3000000" cy="3000000"/>
        </p:xfrm>
        <a:graphic>
          <a:graphicData uri="http://schemas.openxmlformats.org/drawingml/2006/table">
            <a:tbl>
              <a:tblPr>
                <a:noFill/>
                <a:tableStyleId>{3BE7F91E-28C6-4280-8E66-EA02E2E343C9}</a:tableStyleId>
              </a:tblPr>
              <a:tblGrid>
                <a:gridCol w="2628125"/>
                <a:gridCol w="2705875"/>
              </a:tblGrid>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Proyecto</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@Medellín — SAPIENCIA</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Tipo de recurso</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Artículo educativo</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Coordinación general</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Luz Dary Morales Galvis</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Experto temático</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Diana María Velázquez García</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Diseñador de la experiencia virtual de aprendizaje</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Julieta Márquez Gutiérrez</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Corrección de estilo</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Julieta Márquez Gutiérrez y Sergio Andrés Ocampo Rivera</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Validación pedagógica</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Sandra Patricia Hoyos Sepúlveda</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Diseño gráfico</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Andrea Valentina Roa Orozco</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Disposición y ensamble</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Samayda Herrera Betancur</a:t>
                      </a:r>
                      <a:endParaRPr sz="1100" u="none" cap="none" strike="noStrike">
                        <a:solidFill>
                          <a:srgbClr val="2D2533"/>
                        </a:solidFill>
                        <a:latin typeface="Arial"/>
                        <a:ea typeface="Arial"/>
                        <a:cs typeface="Arial"/>
                        <a:sym typeface="Arial"/>
                      </a:endParaRPr>
                    </a:p>
                  </a:txBody>
                  <a:tcPr marT="137150" marB="137150" marR="137150" marL="137150"/>
                </a:tc>
              </a:tr>
              <a:tr h="120650">
                <a:tc>
                  <a:txBody>
                    <a:bodyPr/>
                    <a:lstStyle/>
                    <a:p>
                      <a:pPr indent="0" lvl="0" marL="0" marR="0" rtl="0" algn="l">
                        <a:lnSpc>
                          <a:spcPct val="115000"/>
                        </a:lnSpc>
                        <a:spcBef>
                          <a:spcPts val="0"/>
                        </a:spcBef>
                        <a:spcAft>
                          <a:spcPts val="0"/>
                        </a:spcAft>
                        <a:buClr>
                          <a:srgbClr val="000000"/>
                        </a:buClr>
                        <a:buSzPts val="950"/>
                        <a:buFont typeface="Arial"/>
                        <a:buNone/>
                      </a:pPr>
                      <a:r>
                        <a:rPr b="1" lang="es-CO" sz="950" u="none" cap="none" strike="noStrike"/>
                        <a:t>Última actualización</a:t>
                      </a:r>
                      <a:endParaRPr b="1" sz="1100" u="none" cap="none" strike="noStrike">
                        <a:latin typeface="Arial"/>
                        <a:ea typeface="Arial"/>
                        <a:cs typeface="Arial"/>
                        <a:sym typeface="Arial"/>
                      </a:endParaRPr>
                    </a:p>
                  </a:txBody>
                  <a:tcPr marT="137150" marB="137150" marR="137150" marL="137150"/>
                </a:tc>
                <a:tc>
                  <a:txBody>
                    <a:bodyPr/>
                    <a:lstStyle/>
                    <a:p>
                      <a:pPr indent="0" lvl="0" marL="0" marR="0" rtl="0" algn="r">
                        <a:lnSpc>
                          <a:spcPct val="115000"/>
                        </a:lnSpc>
                        <a:spcBef>
                          <a:spcPts val="0"/>
                        </a:spcBef>
                        <a:spcAft>
                          <a:spcPts val="0"/>
                        </a:spcAft>
                        <a:buClr>
                          <a:srgbClr val="000000"/>
                        </a:buClr>
                        <a:buSzPts val="950"/>
                        <a:buFont typeface="Arial"/>
                        <a:buNone/>
                      </a:pPr>
                      <a:r>
                        <a:rPr lang="es-CO" sz="950" u="none" cap="none" strike="noStrike"/>
                        <a:t>Octubre de 2026</a:t>
                      </a:r>
                      <a:endParaRPr sz="1100" u="none" cap="none" strike="noStrike">
                        <a:solidFill>
                          <a:srgbClr val="2D2533"/>
                        </a:solidFill>
                        <a:latin typeface="Arial"/>
                        <a:ea typeface="Arial"/>
                        <a:cs typeface="Arial"/>
                        <a:sym typeface="Arial"/>
                      </a:endParaRPr>
                    </a:p>
                  </a:txBody>
                  <a:tcPr marT="137150" marB="137150" marR="137150" marL="1371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2026-08-28T21:01:11Z</dcterms:created>
  <dc:creator>Walnut Exporter</dc:creator>
</cp:coreProperties>
</file>