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Lst>
  <p:sldSz cy="9906000" cx="6858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5" roundtripDataSignature="AMtx7mjWEuMw4rj66imGnGetK5G9G6rse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3BE7F91E-28C6-4280-8E66-EA02E2E343C9}">
  <a:tblStyle styleId="{3BE7F91E-28C6-4280-8E66-EA02E2E343C9}" styleName="Table_0">
    <a:wholeTbl>
      <a:tcTxStyle b="off" i="off">
        <a:font>
          <a:latin typeface="Arial"/>
          <a:ea typeface="Arial"/>
          <a:cs typeface="Arial"/>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6EFF7"/>
          </a:solidFill>
        </a:fill>
      </a:tcStyle>
    </a:wholeTbl>
    <a:band1H>
      <a:tcTxStyle/>
      <a:tcStyle>
        <a:fill>
          <a:solidFill>
            <a:srgbClr val="CADEEF"/>
          </a:solidFill>
        </a:fill>
      </a:tcStyle>
    </a:band1H>
    <a:band2H>
      <a:tcTxStyle/>
    </a:band2H>
    <a:band1V>
      <a:tcTxStyle/>
      <a:tcStyle>
        <a:fill>
          <a:solidFill>
            <a:srgbClr val="CADEEF"/>
          </a:solidFill>
        </a:fill>
      </a:tcStyle>
    </a:band1V>
    <a:band2V>
      <a:tcTxStyle/>
    </a:band2V>
    <a:lastCol>
      <a:tcTxStyle b="on" i="off">
        <a:font>
          <a:latin typeface="Arial"/>
          <a:ea typeface="Arial"/>
          <a:cs typeface="Arial"/>
        </a:font>
        <a:schemeClr val="lt1"/>
      </a:tcTxStyle>
      <a:tcStyle>
        <a:fill>
          <a:solidFill>
            <a:schemeClr val="accent4"/>
          </a:solidFill>
        </a:fill>
      </a:tcStyle>
    </a:lastCol>
    <a:firstCol>
      <a:tcTxStyle b="on" i="off">
        <a:font>
          <a:latin typeface="Arial"/>
          <a:ea typeface="Arial"/>
          <a:cs typeface="Arial"/>
        </a:font>
        <a:schemeClr val="lt1"/>
      </a:tcTxStyle>
      <a:tcStyle>
        <a:fill>
          <a:solidFill>
            <a:schemeClr val="accent4"/>
          </a:solidFill>
        </a:fill>
      </a:tcStyle>
    </a:firstCol>
    <a:lastRow>
      <a:tcTxStyle b="on" i="off">
        <a:font>
          <a:latin typeface="Arial"/>
          <a:ea typeface="Arial"/>
          <a:cs typeface="Arial"/>
        </a:font>
        <a:schemeClr val="lt1"/>
      </a:tcTxStyle>
      <a:tcStyle>
        <a:tcBdr>
          <a:top>
            <a:ln cap="flat" cmpd="sng" w="38100">
              <a:solidFill>
                <a:schemeClr val="lt1"/>
              </a:solidFill>
              <a:prstDash val="solid"/>
              <a:round/>
              <a:headEnd len="sm" w="sm" type="none"/>
              <a:tailEnd len="sm" w="sm" type="none"/>
            </a:ln>
          </a:top>
        </a:tcBdr>
        <a:fill>
          <a:solidFill>
            <a:schemeClr val="accent4"/>
          </a:solidFill>
        </a:fill>
      </a:tcStyle>
    </a:lastRow>
    <a:seCell>
      <a:tcTxStyle/>
    </a:seCell>
    <a:swCell>
      <a:tcTxStyle/>
    </a:swCell>
    <a:firstRow>
      <a:tcTxStyle b="on" i="off">
        <a:font>
          <a:latin typeface="Arial"/>
          <a:ea typeface="Arial"/>
          <a:cs typeface="Arial"/>
        </a:font>
        <a:schemeClr val="lt1"/>
      </a:tcTxStyle>
      <a:tcStyle>
        <a:tcBdr>
          <a:bottom>
            <a:ln cap="flat" cmpd="sng" w="38100">
              <a:solidFill>
                <a:schemeClr val="lt1"/>
              </a:solidFill>
              <a:prstDash val="solid"/>
              <a:round/>
              <a:headEnd len="sm" w="sm" type="none"/>
              <a:tailEnd len="sm" w="sm" type="none"/>
            </a:ln>
          </a:bottom>
        </a:tcBdr>
        <a:fill>
          <a:solidFill>
            <a:schemeClr val="accent4"/>
          </a:solidFill>
        </a:fill>
      </a:tc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 name="Google Shape;6;n"/>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rgbClr val="000000"/>
                </a:solidFill>
                <a:latin typeface="Arial"/>
                <a:ea typeface="Arial"/>
                <a:cs typeface="Arial"/>
                <a:sym typeface="Arial"/>
              </a:defRPr>
            </a:lvl1pPr>
            <a:lvl2pPr indent="-228600" lvl="1" marL="914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indent="-228600" lvl="2" marL="1371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indent="-228600" lvl="3" marL="1828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indent="-228600" lvl="4" marL="22860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indent="-228600" lvl="5" marL="27432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indent="-228600" lvl="6" marL="3200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indent="-228600" lvl="7" marL="3657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indent="-228600" lvl="8" marL="4114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7" name="Google Shape;7;n"/>
          <p:cNvSpPr txBox="1"/>
          <p:nvPr>
            <p:ph idx="11" type="ft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 name="Shape 12"/>
        <p:cNvGrpSpPr/>
        <p:nvPr/>
      </p:nvGrpSpPr>
      <p:grpSpPr>
        <a:xfrm>
          <a:off x="0" y="0"/>
          <a:ext cx="0" cy="0"/>
          <a:chOff x="0" y="0"/>
          <a:chExt cx="0" cy="0"/>
        </a:xfrm>
      </p:grpSpPr>
      <p:sp>
        <p:nvSpPr>
          <p:cNvPr id="13" name="Google Shape;13;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 name="Google Shape;14;p1:notes"/>
          <p:cNvSpPr/>
          <p:nvPr>
            <p:ph idx="2" type="sldImg"/>
          </p:nvPr>
        </p:nvSpPr>
        <p:spPr>
          <a:xfrm>
            <a:off x="461963" y="0"/>
            <a:ext cx="2076450" cy="3000375"/>
          </a:xfrm>
          <a:custGeom>
            <a:rect b="b" l="l" r="r" t="t"/>
            <a:pathLst>
              <a:path extrusionOk="0" h="120000" w="120000">
                <a:moveTo>
                  <a:pt x="0" y="0"/>
                </a:moveTo>
                <a:lnTo>
                  <a:pt x="120000" y="0"/>
                </a:lnTo>
                <a:lnTo>
                  <a:pt x="120000" y="120000"/>
                </a:lnTo>
                <a:lnTo>
                  <a:pt x="0" y="120000"/>
                </a:lnTo>
                <a:close/>
              </a:path>
            </a:pathLst>
          </a:custGeom>
          <a:noFill/>
          <a:ln>
            <a:noFill/>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 name="Shape 23"/>
        <p:cNvGrpSpPr/>
        <p:nvPr/>
      </p:nvGrpSpPr>
      <p:grpSpPr>
        <a:xfrm>
          <a:off x="0" y="0"/>
          <a:ext cx="0" cy="0"/>
          <a:chOff x="0" y="0"/>
          <a:chExt cx="0" cy="0"/>
        </a:xfrm>
      </p:grpSpPr>
      <p:sp>
        <p:nvSpPr>
          <p:cNvPr id="24" name="Google Shape;24;p2:notes"/>
          <p:cNvSpPr/>
          <p:nvPr>
            <p:ph idx="2" type="sldImg"/>
          </p:nvPr>
        </p:nvSpPr>
        <p:spPr>
          <a:xfrm>
            <a:off x="461963" y="0"/>
            <a:ext cx="2076450" cy="3000375"/>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 name="Google Shape;25;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6" name="Google Shape;26;p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 name="Shape 57"/>
        <p:cNvGrpSpPr/>
        <p:nvPr/>
      </p:nvGrpSpPr>
      <p:grpSpPr>
        <a:xfrm>
          <a:off x="0" y="0"/>
          <a:ext cx="0" cy="0"/>
          <a:chOff x="0" y="0"/>
          <a:chExt cx="0" cy="0"/>
        </a:xfrm>
      </p:grpSpPr>
      <p:sp>
        <p:nvSpPr>
          <p:cNvPr id="58" name="Google Shape;58;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9" name="Google Shape;59;p3:notes"/>
          <p:cNvSpPr/>
          <p:nvPr>
            <p:ph idx="2" type="sldImg"/>
          </p:nvPr>
        </p:nvSpPr>
        <p:spPr>
          <a:xfrm>
            <a:off x="461963" y="0"/>
            <a:ext cx="2076450" cy="3000375"/>
          </a:xfrm>
          <a:custGeom>
            <a:rect b="b" l="l" r="r" t="t"/>
            <a:pathLst>
              <a:path extrusionOk="0" h="120000" w="120000">
                <a:moveTo>
                  <a:pt x="0" y="0"/>
                </a:moveTo>
                <a:lnTo>
                  <a:pt x="120000" y="0"/>
                </a:lnTo>
                <a:lnTo>
                  <a:pt x="120000" y="120000"/>
                </a:lnTo>
                <a:lnTo>
                  <a:pt x="0" y="120000"/>
                </a:lnTo>
                <a:close/>
              </a:path>
            </a:pathLst>
          </a:custGeom>
          <a:noFill/>
          <a:ln>
            <a:noFill/>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 name="Shape 66"/>
        <p:cNvGrpSpPr/>
        <p:nvPr/>
      </p:nvGrpSpPr>
      <p:grpSpPr>
        <a:xfrm>
          <a:off x="0" y="0"/>
          <a:ext cx="0" cy="0"/>
          <a:chOff x="0" y="0"/>
          <a:chExt cx="0" cy="0"/>
        </a:xfrm>
      </p:grpSpPr>
      <p:sp>
        <p:nvSpPr>
          <p:cNvPr id="67" name="Google Shape;67;p12: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8" name="Google Shape;68;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 name="Shape 79"/>
        <p:cNvGrpSpPr/>
        <p:nvPr/>
      </p:nvGrpSpPr>
      <p:grpSpPr>
        <a:xfrm>
          <a:off x="0" y="0"/>
          <a:ext cx="0" cy="0"/>
          <a:chOff x="0" y="0"/>
          <a:chExt cx="0" cy="0"/>
        </a:xfrm>
      </p:grpSpPr>
      <p:sp>
        <p:nvSpPr>
          <p:cNvPr id="80" name="Google Shape;80;p13: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1" name="Google Shape;81;p1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p14: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1" name="Google Shape;91;p1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p15: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7" name="Google Shape;127;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16: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 name="Shape 171"/>
        <p:cNvGrpSpPr/>
        <p:nvPr/>
      </p:nvGrpSpPr>
      <p:grpSpPr>
        <a:xfrm>
          <a:off x="0" y="0"/>
          <a:ext cx="0" cy="0"/>
          <a:chOff x="0" y="0"/>
          <a:chExt cx="0" cy="0"/>
        </a:xfrm>
      </p:grpSpPr>
      <p:sp>
        <p:nvSpPr>
          <p:cNvPr id="172" name="Google Shape;172;p17: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3" name="Google Shape;173;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p18: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22" name="Google Shape;222;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7" name="Shape 257"/>
        <p:cNvGrpSpPr/>
        <p:nvPr/>
      </p:nvGrpSpPr>
      <p:grpSpPr>
        <a:xfrm>
          <a:off x="0" y="0"/>
          <a:ext cx="0" cy="0"/>
          <a:chOff x="0" y="0"/>
          <a:chExt cx="0" cy="0"/>
        </a:xfrm>
      </p:grpSpPr>
      <p:sp>
        <p:nvSpPr>
          <p:cNvPr id="258" name="Google Shape;258;p19: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59" name="Google Shape;259;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 name="Shape 287"/>
        <p:cNvGrpSpPr/>
        <p:nvPr/>
      </p:nvGrpSpPr>
      <p:grpSpPr>
        <a:xfrm>
          <a:off x="0" y="0"/>
          <a:ext cx="0" cy="0"/>
          <a:chOff x="0" y="0"/>
          <a:chExt cx="0" cy="0"/>
        </a:xfrm>
      </p:grpSpPr>
      <p:sp>
        <p:nvSpPr>
          <p:cNvPr id="288" name="Google Shape;288;p20: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89" name="Google Shape;289;p2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3" name="Shape 323"/>
        <p:cNvGrpSpPr/>
        <p:nvPr/>
      </p:nvGrpSpPr>
      <p:grpSpPr>
        <a:xfrm>
          <a:off x="0" y="0"/>
          <a:ext cx="0" cy="0"/>
          <a:chOff x="0" y="0"/>
          <a:chExt cx="0" cy="0"/>
        </a:xfrm>
      </p:grpSpPr>
      <p:sp>
        <p:nvSpPr>
          <p:cNvPr id="324" name="Google Shape;324;p21: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25" name="Google Shape;325;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8" name="Shape 338"/>
        <p:cNvGrpSpPr/>
        <p:nvPr/>
      </p:nvGrpSpPr>
      <p:grpSpPr>
        <a:xfrm>
          <a:off x="0" y="0"/>
          <a:ext cx="0" cy="0"/>
          <a:chOff x="0" y="0"/>
          <a:chExt cx="0" cy="0"/>
        </a:xfrm>
      </p:grpSpPr>
      <p:sp>
        <p:nvSpPr>
          <p:cNvPr id="339" name="Google Shape;339;p22: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40" name="Google Shape;340;p2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p23: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49" name="Google Shape;349;p2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7" name="Shape 387"/>
        <p:cNvGrpSpPr/>
        <p:nvPr/>
      </p:nvGrpSpPr>
      <p:grpSpPr>
        <a:xfrm>
          <a:off x="0" y="0"/>
          <a:ext cx="0" cy="0"/>
          <a:chOff x="0" y="0"/>
          <a:chExt cx="0" cy="0"/>
        </a:xfrm>
      </p:grpSpPr>
      <p:sp>
        <p:nvSpPr>
          <p:cNvPr id="388" name="Google Shape;388;p24: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89" name="Google Shape;389;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9" name="Shape 399"/>
        <p:cNvGrpSpPr/>
        <p:nvPr/>
      </p:nvGrpSpPr>
      <p:grpSpPr>
        <a:xfrm>
          <a:off x="0" y="0"/>
          <a:ext cx="0" cy="0"/>
          <a:chOff x="0" y="0"/>
          <a:chExt cx="0" cy="0"/>
        </a:xfrm>
      </p:grpSpPr>
      <p:sp>
        <p:nvSpPr>
          <p:cNvPr id="400" name="Google Shape;400;p25: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01" name="Google Shape;401;p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9" name="Shape 449"/>
        <p:cNvGrpSpPr/>
        <p:nvPr/>
      </p:nvGrpSpPr>
      <p:grpSpPr>
        <a:xfrm>
          <a:off x="0" y="0"/>
          <a:ext cx="0" cy="0"/>
          <a:chOff x="0" y="0"/>
          <a:chExt cx="0" cy="0"/>
        </a:xfrm>
      </p:grpSpPr>
      <p:sp>
        <p:nvSpPr>
          <p:cNvPr id="450" name="Google Shape;450;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51" name="Google Shape;451;p6:notes"/>
          <p:cNvSpPr/>
          <p:nvPr>
            <p:ph idx="2" type="sldImg"/>
          </p:nvPr>
        </p:nvSpPr>
        <p:spPr>
          <a:xfrm>
            <a:off x="461963" y="0"/>
            <a:ext cx="2076450" cy="3000375"/>
          </a:xfrm>
          <a:custGeom>
            <a:rect b="b" l="l" r="r" t="t"/>
            <a:pathLst>
              <a:path extrusionOk="0" h="120000" w="120000">
                <a:moveTo>
                  <a:pt x="0" y="0"/>
                </a:moveTo>
                <a:lnTo>
                  <a:pt x="120000" y="0"/>
                </a:lnTo>
                <a:lnTo>
                  <a:pt x="120000" y="120000"/>
                </a:lnTo>
                <a:lnTo>
                  <a:pt x="0" y="120000"/>
                </a:lnTo>
                <a:close/>
              </a:path>
            </a:pathLst>
          </a:custGeom>
          <a:noFill/>
          <a:ln>
            <a:noFill/>
          </a:ln>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9" name="Shape 459"/>
        <p:cNvGrpSpPr/>
        <p:nvPr/>
      </p:nvGrpSpPr>
      <p:grpSpPr>
        <a:xfrm>
          <a:off x="0" y="0"/>
          <a:ext cx="0" cy="0"/>
          <a:chOff x="0" y="0"/>
          <a:chExt cx="0" cy="0"/>
        </a:xfrm>
      </p:grpSpPr>
      <p:sp>
        <p:nvSpPr>
          <p:cNvPr id="460" name="Google Shape;460;p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1" name="Google Shape;461;p7:notes"/>
          <p:cNvSpPr/>
          <p:nvPr>
            <p:ph idx="2" type="sldImg"/>
          </p:nvPr>
        </p:nvSpPr>
        <p:spPr>
          <a:xfrm>
            <a:off x="461963" y="0"/>
            <a:ext cx="2076450" cy="3000375"/>
          </a:xfrm>
          <a:custGeom>
            <a:rect b="b" l="l" r="r" t="t"/>
            <a:pathLst>
              <a:path extrusionOk="0" h="120000" w="120000">
                <a:moveTo>
                  <a:pt x="0" y="0"/>
                </a:moveTo>
                <a:lnTo>
                  <a:pt x="120000" y="0"/>
                </a:lnTo>
                <a:lnTo>
                  <a:pt x="120000" y="120000"/>
                </a:lnTo>
                <a:lnTo>
                  <a:pt x="0" y="120000"/>
                </a:lnTo>
                <a:close/>
              </a:path>
            </a:pathLst>
          </a:custGeom>
          <a:noFill/>
          <a:ln>
            <a:noFill/>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0" name="Shape 10"/>
        <p:cNvGrpSpPr/>
        <p:nvPr/>
      </p:nvGrpSpPr>
      <p:grpSpPr>
        <a:xfrm>
          <a:off x="0" y="0"/>
          <a:ext cx="0" cy="0"/>
          <a:chOff x="0" y="0"/>
          <a:chExt cx="0" cy="0"/>
        </a:xfrm>
      </p:grpSpPr>
      <p:pic>
        <p:nvPicPr>
          <p:cNvPr id="11" name="Google Shape;11;p11"/>
          <p:cNvPicPr preferRelativeResize="0"/>
          <p:nvPr/>
        </p:nvPicPr>
        <p:blipFill rotWithShape="1">
          <a:blip r:embed="rId2">
            <a:alphaModFix/>
          </a:blip>
          <a:srcRect b="0" l="1041" r="1088" t="0"/>
          <a:stretch/>
        </p:blipFill>
        <p:spPr>
          <a:xfrm>
            <a:off x="0" y="0"/>
            <a:ext cx="6858000" cy="9910569"/>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6.jp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png"/><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Sp="0">
  <p:cSld>
    <p:bg>
      <p:bgPr>
        <a:blipFill>
          <a:blip r:embed="rId3">
            <a:alphaModFix/>
          </a:blip>
          <a:stretch>
            <a:fillRect/>
          </a:stretch>
        </a:blipFill>
      </p:bgPr>
    </p:bg>
    <p:spTree>
      <p:nvGrpSpPr>
        <p:cNvPr id="15" name="Shape 15"/>
        <p:cNvGrpSpPr/>
        <p:nvPr/>
      </p:nvGrpSpPr>
      <p:grpSpPr>
        <a:xfrm>
          <a:off x="0" y="0"/>
          <a:ext cx="0" cy="0"/>
          <a:chOff x="0" y="0"/>
          <a:chExt cx="0" cy="0"/>
        </a:xfrm>
      </p:grpSpPr>
      <p:pic>
        <p:nvPicPr>
          <p:cNvPr id="16" name="Google Shape;16;p1"/>
          <p:cNvPicPr preferRelativeResize="0"/>
          <p:nvPr/>
        </p:nvPicPr>
        <p:blipFill rotWithShape="1">
          <a:blip r:embed="rId4">
            <a:alphaModFix/>
          </a:blip>
          <a:srcRect b="28199" l="0" r="0" t="11191"/>
          <a:stretch/>
        </p:blipFill>
        <p:spPr>
          <a:xfrm>
            <a:off x="-2443500" y="0"/>
            <a:ext cx="6903252" cy="2354238"/>
          </a:xfrm>
          <a:prstGeom prst="flowChartTerminator">
            <a:avLst/>
          </a:prstGeom>
          <a:noFill/>
          <a:ln>
            <a:noFill/>
          </a:ln>
        </p:spPr>
      </p:pic>
      <p:sp>
        <p:nvSpPr>
          <p:cNvPr id="17" name="Google Shape;17;p1"/>
          <p:cNvSpPr/>
          <p:nvPr/>
        </p:nvSpPr>
        <p:spPr>
          <a:xfrm>
            <a:off x="657775" y="4143720"/>
            <a:ext cx="3914225" cy="54864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1125"/>
              <a:buFont typeface="Arial"/>
              <a:buNone/>
            </a:pPr>
            <a:r>
              <a:rPr b="1" i="0" lang="es-CO" sz="1125" u="none" cap="none" strike="noStrike">
                <a:solidFill>
                  <a:srgbClr val="024791"/>
                </a:solidFill>
                <a:latin typeface="Arial"/>
                <a:ea typeface="Arial"/>
                <a:cs typeface="Arial"/>
                <a:sym typeface="Arial"/>
              </a:rPr>
              <a:t>De los fundamentos de Scrum al aprendizaje, la adaptación y la generación de valor.</a:t>
            </a:r>
            <a:endParaRPr b="1" i="0" sz="1125" u="none" cap="none" strike="noStrike">
              <a:solidFill>
                <a:srgbClr val="024791"/>
              </a:solidFill>
              <a:latin typeface="Arial"/>
              <a:ea typeface="Arial"/>
              <a:cs typeface="Arial"/>
              <a:sym typeface="Arial"/>
            </a:endParaRPr>
          </a:p>
        </p:txBody>
      </p:sp>
      <p:sp>
        <p:nvSpPr>
          <p:cNvPr id="18" name="Google Shape;18;p1"/>
          <p:cNvSpPr/>
          <p:nvPr/>
        </p:nvSpPr>
        <p:spPr>
          <a:xfrm>
            <a:off x="657775" y="4754880"/>
            <a:ext cx="4387950" cy="1295400"/>
          </a:xfrm>
          <a:prstGeom prst="rect">
            <a:avLst/>
          </a:prstGeom>
          <a:noFill/>
          <a:ln>
            <a:noFill/>
          </a:ln>
        </p:spPr>
        <p:txBody>
          <a:bodyPr anchorCtr="0" anchor="t" bIns="0" lIns="0" spcFirstLastPara="1" rIns="0" wrap="square" tIns="0">
            <a:normAutofit/>
          </a:bodyPr>
          <a:lstStyle/>
          <a:p>
            <a:pPr indent="0" lvl="0" marL="0" marR="0" rtl="0" algn="l">
              <a:lnSpc>
                <a:spcPct val="90000"/>
              </a:lnSpc>
              <a:spcBef>
                <a:spcPts val="0"/>
              </a:spcBef>
              <a:spcAft>
                <a:spcPts val="0"/>
              </a:spcAft>
              <a:buClr>
                <a:srgbClr val="000000"/>
              </a:buClr>
              <a:buSzPts val="2983"/>
              <a:buFont typeface="Arial"/>
              <a:buNone/>
            </a:pPr>
            <a:r>
              <a:rPr b="1" i="0" lang="es-CO" sz="2983" u="none" cap="none" strike="noStrike">
                <a:solidFill>
                  <a:srgbClr val="24212A"/>
                </a:solidFill>
                <a:latin typeface="Arial"/>
                <a:ea typeface="Arial"/>
                <a:cs typeface="Arial"/>
                <a:sym typeface="Arial"/>
              </a:rPr>
              <a:t>Scrum: qué es, de dónde viene y en qué se sostiene</a:t>
            </a:r>
            <a:endParaRPr b="1" i="0" sz="2983" u="none" cap="none" strike="noStrike">
              <a:solidFill>
                <a:schemeClr val="dk1"/>
              </a:solidFill>
              <a:latin typeface="Arial"/>
              <a:ea typeface="Arial"/>
              <a:cs typeface="Arial"/>
              <a:sym typeface="Arial"/>
            </a:endParaRPr>
          </a:p>
        </p:txBody>
      </p:sp>
      <p:sp>
        <p:nvSpPr>
          <p:cNvPr id="19" name="Google Shape;19;p1"/>
          <p:cNvSpPr/>
          <p:nvPr/>
        </p:nvSpPr>
        <p:spPr>
          <a:xfrm>
            <a:off x="0" y="0"/>
            <a:ext cx="6858000" cy="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pic>
        <p:nvPicPr>
          <p:cNvPr id="20" name="Google Shape;20;p1"/>
          <p:cNvPicPr preferRelativeResize="0"/>
          <p:nvPr/>
        </p:nvPicPr>
        <p:blipFill rotWithShape="1">
          <a:blip r:embed="rId5">
            <a:alphaModFix/>
          </a:blip>
          <a:srcRect b="0" l="0" r="0" t="0"/>
          <a:stretch/>
        </p:blipFill>
        <p:spPr>
          <a:xfrm>
            <a:off x="657775" y="6648766"/>
            <a:ext cx="1765069" cy="142444"/>
          </a:xfrm>
          <a:prstGeom prst="rect">
            <a:avLst/>
          </a:prstGeom>
          <a:noFill/>
          <a:ln>
            <a:noFill/>
          </a:ln>
        </p:spPr>
      </p:pic>
      <p:sp>
        <p:nvSpPr>
          <p:cNvPr id="21" name="Google Shape;21;p1"/>
          <p:cNvSpPr/>
          <p:nvPr/>
        </p:nvSpPr>
        <p:spPr>
          <a:xfrm>
            <a:off x="657775" y="3340865"/>
            <a:ext cx="2038350" cy="323850"/>
          </a:xfrm>
          <a:prstGeom prst="roundRect">
            <a:avLst>
              <a:gd fmla="val 50000" name="adj"/>
            </a:avLst>
          </a:prstGeom>
          <a:solidFill>
            <a:srgbClr val="A7198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 name="Google Shape;22;p1"/>
          <p:cNvSpPr/>
          <p:nvPr/>
        </p:nvSpPr>
        <p:spPr>
          <a:xfrm>
            <a:off x="791125" y="3426590"/>
            <a:ext cx="1771650" cy="171450"/>
          </a:xfrm>
          <a:prstGeom prst="rect">
            <a:avLst/>
          </a:prstGeom>
          <a:noFill/>
          <a:ln>
            <a:noFill/>
          </a:ln>
        </p:spPr>
        <p:txBody>
          <a:bodyPr anchorCtr="0" anchor="t" bIns="0" lIns="0" spcFirstLastPara="1" rIns="0" wrap="square" tIns="0">
            <a:normAutofit/>
          </a:bodyPr>
          <a:lstStyle/>
          <a:p>
            <a:pPr indent="0" lvl="0" marL="0" marR="0" rtl="0" algn="ctr">
              <a:lnSpc>
                <a:spcPct val="100000"/>
              </a:lnSpc>
              <a:spcBef>
                <a:spcPts val="0"/>
              </a:spcBef>
              <a:spcAft>
                <a:spcPts val="0"/>
              </a:spcAft>
              <a:buClr>
                <a:srgbClr val="000000"/>
              </a:buClr>
              <a:buSzPts val="900"/>
              <a:buFont typeface="Arial"/>
              <a:buNone/>
            </a:pPr>
            <a:r>
              <a:rPr b="1" i="0" lang="es-CO" sz="900" u="none" cap="none" strike="noStrike">
                <a:solidFill>
                  <a:schemeClr val="lt1"/>
                </a:solidFill>
                <a:latin typeface="Arial"/>
                <a:ea typeface="Arial"/>
                <a:cs typeface="Arial"/>
                <a:sym typeface="Arial"/>
              </a:rPr>
              <a:t>Artículo educativo</a:t>
            </a:r>
            <a:endParaRPr b="0" i="0" sz="1800" u="none" cap="none" strike="noStrike">
              <a:solidFill>
                <a:schemeClr val="lt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 name="Shape 27"/>
        <p:cNvGrpSpPr/>
        <p:nvPr/>
      </p:nvGrpSpPr>
      <p:grpSpPr>
        <a:xfrm>
          <a:off x="0" y="0"/>
          <a:ext cx="0" cy="0"/>
          <a:chOff x="0" y="0"/>
          <a:chExt cx="0" cy="0"/>
        </a:xfrm>
      </p:grpSpPr>
      <p:sp>
        <p:nvSpPr>
          <p:cNvPr id="28" name="Google Shape;28;p2"/>
          <p:cNvSpPr/>
          <p:nvPr/>
        </p:nvSpPr>
        <p:spPr>
          <a:xfrm>
            <a:off x="876300" y="1104900"/>
            <a:ext cx="4953000" cy="22860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900"/>
              <a:buFont typeface="Arial"/>
              <a:buNone/>
            </a:pPr>
            <a:r>
              <a:rPr b="1" i="0" lang="es-CO" sz="900" u="none" cap="none" strike="noStrike">
                <a:solidFill>
                  <a:srgbClr val="B31686"/>
                </a:solidFill>
                <a:latin typeface="Arial"/>
                <a:ea typeface="Arial"/>
                <a:cs typeface="Arial"/>
                <a:sym typeface="Arial"/>
              </a:rPr>
              <a:t>Mapa de lectura</a:t>
            </a:r>
            <a:endParaRPr b="0" i="0" sz="1400" u="none" cap="none" strike="noStrike">
              <a:solidFill>
                <a:srgbClr val="000000"/>
              </a:solidFill>
              <a:latin typeface="Arial"/>
              <a:ea typeface="Arial"/>
              <a:cs typeface="Arial"/>
              <a:sym typeface="Arial"/>
            </a:endParaRPr>
          </a:p>
        </p:txBody>
      </p:sp>
      <p:sp>
        <p:nvSpPr>
          <p:cNvPr id="29" name="Google Shape;29;p2"/>
          <p:cNvSpPr/>
          <p:nvPr/>
        </p:nvSpPr>
        <p:spPr>
          <a:xfrm>
            <a:off x="876300" y="1409700"/>
            <a:ext cx="5105400" cy="690943"/>
          </a:xfrm>
          <a:prstGeom prst="rect">
            <a:avLst/>
          </a:prstGeom>
          <a:noFill/>
          <a:ln>
            <a:noFill/>
          </a:ln>
        </p:spPr>
        <p:txBody>
          <a:bodyPr anchorCtr="0" anchor="t" bIns="0" lIns="0" spcFirstLastPara="1" rIns="0" wrap="square" tIns="0">
            <a:normAutofit/>
          </a:bodyPr>
          <a:lstStyle/>
          <a:p>
            <a:pPr indent="0" lvl="0" marL="0" marR="0" rtl="0" algn="l">
              <a:lnSpc>
                <a:spcPct val="90000"/>
              </a:lnSpc>
              <a:spcBef>
                <a:spcPts val="0"/>
              </a:spcBef>
              <a:spcAft>
                <a:spcPts val="0"/>
              </a:spcAft>
              <a:buClr>
                <a:srgbClr val="000000"/>
              </a:buClr>
              <a:buSzPts val="2325"/>
              <a:buFont typeface="Arial"/>
              <a:buNone/>
            </a:pPr>
            <a:r>
              <a:rPr b="1" i="0" lang="es-CO" sz="2325" u="none" cap="none" strike="noStrike">
                <a:solidFill>
                  <a:srgbClr val="3D2159"/>
                </a:solidFill>
                <a:latin typeface="Arial"/>
                <a:ea typeface="Arial"/>
                <a:cs typeface="Arial"/>
                <a:sym typeface="Arial"/>
              </a:rPr>
              <a:t>Scrum: qué es, de dónde viene y en qué se sostiene</a:t>
            </a:r>
            <a:endParaRPr b="0" i="0" sz="1400" u="none" cap="none" strike="noStrike">
              <a:solidFill>
                <a:srgbClr val="000000"/>
              </a:solidFill>
              <a:latin typeface="Arial"/>
              <a:ea typeface="Arial"/>
              <a:cs typeface="Arial"/>
              <a:sym typeface="Arial"/>
            </a:endParaRPr>
          </a:p>
        </p:txBody>
      </p:sp>
      <p:sp>
        <p:nvSpPr>
          <p:cNvPr id="30" name="Google Shape;30;p2"/>
          <p:cNvSpPr/>
          <p:nvPr/>
        </p:nvSpPr>
        <p:spPr>
          <a:xfrm>
            <a:off x="876300" y="2637481"/>
            <a:ext cx="5105400" cy="1234440"/>
          </a:xfrm>
          <a:prstGeom prst="roundRect">
            <a:avLst>
              <a:gd fmla="val 18033" name="adj"/>
            </a:avLst>
          </a:prstGeom>
          <a:solidFill>
            <a:srgbClr val="E9FBF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 name="Google Shape;31;p2"/>
          <p:cNvSpPr/>
          <p:nvPr/>
        </p:nvSpPr>
        <p:spPr>
          <a:xfrm>
            <a:off x="1104900" y="2856938"/>
            <a:ext cx="4629150" cy="133731"/>
          </a:xfrm>
          <a:prstGeom prst="rect">
            <a:avLst/>
          </a:prstGeom>
          <a:noFill/>
          <a:ln>
            <a:noFill/>
          </a:ln>
        </p:spPr>
        <p:txBody>
          <a:bodyPr anchorCtr="0" anchor="t" bIns="0" lIns="0" spcFirstLastPara="1" rIns="0" wrap="square" tIns="0">
            <a:normAutofit/>
          </a:bodyPr>
          <a:lstStyle/>
          <a:p>
            <a:pPr indent="0" lvl="0" marL="0" marR="0" rtl="0" algn="l">
              <a:lnSpc>
                <a:spcPct val="90000"/>
              </a:lnSpc>
              <a:spcBef>
                <a:spcPts val="0"/>
              </a:spcBef>
              <a:spcAft>
                <a:spcPts val="0"/>
              </a:spcAft>
              <a:buClr>
                <a:srgbClr val="000000"/>
              </a:buClr>
              <a:buSzPts val="900"/>
              <a:buFont typeface="Arial"/>
              <a:buNone/>
            </a:pPr>
            <a:r>
              <a:rPr b="1" i="0" lang="es-CO" sz="900" u="none" cap="none" strike="noStrike">
                <a:solidFill>
                  <a:srgbClr val="024791"/>
                </a:solidFill>
                <a:latin typeface="Arial"/>
                <a:ea typeface="Arial"/>
                <a:cs typeface="Arial"/>
                <a:sym typeface="Arial"/>
              </a:rPr>
              <a:t>Resultado de aprendizaje</a:t>
            </a:r>
            <a:endParaRPr b="0" i="0" sz="1400" u="none" cap="none" strike="noStrike">
              <a:solidFill>
                <a:srgbClr val="000000"/>
              </a:solidFill>
              <a:latin typeface="Arial"/>
              <a:ea typeface="Arial"/>
              <a:cs typeface="Arial"/>
              <a:sym typeface="Arial"/>
            </a:endParaRPr>
          </a:p>
        </p:txBody>
      </p:sp>
      <p:sp>
        <p:nvSpPr>
          <p:cNvPr id="32" name="Google Shape;32;p2"/>
          <p:cNvSpPr/>
          <p:nvPr/>
        </p:nvSpPr>
        <p:spPr>
          <a:xfrm>
            <a:off x="1104900" y="3082109"/>
            <a:ext cx="4629150" cy="685800"/>
          </a:xfrm>
          <a:prstGeom prst="rect">
            <a:avLst/>
          </a:prstGeom>
          <a:noFill/>
          <a:ln>
            <a:noFill/>
          </a:ln>
        </p:spPr>
        <p:txBody>
          <a:bodyPr anchorCtr="0" anchor="t" bIns="0" lIns="0" spcFirstLastPara="1" rIns="0" wrap="square" tIns="0">
            <a:normAutofit/>
          </a:bodyPr>
          <a:lstStyle/>
          <a:p>
            <a:pPr indent="0" lvl="0" marL="0" marR="0" rtl="0" algn="l">
              <a:lnSpc>
                <a:spcPct val="90000"/>
              </a:lnSpc>
              <a:spcBef>
                <a:spcPts val="0"/>
              </a:spcBef>
              <a:spcAft>
                <a:spcPts val="0"/>
              </a:spcAft>
              <a:buClr>
                <a:srgbClr val="000000"/>
              </a:buClr>
              <a:buSzPts val="1050"/>
              <a:buFont typeface="Arial"/>
              <a:buNone/>
            </a:pPr>
            <a:r>
              <a:rPr b="1" i="0" lang="es-CO" sz="1050" u="none" cap="none" strike="noStrike">
                <a:solidFill>
                  <a:srgbClr val="332F37"/>
                </a:solidFill>
                <a:latin typeface="Arial"/>
                <a:ea typeface="Arial"/>
                <a:cs typeface="Arial"/>
                <a:sym typeface="Arial"/>
              </a:rPr>
              <a:t>Comprender los fundamentos de Scrum y reconocer sus principios, valores, responsabilidades, eventos y artefactos, identificando cómo se articulan para organizar el trabajo, favorecer la adaptación y generar valor en la gestión de proyectos.</a:t>
            </a:r>
            <a:endParaRPr b="0" i="0" sz="1400" u="none" cap="none" strike="noStrike">
              <a:solidFill>
                <a:srgbClr val="000000"/>
              </a:solidFill>
              <a:latin typeface="Arial"/>
              <a:ea typeface="Arial"/>
              <a:cs typeface="Arial"/>
              <a:sym typeface="Arial"/>
            </a:endParaRPr>
          </a:p>
        </p:txBody>
      </p:sp>
      <p:sp>
        <p:nvSpPr>
          <p:cNvPr id="33" name="Google Shape;33;p2"/>
          <p:cNvSpPr/>
          <p:nvPr/>
        </p:nvSpPr>
        <p:spPr>
          <a:xfrm>
            <a:off x="895350" y="4063050"/>
            <a:ext cx="5067300" cy="742950"/>
          </a:xfrm>
          <a:prstGeom prst="roundRect">
            <a:avLst>
              <a:gd fmla="val 25641" name="adj"/>
            </a:avLst>
          </a:prstGeom>
          <a:solidFill>
            <a:srgbClr val="D8D2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 name="Google Shape;34;p2"/>
          <p:cNvSpPr/>
          <p:nvPr/>
        </p:nvSpPr>
        <p:spPr>
          <a:xfrm>
            <a:off x="876300" y="4015425"/>
            <a:ext cx="5105400" cy="742950"/>
          </a:xfrm>
          <a:prstGeom prst="roundRect">
            <a:avLst>
              <a:gd fmla="val 25641" name="adj"/>
            </a:avLst>
          </a:prstGeom>
          <a:solidFill>
            <a:srgbClr val="FFFFFF"/>
          </a:solidFill>
          <a:ln cap="flat" cmpd="sng" w="9525">
            <a:solidFill>
              <a:srgbClr val="DDD8E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 name="Google Shape;35;p2"/>
          <p:cNvSpPr/>
          <p:nvPr/>
        </p:nvSpPr>
        <p:spPr>
          <a:xfrm>
            <a:off x="876300" y="4015425"/>
            <a:ext cx="723900" cy="742950"/>
          </a:xfrm>
          <a:prstGeom prst="roundRect">
            <a:avLst>
              <a:gd fmla="val 26316" name="adj"/>
            </a:avLst>
          </a:prstGeom>
          <a:solidFill>
            <a:srgbClr val="66409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2"/>
          <p:cNvSpPr/>
          <p:nvPr/>
        </p:nvSpPr>
        <p:spPr>
          <a:xfrm>
            <a:off x="876300" y="4234500"/>
            <a:ext cx="723900" cy="266700"/>
          </a:xfrm>
          <a:prstGeom prst="rect">
            <a:avLst/>
          </a:prstGeom>
          <a:noFill/>
          <a:ln>
            <a:noFill/>
          </a:ln>
        </p:spPr>
        <p:txBody>
          <a:bodyPr anchorCtr="0" anchor="t" bIns="0" lIns="0" spcFirstLastPara="1" rIns="0" wrap="square" tIns="0">
            <a:normAutofit/>
          </a:bodyPr>
          <a:lstStyle/>
          <a:p>
            <a:pPr indent="0" lvl="0" marL="0" marR="0" rtl="0" algn="ctr">
              <a:lnSpc>
                <a:spcPct val="100000"/>
              </a:lnSpc>
              <a:spcBef>
                <a:spcPts val="0"/>
              </a:spcBef>
              <a:spcAft>
                <a:spcPts val="0"/>
              </a:spcAft>
              <a:buClr>
                <a:srgbClr val="000000"/>
              </a:buClr>
              <a:buSzPts val="1450"/>
              <a:buFont typeface="Arial"/>
              <a:buNone/>
            </a:pPr>
            <a:r>
              <a:rPr b="1" i="0" lang="es-CO" sz="1450" u="none" cap="none" strike="noStrike">
                <a:solidFill>
                  <a:srgbClr val="FFFFFF"/>
                </a:solidFill>
                <a:latin typeface="Arial"/>
                <a:ea typeface="Arial"/>
                <a:cs typeface="Arial"/>
                <a:sym typeface="Arial"/>
              </a:rPr>
              <a:t>01</a:t>
            </a:r>
            <a:endParaRPr b="0" i="0" sz="1400" u="none" cap="none" strike="noStrike">
              <a:solidFill>
                <a:srgbClr val="000000"/>
              </a:solidFill>
              <a:latin typeface="Arial"/>
              <a:ea typeface="Arial"/>
              <a:cs typeface="Arial"/>
              <a:sym typeface="Arial"/>
            </a:endParaRPr>
          </a:p>
        </p:txBody>
      </p:sp>
      <p:sp>
        <p:nvSpPr>
          <p:cNvPr id="37" name="Google Shape;37;p2"/>
          <p:cNvSpPr/>
          <p:nvPr/>
        </p:nvSpPr>
        <p:spPr>
          <a:xfrm>
            <a:off x="1828800" y="4139250"/>
            <a:ext cx="3714750" cy="22860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1100"/>
              <a:buFont typeface="Arial"/>
              <a:buNone/>
            </a:pPr>
            <a:r>
              <a:rPr b="1" i="0" lang="es-CO" sz="1100" u="none" cap="none" strike="noStrike">
                <a:solidFill>
                  <a:srgbClr val="3D2159"/>
                </a:solidFill>
                <a:latin typeface="Arial"/>
                <a:ea typeface="Arial"/>
                <a:cs typeface="Arial"/>
                <a:sym typeface="Arial"/>
              </a:rPr>
              <a:t>Introducción – Tema 1</a:t>
            </a:r>
            <a:endParaRPr b="0" i="0" sz="1400" u="none" cap="none" strike="noStrike">
              <a:solidFill>
                <a:srgbClr val="000000"/>
              </a:solidFill>
              <a:latin typeface="Arial"/>
              <a:ea typeface="Arial"/>
              <a:cs typeface="Arial"/>
              <a:sym typeface="Arial"/>
            </a:endParaRPr>
          </a:p>
        </p:txBody>
      </p:sp>
      <p:sp>
        <p:nvSpPr>
          <p:cNvPr id="38" name="Google Shape;38;p2"/>
          <p:cNvSpPr/>
          <p:nvPr/>
        </p:nvSpPr>
        <p:spPr>
          <a:xfrm>
            <a:off x="1828800" y="4425000"/>
            <a:ext cx="3714750" cy="17145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900"/>
              <a:buFont typeface="Arial"/>
              <a:buNone/>
            </a:pPr>
            <a:r>
              <a:rPr b="0" i="0" lang="es-CO" sz="900" u="none" cap="none" strike="noStrike">
                <a:solidFill>
                  <a:srgbClr val="7B7480"/>
                </a:solidFill>
                <a:latin typeface="Arial"/>
                <a:ea typeface="Arial"/>
                <a:cs typeface="Arial"/>
                <a:sym typeface="Arial"/>
              </a:rPr>
              <a:t>Comprender Scrum</a:t>
            </a:r>
            <a:endParaRPr b="0" i="0" sz="1400" u="none" cap="none" strike="noStrike">
              <a:solidFill>
                <a:srgbClr val="000000"/>
              </a:solidFill>
              <a:latin typeface="Arial"/>
              <a:ea typeface="Arial"/>
              <a:cs typeface="Arial"/>
              <a:sym typeface="Arial"/>
            </a:endParaRPr>
          </a:p>
        </p:txBody>
      </p:sp>
      <p:sp>
        <p:nvSpPr>
          <p:cNvPr id="39" name="Google Shape;39;p2"/>
          <p:cNvSpPr/>
          <p:nvPr/>
        </p:nvSpPr>
        <p:spPr>
          <a:xfrm>
            <a:off x="895350" y="5053650"/>
            <a:ext cx="5067300" cy="742950"/>
          </a:xfrm>
          <a:prstGeom prst="roundRect">
            <a:avLst>
              <a:gd fmla="val 25641" name="adj"/>
            </a:avLst>
          </a:prstGeom>
          <a:solidFill>
            <a:srgbClr val="D8D2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 name="Google Shape;40;p2"/>
          <p:cNvSpPr/>
          <p:nvPr/>
        </p:nvSpPr>
        <p:spPr>
          <a:xfrm>
            <a:off x="876300" y="5006025"/>
            <a:ext cx="5105400" cy="742950"/>
          </a:xfrm>
          <a:prstGeom prst="roundRect">
            <a:avLst>
              <a:gd fmla="val 25641" name="adj"/>
            </a:avLst>
          </a:prstGeom>
          <a:solidFill>
            <a:srgbClr val="FFFFFF"/>
          </a:solidFill>
          <a:ln cap="flat" cmpd="sng" w="9525">
            <a:solidFill>
              <a:srgbClr val="DDD8E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 name="Google Shape;41;p2"/>
          <p:cNvSpPr/>
          <p:nvPr/>
        </p:nvSpPr>
        <p:spPr>
          <a:xfrm>
            <a:off x="876300" y="5006025"/>
            <a:ext cx="723900" cy="742950"/>
          </a:xfrm>
          <a:prstGeom prst="roundRect">
            <a:avLst>
              <a:gd fmla="val 26316" name="adj"/>
            </a:avLst>
          </a:prstGeom>
          <a:solidFill>
            <a:srgbClr val="B3168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2"/>
          <p:cNvSpPr/>
          <p:nvPr/>
        </p:nvSpPr>
        <p:spPr>
          <a:xfrm>
            <a:off x="876300" y="5225100"/>
            <a:ext cx="723900" cy="266700"/>
          </a:xfrm>
          <a:prstGeom prst="rect">
            <a:avLst/>
          </a:prstGeom>
          <a:noFill/>
          <a:ln>
            <a:noFill/>
          </a:ln>
        </p:spPr>
        <p:txBody>
          <a:bodyPr anchorCtr="0" anchor="t" bIns="0" lIns="0" spcFirstLastPara="1" rIns="0" wrap="square" tIns="0">
            <a:normAutofit/>
          </a:bodyPr>
          <a:lstStyle/>
          <a:p>
            <a:pPr indent="0" lvl="0" marL="0" marR="0" rtl="0" algn="ctr">
              <a:lnSpc>
                <a:spcPct val="100000"/>
              </a:lnSpc>
              <a:spcBef>
                <a:spcPts val="0"/>
              </a:spcBef>
              <a:spcAft>
                <a:spcPts val="0"/>
              </a:spcAft>
              <a:buClr>
                <a:srgbClr val="000000"/>
              </a:buClr>
              <a:buSzPts val="1450"/>
              <a:buFont typeface="Arial"/>
              <a:buNone/>
            </a:pPr>
            <a:r>
              <a:rPr b="1" i="0" lang="es-CO" sz="1450" u="none" cap="none" strike="noStrike">
                <a:solidFill>
                  <a:srgbClr val="FFFFFF"/>
                </a:solidFill>
                <a:latin typeface="Arial"/>
                <a:ea typeface="Arial"/>
                <a:cs typeface="Arial"/>
                <a:sym typeface="Arial"/>
              </a:rPr>
              <a:t>02</a:t>
            </a:r>
            <a:endParaRPr b="0" i="0" sz="1400" u="none" cap="none" strike="noStrike">
              <a:solidFill>
                <a:srgbClr val="000000"/>
              </a:solidFill>
              <a:latin typeface="Arial"/>
              <a:ea typeface="Arial"/>
              <a:cs typeface="Arial"/>
              <a:sym typeface="Arial"/>
            </a:endParaRPr>
          </a:p>
        </p:txBody>
      </p:sp>
      <p:sp>
        <p:nvSpPr>
          <p:cNvPr id="43" name="Google Shape;43;p2"/>
          <p:cNvSpPr/>
          <p:nvPr/>
        </p:nvSpPr>
        <p:spPr>
          <a:xfrm>
            <a:off x="1828800" y="5129850"/>
            <a:ext cx="3714750" cy="22860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1100"/>
              <a:buFont typeface="Arial"/>
              <a:buNone/>
            </a:pPr>
            <a:r>
              <a:rPr b="1" i="0" lang="es-CO" sz="1100" u="none" cap="none" strike="noStrike">
                <a:solidFill>
                  <a:srgbClr val="3D2159"/>
                </a:solidFill>
                <a:latin typeface="Arial"/>
                <a:ea typeface="Arial"/>
                <a:cs typeface="Arial"/>
                <a:sym typeface="Arial"/>
              </a:rPr>
              <a:t>Tema 2</a:t>
            </a:r>
            <a:endParaRPr b="0" i="0" sz="1400" u="none" cap="none" strike="noStrike">
              <a:solidFill>
                <a:srgbClr val="000000"/>
              </a:solidFill>
              <a:latin typeface="Arial"/>
              <a:ea typeface="Arial"/>
              <a:cs typeface="Arial"/>
              <a:sym typeface="Arial"/>
            </a:endParaRPr>
          </a:p>
        </p:txBody>
      </p:sp>
      <p:sp>
        <p:nvSpPr>
          <p:cNvPr id="44" name="Google Shape;44;p2"/>
          <p:cNvSpPr/>
          <p:nvPr/>
        </p:nvSpPr>
        <p:spPr>
          <a:xfrm>
            <a:off x="1828800" y="5415600"/>
            <a:ext cx="3714750" cy="17145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900"/>
              <a:buFont typeface="Arial"/>
              <a:buNone/>
            </a:pPr>
            <a:r>
              <a:rPr b="0" i="0" lang="es-CO" sz="900" u="none" cap="none" strike="noStrike">
                <a:solidFill>
                  <a:srgbClr val="7B7480"/>
                </a:solidFill>
                <a:latin typeface="Arial"/>
                <a:ea typeface="Arial"/>
                <a:cs typeface="Arial"/>
                <a:sym typeface="Arial"/>
              </a:rPr>
              <a:t>Aprender desde la experiencia</a:t>
            </a:r>
            <a:endParaRPr b="0" i="0" sz="1400" u="none" cap="none" strike="noStrike">
              <a:solidFill>
                <a:srgbClr val="000000"/>
              </a:solidFill>
              <a:latin typeface="Arial"/>
              <a:ea typeface="Arial"/>
              <a:cs typeface="Arial"/>
              <a:sym typeface="Arial"/>
            </a:endParaRPr>
          </a:p>
        </p:txBody>
      </p:sp>
      <p:sp>
        <p:nvSpPr>
          <p:cNvPr id="45" name="Google Shape;45;p2"/>
          <p:cNvSpPr/>
          <p:nvPr/>
        </p:nvSpPr>
        <p:spPr>
          <a:xfrm>
            <a:off x="895350" y="6044250"/>
            <a:ext cx="5067300" cy="742950"/>
          </a:xfrm>
          <a:prstGeom prst="roundRect">
            <a:avLst>
              <a:gd fmla="val 25641" name="adj"/>
            </a:avLst>
          </a:prstGeom>
          <a:solidFill>
            <a:srgbClr val="D8D2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 name="Google Shape;46;p2"/>
          <p:cNvSpPr/>
          <p:nvPr/>
        </p:nvSpPr>
        <p:spPr>
          <a:xfrm>
            <a:off x="876300" y="5996625"/>
            <a:ext cx="5105400" cy="742950"/>
          </a:xfrm>
          <a:prstGeom prst="roundRect">
            <a:avLst>
              <a:gd fmla="val 25641" name="adj"/>
            </a:avLst>
          </a:prstGeom>
          <a:solidFill>
            <a:srgbClr val="FFFFFF"/>
          </a:solidFill>
          <a:ln cap="flat" cmpd="sng" w="9525">
            <a:solidFill>
              <a:srgbClr val="DDD8E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2"/>
          <p:cNvSpPr/>
          <p:nvPr/>
        </p:nvSpPr>
        <p:spPr>
          <a:xfrm>
            <a:off x="876300" y="5996625"/>
            <a:ext cx="723900" cy="742950"/>
          </a:xfrm>
          <a:prstGeom prst="roundRect">
            <a:avLst>
              <a:gd fmla="val 26316" name="adj"/>
            </a:avLst>
          </a:prstGeom>
          <a:solidFill>
            <a:srgbClr val="467CF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 name="Google Shape;48;p2"/>
          <p:cNvSpPr/>
          <p:nvPr/>
        </p:nvSpPr>
        <p:spPr>
          <a:xfrm>
            <a:off x="876300" y="6215700"/>
            <a:ext cx="723900" cy="266700"/>
          </a:xfrm>
          <a:prstGeom prst="rect">
            <a:avLst/>
          </a:prstGeom>
          <a:noFill/>
          <a:ln>
            <a:noFill/>
          </a:ln>
        </p:spPr>
        <p:txBody>
          <a:bodyPr anchorCtr="0" anchor="t" bIns="0" lIns="0" spcFirstLastPara="1" rIns="0" wrap="square" tIns="0">
            <a:normAutofit/>
          </a:bodyPr>
          <a:lstStyle/>
          <a:p>
            <a:pPr indent="0" lvl="0" marL="0" marR="0" rtl="0" algn="ctr">
              <a:lnSpc>
                <a:spcPct val="100000"/>
              </a:lnSpc>
              <a:spcBef>
                <a:spcPts val="0"/>
              </a:spcBef>
              <a:spcAft>
                <a:spcPts val="0"/>
              </a:spcAft>
              <a:buClr>
                <a:srgbClr val="000000"/>
              </a:buClr>
              <a:buSzPts val="1450"/>
              <a:buFont typeface="Arial"/>
              <a:buNone/>
            </a:pPr>
            <a:r>
              <a:rPr b="1" i="0" lang="es-CO" sz="1450" u="none" cap="none" strike="noStrike">
                <a:solidFill>
                  <a:srgbClr val="FFFFFF"/>
                </a:solidFill>
                <a:latin typeface="Arial"/>
                <a:ea typeface="Arial"/>
                <a:cs typeface="Arial"/>
                <a:sym typeface="Arial"/>
              </a:rPr>
              <a:t>03</a:t>
            </a:r>
            <a:endParaRPr b="0" i="0" sz="1400" u="none" cap="none" strike="noStrike">
              <a:solidFill>
                <a:srgbClr val="000000"/>
              </a:solidFill>
              <a:latin typeface="Arial"/>
              <a:ea typeface="Arial"/>
              <a:cs typeface="Arial"/>
              <a:sym typeface="Arial"/>
            </a:endParaRPr>
          </a:p>
        </p:txBody>
      </p:sp>
      <p:sp>
        <p:nvSpPr>
          <p:cNvPr id="49" name="Google Shape;49;p2"/>
          <p:cNvSpPr/>
          <p:nvPr/>
        </p:nvSpPr>
        <p:spPr>
          <a:xfrm>
            <a:off x="1828800" y="6120450"/>
            <a:ext cx="3714750" cy="22860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1100"/>
              <a:buFont typeface="Arial"/>
              <a:buNone/>
            </a:pPr>
            <a:r>
              <a:rPr b="1" i="0" lang="es-CO" sz="1100" u="none" cap="none" strike="noStrike">
                <a:solidFill>
                  <a:srgbClr val="3D2159"/>
                </a:solidFill>
                <a:latin typeface="Arial"/>
                <a:ea typeface="Arial"/>
                <a:cs typeface="Arial"/>
                <a:sym typeface="Arial"/>
              </a:rPr>
              <a:t>Tema 3</a:t>
            </a:r>
            <a:endParaRPr b="0" i="0" sz="1400" u="none" cap="none" strike="noStrike">
              <a:solidFill>
                <a:srgbClr val="000000"/>
              </a:solidFill>
              <a:latin typeface="Arial"/>
              <a:ea typeface="Arial"/>
              <a:cs typeface="Arial"/>
              <a:sym typeface="Arial"/>
            </a:endParaRPr>
          </a:p>
        </p:txBody>
      </p:sp>
      <p:sp>
        <p:nvSpPr>
          <p:cNvPr id="50" name="Google Shape;50;p2"/>
          <p:cNvSpPr/>
          <p:nvPr/>
        </p:nvSpPr>
        <p:spPr>
          <a:xfrm>
            <a:off x="1828800" y="6406200"/>
            <a:ext cx="3714750" cy="17145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900"/>
              <a:buFont typeface="Arial"/>
              <a:buNone/>
            </a:pPr>
            <a:r>
              <a:rPr b="0" i="0" lang="es-CO" sz="900" u="none" cap="none" strike="noStrike">
                <a:solidFill>
                  <a:srgbClr val="7B7480"/>
                </a:solidFill>
                <a:latin typeface="Arial"/>
                <a:ea typeface="Arial"/>
                <a:cs typeface="Arial"/>
                <a:sym typeface="Arial"/>
              </a:rPr>
              <a:t>Trabajar desde los valores ágiles</a:t>
            </a:r>
            <a:endParaRPr b="0" i="0" sz="1400" u="none" cap="none" strike="noStrike">
              <a:solidFill>
                <a:srgbClr val="000000"/>
              </a:solidFill>
              <a:latin typeface="Arial"/>
              <a:ea typeface="Arial"/>
              <a:cs typeface="Arial"/>
              <a:sym typeface="Arial"/>
            </a:endParaRPr>
          </a:p>
        </p:txBody>
      </p:sp>
      <p:sp>
        <p:nvSpPr>
          <p:cNvPr id="51" name="Google Shape;51;p2"/>
          <p:cNvSpPr/>
          <p:nvPr/>
        </p:nvSpPr>
        <p:spPr>
          <a:xfrm>
            <a:off x="895350" y="7034850"/>
            <a:ext cx="5067300" cy="742950"/>
          </a:xfrm>
          <a:prstGeom prst="roundRect">
            <a:avLst>
              <a:gd fmla="val 25641" name="adj"/>
            </a:avLst>
          </a:prstGeom>
          <a:solidFill>
            <a:srgbClr val="D8D2D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 name="Google Shape;52;p2"/>
          <p:cNvSpPr/>
          <p:nvPr/>
        </p:nvSpPr>
        <p:spPr>
          <a:xfrm>
            <a:off x="876300" y="6987225"/>
            <a:ext cx="5105400" cy="742950"/>
          </a:xfrm>
          <a:prstGeom prst="roundRect">
            <a:avLst>
              <a:gd fmla="val 25641" name="adj"/>
            </a:avLst>
          </a:prstGeom>
          <a:solidFill>
            <a:srgbClr val="FFFFFF"/>
          </a:solidFill>
          <a:ln cap="flat" cmpd="sng" w="9525">
            <a:solidFill>
              <a:srgbClr val="DDD8E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 name="Google Shape;53;p2"/>
          <p:cNvSpPr/>
          <p:nvPr/>
        </p:nvSpPr>
        <p:spPr>
          <a:xfrm>
            <a:off x="876300" y="6987225"/>
            <a:ext cx="723900" cy="742950"/>
          </a:xfrm>
          <a:prstGeom prst="roundRect">
            <a:avLst>
              <a:gd fmla="val 26316" name="adj"/>
            </a:avLst>
          </a:prstGeom>
          <a:solidFill>
            <a:srgbClr val="02479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 name="Google Shape;54;p2"/>
          <p:cNvSpPr/>
          <p:nvPr/>
        </p:nvSpPr>
        <p:spPr>
          <a:xfrm>
            <a:off x="876300" y="7206300"/>
            <a:ext cx="723900" cy="266700"/>
          </a:xfrm>
          <a:prstGeom prst="rect">
            <a:avLst/>
          </a:prstGeom>
          <a:noFill/>
          <a:ln>
            <a:noFill/>
          </a:ln>
        </p:spPr>
        <p:txBody>
          <a:bodyPr anchorCtr="0" anchor="t" bIns="0" lIns="0" spcFirstLastPara="1" rIns="0" wrap="square" tIns="0">
            <a:normAutofit/>
          </a:bodyPr>
          <a:lstStyle/>
          <a:p>
            <a:pPr indent="0" lvl="0" marL="0" marR="0" rtl="0" algn="ctr">
              <a:lnSpc>
                <a:spcPct val="100000"/>
              </a:lnSpc>
              <a:spcBef>
                <a:spcPts val="0"/>
              </a:spcBef>
              <a:spcAft>
                <a:spcPts val="0"/>
              </a:spcAft>
              <a:buClr>
                <a:srgbClr val="000000"/>
              </a:buClr>
              <a:buSzPts val="1450"/>
              <a:buFont typeface="Arial"/>
              <a:buNone/>
            </a:pPr>
            <a:r>
              <a:rPr b="1" i="0" lang="es-CO" sz="1450" u="none" cap="none" strike="noStrike">
                <a:solidFill>
                  <a:srgbClr val="FFFFFF"/>
                </a:solidFill>
                <a:latin typeface="Arial"/>
                <a:ea typeface="Arial"/>
                <a:cs typeface="Arial"/>
                <a:sym typeface="Arial"/>
              </a:rPr>
              <a:t>04</a:t>
            </a:r>
            <a:endParaRPr b="0" i="0" sz="1400" u="none" cap="none" strike="noStrike">
              <a:solidFill>
                <a:srgbClr val="000000"/>
              </a:solidFill>
              <a:latin typeface="Arial"/>
              <a:ea typeface="Arial"/>
              <a:cs typeface="Arial"/>
              <a:sym typeface="Arial"/>
            </a:endParaRPr>
          </a:p>
        </p:txBody>
      </p:sp>
      <p:sp>
        <p:nvSpPr>
          <p:cNvPr id="55" name="Google Shape;55;p2"/>
          <p:cNvSpPr/>
          <p:nvPr/>
        </p:nvSpPr>
        <p:spPr>
          <a:xfrm>
            <a:off x="1828800" y="7111050"/>
            <a:ext cx="3714750" cy="22860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1100"/>
              <a:buFont typeface="Arial"/>
              <a:buNone/>
            </a:pPr>
            <a:r>
              <a:rPr b="1" i="0" lang="es-CO" sz="1100" u="none" cap="none" strike="noStrike">
                <a:solidFill>
                  <a:srgbClr val="3D2159"/>
                </a:solidFill>
                <a:latin typeface="Arial"/>
                <a:ea typeface="Arial"/>
                <a:cs typeface="Arial"/>
                <a:sym typeface="Arial"/>
              </a:rPr>
              <a:t>Síntesis - Referencias</a:t>
            </a:r>
            <a:endParaRPr b="0" i="0" sz="1400" u="none" cap="none" strike="noStrike">
              <a:solidFill>
                <a:srgbClr val="000000"/>
              </a:solidFill>
              <a:latin typeface="Arial"/>
              <a:ea typeface="Arial"/>
              <a:cs typeface="Arial"/>
              <a:sym typeface="Arial"/>
            </a:endParaRPr>
          </a:p>
        </p:txBody>
      </p:sp>
      <p:pic>
        <p:nvPicPr>
          <p:cNvPr id="56" name="Google Shape;56;p2"/>
          <p:cNvPicPr preferRelativeResize="0"/>
          <p:nvPr/>
        </p:nvPicPr>
        <p:blipFill rotWithShape="1">
          <a:blip r:embed="rId3">
            <a:alphaModFix/>
          </a:blip>
          <a:srcRect b="0" l="0" r="0" t="0"/>
          <a:stretch/>
        </p:blipFill>
        <p:spPr>
          <a:xfrm>
            <a:off x="869156" y="2219515"/>
            <a:ext cx="1100138" cy="88783"/>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 name="Shape 60"/>
        <p:cNvGrpSpPr/>
        <p:nvPr/>
      </p:nvGrpSpPr>
      <p:grpSpPr>
        <a:xfrm>
          <a:off x="0" y="0"/>
          <a:ext cx="0" cy="0"/>
          <a:chOff x="0" y="0"/>
          <a:chExt cx="0" cy="0"/>
        </a:xfrm>
      </p:grpSpPr>
      <p:sp>
        <p:nvSpPr>
          <p:cNvPr id="61" name="Google Shape;61;p3"/>
          <p:cNvSpPr/>
          <p:nvPr/>
        </p:nvSpPr>
        <p:spPr>
          <a:xfrm>
            <a:off x="876300" y="1104900"/>
            <a:ext cx="4953000" cy="22860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900"/>
              <a:buFont typeface="Arial"/>
              <a:buNone/>
            </a:pPr>
            <a:r>
              <a:rPr b="1" i="0" lang="es-CO" sz="900" u="none" cap="none" strike="noStrike">
                <a:solidFill>
                  <a:srgbClr val="B31686"/>
                </a:solidFill>
                <a:latin typeface="Arial"/>
                <a:ea typeface="Arial"/>
                <a:cs typeface="Arial"/>
                <a:sym typeface="Arial"/>
              </a:rPr>
              <a:t>Introducción</a:t>
            </a:r>
            <a:endParaRPr b="1" i="0" sz="900" u="none" cap="none" strike="noStrike">
              <a:solidFill>
                <a:srgbClr val="B31686"/>
              </a:solidFill>
              <a:latin typeface="Arial"/>
              <a:ea typeface="Arial"/>
              <a:cs typeface="Arial"/>
              <a:sym typeface="Arial"/>
            </a:endParaRPr>
          </a:p>
        </p:txBody>
      </p:sp>
      <p:sp>
        <p:nvSpPr>
          <p:cNvPr id="62" name="Google Shape;62;p3"/>
          <p:cNvSpPr/>
          <p:nvPr/>
        </p:nvSpPr>
        <p:spPr>
          <a:xfrm>
            <a:off x="876300" y="1409700"/>
            <a:ext cx="5105400" cy="813816"/>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2325"/>
              <a:buFont typeface="Arial"/>
              <a:buNone/>
            </a:pPr>
            <a:r>
              <a:rPr b="1" i="0" lang="es-CO" sz="2325" u="none" cap="none" strike="noStrike">
                <a:solidFill>
                  <a:srgbClr val="3D2159"/>
                </a:solidFill>
                <a:latin typeface="Arial"/>
                <a:ea typeface="Arial"/>
                <a:cs typeface="Arial"/>
                <a:sym typeface="Arial"/>
              </a:rPr>
              <a:t>Comprender Scrum para aprender, adaptar y generar valor</a:t>
            </a:r>
            <a:endParaRPr b="0" i="0" sz="1400" u="none" cap="none" strike="noStrike">
              <a:solidFill>
                <a:srgbClr val="000000"/>
              </a:solidFill>
              <a:latin typeface="Arial"/>
              <a:ea typeface="Arial"/>
              <a:cs typeface="Arial"/>
              <a:sym typeface="Arial"/>
            </a:endParaRPr>
          </a:p>
        </p:txBody>
      </p:sp>
      <p:pic>
        <p:nvPicPr>
          <p:cNvPr id="63" name="Google Shape;63;p3"/>
          <p:cNvPicPr preferRelativeResize="0"/>
          <p:nvPr/>
        </p:nvPicPr>
        <p:blipFill rotWithShape="1">
          <a:blip r:embed="rId3">
            <a:alphaModFix/>
          </a:blip>
          <a:srcRect b="0" l="0" r="0" t="0"/>
          <a:stretch/>
        </p:blipFill>
        <p:spPr>
          <a:xfrm>
            <a:off x="869156" y="2340864"/>
            <a:ext cx="1100138" cy="88783"/>
          </a:xfrm>
          <a:prstGeom prst="rect">
            <a:avLst/>
          </a:prstGeom>
          <a:noFill/>
          <a:ln>
            <a:noFill/>
          </a:ln>
        </p:spPr>
      </p:pic>
      <p:sp>
        <p:nvSpPr>
          <p:cNvPr id="64" name="Google Shape;64;p3"/>
          <p:cNvSpPr txBox="1"/>
          <p:nvPr/>
        </p:nvSpPr>
        <p:spPr>
          <a:xfrm>
            <a:off x="877824" y="2752344"/>
            <a:ext cx="5102352" cy="146685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s-CO" sz="1100" u="none" cap="none" strike="noStrike">
                <a:solidFill>
                  <a:srgbClr val="353646"/>
                </a:solidFill>
                <a:latin typeface="Arial"/>
                <a:ea typeface="Arial"/>
                <a:cs typeface="Arial"/>
                <a:sym typeface="Arial"/>
              </a:rPr>
              <a:t>Gestionar un proyecto supone tomar decisiones aun cuando no disponemos de toda la información desde el comienzo. Los requerimientos pueden evolucionar, las prioridades pueden cambiar y los resultados obtenidos durante el proceso pueden mostrarnos que necesitamos modificar el camino previsto. En este escenario, Scrum ofrece una estructura para avanzar, observar lo que ocurre, aprender de la experiencia y adaptar las decisiones.</a:t>
            </a:r>
            <a:endParaRPr/>
          </a:p>
        </p:txBody>
      </p:sp>
      <p:sp>
        <p:nvSpPr>
          <p:cNvPr id="65" name="Google Shape;65;p3"/>
          <p:cNvSpPr txBox="1"/>
          <p:nvPr/>
        </p:nvSpPr>
        <p:spPr>
          <a:xfrm>
            <a:off x="877824" y="4402074"/>
            <a:ext cx="5102352" cy="1047749"/>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s-CO" sz="1100" u="none" cap="none" strike="noStrike">
                <a:solidFill>
                  <a:srgbClr val="353646"/>
                </a:solidFill>
                <a:latin typeface="Arial"/>
                <a:ea typeface="Arial"/>
                <a:cs typeface="Arial"/>
                <a:sym typeface="Arial"/>
              </a:rPr>
              <a:t>Scrum se inscribe en el campo de los enfoques ágiles y busca facilitar la generación de valor frente a problemas complejos. Sin embargo, comprenderlo exige ir más allá de asociarlo con reuniones frecuentes, tableros de tareas o periodos cortos de trabajo. Necesitamos conocer qué significa Scrum, cómo</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 name="Shape 69"/>
        <p:cNvGrpSpPr/>
        <p:nvPr/>
      </p:nvGrpSpPr>
      <p:grpSpPr>
        <a:xfrm>
          <a:off x="0" y="0"/>
          <a:ext cx="0" cy="0"/>
          <a:chOff x="0" y="0"/>
          <a:chExt cx="0" cy="0"/>
        </a:xfrm>
      </p:grpSpPr>
      <p:sp>
        <p:nvSpPr>
          <p:cNvPr id="70" name="Google Shape;70;p12"/>
          <p:cNvSpPr/>
          <p:nvPr/>
        </p:nvSpPr>
        <p:spPr>
          <a:xfrm>
            <a:off x="876300" y="1104900"/>
            <a:ext cx="4953000" cy="22860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900"/>
              <a:buFont typeface="Arial"/>
              <a:buNone/>
            </a:pPr>
            <a:r>
              <a:rPr b="1" i="0" lang="es-CO" sz="900" u="none" cap="none" strike="noStrike">
                <a:solidFill>
                  <a:srgbClr val="B31686"/>
                </a:solidFill>
                <a:latin typeface="Arial"/>
                <a:ea typeface="Arial"/>
                <a:cs typeface="Arial"/>
                <a:sym typeface="Arial"/>
              </a:rPr>
              <a:t>Tema 1 · Comprender Scrum</a:t>
            </a:r>
            <a:endParaRPr b="1" i="0" sz="900" u="none" cap="none" strike="noStrike">
              <a:solidFill>
                <a:srgbClr val="B31686"/>
              </a:solidFill>
              <a:latin typeface="Arial"/>
              <a:ea typeface="Arial"/>
              <a:cs typeface="Arial"/>
              <a:sym typeface="Arial"/>
            </a:endParaRPr>
          </a:p>
        </p:txBody>
      </p:sp>
      <p:sp>
        <p:nvSpPr>
          <p:cNvPr id="71" name="Google Shape;71;p12"/>
          <p:cNvSpPr/>
          <p:nvPr/>
        </p:nvSpPr>
        <p:spPr>
          <a:xfrm>
            <a:off x="876300" y="1409700"/>
            <a:ext cx="5105400" cy="429768"/>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2325"/>
              <a:buFont typeface="Arial"/>
              <a:buNone/>
            </a:pPr>
            <a:r>
              <a:rPr b="1" i="0" lang="es-CO" sz="2325" u="none" cap="none" strike="noStrike">
                <a:solidFill>
                  <a:srgbClr val="3D2159"/>
                </a:solidFill>
                <a:latin typeface="Arial"/>
                <a:ea typeface="Arial"/>
                <a:cs typeface="Arial"/>
                <a:sym typeface="Arial"/>
              </a:rPr>
              <a:t>¿Qué entendemos por Scrum?</a:t>
            </a:r>
            <a:endParaRPr b="0" i="0" sz="1400" u="none" cap="none" strike="noStrike">
              <a:solidFill>
                <a:srgbClr val="000000"/>
              </a:solidFill>
              <a:latin typeface="Arial"/>
              <a:ea typeface="Arial"/>
              <a:cs typeface="Arial"/>
              <a:sym typeface="Arial"/>
            </a:endParaRPr>
          </a:p>
        </p:txBody>
      </p:sp>
      <p:pic>
        <p:nvPicPr>
          <p:cNvPr id="72" name="Google Shape;72;p12"/>
          <p:cNvPicPr preferRelativeResize="0"/>
          <p:nvPr/>
        </p:nvPicPr>
        <p:blipFill rotWithShape="1">
          <a:blip r:embed="rId3">
            <a:alphaModFix/>
          </a:blip>
          <a:srcRect b="0" l="0" r="0" t="0"/>
          <a:stretch/>
        </p:blipFill>
        <p:spPr>
          <a:xfrm>
            <a:off x="869156" y="1956816"/>
            <a:ext cx="1100138" cy="88783"/>
          </a:xfrm>
          <a:prstGeom prst="rect">
            <a:avLst/>
          </a:prstGeom>
          <a:noFill/>
          <a:ln>
            <a:noFill/>
          </a:ln>
        </p:spPr>
      </p:pic>
      <p:sp>
        <p:nvSpPr>
          <p:cNvPr id="73" name="Google Shape;73;p12"/>
          <p:cNvSpPr txBox="1"/>
          <p:nvPr/>
        </p:nvSpPr>
        <p:spPr>
          <a:xfrm>
            <a:off x="877824" y="2368296"/>
            <a:ext cx="5102352" cy="12573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s-CO" sz="1100" u="none" cap="none" strike="noStrike">
                <a:solidFill>
                  <a:srgbClr val="353646"/>
                </a:solidFill>
                <a:latin typeface="Arial"/>
                <a:ea typeface="Arial"/>
                <a:cs typeface="Arial"/>
                <a:sym typeface="Arial"/>
              </a:rPr>
              <a:t>Scrum es un marco de trabajo ligero que ayuda a personas, equipos y organizaciones a generar valor mediante soluciones adaptativas frente a problemas complejos (Schwaber &amp; Sutherland, 2020). Esta definición contiene una distinción importante: hablamos de un marco de trabajo y no de un procedimiento que determina detalladamente cada actividad que debemos realizar.</a:t>
            </a:r>
            <a:endParaRPr/>
          </a:p>
        </p:txBody>
      </p:sp>
      <p:sp>
        <p:nvSpPr>
          <p:cNvPr id="74" name="Google Shape;74;p12"/>
          <p:cNvSpPr txBox="1"/>
          <p:nvPr/>
        </p:nvSpPr>
        <p:spPr>
          <a:xfrm>
            <a:off x="877824" y="3808476"/>
            <a:ext cx="5102352" cy="12573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s-CO" sz="1100" u="none" cap="none" strike="noStrike">
                <a:solidFill>
                  <a:srgbClr val="353646"/>
                </a:solidFill>
                <a:latin typeface="Arial"/>
                <a:ea typeface="Arial"/>
                <a:cs typeface="Arial"/>
                <a:sym typeface="Arial"/>
              </a:rPr>
              <a:t>Esto significa que Scrum establece una estructura esencial para organizar el trabajo, pero deja espacio para incorporar prácticas y técnicas de acuerdo con las características del proyecto. Podemos emplear diferentes herramientas para planificar, diseñar, desarrollar o controlar la calidad sin que Scrum determine exactamente cómo ejecutar cada una de estas actividades.</a:t>
            </a:r>
            <a:endParaRPr/>
          </a:p>
        </p:txBody>
      </p:sp>
      <p:sp>
        <p:nvSpPr>
          <p:cNvPr id="75" name="Google Shape;75;p12"/>
          <p:cNvSpPr/>
          <p:nvPr/>
        </p:nvSpPr>
        <p:spPr>
          <a:xfrm>
            <a:off x="877824" y="5248656"/>
            <a:ext cx="5102352" cy="1257300"/>
          </a:xfrm>
          <a:prstGeom prst="roundRect">
            <a:avLst>
              <a:gd fmla="val 10000" name="adj"/>
            </a:avLst>
          </a:prstGeom>
          <a:solidFill>
            <a:srgbClr val="E9FBFB"/>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76" name="Google Shape;76;p12"/>
          <p:cNvSpPr txBox="1"/>
          <p:nvPr/>
        </p:nvSpPr>
        <p:spPr>
          <a:xfrm>
            <a:off x="1106424" y="5431536"/>
            <a:ext cx="4645152" cy="1828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CO" sz="900" u="none" cap="none" strike="noStrike">
                <a:solidFill>
                  <a:srgbClr val="024791"/>
                </a:solidFill>
                <a:latin typeface="Arial"/>
                <a:ea typeface="Arial"/>
                <a:cs typeface="Arial"/>
                <a:sym typeface="Arial"/>
              </a:rPr>
              <a:t>Idea importante</a:t>
            </a:r>
            <a:endParaRPr/>
          </a:p>
        </p:txBody>
      </p:sp>
      <p:sp>
        <p:nvSpPr>
          <p:cNvPr id="77" name="Google Shape;77;p12"/>
          <p:cNvSpPr txBox="1"/>
          <p:nvPr/>
        </p:nvSpPr>
        <p:spPr>
          <a:xfrm>
            <a:off x="1106424" y="5660136"/>
            <a:ext cx="4645152" cy="8001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1" i="0" lang="es-CO" sz="1050" u="none" cap="none" strike="noStrike">
                <a:solidFill>
                  <a:srgbClr val="3D2159"/>
                </a:solidFill>
                <a:latin typeface="Arial"/>
                <a:ea typeface="Arial"/>
                <a:cs typeface="Arial"/>
                <a:sym typeface="Arial"/>
              </a:rPr>
              <a:t>Scrum no nos indica paso a paso cómo realizar cada tarea. </a:t>
            </a:r>
            <a:r>
              <a:rPr b="0" i="0" lang="es-CO" sz="1050" u="none" cap="none" strike="noStrike">
                <a:solidFill>
                  <a:srgbClr val="353646"/>
                </a:solidFill>
                <a:latin typeface="Arial"/>
                <a:ea typeface="Arial"/>
                <a:cs typeface="Arial"/>
                <a:sym typeface="Arial"/>
              </a:rPr>
              <a:t>Proporciona una estructura mínima para organizar el trabajo, revisar los resultados y realizar ajustes a partir de lo aprendido.</a:t>
            </a:r>
            <a:endParaRPr/>
          </a:p>
        </p:txBody>
      </p:sp>
      <p:sp>
        <p:nvSpPr>
          <p:cNvPr id="78" name="Google Shape;78;p12"/>
          <p:cNvSpPr txBox="1"/>
          <p:nvPr/>
        </p:nvSpPr>
        <p:spPr>
          <a:xfrm>
            <a:off x="877824" y="6734556"/>
            <a:ext cx="5102352" cy="12573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s-CO" sz="1100" u="none" cap="none" strike="noStrike">
                <a:solidFill>
                  <a:srgbClr val="353646"/>
                </a:solidFill>
                <a:latin typeface="Arial"/>
                <a:ea typeface="Arial"/>
                <a:cs typeface="Arial"/>
                <a:sym typeface="Arial"/>
              </a:rPr>
              <a:t>Esta característica resulta especialmente relevante cuando trabajamos frente a problemas complejos. Si no podemos anticipar todas las respuestas desde el inicio, necesitamos generar información durante el proceso. Por ello, la gestión ágil favorece una planificación adaptable, la generación incremental de resultados, la colaboración y la retroalimentación frecuente (IEBS Business School, 2025).</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2" name="Shape 82"/>
        <p:cNvGrpSpPr/>
        <p:nvPr/>
      </p:nvGrpSpPr>
      <p:grpSpPr>
        <a:xfrm>
          <a:off x="0" y="0"/>
          <a:ext cx="0" cy="0"/>
          <a:chOff x="0" y="0"/>
          <a:chExt cx="0" cy="0"/>
        </a:xfrm>
      </p:grpSpPr>
      <p:sp>
        <p:nvSpPr>
          <p:cNvPr id="83" name="Google Shape;83;p13"/>
          <p:cNvSpPr/>
          <p:nvPr/>
        </p:nvSpPr>
        <p:spPr>
          <a:xfrm>
            <a:off x="876300" y="1104900"/>
            <a:ext cx="4953000" cy="22860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900"/>
              <a:buFont typeface="Arial"/>
              <a:buNone/>
            </a:pPr>
            <a:r>
              <a:rPr b="1" i="0" lang="es-CO" sz="900" u="none" cap="none" strike="noStrike">
                <a:solidFill>
                  <a:srgbClr val="B31686"/>
                </a:solidFill>
                <a:latin typeface="Arial"/>
                <a:ea typeface="Arial"/>
                <a:cs typeface="Arial"/>
                <a:sym typeface="Arial"/>
              </a:rPr>
              <a:t>Tema 1 · Comprender Scrum</a:t>
            </a:r>
            <a:endParaRPr b="1" i="0" sz="900" u="none" cap="none" strike="noStrike">
              <a:solidFill>
                <a:srgbClr val="B31686"/>
              </a:solidFill>
              <a:latin typeface="Arial"/>
              <a:ea typeface="Arial"/>
              <a:cs typeface="Arial"/>
              <a:sym typeface="Arial"/>
            </a:endParaRPr>
          </a:p>
        </p:txBody>
      </p:sp>
      <p:sp>
        <p:nvSpPr>
          <p:cNvPr id="84" name="Google Shape;84;p13"/>
          <p:cNvSpPr/>
          <p:nvPr/>
        </p:nvSpPr>
        <p:spPr>
          <a:xfrm>
            <a:off x="876300" y="1409700"/>
            <a:ext cx="5105400" cy="429768"/>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2325"/>
              <a:buFont typeface="Arial"/>
              <a:buNone/>
            </a:pPr>
            <a:r>
              <a:rPr b="1" i="0" lang="es-CO" sz="2325" u="none" cap="none" strike="noStrike">
                <a:solidFill>
                  <a:srgbClr val="3D2159"/>
                </a:solidFill>
                <a:latin typeface="Arial"/>
                <a:ea typeface="Arial"/>
                <a:cs typeface="Arial"/>
                <a:sym typeface="Arial"/>
              </a:rPr>
              <a:t>¿Por qué se llama Scrum?</a:t>
            </a:r>
            <a:endParaRPr b="0" i="0" sz="1400" u="none" cap="none" strike="noStrike">
              <a:solidFill>
                <a:srgbClr val="000000"/>
              </a:solidFill>
              <a:latin typeface="Arial"/>
              <a:ea typeface="Arial"/>
              <a:cs typeface="Arial"/>
              <a:sym typeface="Arial"/>
            </a:endParaRPr>
          </a:p>
        </p:txBody>
      </p:sp>
      <p:pic>
        <p:nvPicPr>
          <p:cNvPr id="85" name="Google Shape;85;p13"/>
          <p:cNvPicPr preferRelativeResize="0"/>
          <p:nvPr/>
        </p:nvPicPr>
        <p:blipFill rotWithShape="1">
          <a:blip r:embed="rId3">
            <a:alphaModFix/>
          </a:blip>
          <a:srcRect b="0" l="0" r="0" t="0"/>
          <a:stretch/>
        </p:blipFill>
        <p:spPr>
          <a:xfrm>
            <a:off x="869156" y="1956816"/>
            <a:ext cx="1100138" cy="88783"/>
          </a:xfrm>
          <a:prstGeom prst="rect">
            <a:avLst/>
          </a:prstGeom>
          <a:noFill/>
          <a:ln>
            <a:noFill/>
          </a:ln>
        </p:spPr>
      </p:pic>
      <p:sp>
        <p:nvSpPr>
          <p:cNvPr id="86" name="Google Shape;86;p13"/>
          <p:cNvSpPr txBox="1"/>
          <p:nvPr/>
        </p:nvSpPr>
        <p:spPr>
          <a:xfrm>
            <a:off x="877824" y="2368296"/>
            <a:ext cx="5102352" cy="1047749"/>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s-CO" sz="1100" u="none" cap="none" strike="noStrike">
                <a:solidFill>
                  <a:srgbClr val="353646"/>
                </a:solidFill>
                <a:latin typeface="Arial"/>
                <a:ea typeface="Arial"/>
                <a:cs typeface="Arial"/>
                <a:sym typeface="Arial"/>
              </a:rPr>
              <a:t>El término Scrum procede del rugby. En este deporte, hace referencia a una formación en la que varios integrantes actúan de manera coordinada para avanzar hacia un objetivo común. La metáfora permite representar una característica fundamental del marco: el resultado depende del trabajo conjunto y no de esfuerzos completamente aislados.</a:t>
            </a:r>
            <a:endParaRPr/>
          </a:p>
        </p:txBody>
      </p:sp>
      <p:sp>
        <p:nvSpPr>
          <p:cNvPr id="87" name="Google Shape;87;p13"/>
          <p:cNvSpPr txBox="1"/>
          <p:nvPr/>
        </p:nvSpPr>
        <p:spPr>
          <a:xfrm>
            <a:off x="877824" y="3598926"/>
            <a:ext cx="5102352" cy="1047749"/>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s-CO" sz="1100" u="none" cap="none" strike="noStrike">
                <a:solidFill>
                  <a:srgbClr val="353646"/>
                </a:solidFill>
                <a:latin typeface="Arial"/>
                <a:ea typeface="Arial"/>
                <a:cs typeface="Arial"/>
                <a:sym typeface="Arial"/>
              </a:rPr>
              <a:t>Esto no significa que todas las personas desempeñemos las mismas funciones. Scrum contempla responsabilidades diferenciadas que posteriormente estudiaremos con mayor profundidad. Lo importante es que estas responsabilidades forman parte de un mismo Scrum Team, orientado hacia objetivos compartidos.</a:t>
            </a:r>
            <a:endParaRPr/>
          </a:p>
        </p:txBody>
      </p:sp>
      <p:cxnSp>
        <p:nvCxnSpPr>
          <p:cNvPr id="88" name="Google Shape;88;p13"/>
          <p:cNvCxnSpPr/>
          <p:nvPr/>
        </p:nvCxnSpPr>
        <p:spPr>
          <a:xfrm>
            <a:off x="877824" y="4920995"/>
            <a:ext cx="5102352" cy="0"/>
          </a:xfrm>
          <a:prstGeom prst="straightConnector1">
            <a:avLst/>
          </a:prstGeom>
          <a:noFill/>
          <a:ln cap="flat" cmpd="sng" w="12700">
            <a:solidFill>
              <a:srgbClr val="D9DCE6"/>
            </a:solidFill>
            <a:prstDash val="solid"/>
            <a:round/>
            <a:headEnd len="sm" w="sm" type="none"/>
            <a:tailEnd len="sm" w="sm" type="none"/>
          </a:ln>
          <a:effectLst>
            <a:outerShdw blurRad="40000" rotWithShape="0" dir="5400000" dist="20000">
              <a:srgbClr val="000000">
                <a:alpha val="38039"/>
              </a:srgbClr>
            </a:outerShdw>
          </a:effectLst>
        </p:spPr>
      </p:cxn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sp>
        <p:nvSpPr>
          <p:cNvPr id="93" name="Google Shape;93;p14"/>
          <p:cNvSpPr/>
          <p:nvPr/>
        </p:nvSpPr>
        <p:spPr>
          <a:xfrm>
            <a:off x="876300" y="1104900"/>
            <a:ext cx="4953000" cy="22860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900"/>
              <a:buFont typeface="Arial"/>
              <a:buNone/>
            </a:pPr>
            <a:r>
              <a:rPr b="1" i="0" lang="es-CO" sz="900" u="none" cap="none" strike="noStrike">
                <a:solidFill>
                  <a:srgbClr val="B31686"/>
                </a:solidFill>
                <a:latin typeface="Arial"/>
                <a:ea typeface="Arial"/>
                <a:cs typeface="Arial"/>
                <a:sym typeface="Arial"/>
              </a:rPr>
              <a:t>Tema 1 · Comprender Scrum</a:t>
            </a:r>
            <a:endParaRPr b="1" i="0" sz="900" u="none" cap="none" strike="noStrike">
              <a:solidFill>
                <a:srgbClr val="B31686"/>
              </a:solidFill>
              <a:latin typeface="Arial"/>
              <a:ea typeface="Arial"/>
              <a:cs typeface="Arial"/>
              <a:sym typeface="Arial"/>
            </a:endParaRPr>
          </a:p>
        </p:txBody>
      </p:sp>
      <p:sp>
        <p:nvSpPr>
          <p:cNvPr id="94" name="Google Shape;94;p14"/>
          <p:cNvSpPr txBox="1"/>
          <p:nvPr/>
        </p:nvSpPr>
        <p:spPr>
          <a:xfrm>
            <a:off x="877824" y="1481328"/>
            <a:ext cx="5102352" cy="201168"/>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CO" sz="900" u="none" cap="none" strike="noStrike">
                <a:solidFill>
                  <a:srgbClr val="B31686"/>
                </a:solidFill>
                <a:latin typeface="Arial"/>
                <a:ea typeface="Arial"/>
                <a:cs typeface="Arial"/>
                <a:sym typeface="Arial"/>
              </a:rPr>
              <a:t>GESTIÓN DE EQUIPOS · LÓGICA DE ARTICULACIÓN</a:t>
            </a:r>
            <a:endParaRPr/>
          </a:p>
        </p:txBody>
      </p:sp>
      <p:sp>
        <p:nvSpPr>
          <p:cNvPr id="95" name="Google Shape;95;p14"/>
          <p:cNvSpPr txBox="1"/>
          <p:nvPr/>
        </p:nvSpPr>
        <p:spPr>
          <a:xfrm>
            <a:off x="877824" y="1755648"/>
            <a:ext cx="5102352" cy="276225"/>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CO" sz="1450" u="none" cap="none" strike="noStrike">
                <a:solidFill>
                  <a:srgbClr val="3D2159"/>
                </a:solidFill>
                <a:latin typeface="Arial"/>
                <a:ea typeface="Arial"/>
                <a:cs typeface="Arial"/>
                <a:sym typeface="Arial"/>
              </a:rPr>
              <a:t>Articulación y sentido colectivo en Scrum</a:t>
            </a:r>
            <a:endParaRPr/>
          </a:p>
        </p:txBody>
      </p:sp>
      <p:sp>
        <p:nvSpPr>
          <p:cNvPr id="96" name="Google Shape;96;p14"/>
          <p:cNvSpPr txBox="1"/>
          <p:nvPr/>
        </p:nvSpPr>
        <p:spPr>
          <a:xfrm>
            <a:off x="877824" y="2077593"/>
            <a:ext cx="5102352" cy="40005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1" lang="es-CO" sz="1050" u="none" cap="none" strike="noStrike">
                <a:solidFill>
                  <a:srgbClr val="5F5966"/>
                </a:solidFill>
                <a:latin typeface="Arial"/>
                <a:ea typeface="Arial"/>
                <a:cs typeface="Arial"/>
                <a:sym typeface="Arial"/>
              </a:rPr>
              <a:t>Cómo transformar la diversidad de roles en un resultado útil mediante la coordinación y el propósito común.</a:t>
            </a:r>
            <a:endParaRPr/>
          </a:p>
        </p:txBody>
      </p:sp>
      <p:sp>
        <p:nvSpPr>
          <p:cNvPr id="97" name="Google Shape;97;p14"/>
          <p:cNvSpPr/>
          <p:nvPr/>
        </p:nvSpPr>
        <p:spPr>
          <a:xfrm>
            <a:off x="877824" y="2678811"/>
            <a:ext cx="5102352" cy="868680"/>
          </a:xfrm>
          <a:prstGeom prst="roundRect">
            <a:avLst>
              <a:gd fmla="val 12000" name="adj"/>
            </a:avLst>
          </a:prstGeom>
          <a:solidFill>
            <a:srgbClr val="F1EBF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a:off x="1060704" y="2879979"/>
            <a:ext cx="457200" cy="457200"/>
          </a:xfrm>
          <a:prstGeom prst="ellipse">
            <a:avLst/>
          </a:prstGeom>
          <a:solidFill>
            <a:srgbClr val="66409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99" name="Google Shape;99;p14"/>
          <p:cNvSpPr txBox="1"/>
          <p:nvPr/>
        </p:nvSpPr>
        <p:spPr>
          <a:xfrm>
            <a:off x="1060704" y="2879979"/>
            <a:ext cx="457200" cy="457200"/>
          </a:xfrm>
          <a:prstGeom prst="rect">
            <a:avLst/>
          </a:prstGeom>
          <a:noFill/>
          <a:ln>
            <a:noFill/>
          </a:ln>
        </p:spPr>
        <p:txBody>
          <a:bodyPr anchorCtr="0" anchor="ctr" bIns="0" lIns="0" spcFirstLastPara="1" rIns="0" wrap="square" tIns="0">
            <a:spAutoFit/>
          </a:bodyPr>
          <a:lstStyle/>
          <a:p>
            <a:pPr indent="0" lvl="0" marL="0" marR="0" rtl="0" algn="ctr">
              <a:lnSpc>
                <a:spcPct val="110000"/>
              </a:lnSpc>
              <a:spcBef>
                <a:spcPts val="0"/>
              </a:spcBef>
              <a:spcAft>
                <a:spcPts val="0"/>
              </a:spcAft>
              <a:buNone/>
            </a:pPr>
            <a:r>
              <a:rPr b="1" i="0" lang="es-CO" sz="1300" u="none" cap="none" strike="noStrike">
                <a:solidFill>
                  <a:srgbClr val="FFFFFF"/>
                </a:solidFill>
                <a:latin typeface="Arial"/>
                <a:ea typeface="Arial"/>
                <a:cs typeface="Arial"/>
                <a:sym typeface="Arial"/>
              </a:rPr>
              <a:t>1</a:t>
            </a:r>
            <a:endParaRPr/>
          </a:p>
        </p:txBody>
      </p:sp>
      <p:sp>
        <p:nvSpPr>
          <p:cNvPr id="100" name="Google Shape;100;p14"/>
          <p:cNvSpPr txBox="1"/>
          <p:nvPr/>
        </p:nvSpPr>
        <p:spPr>
          <a:xfrm>
            <a:off x="1700784" y="2806827"/>
            <a:ext cx="4096512" cy="228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CO" sz="1100" u="none" cap="none" strike="noStrike">
                <a:solidFill>
                  <a:srgbClr val="664092"/>
                </a:solidFill>
                <a:latin typeface="Arial"/>
                <a:ea typeface="Arial"/>
                <a:cs typeface="Arial"/>
                <a:sym typeface="Arial"/>
              </a:rPr>
              <a:t>Responsabilidades diferentes</a:t>
            </a:r>
            <a:endParaRPr/>
          </a:p>
        </p:txBody>
      </p:sp>
      <p:sp>
        <p:nvSpPr>
          <p:cNvPr id="101" name="Google Shape;101;p14"/>
          <p:cNvSpPr txBox="1"/>
          <p:nvPr/>
        </p:nvSpPr>
        <p:spPr>
          <a:xfrm>
            <a:off x="1700784" y="3044571"/>
            <a:ext cx="4096512" cy="4572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0" i="0" lang="es-CO" sz="950" u="none" cap="none" strike="noStrike">
                <a:solidFill>
                  <a:srgbClr val="353646"/>
                </a:solidFill>
                <a:latin typeface="Arial"/>
                <a:ea typeface="Arial"/>
                <a:cs typeface="Arial"/>
                <a:sym typeface="Arial"/>
              </a:rPr>
              <a:t>Cada integrante asume un rol específico con margen de acción propio (visión del producto, facilitación del proceso o construcción técnica).</a:t>
            </a:r>
            <a:endParaRPr/>
          </a:p>
        </p:txBody>
      </p:sp>
      <p:sp>
        <p:nvSpPr>
          <p:cNvPr id="102" name="Google Shape;102;p14"/>
          <p:cNvSpPr/>
          <p:nvPr/>
        </p:nvSpPr>
        <p:spPr>
          <a:xfrm>
            <a:off x="1234440" y="3538347"/>
            <a:ext cx="109728" cy="128016"/>
          </a:xfrm>
          <a:prstGeom prst="downArrow">
            <a:avLst>
              <a:gd fmla="val 50000" name="adj1"/>
              <a:gd fmla="val 50000" name="adj2"/>
            </a:avLst>
          </a:prstGeom>
          <a:solidFill>
            <a:srgbClr val="B9C3D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03" name="Google Shape;103;p14"/>
          <p:cNvSpPr/>
          <p:nvPr/>
        </p:nvSpPr>
        <p:spPr>
          <a:xfrm>
            <a:off x="877824" y="3657219"/>
            <a:ext cx="5102352" cy="868680"/>
          </a:xfrm>
          <a:prstGeom prst="roundRect">
            <a:avLst>
              <a:gd fmla="val 12000" name="adj"/>
            </a:avLst>
          </a:prstGeom>
          <a:solidFill>
            <a:srgbClr val="E8F1FB"/>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04" name="Google Shape;104;p14"/>
          <p:cNvSpPr/>
          <p:nvPr/>
        </p:nvSpPr>
        <p:spPr>
          <a:xfrm>
            <a:off x="1060704" y="3858387"/>
            <a:ext cx="457200" cy="457200"/>
          </a:xfrm>
          <a:prstGeom prst="ellipse">
            <a:avLst/>
          </a:prstGeom>
          <a:solidFill>
            <a:srgbClr val="2A56C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05" name="Google Shape;105;p14"/>
          <p:cNvSpPr txBox="1"/>
          <p:nvPr/>
        </p:nvSpPr>
        <p:spPr>
          <a:xfrm>
            <a:off x="1060704" y="3858387"/>
            <a:ext cx="457200" cy="457200"/>
          </a:xfrm>
          <a:prstGeom prst="rect">
            <a:avLst/>
          </a:prstGeom>
          <a:noFill/>
          <a:ln>
            <a:noFill/>
          </a:ln>
        </p:spPr>
        <p:txBody>
          <a:bodyPr anchorCtr="0" anchor="ctr" bIns="0" lIns="0" spcFirstLastPara="1" rIns="0" wrap="square" tIns="0">
            <a:spAutoFit/>
          </a:bodyPr>
          <a:lstStyle/>
          <a:p>
            <a:pPr indent="0" lvl="0" marL="0" marR="0" rtl="0" algn="ctr">
              <a:lnSpc>
                <a:spcPct val="110000"/>
              </a:lnSpc>
              <a:spcBef>
                <a:spcPts val="0"/>
              </a:spcBef>
              <a:spcAft>
                <a:spcPts val="0"/>
              </a:spcAft>
              <a:buNone/>
            </a:pPr>
            <a:r>
              <a:rPr b="1" i="0" lang="es-CO" sz="1300" u="none" cap="none" strike="noStrike">
                <a:solidFill>
                  <a:srgbClr val="FFFFFF"/>
                </a:solidFill>
                <a:latin typeface="Arial"/>
                <a:ea typeface="Arial"/>
                <a:cs typeface="Arial"/>
                <a:sym typeface="Arial"/>
              </a:rPr>
              <a:t>2</a:t>
            </a:r>
            <a:endParaRPr/>
          </a:p>
        </p:txBody>
      </p:sp>
      <p:sp>
        <p:nvSpPr>
          <p:cNvPr id="106" name="Google Shape;106;p14"/>
          <p:cNvSpPr txBox="1"/>
          <p:nvPr/>
        </p:nvSpPr>
        <p:spPr>
          <a:xfrm>
            <a:off x="1700784" y="3785235"/>
            <a:ext cx="4096512" cy="228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CO" sz="1100" u="none" cap="none" strike="noStrike">
                <a:solidFill>
                  <a:srgbClr val="2A56C6"/>
                </a:solidFill>
                <a:latin typeface="Arial"/>
                <a:ea typeface="Arial"/>
                <a:cs typeface="Arial"/>
                <a:sym typeface="Arial"/>
              </a:rPr>
              <a:t>Trabajo coordinado</a:t>
            </a:r>
            <a:endParaRPr/>
          </a:p>
        </p:txBody>
      </p:sp>
      <p:sp>
        <p:nvSpPr>
          <p:cNvPr id="107" name="Google Shape;107;p14"/>
          <p:cNvSpPr txBox="1"/>
          <p:nvPr/>
        </p:nvSpPr>
        <p:spPr>
          <a:xfrm>
            <a:off x="1700784" y="4022979"/>
            <a:ext cx="4096512" cy="4572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0" i="0" lang="es-CO" sz="950" u="none" cap="none" strike="noStrike">
                <a:solidFill>
                  <a:srgbClr val="353646"/>
                </a:solidFill>
                <a:latin typeface="Arial"/>
                <a:ea typeface="Arial"/>
                <a:cs typeface="Arial"/>
                <a:sym typeface="Arial"/>
              </a:rPr>
              <a:t>Las tareas no ocurren en aislamiento; se sincronizan a través de eventos regulares, comunicación directa y transparencia visual.</a:t>
            </a:r>
            <a:endParaRPr/>
          </a:p>
        </p:txBody>
      </p:sp>
      <p:sp>
        <p:nvSpPr>
          <p:cNvPr id="108" name="Google Shape;108;p14"/>
          <p:cNvSpPr/>
          <p:nvPr/>
        </p:nvSpPr>
        <p:spPr>
          <a:xfrm>
            <a:off x="1234440" y="4516755"/>
            <a:ext cx="109728" cy="128016"/>
          </a:xfrm>
          <a:prstGeom prst="downArrow">
            <a:avLst>
              <a:gd fmla="val 50000" name="adj1"/>
              <a:gd fmla="val 50000" name="adj2"/>
            </a:avLst>
          </a:prstGeom>
          <a:solidFill>
            <a:srgbClr val="B9C3D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09" name="Google Shape;109;p14"/>
          <p:cNvSpPr/>
          <p:nvPr/>
        </p:nvSpPr>
        <p:spPr>
          <a:xfrm>
            <a:off x="877824" y="4635627"/>
            <a:ext cx="5102352" cy="868680"/>
          </a:xfrm>
          <a:prstGeom prst="roundRect">
            <a:avLst>
              <a:gd fmla="val 12000" name="adj"/>
            </a:avLst>
          </a:prstGeom>
          <a:solidFill>
            <a:srgbClr val="F6EBF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10" name="Google Shape;110;p14"/>
          <p:cNvSpPr/>
          <p:nvPr/>
        </p:nvSpPr>
        <p:spPr>
          <a:xfrm>
            <a:off x="1060704" y="4836795"/>
            <a:ext cx="457200" cy="457200"/>
          </a:xfrm>
          <a:prstGeom prst="ellipse">
            <a:avLst/>
          </a:prstGeom>
          <a:solidFill>
            <a:srgbClr val="B3168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11" name="Google Shape;111;p14"/>
          <p:cNvSpPr txBox="1"/>
          <p:nvPr/>
        </p:nvSpPr>
        <p:spPr>
          <a:xfrm>
            <a:off x="1060704" y="4836795"/>
            <a:ext cx="457200" cy="457200"/>
          </a:xfrm>
          <a:prstGeom prst="rect">
            <a:avLst/>
          </a:prstGeom>
          <a:noFill/>
          <a:ln>
            <a:noFill/>
          </a:ln>
        </p:spPr>
        <p:txBody>
          <a:bodyPr anchorCtr="0" anchor="ctr" bIns="0" lIns="0" spcFirstLastPara="1" rIns="0" wrap="square" tIns="0">
            <a:spAutoFit/>
          </a:bodyPr>
          <a:lstStyle/>
          <a:p>
            <a:pPr indent="0" lvl="0" marL="0" marR="0" rtl="0" algn="ctr">
              <a:lnSpc>
                <a:spcPct val="110000"/>
              </a:lnSpc>
              <a:spcBef>
                <a:spcPts val="0"/>
              </a:spcBef>
              <a:spcAft>
                <a:spcPts val="0"/>
              </a:spcAft>
              <a:buNone/>
            </a:pPr>
            <a:r>
              <a:rPr b="1" i="0" lang="es-CO" sz="1300" u="none" cap="none" strike="noStrike">
                <a:solidFill>
                  <a:srgbClr val="FFFFFF"/>
                </a:solidFill>
                <a:latin typeface="Arial"/>
                <a:ea typeface="Arial"/>
                <a:cs typeface="Arial"/>
                <a:sym typeface="Arial"/>
              </a:rPr>
              <a:t>3</a:t>
            </a:r>
            <a:endParaRPr/>
          </a:p>
        </p:txBody>
      </p:sp>
      <p:sp>
        <p:nvSpPr>
          <p:cNvPr id="112" name="Google Shape;112;p14"/>
          <p:cNvSpPr txBox="1"/>
          <p:nvPr/>
        </p:nvSpPr>
        <p:spPr>
          <a:xfrm>
            <a:off x="1700784" y="4763643"/>
            <a:ext cx="4096512" cy="228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CO" sz="1100" u="none" cap="none" strike="noStrike">
                <a:solidFill>
                  <a:srgbClr val="B31686"/>
                </a:solidFill>
                <a:latin typeface="Arial"/>
                <a:ea typeface="Arial"/>
                <a:cs typeface="Arial"/>
                <a:sym typeface="Arial"/>
              </a:rPr>
              <a:t>Objetivo compartido</a:t>
            </a:r>
            <a:endParaRPr/>
          </a:p>
        </p:txBody>
      </p:sp>
      <p:sp>
        <p:nvSpPr>
          <p:cNvPr id="113" name="Google Shape;113;p14"/>
          <p:cNvSpPr txBox="1"/>
          <p:nvPr/>
        </p:nvSpPr>
        <p:spPr>
          <a:xfrm>
            <a:off x="1700784" y="5001387"/>
            <a:ext cx="4096512" cy="4572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0" i="0" lang="es-CO" sz="950" u="none" cap="none" strike="noStrike">
                <a:solidFill>
                  <a:srgbClr val="353646"/>
                </a:solidFill>
                <a:latin typeface="Arial"/>
                <a:ea typeface="Arial"/>
                <a:cs typeface="Arial"/>
                <a:sym typeface="Arial"/>
              </a:rPr>
              <a:t>El esfuerzo colectivo no se mide por tareas individuales completadas, sino por el avance hacia una meta de sprint clara y común.</a:t>
            </a:r>
            <a:endParaRPr/>
          </a:p>
        </p:txBody>
      </p:sp>
      <p:sp>
        <p:nvSpPr>
          <p:cNvPr id="114" name="Google Shape;114;p14"/>
          <p:cNvSpPr/>
          <p:nvPr/>
        </p:nvSpPr>
        <p:spPr>
          <a:xfrm>
            <a:off x="1234440" y="5495163"/>
            <a:ext cx="109728" cy="128016"/>
          </a:xfrm>
          <a:prstGeom prst="downArrow">
            <a:avLst>
              <a:gd fmla="val 50000" name="adj1"/>
              <a:gd fmla="val 50000" name="adj2"/>
            </a:avLst>
          </a:prstGeom>
          <a:solidFill>
            <a:srgbClr val="B9C3D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15" name="Google Shape;115;p14"/>
          <p:cNvSpPr/>
          <p:nvPr/>
        </p:nvSpPr>
        <p:spPr>
          <a:xfrm>
            <a:off x="877824" y="5614035"/>
            <a:ext cx="5102352" cy="868680"/>
          </a:xfrm>
          <a:prstGeom prst="roundRect">
            <a:avLst>
              <a:gd fmla="val 12000" name="adj"/>
            </a:avLst>
          </a:prstGeom>
          <a:solidFill>
            <a:srgbClr val="E8F1FB"/>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16" name="Google Shape;116;p14"/>
          <p:cNvSpPr/>
          <p:nvPr/>
        </p:nvSpPr>
        <p:spPr>
          <a:xfrm>
            <a:off x="1060704" y="5815203"/>
            <a:ext cx="457200" cy="457200"/>
          </a:xfrm>
          <a:prstGeom prst="ellipse">
            <a:avLst/>
          </a:prstGeom>
          <a:solidFill>
            <a:srgbClr val="02479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17" name="Google Shape;117;p14"/>
          <p:cNvSpPr txBox="1"/>
          <p:nvPr/>
        </p:nvSpPr>
        <p:spPr>
          <a:xfrm>
            <a:off x="1060704" y="5815203"/>
            <a:ext cx="457200" cy="457200"/>
          </a:xfrm>
          <a:prstGeom prst="rect">
            <a:avLst/>
          </a:prstGeom>
          <a:noFill/>
          <a:ln>
            <a:noFill/>
          </a:ln>
        </p:spPr>
        <p:txBody>
          <a:bodyPr anchorCtr="0" anchor="ctr" bIns="0" lIns="0" spcFirstLastPara="1" rIns="0" wrap="square" tIns="0">
            <a:spAutoFit/>
          </a:bodyPr>
          <a:lstStyle/>
          <a:p>
            <a:pPr indent="0" lvl="0" marL="0" marR="0" rtl="0" algn="ctr">
              <a:lnSpc>
                <a:spcPct val="110000"/>
              </a:lnSpc>
              <a:spcBef>
                <a:spcPts val="0"/>
              </a:spcBef>
              <a:spcAft>
                <a:spcPts val="0"/>
              </a:spcAft>
              <a:buNone/>
            </a:pPr>
            <a:r>
              <a:rPr b="1" i="0" lang="es-CO" sz="1300" u="none" cap="none" strike="noStrike">
                <a:solidFill>
                  <a:srgbClr val="FFFFFF"/>
                </a:solidFill>
                <a:latin typeface="Arial"/>
                <a:ea typeface="Arial"/>
                <a:cs typeface="Arial"/>
                <a:sym typeface="Arial"/>
              </a:rPr>
              <a:t>4</a:t>
            </a:r>
            <a:endParaRPr/>
          </a:p>
        </p:txBody>
      </p:sp>
      <p:sp>
        <p:nvSpPr>
          <p:cNvPr id="118" name="Google Shape;118;p14"/>
          <p:cNvSpPr txBox="1"/>
          <p:nvPr/>
        </p:nvSpPr>
        <p:spPr>
          <a:xfrm>
            <a:off x="1700784" y="5742051"/>
            <a:ext cx="4096512" cy="228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CO" sz="1100" u="none" cap="none" strike="noStrike">
                <a:solidFill>
                  <a:srgbClr val="024791"/>
                </a:solidFill>
                <a:latin typeface="Arial"/>
                <a:ea typeface="Arial"/>
                <a:cs typeface="Arial"/>
                <a:sym typeface="Arial"/>
              </a:rPr>
              <a:t>Generación de valor</a:t>
            </a:r>
            <a:endParaRPr/>
          </a:p>
        </p:txBody>
      </p:sp>
      <p:sp>
        <p:nvSpPr>
          <p:cNvPr id="119" name="Google Shape;119;p14"/>
          <p:cNvSpPr txBox="1"/>
          <p:nvPr/>
        </p:nvSpPr>
        <p:spPr>
          <a:xfrm>
            <a:off x="1700784" y="5979795"/>
            <a:ext cx="4096512" cy="4572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0" i="0" lang="es-CO" sz="950" u="none" cap="none" strike="noStrike">
                <a:solidFill>
                  <a:srgbClr val="353646"/>
                </a:solidFill>
                <a:latin typeface="Arial"/>
                <a:ea typeface="Arial"/>
                <a:cs typeface="Arial"/>
                <a:sym typeface="Arial"/>
              </a:rPr>
              <a:t>La meta se traduce en un incremento útil y funcional que resuelve un problema real y permite aprender de su uso.</a:t>
            </a:r>
            <a:endParaRPr/>
          </a:p>
        </p:txBody>
      </p:sp>
      <p:sp>
        <p:nvSpPr>
          <p:cNvPr id="120" name="Google Shape;120;p14"/>
          <p:cNvSpPr/>
          <p:nvPr/>
        </p:nvSpPr>
        <p:spPr>
          <a:xfrm>
            <a:off x="877824" y="6729603"/>
            <a:ext cx="5102352" cy="1057275"/>
          </a:xfrm>
          <a:prstGeom prst="roundRect">
            <a:avLst>
              <a:gd fmla="val 10000" name="adj"/>
            </a:avLst>
          </a:prstGeom>
          <a:solidFill>
            <a:srgbClr val="E9FBFB"/>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21" name="Google Shape;121;p14"/>
          <p:cNvSpPr txBox="1"/>
          <p:nvPr/>
        </p:nvSpPr>
        <p:spPr>
          <a:xfrm>
            <a:off x="1106424" y="6912483"/>
            <a:ext cx="4645152" cy="1828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CO" sz="900" u="none" cap="none" strike="noStrike">
                <a:solidFill>
                  <a:srgbClr val="024791"/>
                </a:solidFill>
                <a:latin typeface="Arial"/>
                <a:ea typeface="Arial"/>
                <a:cs typeface="Arial"/>
                <a:sym typeface="Arial"/>
              </a:rPr>
              <a:t>El propósito de la analogía</a:t>
            </a:r>
            <a:endParaRPr/>
          </a:p>
        </p:txBody>
      </p:sp>
      <p:sp>
        <p:nvSpPr>
          <p:cNvPr id="122" name="Google Shape;122;p14"/>
          <p:cNvSpPr txBox="1"/>
          <p:nvPr/>
        </p:nvSpPr>
        <p:spPr>
          <a:xfrm>
            <a:off x="1106424" y="7141083"/>
            <a:ext cx="4645152" cy="600075"/>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1" i="0" lang="es-CO" sz="1050" u="none" cap="none" strike="noStrike">
                <a:solidFill>
                  <a:srgbClr val="3D2159"/>
                </a:solidFill>
                <a:latin typeface="Arial"/>
                <a:ea typeface="Arial"/>
                <a:cs typeface="Arial"/>
                <a:sym typeface="Arial"/>
              </a:rPr>
              <a:t>La especialización sin conexión crea silos; la agilidad surge cuando cada esfuerzo individual tiene sentido en función del impacto compartido.</a:t>
            </a:r>
            <a:endParaRPr/>
          </a:p>
        </p:txBody>
      </p:sp>
      <p:sp>
        <p:nvSpPr>
          <p:cNvPr id="123" name="Google Shape;123;p14"/>
          <p:cNvSpPr txBox="1"/>
          <p:nvPr/>
        </p:nvSpPr>
        <p:spPr>
          <a:xfrm>
            <a:off x="877824" y="7924038"/>
            <a:ext cx="5102352" cy="5715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s-CO" sz="1000" u="none" cap="none" strike="noStrike">
                <a:solidFill>
                  <a:srgbClr val="353646"/>
                </a:solidFill>
                <a:latin typeface="Arial"/>
                <a:ea typeface="Arial"/>
                <a:cs typeface="Arial"/>
                <a:sym typeface="Arial"/>
              </a:rPr>
              <a:t>Scrum procura evitar una organización excesivamente fragmentada, en la que cada integrante conoce únicamente su propia tarea sin comprender cómo contribuye al resultado colectivo.</a:t>
            </a:r>
            <a:endParaRPr/>
          </a:p>
        </p:txBody>
      </p:sp>
      <p:sp>
        <p:nvSpPr>
          <p:cNvPr id="124" name="Google Shape;124;p14"/>
          <p:cNvSpPr txBox="1"/>
          <p:nvPr/>
        </p:nvSpPr>
        <p:spPr>
          <a:xfrm>
            <a:off x="877824" y="8678418"/>
            <a:ext cx="5102352" cy="201168"/>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1" lang="es-CO" sz="900" u="none" cap="none" strike="noStrike">
                <a:solidFill>
                  <a:srgbClr val="5F5966"/>
                </a:solidFill>
                <a:latin typeface="Arial"/>
                <a:ea typeface="Arial"/>
                <a:cs typeface="Arial"/>
                <a:sym typeface="Arial"/>
              </a:rPr>
              <a:t>Fuente: elaboración propia.</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8" name="Shape 128"/>
        <p:cNvGrpSpPr/>
        <p:nvPr/>
      </p:nvGrpSpPr>
      <p:grpSpPr>
        <a:xfrm>
          <a:off x="0" y="0"/>
          <a:ext cx="0" cy="0"/>
          <a:chOff x="0" y="0"/>
          <a:chExt cx="0" cy="0"/>
        </a:xfrm>
      </p:grpSpPr>
      <p:sp>
        <p:nvSpPr>
          <p:cNvPr id="129" name="Google Shape;129;p15"/>
          <p:cNvSpPr/>
          <p:nvPr/>
        </p:nvSpPr>
        <p:spPr>
          <a:xfrm>
            <a:off x="876300" y="1104900"/>
            <a:ext cx="4953000" cy="22860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900"/>
              <a:buFont typeface="Arial"/>
              <a:buNone/>
            </a:pPr>
            <a:r>
              <a:rPr b="1" i="0" lang="es-CO" sz="900" u="none" cap="none" strike="noStrike">
                <a:solidFill>
                  <a:srgbClr val="B31686"/>
                </a:solidFill>
                <a:latin typeface="Arial"/>
                <a:ea typeface="Arial"/>
                <a:cs typeface="Arial"/>
                <a:sym typeface="Arial"/>
              </a:rPr>
              <a:t>Tema 1 · Comprender Scrum</a:t>
            </a:r>
            <a:endParaRPr b="1" i="0" sz="900" u="none" cap="none" strike="noStrike">
              <a:solidFill>
                <a:srgbClr val="B31686"/>
              </a:solidFill>
              <a:latin typeface="Arial"/>
              <a:ea typeface="Arial"/>
              <a:cs typeface="Arial"/>
              <a:sym typeface="Arial"/>
            </a:endParaRPr>
          </a:p>
        </p:txBody>
      </p:sp>
      <p:sp>
        <p:nvSpPr>
          <p:cNvPr id="130" name="Google Shape;130;p15"/>
          <p:cNvSpPr/>
          <p:nvPr/>
        </p:nvSpPr>
        <p:spPr>
          <a:xfrm>
            <a:off x="876300" y="1409700"/>
            <a:ext cx="5105400" cy="813816"/>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2325"/>
              <a:buFont typeface="Arial"/>
              <a:buNone/>
            </a:pPr>
            <a:r>
              <a:rPr b="1" i="0" lang="es-CO" sz="2325" u="none" cap="none" strike="noStrike">
                <a:solidFill>
                  <a:srgbClr val="3D2159"/>
                </a:solidFill>
                <a:latin typeface="Arial"/>
                <a:ea typeface="Arial"/>
                <a:cs typeface="Arial"/>
                <a:sym typeface="Arial"/>
              </a:rPr>
              <a:t>De la necesidad de la adaptación a un marco de trabajo</a:t>
            </a:r>
            <a:endParaRPr b="0" i="0" sz="1400" u="none" cap="none" strike="noStrike">
              <a:solidFill>
                <a:srgbClr val="000000"/>
              </a:solidFill>
              <a:latin typeface="Arial"/>
              <a:ea typeface="Arial"/>
              <a:cs typeface="Arial"/>
              <a:sym typeface="Arial"/>
            </a:endParaRPr>
          </a:p>
        </p:txBody>
      </p:sp>
      <p:pic>
        <p:nvPicPr>
          <p:cNvPr id="131" name="Google Shape;131;p15"/>
          <p:cNvPicPr preferRelativeResize="0"/>
          <p:nvPr/>
        </p:nvPicPr>
        <p:blipFill rotWithShape="1">
          <a:blip r:embed="rId3">
            <a:alphaModFix/>
          </a:blip>
          <a:srcRect b="0" l="0" r="0" t="0"/>
          <a:stretch/>
        </p:blipFill>
        <p:spPr>
          <a:xfrm>
            <a:off x="869156" y="2340864"/>
            <a:ext cx="1100138" cy="88783"/>
          </a:xfrm>
          <a:prstGeom prst="rect">
            <a:avLst/>
          </a:prstGeom>
          <a:noFill/>
          <a:ln>
            <a:noFill/>
          </a:ln>
        </p:spPr>
      </p:pic>
      <p:sp>
        <p:nvSpPr>
          <p:cNvPr id="132" name="Google Shape;132;p15"/>
          <p:cNvSpPr txBox="1"/>
          <p:nvPr/>
        </p:nvSpPr>
        <p:spPr>
          <a:xfrm>
            <a:off x="877824" y="2752344"/>
            <a:ext cx="5102352" cy="12573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s-CO" sz="1100" u="none" cap="none" strike="noStrike">
                <a:solidFill>
                  <a:srgbClr val="353646"/>
                </a:solidFill>
                <a:latin typeface="Arial"/>
                <a:ea typeface="Arial"/>
                <a:cs typeface="Arial"/>
                <a:sym typeface="Arial"/>
              </a:rPr>
              <a:t>Scrum no apareció de manera aislada. Sus antecedentes se relacionan con la búsqueda de formas más flexibles de desarrollar productos en escenarios caracterizados por incertidumbre y cambio. Durante las décadas de 1980 y 1990 fueron adquiriendo relevancia enfoques basados en equipos coordinados, desarrollo iterativo y generación progresiva de resultados.</a:t>
            </a:r>
            <a:endParaRPr/>
          </a:p>
        </p:txBody>
      </p:sp>
      <p:sp>
        <p:nvSpPr>
          <p:cNvPr id="133" name="Google Shape;133;p15"/>
          <p:cNvSpPr txBox="1"/>
          <p:nvPr/>
        </p:nvSpPr>
        <p:spPr>
          <a:xfrm>
            <a:off x="877824" y="4192524"/>
            <a:ext cx="5102352" cy="16764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s-CO" sz="1100" u="none" cap="none" strike="noStrike">
                <a:solidFill>
                  <a:srgbClr val="353646"/>
                </a:solidFill>
                <a:latin typeface="Arial"/>
                <a:ea typeface="Arial"/>
                <a:cs typeface="Arial"/>
                <a:sym typeface="Arial"/>
              </a:rPr>
              <a:t>Durante la década de 1990, Ken Schwaber y Jeff Sutherland desarrollaron Scrum y, en 1995, realizaron una presentación conjunta del marco. Posteriormente, ambos participaron en la formulación del Manifiesto para el Desarrollo Ágil de Software en 2001. En 2010 se publicó la primera Scrum Guide, documento que posteriormente recibió diferentes actualizaciones. La versión de 2020 simplificó algunos componentes y reforzó la concepción de un único Scrum Team (Schwaber &amp; Sutherland, 2020).</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16"/>
          <p:cNvSpPr/>
          <p:nvPr/>
        </p:nvSpPr>
        <p:spPr>
          <a:xfrm>
            <a:off x="876300" y="1104900"/>
            <a:ext cx="4953000" cy="22860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900"/>
              <a:buFont typeface="Arial"/>
              <a:buNone/>
            </a:pPr>
            <a:r>
              <a:rPr b="1" i="0" lang="es-CO" sz="900" u="none" cap="none" strike="noStrike">
                <a:solidFill>
                  <a:srgbClr val="B31686"/>
                </a:solidFill>
                <a:latin typeface="Arial"/>
                <a:ea typeface="Arial"/>
                <a:cs typeface="Arial"/>
                <a:sym typeface="Arial"/>
              </a:rPr>
              <a:t>Tema 1 · Comprender Scrum</a:t>
            </a:r>
            <a:endParaRPr b="1" i="0" sz="900" u="none" cap="none" strike="noStrike">
              <a:solidFill>
                <a:srgbClr val="B31686"/>
              </a:solidFill>
              <a:latin typeface="Arial"/>
              <a:ea typeface="Arial"/>
              <a:cs typeface="Arial"/>
              <a:sym typeface="Arial"/>
            </a:endParaRPr>
          </a:p>
        </p:txBody>
      </p:sp>
      <p:sp>
        <p:nvSpPr>
          <p:cNvPr id="139" name="Google Shape;139;p16"/>
          <p:cNvSpPr txBox="1"/>
          <p:nvPr/>
        </p:nvSpPr>
        <p:spPr>
          <a:xfrm>
            <a:off x="877824" y="1481328"/>
            <a:ext cx="5102352" cy="201168"/>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CO" sz="900" u="none" cap="none" strike="noStrike">
                <a:solidFill>
                  <a:srgbClr val="B31686"/>
                </a:solidFill>
                <a:latin typeface="Arial"/>
                <a:ea typeface="Arial"/>
                <a:cs typeface="Arial"/>
                <a:sym typeface="Arial"/>
              </a:rPr>
              <a:t>FIGURA 1 · EVOLUCIÓN HISTÓRICA</a:t>
            </a:r>
            <a:endParaRPr/>
          </a:p>
        </p:txBody>
      </p:sp>
      <p:sp>
        <p:nvSpPr>
          <p:cNvPr id="140" name="Google Shape;140;p16"/>
          <p:cNvSpPr txBox="1"/>
          <p:nvPr/>
        </p:nvSpPr>
        <p:spPr>
          <a:xfrm>
            <a:off x="877824" y="1755648"/>
            <a:ext cx="5102352" cy="276225"/>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CO" sz="1450" u="none" cap="none" strike="noStrike">
                <a:solidFill>
                  <a:srgbClr val="3D2159"/>
                </a:solidFill>
                <a:latin typeface="Arial"/>
                <a:ea typeface="Arial"/>
                <a:cs typeface="Arial"/>
                <a:sym typeface="Arial"/>
              </a:rPr>
              <a:t>Scrum a través del tiempo</a:t>
            </a:r>
            <a:endParaRPr/>
          </a:p>
        </p:txBody>
      </p:sp>
      <p:sp>
        <p:nvSpPr>
          <p:cNvPr id="141" name="Google Shape;141;p16"/>
          <p:cNvSpPr txBox="1"/>
          <p:nvPr/>
        </p:nvSpPr>
        <p:spPr>
          <a:xfrm>
            <a:off x="877824" y="2077593"/>
            <a:ext cx="5102352" cy="200025"/>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1" lang="es-CO" sz="1050" u="none" cap="none" strike="noStrike">
                <a:solidFill>
                  <a:srgbClr val="5F5966"/>
                </a:solidFill>
                <a:latin typeface="Arial"/>
                <a:ea typeface="Arial"/>
                <a:cs typeface="Arial"/>
                <a:sym typeface="Arial"/>
              </a:rPr>
              <a:t>Evolución histórica hacia la adaptabilidad y el aprendizaje empírico.</a:t>
            </a:r>
            <a:endParaRPr/>
          </a:p>
        </p:txBody>
      </p:sp>
      <p:cxnSp>
        <p:nvCxnSpPr>
          <p:cNvPr id="142" name="Google Shape;142;p16"/>
          <p:cNvCxnSpPr/>
          <p:nvPr/>
        </p:nvCxnSpPr>
        <p:spPr>
          <a:xfrm>
            <a:off x="1380744" y="2661666"/>
            <a:ext cx="0" cy="3566160"/>
          </a:xfrm>
          <a:prstGeom prst="straightConnector1">
            <a:avLst/>
          </a:prstGeom>
          <a:noFill/>
          <a:ln cap="flat" cmpd="sng" w="25400">
            <a:solidFill>
              <a:srgbClr val="C9D3EA"/>
            </a:solidFill>
            <a:prstDash val="solid"/>
            <a:round/>
            <a:headEnd len="sm" w="sm" type="none"/>
            <a:tailEnd len="sm" w="sm" type="none"/>
          </a:ln>
          <a:effectLst>
            <a:outerShdw blurRad="40000" rotWithShape="0" dir="5400000" dist="20000">
              <a:srgbClr val="000000">
                <a:alpha val="38039"/>
              </a:srgbClr>
            </a:outerShdw>
          </a:effectLst>
        </p:spPr>
      </p:cxnSp>
      <p:sp>
        <p:nvSpPr>
          <p:cNvPr id="143" name="Google Shape;143;p16"/>
          <p:cNvSpPr/>
          <p:nvPr/>
        </p:nvSpPr>
        <p:spPr>
          <a:xfrm>
            <a:off x="877824" y="2533650"/>
            <a:ext cx="1005840" cy="310896"/>
          </a:xfrm>
          <a:prstGeom prst="roundRect">
            <a:avLst>
              <a:gd fmla="val 50000" name="adj"/>
            </a:avLst>
          </a:prstGeom>
          <a:solidFill>
            <a:srgbClr val="66409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44" name="Google Shape;144;p16"/>
          <p:cNvSpPr txBox="1"/>
          <p:nvPr/>
        </p:nvSpPr>
        <p:spPr>
          <a:xfrm>
            <a:off x="877824" y="2533650"/>
            <a:ext cx="1005840" cy="310896"/>
          </a:xfrm>
          <a:prstGeom prst="rect">
            <a:avLst/>
          </a:prstGeom>
          <a:noFill/>
          <a:ln>
            <a:noFill/>
          </a:ln>
        </p:spPr>
        <p:txBody>
          <a:bodyPr anchorCtr="0" anchor="ctr" bIns="0" lIns="0" spcFirstLastPara="1" rIns="0" wrap="square" tIns="0">
            <a:spAutoFit/>
          </a:bodyPr>
          <a:lstStyle/>
          <a:p>
            <a:pPr indent="0" lvl="0" marL="0" marR="0" rtl="0" algn="ctr">
              <a:lnSpc>
                <a:spcPct val="110000"/>
              </a:lnSpc>
              <a:spcBef>
                <a:spcPts val="0"/>
              </a:spcBef>
              <a:spcAft>
                <a:spcPts val="0"/>
              </a:spcAft>
              <a:buNone/>
            </a:pPr>
            <a:r>
              <a:rPr b="1" i="0" lang="es-CO" sz="1050" u="none" cap="none" strike="noStrike">
                <a:solidFill>
                  <a:srgbClr val="FFFFFF"/>
                </a:solidFill>
                <a:latin typeface="Arial"/>
                <a:ea typeface="Arial"/>
                <a:cs typeface="Arial"/>
                <a:sym typeface="Arial"/>
              </a:rPr>
              <a:t>1980s</a:t>
            </a:r>
            <a:endParaRPr/>
          </a:p>
        </p:txBody>
      </p:sp>
      <p:sp>
        <p:nvSpPr>
          <p:cNvPr id="145" name="Google Shape;145;p16"/>
          <p:cNvSpPr txBox="1"/>
          <p:nvPr/>
        </p:nvSpPr>
        <p:spPr>
          <a:xfrm>
            <a:off x="2112264" y="2478786"/>
            <a:ext cx="3867912" cy="228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CO" sz="1100" u="none" cap="none" strike="noStrike">
                <a:solidFill>
                  <a:srgbClr val="3D2159"/>
                </a:solidFill>
                <a:latin typeface="Arial"/>
                <a:ea typeface="Arial"/>
                <a:cs typeface="Arial"/>
                <a:sym typeface="Arial"/>
              </a:rPr>
              <a:t>Antecedentes</a:t>
            </a:r>
            <a:endParaRPr/>
          </a:p>
        </p:txBody>
      </p:sp>
      <p:sp>
        <p:nvSpPr>
          <p:cNvPr id="146" name="Google Shape;146;p16"/>
          <p:cNvSpPr txBox="1"/>
          <p:nvPr/>
        </p:nvSpPr>
        <p:spPr>
          <a:xfrm>
            <a:off x="2112264" y="2725674"/>
            <a:ext cx="3867912"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s-CO" sz="950" u="none" cap="none" strike="noStrike">
                <a:solidFill>
                  <a:srgbClr val="353646"/>
                </a:solidFill>
                <a:latin typeface="Arial"/>
                <a:ea typeface="Arial"/>
                <a:cs typeface="Arial"/>
                <a:sym typeface="Arial"/>
              </a:rPr>
              <a:t>Nuevas formas de desarrollo de productos y trabajo en equipo.</a:t>
            </a:r>
            <a:endParaRPr/>
          </a:p>
        </p:txBody>
      </p:sp>
      <p:sp>
        <p:nvSpPr>
          <p:cNvPr id="147" name="Google Shape;147;p16"/>
          <p:cNvSpPr/>
          <p:nvPr/>
        </p:nvSpPr>
        <p:spPr>
          <a:xfrm>
            <a:off x="877824" y="3246882"/>
            <a:ext cx="1005840" cy="310896"/>
          </a:xfrm>
          <a:prstGeom prst="roundRect">
            <a:avLst>
              <a:gd fmla="val 50000" name="adj"/>
            </a:avLst>
          </a:prstGeom>
          <a:solidFill>
            <a:srgbClr val="66409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48" name="Google Shape;148;p16"/>
          <p:cNvSpPr txBox="1"/>
          <p:nvPr/>
        </p:nvSpPr>
        <p:spPr>
          <a:xfrm>
            <a:off x="877824" y="3246882"/>
            <a:ext cx="1005840" cy="310896"/>
          </a:xfrm>
          <a:prstGeom prst="rect">
            <a:avLst/>
          </a:prstGeom>
          <a:noFill/>
          <a:ln>
            <a:noFill/>
          </a:ln>
        </p:spPr>
        <p:txBody>
          <a:bodyPr anchorCtr="0" anchor="ctr" bIns="0" lIns="0" spcFirstLastPara="1" rIns="0" wrap="square" tIns="0">
            <a:spAutoFit/>
          </a:bodyPr>
          <a:lstStyle/>
          <a:p>
            <a:pPr indent="0" lvl="0" marL="0" marR="0" rtl="0" algn="ctr">
              <a:lnSpc>
                <a:spcPct val="110000"/>
              </a:lnSpc>
              <a:spcBef>
                <a:spcPts val="0"/>
              </a:spcBef>
              <a:spcAft>
                <a:spcPts val="0"/>
              </a:spcAft>
              <a:buNone/>
            </a:pPr>
            <a:r>
              <a:rPr b="1" i="0" lang="es-CO" sz="1050" u="none" cap="none" strike="noStrike">
                <a:solidFill>
                  <a:srgbClr val="FFFFFF"/>
                </a:solidFill>
                <a:latin typeface="Arial"/>
                <a:ea typeface="Arial"/>
                <a:cs typeface="Arial"/>
                <a:sym typeface="Arial"/>
              </a:rPr>
              <a:t>1990s</a:t>
            </a:r>
            <a:endParaRPr/>
          </a:p>
        </p:txBody>
      </p:sp>
      <p:sp>
        <p:nvSpPr>
          <p:cNvPr id="149" name="Google Shape;149;p16"/>
          <p:cNvSpPr txBox="1"/>
          <p:nvPr/>
        </p:nvSpPr>
        <p:spPr>
          <a:xfrm>
            <a:off x="2112264" y="3192018"/>
            <a:ext cx="3867912" cy="228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CO" sz="1100" u="none" cap="none" strike="noStrike">
                <a:solidFill>
                  <a:srgbClr val="3D2159"/>
                </a:solidFill>
                <a:latin typeface="Arial"/>
                <a:ea typeface="Arial"/>
                <a:cs typeface="Arial"/>
                <a:sym typeface="Arial"/>
              </a:rPr>
              <a:t>Schwaber y Sutherland</a:t>
            </a:r>
            <a:endParaRPr/>
          </a:p>
        </p:txBody>
      </p:sp>
      <p:sp>
        <p:nvSpPr>
          <p:cNvPr id="150" name="Google Shape;150;p16"/>
          <p:cNvSpPr txBox="1"/>
          <p:nvPr/>
        </p:nvSpPr>
        <p:spPr>
          <a:xfrm>
            <a:off x="2112264" y="3438906"/>
            <a:ext cx="3867912"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s-CO" sz="950" u="none" cap="none" strike="noStrike">
                <a:solidFill>
                  <a:srgbClr val="353646"/>
                </a:solidFill>
                <a:latin typeface="Arial"/>
                <a:ea typeface="Arial"/>
                <a:cs typeface="Arial"/>
                <a:sym typeface="Arial"/>
              </a:rPr>
              <a:t>Formalizan los principios de Scrum a partir de la experiencia práctica.</a:t>
            </a:r>
            <a:endParaRPr/>
          </a:p>
        </p:txBody>
      </p:sp>
      <p:sp>
        <p:nvSpPr>
          <p:cNvPr id="151" name="Google Shape;151;p16"/>
          <p:cNvSpPr/>
          <p:nvPr/>
        </p:nvSpPr>
        <p:spPr>
          <a:xfrm>
            <a:off x="877824" y="3960114"/>
            <a:ext cx="1005840" cy="310896"/>
          </a:xfrm>
          <a:prstGeom prst="roundRect">
            <a:avLst>
              <a:gd fmla="val 50000" name="adj"/>
            </a:avLst>
          </a:prstGeom>
          <a:solidFill>
            <a:srgbClr val="2A56C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52" name="Google Shape;152;p16"/>
          <p:cNvSpPr txBox="1"/>
          <p:nvPr/>
        </p:nvSpPr>
        <p:spPr>
          <a:xfrm>
            <a:off x="877824" y="3960114"/>
            <a:ext cx="1005840" cy="310896"/>
          </a:xfrm>
          <a:prstGeom prst="rect">
            <a:avLst/>
          </a:prstGeom>
          <a:noFill/>
          <a:ln>
            <a:noFill/>
          </a:ln>
        </p:spPr>
        <p:txBody>
          <a:bodyPr anchorCtr="0" anchor="ctr" bIns="0" lIns="0" spcFirstLastPara="1" rIns="0" wrap="square" tIns="0">
            <a:spAutoFit/>
          </a:bodyPr>
          <a:lstStyle/>
          <a:p>
            <a:pPr indent="0" lvl="0" marL="0" marR="0" rtl="0" algn="ctr">
              <a:lnSpc>
                <a:spcPct val="110000"/>
              </a:lnSpc>
              <a:spcBef>
                <a:spcPts val="0"/>
              </a:spcBef>
              <a:spcAft>
                <a:spcPts val="0"/>
              </a:spcAft>
              <a:buNone/>
            </a:pPr>
            <a:r>
              <a:rPr b="1" i="0" lang="es-CO" sz="1050" u="none" cap="none" strike="noStrike">
                <a:solidFill>
                  <a:srgbClr val="FFFFFF"/>
                </a:solidFill>
                <a:latin typeface="Arial"/>
                <a:ea typeface="Arial"/>
                <a:cs typeface="Arial"/>
                <a:sym typeface="Arial"/>
              </a:rPr>
              <a:t>1995</a:t>
            </a:r>
            <a:endParaRPr/>
          </a:p>
        </p:txBody>
      </p:sp>
      <p:sp>
        <p:nvSpPr>
          <p:cNvPr id="153" name="Google Shape;153;p16"/>
          <p:cNvSpPr txBox="1"/>
          <p:nvPr/>
        </p:nvSpPr>
        <p:spPr>
          <a:xfrm>
            <a:off x="2112264" y="3905250"/>
            <a:ext cx="3867912" cy="228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CO" sz="1100" u="none" cap="none" strike="noStrike">
                <a:solidFill>
                  <a:srgbClr val="3D2159"/>
                </a:solidFill>
                <a:latin typeface="Arial"/>
                <a:ea typeface="Arial"/>
                <a:cs typeface="Arial"/>
                <a:sym typeface="Arial"/>
              </a:rPr>
              <a:t>Presentación del marco</a:t>
            </a:r>
            <a:endParaRPr/>
          </a:p>
        </p:txBody>
      </p:sp>
      <p:sp>
        <p:nvSpPr>
          <p:cNvPr id="154" name="Google Shape;154;p16"/>
          <p:cNvSpPr txBox="1"/>
          <p:nvPr/>
        </p:nvSpPr>
        <p:spPr>
          <a:xfrm>
            <a:off x="2112264" y="4152138"/>
            <a:ext cx="3867912"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s-CO" sz="950" u="none" cap="none" strike="noStrike">
                <a:solidFill>
                  <a:srgbClr val="353646"/>
                </a:solidFill>
                <a:latin typeface="Arial"/>
                <a:ea typeface="Arial"/>
                <a:cs typeface="Arial"/>
                <a:sym typeface="Arial"/>
              </a:rPr>
              <a:t>Se presenta Scrum como un marco de trabajo ligero.</a:t>
            </a:r>
            <a:endParaRPr/>
          </a:p>
        </p:txBody>
      </p:sp>
      <p:sp>
        <p:nvSpPr>
          <p:cNvPr id="155" name="Google Shape;155;p16"/>
          <p:cNvSpPr/>
          <p:nvPr/>
        </p:nvSpPr>
        <p:spPr>
          <a:xfrm>
            <a:off x="877824" y="4673346"/>
            <a:ext cx="1005840" cy="310896"/>
          </a:xfrm>
          <a:prstGeom prst="roundRect">
            <a:avLst>
              <a:gd fmla="val 50000" name="adj"/>
            </a:avLst>
          </a:prstGeom>
          <a:solidFill>
            <a:srgbClr val="2A56C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56" name="Google Shape;156;p16"/>
          <p:cNvSpPr txBox="1"/>
          <p:nvPr/>
        </p:nvSpPr>
        <p:spPr>
          <a:xfrm>
            <a:off x="877824" y="4673346"/>
            <a:ext cx="1005840" cy="310896"/>
          </a:xfrm>
          <a:prstGeom prst="rect">
            <a:avLst/>
          </a:prstGeom>
          <a:noFill/>
          <a:ln>
            <a:noFill/>
          </a:ln>
        </p:spPr>
        <p:txBody>
          <a:bodyPr anchorCtr="0" anchor="ctr" bIns="0" lIns="0" spcFirstLastPara="1" rIns="0" wrap="square" tIns="0">
            <a:spAutoFit/>
          </a:bodyPr>
          <a:lstStyle/>
          <a:p>
            <a:pPr indent="0" lvl="0" marL="0" marR="0" rtl="0" algn="ctr">
              <a:lnSpc>
                <a:spcPct val="110000"/>
              </a:lnSpc>
              <a:spcBef>
                <a:spcPts val="0"/>
              </a:spcBef>
              <a:spcAft>
                <a:spcPts val="0"/>
              </a:spcAft>
              <a:buNone/>
            </a:pPr>
            <a:r>
              <a:rPr b="1" i="0" lang="es-CO" sz="1050" u="none" cap="none" strike="noStrike">
                <a:solidFill>
                  <a:srgbClr val="FFFFFF"/>
                </a:solidFill>
                <a:latin typeface="Arial"/>
                <a:ea typeface="Arial"/>
                <a:cs typeface="Arial"/>
                <a:sym typeface="Arial"/>
              </a:rPr>
              <a:t>2001</a:t>
            </a:r>
            <a:endParaRPr/>
          </a:p>
        </p:txBody>
      </p:sp>
      <p:sp>
        <p:nvSpPr>
          <p:cNvPr id="157" name="Google Shape;157;p16"/>
          <p:cNvSpPr txBox="1"/>
          <p:nvPr/>
        </p:nvSpPr>
        <p:spPr>
          <a:xfrm>
            <a:off x="2112264" y="4618482"/>
            <a:ext cx="3867912" cy="228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CO" sz="1100" u="none" cap="none" strike="noStrike">
                <a:solidFill>
                  <a:srgbClr val="3D2159"/>
                </a:solidFill>
                <a:latin typeface="Arial"/>
                <a:ea typeface="Arial"/>
                <a:cs typeface="Arial"/>
                <a:sym typeface="Arial"/>
              </a:rPr>
              <a:t>Manifiesto Ágil</a:t>
            </a:r>
            <a:endParaRPr/>
          </a:p>
        </p:txBody>
      </p:sp>
      <p:sp>
        <p:nvSpPr>
          <p:cNvPr id="158" name="Google Shape;158;p16"/>
          <p:cNvSpPr txBox="1"/>
          <p:nvPr/>
        </p:nvSpPr>
        <p:spPr>
          <a:xfrm>
            <a:off x="2112264" y="4865370"/>
            <a:ext cx="3867912"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s-CO" sz="950" u="none" cap="none" strike="noStrike">
                <a:solidFill>
                  <a:srgbClr val="353646"/>
                </a:solidFill>
                <a:latin typeface="Arial"/>
                <a:ea typeface="Arial"/>
                <a:cs typeface="Arial"/>
                <a:sym typeface="Arial"/>
              </a:rPr>
              <a:t>Scrum se alinea con los valores y principios del Manifiesto Ágil.</a:t>
            </a:r>
            <a:endParaRPr/>
          </a:p>
        </p:txBody>
      </p:sp>
      <p:sp>
        <p:nvSpPr>
          <p:cNvPr id="159" name="Google Shape;159;p16"/>
          <p:cNvSpPr/>
          <p:nvPr/>
        </p:nvSpPr>
        <p:spPr>
          <a:xfrm>
            <a:off x="877824" y="5386578"/>
            <a:ext cx="1005840" cy="310896"/>
          </a:xfrm>
          <a:prstGeom prst="roundRect">
            <a:avLst>
              <a:gd fmla="val 50000" name="adj"/>
            </a:avLst>
          </a:prstGeom>
          <a:solidFill>
            <a:srgbClr val="02479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60" name="Google Shape;160;p16"/>
          <p:cNvSpPr txBox="1"/>
          <p:nvPr/>
        </p:nvSpPr>
        <p:spPr>
          <a:xfrm>
            <a:off x="877824" y="5386578"/>
            <a:ext cx="1005840" cy="310896"/>
          </a:xfrm>
          <a:prstGeom prst="rect">
            <a:avLst/>
          </a:prstGeom>
          <a:noFill/>
          <a:ln>
            <a:noFill/>
          </a:ln>
        </p:spPr>
        <p:txBody>
          <a:bodyPr anchorCtr="0" anchor="ctr" bIns="0" lIns="0" spcFirstLastPara="1" rIns="0" wrap="square" tIns="0">
            <a:spAutoFit/>
          </a:bodyPr>
          <a:lstStyle/>
          <a:p>
            <a:pPr indent="0" lvl="0" marL="0" marR="0" rtl="0" algn="ctr">
              <a:lnSpc>
                <a:spcPct val="110000"/>
              </a:lnSpc>
              <a:spcBef>
                <a:spcPts val="0"/>
              </a:spcBef>
              <a:spcAft>
                <a:spcPts val="0"/>
              </a:spcAft>
              <a:buNone/>
            </a:pPr>
            <a:r>
              <a:rPr b="1" i="0" lang="es-CO" sz="1050" u="none" cap="none" strike="noStrike">
                <a:solidFill>
                  <a:srgbClr val="FFFFFF"/>
                </a:solidFill>
                <a:latin typeface="Arial"/>
                <a:ea typeface="Arial"/>
                <a:cs typeface="Arial"/>
                <a:sym typeface="Arial"/>
              </a:rPr>
              <a:t>2010</a:t>
            </a:r>
            <a:endParaRPr/>
          </a:p>
        </p:txBody>
      </p:sp>
      <p:sp>
        <p:nvSpPr>
          <p:cNvPr id="161" name="Google Shape;161;p16"/>
          <p:cNvSpPr txBox="1"/>
          <p:nvPr/>
        </p:nvSpPr>
        <p:spPr>
          <a:xfrm>
            <a:off x="2112264" y="5331714"/>
            <a:ext cx="3867912" cy="228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CO" sz="1100" u="none" cap="none" strike="noStrike">
                <a:solidFill>
                  <a:srgbClr val="3D2159"/>
                </a:solidFill>
                <a:latin typeface="Arial"/>
                <a:ea typeface="Arial"/>
                <a:cs typeface="Arial"/>
                <a:sym typeface="Arial"/>
              </a:rPr>
              <a:t>Primera Scrum Guide</a:t>
            </a:r>
            <a:endParaRPr/>
          </a:p>
        </p:txBody>
      </p:sp>
      <p:sp>
        <p:nvSpPr>
          <p:cNvPr id="162" name="Google Shape;162;p16"/>
          <p:cNvSpPr txBox="1"/>
          <p:nvPr/>
        </p:nvSpPr>
        <p:spPr>
          <a:xfrm>
            <a:off x="2112264" y="5578602"/>
            <a:ext cx="3867912"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s-CO" sz="950" u="none" cap="none" strike="noStrike">
                <a:solidFill>
                  <a:srgbClr val="353646"/>
                </a:solidFill>
                <a:latin typeface="Arial"/>
                <a:ea typeface="Arial"/>
                <a:cs typeface="Arial"/>
                <a:sym typeface="Arial"/>
              </a:rPr>
              <a:t>Se publica la primera guía oficial de Scrum.</a:t>
            </a:r>
            <a:endParaRPr/>
          </a:p>
        </p:txBody>
      </p:sp>
      <p:sp>
        <p:nvSpPr>
          <p:cNvPr id="163" name="Google Shape;163;p16"/>
          <p:cNvSpPr/>
          <p:nvPr/>
        </p:nvSpPr>
        <p:spPr>
          <a:xfrm>
            <a:off x="877824" y="6099810"/>
            <a:ext cx="1005840" cy="310896"/>
          </a:xfrm>
          <a:prstGeom prst="roundRect">
            <a:avLst>
              <a:gd fmla="val 50000" name="adj"/>
            </a:avLst>
          </a:prstGeom>
          <a:solidFill>
            <a:srgbClr val="02479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64" name="Google Shape;164;p16"/>
          <p:cNvSpPr txBox="1"/>
          <p:nvPr/>
        </p:nvSpPr>
        <p:spPr>
          <a:xfrm>
            <a:off x="877824" y="6099810"/>
            <a:ext cx="1005840" cy="310896"/>
          </a:xfrm>
          <a:prstGeom prst="rect">
            <a:avLst/>
          </a:prstGeom>
          <a:noFill/>
          <a:ln>
            <a:noFill/>
          </a:ln>
        </p:spPr>
        <p:txBody>
          <a:bodyPr anchorCtr="0" anchor="ctr" bIns="0" lIns="0" spcFirstLastPara="1" rIns="0" wrap="square" tIns="0">
            <a:spAutoFit/>
          </a:bodyPr>
          <a:lstStyle/>
          <a:p>
            <a:pPr indent="0" lvl="0" marL="0" marR="0" rtl="0" algn="ctr">
              <a:lnSpc>
                <a:spcPct val="110000"/>
              </a:lnSpc>
              <a:spcBef>
                <a:spcPts val="0"/>
              </a:spcBef>
              <a:spcAft>
                <a:spcPts val="0"/>
              </a:spcAft>
              <a:buNone/>
            </a:pPr>
            <a:r>
              <a:rPr b="1" i="0" lang="es-CO" sz="1050" u="none" cap="none" strike="noStrike">
                <a:solidFill>
                  <a:srgbClr val="FFFFFF"/>
                </a:solidFill>
                <a:latin typeface="Arial"/>
                <a:ea typeface="Arial"/>
                <a:cs typeface="Arial"/>
                <a:sym typeface="Arial"/>
              </a:rPr>
              <a:t>2020</a:t>
            </a:r>
            <a:endParaRPr/>
          </a:p>
        </p:txBody>
      </p:sp>
      <p:sp>
        <p:nvSpPr>
          <p:cNvPr id="165" name="Google Shape;165;p16"/>
          <p:cNvSpPr txBox="1"/>
          <p:nvPr/>
        </p:nvSpPr>
        <p:spPr>
          <a:xfrm>
            <a:off x="2112264" y="6044946"/>
            <a:ext cx="3867912" cy="228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CO" sz="1100" u="none" cap="none" strike="noStrike">
                <a:solidFill>
                  <a:srgbClr val="3D2159"/>
                </a:solidFill>
                <a:latin typeface="Arial"/>
                <a:ea typeface="Arial"/>
                <a:cs typeface="Arial"/>
                <a:sym typeface="Arial"/>
              </a:rPr>
              <a:t>Simplificación y Scrum Team</a:t>
            </a:r>
            <a:endParaRPr/>
          </a:p>
        </p:txBody>
      </p:sp>
      <p:sp>
        <p:nvSpPr>
          <p:cNvPr id="166" name="Google Shape;166;p16"/>
          <p:cNvSpPr txBox="1"/>
          <p:nvPr/>
        </p:nvSpPr>
        <p:spPr>
          <a:xfrm>
            <a:off x="2112264" y="6291834"/>
            <a:ext cx="3867912"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s-CO" sz="950" u="none" cap="none" strike="noStrike">
                <a:solidFill>
                  <a:srgbClr val="353646"/>
                </a:solidFill>
                <a:latin typeface="Arial"/>
                <a:ea typeface="Arial"/>
                <a:cs typeface="Arial"/>
                <a:sym typeface="Arial"/>
              </a:rPr>
              <a:t>Se simplifica la guía y se enfatiza el Scrum Team.</a:t>
            </a:r>
            <a:endParaRPr/>
          </a:p>
        </p:txBody>
      </p:sp>
      <p:sp>
        <p:nvSpPr>
          <p:cNvPr id="167" name="Google Shape;167;p16"/>
          <p:cNvSpPr/>
          <p:nvPr/>
        </p:nvSpPr>
        <p:spPr>
          <a:xfrm>
            <a:off x="877824" y="6941058"/>
            <a:ext cx="5102352" cy="857250"/>
          </a:xfrm>
          <a:prstGeom prst="roundRect">
            <a:avLst>
              <a:gd fmla="val 10000" name="adj"/>
            </a:avLst>
          </a:prstGeom>
          <a:solidFill>
            <a:srgbClr val="E9FBFB"/>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68" name="Google Shape;168;p16"/>
          <p:cNvSpPr txBox="1"/>
          <p:nvPr/>
        </p:nvSpPr>
        <p:spPr>
          <a:xfrm>
            <a:off x="1106424" y="7123938"/>
            <a:ext cx="4645152" cy="1828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CO" sz="900" u="none" cap="none" strike="noStrike">
                <a:solidFill>
                  <a:srgbClr val="024791"/>
                </a:solidFill>
                <a:latin typeface="Arial"/>
                <a:ea typeface="Arial"/>
                <a:cs typeface="Arial"/>
                <a:sym typeface="Arial"/>
              </a:rPr>
              <a:t>El sentido de la evolución</a:t>
            </a:r>
            <a:endParaRPr/>
          </a:p>
        </p:txBody>
      </p:sp>
      <p:sp>
        <p:nvSpPr>
          <p:cNvPr id="169" name="Google Shape;169;p16"/>
          <p:cNvSpPr txBox="1"/>
          <p:nvPr/>
        </p:nvSpPr>
        <p:spPr>
          <a:xfrm>
            <a:off x="1106424" y="7352538"/>
            <a:ext cx="4645152" cy="40005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1" i="0" lang="es-CO" sz="1050" u="none" cap="none" strike="noStrike">
                <a:solidFill>
                  <a:srgbClr val="3D2159"/>
                </a:solidFill>
                <a:latin typeface="Arial"/>
                <a:ea typeface="Arial"/>
                <a:cs typeface="Arial"/>
                <a:sym typeface="Arial"/>
              </a:rPr>
              <a:t>«No fue concebido para hacer más tareas en menos tiempo, sino para decidir mejor».</a:t>
            </a:r>
            <a:endParaRPr/>
          </a:p>
        </p:txBody>
      </p:sp>
      <p:sp>
        <p:nvSpPr>
          <p:cNvPr id="170" name="Google Shape;170;p16"/>
          <p:cNvSpPr txBox="1"/>
          <p:nvPr/>
        </p:nvSpPr>
        <p:spPr>
          <a:xfrm>
            <a:off x="877824" y="8026908"/>
            <a:ext cx="5102352" cy="201168"/>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1" lang="es-CO" sz="900" u="none" cap="none" strike="noStrike">
                <a:solidFill>
                  <a:srgbClr val="5F5966"/>
                </a:solidFill>
                <a:latin typeface="Arial"/>
                <a:ea typeface="Arial"/>
                <a:cs typeface="Arial"/>
                <a:sym typeface="Arial"/>
              </a:rPr>
              <a:t>Fuente: elaboración propia.</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4" name="Shape 174"/>
        <p:cNvGrpSpPr/>
        <p:nvPr/>
      </p:nvGrpSpPr>
      <p:grpSpPr>
        <a:xfrm>
          <a:off x="0" y="0"/>
          <a:ext cx="0" cy="0"/>
          <a:chOff x="0" y="0"/>
          <a:chExt cx="0" cy="0"/>
        </a:xfrm>
      </p:grpSpPr>
      <p:sp>
        <p:nvSpPr>
          <p:cNvPr id="175" name="Google Shape;175;p17"/>
          <p:cNvSpPr/>
          <p:nvPr/>
        </p:nvSpPr>
        <p:spPr>
          <a:xfrm>
            <a:off x="876300" y="1104900"/>
            <a:ext cx="4953000" cy="22860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900"/>
              <a:buFont typeface="Arial"/>
              <a:buNone/>
            </a:pPr>
            <a:r>
              <a:rPr b="1" i="0" lang="es-CO" sz="900" u="none" cap="none" strike="noStrike">
                <a:solidFill>
                  <a:srgbClr val="B31686"/>
                </a:solidFill>
                <a:latin typeface="Arial"/>
                <a:ea typeface="Arial"/>
                <a:cs typeface="Arial"/>
                <a:sym typeface="Arial"/>
              </a:rPr>
              <a:t>Tema 1 · Comprender Scrum</a:t>
            </a:r>
            <a:endParaRPr b="1" i="0" sz="900" u="none" cap="none" strike="noStrike">
              <a:solidFill>
                <a:srgbClr val="B31686"/>
              </a:solidFill>
              <a:latin typeface="Arial"/>
              <a:ea typeface="Arial"/>
              <a:cs typeface="Arial"/>
              <a:sym typeface="Arial"/>
            </a:endParaRPr>
          </a:p>
        </p:txBody>
      </p:sp>
      <p:sp>
        <p:nvSpPr>
          <p:cNvPr id="176" name="Google Shape;176;p17"/>
          <p:cNvSpPr/>
          <p:nvPr/>
        </p:nvSpPr>
        <p:spPr>
          <a:xfrm>
            <a:off x="876300" y="1409700"/>
            <a:ext cx="5105400" cy="429768"/>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2325"/>
              <a:buFont typeface="Arial"/>
              <a:buNone/>
            </a:pPr>
            <a:r>
              <a:rPr b="1" i="0" lang="es-CO" sz="2325" u="none" cap="none" strike="noStrike">
                <a:solidFill>
                  <a:srgbClr val="3D2159"/>
                </a:solidFill>
                <a:latin typeface="Arial"/>
                <a:ea typeface="Arial"/>
                <a:cs typeface="Arial"/>
                <a:sym typeface="Arial"/>
              </a:rPr>
              <a:t>Construyamos un lenguaje común</a:t>
            </a:r>
            <a:endParaRPr b="0" i="0" sz="1400" u="none" cap="none" strike="noStrike">
              <a:solidFill>
                <a:srgbClr val="000000"/>
              </a:solidFill>
              <a:latin typeface="Arial"/>
              <a:ea typeface="Arial"/>
              <a:cs typeface="Arial"/>
              <a:sym typeface="Arial"/>
            </a:endParaRPr>
          </a:p>
        </p:txBody>
      </p:sp>
      <p:pic>
        <p:nvPicPr>
          <p:cNvPr id="177" name="Google Shape;177;p17"/>
          <p:cNvPicPr preferRelativeResize="0"/>
          <p:nvPr/>
        </p:nvPicPr>
        <p:blipFill rotWithShape="1">
          <a:blip r:embed="rId3">
            <a:alphaModFix/>
          </a:blip>
          <a:srcRect b="0" l="0" r="0" t="0"/>
          <a:stretch/>
        </p:blipFill>
        <p:spPr>
          <a:xfrm>
            <a:off x="869156" y="1956816"/>
            <a:ext cx="1100138" cy="88783"/>
          </a:xfrm>
          <a:prstGeom prst="rect">
            <a:avLst/>
          </a:prstGeom>
          <a:noFill/>
          <a:ln>
            <a:noFill/>
          </a:ln>
        </p:spPr>
      </p:pic>
      <p:sp>
        <p:nvSpPr>
          <p:cNvPr id="178" name="Google Shape;178;p17"/>
          <p:cNvSpPr txBox="1"/>
          <p:nvPr/>
        </p:nvSpPr>
        <p:spPr>
          <a:xfrm>
            <a:off x="877824" y="2368296"/>
            <a:ext cx="5102352" cy="8382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s-CO" sz="1100" u="none" cap="none" strike="noStrike">
                <a:solidFill>
                  <a:srgbClr val="353646"/>
                </a:solidFill>
                <a:latin typeface="Arial"/>
                <a:ea typeface="Arial"/>
                <a:cs typeface="Arial"/>
                <a:sym typeface="Arial"/>
              </a:rPr>
              <a:t>Antes de continuar, necesitamos familiarizarnos con algunos términos que encontraremos de manera recurrente en Scrum. Conviene conservar su denominación en inglés porque así aparecen habitualmente en documentación, certificaciones, plataformas y contextos profesionales.</a:t>
            </a:r>
            <a:endParaRPr/>
          </a:p>
        </p:txBody>
      </p:sp>
      <p:sp>
        <p:nvSpPr>
          <p:cNvPr id="179" name="Google Shape;179;p17"/>
          <p:cNvSpPr txBox="1"/>
          <p:nvPr/>
        </p:nvSpPr>
        <p:spPr>
          <a:xfrm>
            <a:off x="877824" y="3389376"/>
            <a:ext cx="5102352" cy="201168"/>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CO" sz="900" u="none" cap="none" strike="noStrike">
                <a:solidFill>
                  <a:srgbClr val="B31686"/>
                </a:solidFill>
                <a:latin typeface="Arial"/>
                <a:ea typeface="Arial"/>
                <a:cs typeface="Arial"/>
                <a:sym typeface="Arial"/>
              </a:rPr>
              <a:t>VOCABULARIO COMÚN · COMPONENTES DEL MARCO</a:t>
            </a:r>
            <a:endParaRPr/>
          </a:p>
        </p:txBody>
      </p:sp>
      <p:sp>
        <p:nvSpPr>
          <p:cNvPr id="180" name="Google Shape;180;p17"/>
          <p:cNvSpPr txBox="1"/>
          <p:nvPr/>
        </p:nvSpPr>
        <p:spPr>
          <a:xfrm>
            <a:off x="877824" y="3663696"/>
            <a:ext cx="5102352" cy="276225"/>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CO" sz="1450" u="none" cap="none" strike="noStrike">
                <a:solidFill>
                  <a:srgbClr val="3D2159"/>
                </a:solidFill>
                <a:latin typeface="Arial"/>
                <a:ea typeface="Arial"/>
                <a:cs typeface="Arial"/>
                <a:sym typeface="Arial"/>
              </a:rPr>
              <a:t>Términos clave en Scrum</a:t>
            </a:r>
            <a:endParaRPr/>
          </a:p>
        </p:txBody>
      </p:sp>
      <p:sp>
        <p:nvSpPr>
          <p:cNvPr id="181" name="Google Shape;181;p17"/>
          <p:cNvSpPr txBox="1"/>
          <p:nvPr/>
        </p:nvSpPr>
        <p:spPr>
          <a:xfrm>
            <a:off x="877824" y="3985641"/>
            <a:ext cx="5102352" cy="40005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1" lang="es-CO" sz="1050" u="none" cap="none" strike="noStrike">
                <a:solidFill>
                  <a:srgbClr val="5F5966"/>
                </a:solidFill>
                <a:latin typeface="Arial"/>
                <a:ea typeface="Arial"/>
                <a:cs typeface="Arial"/>
                <a:sym typeface="Arial"/>
              </a:rPr>
              <a:t>Los conceptos fundamentales que articulan la estructura, los roles y los resultados del sistema.</a:t>
            </a:r>
            <a:endParaRPr/>
          </a:p>
        </p:txBody>
      </p:sp>
      <p:sp>
        <p:nvSpPr>
          <p:cNvPr id="182" name="Google Shape;182;p17"/>
          <p:cNvSpPr/>
          <p:nvPr/>
        </p:nvSpPr>
        <p:spPr>
          <a:xfrm>
            <a:off x="877824" y="4586859"/>
            <a:ext cx="5102352" cy="310896"/>
          </a:xfrm>
          <a:prstGeom prst="roundRect">
            <a:avLst>
              <a:gd fmla="val 20000" name="adj"/>
            </a:avLst>
          </a:prstGeom>
          <a:solidFill>
            <a:srgbClr val="02479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83" name="Google Shape;183;p17"/>
          <p:cNvSpPr txBox="1"/>
          <p:nvPr/>
        </p:nvSpPr>
        <p:spPr>
          <a:xfrm>
            <a:off x="969264" y="4586859"/>
            <a:ext cx="1188720" cy="310896"/>
          </a:xfrm>
          <a:prstGeom prst="rect">
            <a:avLst/>
          </a:prstGeom>
          <a:noFill/>
          <a:ln>
            <a:noFill/>
          </a:ln>
        </p:spPr>
        <p:txBody>
          <a:bodyPr anchorCtr="0" anchor="ctr" bIns="0" lIns="0" spcFirstLastPara="1" rIns="0" wrap="square" tIns="0">
            <a:spAutoFit/>
          </a:bodyPr>
          <a:lstStyle/>
          <a:p>
            <a:pPr indent="0" lvl="0" marL="0" marR="0" rtl="0" algn="l">
              <a:lnSpc>
                <a:spcPct val="110000"/>
              </a:lnSpc>
              <a:spcBef>
                <a:spcPts val="0"/>
              </a:spcBef>
              <a:spcAft>
                <a:spcPts val="0"/>
              </a:spcAft>
              <a:buNone/>
            </a:pPr>
            <a:r>
              <a:rPr b="1" i="0" lang="es-CO" sz="950" u="none" cap="none" strike="noStrike">
                <a:solidFill>
                  <a:srgbClr val="FFFFFF"/>
                </a:solidFill>
                <a:latin typeface="Arial"/>
                <a:ea typeface="Arial"/>
                <a:cs typeface="Arial"/>
                <a:sym typeface="Arial"/>
              </a:rPr>
              <a:t>Categoría</a:t>
            </a:r>
            <a:endParaRPr/>
          </a:p>
        </p:txBody>
      </p:sp>
      <p:sp>
        <p:nvSpPr>
          <p:cNvPr id="184" name="Google Shape;184;p17"/>
          <p:cNvSpPr txBox="1"/>
          <p:nvPr/>
        </p:nvSpPr>
        <p:spPr>
          <a:xfrm>
            <a:off x="2249424" y="4586859"/>
            <a:ext cx="1280160" cy="310896"/>
          </a:xfrm>
          <a:prstGeom prst="rect">
            <a:avLst/>
          </a:prstGeom>
          <a:noFill/>
          <a:ln>
            <a:noFill/>
          </a:ln>
        </p:spPr>
        <p:txBody>
          <a:bodyPr anchorCtr="0" anchor="ctr" bIns="0" lIns="0" spcFirstLastPara="1" rIns="0" wrap="square" tIns="0">
            <a:spAutoFit/>
          </a:bodyPr>
          <a:lstStyle/>
          <a:p>
            <a:pPr indent="0" lvl="0" marL="0" marR="0" rtl="0" algn="l">
              <a:lnSpc>
                <a:spcPct val="110000"/>
              </a:lnSpc>
              <a:spcBef>
                <a:spcPts val="0"/>
              </a:spcBef>
              <a:spcAft>
                <a:spcPts val="0"/>
              </a:spcAft>
              <a:buNone/>
            </a:pPr>
            <a:r>
              <a:rPr b="1" i="0" lang="es-CO" sz="950" u="none" cap="none" strike="noStrike">
                <a:solidFill>
                  <a:srgbClr val="FFFFFF"/>
                </a:solidFill>
                <a:latin typeface="Arial"/>
                <a:ea typeface="Arial"/>
                <a:cs typeface="Arial"/>
                <a:sym typeface="Arial"/>
              </a:rPr>
              <a:t>Término</a:t>
            </a:r>
            <a:endParaRPr/>
          </a:p>
        </p:txBody>
      </p:sp>
      <p:sp>
        <p:nvSpPr>
          <p:cNvPr id="185" name="Google Shape;185;p17"/>
          <p:cNvSpPr txBox="1"/>
          <p:nvPr/>
        </p:nvSpPr>
        <p:spPr>
          <a:xfrm>
            <a:off x="3621024" y="4586859"/>
            <a:ext cx="2286000" cy="310896"/>
          </a:xfrm>
          <a:prstGeom prst="rect">
            <a:avLst/>
          </a:prstGeom>
          <a:noFill/>
          <a:ln>
            <a:noFill/>
          </a:ln>
        </p:spPr>
        <p:txBody>
          <a:bodyPr anchorCtr="0" anchor="ctr" bIns="0" lIns="0" spcFirstLastPara="1" rIns="0" wrap="square" tIns="0">
            <a:spAutoFit/>
          </a:bodyPr>
          <a:lstStyle/>
          <a:p>
            <a:pPr indent="0" lvl="0" marL="0" marR="0" rtl="0" algn="l">
              <a:lnSpc>
                <a:spcPct val="110000"/>
              </a:lnSpc>
              <a:spcBef>
                <a:spcPts val="0"/>
              </a:spcBef>
              <a:spcAft>
                <a:spcPts val="0"/>
              </a:spcAft>
              <a:buNone/>
            </a:pPr>
            <a:r>
              <a:rPr b="1" i="0" lang="es-CO" sz="950" u="none" cap="none" strike="noStrike">
                <a:solidFill>
                  <a:srgbClr val="FFFFFF"/>
                </a:solidFill>
                <a:latin typeface="Arial"/>
                <a:ea typeface="Arial"/>
                <a:cs typeface="Arial"/>
                <a:sym typeface="Arial"/>
              </a:rPr>
              <a:t>¿Qué representa?</a:t>
            </a:r>
            <a:endParaRPr/>
          </a:p>
        </p:txBody>
      </p:sp>
      <p:sp>
        <p:nvSpPr>
          <p:cNvPr id="186" name="Google Shape;186;p17"/>
          <p:cNvSpPr/>
          <p:nvPr/>
        </p:nvSpPr>
        <p:spPr>
          <a:xfrm>
            <a:off x="877824" y="4952619"/>
            <a:ext cx="1234440" cy="1527048"/>
          </a:xfrm>
          <a:prstGeom prst="roundRect">
            <a:avLst>
              <a:gd fmla="val 8000" name="adj"/>
            </a:avLst>
          </a:prstGeom>
          <a:solidFill>
            <a:srgbClr val="F1EBF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87" name="Google Shape;187;p17"/>
          <p:cNvSpPr txBox="1"/>
          <p:nvPr/>
        </p:nvSpPr>
        <p:spPr>
          <a:xfrm>
            <a:off x="969264" y="4952619"/>
            <a:ext cx="1097280" cy="1527048"/>
          </a:xfrm>
          <a:prstGeom prst="rect">
            <a:avLst/>
          </a:prstGeom>
          <a:noFill/>
          <a:ln>
            <a:noFill/>
          </a:ln>
        </p:spPr>
        <p:txBody>
          <a:bodyPr anchorCtr="0" anchor="ctr" bIns="0" lIns="0" spcFirstLastPara="1" rIns="0" wrap="square" tIns="0">
            <a:spAutoFit/>
          </a:bodyPr>
          <a:lstStyle/>
          <a:p>
            <a:pPr indent="0" lvl="0" marL="0" marR="0" rtl="0" algn="l">
              <a:lnSpc>
                <a:spcPct val="110000"/>
              </a:lnSpc>
              <a:spcBef>
                <a:spcPts val="0"/>
              </a:spcBef>
              <a:spcAft>
                <a:spcPts val="0"/>
              </a:spcAft>
              <a:buNone/>
            </a:pPr>
            <a:r>
              <a:rPr b="1" i="0" lang="es-CO" sz="950" u="none" cap="none" strike="noStrike">
                <a:solidFill>
                  <a:srgbClr val="664092"/>
                </a:solidFill>
                <a:latin typeface="Arial"/>
                <a:ea typeface="Arial"/>
                <a:cs typeface="Arial"/>
                <a:sym typeface="Arial"/>
              </a:rPr>
              <a:t>Equipo y responsabilidades</a:t>
            </a:r>
            <a:endParaRPr/>
          </a:p>
        </p:txBody>
      </p:sp>
      <p:sp>
        <p:nvSpPr>
          <p:cNvPr id="188" name="Google Shape;188;p17"/>
          <p:cNvSpPr txBox="1"/>
          <p:nvPr/>
        </p:nvSpPr>
        <p:spPr>
          <a:xfrm>
            <a:off x="2249424" y="4952619"/>
            <a:ext cx="1280160" cy="347472"/>
          </a:xfrm>
          <a:prstGeom prst="rect">
            <a:avLst/>
          </a:prstGeom>
          <a:noFill/>
          <a:ln>
            <a:noFill/>
          </a:ln>
        </p:spPr>
        <p:txBody>
          <a:bodyPr anchorCtr="0" anchor="ctr" bIns="0" lIns="0" spcFirstLastPara="1" rIns="0" wrap="square" tIns="0">
            <a:spAutoFit/>
          </a:bodyPr>
          <a:lstStyle/>
          <a:p>
            <a:pPr indent="0" lvl="0" marL="0" marR="0" rtl="0" algn="l">
              <a:lnSpc>
                <a:spcPct val="110000"/>
              </a:lnSpc>
              <a:spcBef>
                <a:spcPts val="0"/>
              </a:spcBef>
              <a:spcAft>
                <a:spcPts val="0"/>
              </a:spcAft>
              <a:buNone/>
            </a:pPr>
            <a:r>
              <a:rPr b="1" i="0" lang="es-CO" sz="950" u="none" cap="none" strike="noStrike">
                <a:solidFill>
                  <a:srgbClr val="3D2159"/>
                </a:solidFill>
                <a:latin typeface="Arial"/>
                <a:ea typeface="Arial"/>
                <a:cs typeface="Arial"/>
                <a:sym typeface="Arial"/>
              </a:rPr>
              <a:t>Scrum Team</a:t>
            </a:r>
            <a:endParaRPr/>
          </a:p>
        </p:txBody>
      </p:sp>
      <p:sp>
        <p:nvSpPr>
          <p:cNvPr id="189" name="Google Shape;189;p17"/>
          <p:cNvSpPr txBox="1"/>
          <p:nvPr/>
        </p:nvSpPr>
        <p:spPr>
          <a:xfrm>
            <a:off x="3621024" y="4952619"/>
            <a:ext cx="2331720" cy="34747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i="0" lang="es-CO" sz="900" u="none" cap="none" strike="noStrike">
                <a:solidFill>
                  <a:srgbClr val="353646"/>
                </a:solidFill>
                <a:latin typeface="Arial"/>
                <a:ea typeface="Arial"/>
                <a:cs typeface="Arial"/>
                <a:sym typeface="Arial"/>
              </a:rPr>
              <a:t>Equipo que trabaja de manera colaborativa bajo el marco Scrum.</a:t>
            </a:r>
            <a:endParaRPr/>
          </a:p>
        </p:txBody>
      </p:sp>
      <p:cxnSp>
        <p:nvCxnSpPr>
          <p:cNvPr id="190" name="Google Shape;190;p17"/>
          <p:cNvCxnSpPr/>
          <p:nvPr/>
        </p:nvCxnSpPr>
        <p:spPr>
          <a:xfrm>
            <a:off x="2203704" y="5327523"/>
            <a:ext cx="3776472" cy="0"/>
          </a:xfrm>
          <a:prstGeom prst="straightConnector1">
            <a:avLst/>
          </a:prstGeom>
          <a:noFill/>
          <a:ln cap="flat" cmpd="sng" w="9525">
            <a:solidFill>
              <a:srgbClr val="E2E4EC"/>
            </a:solidFill>
            <a:prstDash val="solid"/>
            <a:round/>
            <a:headEnd len="sm" w="sm" type="none"/>
            <a:tailEnd len="sm" w="sm" type="none"/>
          </a:ln>
          <a:effectLst>
            <a:outerShdw blurRad="40000" rotWithShape="0" dir="5400000" dist="20000">
              <a:srgbClr val="000000">
                <a:alpha val="38039"/>
              </a:srgbClr>
            </a:outerShdw>
          </a:effectLst>
        </p:spPr>
      </p:cxnSp>
      <p:sp>
        <p:nvSpPr>
          <p:cNvPr id="191" name="Google Shape;191;p17"/>
          <p:cNvSpPr txBox="1"/>
          <p:nvPr/>
        </p:nvSpPr>
        <p:spPr>
          <a:xfrm>
            <a:off x="2249424" y="5345811"/>
            <a:ext cx="1280160" cy="347472"/>
          </a:xfrm>
          <a:prstGeom prst="rect">
            <a:avLst/>
          </a:prstGeom>
          <a:noFill/>
          <a:ln>
            <a:noFill/>
          </a:ln>
        </p:spPr>
        <p:txBody>
          <a:bodyPr anchorCtr="0" anchor="ctr" bIns="0" lIns="0" spcFirstLastPara="1" rIns="0" wrap="square" tIns="0">
            <a:spAutoFit/>
          </a:bodyPr>
          <a:lstStyle/>
          <a:p>
            <a:pPr indent="0" lvl="0" marL="0" marR="0" rtl="0" algn="l">
              <a:lnSpc>
                <a:spcPct val="110000"/>
              </a:lnSpc>
              <a:spcBef>
                <a:spcPts val="0"/>
              </a:spcBef>
              <a:spcAft>
                <a:spcPts val="0"/>
              </a:spcAft>
              <a:buNone/>
            </a:pPr>
            <a:r>
              <a:rPr b="1" i="0" lang="es-CO" sz="950" u="none" cap="none" strike="noStrike">
                <a:solidFill>
                  <a:srgbClr val="3D2159"/>
                </a:solidFill>
                <a:latin typeface="Arial"/>
                <a:ea typeface="Arial"/>
                <a:cs typeface="Arial"/>
                <a:sym typeface="Arial"/>
              </a:rPr>
              <a:t>Product Owner</a:t>
            </a:r>
            <a:endParaRPr/>
          </a:p>
        </p:txBody>
      </p:sp>
      <p:sp>
        <p:nvSpPr>
          <p:cNvPr id="192" name="Google Shape;192;p17"/>
          <p:cNvSpPr txBox="1"/>
          <p:nvPr/>
        </p:nvSpPr>
        <p:spPr>
          <a:xfrm>
            <a:off x="3621024" y="5345811"/>
            <a:ext cx="2331720" cy="34747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i="0" lang="es-CO" sz="900" u="none" cap="none" strike="noStrike">
                <a:solidFill>
                  <a:srgbClr val="353646"/>
                </a:solidFill>
                <a:latin typeface="Arial"/>
                <a:ea typeface="Arial"/>
                <a:cs typeface="Arial"/>
                <a:sym typeface="Arial"/>
              </a:rPr>
              <a:t>Responsable de maximizar el valor del producto y gestionar el Product Backlog.</a:t>
            </a:r>
            <a:endParaRPr/>
          </a:p>
        </p:txBody>
      </p:sp>
      <p:cxnSp>
        <p:nvCxnSpPr>
          <p:cNvPr id="193" name="Google Shape;193;p17"/>
          <p:cNvCxnSpPr/>
          <p:nvPr/>
        </p:nvCxnSpPr>
        <p:spPr>
          <a:xfrm>
            <a:off x="2203704" y="5720715"/>
            <a:ext cx="3776472" cy="0"/>
          </a:xfrm>
          <a:prstGeom prst="straightConnector1">
            <a:avLst/>
          </a:prstGeom>
          <a:noFill/>
          <a:ln cap="flat" cmpd="sng" w="9525">
            <a:solidFill>
              <a:srgbClr val="E2E4EC"/>
            </a:solidFill>
            <a:prstDash val="solid"/>
            <a:round/>
            <a:headEnd len="sm" w="sm" type="none"/>
            <a:tailEnd len="sm" w="sm" type="none"/>
          </a:ln>
          <a:effectLst>
            <a:outerShdw blurRad="40000" rotWithShape="0" dir="5400000" dist="20000">
              <a:srgbClr val="000000">
                <a:alpha val="38039"/>
              </a:srgbClr>
            </a:outerShdw>
          </a:effectLst>
        </p:spPr>
      </p:cxnSp>
      <p:sp>
        <p:nvSpPr>
          <p:cNvPr id="194" name="Google Shape;194;p17"/>
          <p:cNvSpPr txBox="1"/>
          <p:nvPr/>
        </p:nvSpPr>
        <p:spPr>
          <a:xfrm>
            <a:off x="2249424" y="5739003"/>
            <a:ext cx="1280160" cy="347472"/>
          </a:xfrm>
          <a:prstGeom prst="rect">
            <a:avLst/>
          </a:prstGeom>
          <a:noFill/>
          <a:ln>
            <a:noFill/>
          </a:ln>
        </p:spPr>
        <p:txBody>
          <a:bodyPr anchorCtr="0" anchor="ctr" bIns="0" lIns="0" spcFirstLastPara="1" rIns="0" wrap="square" tIns="0">
            <a:spAutoFit/>
          </a:bodyPr>
          <a:lstStyle/>
          <a:p>
            <a:pPr indent="0" lvl="0" marL="0" marR="0" rtl="0" algn="l">
              <a:lnSpc>
                <a:spcPct val="110000"/>
              </a:lnSpc>
              <a:spcBef>
                <a:spcPts val="0"/>
              </a:spcBef>
              <a:spcAft>
                <a:spcPts val="0"/>
              </a:spcAft>
              <a:buNone/>
            </a:pPr>
            <a:r>
              <a:rPr b="1" i="0" lang="es-CO" sz="950" u="none" cap="none" strike="noStrike">
                <a:solidFill>
                  <a:srgbClr val="3D2159"/>
                </a:solidFill>
                <a:latin typeface="Arial"/>
                <a:ea typeface="Arial"/>
                <a:cs typeface="Arial"/>
                <a:sym typeface="Arial"/>
              </a:rPr>
              <a:t>Scrum Master</a:t>
            </a:r>
            <a:endParaRPr/>
          </a:p>
        </p:txBody>
      </p:sp>
      <p:sp>
        <p:nvSpPr>
          <p:cNvPr id="195" name="Google Shape;195;p17"/>
          <p:cNvSpPr txBox="1"/>
          <p:nvPr/>
        </p:nvSpPr>
        <p:spPr>
          <a:xfrm>
            <a:off x="3621024" y="5739003"/>
            <a:ext cx="2331720" cy="34747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i="0" lang="es-CO" sz="900" u="none" cap="none" strike="noStrike">
                <a:solidFill>
                  <a:srgbClr val="353646"/>
                </a:solidFill>
                <a:latin typeface="Arial"/>
                <a:ea typeface="Arial"/>
                <a:cs typeface="Arial"/>
                <a:sym typeface="Arial"/>
              </a:rPr>
              <a:t>Facilita la comprensión y aplicación de Scrum, eliminando impedimentos.</a:t>
            </a:r>
            <a:endParaRPr/>
          </a:p>
        </p:txBody>
      </p:sp>
      <p:cxnSp>
        <p:nvCxnSpPr>
          <p:cNvPr id="196" name="Google Shape;196;p17"/>
          <p:cNvCxnSpPr/>
          <p:nvPr/>
        </p:nvCxnSpPr>
        <p:spPr>
          <a:xfrm>
            <a:off x="2203704" y="6113907"/>
            <a:ext cx="3776472" cy="0"/>
          </a:xfrm>
          <a:prstGeom prst="straightConnector1">
            <a:avLst/>
          </a:prstGeom>
          <a:noFill/>
          <a:ln cap="flat" cmpd="sng" w="9525">
            <a:solidFill>
              <a:srgbClr val="E2E4EC"/>
            </a:solidFill>
            <a:prstDash val="solid"/>
            <a:round/>
            <a:headEnd len="sm" w="sm" type="none"/>
            <a:tailEnd len="sm" w="sm" type="none"/>
          </a:ln>
          <a:effectLst>
            <a:outerShdw blurRad="40000" rotWithShape="0" dir="5400000" dist="20000">
              <a:srgbClr val="000000">
                <a:alpha val="38039"/>
              </a:srgbClr>
            </a:outerShdw>
          </a:effectLst>
        </p:spPr>
      </p:cxnSp>
      <p:sp>
        <p:nvSpPr>
          <p:cNvPr id="197" name="Google Shape;197;p17"/>
          <p:cNvSpPr txBox="1"/>
          <p:nvPr/>
        </p:nvSpPr>
        <p:spPr>
          <a:xfrm>
            <a:off x="2249424" y="6132195"/>
            <a:ext cx="1280160" cy="347472"/>
          </a:xfrm>
          <a:prstGeom prst="rect">
            <a:avLst/>
          </a:prstGeom>
          <a:noFill/>
          <a:ln>
            <a:noFill/>
          </a:ln>
        </p:spPr>
        <p:txBody>
          <a:bodyPr anchorCtr="0" anchor="ctr" bIns="0" lIns="0" spcFirstLastPara="1" rIns="0" wrap="square" tIns="0">
            <a:spAutoFit/>
          </a:bodyPr>
          <a:lstStyle/>
          <a:p>
            <a:pPr indent="0" lvl="0" marL="0" marR="0" rtl="0" algn="l">
              <a:lnSpc>
                <a:spcPct val="110000"/>
              </a:lnSpc>
              <a:spcBef>
                <a:spcPts val="0"/>
              </a:spcBef>
              <a:spcAft>
                <a:spcPts val="0"/>
              </a:spcAft>
              <a:buNone/>
            </a:pPr>
            <a:r>
              <a:rPr b="1" i="0" lang="es-CO" sz="950" u="none" cap="none" strike="noStrike">
                <a:solidFill>
                  <a:srgbClr val="3D2159"/>
                </a:solidFill>
                <a:latin typeface="Arial"/>
                <a:ea typeface="Arial"/>
                <a:cs typeface="Arial"/>
                <a:sym typeface="Arial"/>
              </a:rPr>
              <a:t>Developers</a:t>
            </a:r>
            <a:endParaRPr/>
          </a:p>
        </p:txBody>
      </p:sp>
      <p:sp>
        <p:nvSpPr>
          <p:cNvPr id="198" name="Google Shape;198;p17"/>
          <p:cNvSpPr txBox="1"/>
          <p:nvPr/>
        </p:nvSpPr>
        <p:spPr>
          <a:xfrm>
            <a:off x="3621024" y="6132195"/>
            <a:ext cx="2331720" cy="34747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i="0" lang="es-CO" sz="900" u="none" cap="none" strike="noStrike">
                <a:solidFill>
                  <a:srgbClr val="353646"/>
                </a:solidFill>
                <a:latin typeface="Arial"/>
                <a:ea typeface="Arial"/>
                <a:cs typeface="Arial"/>
                <a:sym typeface="Arial"/>
              </a:rPr>
              <a:t>Integrantes responsables de construir el incremento del producto.</a:t>
            </a:r>
            <a:endParaRPr/>
          </a:p>
        </p:txBody>
      </p:sp>
      <p:cxnSp>
        <p:nvCxnSpPr>
          <p:cNvPr id="199" name="Google Shape;199;p17"/>
          <p:cNvCxnSpPr/>
          <p:nvPr/>
        </p:nvCxnSpPr>
        <p:spPr>
          <a:xfrm>
            <a:off x="2203704" y="6507099"/>
            <a:ext cx="3776472" cy="0"/>
          </a:xfrm>
          <a:prstGeom prst="straightConnector1">
            <a:avLst/>
          </a:prstGeom>
          <a:noFill/>
          <a:ln cap="flat" cmpd="sng" w="9525">
            <a:solidFill>
              <a:srgbClr val="E2E4EC"/>
            </a:solidFill>
            <a:prstDash val="solid"/>
            <a:round/>
            <a:headEnd len="sm" w="sm" type="none"/>
            <a:tailEnd len="sm" w="sm" type="none"/>
          </a:ln>
          <a:effectLst>
            <a:outerShdw blurRad="40000" rotWithShape="0" dir="5400000" dist="20000">
              <a:srgbClr val="000000">
                <a:alpha val="38039"/>
              </a:srgbClr>
            </a:outerShdw>
          </a:effectLst>
        </p:spPr>
      </p:cxnSp>
      <p:sp>
        <p:nvSpPr>
          <p:cNvPr id="200" name="Google Shape;200;p17"/>
          <p:cNvSpPr/>
          <p:nvPr/>
        </p:nvSpPr>
        <p:spPr>
          <a:xfrm>
            <a:off x="877824" y="6580251"/>
            <a:ext cx="1234440" cy="347472"/>
          </a:xfrm>
          <a:prstGeom prst="roundRect">
            <a:avLst>
              <a:gd fmla="val 8000" name="adj"/>
            </a:avLst>
          </a:prstGeom>
          <a:solidFill>
            <a:srgbClr val="E8F1FB"/>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01" name="Google Shape;201;p17"/>
          <p:cNvSpPr txBox="1"/>
          <p:nvPr/>
        </p:nvSpPr>
        <p:spPr>
          <a:xfrm>
            <a:off x="969264" y="6580251"/>
            <a:ext cx="1097280" cy="347472"/>
          </a:xfrm>
          <a:prstGeom prst="rect">
            <a:avLst/>
          </a:prstGeom>
          <a:noFill/>
          <a:ln>
            <a:noFill/>
          </a:ln>
        </p:spPr>
        <p:txBody>
          <a:bodyPr anchorCtr="0" anchor="ctr" bIns="0" lIns="0" spcFirstLastPara="1" rIns="0" wrap="square" tIns="0">
            <a:spAutoFit/>
          </a:bodyPr>
          <a:lstStyle/>
          <a:p>
            <a:pPr indent="0" lvl="0" marL="0" marR="0" rtl="0" algn="l">
              <a:lnSpc>
                <a:spcPct val="110000"/>
              </a:lnSpc>
              <a:spcBef>
                <a:spcPts val="0"/>
              </a:spcBef>
              <a:spcAft>
                <a:spcPts val="0"/>
              </a:spcAft>
              <a:buNone/>
            </a:pPr>
            <a:r>
              <a:rPr b="1" i="0" lang="es-CO" sz="950" u="none" cap="none" strike="noStrike">
                <a:solidFill>
                  <a:srgbClr val="2A56C6"/>
                </a:solidFill>
                <a:latin typeface="Arial"/>
                <a:ea typeface="Arial"/>
                <a:cs typeface="Arial"/>
                <a:sym typeface="Arial"/>
              </a:rPr>
              <a:t>Ritmo y flujo</a:t>
            </a:r>
            <a:endParaRPr/>
          </a:p>
        </p:txBody>
      </p:sp>
      <p:sp>
        <p:nvSpPr>
          <p:cNvPr id="202" name="Google Shape;202;p17"/>
          <p:cNvSpPr txBox="1"/>
          <p:nvPr/>
        </p:nvSpPr>
        <p:spPr>
          <a:xfrm>
            <a:off x="2249424" y="6580251"/>
            <a:ext cx="1280160" cy="347472"/>
          </a:xfrm>
          <a:prstGeom prst="rect">
            <a:avLst/>
          </a:prstGeom>
          <a:noFill/>
          <a:ln>
            <a:noFill/>
          </a:ln>
        </p:spPr>
        <p:txBody>
          <a:bodyPr anchorCtr="0" anchor="ctr" bIns="0" lIns="0" spcFirstLastPara="1" rIns="0" wrap="square" tIns="0">
            <a:spAutoFit/>
          </a:bodyPr>
          <a:lstStyle/>
          <a:p>
            <a:pPr indent="0" lvl="0" marL="0" marR="0" rtl="0" algn="l">
              <a:lnSpc>
                <a:spcPct val="110000"/>
              </a:lnSpc>
              <a:spcBef>
                <a:spcPts val="0"/>
              </a:spcBef>
              <a:spcAft>
                <a:spcPts val="0"/>
              </a:spcAft>
              <a:buNone/>
            </a:pPr>
            <a:r>
              <a:rPr b="1" i="0" lang="es-CO" sz="950" u="none" cap="none" strike="noStrike">
                <a:solidFill>
                  <a:srgbClr val="3D2159"/>
                </a:solidFill>
                <a:latin typeface="Arial"/>
                <a:ea typeface="Arial"/>
                <a:cs typeface="Arial"/>
                <a:sym typeface="Arial"/>
              </a:rPr>
              <a:t>Sprint</a:t>
            </a:r>
            <a:endParaRPr/>
          </a:p>
        </p:txBody>
      </p:sp>
      <p:sp>
        <p:nvSpPr>
          <p:cNvPr id="203" name="Google Shape;203;p17"/>
          <p:cNvSpPr txBox="1"/>
          <p:nvPr/>
        </p:nvSpPr>
        <p:spPr>
          <a:xfrm>
            <a:off x="3621024" y="6580251"/>
            <a:ext cx="2331720" cy="34747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i="0" lang="es-CO" sz="900" u="none" cap="none" strike="noStrike">
                <a:solidFill>
                  <a:srgbClr val="353646"/>
                </a:solidFill>
                <a:latin typeface="Arial"/>
                <a:ea typeface="Arial"/>
                <a:cs typeface="Arial"/>
                <a:sym typeface="Arial"/>
              </a:rPr>
              <a:t>Ciclo de trabajo de duración fija, en el que se crea un incremento de valor.</a:t>
            </a:r>
            <a:endParaRPr/>
          </a:p>
        </p:txBody>
      </p:sp>
      <p:cxnSp>
        <p:nvCxnSpPr>
          <p:cNvPr id="204" name="Google Shape;204;p17"/>
          <p:cNvCxnSpPr/>
          <p:nvPr/>
        </p:nvCxnSpPr>
        <p:spPr>
          <a:xfrm>
            <a:off x="2203704" y="6955155"/>
            <a:ext cx="3776472" cy="0"/>
          </a:xfrm>
          <a:prstGeom prst="straightConnector1">
            <a:avLst/>
          </a:prstGeom>
          <a:noFill/>
          <a:ln cap="flat" cmpd="sng" w="9525">
            <a:solidFill>
              <a:srgbClr val="E2E4EC"/>
            </a:solidFill>
            <a:prstDash val="solid"/>
            <a:round/>
            <a:headEnd len="sm" w="sm" type="none"/>
            <a:tailEnd len="sm" w="sm" type="none"/>
          </a:ln>
          <a:effectLst>
            <a:outerShdw blurRad="40000" rotWithShape="0" dir="5400000" dist="20000">
              <a:srgbClr val="000000">
                <a:alpha val="38039"/>
              </a:srgbClr>
            </a:outerShdw>
          </a:effectLst>
        </p:spPr>
      </p:cxnSp>
      <p:sp>
        <p:nvSpPr>
          <p:cNvPr id="205" name="Google Shape;205;p17"/>
          <p:cNvSpPr/>
          <p:nvPr/>
        </p:nvSpPr>
        <p:spPr>
          <a:xfrm>
            <a:off x="877824" y="7028307"/>
            <a:ext cx="1234440" cy="1527048"/>
          </a:xfrm>
          <a:prstGeom prst="roundRect">
            <a:avLst>
              <a:gd fmla="val 8000" name="adj"/>
            </a:avLst>
          </a:prstGeom>
          <a:solidFill>
            <a:srgbClr val="E8F1FB"/>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06" name="Google Shape;206;p17"/>
          <p:cNvSpPr txBox="1"/>
          <p:nvPr/>
        </p:nvSpPr>
        <p:spPr>
          <a:xfrm>
            <a:off x="969264" y="7028307"/>
            <a:ext cx="1097280" cy="1527048"/>
          </a:xfrm>
          <a:prstGeom prst="rect">
            <a:avLst/>
          </a:prstGeom>
          <a:noFill/>
          <a:ln>
            <a:noFill/>
          </a:ln>
        </p:spPr>
        <p:txBody>
          <a:bodyPr anchorCtr="0" anchor="ctr" bIns="0" lIns="0" spcFirstLastPara="1" rIns="0" wrap="square" tIns="0">
            <a:spAutoFit/>
          </a:bodyPr>
          <a:lstStyle/>
          <a:p>
            <a:pPr indent="0" lvl="0" marL="0" marR="0" rtl="0" algn="l">
              <a:lnSpc>
                <a:spcPct val="110000"/>
              </a:lnSpc>
              <a:spcBef>
                <a:spcPts val="0"/>
              </a:spcBef>
              <a:spcAft>
                <a:spcPts val="0"/>
              </a:spcAft>
              <a:buNone/>
            </a:pPr>
            <a:r>
              <a:rPr b="1" i="0" lang="es-CO" sz="950" u="none" cap="none" strike="noStrike">
                <a:solidFill>
                  <a:srgbClr val="024791"/>
                </a:solidFill>
                <a:latin typeface="Arial"/>
                <a:ea typeface="Arial"/>
                <a:cs typeface="Arial"/>
                <a:sym typeface="Arial"/>
              </a:rPr>
              <a:t>Artefactos y compromisos</a:t>
            </a:r>
            <a:endParaRPr/>
          </a:p>
        </p:txBody>
      </p:sp>
      <p:sp>
        <p:nvSpPr>
          <p:cNvPr id="207" name="Google Shape;207;p17"/>
          <p:cNvSpPr txBox="1"/>
          <p:nvPr/>
        </p:nvSpPr>
        <p:spPr>
          <a:xfrm>
            <a:off x="2249424" y="7028307"/>
            <a:ext cx="1280160" cy="347472"/>
          </a:xfrm>
          <a:prstGeom prst="rect">
            <a:avLst/>
          </a:prstGeom>
          <a:noFill/>
          <a:ln>
            <a:noFill/>
          </a:ln>
        </p:spPr>
        <p:txBody>
          <a:bodyPr anchorCtr="0" anchor="ctr" bIns="0" lIns="0" spcFirstLastPara="1" rIns="0" wrap="square" tIns="0">
            <a:spAutoFit/>
          </a:bodyPr>
          <a:lstStyle/>
          <a:p>
            <a:pPr indent="0" lvl="0" marL="0" marR="0" rtl="0" algn="l">
              <a:lnSpc>
                <a:spcPct val="110000"/>
              </a:lnSpc>
              <a:spcBef>
                <a:spcPts val="0"/>
              </a:spcBef>
              <a:spcAft>
                <a:spcPts val="0"/>
              </a:spcAft>
              <a:buNone/>
            </a:pPr>
            <a:r>
              <a:rPr b="1" i="0" lang="es-CO" sz="950" u="none" cap="none" strike="noStrike">
                <a:solidFill>
                  <a:srgbClr val="3D2159"/>
                </a:solidFill>
                <a:latin typeface="Arial"/>
                <a:ea typeface="Arial"/>
                <a:cs typeface="Arial"/>
                <a:sym typeface="Arial"/>
              </a:rPr>
              <a:t>Product Backlog</a:t>
            </a:r>
            <a:endParaRPr/>
          </a:p>
        </p:txBody>
      </p:sp>
      <p:sp>
        <p:nvSpPr>
          <p:cNvPr id="208" name="Google Shape;208;p17"/>
          <p:cNvSpPr txBox="1"/>
          <p:nvPr/>
        </p:nvSpPr>
        <p:spPr>
          <a:xfrm>
            <a:off x="3621024" y="7028307"/>
            <a:ext cx="2331720" cy="34747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i="0" lang="es-CO" sz="900" u="none" cap="none" strike="noStrike">
                <a:solidFill>
                  <a:srgbClr val="353646"/>
                </a:solidFill>
                <a:latin typeface="Arial"/>
                <a:ea typeface="Arial"/>
                <a:cs typeface="Arial"/>
                <a:sym typeface="Arial"/>
              </a:rPr>
              <a:t>Lista ordenada y evolutiva de necesidades del producto.</a:t>
            </a:r>
            <a:endParaRPr/>
          </a:p>
        </p:txBody>
      </p:sp>
      <p:cxnSp>
        <p:nvCxnSpPr>
          <p:cNvPr id="209" name="Google Shape;209;p17"/>
          <p:cNvCxnSpPr/>
          <p:nvPr/>
        </p:nvCxnSpPr>
        <p:spPr>
          <a:xfrm>
            <a:off x="2203704" y="7403211"/>
            <a:ext cx="3776472" cy="0"/>
          </a:xfrm>
          <a:prstGeom prst="straightConnector1">
            <a:avLst/>
          </a:prstGeom>
          <a:noFill/>
          <a:ln cap="flat" cmpd="sng" w="9525">
            <a:solidFill>
              <a:srgbClr val="E2E4EC"/>
            </a:solidFill>
            <a:prstDash val="solid"/>
            <a:round/>
            <a:headEnd len="sm" w="sm" type="none"/>
            <a:tailEnd len="sm" w="sm" type="none"/>
          </a:ln>
          <a:effectLst>
            <a:outerShdw blurRad="40000" rotWithShape="0" dir="5400000" dist="20000">
              <a:srgbClr val="000000">
                <a:alpha val="38039"/>
              </a:srgbClr>
            </a:outerShdw>
          </a:effectLst>
        </p:spPr>
      </p:cxnSp>
      <p:sp>
        <p:nvSpPr>
          <p:cNvPr id="210" name="Google Shape;210;p17"/>
          <p:cNvSpPr txBox="1"/>
          <p:nvPr/>
        </p:nvSpPr>
        <p:spPr>
          <a:xfrm>
            <a:off x="2249424" y="7421499"/>
            <a:ext cx="1280160" cy="347472"/>
          </a:xfrm>
          <a:prstGeom prst="rect">
            <a:avLst/>
          </a:prstGeom>
          <a:noFill/>
          <a:ln>
            <a:noFill/>
          </a:ln>
        </p:spPr>
        <p:txBody>
          <a:bodyPr anchorCtr="0" anchor="ctr" bIns="0" lIns="0" spcFirstLastPara="1" rIns="0" wrap="square" tIns="0">
            <a:spAutoFit/>
          </a:bodyPr>
          <a:lstStyle/>
          <a:p>
            <a:pPr indent="0" lvl="0" marL="0" marR="0" rtl="0" algn="l">
              <a:lnSpc>
                <a:spcPct val="110000"/>
              </a:lnSpc>
              <a:spcBef>
                <a:spcPts val="0"/>
              </a:spcBef>
              <a:spcAft>
                <a:spcPts val="0"/>
              </a:spcAft>
              <a:buNone/>
            </a:pPr>
            <a:r>
              <a:rPr b="1" i="0" lang="es-CO" sz="950" u="none" cap="none" strike="noStrike">
                <a:solidFill>
                  <a:srgbClr val="3D2159"/>
                </a:solidFill>
                <a:latin typeface="Arial"/>
                <a:ea typeface="Arial"/>
                <a:cs typeface="Arial"/>
                <a:sym typeface="Arial"/>
              </a:rPr>
              <a:t>Sprint Backlog</a:t>
            </a:r>
            <a:endParaRPr/>
          </a:p>
        </p:txBody>
      </p:sp>
      <p:sp>
        <p:nvSpPr>
          <p:cNvPr id="211" name="Google Shape;211;p17"/>
          <p:cNvSpPr txBox="1"/>
          <p:nvPr/>
        </p:nvSpPr>
        <p:spPr>
          <a:xfrm>
            <a:off x="3621024" y="7421499"/>
            <a:ext cx="2331720" cy="34747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i="0" lang="es-CO" sz="900" u="none" cap="none" strike="noStrike">
                <a:solidFill>
                  <a:srgbClr val="353646"/>
                </a:solidFill>
                <a:latin typeface="Arial"/>
                <a:ea typeface="Arial"/>
                <a:cs typeface="Arial"/>
                <a:sym typeface="Arial"/>
              </a:rPr>
              <a:t>Trabajo seleccionado y planificado por el equipo para un Sprint.</a:t>
            </a:r>
            <a:endParaRPr/>
          </a:p>
        </p:txBody>
      </p:sp>
      <p:cxnSp>
        <p:nvCxnSpPr>
          <p:cNvPr id="212" name="Google Shape;212;p17"/>
          <p:cNvCxnSpPr/>
          <p:nvPr/>
        </p:nvCxnSpPr>
        <p:spPr>
          <a:xfrm>
            <a:off x="2203704" y="7796403"/>
            <a:ext cx="3776472" cy="0"/>
          </a:xfrm>
          <a:prstGeom prst="straightConnector1">
            <a:avLst/>
          </a:prstGeom>
          <a:noFill/>
          <a:ln cap="flat" cmpd="sng" w="9525">
            <a:solidFill>
              <a:srgbClr val="E2E4EC"/>
            </a:solidFill>
            <a:prstDash val="solid"/>
            <a:round/>
            <a:headEnd len="sm" w="sm" type="none"/>
            <a:tailEnd len="sm" w="sm" type="none"/>
          </a:ln>
          <a:effectLst>
            <a:outerShdw blurRad="40000" rotWithShape="0" dir="5400000" dist="20000">
              <a:srgbClr val="000000">
                <a:alpha val="38039"/>
              </a:srgbClr>
            </a:outerShdw>
          </a:effectLst>
        </p:spPr>
      </p:cxnSp>
      <p:sp>
        <p:nvSpPr>
          <p:cNvPr id="213" name="Google Shape;213;p17"/>
          <p:cNvSpPr txBox="1"/>
          <p:nvPr/>
        </p:nvSpPr>
        <p:spPr>
          <a:xfrm>
            <a:off x="2249424" y="7814691"/>
            <a:ext cx="1280160" cy="347472"/>
          </a:xfrm>
          <a:prstGeom prst="rect">
            <a:avLst/>
          </a:prstGeom>
          <a:noFill/>
          <a:ln>
            <a:noFill/>
          </a:ln>
        </p:spPr>
        <p:txBody>
          <a:bodyPr anchorCtr="0" anchor="ctr" bIns="0" lIns="0" spcFirstLastPara="1" rIns="0" wrap="square" tIns="0">
            <a:spAutoFit/>
          </a:bodyPr>
          <a:lstStyle/>
          <a:p>
            <a:pPr indent="0" lvl="0" marL="0" marR="0" rtl="0" algn="l">
              <a:lnSpc>
                <a:spcPct val="110000"/>
              </a:lnSpc>
              <a:spcBef>
                <a:spcPts val="0"/>
              </a:spcBef>
              <a:spcAft>
                <a:spcPts val="0"/>
              </a:spcAft>
              <a:buNone/>
            </a:pPr>
            <a:r>
              <a:rPr b="1" i="0" lang="es-CO" sz="950" u="none" cap="none" strike="noStrike">
                <a:solidFill>
                  <a:srgbClr val="3D2159"/>
                </a:solidFill>
                <a:latin typeface="Arial"/>
                <a:ea typeface="Arial"/>
                <a:cs typeface="Arial"/>
                <a:sym typeface="Arial"/>
              </a:rPr>
              <a:t>Increment</a:t>
            </a:r>
            <a:endParaRPr/>
          </a:p>
        </p:txBody>
      </p:sp>
      <p:sp>
        <p:nvSpPr>
          <p:cNvPr id="214" name="Google Shape;214;p17"/>
          <p:cNvSpPr txBox="1"/>
          <p:nvPr/>
        </p:nvSpPr>
        <p:spPr>
          <a:xfrm>
            <a:off x="3621024" y="7814691"/>
            <a:ext cx="2331720" cy="34747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i="0" lang="es-CO" sz="900" u="none" cap="none" strike="noStrike">
                <a:solidFill>
                  <a:srgbClr val="353646"/>
                </a:solidFill>
                <a:latin typeface="Arial"/>
                <a:ea typeface="Arial"/>
                <a:cs typeface="Arial"/>
                <a:sym typeface="Arial"/>
              </a:rPr>
              <a:t>Resultado integrado y potencialmente funcional que aporta valor.</a:t>
            </a:r>
            <a:endParaRPr/>
          </a:p>
        </p:txBody>
      </p:sp>
      <p:cxnSp>
        <p:nvCxnSpPr>
          <p:cNvPr id="215" name="Google Shape;215;p17"/>
          <p:cNvCxnSpPr/>
          <p:nvPr/>
        </p:nvCxnSpPr>
        <p:spPr>
          <a:xfrm>
            <a:off x="2203704" y="8189595"/>
            <a:ext cx="3776472" cy="0"/>
          </a:xfrm>
          <a:prstGeom prst="straightConnector1">
            <a:avLst/>
          </a:prstGeom>
          <a:noFill/>
          <a:ln cap="flat" cmpd="sng" w="9525">
            <a:solidFill>
              <a:srgbClr val="E2E4EC"/>
            </a:solidFill>
            <a:prstDash val="solid"/>
            <a:round/>
            <a:headEnd len="sm" w="sm" type="none"/>
            <a:tailEnd len="sm" w="sm" type="none"/>
          </a:ln>
          <a:effectLst>
            <a:outerShdw blurRad="40000" rotWithShape="0" dir="5400000" dist="20000">
              <a:srgbClr val="000000">
                <a:alpha val="38039"/>
              </a:srgbClr>
            </a:outerShdw>
          </a:effectLst>
        </p:spPr>
      </p:cxnSp>
      <p:sp>
        <p:nvSpPr>
          <p:cNvPr id="216" name="Google Shape;216;p17"/>
          <p:cNvSpPr txBox="1"/>
          <p:nvPr/>
        </p:nvSpPr>
        <p:spPr>
          <a:xfrm>
            <a:off x="2249424" y="8207883"/>
            <a:ext cx="1280160" cy="347472"/>
          </a:xfrm>
          <a:prstGeom prst="rect">
            <a:avLst/>
          </a:prstGeom>
          <a:noFill/>
          <a:ln>
            <a:noFill/>
          </a:ln>
        </p:spPr>
        <p:txBody>
          <a:bodyPr anchorCtr="0" anchor="ctr" bIns="0" lIns="0" spcFirstLastPara="1" rIns="0" wrap="square" tIns="0">
            <a:spAutoFit/>
          </a:bodyPr>
          <a:lstStyle/>
          <a:p>
            <a:pPr indent="0" lvl="0" marL="0" marR="0" rtl="0" algn="l">
              <a:lnSpc>
                <a:spcPct val="110000"/>
              </a:lnSpc>
              <a:spcBef>
                <a:spcPts val="0"/>
              </a:spcBef>
              <a:spcAft>
                <a:spcPts val="0"/>
              </a:spcAft>
              <a:buNone/>
            </a:pPr>
            <a:r>
              <a:rPr b="1" i="0" lang="es-CO" sz="950" u="none" cap="none" strike="noStrike">
                <a:solidFill>
                  <a:srgbClr val="3D2159"/>
                </a:solidFill>
                <a:latin typeface="Arial"/>
                <a:ea typeface="Arial"/>
                <a:cs typeface="Arial"/>
                <a:sym typeface="Arial"/>
              </a:rPr>
              <a:t>Definition of Done</a:t>
            </a:r>
            <a:endParaRPr/>
          </a:p>
        </p:txBody>
      </p:sp>
      <p:sp>
        <p:nvSpPr>
          <p:cNvPr id="217" name="Google Shape;217;p17"/>
          <p:cNvSpPr txBox="1"/>
          <p:nvPr/>
        </p:nvSpPr>
        <p:spPr>
          <a:xfrm>
            <a:off x="3621024" y="8207883"/>
            <a:ext cx="2331720" cy="347472"/>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i="0" lang="es-CO" sz="900" u="none" cap="none" strike="noStrike">
                <a:solidFill>
                  <a:srgbClr val="353646"/>
                </a:solidFill>
                <a:latin typeface="Arial"/>
                <a:ea typeface="Arial"/>
                <a:cs typeface="Arial"/>
                <a:sym typeface="Arial"/>
              </a:rPr>
              <a:t>Criterios acordados para determinar cuándo un incremento está terminado.</a:t>
            </a:r>
            <a:endParaRPr/>
          </a:p>
        </p:txBody>
      </p:sp>
      <p:cxnSp>
        <p:nvCxnSpPr>
          <p:cNvPr id="218" name="Google Shape;218;p17"/>
          <p:cNvCxnSpPr/>
          <p:nvPr/>
        </p:nvCxnSpPr>
        <p:spPr>
          <a:xfrm>
            <a:off x="2203704" y="8582787"/>
            <a:ext cx="3776472" cy="0"/>
          </a:xfrm>
          <a:prstGeom prst="straightConnector1">
            <a:avLst/>
          </a:prstGeom>
          <a:noFill/>
          <a:ln cap="flat" cmpd="sng" w="9525">
            <a:solidFill>
              <a:srgbClr val="E2E4EC"/>
            </a:solidFill>
            <a:prstDash val="solid"/>
            <a:round/>
            <a:headEnd len="sm" w="sm" type="none"/>
            <a:tailEnd len="sm" w="sm" type="none"/>
          </a:ln>
          <a:effectLst>
            <a:outerShdw blurRad="40000" rotWithShape="0" dir="5400000" dist="20000">
              <a:srgbClr val="000000">
                <a:alpha val="38039"/>
              </a:srgbClr>
            </a:outerShdw>
          </a:effectLst>
        </p:spPr>
      </p:cxnSp>
      <p:sp>
        <p:nvSpPr>
          <p:cNvPr id="219" name="Google Shape;219;p17"/>
          <p:cNvSpPr txBox="1"/>
          <p:nvPr/>
        </p:nvSpPr>
        <p:spPr>
          <a:xfrm>
            <a:off x="877824" y="8747379"/>
            <a:ext cx="5102352" cy="201168"/>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1" lang="es-CO" sz="900" u="none" cap="none" strike="noStrike">
                <a:solidFill>
                  <a:srgbClr val="5F5966"/>
                </a:solidFill>
                <a:latin typeface="Arial"/>
                <a:ea typeface="Arial"/>
                <a:cs typeface="Arial"/>
                <a:sym typeface="Arial"/>
              </a:rPr>
              <a:t>Fuente: elaboración propia.</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18"/>
          <p:cNvSpPr/>
          <p:nvPr/>
        </p:nvSpPr>
        <p:spPr>
          <a:xfrm>
            <a:off x="876300" y="1104900"/>
            <a:ext cx="4953000" cy="22860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900"/>
              <a:buFont typeface="Arial"/>
              <a:buNone/>
            </a:pPr>
            <a:r>
              <a:rPr b="1" i="0" lang="es-CO" sz="900" u="none" cap="none" strike="noStrike">
                <a:solidFill>
                  <a:srgbClr val="B31686"/>
                </a:solidFill>
                <a:latin typeface="Arial"/>
                <a:ea typeface="Arial"/>
                <a:cs typeface="Arial"/>
                <a:sym typeface="Arial"/>
              </a:rPr>
              <a:t>Tema 2 · Aprender desde la experiencia</a:t>
            </a:r>
            <a:endParaRPr b="1" i="0" sz="900" u="none" cap="none" strike="noStrike">
              <a:solidFill>
                <a:srgbClr val="B31686"/>
              </a:solidFill>
              <a:latin typeface="Arial"/>
              <a:ea typeface="Arial"/>
              <a:cs typeface="Arial"/>
              <a:sym typeface="Arial"/>
            </a:endParaRPr>
          </a:p>
        </p:txBody>
      </p:sp>
      <p:sp>
        <p:nvSpPr>
          <p:cNvPr id="225" name="Google Shape;225;p18"/>
          <p:cNvSpPr/>
          <p:nvPr/>
        </p:nvSpPr>
        <p:spPr>
          <a:xfrm>
            <a:off x="876300" y="1409700"/>
            <a:ext cx="5105400" cy="813816"/>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2325"/>
              <a:buFont typeface="Arial"/>
              <a:buNone/>
            </a:pPr>
            <a:r>
              <a:rPr b="1" i="0" lang="es-CO" sz="2325" u="none" cap="none" strike="noStrike">
                <a:solidFill>
                  <a:srgbClr val="3D2159"/>
                </a:solidFill>
                <a:latin typeface="Arial"/>
                <a:ea typeface="Arial"/>
                <a:cs typeface="Arial"/>
                <a:sym typeface="Arial"/>
              </a:rPr>
              <a:t>Experiencia como fuente de conocimiento</a:t>
            </a:r>
            <a:endParaRPr b="0" i="0" sz="1400" u="none" cap="none" strike="noStrike">
              <a:solidFill>
                <a:srgbClr val="000000"/>
              </a:solidFill>
              <a:latin typeface="Arial"/>
              <a:ea typeface="Arial"/>
              <a:cs typeface="Arial"/>
              <a:sym typeface="Arial"/>
            </a:endParaRPr>
          </a:p>
        </p:txBody>
      </p:sp>
      <p:pic>
        <p:nvPicPr>
          <p:cNvPr id="226" name="Google Shape;226;p18"/>
          <p:cNvPicPr preferRelativeResize="0"/>
          <p:nvPr/>
        </p:nvPicPr>
        <p:blipFill rotWithShape="1">
          <a:blip r:embed="rId3">
            <a:alphaModFix/>
          </a:blip>
          <a:srcRect b="0" l="0" r="0" t="0"/>
          <a:stretch/>
        </p:blipFill>
        <p:spPr>
          <a:xfrm>
            <a:off x="869156" y="2340864"/>
            <a:ext cx="1100138" cy="88783"/>
          </a:xfrm>
          <a:prstGeom prst="rect">
            <a:avLst/>
          </a:prstGeom>
          <a:noFill/>
          <a:ln>
            <a:noFill/>
          </a:ln>
        </p:spPr>
      </p:pic>
      <p:sp>
        <p:nvSpPr>
          <p:cNvPr id="227" name="Google Shape;227;p18"/>
          <p:cNvSpPr txBox="1"/>
          <p:nvPr/>
        </p:nvSpPr>
        <p:spPr>
          <a:xfrm>
            <a:off x="877824" y="2752344"/>
            <a:ext cx="5102352" cy="12573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s-CO" sz="1100" u="none" cap="none" strike="noStrike">
                <a:solidFill>
                  <a:srgbClr val="353646"/>
                </a:solidFill>
                <a:latin typeface="Arial"/>
                <a:ea typeface="Arial"/>
                <a:cs typeface="Arial"/>
                <a:sym typeface="Arial"/>
              </a:rPr>
              <a:t>Uno de los fundamentos centrales de Scrum es el empirismo. Desde esta perspectiva, el conocimiento se construye a partir de la experiencia y de la observación de lo que realmente sucede. Frente a un problema complejo, nuestras decisiones iniciales pueden necesitar ajustes porque parte de la información relevante solo aparece mientras desarrollamos el trabajo (Schwaber &amp; Sutherland, 2020).</a:t>
            </a:r>
            <a:endParaRPr/>
          </a:p>
        </p:txBody>
      </p:sp>
      <p:sp>
        <p:nvSpPr>
          <p:cNvPr id="228" name="Google Shape;228;p18"/>
          <p:cNvSpPr txBox="1"/>
          <p:nvPr/>
        </p:nvSpPr>
        <p:spPr>
          <a:xfrm>
            <a:off x="877824" y="4192524"/>
            <a:ext cx="5102352" cy="201168"/>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CO" sz="900" u="none" cap="none" strike="noStrike">
                <a:solidFill>
                  <a:srgbClr val="B31686"/>
                </a:solidFill>
                <a:latin typeface="Arial"/>
                <a:ea typeface="Arial"/>
                <a:cs typeface="Arial"/>
                <a:sym typeface="Arial"/>
              </a:rPr>
              <a:t>FUNDAMENTOS DE SCRUM · LÓGICA EMPÍRICA Y LEAN</a:t>
            </a:r>
            <a:endParaRPr/>
          </a:p>
        </p:txBody>
      </p:sp>
      <p:sp>
        <p:nvSpPr>
          <p:cNvPr id="229" name="Google Shape;229;p18"/>
          <p:cNvSpPr txBox="1"/>
          <p:nvPr/>
        </p:nvSpPr>
        <p:spPr>
          <a:xfrm>
            <a:off x="877824" y="4466844"/>
            <a:ext cx="5102352" cy="276225"/>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CO" sz="1450" u="none" cap="none" strike="noStrike">
                <a:solidFill>
                  <a:srgbClr val="3D2159"/>
                </a:solidFill>
                <a:latin typeface="Arial"/>
                <a:ea typeface="Arial"/>
                <a:cs typeface="Arial"/>
                <a:sym typeface="Arial"/>
              </a:rPr>
              <a:t>Aprender mientras se avanza</a:t>
            </a:r>
            <a:endParaRPr/>
          </a:p>
        </p:txBody>
      </p:sp>
      <p:sp>
        <p:nvSpPr>
          <p:cNvPr id="230" name="Google Shape;230;p18"/>
          <p:cNvSpPr txBox="1"/>
          <p:nvPr/>
        </p:nvSpPr>
        <p:spPr>
          <a:xfrm>
            <a:off x="877824" y="4788788"/>
            <a:ext cx="5102352" cy="40005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1" lang="es-CO" sz="1050" u="none" cap="none" strike="noStrike">
                <a:solidFill>
                  <a:srgbClr val="5F5966"/>
                </a:solidFill>
                <a:latin typeface="Arial"/>
                <a:ea typeface="Arial"/>
                <a:cs typeface="Arial"/>
                <a:sym typeface="Arial"/>
              </a:rPr>
              <a:t>El bucle adaptativo: aprender de la evidencia y concentrarse en lo esencial.</a:t>
            </a:r>
            <a:endParaRPr/>
          </a:p>
        </p:txBody>
      </p:sp>
      <p:sp>
        <p:nvSpPr>
          <p:cNvPr id="231" name="Google Shape;231;p18"/>
          <p:cNvSpPr/>
          <p:nvPr/>
        </p:nvSpPr>
        <p:spPr>
          <a:xfrm>
            <a:off x="877824" y="5390006"/>
            <a:ext cx="1138428" cy="1325880"/>
          </a:xfrm>
          <a:prstGeom prst="roundRect">
            <a:avLst>
              <a:gd fmla="val 10000" name="adj"/>
            </a:avLst>
          </a:prstGeom>
          <a:solidFill>
            <a:srgbClr val="FFFFFF"/>
          </a:solidFill>
          <a:ln cap="flat" cmpd="sng" w="12700">
            <a:solidFill>
              <a:srgbClr val="D9DCE6"/>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32" name="Google Shape;232;p18"/>
          <p:cNvSpPr/>
          <p:nvPr/>
        </p:nvSpPr>
        <p:spPr>
          <a:xfrm>
            <a:off x="1218438" y="5527166"/>
            <a:ext cx="457200" cy="457200"/>
          </a:xfrm>
          <a:prstGeom prst="ellipse">
            <a:avLst/>
          </a:prstGeom>
          <a:solidFill>
            <a:srgbClr val="66409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33" name="Google Shape;233;p18"/>
          <p:cNvSpPr txBox="1"/>
          <p:nvPr/>
        </p:nvSpPr>
        <p:spPr>
          <a:xfrm>
            <a:off x="1218438" y="5527166"/>
            <a:ext cx="457200" cy="457200"/>
          </a:xfrm>
          <a:prstGeom prst="rect">
            <a:avLst/>
          </a:prstGeom>
          <a:noFill/>
          <a:ln>
            <a:noFill/>
          </a:ln>
        </p:spPr>
        <p:txBody>
          <a:bodyPr anchorCtr="0" anchor="ctr" bIns="0" lIns="0" spcFirstLastPara="1" rIns="0" wrap="square" tIns="0">
            <a:spAutoFit/>
          </a:bodyPr>
          <a:lstStyle/>
          <a:p>
            <a:pPr indent="0" lvl="0" marL="0" marR="0" rtl="0" algn="ctr">
              <a:lnSpc>
                <a:spcPct val="110000"/>
              </a:lnSpc>
              <a:spcBef>
                <a:spcPts val="0"/>
              </a:spcBef>
              <a:spcAft>
                <a:spcPts val="0"/>
              </a:spcAft>
              <a:buNone/>
            </a:pPr>
            <a:r>
              <a:rPr b="1" i="0" lang="es-CO" sz="1300" u="none" cap="none" strike="noStrike">
                <a:solidFill>
                  <a:srgbClr val="FFFFFF"/>
                </a:solidFill>
                <a:latin typeface="Arial"/>
                <a:ea typeface="Arial"/>
                <a:cs typeface="Arial"/>
                <a:sym typeface="Arial"/>
              </a:rPr>
              <a:t>1</a:t>
            </a:r>
            <a:endParaRPr/>
          </a:p>
        </p:txBody>
      </p:sp>
      <p:sp>
        <p:nvSpPr>
          <p:cNvPr id="234" name="Google Shape;234;p18"/>
          <p:cNvSpPr txBox="1"/>
          <p:nvPr/>
        </p:nvSpPr>
        <p:spPr>
          <a:xfrm>
            <a:off x="923544" y="6075806"/>
            <a:ext cx="1046988" cy="228600"/>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None/>
            </a:pPr>
            <a:r>
              <a:rPr b="1" i="0" lang="es-CO" sz="1050" u="none" cap="none" strike="noStrike">
                <a:solidFill>
                  <a:srgbClr val="664092"/>
                </a:solidFill>
                <a:latin typeface="Arial"/>
                <a:ea typeface="Arial"/>
                <a:cs typeface="Arial"/>
                <a:sym typeface="Arial"/>
              </a:rPr>
              <a:t>Trabajamos</a:t>
            </a:r>
            <a:endParaRPr/>
          </a:p>
        </p:txBody>
      </p:sp>
      <p:sp>
        <p:nvSpPr>
          <p:cNvPr id="235" name="Google Shape;235;p18"/>
          <p:cNvSpPr txBox="1"/>
          <p:nvPr/>
        </p:nvSpPr>
        <p:spPr>
          <a:xfrm>
            <a:off x="923544" y="6322695"/>
            <a:ext cx="1046988" cy="365760"/>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None/>
            </a:pPr>
            <a:r>
              <a:rPr b="0" i="0" lang="es-CO" sz="900" u="none" cap="none" strike="noStrike">
                <a:solidFill>
                  <a:srgbClr val="353646"/>
                </a:solidFill>
                <a:latin typeface="Arial"/>
                <a:ea typeface="Arial"/>
                <a:cs typeface="Arial"/>
                <a:sym typeface="Arial"/>
              </a:rPr>
              <a:t>Construcción inicial.</a:t>
            </a:r>
            <a:endParaRPr/>
          </a:p>
        </p:txBody>
      </p:sp>
      <p:sp>
        <p:nvSpPr>
          <p:cNvPr id="236" name="Google Shape;236;p18"/>
          <p:cNvSpPr/>
          <p:nvPr/>
        </p:nvSpPr>
        <p:spPr>
          <a:xfrm>
            <a:off x="2043684" y="5691758"/>
            <a:ext cx="128016" cy="146304"/>
          </a:xfrm>
          <a:prstGeom prst="rightArrow">
            <a:avLst>
              <a:gd fmla="val 50000" name="adj1"/>
              <a:gd fmla="val 50000" name="adj2"/>
            </a:avLst>
          </a:prstGeom>
          <a:solidFill>
            <a:srgbClr val="B9C3D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37" name="Google Shape;237;p18"/>
          <p:cNvSpPr/>
          <p:nvPr/>
        </p:nvSpPr>
        <p:spPr>
          <a:xfrm>
            <a:off x="2199132" y="5390006"/>
            <a:ext cx="1138428" cy="1325880"/>
          </a:xfrm>
          <a:prstGeom prst="roundRect">
            <a:avLst>
              <a:gd fmla="val 10000" name="adj"/>
            </a:avLst>
          </a:prstGeom>
          <a:solidFill>
            <a:srgbClr val="FFFFFF"/>
          </a:solidFill>
          <a:ln cap="flat" cmpd="sng" w="12700">
            <a:solidFill>
              <a:srgbClr val="D9DCE6"/>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38" name="Google Shape;238;p18"/>
          <p:cNvSpPr/>
          <p:nvPr/>
        </p:nvSpPr>
        <p:spPr>
          <a:xfrm>
            <a:off x="2539746" y="5527166"/>
            <a:ext cx="457200" cy="457200"/>
          </a:xfrm>
          <a:prstGeom prst="ellipse">
            <a:avLst/>
          </a:prstGeom>
          <a:solidFill>
            <a:srgbClr val="2A56C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39" name="Google Shape;239;p18"/>
          <p:cNvSpPr txBox="1"/>
          <p:nvPr/>
        </p:nvSpPr>
        <p:spPr>
          <a:xfrm>
            <a:off x="2539746" y="5527166"/>
            <a:ext cx="457200" cy="457200"/>
          </a:xfrm>
          <a:prstGeom prst="rect">
            <a:avLst/>
          </a:prstGeom>
          <a:noFill/>
          <a:ln>
            <a:noFill/>
          </a:ln>
        </p:spPr>
        <p:txBody>
          <a:bodyPr anchorCtr="0" anchor="ctr" bIns="0" lIns="0" spcFirstLastPara="1" rIns="0" wrap="square" tIns="0">
            <a:spAutoFit/>
          </a:bodyPr>
          <a:lstStyle/>
          <a:p>
            <a:pPr indent="0" lvl="0" marL="0" marR="0" rtl="0" algn="ctr">
              <a:lnSpc>
                <a:spcPct val="110000"/>
              </a:lnSpc>
              <a:spcBef>
                <a:spcPts val="0"/>
              </a:spcBef>
              <a:spcAft>
                <a:spcPts val="0"/>
              </a:spcAft>
              <a:buNone/>
            </a:pPr>
            <a:r>
              <a:rPr b="1" i="0" lang="es-CO" sz="1300" u="none" cap="none" strike="noStrike">
                <a:solidFill>
                  <a:srgbClr val="FFFFFF"/>
                </a:solidFill>
                <a:latin typeface="Arial"/>
                <a:ea typeface="Arial"/>
                <a:cs typeface="Arial"/>
                <a:sym typeface="Arial"/>
              </a:rPr>
              <a:t>2</a:t>
            </a:r>
            <a:endParaRPr/>
          </a:p>
        </p:txBody>
      </p:sp>
      <p:sp>
        <p:nvSpPr>
          <p:cNvPr id="240" name="Google Shape;240;p18"/>
          <p:cNvSpPr txBox="1"/>
          <p:nvPr/>
        </p:nvSpPr>
        <p:spPr>
          <a:xfrm>
            <a:off x="2244852" y="6075806"/>
            <a:ext cx="1046988" cy="228600"/>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None/>
            </a:pPr>
            <a:r>
              <a:rPr b="1" i="0" lang="es-CO" sz="1050" u="none" cap="none" strike="noStrike">
                <a:solidFill>
                  <a:srgbClr val="2A56C6"/>
                </a:solidFill>
                <a:latin typeface="Arial"/>
                <a:ea typeface="Arial"/>
                <a:cs typeface="Arial"/>
                <a:sym typeface="Arial"/>
              </a:rPr>
              <a:t>Observamos</a:t>
            </a:r>
            <a:endParaRPr/>
          </a:p>
        </p:txBody>
      </p:sp>
      <p:sp>
        <p:nvSpPr>
          <p:cNvPr id="241" name="Google Shape;241;p18"/>
          <p:cNvSpPr txBox="1"/>
          <p:nvPr/>
        </p:nvSpPr>
        <p:spPr>
          <a:xfrm>
            <a:off x="2244852" y="6322695"/>
            <a:ext cx="1046988" cy="365760"/>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None/>
            </a:pPr>
            <a:r>
              <a:rPr b="0" i="0" lang="es-CO" sz="900" u="none" cap="none" strike="noStrike">
                <a:solidFill>
                  <a:srgbClr val="353646"/>
                </a:solidFill>
                <a:latin typeface="Arial"/>
                <a:ea typeface="Arial"/>
                <a:cs typeface="Arial"/>
                <a:sym typeface="Arial"/>
              </a:rPr>
              <a:t>Revisión con usuarios.</a:t>
            </a:r>
            <a:endParaRPr/>
          </a:p>
        </p:txBody>
      </p:sp>
      <p:sp>
        <p:nvSpPr>
          <p:cNvPr id="242" name="Google Shape;242;p18"/>
          <p:cNvSpPr/>
          <p:nvPr/>
        </p:nvSpPr>
        <p:spPr>
          <a:xfrm>
            <a:off x="3364992" y="5691758"/>
            <a:ext cx="128016" cy="146304"/>
          </a:xfrm>
          <a:prstGeom prst="rightArrow">
            <a:avLst>
              <a:gd fmla="val 50000" name="adj1"/>
              <a:gd fmla="val 50000" name="adj2"/>
            </a:avLst>
          </a:prstGeom>
          <a:solidFill>
            <a:srgbClr val="B9C3D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43" name="Google Shape;243;p18"/>
          <p:cNvSpPr/>
          <p:nvPr/>
        </p:nvSpPr>
        <p:spPr>
          <a:xfrm>
            <a:off x="3520440" y="5390006"/>
            <a:ext cx="1138428" cy="1325880"/>
          </a:xfrm>
          <a:prstGeom prst="roundRect">
            <a:avLst>
              <a:gd fmla="val 10000" name="adj"/>
            </a:avLst>
          </a:prstGeom>
          <a:solidFill>
            <a:srgbClr val="FFFFFF"/>
          </a:solidFill>
          <a:ln cap="flat" cmpd="sng" w="12700">
            <a:solidFill>
              <a:srgbClr val="D9DCE6"/>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44" name="Google Shape;244;p18"/>
          <p:cNvSpPr/>
          <p:nvPr/>
        </p:nvSpPr>
        <p:spPr>
          <a:xfrm>
            <a:off x="3861054" y="5527166"/>
            <a:ext cx="457200" cy="457200"/>
          </a:xfrm>
          <a:prstGeom prst="ellipse">
            <a:avLst/>
          </a:prstGeom>
          <a:solidFill>
            <a:srgbClr val="B3168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45" name="Google Shape;245;p18"/>
          <p:cNvSpPr txBox="1"/>
          <p:nvPr/>
        </p:nvSpPr>
        <p:spPr>
          <a:xfrm>
            <a:off x="3861054" y="5527166"/>
            <a:ext cx="457200" cy="457200"/>
          </a:xfrm>
          <a:prstGeom prst="rect">
            <a:avLst/>
          </a:prstGeom>
          <a:noFill/>
          <a:ln>
            <a:noFill/>
          </a:ln>
        </p:spPr>
        <p:txBody>
          <a:bodyPr anchorCtr="0" anchor="ctr" bIns="0" lIns="0" spcFirstLastPara="1" rIns="0" wrap="square" tIns="0">
            <a:spAutoFit/>
          </a:bodyPr>
          <a:lstStyle/>
          <a:p>
            <a:pPr indent="0" lvl="0" marL="0" marR="0" rtl="0" algn="ctr">
              <a:lnSpc>
                <a:spcPct val="110000"/>
              </a:lnSpc>
              <a:spcBef>
                <a:spcPts val="0"/>
              </a:spcBef>
              <a:spcAft>
                <a:spcPts val="0"/>
              </a:spcAft>
              <a:buNone/>
            </a:pPr>
            <a:r>
              <a:rPr b="1" i="0" lang="es-CO" sz="1300" u="none" cap="none" strike="noStrike">
                <a:solidFill>
                  <a:srgbClr val="FFFFFF"/>
                </a:solidFill>
                <a:latin typeface="Arial"/>
                <a:ea typeface="Arial"/>
                <a:cs typeface="Arial"/>
                <a:sym typeface="Arial"/>
              </a:rPr>
              <a:t>3</a:t>
            </a:r>
            <a:endParaRPr/>
          </a:p>
        </p:txBody>
      </p:sp>
      <p:sp>
        <p:nvSpPr>
          <p:cNvPr id="246" name="Google Shape;246;p18"/>
          <p:cNvSpPr txBox="1"/>
          <p:nvPr/>
        </p:nvSpPr>
        <p:spPr>
          <a:xfrm>
            <a:off x="3566160" y="6075806"/>
            <a:ext cx="1046988" cy="228600"/>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None/>
            </a:pPr>
            <a:r>
              <a:rPr b="1" i="0" lang="es-CO" sz="1050" u="none" cap="none" strike="noStrike">
                <a:solidFill>
                  <a:srgbClr val="B31686"/>
                </a:solidFill>
                <a:latin typeface="Arial"/>
                <a:ea typeface="Arial"/>
                <a:cs typeface="Arial"/>
                <a:sym typeface="Arial"/>
              </a:rPr>
              <a:t>Aprendemos</a:t>
            </a:r>
            <a:endParaRPr/>
          </a:p>
        </p:txBody>
      </p:sp>
      <p:sp>
        <p:nvSpPr>
          <p:cNvPr id="247" name="Google Shape;247;p18"/>
          <p:cNvSpPr txBox="1"/>
          <p:nvPr/>
        </p:nvSpPr>
        <p:spPr>
          <a:xfrm>
            <a:off x="3566160" y="6322695"/>
            <a:ext cx="1046988" cy="365760"/>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None/>
            </a:pPr>
            <a:r>
              <a:rPr b="0" i="0" lang="es-CO" sz="900" u="none" cap="none" strike="noStrike">
                <a:solidFill>
                  <a:srgbClr val="353646"/>
                </a:solidFill>
                <a:latin typeface="Arial"/>
                <a:ea typeface="Arial"/>
                <a:cs typeface="Arial"/>
                <a:sym typeface="Arial"/>
              </a:rPr>
              <a:t>Nueva evidencia.</a:t>
            </a:r>
            <a:endParaRPr/>
          </a:p>
        </p:txBody>
      </p:sp>
      <p:sp>
        <p:nvSpPr>
          <p:cNvPr id="248" name="Google Shape;248;p18"/>
          <p:cNvSpPr/>
          <p:nvPr/>
        </p:nvSpPr>
        <p:spPr>
          <a:xfrm>
            <a:off x="4686300" y="5691758"/>
            <a:ext cx="128016" cy="146304"/>
          </a:xfrm>
          <a:prstGeom prst="rightArrow">
            <a:avLst>
              <a:gd fmla="val 50000" name="adj1"/>
              <a:gd fmla="val 50000" name="adj2"/>
            </a:avLst>
          </a:prstGeom>
          <a:solidFill>
            <a:srgbClr val="B9C3D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49" name="Google Shape;249;p18"/>
          <p:cNvSpPr/>
          <p:nvPr/>
        </p:nvSpPr>
        <p:spPr>
          <a:xfrm>
            <a:off x="4841748" y="5390006"/>
            <a:ext cx="1138428" cy="1325880"/>
          </a:xfrm>
          <a:prstGeom prst="roundRect">
            <a:avLst>
              <a:gd fmla="val 10000" name="adj"/>
            </a:avLst>
          </a:prstGeom>
          <a:solidFill>
            <a:srgbClr val="FFFFFF"/>
          </a:solidFill>
          <a:ln cap="flat" cmpd="sng" w="12700">
            <a:solidFill>
              <a:srgbClr val="D9DCE6"/>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50" name="Google Shape;250;p18"/>
          <p:cNvSpPr/>
          <p:nvPr/>
        </p:nvSpPr>
        <p:spPr>
          <a:xfrm>
            <a:off x="5182362" y="5527166"/>
            <a:ext cx="457200" cy="457200"/>
          </a:xfrm>
          <a:prstGeom prst="ellipse">
            <a:avLst/>
          </a:prstGeom>
          <a:solidFill>
            <a:srgbClr val="02479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51" name="Google Shape;251;p18"/>
          <p:cNvSpPr txBox="1"/>
          <p:nvPr/>
        </p:nvSpPr>
        <p:spPr>
          <a:xfrm>
            <a:off x="5182362" y="5527166"/>
            <a:ext cx="457200" cy="457200"/>
          </a:xfrm>
          <a:prstGeom prst="rect">
            <a:avLst/>
          </a:prstGeom>
          <a:noFill/>
          <a:ln>
            <a:noFill/>
          </a:ln>
        </p:spPr>
        <p:txBody>
          <a:bodyPr anchorCtr="0" anchor="ctr" bIns="0" lIns="0" spcFirstLastPara="1" rIns="0" wrap="square" tIns="0">
            <a:spAutoFit/>
          </a:bodyPr>
          <a:lstStyle/>
          <a:p>
            <a:pPr indent="0" lvl="0" marL="0" marR="0" rtl="0" algn="ctr">
              <a:lnSpc>
                <a:spcPct val="110000"/>
              </a:lnSpc>
              <a:spcBef>
                <a:spcPts val="0"/>
              </a:spcBef>
              <a:spcAft>
                <a:spcPts val="0"/>
              </a:spcAft>
              <a:buNone/>
            </a:pPr>
            <a:r>
              <a:rPr b="1" i="0" lang="es-CO" sz="1300" u="none" cap="none" strike="noStrike">
                <a:solidFill>
                  <a:srgbClr val="FFFFFF"/>
                </a:solidFill>
                <a:latin typeface="Arial"/>
                <a:ea typeface="Arial"/>
                <a:cs typeface="Arial"/>
                <a:sym typeface="Arial"/>
              </a:rPr>
              <a:t>4</a:t>
            </a:r>
            <a:endParaRPr/>
          </a:p>
        </p:txBody>
      </p:sp>
      <p:sp>
        <p:nvSpPr>
          <p:cNvPr id="252" name="Google Shape;252;p18"/>
          <p:cNvSpPr txBox="1"/>
          <p:nvPr/>
        </p:nvSpPr>
        <p:spPr>
          <a:xfrm>
            <a:off x="4887468" y="6075806"/>
            <a:ext cx="1046988" cy="228600"/>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None/>
            </a:pPr>
            <a:r>
              <a:rPr b="1" i="0" lang="es-CO" sz="1050" u="none" cap="none" strike="noStrike">
                <a:solidFill>
                  <a:srgbClr val="024791"/>
                </a:solidFill>
                <a:latin typeface="Arial"/>
                <a:ea typeface="Arial"/>
                <a:cs typeface="Arial"/>
                <a:sym typeface="Arial"/>
              </a:rPr>
              <a:t>Ajustamos</a:t>
            </a:r>
            <a:endParaRPr/>
          </a:p>
        </p:txBody>
      </p:sp>
      <p:sp>
        <p:nvSpPr>
          <p:cNvPr id="253" name="Google Shape;253;p18"/>
          <p:cNvSpPr txBox="1"/>
          <p:nvPr/>
        </p:nvSpPr>
        <p:spPr>
          <a:xfrm>
            <a:off x="4887468" y="6322695"/>
            <a:ext cx="1046988" cy="365760"/>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None/>
            </a:pPr>
            <a:r>
              <a:rPr b="0" i="0" lang="es-CO" sz="900" u="none" cap="none" strike="noStrike">
                <a:solidFill>
                  <a:srgbClr val="353646"/>
                </a:solidFill>
                <a:latin typeface="Arial"/>
                <a:ea typeface="Arial"/>
                <a:cs typeface="Arial"/>
                <a:sym typeface="Arial"/>
              </a:rPr>
              <a:t>Toma de decisión.</a:t>
            </a:r>
            <a:endParaRPr/>
          </a:p>
        </p:txBody>
      </p:sp>
      <p:sp>
        <p:nvSpPr>
          <p:cNvPr id="254" name="Google Shape;254;p18"/>
          <p:cNvSpPr/>
          <p:nvPr/>
        </p:nvSpPr>
        <p:spPr>
          <a:xfrm>
            <a:off x="2249424" y="7063358"/>
            <a:ext cx="2359152" cy="310896"/>
          </a:xfrm>
          <a:prstGeom prst="roundRect">
            <a:avLst>
              <a:gd fmla="val 50000" name="adj"/>
            </a:avLst>
          </a:prstGeom>
          <a:solidFill>
            <a:srgbClr val="E8F1FB"/>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pic>
        <p:nvPicPr>
          <p:cNvPr id="255" name="Google Shape;255;p18"/>
          <p:cNvPicPr preferRelativeResize="0"/>
          <p:nvPr/>
        </p:nvPicPr>
        <p:blipFill rotWithShape="1">
          <a:blip r:embed="rId4">
            <a:alphaModFix/>
          </a:blip>
          <a:srcRect b="0" l="0" r="0" t="0"/>
          <a:stretch/>
        </p:blipFill>
        <p:spPr>
          <a:xfrm>
            <a:off x="2359152" y="7109077"/>
            <a:ext cx="219456" cy="219456"/>
          </a:xfrm>
          <a:prstGeom prst="rect">
            <a:avLst/>
          </a:prstGeom>
          <a:noFill/>
          <a:ln>
            <a:noFill/>
          </a:ln>
        </p:spPr>
      </p:pic>
      <p:sp>
        <p:nvSpPr>
          <p:cNvPr id="256" name="Google Shape;256;p18"/>
          <p:cNvSpPr txBox="1"/>
          <p:nvPr/>
        </p:nvSpPr>
        <p:spPr>
          <a:xfrm>
            <a:off x="2615184" y="7063358"/>
            <a:ext cx="1901952" cy="310896"/>
          </a:xfrm>
          <a:prstGeom prst="rect">
            <a:avLst/>
          </a:prstGeom>
          <a:noFill/>
          <a:ln>
            <a:noFill/>
          </a:ln>
        </p:spPr>
        <p:txBody>
          <a:bodyPr anchorCtr="0" anchor="ctr" bIns="0" lIns="0" spcFirstLastPara="1" rIns="0" wrap="square" tIns="0">
            <a:spAutoFit/>
          </a:bodyPr>
          <a:lstStyle/>
          <a:p>
            <a:pPr indent="0" lvl="0" marL="0" marR="0" rtl="0" algn="ctr">
              <a:lnSpc>
                <a:spcPct val="110000"/>
              </a:lnSpc>
              <a:spcBef>
                <a:spcPts val="0"/>
              </a:spcBef>
              <a:spcAft>
                <a:spcPts val="0"/>
              </a:spcAft>
              <a:buNone/>
            </a:pPr>
            <a:r>
              <a:rPr b="1" i="0" lang="es-CO" sz="1000" u="none" cap="none" strike="noStrike">
                <a:solidFill>
                  <a:srgbClr val="024791"/>
                </a:solidFill>
                <a:latin typeface="Arial"/>
                <a:ea typeface="Arial"/>
                <a:cs typeface="Arial"/>
                <a:sym typeface="Arial"/>
              </a:rPr>
              <a:t>Retorno continuo</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19"/>
          <p:cNvSpPr/>
          <p:nvPr/>
        </p:nvSpPr>
        <p:spPr>
          <a:xfrm>
            <a:off x="876300" y="1104900"/>
            <a:ext cx="4953000" cy="22860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900"/>
              <a:buFont typeface="Arial"/>
              <a:buNone/>
            </a:pPr>
            <a:r>
              <a:rPr b="1" i="0" lang="es-CO" sz="900" u="none" cap="none" strike="noStrike">
                <a:solidFill>
                  <a:srgbClr val="B31686"/>
                </a:solidFill>
                <a:latin typeface="Arial"/>
                <a:ea typeface="Arial"/>
                <a:cs typeface="Arial"/>
                <a:sym typeface="Arial"/>
              </a:rPr>
              <a:t>Tema 2 · Aprender desde la experiencia</a:t>
            </a:r>
            <a:endParaRPr b="1" i="0" sz="900" u="none" cap="none" strike="noStrike">
              <a:solidFill>
                <a:srgbClr val="B31686"/>
              </a:solidFill>
              <a:latin typeface="Arial"/>
              <a:ea typeface="Arial"/>
              <a:cs typeface="Arial"/>
              <a:sym typeface="Arial"/>
            </a:endParaRPr>
          </a:p>
        </p:txBody>
      </p:sp>
      <p:sp>
        <p:nvSpPr>
          <p:cNvPr id="262" name="Google Shape;262;p19"/>
          <p:cNvSpPr txBox="1"/>
          <p:nvPr/>
        </p:nvSpPr>
        <p:spPr>
          <a:xfrm>
            <a:off x="877824" y="1481328"/>
            <a:ext cx="5102352" cy="201168"/>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CO" sz="900" u="none" cap="none" strike="noStrike">
                <a:solidFill>
                  <a:srgbClr val="B31686"/>
                </a:solidFill>
                <a:latin typeface="Arial"/>
                <a:ea typeface="Arial"/>
                <a:cs typeface="Arial"/>
                <a:sym typeface="Arial"/>
              </a:rPr>
              <a:t>FUNDAMENTOS DE SCRUM · LÓGICA EMPÍRICA Y LEAN</a:t>
            </a:r>
            <a:endParaRPr/>
          </a:p>
        </p:txBody>
      </p:sp>
      <p:sp>
        <p:nvSpPr>
          <p:cNvPr id="263" name="Google Shape;263;p19"/>
          <p:cNvSpPr txBox="1"/>
          <p:nvPr/>
        </p:nvSpPr>
        <p:spPr>
          <a:xfrm>
            <a:off x="877824" y="1755648"/>
            <a:ext cx="5102352" cy="276225"/>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CO" sz="1450" u="none" cap="none" strike="noStrike">
                <a:solidFill>
                  <a:srgbClr val="3D2159"/>
                </a:solidFill>
                <a:latin typeface="Arial"/>
                <a:ea typeface="Arial"/>
                <a:cs typeface="Arial"/>
                <a:sym typeface="Arial"/>
              </a:rPr>
              <a:t>Dos maneras de interpretar un desvío</a:t>
            </a:r>
            <a:endParaRPr/>
          </a:p>
        </p:txBody>
      </p:sp>
      <p:sp>
        <p:nvSpPr>
          <p:cNvPr id="264" name="Google Shape;264;p19"/>
          <p:cNvSpPr/>
          <p:nvPr/>
        </p:nvSpPr>
        <p:spPr>
          <a:xfrm>
            <a:off x="877824" y="2278761"/>
            <a:ext cx="2459736" cy="1417320"/>
          </a:xfrm>
          <a:prstGeom prst="roundRect">
            <a:avLst>
              <a:gd fmla="val 10000" name="adj"/>
            </a:avLst>
          </a:prstGeom>
          <a:solidFill>
            <a:srgbClr val="E8F1FB"/>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65" name="Google Shape;265;p19"/>
          <p:cNvSpPr/>
          <p:nvPr/>
        </p:nvSpPr>
        <p:spPr>
          <a:xfrm>
            <a:off x="877824" y="2278761"/>
            <a:ext cx="2459736" cy="64008"/>
          </a:xfrm>
          <a:prstGeom prst="rect">
            <a:avLst/>
          </a:prstGeom>
          <a:solidFill>
            <a:srgbClr val="2A56C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66" name="Google Shape;266;p19"/>
          <p:cNvSpPr txBox="1"/>
          <p:nvPr/>
        </p:nvSpPr>
        <p:spPr>
          <a:xfrm>
            <a:off x="1060704" y="2461641"/>
            <a:ext cx="2093976" cy="228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CO" sz="1100" u="none" cap="none" strike="noStrike">
                <a:solidFill>
                  <a:srgbClr val="2A56C6"/>
                </a:solidFill>
                <a:latin typeface="Arial"/>
                <a:ea typeface="Arial"/>
                <a:cs typeface="Arial"/>
                <a:sym typeface="Arial"/>
              </a:rPr>
              <a:t>Perspectiva empírica</a:t>
            </a:r>
            <a:endParaRPr/>
          </a:p>
        </p:txBody>
      </p:sp>
      <p:sp>
        <p:nvSpPr>
          <p:cNvPr id="267" name="Google Shape;267;p19"/>
          <p:cNvSpPr txBox="1"/>
          <p:nvPr/>
        </p:nvSpPr>
        <p:spPr>
          <a:xfrm>
            <a:off x="1060704" y="2754249"/>
            <a:ext cx="2093976" cy="27432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1" lang="es-CO" sz="1200" u="none" cap="none" strike="noStrike">
                <a:solidFill>
                  <a:srgbClr val="3D2159"/>
                </a:solidFill>
                <a:latin typeface="Arial"/>
                <a:ea typeface="Arial"/>
                <a:cs typeface="Arial"/>
                <a:sym typeface="Arial"/>
              </a:rPr>
              <a:t>“Tenemos evidencia”</a:t>
            </a:r>
            <a:endParaRPr/>
          </a:p>
        </p:txBody>
      </p:sp>
      <p:sp>
        <p:nvSpPr>
          <p:cNvPr id="268" name="Google Shape;268;p19"/>
          <p:cNvSpPr txBox="1"/>
          <p:nvPr/>
        </p:nvSpPr>
        <p:spPr>
          <a:xfrm>
            <a:off x="1060704" y="3101721"/>
            <a:ext cx="2093976"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s-CO" sz="950" u="none" cap="none" strike="noStrike">
                <a:solidFill>
                  <a:srgbClr val="353646"/>
                </a:solidFill>
                <a:latin typeface="Arial"/>
                <a:ea typeface="Arial"/>
                <a:cs typeface="Arial"/>
                <a:sym typeface="Arial"/>
              </a:rPr>
              <a:t>El desvío es información para aprender y mejorar.</a:t>
            </a:r>
            <a:endParaRPr/>
          </a:p>
        </p:txBody>
      </p:sp>
      <p:sp>
        <p:nvSpPr>
          <p:cNvPr id="269" name="Google Shape;269;p19"/>
          <p:cNvSpPr/>
          <p:nvPr/>
        </p:nvSpPr>
        <p:spPr>
          <a:xfrm>
            <a:off x="3520440" y="2278761"/>
            <a:ext cx="2459736" cy="1417320"/>
          </a:xfrm>
          <a:prstGeom prst="roundRect">
            <a:avLst>
              <a:gd fmla="val 10000" name="adj"/>
            </a:avLst>
          </a:prstGeom>
          <a:solidFill>
            <a:srgbClr val="F6EBF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70" name="Google Shape;270;p19"/>
          <p:cNvSpPr/>
          <p:nvPr/>
        </p:nvSpPr>
        <p:spPr>
          <a:xfrm>
            <a:off x="3520440" y="2278761"/>
            <a:ext cx="2459736" cy="64008"/>
          </a:xfrm>
          <a:prstGeom prst="rect">
            <a:avLst/>
          </a:prstGeom>
          <a:solidFill>
            <a:srgbClr val="B3168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71" name="Google Shape;271;p19"/>
          <p:cNvSpPr txBox="1"/>
          <p:nvPr/>
        </p:nvSpPr>
        <p:spPr>
          <a:xfrm>
            <a:off x="3703320" y="2461641"/>
            <a:ext cx="2093976" cy="228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CO" sz="1100" u="none" cap="none" strike="noStrike">
                <a:solidFill>
                  <a:srgbClr val="B31686"/>
                </a:solidFill>
                <a:latin typeface="Arial"/>
                <a:ea typeface="Arial"/>
                <a:cs typeface="Arial"/>
                <a:sym typeface="Arial"/>
              </a:rPr>
              <a:t>Perspectiva rígida</a:t>
            </a:r>
            <a:endParaRPr/>
          </a:p>
        </p:txBody>
      </p:sp>
      <p:sp>
        <p:nvSpPr>
          <p:cNvPr id="272" name="Google Shape;272;p19"/>
          <p:cNvSpPr txBox="1"/>
          <p:nvPr/>
        </p:nvSpPr>
        <p:spPr>
          <a:xfrm>
            <a:off x="3703320" y="2754249"/>
            <a:ext cx="2093976" cy="27432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1" lang="es-CO" sz="1200" u="none" cap="none" strike="noStrike">
                <a:solidFill>
                  <a:srgbClr val="3D2159"/>
                </a:solidFill>
                <a:latin typeface="Arial"/>
                <a:ea typeface="Arial"/>
                <a:cs typeface="Arial"/>
                <a:sym typeface="Arial"/>
              </a:rPr>
              <a:t>“El plan falló”</a:t>
            </a:r>
            <a:endParaRPr/>
          </a:p>
        </p:txBody>
      </p:sp>
      <p:sp>
        <p:nvSpPr>
          <p:cNvPr id="273" name="Google Shape;273;p19"/>
          <p:cNvSpPr txBox="1"/>
          <p:nvPr/>
        </p:nvSpPr>
        <p:spPr>
          <a:xfrm>
            <a:off x="3703320" y="3101721"/>
            <a:ext cx="2093976"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s-CO" sz="950" u="none" cap="none" strike="noStrike">
                <a:solidFill>
                  <a:srgbClr val="353646"/>
                </a:solidFill>
                <a:latin typeface="Arial"/>
                <a:ea typeface="Arial"/>
                <a:cs typeface="Arial"/>
                <a:sym typeface="Arial"/>
              </a:rPr>
              <a:t>El desvío se interpreta como un fracaso.</a:t>
            </a:r>
            <a:endParaRPr/>
          </a:p>
        </p:txBody>
      </p:sp>
      <p:sp>
        <p:nvSpPr>
          <p:cNvPr id="274" name="Google Shape;274;p19"/>
          <p:cNvSpPr txBox="1"/>
          <p:nvPr/>
        </p:nvSpPr>
        <p:spPr>
          <a:xfrm>
            <a:off x="877824" y="3970401"/>
            <a:ext cx="5102352" cy="228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CO" sz="1100" u="none" cap="none" strike="noStrike">
                <a:solidFill>
                  <a:srgbClr val="3D2159"/>
                </a:solidFill>
                <a:latin typeface="Arial"/>
                <a:ea typeface="Arial"/>
                <a:cs typeface="Arial"/>
                <a:sym typeface="Arial"/>
              </a:rPr>
              <a:t>Empirismo + Pensamiento Lean</a:t>
            </a:r>
            <a:endParaRPr/>
          </a:p>
        </p:txBody>
      </p:sp>
      <p:sp>
        <p:nvSpPr>
          <p:cNvPr id="275" name="Google Shape;275;p19"/>
          <p:cNvSpPr/>
          <p:nvPr/>
        </p:nvSpPr>
        <p:spPr>
          <a:xfrm>
            <a:off x="877824" y="4317873"/>
            <a:ext cx="2459736" cy="914400"/>
          </a:xfrm>
          <a:prstGeom prst="roundRect">
            <a:avLst>
              <a:gd fmla="val 10000" name="adj"/>
            </a:avLst>
          </a:prstGeom>
          <a:solidFill>
            <a:srgbClr val="FFFFFF"/>
          </a:solidFill>
          <a:ln cap="flat" cmpd="sng" w="12700">
            <a:solidFill>
              <a:srgbClr val="C9D3E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76" name="Google Shape;276;p19"/>
          <p:cNvSpPr txBox="1"/>
          <p:nvPr/>
        </p:nvSpPr>
        <p:spPr>
          <a:xfrm>
            <a:off x="1060704" y="4445889"/>
            <a:ext cx="2093976" cy="228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CO" sz="1050" u="none" cap="none" strike="noStrike">
                <a:solidFill>
                  <a:srgbClr val="024791"/>
                </a:solidFill>
                <a:latin typeface="Arial"/>
                <a:ea typeface="Arial"/>
                <a:cs typeface="Arial"/>
                <a:sym typeface="Arial"/>
              </a:rPr>
              <a:t>Empirismo</a:t>
            </a:r>
            <a:endParaRPr/>
          </a:p>
        </p:txBody>
      </p:sp>
      <p:sp>
        <p:nvSpPr>
          <p:cNvPr id="277" name="Google Shape;277;p19"/>
          <p:cNvSpPr txBox="1"/>
          <p:nvPr/>
        </p:nvSpPr>
        <p:spPr>
          <a:xfrm>
            <a:off x="1060704" y="4720209"/>
            <a:ext cx="2093976" cy="4572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s-CO" sz="950" u="none" cap="none" strike="noStrike">
                <a:solidFill>
                  <a:srgbClr val="353646"/>
                </a:solidFill>
                <a:latin typeface="Arial"/>
                <a:ea typeface="Arial"/>
                <a:cs typeface="Arial"/>
                <a:sym typeface="Arial"/>
              </a:rPr>
              <a:t>Aprender de la experiencia y la evidencia observable.</a:t>
            </a:r>
            <a:endParaRPr/>
          </a:p>
        </p:txBody>
      </p:sp>
      <p:sp>
        <p:nvSpPr>
          <p:cNvPr id="278" name="Google Shape;278;p19"/>
          <p:cNvSpPr/>
          <p:nvPr/>
        </p:nvSpPr>
        <p:spPr>
          <a:xfrm>
            <a:off x="3520440" y="4317873"/>
            <a:ext cx="2459736" cy="914400"/>
          </a:xfrm>
          <a:prstGeom prst="roundRect">
            <a:avLst>
              <a:gd fmla="val 10000" name="adj"/>
            </a:avLst>
          </a:prstGeom>
          <a:solidFill>
            <a:srgbClr val="FFFFFF"/>
          </a:solidFill>
          <a:ln cap="flat" cmpd="sng" w="12700">
            <a:solidFill>
              <a:srgbClr val="C9D3E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79" name="Google Shape;279;p19"/>
          <p:cNvSpPr txBox="1"/>
          <p:nvPr/>
        </p:nvSpPr>
        <p:spPr>
          <a:xfrm>
            <a:off x="3703320" y="4445889"/>
            <a:ext cx="2093976" cy="228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CO" sz="1050" u="none" cap="none" strike="noStrike">
                <a:solidFill>
                  <a:srgbClr val="024791"/>
                </a:solidFill>
                <a:latin typeface="Arial"/>
                <a:ea typeface="Arial"/>
                <a:cs typeface="Arial"/>
                <a:sym typeface="Arial"/>
              </a:rPr>
              <a:t>Pensamiento Lean</a:t>
            </a:r>
            <a:endParaRPr/>
          </a:p>
        </p:txBody>
      </p:sp>
      <p:sp>
        <p:nvSpPr>
          <p:cNvPr id="280" name="Google Shape;280;p19"/>
          <p:cNvSpPr txBox="1"/>
          <p:nvPr/>
        </p:nvSpPr>
        <p:spPr>
          <a:xfrm>
            <a:off x="3703320" y="4720209"/>
            <a:ext cx="2093976" cy="4572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s-CO" sz="950" u="none" cap="none" strike="noStrike">
                <a:solidFill>
                  <a:srgbClr val="353646"/>
                </a:solidFill>
                <a:latin typeface="Arial"/>
                <a:ea typeface="Arial"/>
                <a:cs typeface="Arial"/>
                <a:sym typeface="Arial"/>
              </a:rPr>
              <a:t>Eliminar lo que no aporta valor y priorizar lo esencial.</a:t>
            </a:r>
            <a:endParaRPr/>
          </a:p>
        </p:txBody>
      </p:sp>
      <p:sp>
        <p:nvSpPr>
          <p:cNvPr id="281" name="Google Shape;281;p19"/>
          <p:cNvSpPr/>
          <p:nvPr/>
        </p:nvSpPr>
        <p:spPr>
          <a:xfrm>
            <a:off x="3264408" y="4628769"/>
            <a:ext cx="329184" cy="329184"/>
          </a:xfrm>
          <a:prstGeom prst="ellipse">
            <a:avLst/>
          </a:prstGeom>
          <a:solidFill>
            <a:srgbClr val="FFD9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82" name="Google Shape;282;p19"/>
          <p:cNvSpPr txBox="1"/>
          <p:nvPr/>
        </p:nvSpPr>
        <p:spPr>
          <a:xfrm>
            <a:off x="3264408" y="4628769"/>
            <a:ext cx="329184" cy="329184"/>
          </a:xfrm>
          <a:prstGeom prst="rect">
            <a:avLst/>
          </a:prstGeom>
          <a:noFill/>
          <a:ln>
            <a:noFill/>
          </a:ln>
        </p:spPr>
        <p:txBody>
          <a:bodyPr anchorCtr="0" anchor="ctr" bIns="0" lIns="0" spcFirstLastPara="1" rIns="0" wrap="square" tIns="0">
            <a:spAutoFit/>
          </a:bodyPr>
          <a:lstStyle/>
          <a:p>
            <a:pPr indent="0" lvl="0" marL="0" marR="0" rtl="0" algn="ctr">
              <a:lnSpc>
                <a:spcPct val="110000"/>
              </a:lnSpc>
              <a:spcBef>
                <a:spcPts val="0"/>
              </a:spcBef>
              <a:spcAft>
                <a:spcPts val="0"/>
              </a:spcAft>
              <a:buNone/>
            </a:pPr>
            <a:r>
              <a:rPr b="1" i="0" lang="es-CO" sz="1400" u="none" cap="none" strike="noStrike">
                <a:solidFill>
                  <a:srgbClr val="3D2159"/>
                </a:solidFill>
                <a:latin typeface="Arial"/>
                <a:ea typeface="Arial"/>
                <a:cs typeface="Arial"/>
                <a:sym typeface="Arial"/>
              </a:rPr>
              <a:t>+</a:t>
            </a:r>
            <a:endParaRPr/>
          </a:p>
        </p:txBody>
      </p:sp>
      <p:sp>
        <p:nvSpPr>
          <p:cNvPr id="283" name="Google Shape;283;p19"/>
          <p:cNvSpPr/>
          <p:nvPr/>
        </p:nvSpPr>
        <p:spPr>
          <a:xfrm>
            <a:off x="3319272" y="5369433"/>
            <a:ext cx="219456" cy="201168"/>
          </a:xfrm>
          <a:prstGeom prst="downArrow">
            <a:avLst>
              <a:gd fmla="val 50000" name="adj1"/>
              <a:gd fmla="val 50000" name="adj2"/>
            </a:avLst>
          </a:prstGeom>
          <a:solidFill>
            <a:srgbClr val="B9C3DA"/>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84" name="Google Shape;284;p19"/>
          <p:cNvSpPr/>
          <p:nvPr/>
        </p:nvSpPr>
        <p:spPr>
          <a:xfrm>
            <a:off x="877824" y="5643753"/>
            <a:ext cx="5102352" cy="502920"/>
          </a:xfrm>
          <a:prstGeom prst="roundRect">
            <a:avLst>
              <a:gd fmla="val 30000" name="adj"/>
            </a:avLst>
          </a:prstGeom>
          <a:solidFill>
            <a:srgbClr val="02479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85" name="Google Shape;285;p19"/>
          <p:cNvSpPr txBox="1"/>
          <p:nvPr/>
        </p:nvSpPr>
        <p:spPr>
          <a:xfrm>
            <a:off x="877824" y="5643753"/>
            <a:ext cx="5102352" cy="502920"/>
          </a:xfrm>
          <a:prstGeom prst="rect">
            <a:avLst/>
          </a:prstGeom>
          <a:noFill/>
          <a:ln>
            <a:noFill/>
          </a:ln>
        </p:spPr>
        <p:txBody>
          <a:bodyPr anchorCtr="0" anchor="ctr" bIns="0" lIns="0" spcFirstLastPara="1" rIns="0" wrap="square" tIns="0">
            <a:spAutoFit/>
          </a:bodyPr>
          <a:lstStyle/>
          <a:p>
            <a:pPr indent="0" lvl="0" marL="0" marR="0" rtl="0" algn="ctr">
              <a:lnSpc>
                <a:spcPct val="110000"/>
              </a:lnSpc>
              <a:spcBef>
                <a:spcPts val="0"/>
              </a:spcBef>
              <a:spcAft>
                <a:spcPts val="0"/>
              </a:spcAft>
              <a:buNone/>
            </a:pPr>
            <a:r>
              <a:rPr b="1" i="0" lang="es-CO" sz="1150" u="none" cap="none" strike="noStrike">
                <a:solidFill>
                  <a:srgbClr val="FFFFFF"/>
                </a:solidFill>
                <a:latin typeface="Arial"/>
                <a:ea typeface="Arial"/>
                <a:cs typeface="Arial"/>
                <a:sym typeface="Arial"/>
              </a:rPr>
              <a:t>Generación de valor continuo en cada decisión</a:t>
            </a:r>
            <a:endParaRPr/>
          </a:p>
        </p:txBody>
      </p:sp>
      <p:sp>
        <p:nvSpPr>
          <p:cNvPr id="286" name="Google Shape;286;p19"/>
          <p:cNvSpPr txBox="1"/>
          <p:nvPr/>
        </p:nvSpPr>
        <p:spPr>
          <a:xfrm>
            <a:off x="877824" y="6375273"/>
            <a:ext cx="5102352" cy="201168"/>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1" lang="es-CO" sz="900" u="none" cap="none" strike="noStrike">
                <a:solidFill>
                  <a:srgbClr val="5F5966"/>
                </a:solidFill>
                <a:latin typeface="Arial"/>
                <a:ea typeface="Arial"/>
                <a:cs typeface="Arial"/>
                <a:sym typeface="Arial"/>
              </a:rPr>
              <a:t>Fuente: elaboración propia.</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0" name="Shape 290"/>
        <p:cNvGrpSpPr/>
        <p:nvPr/>
      </p:nvGrpSpPr>
      <p:grpSpPr>
        <a:xfrm>
          <a:off x="0" y="0"/>
          <a:ext cx="0" cy="0"/>
          <a:chOff x="0" y="0"/>
          <a:chExt cx="0" cy="0"/>
        </a:xfrm>
      </p:grpSpPr>
      <p:sp>
        <p:nvSpPr>
          <p:cNvPr id="291" name="Google Shape;291;p20"/>
          <p:cNvSpPr/>
          <p:nvPr/>
        </p:nvSpPr>
        <p:spPr>
          <a:xfrm>
            <a:off x="876300" y="1104900"/>
            <a:ext cx="4953000" cy="22860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900"/>
              <a:buFont typeface="Arial"/>
              <a:buNone/>
            </a:pPr>
            <a:r>
              <a:rPr b="1" i="0" lang="es-CO" sz="900" u="none" cap="none" strike="noStrike">
                <a:solidFill>
                  <a:srgbClr val="B31686"/>
                </a:solidFill>
                <a:latin typeface="Arial"/>
                <a:ea typeface="Arial"/>
                <a:cs typeface="Arial"/>
                <a:sym typeface="Arial"/>
              </a:rPr>
              <a:t>Tema 2 · Aprender desde la experiencia</a:t>
            </a:r>
            <a:endParaRPr b="1" i="0" sz="900" u="none" cap="none" strike="noStrike">
              <a:solidFill>
                <a:srgbClr val="B31686"/>
              </a:solidFill>
              <a:latin typeface="Arial"/>
              <a:ea typeface="Arial"/>
              <a:cs typeface="Arial"/>
              <a:sym typeface="Arial"/>
            </a:endParaRPr>
          </a:p>
        </p:txBody>
      </p:sp>
      <p:sp>
        <p:nvSpPr>
          <p:cNvPr id="292" name="Google Shape;292;p20"/>
          <p:cNvSpPr/>
          <p:nvPr/>
        </p:nvSpPr>
        <p:spPr>
          <a:xfrm>
            <a:off x="876300" y="1409700"/>
            <a:ext cx="5105400" cy="813816"/>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2325"/>
              <a:buFont typeface="Arial"/>
              <a:buNone/>
            </a:pPr>
            <a:r>
              <a:rPr b="1" i="0" lang="es-CO" sz="2325" u="none" cap="none" strike="noStrike">
                <a:solidFill>
                  <a:srgbClr val="3D2159"/>
                </a:solidFill>
                <a:latin typeface="Arial"/>
                <a:ea typeface="Arial"/>
                <a:cs typeface="Arial"/>
                <a:sym typeface="Arial"/>
              </a:rPr>
              <a:t>Tres pilares para aprender y adaptarnos</a:t>
            </a:r>
            <a:endParaRPr b="0" i="0" sz="1400" u="none" cap="none" strike="noStrike">
              <a:solidFill>
                <a:srgbClr val="000000"/>
              </a:solidFill>
              <a:latin typeface="Arial"/>
              <a:ea typeface="Arial"/>
              <a:cs typeface="Arial"/>
              <a:sym typeface="Arial"/>
            </a:endParaRPr>
          </a:p>
        </p:txBody>
      </p:sp>
      <p:pic>
        <p:nvPicPr>
          <p:cNvPr id="293" name="Google Shape;293;p20"/>
          <p:cNvPicPr preferRelativeResize="0"/>
          <p:nvPr/>
        </p:nvPicPr>
        <p:blipFill rotWithShape="1">
          <a:blip r:embed="rId3">
            <a:alphaModFix/>
          </a:blip>
          <a:srcRect b="0" l="0" r="0" t="0"/>
          <a:stretch/>
        </p:blipFill>
        <p:spPr>
          <a:xfrm>
            <a:off x="869156" y="2340864"/>
            <a:ext cx="1100138" cy="88783"/>
          </a:xfrm>
          <a:prstGeom prst="rect">
            <a:avLst/>
          </a:prstGeom>
          <a:noFill/>
          <a:ln>
            <a:noFill/>
          </a:ln>
        </p:spPr>
      </p:pic>
      <p:sp>
        <p:nvSpPr>
          <p:cNvPr id="294" name="Google Shape;294;p20"/>
          <p:cNvSpPr txBox="1"/>
          <p:nvPr/>
        </p:nvSpPr>
        <p:spPr>
          <a:xfrm>
            <a:off x="877824" y="2752344"/>
            <a:ext cx="5102352" cy="62865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s-CO" sz="1100" u="none" cap="none" strike="noStrike">
                <a:solidFill>
                  <a:srgbClr val="353646"/>
                </a:solidFill>
                <a:latin typeface="Arial"/>
                <a:ea typeface="Arial"/>
                <a:cs typeface="Arial"/>
                <a:sym typeface="Arial"/>
              </a:rPr>
              <a:t>La lógica empírica de Scrum se materializa mediante tres pilares estrechamente relacionados: transparencia, inspección y adaptación (Schwaber &amp; Sutherland, 2020).</a:t>
            </a:r>
            <a:endParaRPr/>
          </a:p>
        </p:txBody>
      </p:sp>
      <p:sp>
        <p:nvSpPr>
          <p:cNvPr id="295" name="Google Shape;295;p20"/>
          <p:cNvSpPr txBox="1"/>
          <p:nvPr/>
        </p:nvSpPr>
        <p:spPr>
          <a:xfrm>
            <a:off x="877824" y="3563874"/>
            <a:ext cx="5102352" cy="201168"/>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CO" sz="900" u="none" cap="none" strike="noStrike">
                <a:solidFill>
                  <a:srgbClr val="B31686"/>
                </a:solidFill>
                <a:latin typeface="Arial"/>
                <a:ea typeface="Arial"/>
                <a:cs typeface="Arial"/>
                <a:sym typeface="Arial"/>
              </a:rPr>
              <a:t>FIGURA 2 · FUNDAMENTOS EMPÍRICOS DE SCRUM</a:t>
            </a:r>
            <a:endParaRPr/>
          </a:p>
        </p:txBody>
      </p:sp>
      <p:sp>
        <p:nvSpPr>
          <p:cNvPr id="296" name="Google Shape;296;p20"/>
          <p:cNvSpPr txBox="1"/>
          <p:nvPr/>
        </p:nvSpPr>
        <p:spPr>
          <a:xfrm>
            <a:off x="877824" y="3838194"/>
            <a:ext cx="5102352" cy="276225"/>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CO" sz="1450" u="none" cap="none" strike="noStrike">
                <a:solidFill>
                  <a:srgbClr val="3D2159"/>
                </a:solidFill>
                <a:latin typeface="Arial"/>
                <a:ea typeface="Arial"/>
                <a:cs typeface="Arial"/>
                <a:sym typeface="Arial"/>
              </a:rPr>
              <a:t>Los tres pilares de Scrum</a:t>
            </a:r>
            <a:endParaRPr/>
          </a:p>
        </p:txBody>
      </p:sp>
      <p:sp>
        <p:nvSpPr>
          <p:cNvPr id="297" name="Google Shape;297;p20"/>
          <p:cNvSpPr txBox="1"/>
          <p:nvPr/>
        </p:nvSpPr>
        <p:spPr>
          <a:xfrm>
            <a:off x="877824" y="4160138"/>
            <a:ext cx="5102352" cy="40005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1" lang="es-CO" sz="1050" u="none" cap="none" strike="noStrike">
                <a:solidFill>
                  <a:srgbClr val="5F5966"/>
                </a:solidFill>
                <a:latin typeface="Arial"/>
                <a:ea typeface="Arial"/>
                <a:cs typeface="Arial"/>
                <a:sym typeface="Arial"/>
              </a:rPr>
              <a:t>Cómo la transparencia, la inspección y la adaptación operan como un sistema interdependiente para aprender de la evidencia.</a:t>
            </a:r>
            <a:endParaRPr/>
          </a:p>
        </p:txBody>
      </p:sp>
      <p:sp>
        <p:nvSpPr>
          <p:cNvPr id="298" name="Google Shape;298;p20"/>
          <p:cNvSpPr/>
          <p:nvPr/>
        </p:nvSpPr>
        <p:spPr>
          <a:xfrm>
            <a:off x="877824" y="4761356"/>
            <a:ext cx="1609344" cy="1554480"/>
          </a:xfrm>
          <a:prstGeom prst="roundRect">
            <a:avLst>
              <a:gd fmla="val 10000" name="adj"/>
            </a:avLst>
          </a:prstGeom>
          <a:solidFill>
            <a:srgbClr val="FFFFFF"/>
          </a:solidFill>
          <a:ln cap="flat" cmpd="sng" w="12700">
            <a:solidFill>
              <a:srgbClr val="D9DCE6"/>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99" name="Google Shape;299;p20"/>
          <p:cNvSpPr/>
          <p:nvPr/>
        </p:nvSpPr>
        <p:spPr>
          <a:xfrm>
            <a:off x="877824" y="4761356"/>
            <a:ext cx="1609344" cy="64008"/>
          </a:xfrm>
          <a:prstGeom prst="rect">
            <a:avLst/>
          </a:prstGeom>
          <a:solidFill>
            <a:srgbClr val="66409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00" name="Google Shape;300;p20"/>
          <p:cNvSpPr/>
          <p:nvPr/>
        </p:nvSpPr>
        <p:spPr>
          <a:xfrm>
            <a:off x="1042415" y="4962524"/>
            <a:ext cx="402336" cy="402336"/>
          </a:xfrm>
          <a:prstGeom prst="ellipse">
            <a:avLst/>
          </a:prstGeom>
          <a:solidFill>
            <a:srgbClr val="66409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01" name="Google Shape;301;p20"/>
          <p:cNvSpPr txBox="1"/>
          <p:nvPr/>
        </p:nvSpPr>
        <p:spPr>
          <a:xfrm>
            <a:off x="1042415" y="4962524"/>
            <a:ext cx="402336" cy="402336"/>
          </a:xfrm>
          <a:prstGeom prst="rect">
            <a:avLst/>
          </a:prstGeom>
          <a:noFill/>
          <a:ln>
            <a:noFill/>
          </a:ln>
        </p:spPr>
        <p:txBody>
          <a:bodyPr anchorCtr="0" anchor="ctr" bIns="0" lIns="0" spcFirstLastPara="1" rIns="0" wrap="square" tIns="0">
            <a:spAutoFit/>
          </a:bodyPr>
          <a:lstStyle/>
          <a:p>
            <a:pPr indent="0" lvl="0" marL="0" marR="0" rtl="0" algn="ctr">
              <a:lnSpc>
                <a:spcPct val="110000"/>
              </a:lnSpc>
              <a:spcBef>
                <a:spcPts val="0"/>
              </a:spcBef>
              <a:spcAft>
                <a:spcPts val="0"/>
              </a:spcAft>
              <a:buNone/>
            </a:pPr>
            <a:r>
              <a:rPr b="1" i="0" lang="es-CO" sz="1200" u="none" cap="none" strike="noStrike">
                <a:solidFill>
                  <a:srgbClr val="FFFFFF"/>
                </a:solidFill>
                <a:latin typeface="Arial"/>
                <a:ea typeface="Arial"/>
                <a:cs typeface="Arial"/>
                <a:sym typeface="Arial"/>
              </a:rPr>
              <a:t>1</a:t>
            </a:r>
            <a:endParaRPr/>
          </a:p>
        </p:txBody>
      </p:sp>
      <p:sp>
        <p:nvSpPr>
          <p:cNvPr id="302" name="Google Shape;302;p20"/>
          <p:cNvSpPr txBox="1"/>
          <p:nvPr/>
        </p:nvSpPr>
        <p:spPr>
          <a:xfrm>
            <a:off x="1042415" y="5474588"/>
            <a:ext cx="1335024" cy="228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CO" sz="1050" u="none" cap="none" strike="noStrike">
                <a:solidFill>
                  <a:srgbClr val="664092"/>
                </a:solidFill>
                <a:latin typeface="Arial"/>
                <a:ea typeface="Arial"/>
                <a:cs typeface="Arial"/>
                <a:sym typeface="Arial"/>
              </a:rPr>
              <a:t>Transparencia</a:t>
            </a:r>
            <a:endParaRPr/>
          </a:p>
        </p:txBody>
      </p:sp>
      <p:sp>
        <p:nvSpPr>
          <p:cNvPr id="303" name="Google Shape;303;p20"/>
          <p:cNvSpPr txBox="1"/>
          <p:nvPr/>
        </p:nvSpPr>
        <p:spPr>
          <a:xfrm>
            <a:off x="1042415" y="5721476"/>
            <a:ext cx="1335024"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s-CO" sz="900" u="none" cap="none" strike="noStrike">
                <a:solidFill>
                  <a:srgbClr val="353646"/>
                </a:solidFill>
                <a:latin typeface="Arial"/>
                <a:ea typeface="Arial"/>
                <a:cs typeface="Arial"/>
                <a:sym typeface="Arial"/>
              </a:rPr>
              <a:t>Visibilidad honesta y comprensible del trabajo.</a:t>
            </a:r>
            <a:endParaRPr/>
          </a:p>
        </p:txBody>
      </p:sp>
      <p:sp>
        <p:nvSpPr>
          <p:cNvPr id="304" name="Google Shape;304;p20"/>
          <p:cNvSpPr/>
          <p:nvPr/>
        </p:nvSpPr>
        <p:spPr>
          <a:xfrm>
            <a:off x="2624328" y="4761356"/>
            <a:ext cx="1609344" cy="1554480"/>
          </a:xfrm>
          <a:prstGeom prst="roundRect">
            <a:avLst>
              <a:gd fmla="val 10000" name="adj"/>
            </a:avLst>
          </a:prstGeom>
          <a:solidFill>
            <a:srgbClr val="FFFFFF"/>
          </a:solidFill>
          <a:ln cap="flat" cmpd="sng" w="12700">
            <a:solidFill>
              <a:srgbClr val="D9DCE6"/>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05" name="Google Shape;305;p20"/>
          <p:cNvSpPr/>
          <p:nvPr/>
        </p:nvSpPr>
        <p:spPr>
          <a:xfrm>
            <a:off x="2624328" y="4761356"/>
            <a:ext cx="1609344" cy="64008"/>
          </a:xfrm>
          <a:prstGeom prst="rect">
            <a:avLst/>
          </a:prstGeom>
          <a:solidFill>
            <a:srgbClr val="2A56C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06" name="Google Shape;306;p20"/>
          <p:cNvSpPr/>
          <p:nvPr/>
        </p:nvSpPr>
        <p:spPr>
          <a:xfrm>
            <a:off x="2788920" y="4962524"/>
            <a:ext cx="402336" cy="402336"/>
          </a:xfrm>
          <a:prstGeom prst="ellipse">
            <a:avLst/>
          </a:prstGeom>
          <a:solidFill>
            <a:srgbClr val="2A56C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07" name="Google Shape;307;p20"/>
          <p:cNvSpPr txBox="1"/>
          <p:nvPr/>
        </p:nvSpPr>
        <p:spPr>
          <a:xfrm>
            <a:off x="2788920" y="4962524"/>
            <a:ext cx="402336" cy="402336"/>
          </a:xfrm>
          <a:prstGeom prst="rect">
            <a:avLst/>
          </a:prstGeom>
          <a:noFill/>
          <a:ln>
            <a:noFill/>
          </a:ln>
        </p:spPr>
        <p:txBody>
          <a:bodyPr anchorCtr="0" anchor="ctr" bIns="0" lIns="0" spcFirstLastPara="1" rIns="0" wrap="square" tIns="0">
            <a:spAutoFit/>
          </a:bodyPr>
          <a:lstStyle/>
          <a:p>
            <a:pPr indent="0" lvl="0" marL="0" marR="0" rtl="0" algn="ctr">
              <a:lnSpc>
                <a:spcPct val="110000"/>
              </a:lnSpc>
              <a:spcBef>
                <a:spcPts val="0"/>
              </a:spcBef>
              <a:spcAft>
                <a:spcPts val="0"/>
              </a:spcAft>
              <a:buNone/>
            </a:pPr>
            <a:r>
              <a:rPr b="1" i="0" lang="es-CO" sz="1200" u="none" cap="none" strike="noStrike">
                <a:solidFill>
                  <a:srgbClr val="FFFFFF"/>
                </a:solidFill>
                <a:latin typeface="Arial"/>
                <a:ea typeface="Arial"/>
                <a:cs typeface="Arial"/>
                <a:sym typeface="Arial"/>
              </a:rPr>
              <a:t>2</a:t>
            </a:r>
            <a:endParaRPr/>
          </a:p>
        </p:txBody>
      </p:sp>
      <p:sp>
        <p:nvSpPr>
          <p:cNvPr id="308" name="Google Shape;308;p20"/>
          <p:cNvSpPr txBox="1"/>
          <p:nvPr/>
        </p:nvSpPr>
        <p:spPr>
          <a:xfrm>
            <a:off x="2788920" y="5474588"/>
            <a:ext cx="1335024" cy="228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CO" sz="1050" u="none" cap="none" strike="noStrike">
                <a:solidFill>
                  <a:srgbClr val="2A56C6"/>
                </a:solidFill>
                <a:latin typeface="Arial"/>
                <a:ea typeface="Arial"/>
                <a:cs typeface="Arial"/>
                <a:sym typeface="Arial"/>
              </a:rPr>
              <a:t>Inspección</a:t>
            </a:r>
            <a:endParaRPr/>
          </a:p>
        </p:txBody>
      </p:sp>
      <p:sp>
        <p:nvSpPr>
          <p:cNvPr id="309" name="Google Shape;309;p20"/>
          <p:cNvSpPr txBox="1"/>
          <p:nvPr/>
        </p:nvSpPr>
        <p:spPr>
          <a:xfrm>
            <a:off x="2788920" y="5721476"/>
            <a:ext cx="1335024"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s-CO" sz="900" u="none" cap="none" strike="noStrike">
                <a:solidFill>
                  <a:srgbClr val="353646"/>
                </a:solidFill>
                <a:latin typeface="Arial"/>
                <a:ea typeface="Arial"/>
                <a:cs typeface="Arial"/>
                <a:sym typeface="Arial"/>
              </a:rPr>
              <a:t>Revisión periódica del progreso y los resultados.</a:t>
            </a:r>
            <a:endParaRPr/>
          </a:p>
        </p:txBody>
      </p:sp>
      <p:sp>
        <p:nvSpPr>
          <p:cNvPr id="310" name="Google Shape;310;p20"/>
          <p:cNvSpPr/>
          <p:nvPr/>
        </p:nvSpPr>
        <p:spPr>
          <a:xfrm>
            <a:off x="4370831" y="4761356"/>
            <a:ext cx="1609344" cy="1554480"/>
          </a:xfrm>
          <a:prstGeom prst="roundRect">
            <a:avLst>
              <a:gd fmla="val 10000" name="adj"/>
            </a:avLst>
          </a:prstGeom>
          <a:solidFill>
            <a:srgbClr val="FFFFFF"/>
          </a:solidFill>
          <a:ln cap="flat" cmpd="sng" w="12700">
            <a:solidFill>
              <a:srgbClr val="D9DCE6"/>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1" name="Google Shape;311;p20"/>
          <p:cNvSpPr/>
          <p:nvPr/>
        </p:nvSpPr>
        <p:spPr>
          <a:xfrm>
            <a:off x="4370831" y="4761356"/>
            <a:ext cx="1609344" cy="64008"/>
          </a:xfrm>
          <a:prstGeom prst="rect">
            <a:avLst/>
          </a:prstGeom>
          <a:solidFill>
            <a:srgbClr val="02479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2" name="Google Shape;312;p20"/>
          <p:cNvSpPr/>
          <p:nvPr/>
        </p:nvSpPr>
        <p:spPr>
          <a:xfrm>
            <a:off x="4535423" y="4962524"/>
            <a:ext cx="402336" cy="402336"/>
          </a:xfrm>
          <a:prstGeom prst="ellipse">
            <a:avLst/>
          </a:prstGeom>
          <a:solidFill>
            <a:srgbClr val="02479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3" name="Google Shape;313;p20"/>
          <p:cNvSpPr txBox="1"/>
          <p:nvPr/>
        </p:nvSpPr>
        <p:spPr>
          <a:xfrm>
            <a:off x="4535423" y="4962524"/>
            <a:ext cx="402336" cy="402336"/>
          </a:xfrm>
          <a:prstGeom prst="rect">
            <a:avLst/>
          </a:prstGeom>
          <a:noFill/>
          <a:ln>
            <a:noFill/>
          </a:ln>
        </p:spPr>
        <p:txBody>
          <a:bodyPr anchorCtr="0" anchor="ctr" bIns="0" lIns="0" spcFirstLastPara="1" rIns="0" wrap="square" tIns="0">
            <a:spAutoFit/>
          </a:bodyPr>
          <a:lstStyle/>
          <a:p>
            <a:pPr indent="0" lvl="0" marL="0" marR="0" rtl="0" algn="ctr">
              <a:lnSpc>
                <a:spcPct val="110000"/>
              </a:lnSpc>
              <a:spcBef>
                <a:spcPts val="0"/>
              </a:spcBef>
              <a:spcAft>
                <a:spcPts val="0"/>
              </a:spcAft>
              <a:buNone/>
            </a:pPr>
            <a:r>
              <a:rPr b="1" i="0" lang="es-CO" sz="1200" u="none" cap="none" strike="noStrike">
                <a:solidFill>
                  <a:srgbClr val="FFFFFF"/>
                </a:solidFill>
                <a:latin typeface="Arial"/>
                <a:ea typeface="Arial"/>
                <a:cs typeface="Arial"/>
                <a:sym typeface="Arial"/>
              </a:rPr>
              <a:t>3</a:t>
            </a:r>
            <a:endParaRPr/>
          </a:p>
        </p:txBody>
      </p:sp>
      <p:sp>
        <p:nvSpPr>
          <p:cNvPr id="314" name="Google Shape;314;p20"/>
          <p:cNvSpPr txBox="1"/>
          <p:nvPr/>
        </p:nvSpPr>
        <p:spPr>
          <a:xfrm>
            <a:off x="4535423" y="5474588"/>
            <a:ext cx="1335024" cy="228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CO" sz="1050" u="none" cap="none" strike="noStrike">
                <a:solidFill>
                  <a:srgbClr val="024791"/>
                </a:solidFill>
                <a:latin typeface="Arial"/>
                <a:ea typeface="Arial"/>
                <a:cs typeface="Arial"/>
                <a:sym typeface="Arial"/>
              </a:rPr>
              <a:t>Adaptación</a:t>
            </a:r>
            <a:endParaRPr/>
          </a:p>
        </p:txBody>
      </p:sp>
      <p:sp>
        <p:nvSpPr>
          <p:cNvPr id="315" name="Google Shape;315;p20"/>
          <p:cNvSpPr txBox="1"/>
          <p:nvPr/>
        </p:nvSpPr>
        <p:spPr>
          <a:xfrm>
            <a:off x="4535423" y="5721476"/>
            <a:ext cx="1335024"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s-CO" sz="900" u="none" cap="none" strike="noStrike">
                <a:solidFill>
                  <a:srgbClr val="353646"/>
                </a:solidFill>
                <a:latin typeface="Arial"/>
                <a:ea typeface="Arial"/>
                <a:cs typeface="Arial"/>
                <a:sym typeface="Arial"/>
              </a:rPr>
              <a:t>Modificación oportuna de lo que se aprende para generar valor.</a:t>
            </a:r>
            <a:endParaRPr/>
          </a:p>
        </p:txBody>
      </p:sp>
      <p:sp>
        <p:nvSpPr>
          <p:cNvPr id="316" name="Google Shape;316;p20"/>
          <p:cNvSpPr/>
          <p:nvPr/>
        </p:nvSpPr>
        <p:spPr>
          <a:xfrm>
            <a:off x="2340864" y="6506337"/>
            <a:ext cx="2176272" cy="292608"/>
          </a:xfrm>
          <a:prstGeom prst="roundRect">
            <a:avLst>
              <a:gd fmla="val 50000" name="adj"/>
            </a:avLst>
          </a:prstGeom>
          <a:solidFill>
            <a:srgbClr val="E8F1FB"/>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pic>
        <p:nvPicPr>
          <p:cNvPr id="317" name="Google Shape;317;p20"/>
          <p:cNvPicPr preferRelativeResize="0"/>
          <p:nvPr/>
        </p:nvPicPr>
        <p:blipFill rotWithShape="1">
          <a:blip r:embed="rId4">
            <a:alphaModFix/>
          </a:blip>
          <a:srcRect b="0" l="0" r="0" t="0"/>
          <a:stretch/>
        </p:blipFill>
        <p:spPr>
          <a:xfrm>
            <a:off x="2450591" y="6542913"/>
            <a:ext cx="219456" cy="219456"/>
          </a:xfrm>
          <a:prstGeom prst="rect">
            <a:avLst/>
          </a:prstGeom>
          <a:noFill/>
          <a:ln>
            <a:noFill/>
          </a:ln>
        </p:spPr>
      </p:pic>
      <p:sp>
        <p:nvSpPr>
          <p:cNvPr id="318" name="Google Shape;318;p20"/>
          <p:cNvSpPr txBox="1"/>
          <p:nvPr/>
        </p:nvSpPr>
        <p:spPr>
          <a:xfrm>
            <a:off x="2706624" y="6506337"/>
            <a:ext cx="1719072" cy="292608"/>
          </a:xfrm>
          <a:prstGeom prst="rect">
            <a:avLst/>
          </a:prstGeom>
          <a:noFill/>
          <a:ln>
            <a:noFill/>
          </a:ln>
        </p:spPr>
        <p:txBody>
          <a:bodyPr anchorCtr="0" anchor="ctr" bIns="0" lIns="0" spcFirstLastPara="1" rIns="0" wrap="square" tIns="0">
            <a:spAutoFit/>
          </a:bodyPr>
          <a:lstStyle/>
          <a:p>
            <a:pPr indent="0" lvl="0" marL="0" marR="0" rtl="0" algn="ctr">
              <a:lnSpc>
                <a:spcPct val="110000"/>
              </a:lnSpc>
              <a:spcBef>
                <a:spcPts val="0"/>
              </a:spcBef>
              <a:spcAft>
                <a:spcPts val="0"/>
              </a:spcAft>
              <a:buNone/>
            </a:pPr>
            <a:r>
              <a:rPr b="1" i="0" lang="es-CO" sz="950" u="none" cap="none" strike="noStrike">
                <a:solidFill>
                  <a:srgbClr val="024791"/>
                </a:solidFill>
                <a:latin typeface="Arial"/>
                <a:ea typeface="Arial"/>
                <a:cs typeface="Arial"/>
                <a:sym typeface="Arial"/>
              </a:rPr>
              <a:t>El ciclo continúa</a:t>
            </a:r>
            <a:endParaRPr/>
          </a:p>
        </p:txBody>
      </p:sp>
      <p:sp>
        <p:nvSpPr>
          <p:cNvPr id="319" name="Google Shape;319;p20"/>
          <p:cNvSpPr/>
          <p:nvPr/>
        </p:nvSpPr>
        <p:spPr>
          <a:xfrm>
            <a:off x="877824" y="7009257"/>
            <a:ext cx="5102352" cy="1057275"/>
          </a:xfrm>
          <a:prstGeom prst="roundRect">
            <a:avLst>
              <a:gd fmla="val 10000" name="adj"/>
            </a:avLst>
          </a:prstGeom>
          <a:solidFill>
            <a:srgbClr val="E9FBFB"/>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20" name="Google Shape;320;p20"/>
          <p:cNvSpPr txBox="1"/>
          <p:nvPr/>
        </p:nvSpPr>
        <p:spPr>
          <a:xfrm>
            <a:off x="1106424" y="7192137"/>
            <a:ext cx="4645152" cy="1828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CO" sz="900" u="none" cap="none" strike="noStrike">
                <a:solidFill>
                  <a:srgbClr val="024791"/>
                </a:solidFill>
                <a:latin typeface="Arial"/>
                <a:ea typeface="Arial"/>
                <a:cs typeface="Arial"/>
                <a:sym typeface="Arial"/>
              </a:rPr>
              <a:t>El principio de interdependencia</a:t>
            </a:r>
            <a:endParaRPr/>
          </a:p>
        </p:txBody>
      </p:sp>
      <p:sp>
        <p:nvSpPr>
          <p:cNvPr id="321" name="Google Shape;321;p20"/>
          <p:cNvSpPr txBox="1"/>
          <p:nvPr/>
        </p:nvSpPr>
        <p:spPr>
          <a:xfrm>
            <a:off x="1106424" y="7420737"/>
            <a:ext cx="4645152" cy="600075"/>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1" i="0" lang="es-CO" sz="1050" u="none" cap="none" strike="noStrike">
                <a:solidFill>
                  <a:srgbClr val="3D2159"/>
                </a:solidFill>
                <a:latin typeface="Arial"/>
                <a:ea typeface="Arial"/>
                <a:cs typeface="Arial"/>
                <a:sym typeface="Arial"/>
              </a:rPr>
              <a:t>«Inspeccionar pierde su propósito si los hallazgos no conducen a ajustes reales». </a:t>
            </a:r>
            <a:r>
              <a:rPr b="0" i="0" lang="es-CO" sz="1050" u="none" cap="none" strike="noStrike">
                <a:solidFill>
                  <a:srgbClr val="353646"/>
                </a:solidFill>
                <a:latin typeface="Arial"/>
                <a:ea typeface="Arial"/>
                <a:cs typeface="Arial"/>
                <a:sym typeface="Arial"/>
              </a:rPr>
              <a:t>Sin transparencia, la inspección es ciega. Sin adaptación, la inspección pierde su propósito.</a:t>
            </a:r>
            <a:endParaRPr/>
          </a:p>
        </p:txBody>
      </p:sp>
      <p:sp>
        <p:nvSpPr>
          <p:cNvPr id="322" name="Google Shape;322;p20"/>
          <p:cNvSpPr txBox="1"/>
          <p:nvPr/>
        </p:nvSpPr>
        <p:spPr>
          <a:xfrm>
            <a:off x="877824" y="8295132"/>
            <a:ext cx="5102352" cy="201168"/>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1" lang="es-CO" sz="900" u="none" cap="none" strike="noStrike">
                <a:solidFill>
                  <a:srgbClr val="5F5966"/>
                </a:solidFill>
                <a:latin typeface="Arial"/>
                <a:ea typeface="Arial"/>
                <a:cs typeface="Arial"/>
                <a:sym typeface="Arial"/>
              </a:rPr>
              <a:t>Fuente: elaboración propia.</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6" name="Shape 326"/>
        <p:cNvGrpSpPr/>
        <p:nvPr/>
      </p:nvGrpSpPr>
      <p:grpSpPr>
        <a:xfrm>
          <a:off x="0" y="0"/>
          <a:ext cx="0" cy="0"/>
          <a:chOff x="0" y="0"/>
          <a:chExt cx="0" cy="0"/>
        </a:xfrm>
      </p:grpSpPr>
      <p:sp>
        <p:nvSpPr>
          <p:cNvPr id="327" name="Google Shape;327;p21"/>
          <p:cNvSpPr/>
          <p:nvPr/>
        </p:nvSpPr>
        <p:spPr>
          <a:xfrm>
            <a:off x="876300" y="1104900"/>
            <a:ext cx="4953000" cy="22860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900"/>
              <a:buFont typeface="Arial"/>
              <a:buNone/>
            </a:pPr>
            <a:r>
              <a:rPr b="1" i="0" lang="es-CO" sz="900" u="none" cap="none" strike="noStrike">
                <a:solidFill>
                  <a:srgbClr val="B31686"/>
                </a:solidFill>
                <a:latin typeface="Arial"/>
                <a:ea typeface="Arial"/>
                <a:cs typeface="Arial"/>
                <a:sym typeface="Arial"/>
              </a:rPr>
              <a:t>Tema 3 · Trabajar desde los valores ágiles</a:t>
            </a:r>
            <a:endParaRPr b="1" i="0" sz="900" u="none" cap="none" strike="noStrike">
              <a:solidFill>
                <a:srgbClr val="B31686"/>
              </a:solidFill>
              <a:latin typeface="Arial"/>
              <a:ea typeface="Arial"/>
              <a:cs typeface="Arial"/>
              <a:sym typeface="Arial"/>
            </a:endParaRPr>
          </a:p>
        </p:txBody>
      </p:sp>
      <p:sp>
        <p:nvSpPr>
          <p:cNvPr id="328" name="Google Shape;328;p21"/>
          <p:cNvSpPr/>
          <p:nvPr/>
        </p:nvSpPr>
        <p:spPr>
          <a:xfrm>
            <a:off x="876300" y="1409700"/>
            <a:ext cx="5105400" cy="429768"/>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2325"/>
              <a:buFont typeface="Arial"/>
              <a:buNone/>
            </a:pPr>
            <a:r>
              <a:rPr b="1" i="0" lang="es-CO" sz="2325" u="none" cap="none" strike="noStrike">
                <a:solidFill>
                  <a:srgbClr val="3D2159"/>
                </a:solidFill>
                <a:latin typeface="Arial"/>
                <a:ea typeface="Arial"/>
                <a:cs typeface="Arial"/>
                <a:sym typeface="Arial"/>
              </a:rPr>
              <a:t>Scrum dentro de la agilidad</a:t>
            </a:r>
            <a:endParaRPr b="0" i="0" sz="1400" u="none" cap="none" strike="noStrike">
              <a:solidFill>
                <a:srgbClr val="000000"/>
              </a:solidFill>
              <a:latin typeface="Arial"/>
              <a:ea typeface="Arial"/>
              <a:cs typeface="Arial"/>
              <a:sym typeface="Arial"/>
            </a:endParaRPr>
          </a:p>
        </p:txBody>
      </p:sp>
      <p:pic>
        <p:nvPicPr>
          <p:cNvPr id="329" name="Google Shape;329;p21"/>
          <p:cNvPicPr preferRelativeResize="0"/>
          <p:nvPr/>
        </p:nvPicPr>
        <p:blipFill rotWithShape="1">
          <a:blip r:embed="rId3">
            <a:alphaModFix/>
          </a:blip>
          <a:srcRect b="0" l="0" r="0" t="0"/>
          <a:stretch/>
        </p:blipFill>
        <p:spPr>
          <a:xfrm>
            <a:off x="869156" y="1956816"/>
            <a:ext cx="1100138" cy="88783"/>
          </a:xfrm>
          <a:prstGeom prst="rect">
            <a:avLst/>
          </a:prstGeom>
          <a:noFill/>
          <a:ln>
            <a:noFill/>
          </a:ln>
        </p:spPr>
      </p:pic>
      <p:sp>
        <p:nvSpPr>
          <p:cNvPr id="330" name="Google Shape;330;p21"/>
          <p:cNvSpPr txBox="1"/>
          <p:nvPr/>
        </p:nvSpPr>
        <p:spPr>
          <a:xfrm>
            <a:off x="877824" y="2368296"/>
            <a:ext cx="5102352" cy="146685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s-CO" sz="1100" u="none" cap="none" strike="noStrike">
                <a:solidFill>
                  <a:srgbClr val="353646"/>
                </a:solidFill>
                <a:latin typeface="Arial"/>
                <a:ea typeface="Arial"/>
                <a:cs typeface="Arial"/>
                <a:sym typeface="Arial"/>
              </a:rPr>
              <a:t>Scrum forma parte de un contexto conceptual más amplio: el movimiento ágil. El Manifiesto Ágil prioriza las personas y sus interacciones, los resultados funcionales, la colaboración con el cliente y la capacidad de responder al cambio. Sus principios amplían esta perspectiva mediante ideas relacionadas con entregas frecuentes, colaboración, sostenibilidad, simplicidad, autoorganización y mejora continua.</a:t>
            </a:r>
            <a:endParaRPr/>
          </a:p>
        </p:txBody>
      </p:sp>
      <p:sp>
        <p:nvSpPr>
          <p:cNvPr id="331" name="Google Shape;331;p21"/>
          <p:cNvSpPr txBox="1"/>
          <p:nvPr/>
        </p:nvSpPr>
        <p:spPr>
          <a:xfrm>
            <a:off x="877824" y="4018026"/>
            <a:ext cx="5102352" cy="20955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s-CO" sz="1100" u="none" cap="none" strike="noStrike">
                <a:solidFill>
                  <a:srgbClr val="353646"/>
                </a:solidFill>
                <a:latin typeface="Arial"/>
                <a:ea typeface="Arial"/>
                <a:cs typeface="Arial"/>
                <a:sym typeface="Arial"/>
              </a:rPr>
              <a:t>Aquí necesitamos establecer una diferencia importante:</a:t>
            </a:r>
            <a:endParaRPr/>
          </a:p>
        </p:txBody>
      </p:sp>
      <p:sp>
        <p:nvSpPr>
          <p:cNvPr id="332" name="Google Shape;332;p21"/>
          <p:cNvSpPr/>
          <p:nvPr/>
        </p:nvSpPr>
        <p:spPr>
          <a:xfrm>
            <a:off x="877824" y="4410456"/>
            <a:ext cx="5102352" cy="822960"/>
          </a:xfrm>
          <a:prstGeom prst="roundRect">
            <a:avLst>
              <a:gd fmla="val 15000" name="adj"/>
            </a:avLst>
          </a:prstGeom>
          <a:solidFill>
            <a:srgbClr val="E8F1FB"/>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33" name="Google Shape;333;p21"/>
          <p:cNvSpPr/>
          <p:nvPr/>
        </p:nvSpPr>
        <p:spPr>
          <a:xfrm>
            <a:off x="877824" y="4410456"/>
            <a:ext cx="64008" cy="822960"/>
          </a:xfrm>
          <a:prstGeom prst="rect">
            <a:avLst/>
          </a:prstGeom>
          <a:solidFill>
            <a:srgbClr val="2A56C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pic>
        <p:nvPicPr>
          <p:cNvPr id="334" name="Google Shape;334;p21"/>
          <p:cNvPicPr preferRelativeResize="0"/>
          <p:nvPr/>
        </p:nvPicPr>
        <p:blipFill rotWithShape="1">
          <a:blip r:embed="rId4">
            <a:alphaModFix/>
          </a:blip>
          <a:srcRect b="0" l="0" r="0" t="0"/>
          <a:stretch/>
        </p:blipFill>
        <p:spPr>
          <a:xfrm>
            <a:off x="1106424" y="4611624"/>
            <a:ext cx="384048" cy="384048"/>
          </a:xfrm>
          <a:prstGeom prst="rect">
            <a:avLst/>
          </a:prstGeom>
          <a:noFill/>
          <a:ln>
            <a:noFill/>
          </a:ln>
        </p:spPr>
      </p:pic>
      <p:sp>
        <p:nvSpPr>
          <p:cNvPr id="335" name="Google Shape;335;p21"/>
          <p:cNvSpPr txBox="1"/>
          <p:nvPr/>
        </p:nvSpPr>
        <p:spPr>
          <a:xfrm>
            <a:off x="1655064" y="4410456"/>
            <a:ext cx="4142232" cy="822960"/>
          </a:xfrm>
          <a:prstGeom prst="rect">
            <a:avLst/>
          </a:prstGeom>
          <a:noFill/>
          <a:ln>
            <a:noFill/>
          </a:ln>
        </p:spPr>
        <p:txBody>
          <a:bodyPr anchorCtr="0" anchor="ctr" bIns="0" lIns="0" spcFirstLastPara="1" rIns="0" wrap="square" tIns="0">
            <a:spAutoFit/>
          </a:bodyPr>
          <a:lstStyle/>
          <a:p>
            <a:pPr indent="0" lvl="0" marL="0" marR="0" rtl="0" algn="l">
              <a:lnSpc>
                <a:spcPct val="110000"/>
              </a:lnSpc>
              <a:spcBef>
                <a:spcPts val="0"/>
              </a:spcBef>
              <a:spcAft>
                <a:spcPts val="0"/>
              </a:spcAft>
              <a:buNone/>
            </a:pPr>
            <a:r>
              <a:rPr b="1" i="1" lang="es-CO" sz="1250" u="none" cap="none" strike="noStrike">
                <a:solidFill>
                  <a:srgbClr val="024791"/>
                </a:solidFill>
                <a:latin typeface="Arial"/>
                <a:ea typeface="Arial"/>
                <a:cs typeface="Arial"/>
                <a:sym typeface="Arial"/>
              </a:rPr>
              <a:t>“Los 12 principios del Manifiesto Ágil no son doce principios propios de Scrum”.</a:t>
            </a:r>
            <a:endParaRPr/>
          </a:p>
        </p:txBody>
      </p:sp>
      <p:sp>
        <p:nvSpPr>
          <p:cNvPr id="336" name="Google Shape;336;p21"/>
          <p:cNvSpPr txBox="1"/>
          <p:nvPr/>
        </p:nvSpPr>
        <p:spPr>
          <a:xfrm>
            <a:off x="877824" y="5462016"/>
            <a:ext cx="5102352" cy="8382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s-CO" sz="1100" u="none" cap="none" strike="noStrike">
                <a:solidFill>
                  <a:srgbClr val="353646"/>
                </a:solidFill>
                <a:latin typeface="Arial"/>
                <a:ea typeface="Arial"/>
                <a:cs typeface="Arial"/>
                <a:sym typeface="Arial"/>
              </a:rPr>
              <a:t>Scrum posee fundamentos específicos: </a:t>
            </a:r>
            <a:r>
              <a:rPr b="1" i="0" lang="es-CO" sz="1100" u="none" cap="none" strike="noStrike">
                <a:solidFill>
                  <a:srgbClr val="3D2159"/>
                </a:solidFill>
                <a:latin typeface="Arial"/>
                <a:ea typeface="Arial"/>
                <a:cs typeface="Arial"/>
                <a:sym typeface="Arial"/>
              </a:rPr>
              <a:t>empirismo, pensamiento Lean, tres pilares y cinco valores</a:t>
            </a:r>
            <a:r>
              <a:rPr b="0" i="0" lang="es-CO" sz="1100" u="none" cap="none" strike="noStrike">
                <a:solidFill>
                  <a:srgbClr val="353646"/>
                </a:solidFill>
                <a:latin typeface="Arial"/>
                <a:ea typeface="Arial"/>
                <a:cs typeface="Arial"/>
                <a:sym typeface="Arial"/>
              </a:rPr>
              <a:t>. Los principios ágiles pertenecen al marco conceptual más amplio dentro del cual Scrum se desarrolla (Schwaber &amp; Sutherland, 2020).</a:t>
            </a:r>
            <a:endParaRPr/>
          </a:p>
        </p:txBody>
      </p:sp>
      <p:sp>
        <p:nvSpPr>
          <p:cNvPr id="337" name="Google Shape;337;p21"/>
          <p:cNvSpPr txBox="1"/>
          <p:nvPr/>
        </p:nvSpPr>
        <p:spPr>
          <a:xfrm>
            <a:off x="877824" y="6483096"/>
            <a:ext cx="5102352" cy="62865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s-CO" sz="1100" u="none" cap="none" strike="noStrike">
                <a:solidFill>
                  <a:srgbClr val="353646"/>
                </a:solidFill>
                <a:latin typeface="Arial"/>
                <a:ea typeface="Arial"/>
                <a:cs typeface="Arial"/>
                <a:sym typeface="Arial"/>
              </a:rPr>
              <a:t>Esta distinción nos permitirá evitar una confusión frecuente y comprender que Scrum concreta la agilidad mediante una estructura particular de responsabilidades, eventos y artefactos.</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1" name="Shape 341"/>
        <p:cNvGrpSpPr/>
        <p:nvPr/>
      </p:nvGrpSpPr>
      <p:grpSpPr>
        <a:xfrm>
          <a:off x="0" y="0"/>
          <a:ext cx="0" cy="0"/>
          <a:chOff x="0" y="0"/>
          <a:chExt cx="0" cy="0"/>
        </a:xfrm>
      </p:grpSpPr>
      <p:sp>
        <p:nvSpPr>
          <p:cNvPr id="342" name="Google Shape;342;p22"/>
          <p:cNvSpPr/>
          <p:nvPr/>
        </p:nvSpPr>
        <p:spPr>
          <a:xfrm>
            <a:off x="876300" y="1104900"/>
            <a:ext cx="4953000" cy="22860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900"/>
              <a:buFont typeface="Arial"/>
              <a:buNone/>
            </a:pPr>
            <a:r>
              <a:rPr b="1" i="0" lang="es-CO" sz="900" u="none" cap="none" strike="noStrike">
                <a:solidFill>
                  <a:srgbClr val="B31686"/>
                </a:solidFill>
                <a:latin typeface="Arial"/>
                <a:ea typeface="Arial"/>
                <a:cs typeface="Arial"/>
                <a:sym typeface="Arial"/>
              </a:rPr>
              <a:t>Tema 3 · Trabajar desde los valores ágiles</a:t>
            </a:r>
            <a:endParaRPr b="1" i="0" sz="900" u="none" cap="none" strike="noStrike">
              <a:solidFill>
                <a:srgbClr val="B31686"/>
              </a:solidFill>
              <a:latin typeface="Arial"/>
              <a:ea typeface="Arial"/>
              <a:cs typeface="Arial"/>
              <a:sym typeface="Arial"/>
            </a:endParaRPr>
          </a:p>
        </p:txBody>
      </p:sp>
      <p:sp>
        <p:nvSpPr>
          <p:cNvPr id="343" name="Google Shape;343;p22"/>
          <p:cNvSpPr/>
          <p:nvPr/>
        </p:nvSpPr>
        <p:spPr>
          <a:xfrm>
            <a:off x="876300" y="1409700"/>
            <a:ext cx="5105400" cy="813816"/>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2325"/>
              <a:buFont typeface="Arial"/>
              <a:buNone/>
            </a:pPr>
            <a:r>
              <a:rPr b="1" i="0" lang="es-CO" sz="2325" u="none" cap="none" strike="noStrike">
                <a:solidFill>
                  <a:srgbClr val="3D2159"/>
                </a:solidFill>
                <a:latin typeface="Arial"/>
                <a:ea typeface="Arial"/>
                <a:cs typeface="Arial"/>
                <a:sym typeface="Arial"/>
              </a:rPr>
              <a:t>Los valores que sostienen el trabajo</a:t>
            </a:r>
            <a:endParaRPr b="0" i="0" sz="1400" u="none" cap="none" strike="noStrike">
              <a:solidFill>
                <a:srgbClr val="000000"/>
              </a:solidFill>
              <a:latin typeface="Arial"/>
              <a:ea typeface="Arial"/>
              <a:cs typeface="Arial"/>
              <a:sym typeface="Arial"/>
            </a:endParaRPr>
          </a:p>
        </p:txBody>
      </p:sp>
      <p:pic>
        <p:nvPicPr>
          <p:cNvPr id="344" name="Google Shape;344;p22"/>
          <p:cNvPicPr preferRelativeResize="0"/>
          <p:nvPr/>
        </p:nvPicPr>
        <p:blipFill rotWithShape="1">
          <a:blip r:embed="rId3">
            <a:alphaModFix/>
          </a:blip>
          <a:srcRect b="0" l="0" r="0" t="0"/>
          <a:stretch/>
        </p:blipFill>
        <p:spPr>
          <a:xfrm>
            <a:off x="869156" y="2340864"/>
            <a:ext cx="1100138" cy="88783"/>
          </a:xfrm>
          <a:prstGeom prst="rect">
            <a:avLst/>
          </a:prstGeom>
          <a:noFill/>
          <a:ln>
            <a:noFill/>
          </a:ln>
        </p:spPr>
      </p:pic>
      <p:sp>
        <p:nvSpPr>
          <p:cNvPr id="345" name="Google Shape;345;p22"/>
          <p:cNvSpPr txBox="1"/>
          <p:nvPr/>
        </p:nvSpPr>
        <p:spPr>
          <a:xfrm>
            <a:off x="877824" y="2752344"/>
            <a:ext cx="5102352" cy="8382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s-CO" sz="1100" u="none" cap="none" strike="noStrike">
                <a:solidFill>
                  <a:srgbClr val="353646"/>
                </a:solidFill>
                <a:latin typeface="Arial"/>
                <a:ea typeface="Arial"/>
                <a:cs typeface="Arial"/>
                <a:sym typeface="Arial"/>
              </a:rPr>
              <a:t>Una estructura de trabajo no funciona únicamente porque existan reglas o eventos. Scrum reconoce cinco valores que orientan el comportamiento y las relaciones dentro del equipo: compromiso, enfoque, apertura, respeto y coraje (Schwaber &amp; Sutherland, 2020).</a:t>
            </a:r>
            <a:endParaRPr/>
          </a:p>
        </p:txBody>
      </p:sp>
      <p:sp>
        <p:nvSpPr>
          <p:cNvPr id="346" name="Google Shape;346;p22"/>
          <p:cNvSpPr txBox="1"/>
          <p:nvPr/>
        </p:nvSpPr>
        <p:spPr>
          <a:xfrm>
            <a:off x="877824" y="3773424"/>
            <a:ext cx="5102352" cy="146685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s-CO" sz="1100" u="none" cap="none" strike="noStrike">
                <a:solidFill>
                  <a:srgbClr val="353646"/>
                </a:solidFill>
                <a:latin typeface="Arial"/>
                <a:ea typeface="Arial"/>
                <a:cs typeface="Arial"/>
                <a:sym typeface="Arial"/>
              </a:rPr>
              <a:t>Compromiso implica asumir responsabilidad frente a los objetivos compartidos. Enfoque supone concentrarnos en aquello que resulta prioritario. Apertura requiere comunicar avances, dificultades y aprendizajes. Respeto implica reconocer las capacidades y responsabilidades de quienes integran el equipo. Finalmente, coraje supone afrontar problemas, comunicar situaciones difíciles y realizar cambios cuando son necesarios.</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0" name="Shape 350"/>
        <p:cNvGrpSpPr/>
        <p:nvPr/>
      </p:nvGrpSpPr>
      <p:grpSpPr>
        <a:xfrm>
          <a:off x="0" y="0"/>
          <a:ext cx="0" cy="0"/>
          <a:chOff x="0" y="0"/>
          <a:chExt cx="0" cy="0"/>
        </a:xfrm>
      </p:grpSpPr>
      <p:sp>
        <p:nvSpPr>
          <p:cNvPr id="351" name="Google Shape;351;p23"/>
          <p:cNvSpPr/>
          <p:nvPr/>
        </p:nvSpPr>
        <p:spPr>
          <a:xfrm>
            <a:off x="876300" y="1104900"/>
            <a:ext cx="4953000" cy="22860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900"/>
              <a:buFont typeface="Arial"/>
              <a:buNone/>
            </a:pPr>
            <a:r>
              <a:rPr b="1" i="0" lang="es-CO" sz="900" u="none" cap="none" strike="noStrike">
                <a:solidFill>
                  <a:srgbClr val="B31686"/>
                </a:solidFill>
                <a:latin typeface="Arial"/>
                <a:ea typeface="Arial"/>
                <a:cs typeface="Arial"/>
                <a:sym typeface="Arial"/>
              </a:rPr>
              <a:t>Tema 3 · Trabajar desde los valores ágiles</a:t>
            </a:r>
            <a:endParaRPr b="1" i="0" sz="900" u="none" cap="none" strike="noStrike">
              <a:solidFill>
                <a:srgbClr val="B31686"/>
              </a:solidFill>
              <a:latin typeface="Arial"/>
              <a:ea typeface="Arial"/>
              <a:cs typeface="Arial"/>
              <a:sym typeface="Arial"/>
            </a:endParaRPr>
          </a:p>
        </p:txBody>
      </p:sp>
      <p:sp>
        <p:nvSpPr>
          <p:cNvPr id="352" name="Google Shape;352;p23"/>
          <p:cNvSpPr txBox="1"/>
          <p:nvPr/>
        </p:nvSpPr>
        <p:spPr>
          <a:xfrm>
            <a:off x="877824" y="1481328"/>
            <a:ext cx="5102352" cy="201168"/>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CO" sz="900" u="none" cap="none" strike="noStrike">
                <a:solidFill>
                  <a:srgbClr val="B31686"/>
                </a:solidFill>
                <a:latin typeface="Arial"/>
                <a:ea typeface="Arial"/>
                <a:cs typeface="Arial"/>
                <a:sym typeface="Arial"/>
              </a:rPr>
              <a:t>FUNDAMENTOS DE SCRUM · CULTURA Y EMPIRISMO</a:t>
            </a:r>
            <a:endParaRPr/>
          </a:p>
        </p:txBody>
      </p:sp>
      <p:sp>
        <p:nvSpPr>
          <p:cNvPr id="353" name="Google Shape;353;p23"/>
          <p:cNvSpPr txBox="1"/>
          <p:nvPr/>
        </p:nvSpPr>
        <p:spPr>
          <a:xfrm>
            <a:off x="877824" y="1755648"/>
            <a:ext cx="5102352" cy="276225"/>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CO" sz="1450" u="none" cap="none" strike="noStrike">
                <a:solidFill>
                  <a:srgbClr val="3D2159"/>
                </a:solidFill>
                <a:latin typeface="Arial"/>
                <a:ea typeface="Arial"/>
                <a:cs typeface="Arial"/>
                <a:sym typeface="Arial"/>
              </a:rPr>
              <a:t>Valores que hacen posible el empirismo</a:t>
            </a:r>
            <a:endParaRPr/>
          </a:p>
        </p:txBody>
      </p:sp>
      <p:sp>
        <p:nvSpPr>
          <p:cNvPr id="354" name="Google Shape;354;p23"/>
          <p:cNvSpPr txBox="1"/>
          <p:nvPr/>
        </p:nvSpPr>
        <p:spPr>
          <a:xfrm>
            <a:off x="877824" y="2077593"/>
            <a:ext cx="5102352" cy="40005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1" lang="es-CO" sz="1050" u="none" cap="none" strike="noStrike">
                <a:solidFill>
                  <a:srgbClr val="5F5966"/>
                </a:solidFill>
                <a:latin typeface="Arial"/>
                <a:ea typeface="Arial"/>
                <a:cs typeface="Arial"/>
                <a:sym typeface="Arial"/>
              </a:rPr>
              <a:t>Cómo la confianza, el respeto y el coraje construyen el entorno humano necesario para inspeccionar con honestidad y adaptar el rumbo.</a:t>
            </a:r>
            <a:endParaRPr/>
          </a:p>
        </p:txBody>
      </p:sp>
      <p:sp>
        <p:nvSpPr>
          <p:cNvPr id="355" name="Google Shape;355;p23"/>
          <p:cNvSpPr txBox="1"/>
          <p:nvPr/>
        </p:nvSpPr>
        <p:spPr>
          <a:xfrm>
            <a:off x="877824" y="2678811"/>
            <a:ext cx="5102352" cy="201168"/>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CO" sz="900" u="none" cap="none" strike="noStrike">
                <a:solidFill>
                  <a:srgbClr val="B31686"/>
                </a:solidFill>
                <a:latin typeface="Arial"/>
                <a:ea typeface="Arial"/>
                <a:cs typeface="Arial"/>
                <a:sym typeface="Arial"/>
              </a:rPr>
              <a:t>01 · LOS 5 VALORES DE SCRUM (LA BASE HUMANA)</a:t>
            </a:r>
            <a:endParaRPr/>
          </a:p>
        </p:txBody>
      </p:sp>
      <p:sp>
        <p:nvSpPr>
          <p:cNvPr id="356" name="Google Shape;356;p23"/>
          <p:cNvSpPr/>
          <p:nvPr/>
        </p:nvSpPr>
        <p:spPr>
          <a:xfrm>
            <a:off x="877824" y="2971419"/>
            <a:ext cx="961948" cy="384048"/>
          </a:xfrm>
          <a:prstGeom prst="roundRect">
            <a:avLst>
              <a:gd fmla="val 40000" name="adj"/>
            </a:avLst>
          </a:prstGeom>
          <a:solidFill>
            <a:srgbClr val="F1EBF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57" name="Google Shape;357;p23"/>
          <p:cNvSpPr txBox="1"/>
          <p:nvPr/>
        </p:nvSpPr>
        <p:spPr>
          <a:xfrm>
            <a:off x="877824" y="2971419"/>
            <a:ext cx="961948" cy="384048"/>
          </a:xfrm>
          <a:prstGeom prst="rect">
            <a:avLst/>
          </a:prstGeom>
          <a:noFill/>
          <a:ln>
            <a:noFill/>
          </a:ln>
        </p:spPr>
        <p:txBody>
          <a:bodyPr anchorCtr="0" anchor="ctr" bIns="0" lIns="0" spcFirstLastPara="1" rIns="0" wrap="square" tIns="0">
            <a:spAutoFit/>
          </a:bodyPr>
          <a:lstStyle/>
          <a:p>
            <a:pPr indent="0" lvl="0" marL="0" marR="0" rtl="0" algn="ctr">
              <a:lnSpc>
                <a:spcPct val="110000"/>
              </a:lnSpc>
              <a:spcBef>
                <a:spcPts val="0"/>
              </a:spcBef>
              <a:spcAft>
                <a:spcPts val="0"/>
              </a:spcAft>
              <a:buNone/>
            </a:pPr>
            <a:r>
              <a:rPr b="1" i="0" lang="es-CO" sz="900" u="none" cap="none" strike="noStrike">
                <a:solidFill>
                  <a:srgbClr val="664092"/>
                </a:solidFill>
                <a:latin typeface="Arial"/>
                <a:ea typeface="Arial"/>
                <a:cs typeface="Arial"/>
                <a:sym typeface="Arial"/>
              </a:rPr>
              <a:t>Compromiso</a:t>
            </a:r>
            <a:endParaRPr/>
          </a:p>
        </p:txBody>
      </p:sp>
      <p:sp>
        <p:nvSpPr>
          <p:cNvPr id="358" name="Google Shape;358;p23"/>
          <p:cNvSpPr/>
          <p:nvPr/>
        </p:nvSpPr>
        <p:spPr>
          <a:xfrm>
            <a:off x="1912924" y="2971419"/>
            <a:ext cx="961948" cy="384048"/>
          </a:xfrm>
          <a:prstGeom prst="roundRect">
            <a:avLst>
              <a:gd fmla="val 40000" name="adj"/>
            </a:avLst>
          </a:prstGeom>
          <a:solidFill>
            <a:srgbClr val="F1EBF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59" name="Google Shape;359;p23"/>
          <p:cNvSpPr txBox="1"/>
          <p:nvPr/>
        </p:nvSpPr>
        <p:spPr>
          <a:xfrm>
            <a:off x="1912924" y="2971419"/>
            <a:ext cx="961948" cy="384048"/>
          </a:xfrm>
          <a:prstGeom prst="rect">
            <a:avLst/>
          </a:prstGeom>
          <a:noFill/>
          <a:ln>
            <a:noFill/>
          </a:ln>
        </p:spPr>
        <p:txBody>
          <a:bodyPr anchorCtr="0" anchor="ctr" bIns="0" lIns="0" spcFirstLastPara="1" rIns="0" wrap="square" tIns="0">
            <a:spAutoFit/>
          </a:bodyPr>
          <a:lstStyle/>
          <a:p>
            <a:pPr indent="0" lvl="0" marL="0" marR="0" rtl="0" algn="ctr">
              <a:lnSpc>
                <a:spcPct val="110000"/>
              </a:lnSpc>
              <a:spcBef>
                <a:spcPts val="0"/>
              </a:spcBef>
              <a:spcAft>
                <a:spcPts val="0"/>
              </a:spcAft>
              <a:buNone/>
            </a:pPr>
            <a:r>
              <a:rPr b="1" i="0" lang="es-CO" sz="900" u="none" cap="none" strike="noStrike">
                <a:solidFill>
                  <a:srgbClr val="664092"/>
                </a:solidFill>
                <a:latin typeface="Arial"/>
                <a:ea typeface="Arial"/>
                <a:cs typeface="Arial"/>
                <a:sym typeface="Arial"/>
              </a:rPr>
              <a:t>Enfoque</a:t>
            </a:r>
            <a:endParaRPr/>
          </a:p>
        </p:txBody>
      </p:sp>
      <p:sp>
        <p:nvSpPr>
          <p:cNvPr id="360" name="Google Shape;360;p23"/>
          <p:cNvSpPr/>
          <p:nvPr/>
        </p:nvSpPr>
        <p:spPr>
          <a:xfrm>
            <a:off x="2948025" y="2971419"/>
            <a:ext cx="961948" cy="384048"/>
          </a:xfrm>
          <a:prstGeom prst="roundRect">
            <a:avLst>
              <a:gd fmla="val 40000" name="adj"/>
            </a:avLst>
          </a:prstGeom>
          <a:solidFill>
            <a:srgbClr val="F1EBF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61" name="Google Shape;361;p23"/>
          <p:cNvSpPr txBox="1"/>
          <p:nvPr/>
        </p:nvSpPr>
        <p:spPr>
          <a:xfrm>
            <a:off x="2948025" y="2971419"/>
            <a:ext cx="961948" cy="384048"/>
          </a:xfrm>
          <a:prstGeom prst="rect">
            <a:avLst/>
          </a:prstGeom>
          <a:noFill/>
          <a:ln>
            <a:noFill/>
          </a:ln>
        </p:spPr>
        <p:txBody>
          <a:bodyPr anchorCtr="0" anchor="ctr" bIns="0" lIns="0" spcFirstLastPara="1" rIns="0" wrap="square" tIns="0">
            <a:spAutoFit/>
          </a:bodyPr>
          <a:lstStyle/>
          <a:p>
            <a:pPr indent="0" lvl="0" marL="0" marR="0" rtl="0" algn="ctr">
              <a:lnSpc>
                <a:spcPct val="110000"/>
              </a:lnSpc>
              <a:spcBef>
                <a:spcPts val="0"/>
              </a:spcBef>
              <a:spcAft>
                <a:spcPts val="0"/>
              </a:spcAft>
              <a:buNone/>
            </a:pPr>
            <a:r>
              <a:rPr b="1" i="0" lang="es-CO" sz="900" u="none" cap="none" strike="noStrike">
                <a:solidFill>
                  <a:srgbClr val="664092"/>
                </a:solidFill>
                <a:latin typeface="Arial"/>
                <a:ea typeface="Arial"/>
                <a:cs typeface="Arial"/>
                <a:sym typeface="Arial"/>
              </a:rPr>
              <a:t>Apertura</a:t>
            </a:r>
            <a:endParaRPr/>
          </a:p>
        </p:txBody>
      </p:sp>
      <p:sp>
        <p:nvSpPr>
          <p:cNvPr id="362" name="Google Shape;362;p23"/>
          <p:cNvSpPr/>
          <p:nvPr/>
        </p:nvSpPr>
        <p:spPr>
          <a:xfrm>
            <a:off x="3983126" y="2971419"/>
            <a:ext cx="961948" cy="384048"/>
          </a:xfrm>
          <a:prstGeom prst="roundRect">
            <a:avLst>
              <a:gd fmla="val 40000" name="adj"/>
            </a:avLst>
          </a:prstGeom>
          <a:solidFill>
            <a:srgbClr val="F1EBF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63" name="Google Shape;363;p23"/>
          <p:cNvSpPr txBox="1"/>
          <p:nvPr/>
        </p:nvSpPr>
        <p:spPr>
          <a:xfrm>
            <a:off x="3983126" y="2971419"/>
            <a:ext cx="961948" cy="384048"/>
          </a:xfrm>
          <a:prstGeom prst="rect">
            <a:avLst/>
          </a:prstGeom>
          <a:noFill/>
          <a:ln>
            <a:noFill/>
          </a:ln>
        </p:spPr>
        <p:txBody>
          <a:bodyPr anchorCtr="0" anchor="ctr" bIns="0" lIns="0" spcFirstLastPara="1" rIns="0" wrap="square" tIns="0">
            <a:spAutoFit/>
          </a:bodyPr>
          <a:lstStyle/>
          <a:p>
            <a:pPr indent="0" lvl="0" marL="0" marR="0" rtl="0" algn="ctr">
              <a:lnSpc>
                <a:spcPct val="110000"/>
              </a:lnSpc>
              <a:spcBef>
                <a:spcPts val="0"/>
              </a:spcBef>
              <a:spcAft>
                <a:spcPts val="0"/>
              </a:spcAft>
              <a:buNone/>
            </a:pPr>
            <a:r>
              <a:rPr b="1" i="0" lang="es-CO" sz="900" u="none" cap="none" strike="noStrike">
                <a:solidFill>
                  <a:srgbClr val="664092"/>
                </a:solidFill>
                <a:latin typeface="Arial"/>
                <a:ea typeface="Arial"/>
                <a:cs typeface="Arial"/>
                <a:sym typeface="Arial"/>
              </a:rPr>
              <a:t>Respeto</a:t>
            </a:r>
            <a:endParaRPr/>
          </a:p>
        </p:txBody>
      </p:sp>
      <p:sp>
        <p:nvSpPr>
          <p:cNvPr id="364" name="Google Shape;364;p23"/>
          <p:cNvSpPr/>
          <p:nvPr/>
        </p:nvSpPr>
        <p:spPr>
          <a:xfrm>
            <a:off x="5018227" y="2971419"/>
            <a:ext cx="961948" cy="384048"/>
          </a:xfrm>
          <a:prstGeom prst="roundRect">
            <a:avLst>
              <a:gd fmla="val 40000" name="adj"/>
            </a:avLst>
          </a:prstGeom>
          <a:solidFill>
            <a:srgbClr val="F1EBF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65" name="Google Shape;365;p23"/>
          <p:cNvSpPr txBox="1"/>
          <p:nvPr/>
        </p:nvSpPr>
        <p:spPr>
          <a:xfrm>
            <a:off x="5018227" y="2971419"/>
            <a:ext cx="961948" cy="384048"/>
          </a:xfrm>
          <a:prstGeom prst="rect">
            <a:avLst/>
          </a:prstGeom>
          <a:noFill/>
          <a:ln>
            <a:noFill/>
          </a:ln>
        </p:spPr>
        <p:txBody>
          <a:bodyPr anchorCtr="0" anchor="ctr" bIns="0" lIns="0" spcFirstLastPara="1" rIns="0" wrap="square" tIns="0">
            <a:spAutoFit/>
          </a:bodyPr>
          <a:lstStyle/>
          <a:p>
            <a:pPr indent="0" lvl="0" marL="0" marR="0" rtl="0" algn="ctr">
              <a:lnSpc>
                <a:spcPct val="110000"/>
              </a:lnSpc>
              <a:spcBef>
                <a:spcPts val="0"/>
              </a:spcBef>
              <a:spcAft>
                <a:spcPts val="0"/>
              </a:spcAft>
              <a:buNone/>
            </a:pPr>
            <a:r>
              <a:rPr b="1" i="0" lang="es-CO" sz="900" u="none" cap="none" strike="noStrike">
                <a:solidFill>
                  <a:srgbClr val="664092"/>
                </a:solidFill>
                <a:latin typeface="Arial"/>
                <a:ea typeface="Arial"/>
                <a:cs typeface="Arial"/>
                <a:sym typeface="Arial"/>
              </a:rPr>
              <a:t>Coraje</a:t>
            </a:r>
            <a:endParaRPr/>
          </a:p>
        </p:txBody>
      </p:sp>
      <p:sp>
        <p:nvSpPr>
          <p:cNvPr id="366" name="Google Shape;366;p23"/>
          <p:cNvSpPr txBox="1"/>
          <p:nvPr/>
        </p:nvSpPr>
        <p:spPr>
          <a:xfrm>
            <a:off x="877824" y="3428619"/>
            <a:ext cx="5102352" cy="201168"/>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None/>
            </a:pPr>
            <a:r>
              <a:rPr b="0" i="1" lang="es-CO" sz="900" u="none" cap="none" strike="noStrike">
                <a:solidFill>
                  <a:srgbClr val="5F5966"/>
                </a:solidFill>
                <a:latin typeface="Arial"/>
                <a:ea typeface="Arial"/>
                <a:cs typeface="Arial"/>
                <a:sym typeface="Arial"/>
              </a:rPr>
              <a:t>Habilitan ↓</a:t>
            </a:r>
            <a:endParaRPr/>
          </a:p>
        </p:txBody>
      </p:sp>
      <p:sp>
        <p:nvSpPr>
          <p:cNvPr id="367" name="Google Shape;367;p23"/>
          <p:cNvSpPr txBox="1"/>
          <p:nvPr/>
        </p:nvSpPr>
        <p:spPr>
          <a:xfrm>
            <a:off x="877824" y="3721227"/>
            <a:ext cx="5102352" cy="201168"/>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CO" sz="900" u="none" cap="none" strike="noStrike">
                <a:solidFill>
                  <a:srgbClr val="B31686"/>
                </a:solidFill>
                <a:latin typeface="Arial"/>
                <a:ea typeface="Arial"/>
                <a:cs typeface="Arial"/>
                <a:sym typeface="Arial"/>
              </a:rPr>
              <a:t>02 · RELACIONES DE TRABAJO QUE FAVORECEN EL EMPIRISMO</a:t>
            </a:r>
            <a:endParaRPr/>
          </a:p>
        </p:txBody>
      </p:sp>
      <p:sp>
        <p:nvSpPr>
          <p:cNvPr id="368" name="Google Shape;368;p23"/>
          <p:cNvSpPr/>
          <p:nvPr/>
        </p:nvSpPr>
        <p:spPr>
          <a:xfrm>
            <a:off x="877824" y="4013835"/>
            <a:ext cx="1609344" cy="1188720"/>
          </a:xfrm>
          <a:prstGeom prst="roundRect">
            <a:avLst>
              <a:gd fmla="val 10000" name="adj"/>
            </a:avLst>
          </a:prstGeom>
          <a:solidFill>
            <a:srgbClr val="FFFFFF"/>
          </a:solidFill>
          <a:ln cap="flat" cmpd="sng" w="12700">
            <a:solidFill>
              <a:srgbClr val="D9DCE6"/>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69" name="Google Shape;369;p23"/>
          <p:cNvSpPr txBox="1"/>
          <p:nvPr/>
        </p:nvSpPr>
        <p:spPr>
          <a:xfrm>
            <a:off x="1005840" y="4123563"/>
            <a:ext cx="1353312" cy="3657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CO" sz="950" u="none" cap="none" strike="noStrike">
                <a:solidFill>
                  <a:srgbClr val="2A56C6"/>
                </a:solidFill>
                <a:latin typeface="Arial"/>
                <a:ea typeface="Arial"/>
                <a:cs typeface="Arial"/>
                <a:sym typeface="Arial"/>
              </a:rPr>
              <a:t>Confianza mutua</a:t>
            </a:r>
            <a:endParaRPr/>
          </a:p>
        </p:txBody>
      </p:sp>
      <p:sp>
        <p:nvSpPr>
          <p:cNvPr id="370" name="Google Shape;370;p23"/>
          <p:cNvSpPr txBox="1"/>
          <p:nvPr/>
        </p:nvSpPr>
        <p:spPr>
          <a:xfrm>
            <a:off x="1005840" y="4471035"/>
            <a:ext cx="1353312" cy="73152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s-CO" sz="850" u="none" cap="none" strike="noStrike">
                <a:solidFill>
                  <a:srgbClr val="353646"/>
                </a:solidFill>
                <a:latin typeface="Arial"/>
                <a:ea typeface="Arial"/>
                <a:cs typeface="Arial"/>
                <a:sym typeface="Arial"/>
              </a:rPr>
              <a:t>Seguridad psicológica para exponer la realidad del trabajo sin miedo al castigo.</a:t>
            </a:r>
            <a:endParaRPr/>
          </a:p>
        </p:txBody>
      </p:sp>
      <p:sp>
        <p:nvSpPr>
          <p:cNvPr id="371" name="Google Shape;371;p23"/>
          <p:cNvSpPr/>
          <p:nvPr/>
        </p:nvSpPr>
        <p:spPr>
          <a:xfrm>
            <a:off x="2624328" y="4013835"/>
            <a:ext cx="1609344" cy="1188720"/>
          </a:xfrm>
          <a:prstGeom prst="roundRect">
            <a:avLst>
              <a:gd fmla="val 10000" name="adj"/>
            </a:avLst>
          </a:prstGeom>
          <a:solidFill>
            <a:srgbClr val="FFFFFF"/>
          </a:solidFill>
          <a:ln cap="flat" cmpd="sng" w="12700">
            <a:solidFill>
              <a:srgbClr val="D9DCE6"/>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72" name="Google Shape;372;p23"/>
          <p:cNvSpPr txBox="1"/>
          <p:nvPr/>
        </p:nvSpPr>
        <p:spPr>
          <a:xfrm>
            <a:off x="2752344" y="4123563"/>
            <a:ext cx="1353312" cy="3657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CO" sz="950" u="none" cap="none" strike="noStrike">
                <a:solidFill>
                  <a:srgbClr val="2A56C6"/>
                </a:solidFill>
                <a:latin typeface="Arial"/>
                <a:ea typeface="Arial"/>
                <a:cs typeface="Arial"/>
                <a:sym typeface="Arial"/>
              </a:rPr>
              <a:t>Responsabilidad compartida</a:t>
            </a:r>
            <a:endParaRPr/>
          </a:p>
        </p:txBody>
      </p:sp>
      <p:sp>
        <p:nvSpPr>
          <p:cNvPr id="373" name="Google Shape;373;p23"/>
          <p:cNvSpPr txBox="1"/>
          <p:nvPr/>
        </p:nvSpPr>
        <p:spPr>
          <a:xfrm>
            <a:off x="2752344" y="4471035"/>
            <a:ext cx="1353312" cy="73152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s-CO" sz="850" u="none" cap="none" strike="noStrike">
                <a:solidFill>
                  <a:srgbClr val="353646"/>
                </a:solidFill>
                <a:latin typeface="Arial"/>
                <a:ea typeface="Arial"/>
                <a:cs typeface="Arial"/>
                <a:sym typeface="Arial"/>
              </a:rPr>
              <a:t>Sentido colectivo del resultado por encima del cumplimiento individual aislado.</a:t>
            </a:r>
            <a:endParaRPr/>
          </a:p>
        </p:txBody>
      </p:sp>
      <p:sp>
        <p:nvSpPr>
          <p:cNvPr id="374" name="Google Shape;374;p23"/>
          <p:cNvSpPr/>
          <p:nvPr/>
        </p:nvSpPr>
        <p:spPr>
          <a:xfrm>
            <a:off x="4370831" y="4013835"/>
            <a:ext cx="1609344" cy="1188720"/>
          </a:xfrm>
          <a:prstGeom prst="roundRect">
            <a:avLst>
              <a:gd fmla="val 10000" name="adj"/>
            </a:avLst>
          </a:prstGeom>
          <a:solidFill>
            <a:srgbClr val="FFFFFF"/>
          </a:solidFill>
          <a:ln cap="flat" cmpd="sng" w="12700">
            <a:solidFill>
              <a:srgbClr val="D9DCE6"/>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75" name="Google Shape;375;p23"/>
          <p:cNvSpPr txBox="1"/>
          <p:nvPr/>
        </p:nvSpPr>
        <p:spPr>
          <a:xfrm>
            <a:off x="4498847" y="4123563"/>
            <a:ext cx="1353312" cy="3657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CO" sz="950" u="none" cap="none" strike="noStrike">
                <a:solidFill>
                  <a:srgbClr val="2A56C6"/>
                </a:solidFill>
                <a:latin typeface="Arial"/>
                <a:ea typeface="Arial"/>
                <a:cs typeface="Arial"/>
                <a:sym typeface="Arial"/>
              </a:rPr>
              <a:t>Comunicación honesta</a:t>
            </a:r>
            <a:endParaRPr/>
          </a:p>
        </p:txBody>
      </p:sp>
      <p:sp>
        <p:nvSpPr>
          <p:cNvPr id="376" name="Google Shape;376;p23"/>
          <p:cNvSpPr txBox="1"/>
          <p:nvPr/>
        </p:nvSpPr>
        <p:spPr>
          <a:xfrm>
            <a:off x="4498847" y="4471035"/>
            <a:ext cx="1353312" cy="73152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s-CO" sz="850" u="none" cap="none" strike="noStrike">
                <a:solidFill>
                  <a:srgbClr val="353646"/>
                </a:solidFill>
                <a:latin typeface="Arial"/>
                <a:ea typeface="Arial"/>
                <a:cs typeface="Arial"/>
                <a:sym typeface="Arial"/>
              </a:rPr>
              <a:t>Capacidad de visibilizar desvíos e incertidumbres con prontitud.</a:t>
            </a:r>
            <a:endParaRPr/>
          </a:p>
        </p:txBody>
      </p:sp>
      <p:sp>
        <p:nvSpPr>
          <p:cNvPr id="377" name="Google Shape;377;p23"/>
          <p:cNvSpPr txBox="1"/>
          <p:nvPr/>
        </p:nvSpPr>
        <p:spPr>
          <a:xfrm>
            <a:off x="877824" y="5275707"/>
            <a:ext cx="5102352" cy="201168"/>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None/>
            </a:pPr>
            <a:r>
              <a:rPr b="0" i="1" lang="es-CO" sz="900" u="none" cap="none" strike="noStrike">
                <a:solidFill>
                  <a:srgbClr val="5F5966"/>
                </a:solidFill>
                <a:latin typeface="Arial"/>
                <a:ea typeface="Arial"/>
                <a:cs typeface="Arial"/>
                <a:sym typeface="Arial"/>
              </a:rPr>
              <a:t>Hacen posible ↓</a:t>
            </a:r>
            <a:endParaRPr/>
          </a:p>
        </p:txBody>
      </p:sp>
      <p:sp>
        <p:nvSpPr>
          <p:cNvPr id="378" name="Google Shape;378;p23"/>
          <p:cNvSpPr txBox="1"/>
          <p:nvPr/>
        </p:nvSpPr>
        <p:spPr>
          <a:xfrm>
            <a:off x="877824" y="5568315"/>
            <a:ext cx="5102352" cy="201168"/>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CO" sz="900" u="none" cap="none" strike="noStrike">
                <a:solidFill>
                  <a:srgbClr val="B31686"/>
                </a:solidFill>
                <a:latin typeface="Arial"/>
                <a:ea typeface="Arial"/>
                <a:cs typeface="Arial"/>
                <a:sym typeface="Arial"/>
              </a:rPr>
              <a:t>03 · EL RESULTADO EMPÍRICO</a:t>
            </a:r>
            <a:endParaRPr/>
          </a:p>
        </p:txBody>
      </p:sp>
      <p:sp>
        <p:nvSpPr>
          <p:cNvPr id="379" name="Google Shape;379;p23"/>
          <p:cNvSpPr/>
          <p:nvPr/>
        </p:nvSpPr>
        <p:spPr>
          <a:xfrm>
            <a:off x="877824" y="5860923"/>
            <a:ext cx="1609344" cy="384048"/>
          </a:xfrm>
          <a:prstGeom prst="roundRect">
            <a:avLst>
              <a:gd fmla="val 40000" name="adj"/>
            </a:avLst>
          </a:prstGeom>
          <a:solidFill>
            <a:srgbClr val="02479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80" name="Google Shape;380;p23"/>
          <p:cNvSpPr txBox="1"/>
          <p:nvPr/>
        </p:nvSpPr>
        <p:spPr>
          <a:xfrm>
            <a:off x="877824" y="5860923"/>
            <a:ext cx="1609344" cy="384048"/>
          </a:xfrm>
          <a:prstGeom prst="rect">
            <a:avLst/>
          </a:prstGeom>
          <a:noFill/>
          <a:ln>
            <a:noFill/>
          </a:ln>
        </p:spPr>
        <p:txBody>
          <a:bodyPr anchorCtr="0" anchor="ctr" bIns="0" lIns="0" spcFirstLastPara="1" rIns="0" wrap="square" tIns="0">
            <a:spAutoFit/>
          </a:bodyPr>
          <a:lstStyle/>
          <a:p>
            <a:pPr indent="0" lvl="0" marL="0" marR="0" rtl="0" algn="ctr">
              <a:lnSpc>
                <a:spcPct val="110000"/>
              </a:lnSpc>
              <a:spcBef>
                <a:spcPts val="0"/>
              </a:spcBef>
              <a:spcAft>
                <a:spcPts val="0"/>
              </a:spcAft>
              <a:buNone/>
            </a:pPr>
            <a:r>
              <a:rPr b="1" i="0" lang="es-CO" sz="950" u="none" cap="none" strike="noStrike">
                <a:solidFill>
                  <a:srgbClr val="FFFFFF"/>
                </a:solidFill>
                <a:latin typeface="Arial"/>
                <a:ea typeface="Arial"/>
                <a:cs typeface="Arial"/>
                <a:sym typeface="Arial"/>
              </a:rPr>
              <a:t>Transparencia</a:t>
            </a:r>
            <a:endParaRPr/>
          </a:p>
        </p:txBody>
      </p:sp>
      <p:sp>
        <p:nvSpPr>
          <p:cNvPr id="381" name="Google Shape;381;p23"/>
          <p:cNvSpPr/>
          <p:nvPr/>
        </p:nvSpPr>
        <p:spPr>
          <a:xfrm>
            <a:off x="2624328" y="5860923"/>
            <a:ext cx="1609344" cy="384048"/>
          </a:xfrm>
          <a:prstGeom prst="roundRect">
            <a:avLst>
              <a:gd fmla="val 40000" name="adj"/>
            </a:avLst>
          </a:prstGeom>
          <a:solidFill>
            <a:srgbClr val="02479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82" name="Google Shape;382;p23"/>
          <p:cNvSpPr txBox="1"/>
          <p:nvPr/>
        </p:nvSpPr>
        <p:spPr>
          <a:xfrm>
            <a:off x="2624328" y="5860923"/>
            <a:ext cx="1609344" cy="384048"/>
          </a:xfrm>
          <a:prstGeom prst="rect">
            <a:avLst/>
          </a:prstGeom>
          <a:noFill/>
          <a:ln>
            <a:noFill/>
          </a:ln>
        </p:spPr>
        <p:txBody>
          <a:bodyPr anchorCtr="0" anchor="ctr" bIns="0" lIns="0" spcFirstLastPara="1" rIns="0" wrap="square" tIns="0">
            <a:spAutoFit/>
          </a:bodyPr>
          <a:lstStyle/>
          <a:p>
            <a:pPr indent="0" lvl="0" marL="0" marR="0" rtl="0" algn="ctr">
              <a:lnSpc>
                <a:spcPct val="110000"/>
              </a:lnSpc>
              <a:spcBef>
                <a:spcPts val="0"/>
              </a:spcBef>
              <a:spcAft>
                <a:spcPts val="0"/>
              </a:spcAft>
              <a:buNone/>
            </a:pPr>
            <a:r>
              <a:rPr b="1" i="0" lang="es-CO" sz="950" u="none" cap="none" strike="noStrike">
                <a:solidFill>
                  <a:srgbClr val="FFFFFF"/>
                </a:solidFill>
                <a:latin typeface="Arial"/>
                <a:ea typeface="Arial"/>
                <a:cs typeface="Arial"/>
                <a:sym typeface="Arial"/>
              </a:rPr>
              <a:t>Inspección</a:t>
            </a:r>
            <a:endParaRPr/>
          </a:p>
        </p:txBody>
      </p:sp>
      <p:sp>
        <p:nvSpPr>
          <p:cNvPr id="383" name="Google Shape;383;p23"/>
          <p:cNvSpPr/>
          <p:nvPr/>
        </p:nvSpPr>
        <p:spPr>
          <a:xfrm>
            <a:off x="4370831" y="5860923"/>
            <a:ext cx="1609344" cy="384048"/>
          </a:xfrm>
          <a:prstGeom prst="roundRect">
            <a:avLst>
              <a:gd fmla="val 40000" name="adj"/>
            </a:avLst>
          </a:prstGeom>
          <a:solidFill>
            <a:srgbClr val="02479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84" name="Google Shape;384;p23"/>
          <p:cNvSpPr txBox="1"/>
          <p:nvPr/>
        </p:nvSpPr>
        <p:spPr>
          <a:xfrm>
            <a:off x="4370831" y="5860923"/>
            <a:ext cx="1609344" cy="384048"/>
          </a:xfrm>
          <a:prstGeom prst="rect">
            <a:avLst/>
          </a:prstGeom>
          <a:noFill/>
          <a:ln>
            <a:noFill/>
          </a:ln>
        </p:spPr>
        <p:txBody>
          <a:bodyPr anchorCtr="0" anchor="ctr" bIns="0" lIns="0" spcFirstLastPara="1" rIns="0" wrap="square" tIns="0">
            <a:spAutoFit/>
          </a:bodyPr>
          <a:lstStyle/>
          <a:p>
            <a:pPr indent="0" lvl="0" marL="0" marR="0" rtl="0" algn="ctr">
              <a:lnSpc>
                <a:spcPct val="110000"/>
              </a:lnSpc>
              <a:spcBef>
                <a:spcPts val="0"/>
              </a:spcBef>
              <a:spcAft>
                <a:spcPts val="0"/>
              </a:spcAft>
              <a:buNone/>
            </a:pPr>
            <a:r>
              <a:rPr b="1" i="0" lang="es-CO" sz="950" u="none" cap="none" strike="noStrike">
                <a:solidFill>
                  <a:srgbClr val="FFFFFF"/>
                </a:solidFill>
                <a:latin typeface="Arial"/>
                <a:ea typeface="Arial"/>
                <a:cs typeface="Arial"/>
                <a:sym typeface="Arial"/>
              </a:rPr>
              <a:t>Adaptación</a:t>
            </a:r>
            <a:endParaRPr/>
          </a:p>
        </p:txBody>
      </p:sp>
      <p:sp>
        <p:nvSpPr>
          <p:cNvPr id="385" name="Google Shape;385;p23"/>
          <p:cNvSpPr txBox="1"/>
          <p:nvPr/>
        </p:nvSpPr>
        <p:spPr>
          <a:xfrm>
            <a:off x="877824" y="6318123"/>
            <a:ext cx="5102352" cy="36195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s-CO" sz="950" u="none" cap="none" strike="noStrike">
                <a:solidFill>
                  <a:srgbClr val="353646"/>
                </a:solidFill>
                <a:latin typeface="Arial"/>
                <a:ea typeface="Arial"/>
                <a:cs typeface="Arial"/>
                <a:sym typeface="Arial"/>
              </a:rPr>
              <a:t>El equipo cuenta con la madurez para ver lo que verdaderamente ocurre, examinarlo con rigor y ajustar sus decisiones oportunamente.</a:t>
            </a:r>
            <a:endParaRPr/>
          </a:p>
        </p:txBody>
      </p:sp>
      <p:sp>
        <p:nvSpPr>
          <p:cNvPr id="386" name="Google Shape;386;p23"/>
          <p:cNvSpPr txBox="1"/>
          <p:nvPr/>
        </p:nvSpPr>
        <p:spPr>
          <a:xfrm>
            <a:off x="877824" y="6771513"/>
            <a:ext cx="5102352" cy="201168"/>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1" lang="es-CO" sz="900" u="none" cap="none" strike="noStrike">
                <a:solidFill>
                  <a:srgbClr val="5F5966"/>
                </a:solidFill>
                <a:latin typeface="Arial"/>
                <a:ea typeface="Arial"/>
                <a:cs typeface="Arial"/>
                <a:sym typeface="Arial"/>
              </a:rPr>
              <a:t>Nota. Elaboración basada en Schwaber y Sutherland (2020).</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0" name="Shape 390"/>
        <p:cNvGrpSpPr/>
        <p:nvPr/>
      </p:nvGrpSpPr>
      <p:grpSpPr>
        <a:xfrm>
          <a:off x="0" y="0"/>
          <a:ext cx="0" cy="0"/>
          <a:chOff x="0" y="0"/>
          <a:chExt cx="0" cy="0"/>
        </a:xfrm>
      </p:grpSpPr>
      <p:sp>
        <p:nvSpPr>
          <p:cNvPr id="391" name="Google Shape;391;p24"/>
          <p:cNvSpPr/>
          <p:nvPr/>
        </p:nvSpPr>
        <p:spPr>
          <a:xfrm>
            <a:off x="876300" y="1104900"/>
            <a:ext cx="4953000" cy="22860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900"/>
              <a:buFont typeface="Arial"/>
              <a:buNone/>
            </a:pPr>
            <a:r>
              <a:rPr b="1" i="0" lang="es-CO" sz="900" u="none" cap="none" strike="noStrike">
                <a:solidFill>
                  <a:srgbClr val="B31686"/>
                </a:solidFill>
                <a:latin typeface="Arial"/>
                <a:ea typeface="Arial"/>
                <a:cs typeface="Arial"/>
                <a:sym typeface="Arial"/>
              </a:rPr>
              <a:t>Síntesis</a:t>
            </a:r>
            <a:endParaRPr b="1" i="0" sz="900" u="none" cap="none" strike="noStrike">
              <a:solidFill>
                <a:srgbClr val="B31686"/>
              </a:solidFill>
              <a:latin typeface="Arial"/>
              <a:ea typeface="Arial"/>
              <a:cs typeface="Arial"/>
              <a:sym typeface="Arial"/>
            </a:endParaRPr>
          </a:p>
        </p:txBody>
      </p:sp>
      <p:sp>
        <p:nvSpPr>
          <p:cNvPr id="392" name="Google Shape;392;p24"/>
          <p:cNvSpPr/>
          <p:nvPr/>
        </p:nvSpPr>
        <p:spPr>
          <a:xfrm>
            <a:off x="876300" y="1409700"/>
            <a:ext cx="5105400" cy="429768"/>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2325"/>
              <a:buFont typeface="Arial"/>
              <a:buNone/>
            </a:pPr>
            <a:r>
              <a:rPr b="1" i="0" lang="es-CO" sz="2325" u="none" cap="none" strike="noStrike">
                <a:solidFill>
                  <a:srgbClr val="3D2159"/>
                </a:solidFill>
                <a:latin typeface="Arial"/>
                <a:ea typeface="Arial"/>
                <a:cs typeface="Arial"/>
                <a:sym typeface="Arial"/>
              </a:rPr>
              <a:t>Para integrar lo aprendido</a:t>
            </a:r>
            <a:endParaRPr b="0" i="0" sz="1400" u="none" cap="none" strike="noStrike">
              <a:solidFill>
                <a:srgbClr val="000000"/>
              </a:solidFill>
              <a:latin typeface="Arial"/>
              <a:ea typeface="Arial"/>
              <a:cs typeface="Arial"/>
              <a:sym typeface="Arial"/>
            </a:endParaRPr>
          </a:p>
        </p:txBody>
      </p:sp>
      <p:pic>
        <p:nvPicPr>
          <p:cNvPr id="393" name="Google Shape;393;p24"/>
          <p:cNvPicPr preferRelativeResize="0"/>
          <p:nvPr/>
        </p:nvPicPr>
        <p:blipFill rotWithShape="1">
          <a:blip r:embed="rId3">
            <a:alphaModFix/>
          </a:blip>
          <a:srcRect b="0" l="0" r="0" t="0"/>
          <a:stretch/>
        </p:blipFill>
        <p:spPr>
          <a:xfrm>
            <a:off x="869156" y="1956816"/>
            <a:ext cx="1100138" cy="88783"/>
          </a:xfrm>
          <a:prstGeom prst="rect">
            <a:avLst/>
          </a:prstGeom>
          <a:noFill/>
          <a:ln>
            <a:noFill/>
          </a:ln>
        </p:spPr>
      </p:pic>
      <p:sp>
        <p:nvSpPr>
          <p:cNvPr id="394" name="Google Shape;394;p24"/>
          <p:cNvSpPr txBox="1"/>
          <p:nvPr/>
        </p:nvSpPr>
        <p:spPr>
          <a:xfrm>
            <a:off x="877824" y="2368296"/>
            <a:ext cx="5102352" cy="16764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s-CO" sz="1100" u="none" cap="none" strike="noStrike">
                <a:solidFill>
                  <a:srgbClr val="353646"/>
                </a:solidFill>
                <a:latin typeface="Arial"/>
                <a:ea typeface="Arial"/>
                <a:cs typeface="Arial"/>
                <a:sym typeface="Arial"/>
              </a:rPr>
              <a:t>Comprender Scrum implica superar la idea de que se trata únicamente de trabajar más rápido, realizar reuniones frecuentes o dividir un proyecto en ciclos. Su funcionamiento se construye sobre una lógica en la que la experiencia genera información, esta información permite inspeccionar y el aprendizaje conduce a la adaptación. Esta dinámica hace posible gestionar el trabajo sin esperar hasta el final del proyecto para descubrir si las decisiones tomadas fueron pertinentes (Sutherland, 2016).</a:t>
            </a:r>
            <a:endParaRPr/>
          </a:p>
        </p:txBody>
      </p:sp>
      <p:sp>
        <p:nvSpPr>
          <p:cNvPr id="395" name="Google Shape;395;p24"/>
          <p:cNvSpPr/>
          <p:nvPr/>
        </p:nvSpPr>
        <p:spPr>
          <a:xfrm>
            <a:off x="877824" y="4227576"/>
            <a:ext cx="5102352" cy="1409700"/>
          </a:xfrm>
          <a:prstGeom prst="roundRect">
            <a:avLst>
              <a:gd fmla="val 10000" name="adj"/>
            </a:avLst>
          </a:prstGeom>
          <a:solidFill>
            <a:srgbClr val="E9FBFB"/>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96" name="Google Shape;396;p24"/>
          <p:cNvSpPr txBox="1"/>
          <p:nvPr/>
        </p:nvSpPr>
        <p:spPr>
          <a:xfrm>
            <a:off x="1106424" y="4410456"/>
            <a:ext cx="4645152" cy="1828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CO" sz="900" u="none" cap="none" strike="noStrike">
                <a:solidFill>
                  <a:srgbClr val="024791"/>
                </a:solidFill>
                <a:latin typeface="Arial"/>
                <a:ea typeface="Arial"/>
                <a:cs typeface="Arial"/>
                <a:sym typeface="Arial"/>
              </a:rPr>
              <a:t>El criterio de fondo · Los valores no son decorativos</a:t>
            </a:r>
            <a:endParaRPr/>
          </a:p>
        </p:txBody>
      </p:sp>
      <p:sp>
        <p:nvSpPr>
          <p:cNvPr id="397" name="Google Shape;397;p24"/>
          <p:cNvSpPr txBox="1"/>
          <p:nvPr/>
        </p:nvSpPr>
        <p:spPr>
          <a:xfrm>
            <a:off x="1106424" y="4639056"/>
            <a:ext cx="4645152" cy="9525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1" i="0" lang="es-CO" sz="1000" u="none" cap="none" strike="noStrike">
                <a:solidFill>
                  <a:srgbClr val="3D2159"/>
                </a:solidFill>
                <a:latin typeface="Arial"/>
                <a:ea typeface="Arial"/>
                <a:cs typeface="Arial"/>
                <a:sym typeface="Arial"/>
              </a:rPr>
              <a:t>Los valores, por tanto, no constituyen un elemento decorativo del marco. Sin condiciones que favorezcan la confianza, la responsabilidad y la comunicación, resulta mucho más difícil hacer visible lo que realmente ocurre y adaptar el trabajo a partir de la experiencia.</a:t>
            </a:r>
            <a:endParaRPr/>
          </a:p>
        </p:txBody>
      </p:sp>
      <p:sp>
        <p:nvSpPr>
          <p:cNvPr id="398" name="Google Shape;398;p24"/>
          <p:cNvSpPr txBox="1"/>
          <p:nvPr/>
        </p:nvSpPr>
        <p:spPr>
          <a:xfrm>
            <a:off x="877824" y="5865876"/>
            <a:ext cx="5102352" cy="600075"/>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1" lang="es-CO" sz="1050" u="none" cap="none" strike="noStrike">
                <a:solidFill>
                  <a:srgbClr val="3D2159"/>
                </a:solidFill>
                <a:latin typeface="Arial"/>
                <a:ea typeface="Arial"/>
                <a:cs typeface="Arial"/>
                <a:sym typeface="Arial"/>
              </a:rPr>
              <a:t>El empirismo no es un método técnico frío: es una disciplina humana que exige coraje para reconocer la verdad y honestidad para cambiar de rumbo.</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2" name="Shape 402"/>
        <p:cNvGrpSpPr/>
        <p:nvPr/>
      </p:nvGrpSpPr>
      <p:grpSpPr>
        <a:xfrm>
          <a:off x="0" y="0"/>
          <a:ext cx="0" cy="0"/>
          <a:chOff x="0" y="0"/>
          <a:chExt cx="0" cy="0"/>
        </a:xfrm>
      </p:grpSpPr>
      <p:sp>
        <p:nvSpPr>
          <p:cNvPr id="403" name="Google Shape;403;p25"/>
          <p:cNvSpPr/>
          <p:nvPr/>
        </p:nvSpPr>
        <p:spPr>
          <a:xfrm>
            <a:off x="876300" y="1104900"/>
            <a:ext cx="4953000" cy="22860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900"/>
              <a:buFont typeface="Arial"/>
              <a:buNone/>
            </a:pPr>
            <a:r>
              <a:rPr b="1" i="0" lang="es-CO" sz="900" u="none" cap="none" strike="noStrike">
                <a:solidFill>
                  <a:srgbClr val="B31686"/>
                </a:solidFill>
                <a:latin typeface="Arial"/>
                <a:ea typeface="Arial"/>
                <a:cs typeface="Arial"/>
                <a:sym typeface="Arial"/>
              </a:rPr>
              <a:t>Síntesis</a:t>
            </a:r>
            <a:endParaRPr b="1" i="0" sz="900" u="none" cap="none" strike="noStrike">
              <a:solidFill>
                <a:srgbClr val="B31686"/>
              </a:solidFill>
              <a:latin typeface="Arial"/>
              <a:ea typeface="Arial"/>
              <a:cs typeface="Arial"/>
              <a:sym typeface="Arial"/>
            </a:endParaRPr>
          </a:p>
        </p:txBody>
      </p:sp>
      <p:sp>
        <p:nvSpPr>
          <p:cNvPr id="404" name="Google Shape;404;p25"/>
          <p:cNvSpPr txBox="1"/>
          <p:nvPr/>
        </p:nvSpPr>
        <p:spPr>
          <a:xfrm>
            <a:off x="877824" y="1481328"/>
            <a:ext cx="5102352" cy="201168"/>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CO" sz="900" u="none" cap="none" strike="noStrike">
                <a:solidFill>
                  <a:srgbClr val="B31686"/>
                </a:solidFill>
                <a:latin typeface="Arial"/>
                <a:ea typeface="Arial"/>
                <a:cs typeface="Arial"/>
                <a:sym typeface="Arial"/>
              </a:rPr>
              <a:t>INTEGRACIÓN CONCEPTUAL DE SCRUM</a:t>
            </a:r>
            <a:endParaRPr/>
          </a:p>
        </p:txBody>
      </p:sp>
      <p:sp>
        <p:nvSpPr>
          <p:cNvPr id="405" name="Google Shape;405;p25"/>
          <p:cNvSpPr txBox="1"/>
          <p:nvPr/>
        </p:nvSpPr>
        <p:spPr>
          <a:xfrm>
            <a:off x="877824" y="1755648"/>
            <a:ext cx="5102352" cy="276225"/>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CO" sz="1450" u="none" cap="none" strike="noStrike">
                <a:solidFill>
                  <a:srgbClr val="3D2159"/>
                </a:solidFill>
                <a:latin typeface="Arial"/>
                <a:ea typeface="Arial"/>
                <a:cs typeface="Arial"/>
                <a:sym typeface="Arial"/>
              </a:rPr>
              <a:t>La arquitectura sistémica de Scrum</a:t>
            </a:r>
            <a:endParaRPr/>
          </a:p>
        </p:txBody>
      </p:sp>
      <p:sp>
        <p:nvSpPr>
          <p:cNvPr id="406" name="Google Shape;406;p25"/>
          <p:cNvSpPr txBox="1"/>
          <p:nvPr/>
        </p:nvSpPr>
        <p:spPr>
          <a:xfrm>
            <a:off x="877824" y="2077593"/>
            <a:ext cx="5102352" cy="200025"/>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1" lang="es-CO" sz="1050" u="none" cap="none" strike="noStrike">
                <a:solidFill>
                  <a:srgbClr val="5F5966"/>
                </a:solidFill>
                <a:latin typeface="Arial"/>
                <a:ea typeface="Arial"/>
                <a:cs typeface="Arial"/>
                <a:sym typeface="Arial"/>
              </a:rPr>
              <a:t>De las bases filosóficas a la generación de valor.</a:t>
            </a:r>
            <a:endParaRPr/>
          </a:p>
        </p:txBody>
      </p:sp>
      <p:sp>
        <p:nvSpPr>
          <p:cNvPr id="407" name="Google Shape;407;p25"/>
          <p:cNvSpPr txBox="1"/>
          <p:nvPr/>
        </p:nvSpPr>
        <p:spPr>
          <a:xfrm>
            <a:off x="877824" y="2478786"/>
            <a:ext cx="5102352" cy="201168"/>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CO" sz="900" u="none" cap="none" strike="noStrike">
                <a:solidFill>
                  <a:srgbClr val="664092"/>
                </a:solidFill>
                <a:latin typeface="Arial"/>
                <a:ea typeface="Arial"/>
                <a:cs typeface="Arial"/>
                <a:sym typeface="Arial"/>
              </a:rPr>
              <a:t>Nivel 1 · El cimiento teórico</a:t>
            </a:r>
            <a:endParaRPr/>
          </a:p>
        </p:txBody>
      </p:sp>
      <p:sp>
        <p:nvSpPr>
          <p:cNvPr id="408" name="Google Shape;408;p25"/>
          <p:cNvSpPr/>
          <p:nvPr/>
        </p:nvSpPr>
        <p:spPr>
          <a:xfrm>
            <a:off x="877824" y="2734818"/>
            <a:ext cx="2514600" cy="713232"/>
          </a:xfrm>
          <a:prstGeom prst="roundRect">
            <a:avLst>
              <a:gd fmla="val 10000" name="adj"/>
            </a:avLst>
          </a:prstGeom>
          <a:solidFill>
            <a:srgbClr val="F1EBF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09" name="Google Shape;409;p25"/>
          <p:cNvSpPr txBox="1"/>
          <p:nvPr/>
        </p:nvSpPr>
        <p:spPr>
          <a:xfrm>
            <a:off x="950976" y="2807970"/>
            <a:ext cx="2368296" cy="228600"/>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None/>
            </a:pPr>
            <a:r>
              <a:rPr b="1" i="0" lang="es-CO" sz="950" u="none" cap="none" strike="noStrike">
                <a:solidFill>
                  <a:srgbClr val="664092"/>
                </a:solidFill>
                <a:latin typeface="Arial"/>
                <a:ea typeface="Arial"/>
                <a:cs typeface="Arial"/>
                <a:sym typeface="Arial"/>
              </a:rPr>
              <a:t>Empirismo</a:t>
            </a:r>
            <a:endParaRPr/>
          </a:p>
        </p:txBody>
      </p:sp>
      <p:sp>
        <p:nvSpPr>
          <p:cNvPr id="410" name="Google Shape;410;p25"/>
          <p:cNvSpPr txBox="1"/>
          <p:nvPr/>
        </p:nvSpPr>
        <p:spPr>
          <a:xfrm>
            <a:off x="950976" y="3064002"/>
            <a:ext cx="2368296" cy="347472"/>
          </a:xfrm>
          <a:prstGeom prst="rect">
            <a:avLst/>
          </a:prstGeom>
          <a:noFill/>
          <a:ln>
            <a:noFill/>
          </a:ln>
        </p:spPr>
        <p:txBody>
          <a:bodyPr anchorCtr="0" anchor="t" bIns="0" lIns="0" spcFirstLastPara="1" rIns="0" wrap="square" tIns="0">
            <a:spAutoFit/>
          </a:bodyPr>
          <a:lstStyle/>
          <a:p>
            <a:pPr indent="0" lvl="0" marL="0" marR="0" rtl="0" algn="ctr">
              <a:lnSpc>
                <a:spcPct val="105000"/>
              </a:lnSpc>
              <a:spcBef>
                <a:spcPts val="0"/>
              </a:spcBef>
              <a:spcAft>
                <a:spcPts val="0"/>
              </a:spcAft>
              <a:buNone/>
            </a:pPr>
            <a:r>
              <a:rPr b="0" i="0" lang="es-CO" sz="850" u="none" cap="none" strike="noStrike">
                <a:solidFill>
                  <a:srgbClr val="353646"/>
                </a:solidFill>
                <a:latin typeface="Arial"/>
                <a:ea typeface="Arial"/>
                <a:cs typeface="Arial"/>
                <a:sym typeface="Arial"/>
              </a:rPr>
              <a:t>Aprender de la experiencia y la evidencia.</a:t>
            </a:r>
            <a:endParaRPr/>
          </a:p>
        </p:txBody>
      </p:sp>
      <p:sp>
        <p:nvSpPr>
          <p:cNvPr id="411" name="Google Shape;411;p25"/>
          <p:cNvSpPr/>
          <p:nvPr/>
        </p:nvSpPr>
        <p:spPr>
          <a:xfrm>
            <a:off x="3465576" y="2734818"/>
            <a:ext cx="2514600" cy="713232"/>
          </a:xfrm>
          <a:prstGeom prst="roundRect">
            <a:avLst>
              <a:gd fmla="val 10000" name="adj"/>
            </a:avLst>
          </a:prstGeom>
          <a:solidFill>
            <a:srgbClr val="F1EBF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12" name="Google Shape;412;p25"/>
          <p:cNvSpPr txBox="1"/>
          <p:nvPr/>
        </p:nvSpPr>
        <p:spPr>
          <a:xfrm>
            <a:off x="3538728" y="2807970"/>
            <a:ext cx="2368296" cy="228600"/>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None/>
            </a:pPr>
            <a:r>
              <a:rPr b="1" i="0" lang="es-CO" sz="950" u="none" cap="none" strike="noStrike">
                <a:solidFill>
                  <a:srgbClr val="664092"/>
                </a:solidFill>
                <a:latin typeface="Arial"/>
                <a:ea typeface="Arial"/>
                <a:cs typeface="Arial"/>
                <a:sym typeface="Arial"/>
              </a:rPr>
              <a:t>Pensamiento Lean</a:t>
            </a:r>
            <a:endParaRPr/>
          </a:p>
        </p:txBody>
      </p:sp>
      <p:sp>
        <p:nvSpPr>
          <p:cNvPr id="413" name="Google Shape;413;p25"/>
          <p:cNvSpPr txBox="1"/>
          <p:nvPr/>
        </p:nvSpPr>
        <p:spPr>
          <a:xfrm>
            <a:off x="3538728" y="3064002"/>
            <a:ext cx="2368296" cy="347472"/>
          </a:xfrm>
          <a:prstGeom prst="rect">
            <a:avLst/>
          </a:prstGeom>
          <a:noFill/>
          <a:ln>
            <a:noFill/>
          </a:ln>
        </p:spPr>
        <p:txBody>
          <a:bodyPr anchorCtr="0" anchor="t" bIns="0" lIns="0" spcFirstLastPara="1" rIns="0" wrap="square" tIns="0">
            <a:spAutoFit/>
          </a:bodyPr>
          <a:lstStyle/>
          <a:p>
            <a:pPr indent="0" lvl="0" marL="0" marR="0" rtl="0" algn="ctr">
              <a:lnSpc>
                <a:spcPct val="105000"/>
              </a:lnSpc>
              <a:spcBef>
                <a:spcPts val="0"/>
              </a:spcBef>
              <a:spcAft>
                <a:spcPts val="0"/>
              </a:spcAft>
              <a:buNone/>
            </a:pPr>
            <a:r>
              <a:rPr b="0" i="0" lang="es-CO" sz="850" u="none" cap="none" strike="noStrike">
                <a:solidFill>
                  <a:srgbClr val="353646"/>
                </a:solidFill>
                <a:latin typeface="Arial"/>
                <a:ea typeface="Arial"/>
                <a:cs typeface="Arial"/>
                <a:sym typeface="Arial"/>
              </a:rPr>
              <a:t>Eliminar lo que no aporta valor y enfocarse en lo esencial.</a:t>
            </a:r>
            <a:endParaRPr/>
          </a:p>
        </p:txBody>
      </p:sp>
      <p:sp>
        <p:nvSpPr>
          <p:cNvPr id="414" name="Google Shape;414;p25"/>
          <p:cNvSpPr txBox="1"/>
          <p:nvPr/>
        </p:nvSpPr>
        <p:spPr>
          <a:xfrm>
            <a:off x="877824" y="3466338"/>
            <a:ext cx="5102352" cy="201168"/>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None/>
            </a:pPr>
            <a:r>
              <a:rPr b="0" i="1" lang="es-CO" sz="900" u="none" cap="none" strike="noStrike">
                <a:solidFill>
                  <a:srgbClr val="5F5966"/>
                </a:solidFill>
                <a:latin typeface="Arial"/>
                <a:ea typeface="Arial"/>
                <a:cs typeface="Arial"/>
                <a:sym typeface="Arial"/>
              </a:rPr>
              <a:t>Fundamentan ↓</a:t>
            </a:r>
            <a:endParaRPr/>
          </a:p>
        </p:txBody>
      </p:sp>
      <p:sp>
        <p:nvSpPr>
          <p:cNvPr id="415" name="Google Shape;415;p25"/>
          <p:cNvSpPr txBox="1"/>
          <p:nvPr/>
        </p:nvSpPr>
        <p:spPr>
          <a:xfrm>
            <a:off x="877824" y="3740658"/>
            <a:ext cx="5102352" cy="201168"/>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CO" sz="900" u="none" cap="none" strike="noStrike">
                <a:solidFill>
                  <a:srgbClr val="2A56C6"/>
                </a:solidFill>
                <a:latin typeface="Arial"/>
                <a:ea typeface="Arial"/>
                <a:cs typeface="Arial"/>
                <a:sym typeface="Arial"/>
              </a:rPr>
              <a:t>Nivel 2 · Los pilares operativos</a:t>
            </a:r>
            <a:endParaRPr/>
          </a:p>
        </p:txBody>
      </p:sp>
      <p:sp>
        <p:nvSpPr>
          <p:cNvPr id="416" name="Google Shape;416;p25"/>
          <p:cNvSpPr/>
          <p:nvPr/>
        </p:nvSpPr>
        <p:spPr>
          <a:xfrm>
            <a:off x="877824" y="3996690"/>
            <a:ext cx="1652016" cy="713232"/>
          </a:xfrm>
          <a:prstGeom prst="roundRect">
            <a:avLst>
              <a:gd fmla="val 10000" name="adj"/>
            </a:avLst>
          </a:prstGeom>
          <a:solidFill>
            <a:srgbClr val="E8F1FB"/>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17" name="Google Shape;417;p25"/>
          <p:cNvSpPr txBox="1"/>
          <p:nvPr/>
        </p:nvSpPr>
        <p:spPr>
          <a:xfrm>
            <a:off x="950976" y="4069842"/>
            <a:ext cx="1505712" cy="228600"/>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None/>
            </a:pPr>
            <a:r>
              <a:rPr b="1" i="0" lang="es-CO" sz="950" u="none" cap="none" strike="noStrike">
                <a:solidFill>
                  <a:srgbClr val="2A56C6"/>
                </a:solidFill>
                <a:latin typeface="Arial"/>
                <a:ea typeface="Arial"/>
                <a:cs typeface="Arial"/>
                <a:sym typeface="Arial"/>
              </a:rPr>
              <a:t>Transparencia</a:t>
            </a:r>
            <a:endParaRPr/>
          </a:p>
        </p:txBody>
      </p:sp>
      <p:sp>
        <p:nvSpPr>
          <p:cNvPr id="418" name="Google Shape;418;p25"/>
          <p:cNvSpPr txBox="1"/>
          <p:nvPr/>
        </p:nvSpPr>
        <p:spPr>
          <a:xfrm>
            <a:off x="950976" y="4325874"/>
            <a:ext cx="1505712" cy="347472"/>
          </a:xfrm>
          <a:prstGeom prst="rect">
            <a:avLst/>
          </a:prstGeom>
          <a:noFill/>
          <a:ln>
            <a:noFill/>
          </a:ln>
        </p:spPr>
        <p:txBody>
          <a:bodyPr anchorCtr="0" anchor="t" bIns="0" lIns="0" spcFirstLastPara="1" rIns="0" wrap="square" tIns="0">
            <a:spAutoFit/>
          </a:bodyPr>
          <a:lstStyle/>
          <a:p>
            <a:pPr indent="0" lvl="0" marL="0" marR="0" rtl="0" algn="ctr">
              <a:lnSpc>
                <a:spcPct val="105000"/>
              </a:lnSpc>
              <a:spcBef>
                <a:spcPts val="0"/>
              </a:spcBef>
              <a:spcAft>
                <a:spcPts val="0"/>
              </a:spcAft>
              <a:buNone/>
            </a:pPr>
            <a:r>
              <a:rPr b="0" i="0" lang="es-CO" sz="850" u="none" cap="none" strike="noStrike">
                <a:solidFill>
                  <a:srgbClr val="353646"/>
                </a:solidFill>
                <a:latin typeface="Arial"/>
                <a:ea typeface="Arial"/>
                <a:cs typeface="Arial"/>
                <a:sym typeface="Arial"/>
              </a:rPr>
              <a:t>Visibilidad honesta del trabajo.</a:t>
            </a:r>
            <a:endParaRPr/>
          </a:p>
        </p:txBody>
      </p:sp>
      <p:sp>
        <p:nvSpPr>
          <p:cNvPr id="419" name="Google Shape;419;p25"/>
          <p:cNvSpPr/>
          <p:nvPr/>
        </p:nvSpPr>
        <p:spPr>
          <a:xfrm>
            <a:off x="2602992" y="3996690"/>
            <a:ext cx="1652016" cy="713232"/>
          </a:xfrm>
          <a:prstGeom prst="roundRect">
            <a:avLst>
              <a:gd fmla="val 10000" name="adj"/>
            </a:avLst>
          </a:prstGeom>
          <a:solidFill>
            <a:srgbClr val="E8F1FB"/>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20" name="Google Shape;420;p25"/>
          <p:cNvSpPr txBox="1"/>
          <p:nvPr/>
        </p:nvSpPr>
        <p:spPr>
          <a:xfrm>
            <a:off x="2676144" y="4069842"/>
            <a:ext cx="1505712" cy="228600"/>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None/>
            </a:pPr>
            <a:r>
              <a:rPr b="1" i="0" lang="es-CO" sz="950" u="none" cap="none" strike="noStrike">
                <a:solidFill>
                  <a:srgbClr val="2A56C6"/>
                </a:solidFill>
                <a:latin typeface="Arial"/>
                <a:ea typeface="Arial"/>
                <a:cs typeface="Arial"/>
                <a:sym typeface="Arial"/>
              </a:rPr>
              <a:t>Inspección</a:t>
            </a:r>
            <a:endParaRPr/>
          </a:p>
        </p:txBody>
      </p:sp>
      <p:sp>
        <p:nvSpPr>
          <p:cNvPr id="421" name="Google Shape;421;p25"/>
          <p:cNvSpPr txBox="1"/>
          <p:nvPr/>
        </p:nvSpPr>
        <p:spPr>
          <a:xfrm>
            <a:off x="2676144" y="4325874"/>
            <a:ext cx="1505712" cy="347472"/>
          </a:xfrm>
          <a:prstGeom prst="rect">
            <a:avLst/>
          </a:prstGeom>
          <a:noFill/>
          <a:ln>
            <a:noFill/>
          </a:ln>
        </p:spPr>
        <p:txBody>
          <a:bodyPr anchorCtr="0" anchor="t" bIns="0" lIns="0" spcFirstLastPara="1" rIns="0" wrap="square" tIns="0">
            <a:spAutoFit/>
          </a:bodyPr>
          <a:lstStyle/>
          <a:p>
            <a:pPr indent="0" lvl="0" marL="0" marR="0" rtl="0" algn="ctr">
              <a:lnSpc>
                <a:spcPct val="105000"/>
              </a:lnSpc>
              <a:spcBef>
                <a:spcPts val="0"/>
              </a:spcBef>
              <a:spcAft>
                <a:spcPts val="0"/>
              </a:spcAft>
              <a:buNone/>
            </a:pPr>
            <a:r>
              <a:rPr b="0" i="0" lang="es-CO" sz="850" u="none" cap="none" strike="noStrike">
                <a:solidFill>
                  <a:srgbClr val="353646"/>
                </a:solidFill>
                <a:latin typeface="Arial"/>
                <a:ea typeface="Arial"/>
                <a:cs typeface="Arial"/>
                <a:sym typeface="Arial"/>
              </a:rPr>
              <a:t>Revisión periódica del progreso y resultados.</a:t>
            </a:r>
            <a:endParaRPr/>
          </a:p>
        </p:txBody>
      </p:sp>
      <p:sp>
        <p:nvSpPr>
          <p:cNvPr id="422" name="Google Shape;422;p25"/>
          <p:cNvSpPr/>
          <p:nvPr/>
        </p:nvSpPr>
        <p:spPr>
          <a:xfrm>
            <a:off x="4328160" y="3996690"/>
            <a:ext cx="1652016" cy="713232"/>
          </a:xfrm>
          <a:prstGeom prst="roundRect">
            <a:avLst>
              <a:gd fmla="val 10000" name="adj"/>
            </a:avLst>
          </a:prstGeom>
          <a:solidFill>
            <a:srgbClr val="E8F1FB"/>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23" name="Google Shape;423;p25"/>
          <p:cNvSpPr txBox="1"/>
          <p:nvPr/>
        </p:nvSpPr>
        <p:spPr>
          <a:xfrm>
            <a:off x="4401312" y="4069842"/>
            <a:ext cx="1505712" cy="228600"/>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None/>
            </a:pPr>
            <a:r>
              <a:rPr b="1" i="0" lang="es-CO" sz="950" u="none" cap="none" strike="noStrike">
                <a:solidFill>
                  <a:srgbClr val="2A56C6"/>
                </a:solidFill>
                <a:latin typeface="Arial"/>
                <a:ea typeface="Arial"/>
                <a:cs typeface="Arial"/>
                <a:sym typeface="Arial"/>
              </a:rPr>
              <a:t>Adaptación</a:t>
            </a:r>
            <a:endParaRPr/>
          </a:p>
        </p:txBody>
      </p:sp>
      <p:sp>
        <p:nvSpPr>
          <p:cNvPr id="424" name="Google Shape;424;p25"/>
          <p:cNvSpPr txBox="1"/>
          <p:nvPr/>
        </p:nvSpPr>
        <p:spPr>
          <a:xfrm>
            <a:off x="4401312" y="4325874"/>
            <a:ext cx="1505712" cy="347472"/>
          </a:xfrm>
          <a:prstGeom prst="rect">
            <a:avLst/>
          </a:prstGeom>
          <a:noFill/>
          <a:ln>
            <a:noFill/>
          </a:ln>
        </p:spPr>
        <p:txBody>
          <a:bodyPr anchorCtr="0" anchor="t" bIns="0" lIns="0" spcFirstLastPara="1" rIns="0" wrap="square" tIns="0">
            <a:spAutoFit/>
          </a:bodyPr>
          <a:lstStyle/>
          <a:p>
            <a:pPr indent="0" lvl="0" marL="0" marR="0" rtl="0" algn="ctr">
              <a:lnSpc>
                <a:spcPct val="105000"/>
              </a:lnSpc>
              <a:spcBef>
                <a:spcPts val="0"/>
              </a:spcBef>
              <a:spcAft>
                <a:spcPts val="0"/>
              </a:spcAft>
              <a:buNone/>
            </a:pPr>
            <a:r>
              <a:rPr b="0" i="0" lang="es-CO" sz="850" u="none" cap="none" strike="noStrike">
                <a:solidFill>
                  <a:srgbClr val="353646"/>
                </a:solidFill>
                <a:latin typeface="Arial"/>
                <a:ea typeface="Arial"/>
                <a:cs typeface="Arial"/>
                <a:sym typeface="Arial"/>
              </a:rPr>
              <a:t>Modificación oportuna de lo que se aprende.</a:t>
            </a:r>
            <a:endParaRPr/>
          </a:p>
        </p:txBody>
      </p:sp>
      <p:sp>
        <p:nvSpPr>
          <p:cNvPr id="425" name="Google Shape;425;p25"/>
          <p:cNvSpPr txBox="1"/>
          <p:nvPr/>
        </p:nvSpPr>
        <p:spPr>
          <a:xfrm>
            <a:off x="877824" y="4728210"/>
            <a:ext cx="5102352" cy="201168"/>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None/>
            </a:pPr>
            <a:r>
              <a:rPr b="0" i="1" lang="es-CO" sz="900" u="none" cap="none" strike="noStrike">
                <a:solidFill>
                  <a:srgbClr val="5F5966"/>
                </a:solidFill>
                <a:latin typeface="Arial"/>
                <a:ea typeface="Arial"/>
                <a:cs typeface="Arial"/>
                <a:sym typeface="Arial"/>
              </a:rPr>
              <a:t>Se fortalecen mediante ↓</a:t>
            </a:r>
            <a:endParaRPr/>
          </a:p>
        </p:txBody>
      </p:sp>
      <p:sp>
        <p:nvSpPr>
          <p:cNvPr id="426" name="Google Shape;426;p25"/>
          <p:cNvSpPr txBox="1"/>
          <p:nvPr/>
        </p:nvSpPr>
        <p:spPr>
          <a:xfrm>
            <a:off x="877824" y="5002530"/>
            <a:ext cx="5102352" cy="201168"/>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CO" sz="900" u="none" cap="none" strike="noStrike">
                <a:solidFill>
                  <a:srgbClr val="B31686"/>
                </a:solidFill>
                <a:latin typeface="Arial"/>
                <a:ea typeface="Arial"/>
                <a:cs typeface="Arial"/>
                <a:sym typeface="Arial"/>
              </a:rPr>
              <a:t>Nivel 3 · La base humana y ética</a:t>
            </a:r>
            <a:endParaRPr/>
          </a:p>
        </p:txBody>
      </p:sp>
      <p:sp>
        <p:nvSpPr>
          <p:cNvPr id="427" name="Google Shape;427;p25"/>
          <p:cNvSpPr/>
          <p:nvPr/>
        </p:nvSpPr>
        <p:spPr>
          <a:xfrm>
            <a:off x="877824" y="5258562"/>
            <a:ext cx="961948" cy="868680"/>
          </a:xfrm>
          <a:prstGeom prst="roundRect">
            <a:avLst>
              <a:gd fmla="val 10000" name="adj"/>
            </a:avLst>
          </a:prstGeom>
          <a:solidFill>
            <a:srgbClr val="F6EBF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28" name="Google Shape;428;p25"/>
          <p:cNvSpPr txBox="1"/>
          <p:nvPr/>
        </p:nvSpPr>
        <p:spPr>
          <a:xfrm>
            <a:off x="950976" y="5331714"/>
            <a:ext cx="815644" cy="228600"/>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None/>
            </a:pPr>
            <a:r>
              <a:rPr b="1" i="0" lang="es-CO" sz="850" u="none" cap="none" strike="noStrike">
                <a:solidFill>
                  <a:srgbClr val="B31686"/>
                </a:solidFill>
                <a:latin typeface="Arial"/>
                <a:ea typeface="Arial"/>
                <a:cs typeface="Arial"/>
                <a:sym typeface="Arial"/>
              </a:rPr>
              <a:t>Compromiso</a:t>
            </a:r>
            <a:endParaRPr/>
          </a:p>
        </p:txBody>
      </p:sp>
      <p:sp>
        <p:nvSpPr>
          <p:cNvPr id="429" name="Google Shape;429;p25"/>
          <p:cNvSpPr txBox="1"/>
          <p:nvPr/>
        </p:nvSpPr>
        <p:spPr>
          <a:xfrm>
            <a:off x="950976" y="5587746"/>
            <a:ext cx="815644" cy="502919"/>
          </a:xfrm>
          <a:prstGeom prst="rect">
            <a:avLst/>
          </a:prstGeom>
          <a:noFill/>
          <a:ln>
            <a:noFill/>
          </a:ln>
        </p:spPr>
        <p:txBody>
          <a:bodyPr anchorCtr="0" anchor="t" bIns="0" lIns="0" spcFirstLastPara="1" rIns="0" wrap="square" tIns="0">
            <a:spAutoFit/>
          </a:bodyPr>
          <a:lstStyle/>
          <a:p>
            <a:pPr indent="0" lvl="0" marL="0" marR="0" rtl="0" algn="ctr">
              <a:lnSpc>
                <a:spcPct val="105000"/>
              </a:lnSpc>
              <a:spcBef>
                <a:spcPts val="0"/>
              </a:spcBef>
              <a:spcAft>
                <a:spcPts val="0"/>
              </a:spcAft>
              <a:buNone/>
            </a:pPr>
            <a:r>
              <a:rPr b="0" i="0" lang="es-CO" sz="800" u="none" cap="none" strike="noStrike">
                <a:solidFill>
                  <a:srgbClr val="353646"/>
                </a:solidFill>
                <a:latin typeface="Arial"/>
                <a:ea typeface="Arial"/>
                <a:cs typeface="Arial"/>
                <a:sym typeface="Arial"/>
              </a:rPr>
              <a:t>Con el objetivo común.</a:t>
            </a:r>
            <a:endParaRPr/>
          </a:p>
        </p:txBody>
      </p:sp>
      <p:sp>
        <p:nvSpPr>
          <p:cNvPr id="430" name="Google Shape;430;p25"/>
          <p:cNvSpPr/>
          <p:nvPr/>
        </p:nvSpPr>
        <p:spPr>
          <a:xfrm>
            <a:off x="1912924" y="5258562"/>
            <a:ext cx="961948" cy="868680"/>
          </a:xfrm>
          <a:prstGeom prst="roundRect">
            <a:avLst>
              <a:gd fmla="val 10000" name="adj"/>
            </a:avLst>
          </a:prstGeom>
          <a:solidFill>
            <a:srgbClr val="F6EBF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31" name="Google Shape;431;p25"/>
          <p:cNvSpPr txBox="1"/>
          <p:nvPr/>
        </p:nvSpPr>
        <p:spPr>
          <a:xfrm>
            <a:off x="1986076" y="5331714"/>
            <a:ext cx="815644" cy="228600"/>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None/>
            </a:pPr>
            <a:r>
              <a:rPr b="1" i="0" lang="es-CO" sz="850" u="none" cap="none" strike="noStrike">
                <a:solidFill>
                  <a:srgbClr val="B31686"/>
                </a:solidFill>
                <a:latin typeface="Arial"/>
                <a:ea typeface="Arial"/>
                <a:cs typeface="Arial"/>
                <a:sym typeface="Arial"/>
              </a:rPr>
              <a:t>Enfoque</a:t>
            </a:r>
            <a:endParaRPr/>
          </a:p>
        </p:txBody>
      </p:sp>
      <p:sp>
        <p:nvSpPr>
          <p:cNvPr id="432" name="Google Shape;432;p25"/>
          <p:cNvSpPr txBox="1"/>
          <p:nvPr/>
        </p:nvSpPr>
        <p:spPr>
          <a:xfrm>
            <a:off x="1986076" y="5587746"/>
            <a:ext cx="815644" cy="502919"/>
          </a:xfrm>
          <a:prstGeom prst="rect">
            <a:avLst/>
          </a:prstGeom>
          <a:noFill/>
          <a:ln>
            <a:noFill/>
          </a:ln>
        </p:spPr>
        <p:txBody>
          <a:bodyPr anchorCtr="0" anchor="t" bIns="0" lIns="0" spcFirstLastPara="1" rIns="0" wrap="square" tIns="0">
            <a:spAutoFit/>
          </a:bodyPr>
          <a:lstStyle/>
          <a:p>
            <a:pPr indent="0" lvl="0" marL="0" marR="0" rtl="0" algn="ctr">
              <a:lnSpc>
                <a:spcPct val="105000"/>
              </a:lnSpc>
              <a:spcBef>
                <a:spcPts val="0"/>
              </a:spcBef>
              <a:spcAft>
                <a:spcPts val="0"/>
              </a:spcAft>
              <a:buNone/>
            </a:pPr>
            <a:r>
              <a:rPr b="0" i="0" lang="es-CO" sz="800" u="none" cap="none" strike="noStrike">
                <a:solidFill>
                  <a:srgbClr val="353646"/>
                </a:solidFill>
                <a:latin typeface="Arial"/>
                <a:ea typeface="Arial"/>
                <a:cs typeface="Arial"/>
                <a:sym typeface="Arial"/>
              </a:rPr>
              <a:t>En lo que genera valor.</a:t>
            </a:r>
            <a:endParaRPr/>
          </a:p>
        </p:txBody>
      </p:sp>
      <p:sp>
        <p:nvSpPr>
          <p:cNvPr id="433" name="Google Shape;433;p25"/>
          <p:cNvSpPr/>
          <p:nvPr/>
        </p:nvSpPr>
        <p:spPr>
          <a:xfrm>
            <a:off x="2948025" y="5258562"/>
            <a:ext cx="961948" cy="868680"/>
          </a:xfrm>
          <a:prstGeom prst="roundRect">
            <a:avLst>
              <a:gd fmla="val 10000" name="adj"/>
            </a:avLst>
          </a:prstGeom>
          <a:solidFill>
            <a:srgbClr val="F6EBF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34" name="Google Shape;434;p25"/>
          <p:cNvSpPr txBox="1"/>
          <p:nvPr/>
        </p:nvSpPr>
        <p:spPr>
          <a:xfrm>
            <a:off x="3021177" y="5331714"/>
            <a:ext cx="815644" cy="228600"/>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None/>
            </a:pPr>
            <a:r>
              <a:rPr b="1" i="0" lang="es-CO" sz="850" u="none" cap="none" strike="noStrike">
                <a:solidFill>
                  <a:srgbClr val="B31686"/>
                </a:solidFill>
                <a:latin typeface="Arial"/>
                <a:ea typeface="Arial"/>
                <a:cs typeface="Arial"/>
                <a:sym typeface="Arial"/>
              </a:rPr>
              <a:t>Apertura</a:t>
            </a:r>
            <a:endParaRPr/>
          </a:p>
        </p:txBody>
      </p:sp>
      <p:sp>
        <p:nvSpPr>
          <p:cNvPr id="435" name="Google Shape;435;p25"/>
          <p:cNvSpPr txBox="1"/>
          <p:nvPr/>
        </p:nvSpPr>
        <p:spPr>
          <a:xfrm>
            <a:off x="3021177" y="5587746"/>
            <a:ext cx="815644" cy="502919"/>
          </a:xfrm>
          <a:prstGeom prst="rect">
            <a:avLst/>
          </a:prstGeom>
          <a:noFill/>
          <a:ln>
            <a:noFill/>
          </a:ln>
        </p:spPr>
        <p:txBody>
          <a:bodyPr anchorCtr="0" anchor="t" bIns="0" lIns="0" spcFirstLastPara="1" rIns="0" wrap="square" tIns="0">
            <a:spAutoFit/>
          </a:bodyPr>
          <a:lstStyle/>
          <a:p>
            <a:pPr indent="0" lvl="0" marL="0" marR="0" rtl="0" algn="ctr">
              <a:lnSpc>
                <a:spcPct val="105000"/>
              </a:lnSpc>
              <a:spcBef>
                <a:spcPts val="0"/>
              </a:spcBef>
              <a:spcAft>
                <a:spcPts val="0"/>
              </a:spcAft>
              <a:buNone/>
            </a:pPr>
            <a:r>
              <a:rPr b="0" i="0" lang="es-CO" sz="800" u="none" cap="none" strike="noStrike">
                <a:solidFill>
                  <a:srgbClr val="353646"/>
                </a:solidFill>
                <a:latin typeface="Arial"/>
                <a:ea typeface="Arial"/>
                <a:cs typeface="Arial"/>
                <a:sym typeface="Arial"/>
              </a:rPr>
              <a:t>A nuevas ideas y perspectivas.</a:t>
            </a:r>
            <a:endParaRPr/>
          </a:p>
        </p:txBody>
      </p:sp>
      <p:sp>
        <p:nvSpPr>
          <p:cNvPr id="436" name="Google Shape;436;p25"/>
          <p:cNvSpPr/>
          <p:nvPr/>
        </p:nvSpPr>
        <p:spPr>
          <a:xfrm>
            <a:off x="3983126" y="5258562"/>
            <a:ext cx="961948" cy="868680"/>
          </a:xfrm>
          <a:prstGeom prst="roundRect">
            <a:avLst>
              <a:gd fmla="val 10000" name="adj"/>
            </a:avLst>
          </a:prstGeom>
          <a:solidFill>
            <a:srgbClr val="F6EBF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37" name="Google Shape;437;p25"/>
          <p:cNvSpPr txBox="1"/>
          <p:nvPr/>
        </p:nvSpPr>
        <p:spPr>
          <a:xfrm>
            <a:off x="4056278" y="5331714"/>
            <a:ext cx="815644" cy="228600"/>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None/>
            </a:pPr>
            <a:r>
              <a:rPr b="1" i="0" lang="es-CO" sz="850" u="none" cap="none" strike="noStrike">
                <a:solidFill>
                  <a:srgbClr val="B31686"/>
                </a:solidFill>
                <a:latin typeface="Arial"/>
                <a:ea typeface="Arial"/>
                <a:cs typeface="Arial"/>
                <a:sym typeface="Arial"/>
              </a:rPr>
              <a:t>Respeto</a:t>
            </a:r>
            <a:endParaRPr/>
          </a:p>
        </p:txBody>
      </p:sp>
      <p:sp>
        <p:nvSpPr>
          <p:cNvPr id="438" name="Google Shape;438;p25"/>
          <p:cNvSpPr txBox="1"/>
          <p:nvPr/>
        </p:nvSpPr>
        <p:spPr>
          <a:xfrm>
            <a:off x="4056278" y="5587746"/>
            <a:ext cx="815644" cy="502919"/>
          </a:xfrm>
          <a:prstGeom prst="rect">
            <a:avLst/>
          </a:prstGeom>
          <a:noFill/>
          <a:ln>
            <a:noFill/>
          </a:ln>
        </p:spPr>
        <p:txBody>
          <a:bodyPr anchorCtr="0" anchor="t" bIns="0" lIns="0" spcFirstLastPara="1" rIns="0" wrap="square" tIns="0">
            <a:spAutoFit/>
          </a:bodyPr>
          <a:lstStyle/>
          <a:p>
            <a:pPr indent="0" lvl="0" marL="0" marR="0" rtl="0" algn="ctr">
              <a:lnSpc>
                <a:spcPct val="105000"/>
              </a:lnSpc>
              <a:spcBef>
                <a:spcPts val="0"/>
              </a:spcBef>
              <a:spcAft>
                <a:spcPts val="0"/>
              </a:spcAft>
              <a:buNone/>
            </a:pPr>
            <a:r>
              <a:rPr b="0" i="0" lang="es-CO" sz="800" u="none" cap="none" strike="noStrike">
                <a:solidFill>
                  <a:srgbClr val="353646"/>
                </a:solidFill>
                <a:latin typeface="Arial"/>
                <a:ea typeface="Arial"/>
                <a:cs typeface="Arial"/>
                <a:sym typeface="Arial"/>
              </a:rPr>
              <a:t>Por las personas y sus aportes.</a:t>
            </a:r>
            <a:endParaRPr/>
          </a:p>
        </p:txBody>
      </p:sp>
      <p:sp>
        <p:nvSpPr>
          <p:cNvPr id="439" name="Google Shape;439;p25"/>
          <p:cNvSpPr/>
          <p:nvPr/>
        </p:nvSpPr>
        <p:spPr>
          <a:xfrm>
            <a:off x="5018227" y="5258562"/>
            <a:ext cx="961948" cy="868680"/>
          </a:xfrm>
          <a:prstGeom prst="roundRect">
            <a:avLst>
              <a:gd fmla="val 10000" name="adj"/>
            </a:avLst>
          </a:prstGeom>
          <a:solidFill>
            <a:srgbClr val="F6EBF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40" name="Google Shape;440;p25"/>
          <p:cNvSpPr txBox="1"/>
          <p:nvPr/>
        </p:nvSpPr>
        <p:spPr>
          <a:xfrm>
            <a:off x="5091379" y="5331714"/>
            <a:ext cx="815644" cy="228600"/>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None/>
            </a:pPr>
            <a:r>
              <a:rPr b="1" i="0" lang="es-CO" sz="850" u="none" cap="none" strike="noStrike">
                <a:solidFill>
                  <a:srgbClr val="B31686"/>
                </a:solidFill>
                <a:latin typeface="Arial"/>
                <a:ea typeface="Arial"/>
                <a:cs typeface="Arial"/>
                <a:sym typeface="Arial"/>
              </a:rPr>
              <a:t>Coraje</a:t>
            </a:r>
            <a:endParaRPr/>
          </a:p>
        </p:txBody>
      </p:sp>
      <p:sp>
        <p:nvSpPr>
          <p:cNvPr id="441" name="Google Shape;441;p25"/>
          <p:cNvSpPr txBox="1"/>
          <p:nvPr/>
        </p:nvSpPr>
        <p:spPr>
          <a:xfrm>
            <a:off x="5091379" y="5587746"/>
            <a:ext cx="815644" cy="502919"/>
          </a:xfrm>
          <a:prstGeom prst="rect">
            <a:avLst/>
          </a:prstGeom>
          <a:noFill/>
          <a:ln>
            <a:noFill/>
          </a:ln>
        </p:spPr>
        <p:txBody>
          <a:bodyPr anchorCtr="0" anchor="t" bIns="0" lIns="0" spcFirstLastPara="1" rIns="0" wrap="square" tIns="0">
            <a:spAutoFit/>
          </a:bodyPr>
          <a:lstStyle/>
          <a:p>
            <a:pPr indent="0" lvl="0" marL="0" marR="0" rtl="0" algn="ctr">
              <a:lnSpc>
                <a:spcPct val="105000"/>
              </a:lnSpc>
              <a:spcBef>
                <a:spcPts val="0"/>
              </a:spcBef>
              <a:spcAft>
                <a:spcPts val="0"/>
              </a:spcAft>
              <a:buNone/>
            </a:pPr>
            <a:r>
              <a:rPr b="0" i="0" lang="es-CO" sz="800" u="none" cap="none" strike="noStrike">
                <a:solidFill>
                  <a:srgbClr val="353646"/>
                </a:solidFill>
                <a:latin typeface="Arial"/>
                <a:ea typeface="Arial"/>
                <a:cs typeface="Arial"/>
                <a:sym typeface="Arial"/>
              </a:rPr>
              <a:t>Para enfrentar desafíos y cambiar.</a:t>
            </a:r>
            <a:endParaRPr/>
          </a:p>
        </p:txBody>
      </p:sp>
      <p:sp>
        <p:nvSpPr>
          <p:cNvPr id="442" name="Google Shape;442;p25"/>
          <p:cNvSpPr txBox="1"/>
          <p:nvPr/>
        </p:nvSpPr>
        <p:spPr>
          <a:xfrm>
            <a:off x="877824" y="6145530"/>
            <a:ext cx="5102352" cy="201168"/>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None/>
            </a:pPr>
            <a:r>
              <a:rPr b="0" i="1" lang="es-CO" sz="900" u="none" cap="none" strike="noStrike">
                <a:solidFill>
                  <a:srgbClr val="5F5966"/>
                </a:solidFill>
                <a:latin typeface="Arial"/>
                <a:ea typeface="Arial"/>
                <a:cs typeface="Arial"/>
                <a:sym typeface="Arial"/>
              </a:rPr>
              <a:t>Permiten ↓</a:t>
            </a:r>
            <a:endParaRPr/>
          </a:p>
        </p:txBody>
      </p:sp>
      <p:sp>
        <p:nvSpPr>
          <p:cNvPr id="443" name="Google Shape;443;p25"/>
          <p:cNvSpPr txBox="1"/>
          <p:nvPr/>
        </p:nvSpPr>
        <p:spPr>
          <a:xfrm>
            <a:off x="877824" y="6419850"/>
            <a:ext cx="5102352" cy="201168"/>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CO" sz="900" u="none" cap="none" strike="noStrike">
                <a:solidFill>
                  <a:srgbClr val="024791"/>
                </a:solidFill>
                <a:latin typeface="Arial"/>
                <a:ea typeface="Arial"/>
                <a:cs typeface="Arial"/>
                <a:sym typeface="Arial"/>
              </a:rPr>
              <a:t>Nivel 4 · El desenlace y propósito</a:t>
            </a:r>
            <a:endParaRPr/>
          </a:p>
        </p:txBody>
      </p:sp>
      <p:sp>
        <p:nvSpPr>
          <p:cNvPr id="444" name="Google Shape;444;p25"/>
          <p:cNvSpPr/>
          <p:nvPr/>
        </p:nvSpPr>
        <p:spPr>
          <a:xfrm>
            <a:off x="877824" y="6675882"/>
            <a:ext cx="5102352" cy="731520"/>
          </a:xfrm>
          <a:prstGeom prst="roundRect">
            <a:avLst>
              <a:gd fmla="val 12000" name="adj"/>
            </a:avLst>
          </a:prstGeom>
          <a:solidFill>
            <a:srgbClr val="02479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45" name="Google Shape;445;p25"/>
          <p:cNvSpPr txBox="1"/>
          <p:nvPr/>
        </p:nvSpPr>
        <p:spPr>
          <a:xfrm>
            <a:off x="1060704" y="6749034"/>
            <a:ext cx="4736592" cy="640080"/>
          </a:xfrm>
          <a:prstGeom prst="rect">
            <a:avLst/>
          </a:prstGeom>
          <a:noFill/>
          <a:ln>
            <a:noFill/>
          </a:ln>
        </p:spPr>
        <p:txBody>
          <a:bodyPr anchorCtr="0" anchor="ctr" bIns="0" lIns="0" spcFirstLastPara="1" rIns="0" wrap="square" tIns="0">
            <a:spAutoFit/>
          </a:bodyPr>
          <a:lstStyle/>
          <a:p>
            <a:pPr indent="0" lvl="0" marL="0" marR="0" rtl="0" algn="ctr">
              <a:lnSpc>
                <a:spcPct val="110000"/>
              </a:lnSpc>
              <a:spcBef>
                <a:spcPts val="0"/>
              </a:spcBef>
              <a:spcAft>
                <a:spcPts val="0"/>
              </a:spcAft>
              <a:buNone/>
            </a:pPr>
            <a:r>
              <a:rPr b="1" i="0" lang="es-CO" sz="1100" u="none" cap="none" strike="noStrike">
                <a:solidFill>
                  <a:srgbClr val="FFFFFF"/>
                </a:solidFill>
                <a:latin typeface="Arial"/>
                <a:ea typeface="Arial"/>
                <a:cs typeface="Arial"/>
                <a:sym typeface="Arial"/>
              </a:rPr>
              <a:t>Aprender, adaptarnos y generar valor</a:t>
            </a:r>
            <a:endParaRPr/>
          </a:p>
          <a:p>
            <a:pPr indent="0" lvl="0" marL="0" marR="0" rtl="0" algn="ctr">
              <a:lnSpc>
                <a:spcPct val="110000"/>
              </a:lnSpc>
              <a:spcBef>
                <a:spcPts val="0"/>
              </a:spcBef>
              <a:spcAft>
                <a:spcPts val="0"/>
              </a:spcAft>
              <a:buNone/>
            </a:pPr>
            <a:r>
              <a:rPr b="0" i="0" lang="es-CO" sz="900" u="none" cap="none" strike="noStrike">
                <a:solidFill>
                  <a:srgbClr val="FFFFFF"/>
                </a:solidFill>
                <a:latin typeface="Arial"/>
                <a:ea typeface="Arial"/>
                <a:cs typeface="Arial"/>
                <a:sym typeface="Arial"/>
              </a:rPr>
              <a:t>Equipos más preparados para responder a la incertidumbre y entregar resultados que importan.</a:t>
            </a:r>
            <a:endParaRPr/>
          </a:p>
        </p:txBody>
      </p:sp>
      <p:sp>
        <p:nvSpPr>
          <p:cNvPr id="446" name="Google Shape;446;p25"/>
          <p:cNvSpPr/>
          <p:nvPr/>
        </p:nvSpPr>
        <p:spPr>
          <a:xfrm>
            <a:off x="877824" y="7498842"/>
            <a:ext cx="5102352" cy="1000125"/>
          </a:xfrm>
          <a:prstGeom prst="roundRect">
            <a:avLst>
              <a:gd fmla="val 10000" name="adj"/>
            </a:avLst>
          </a:prstGeom>
          <a:solidFill>
            <a:srgbClr val="E9FBFB"/>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47" name="Google Shape;447;p25"/>
          <p:cNvSpPr txBox="1"/>
          <p:nvPr/>
        </p:nvSpPr>
        <p:spPr>
          <a:xfrm>
            <a:off x="1106424" y="7681722"/>
            <a:ext cx="4645152" cy="1828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s-CO" sz="900" u="none" cap="none" strike="noStrike">
                <a:solidFill>
                  <a:srgbClr val="024791"/>
                </a:solidFill>
                <a:latin typeface="Arial"/>
                <a:ea typeface="Arial"/>
                <a:cs typeface="Arial"/>
                <a:sym typeface="Arial"/>
              </a:rPr>
              <a:t>Idea clave · La respuesta ante la incertidumbre</a:t>
            </a:r>
            <a:endParaRPr/>
          </a:p>
        </p:txBody>
      </p:sp>
      <p:sp>
        <p:nvSpPr>
          <p:cNvPr id="448" name="Google Shape;448;p25"/>
          <p:cNvSpPr txBox="1"/>
          <p:nvPr/>
        </p:nvSpPr>
        <p:spPr>
          <a:xfrm>
            <a:off x="1106424" y="7910322"/>
            <a:ext cx="4645152" cy="542925"/>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1" i="0" lang="es-CO" sz="950" u="none" cap="none" strike="noStrike">
                <a:solidFill>
                  <a:srgbClr val="3D2159"/>
                </a:solidFill>
                <a:latin typeface="Arial"/>
                <a:ea typeface="Arial"/>
                <a:cs typeface="Arial"/>
                <a:sym typeface="Arial"/>
              </a:rPr>
              <a:t>«Scrum no busca eliminar la incertidumbre antes de comenzar; proporciona una estructura para aprender de lo que ocurre y adaptar nuestras decisiones mientras avanzamos.»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2" name="Shape 452"/>
        <p:cNvGrpSpPr/>
        <p:nvPr/>
      </p:nvGrpSpPr>
      <p:grpSpPr>
        <a:xfrm>
          <a:off x="0" y="0"/>
          <a:ext cx="0" cy="0"/>
          <a:chOff x="0" y="0"/>
          <a:chExt cx="0" cy="0"/>
        </a:xfrm>
      </p:grpSpPr>
      <p:sp>
        <p:nvSpPr>
          <p:cNvPr id="453" name="Google Shape;453;p6"/>
          <p:cNvSpPr/>
          <p:nvPr/>
        </p:nvSpPr>
        <p:spPr>
          <a:xfrm>
            <a:off x="876300" y="1104900"/>
            <a:ext cx="4953000" cy="22860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900"/>
              <a:buFont typeface="Arial"/>
              <a:buNone/>
            </a:pPr>
            <a:r>
              <a:rPr b="1" i="0" lang="es-CO" sz="900" u="none" cap="none" strike="noStrike">
                <a:solidFill>
                  <a:srgbClr val="B31686"/>
                </a:solidFill>
                <a:latin typeface="Arial"/>
                <a:ea typeface="Arial"/>
                <a:cs typeface="Arial"/>
                <a:sym typeface="Arial"/>
              </a:rPr>
              <a:t>Referencias</a:t>
            </a:r>
            <a:endParaRPr b="1" i="0" sz="900" u="none" cap="none" strike="noStrike">
              <a:solidFill>
                <a:srgbClr val="B31686"/>
              </a:solidFill>
              <a:latin typeface="Arial"/>
              <a:ea typeface="Arial"/>
              <a:cs typeface="Arial"/>
              <a:sym typeface="Arial"/>
            </a:endParaRPr>
          </a:p>
        </p:txBody>
      </p:sp>
      <p:sp>
        <p:nvSpPr>
          <p:cNvPr id="454" name="Google Shape;454;p6"/>
          <p:cNvSpPr/>
          <p:nvPr/>
        </p:nvSpPr>
        <p:spPr>
          <a:xfrm>
            <a:off x="876300" y="1409700"/>
            <a:ext cx="5105400" cy="345471"/>
          </a:xfrm>
          <a:prstGeom prst="rect">
            <a:avLst/>
          </a:prstGeom>
          <a:noFill/>
          <a:ln>
            <a:noFill/>
          </a:ln>
        </p:spPr>
        <p:txBody>
          <a:bodyPr anchorCtr="0" anchor="t" bIns="0" lIns="0" spcFirstLastPara="1" rIns="0" wrap="square" tIns="0">
            <a:normAutofit/>
          </a:bodyPr>
          <a:lstStyle/>
          <a:p>
            <a:pPr indent="0" lvl="0" marL="0" marR="0" rtl="0" algn="l">
              <a:lnSpc>
                <a:spcPct val="90000"/>
              </a:lnSpc>
              <a:spcBef>
                <a:spcPts val="0"/>
              </a:spcBef>
              <a:spcAft>
                <a:spcPts val="0"/>
              </a:spcAft>
              <a:buClr>
                <a:srgbClr val="000000"/>
              </a:buClr>
              <a:buSzPts val="2325"/>
              <a:buFont typeface="Arial"/>
              <a:buNone/>
            </a:pPr>
            <a:r>
              <a:rPr b="1" i="0" lang="es-CO" sz="2325" u="none" cap="none" strike="noStrike">
                <a:solidFill>
                  <a:srgbClr val="3D2159"/>
                </a:solidFill>
                <a:latin typeface="Arial"/>
                <a:ea typeface="Arial"/>
                <a:cs typeface="Arial"/>
                <a:sym typeface="Arial"/>
              </a:rPr>
              <a:t>Fuentes para continuar la lectura</a:t>
            </a:r>
            <a:endParaRPr b="0" i="0" sz="1400" u="none" cap="none" strike="noStrike">
              <a:solidFill>
                <a:srgbClr val="000000"/>
              </a:solidFill>
              <a:latin typeface="Arial"/>
              <a:ea typeface="Arial"/>
              <a:cs typeface="Arial"/>
              <a:sym typeface="Arial"/>
            </a:endParaRPr>
          </a:p>
        </p:txBody>
      </p:sp>
      <p:sp>
        <p:nvSpPr>
          <p:cNvPr id="455" name="Google Shape;455;p6"/>
          <p:cNvSpPr/>
          <p:nvPr/>
        </p:nvSpPr>
        <p:spPr>
          <a:xfrm>
            <a:off x="876300" y="2292009"/>
            <a:ext cx="5105400" cy="2468880"/>
          </a:xfrm>
          <a:prstGeom prst="roundRect">
            <a:avLst>
              <a:gd fmla="val 11881" name="adj"/>
            </a:avLst>
          </a:prstGeom>
          <a:solidFill>
            <a:srgbClr val="E9FBF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6" name="Google Shape;456;p6"/>
          <p:cNvSpPr/>
          <p:nvPr/>
        </p:nvSpPr>
        <p:spPr>
          <a:xfrm>
            <a:off x="1123950" y="2511465"/>
            <a:ext cx="4610100" cy="141160"/>
          </a:xfrm>
          <a:prstGeom prst="rect">
            <a:avLst/>
          </a:prstGeom>
          <a:noFill/>
          <a:ln>
            <a:noFill/>
          </a:ln>
        </p:spPr>
        <p:txBody>
          <a:bodyPr anchorCtr="0" anchor="t" bIns="0" lIns="0" spcFirstLastPara="1" rIns="0" wrap="square" tIns="0">
            <a:normAutofit/>
          </a:bodyPr>
          <a:lstStyle/>
          <a:p>
            <a:pPr indent="0" lvl="0" marL="0" marR="0" rtl="0" algn="l">
              <a:lnSpc>
                <a:spcPct val="90000"/>
              </a:lnSpc>
              <a:spcBef>
                <a:spcPts val="0"/>
              </a:spcBef>
              <a:spcAft>
                <a:spcPts val="0"/>
              </a:spcAft>
              <a:buClr>
                <a:srgbClr val="000000"/>
              </a:buClr>
              <a:buSzPts val="950"/>
              <a:buFont typeface="Arial"/>
              <a:buNone/>
            </a:pPr>
            <a:r>
              <a:rPr b="1" i="0" lang="es-CO" sz="950" u="none" cap="none" strike="noStrike">
                <a:solidFill>
                  <a:srgbClr val="024791"/>
                </a:solidFill>
                <a:latin typeface="Arial"/>
                <a:ea typeface="Arial"/>
                <a:cs typeface="Arial"/>
                <a:sym typeface="Arial"/>
              </a:rPr>
              <a:t>Referencias · APA 7</a:t>
            </a:r>
            <a:endParaRPr b="0" i="0" sz="1400" u="none" cap="none" strike="noStrike">
              <a:solidFill>
                <a:srgbClr val="000000"/>
              </a:solidFill>
              <a:latin typeface="Arial"/>
              <a:ea typeface="Arial"/>
              <a:cs typeface="Arial"/>
              <a:sym typeface="Arial"/>
            </a:endParaRPr>
          </a:p>
        </p:txBody>
      </p:sp>
      <p:sp>
        <p:nvSpPr>
          <p:cNvPr id="457" name="Google Shape;457;p6"/>
          <p:cNvSpPr/>
          <p:nvPr/>
        </p:nvSpPr>
        <p:spPr>
          <a:xfrm>
            <a:off x="1123950" y="2744065"/>
            <a:ext cx="4610100" cy="210312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1050"/>
              <a:buFont typeface="Arial"/>
              <a:buNone/>
            </a:pPr>
            <a:r>
              <a:rPr b="0" i="0" lang="es-CO" sz="1050" u="none" cap="none" strike="noStrike">
                <a:solidFill>
                  <a:srgbClr val="332F37"/>
                </a:solidFill>
                <a:latin typeface="Arial"/>
                <a:ea typeface="Arial"/>
                <a:cs typeface="Arial"/>
                <a:sym typeface="Arial"/>
              </a:rPr>
              <a:t>Garrido Sotomayor, S. (2025, 20 de abril). Guía de la gestión ágil de proyectos para liderar con eficacia. IEBS Business School. https://www.iebschool.com/hub/guia-de-la-gestion-agil-de-proyectos-para-liderar-con-eficacia/</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600"/>
              </a:spcBef>
              <a:spcAft>
                <a:spcPts val="0"/>
              </a:spcAft>
              <a:buClr>
                <a:srgbClr val="000000"/>
              </a:buClr>
              <a:buSzPts val="1050"/>
              <a:buFont typeface="Arial"/>
              <a:buNone/>
            </a:pPr>
            <a:r>
              <a:rPr b="0" i="0" lang="es-CO" sz="1050" u="none" cap="none" strike="noStrike">
                <a:solidFill>
                  <a:srgbClr val="332F37"/>
                </a:solidFill>
                <a:latin typeface="Arial"/>
                <a:ea typeface="Arial"/>
                <a:cs typeface="Arial"/>
                <a:sym typeface="Arial"/>
              </a:rPr>
              <a:t>Schwaber, K., &amp; Sutherland, J. (2020, noviembre). La Guía de Scrum: La Guía Definitiva de Scrum: Las Reglas del Juego. Scrum Guides. https://scrumguides.org/docs/scrumguide/v2020/2020-Scrum-Guide-Spanish-Latin-South-American.pdf</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600"/>
              </a:spcBef>
              <a:spcAft>
                <a:spcPts val="600"/>
              </a:spcAft>
              <a:buClr>
                <a:srgbClr val="000000"/>
              </a:buClr>
              <a:buSzPts val="1050"/>
              <a:buFont typeface="Arial"/>
              <a:buNone/>
            </a:pPr>
            <a:r>
              <a:rPr b="0" i="0" lang="es-CO" sz="1050" u="none" cap="none" strike="noStrike">
                <a:solidFill>
                  <a:srgbClr val="332F37"/>
                </a:solidFill>
                <a:latin typeface="Arial"/>
                <a:ea typeface="Arial"/>
                <a:cs typeface="Arial"/>
                <a:sym typeface="Arial"/>
              </a:rPr>
              <a:t>Sutherland, J. (2016). Scrum: El arte de hacer el doble de trabajo en la mitad de tiempo. Editorial Océano.</a:t>
            </a:r>
            <a:endParaRPr b="0" i="0" sz="1400" u="none" cap="none" strike="noStrike">
              <a:solidFill>
                <a:srgbClr val="000000"/>
              </a:solidFill>
              <a:latin typeface="Arial"/>
              <a:ea typeface="Arial"/>
              <a:cs typeface="Arial"/>
              <a:sym typeface="Arial"/>
            </a:endParaRPr>
          </a:p>
        </p:txBody>
      </p:sp>
      <p:pic>
        <p:nvPicPr>
          <p:cNvPr id="458" name="Google Shape;458;p6"/>
          <p:cNvPicPr preferRelativeResize="0"/>
          <p:nvPr/>
        </p:nvPicPr>
        <p:blipFill rotWithShape="1">
          <a:blip r:embed="rId3">
            <a:alphaModFix/>
          </a:blip>
          <a:srcRect b="0" l="0" r="0" t="0"/>
          <a:stretch/>
        </p:blipFill>
        <p:spPr>
          <a:xfrm>
            <a:off x="869156" y="1874043"/>
            <a:ext cx="1100138" cy="88783"/>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2" name="Shape 462"/>
        <p:cNvGrpSpPr/>
        <p:nvPr/>
      </p:nvGrpSpPr>
      <p:grpSpPr>
        <a:xfrm>
          <a:off x="0" y="0"/>
          <a:ext cx="0" cy="0"/>
          <a:chOff x="0" y="0"/>
          <a:chExt cx="0" cy="0"/>
        </a:xfrm>
      </p:grpSpPr>
      <p:sp>
        <p:nvSpPr>
          <p:cNvPr id="463" name="Google Shape;463;p7"/>
          <p:cNvSpPr/>
          <p:nvPr/>
        </p:nvSpPr>
        <p:spPr>
          <a:xfrm>
            <a:off x="876300" y="1104900"/>
            <a:ext cx="4953000" cy="22860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900"/>
              <a:buFont typeface="Arial"/>
              <a:buNone/>
            </a:pPr>
            <a:r>
              <a:rPr b="1" i="0" lang="es-CO" sz="900" u="none" cap="none" strike="noStrike">
                <a:solidFill>
                  <a:srgbClr val="B31686"/>
                </a:solidFill>
                <a:latin typeface="Arial"/>
                <a:ea typeface="Arial"/>
                <a:cs typeface="Arial"/>
                <a:sym typeface="Arial"/>
              </a:rPr>
              <a:t>Créditos</a:t>
            </a:r>
            <a:endParaRPr b="1" i="0" sz="900" u="none" cap="none" strike="noStrike">
              <a:solidFill>
                <a:srgbClr val="B31686"/>
              </a:solidFill>
              <a:latin typeface="Arial"/>
              <a:ea typeface="Arial"/>
              <a:cs typeface="Arial"/>
              <a:sym typeface="Arial"/>
            </a:endParaRPr>
          </a:p>
        </p:txBody>
      </p:sp>
      <p:sp>
        <p:nvSpPr>
          <p:cNvPr id="464" name="Google Shape;464;p7"/>
          <p:cNvSpPr/>
          <p:nvPr/>
        </p:nvSpPr>
        <p:spPr>
          <a:xfrm>
            <a:off x="876300" y="1409700"/>
            <a:ext cx="5105400" cy="781050"/>
          </a:xfrm>
          <a:prstGeom prst="rect">
            <a:avLst/>
          </a:prstGeom>
          <a:noFill/>
          <a:ln>
            <a:noFill/>
          </a:ln>
        </p:spPr>
        <p:txBody>
          <a:bodyPr anchorCtr="0" anchor="t" bIns="0" lIns="0" spcFirstLastPara="1" rIns="0" wrap="square" tIns="0">
            <a:normAutofit/>
          </a:bodyPr>
          <a:lstStyle/>
          <a:p>
            <a:pPr indent="0" lvl="0" marL="0" marR="0" rtl="0" algn="l">
              <a:lnSpc>
                <a:spcPct val="100000"/>
              </a:lnSpc>
              <a:spcBef>
                <a:spcPts val="0"/>
              </a:spcBef>
              <a:spcAft>
                <a:spcPts val="0"/>
              </a:spcAft>
              <a:buClr>
                <a:srgbClr val="000000"/>
              </a:buClr>
              <a:buSzPts val="2325"/>
              <a:buFont typeface="Arial"/>
              <a:buNone/>
            </a:pPr>
            <a:r>
              <a:rPr b="1" i="0" lang="es-CO" sz="2325" u="none" cap="none" strike="noStrike">
                <a:solidFill>
                  <a:srgbClr val="3D2159"/>
                </a:solidFill>
                <a:latin typeface="Arial"/>
                <a:ea typeface="Arial"/>
                <a:cs typeface="Arial"/>
                <a:sym typeface="Arial"/>
              </a:rPr>
              <a:t>Sobre este documento</a:t>
            </a:r>
            <a:endParaRPr b="0" i="0" sz="1400" u="none" cap="none" strike="noStrike">
              <a:solidFill>
                <a:srgbClr val="000000"/>
              </a:solidFill>
              <a:latin typeface="Arial"/>
              <a:ea typeface="Arial"/>
              <a:cs typeface="Arial"/>
              <a:sym typeface="Arial"/>
            </a:endParaRPr>
          </a:p>
        </p:txBody>
      </p:sp>
      <p:sp>
        <p:nvSpPr>
          <p:cNvPr id="465" name="Google Shape;465;p7"/>
          <p:cNvSpPr/>
          <p:nvPr/>
        </p:nvSpPr>
        <p:spPr>
          <a:xfrm>
            <a:off x="876300" y="8401050"/>
            <a:ext cx="5105400" cy="228600"/>
          </a:xfrm>
          <a:prstGeom prst="rect">
            <a:avLst/>
          </a:prstGeom>
          <a:noFill/>
          <a:ln>
            <a:noFill/>
          </a:ln>
        </p:spPr>
        <p:txBody>
          <a:bodyPr anchorCtr="0" anchor="t" bIns="0" lIns="0" spcFirstLastPara="1" rIns="0" wrap="square" tIns="0">
            <a:normAutofit/>
          </a:bodyPr>
          <a:lstStyle/>
          <a:p>
            <a:pPr indent="0" lvl="0" marL="0" marR="0" rtl="0" algn="ctr">
              <a:lnSpc>
                <a:spcPct val="100000"/>
              </a:lnSpc>
              <a:spcBef>
                <a:spcPts val="0"/>
              </a:spcBef>
              <a:spcAft>
                <a:spcPts val="0"/>
              </a:spcAft>
              <a:buClr>
                <a:srgbClr val="000000"/>
              </a:buClr>
              <a:buSzPts val="900"/>
              <a:buFont typeface="Arial"/>
              <a:buNone/>
            </a:pPr>
            <a:r>
              <a:rPr b="0" i="0" lang="es-CO" sz="900" u="none" cap="none" strike="noStrike">
                <a:solidFill>
                  <a:srgbClr val="7B7480"/>
                </a:solidFill>
                <a:latin typeface="Arial"/>
                <a:ea typeface="Arial"/>
                <a:cs typeface="Arial"/>
                <a:sym typeface="Arial"/>
              </a:rPr>
              <a:t>Copyright 2026. Todos los derechos reservados.</a:t>
            </a:r>
            <a:endParaRPr b="0" i="0" sz="1400" u="none" cap="none" strike="noStrike">
              <a:solidFill>
                <a:srgbClr val="000000"/>
              </a:solidFill>
              <a:latin typeface="Arial"/>
              <a:ea typeface="Arial"/>
              <a:cs typeface="Arial"/>
              <a:sym typeface="Arial"/>
            </a:endParaRPr>
          </a:p>
        </p:txBody>
      </p:sp>
      <p:graphicFrame>
        <p:nvGraphicFramePr>
          <p:cNvPr id="466" name="Google Shape;466;p7"/>
          <p:cNvGraphicFramePr/>
          <p:nvPr/>
        </p:nvGraphicFramePr>
        <p:xfrm>
          <a:off x="876300" y="2514600"/>
          <a:ext cx="3000000" cy="3000000"/>
        </p:xfrm>
        <a:graphic>
          <a:graphicData uri="http://schemas.openxmlformats.org/drawingml/2006/table">
            <a:tbl>
              <a:tblPr>
                <a:noFill/>
                <a:tableStyleId>{3BE7F91E-28C6-4280-8E66-EA02E2E343C9}</a:tableStyleId>
              </a:tblPr>
              <a:tblGrid>
                <a:gridCol w="2628125"/>
                <a:gridCol w="2705875"/>
              </a:tblGrid>
              <a:tr h="120650">
                <a:tc>
                  <a:txBody>
                    <a:bodyPr/>
                    <a:lstStyle/>
                    <a:p>
                      <a:pPr indent="0" lvl="0" marL="0" marR="0" rtl="0" algn="l">
                        <a:lnSpc>
                          <a:spcPct val="115000"/>
                        </a:lnSpc>
                        <a:spcBef>
                          <a:spcPts val="0"/>
                        </a:spcBef>
                        <a:spcAft>
                          <a:spcPts val="0"/>
                        </a:spcAft>
                        <a:buClr>
                          <a:srgbClr val="000000"/>
                        </a:buClr>
                        <a:buSzPts val="950"/>
                        <a:buFont typeface="Arial"/>
                        <a:buNone/>
                      </a:pPr>
                      <a:r>
                        <a:rPr b="1" lang="es-CO" sz="950" u="none" cap="none" strike="noStrike"/>
                        <a:t>Proyecto</a:t>
                      </a:r>
                      <a:endParaRPr b="1" sz="1100" u="none" cap="none" strike="noStrike">
                        <a:latin typeface="Arial"/>
                        <a:ea typeface="Arial"/>
                        <a:cs typeface="Arial"/>
                        <a:sym typeface="Arial"/>
                      </a:endParaRPr>
                    </a:p>
                  </a:txBody>
                  <a:tcPr marT="137150" marB="137150" marR="137150" marL="137150"/>
                </a:tc>
                <a:tc>
                  <a:txBody>
                    <a:bodyPr/>
                    <a:lstStyle/>
                    <a:p>
                      <a:pPr indent="0" lvl="0" marL="0" marR="0" rtl="0" algn="r">
                        <a:lnSpc>
                          <a:spcPct val="115000"/>
                        </a:lnSpc>
                        <a:spcBef>
                          <a:spcPts val="0"/>
                        </a:spcBef>
                        <a:spcAft>
                          <a:spcPts val="0"/>
                        </a:spcAft>
                        <a:buClr>
                          <a:srgbClr val="000000"/>
                        </a:buClr>
                        <a:buSzPts val="950"/>
                        <a:buFont typeface="Arial"/>
                        <a:buNone/>
                      </a:pPr>
                      <a:r>
                        <a:rPr lang="es-CO" sz="950" u="none" cap="none" strike="noStrike"/>
                        <a:t>@Medellín — SAPIENCIA</a:t>
                      </a:r>
                      <a:endParaRPr sz="1100" u="none" cap="none" strike="noStrike">
                        <a:solidFill>
                          <a:srgbClr val="2D2533"/>
                        </a:solidFill>
                        <a:latin typeface="Arial"/>
                        <a:ea typeface="Arial"/>
                        <a:cs typeface="Arial"/>
                        <a:sym typeface="Arial"/>
                      </a:endParaRPr>
                    </a:p>
                  </a:txBody>
                  <a:tcPr marT="137150" marB="137150" marR="137150" marL="137150"/>
                </a:tc>
              </a:tr>
              <a:tr h="120650">
                <a:tc>
                  <a:txBody>
                    <a:bodyPr/>
                    <a:lstStyle/>
                    <a:p>
                      <a:pPr indent="0" lvl="0" marL="0" marR="0" rtl="0" algn="l">
                        <a:lnSpc>
                          <a:spcPct val="115000"/>
                        </a:lnSpc>
                        <a:spcBef>
                          <a:spcPts val="0"/>
                        </a:spcBef>
                        <a:spcAft>
                          <a:spcPts val="0"/>
                        </a:spcAft>
                        <a:buClr>
                          <a:srgbClr val="000000"/>
                        </a:buClr>
                        <a:buSzPts val="950"/>
                        <a:buFont typeface="Arial"/>
                        <a:buNone/>
                      </a:pPr>
                      <a:r>
                        <a:rPr b="1" lang="es-CO" sz="950" u="none" cap="none" strike="noStrike"/>
                        <a:t>Tipo de recurso</a:t>
                      </a:r>
                      <a:endParaRPr b="1" sz="1100" u="none" cap="none" strike="noStrike">
                        <a:latin typeface="Arial"/>
                        <a:ea typeface="Arial"/>
                        <a:cs typeface="Arial"/>
                        <a:sym typeface="Arial"/>
                      </a:endParaRPr>
                    </a:p>
                  </a:txBody>
                  <a:tcPr marT="137150" marB="137150" marR="137150" marL="137150"/>
                </a:tc>
                <a:tc>
                  <a:txBody>
                    <a:bodyPr/>
                    <a:lstStyle/>
                    <a:p>
                      <a:pPr indent="0" lvl="0" marL="0" marR="0" rtl="0" algn="r">
                        <a:lnSpc>
                          <a:spcPct val="115000"/>
                        </a:lnSpc>
                        <a:spcBef>
                          <a:spcPts val="0"/>
                        </a:spcBef>
                        <a:spcAft>
                          <a:spcPts val="0"/>
                        </a:spcAft>
                        <a:buClr>
                          <a:srgbClr val="000000"/>
                        </a:buClr>
                        <a:buSzPts val="950"/>
                        <a:buFont typeface="Arial"/>
                        <a:buNone/>
                      </a:pPr>
                      <a:r>
                        <a:rPr lang="es-CO" sz="950" u="none" cap="none" strike="noStrike"/>
                        <a:t>Artículo educativo</a:t>
                      </a:r>
                      <a:endParaRPr sz="1100" u="none" cap="none" strike="noStrike">
                        <a:solidFill>
                          <a:srgbClr val="2D2533"/>
                        </a:solidFill>
                        <a:latin typeface="Arial"/>
                        <a:ea typeface="Arial"/>
                        <a:cs typeface="Arial"/>
                        <a:sym typeface="Arial"/>
                      </a:endParaRPr>
                    </a:p>
                  </a:txBody>
                  <a:tcPr marT="137150" marB="137150" marR="137150" marL="137150"/>
                </a:tc>
              </a:tr>
              <a:tr h="120650">
                <a:tc>
                  <a:txBody>
                    <a:bodyPr/>
                    <a:lstStyle/>
                    <a:p>
                      <a:pPr indent="0" lvl="0" marL="0" marR="0" rtl="0" algn="l">
                        <a:lnSpc>
                          <a:spcPct val="115000"/>
                        </a:lnSpc>
                        <a:spcBef>
                          <a:spcPts val="0"/>
                        </a:spcBef>
                        <a:spcAft>
                          <a:spcPts val="0"/>
                        </a:spcAft>
                        <a:buClr>
                          <a:srgbClr val="000000"/>
                        </a:buClr>
                        <a:buSzPts val="950"/>
                        <a:buFont typeface="Arial"/>
                        <a:buNone/>
                      </a:pPr>
                      <a:r>
                        <a:rPr b="1" lang="es-CO" sz="950" u="none" cap="none" strike="noStrike"/>
                        <a:t>Coordinación general:</a:t>
                      </a:r>
                      <a:endParaRPr b="1" sz="1100" u="none" cap="none" strike="noStrike">
                        <a:latin typeface="Arial"/>
                        <a:ea typeface="Arial"/>
                        <a:cs typeface="Arial"/>
                        <a:sym typeface="Arial"/>
                      </a:endParaRPr>
                    </a:p>
                  </a:txBody>
                  <a:tcPr marT="137150" marB="137150" marR="137150" marL="137150"/>
                </a:tc>
                <a:tc>
                  <a:txBody>
                    <a:bodyPr/>
                    <a:lstStyle/>
                    <a:p>
                      <a:pPr indent="0" lvl="0" marL="0" marR="0" rtl="0" algn="r">
                        <a:lnSpc>
                          <a:spcPct val="115000"/>
                        </a:lnSpc>
                        <a:spcBef>
                          <a:spcPts val="0"/>
                        </a:spcBef>
                        <a:spcAft>
                          <a:spcPts val="0"/>
                        </a:spcAft>
                        <a:buClr>
                          <a:srgbClr val="000000"/>
                        </a:buClr>
                        <a:buSzPts val="950"/>
                        <a:buFont typeface="Arial"/>
                        <a:buNone/>
                      </a:pPr>
                      <a:r>
                        <a:rPr lang="es-CO" sz="950" u="none" cap="none" strike="noStrike"/>
                        <a:t>Luz Dary Morales Galvis</a:t>
                      </a:r>
                      <a:endParaRPr sz="1100" u="none" cap="none" strike="noStrike">
                        <a:solidFill>
                          <a:srgbClr val="2D2533"/>
                        </a:solidFill>
                        <a:latin typeface="Arial"/>
                        <a:ea typeface="Arial"/>
                        <a:cs typeface="Arial"/>
                        <a:sym typeface="Arial"/>
                      </a:endParaRPr>
                    </a:p>
                  </a:txBody>
                  <a:tcPr marT="137150" marB="137150" marR="137150" marL="137150"/>
                </a:tc>
              </a:tr>
              <a:tr h="120650">
                <a:tc>
                  <a:txBody>
                    <a:bodyPr/>
                    <a:lstStyle/>
                    <a:p>
                      <a:pPr indent="0" lvl="0" marL="0" marR="0" rtl="0" algn="l">
                        <a:lnSpc>
                          <a:spcPct val="115000"/>
                        </a:lnSpc>
                        <a:spcBef>
                          <a:spcPts val="0"/>
                        </a:spcBef>
                        <a:spcAft>
                          <a:spcPts val="0"/>
                        </a:spcAft>
                        <a:buClr>
                          <a:srgbClr val="000000"/>
                        </a:buClr>
                        <a:buSzPts val="950"/>
                        <a:buFont typeface="Arial"/>
                        <a:buNone/>
                      </a:pPr>
                      <a:r>
                        <a:rPr b="1" lang="es-CO" sz="950" u="none" cap="none" strike="noStrike"/>
                        <a:t>Experto temático:</a:t>
                      </a:r>
                      <a:endParaRPr b="1" sz="1100" u="none" cap="none" strike="noStrike">
                        <a:latin typeface="Arial"/>
                        <a:ea typeface="Arial"/>
                        <a:cs typeface="Arial"/>
                        <a:sym typeface="Arial"/>
                      </a:endParaRPr>
                    </a:p>
                  </a:txBody>
                  <a:tcPr marT="137150" marB="137150" marR="137150" marL="137150"/>
                </a:tc>
                <a:tc>
                  <a:txBody>
                    <a:bodyPr/>
                    <a:lstStyle/>
                    <a:p>
                      <a:pPr indent="0" lvl="0" marL="0" marR="0" rtl="0" algn="r">
                        <a:lnSpc>
                          <a:spcPct val="115000"/>
                        </a:lnSpc>
                        <a:spcBef>
                          <a:spcPts val="0"/>
                        </a:spcBef>
                        <a:spcAft>
                          <a:spcPts val="0"/>
                        </a:spcAft>
                        <a:buClr>
                          <a:srgbClr val="000000"/>
                        </a:buClr>
                        <a:buSzPts val="950"/>
                        <a:buFont typeface="Arial"/>
                        <a:buNone/>
                      </a:pPr>
                      <a:r>
                        <a:rPr lang="es-CO" sz="950" u="none" cap="none" strike="noStrike"/>
                        <a:t>Diana María Velázquez García</a:t>
                      </a:r>
                      <a:endParaRPr sz="1100" u="none" cap="none" strike="noStrike">
                        <a:solidFill>
                          <a:srgbClr val="2D2533"/>
                        </a:solidFill>
                        <a:latin typeface="Arial"/>
                        <a:ea typeface="Arial"/>
                        <a:cs typeface="Arial"/>
                        <a:sym typeface="Arial"/>
                      </a:endParaRPr>
                    </a:p>
                  </a:txBody>
                  <a:tcPr marT="137150" marB="137150" marR="137150" marL="137150"/>
                </a:tc>
              </a:tr>
              <a:tr h="120650">
                <a:tc>
                  <a:txBody>
                    <a:bodyPr/>
                    <a:lstStyle/>
                    <a:p>
                      <a:pPr indent="0" lvl="0" marL="0" marR="0" rtl="0" algn="l">
                        <a:lnSpc>
                          <a:spcPct val="115000"/>
                        </a:lnSpc>
                        <a:spcBef>
                          <a:spcPts val="0"/>
                        </a:spcBef>
                        <a:spcAft>
                          <a:spcPts val="0"/>
                        </a:spcAft>
                        <a:buClr>
                          <a:srgbClr val="000000"/>
                        </a:buClr>
                        <a:buSzPts val="950"/>
                        <a:buFont typeface="Arial"/>
                        <a:buNone/>
                      </a:pPr>
                      <a:r>
                        <a:rPr b="1" lang="es-CO" sz="950" u="none" cap="none" strike="noStrike"/>
                        <a:t>Diseñador de la experiencia virtual de aprendizaje:</a:t>
                      </a:r>
                      <a:endParaRPr b="1" sz="1100" u="none" cap="none" strike="noStrike">
                        <a:latin typeface="Arial"/>
                        <a:ea typeface="Arial"/>
                        <a:cs typeface="Arial"/>
                        <a:sym typeface="Arial"/>
                      </a:endParaRPr>
                    </a:p>
                  </a:txBody>
                  <a:tcPr marT="137150" marB="137150" marR="137150" marL="137150"/>
                </a:tc>
                <a:tc>
                  <a:txBody>
                    <a:bodyPr/>
                    <a:lstStyle/>
                    <a:p>
                      <a:pPr indent="0" lvl="0" marL="0" marR="0" rtl="0" algn="r">
                        <a:lnSpc>
                          <a:spcPct val="115000"/>
                        </a:lnSpc>
                        <a:spcBef>
                          <a:spcPts val="0"/>
                        </a:spcBef>
                        <a:spcAft>
                          <a:spcPts val="0"/>
                        </a:spcAft>
                        <a:buClr>
                          <a:srgbClr val="000000"/>
                        </a:buClr>
                        <a:buSzPts val="950"/>
                        <a:buFont typeface="Arial"/>
                        <a:buNone/>
                      </a:pPr>
                      <a:r>
                        <a:rPr lang="es-CO" sz="950" u="none" cap="none" strike="noStrike"/>
                        <a:t>Julieta Márquez Gutiérrez</a:t>
                      </a:r>
                      <a:endParaRPr sz="1100" u="none" cap="none" strike="noStrike">
                        <a:solidFill>
                          <a:srgbClr val="2D2533"/>
                        </a:solidFill>
                        <a:latin typeface="Arial"/>
                        <a:ea typeface="Arial"/>
                        <a:cs typeface="Arial"/>
                        <a:sym typeface="Arial"/>
                      </a:endParaRPr>
                    </a:p>
                  </a:txBody>
                  <a:tcPr marT="137150" marB="137150" marR="137150" marL="137150"/>
                </a:tc>
              </a:tr>
              <a:tr h="120650">
                <a:tc>
                  <a:txBody>
                    <a:bodyPr/>
                    <a:lstStyle/>
                    <a:p>
                      <a:pPr indent="0" lvl="0" marL="0" marR="0" rtl="0" algn="l">
                        <a:lnSpc>
                          <a:spcPct val="115000"/>
                        </a:lnSpc>
                        <a:spcBef>
                          <a:spcPts val="0"/>
                        </a:spcBef>
                        <a:spcAft>
                          <a:spcPts val="0"/>
                        </a:spcAft>
                        <a:buClr>
                          <a:srgbClr val="000000"/>
                        </a:buClr>
                        <a:buSzPts val="950"/>
                        <a:buFont typeface="Arial"/>
                        <a:buNone/>
                      </a:pPr>
                      <a:r>
                        <a:rPr b="1" lang="es-CO" sz="950" u="none" cap="none" strike="noStrike"/>
                        <a:t>Corrección de estilo:</a:t>
                      </a:r>
                      <a:endParaRPr b="1" sz="1100" u="none" cap="none" strike="noStrike">
                        <a:latin typeface="Arial"/>
                        <a:ea typeface="Arial"/>
                        <a:cs typeface="Arial"/>
                        <a:sym typeface="Arial"/>
                      </a:endParaRPr>
                    </a:p>
                  </a:txBody>
                  <a:tcPr marT="137150" marB="137150" marR="137150" marL="137150"/>
                </a:tc>
                <a:tc>
                  <a:txBody>
                    <a:bodyPr/>
                    <a:lstStyle/>
                    <a:p>
                      <a:pPr indent="0" lvl="0" marL="0" marR="0" rtl="0" algn="r">
                        <a:lnSpc>
                          <a:spcPct val="115000"/>
                        </a:lnSpc>
                        <a:spcBef>
                          <a:spcPts val="0"/>
                        </a:spcBef>
                        <a:spcAft>
                          <a:spcPts val="0"/>
                        </a:spcAft>
                        <a:buClr>
                          <a:srgbClr val="000000"/>
                        </a:buClr>
                        <a:buSzPts val="950"/>
                        <a:buFont typeface="Arial"/>
                        <a:buNone/>
                      </a:pPr>
                      <a:r>
                        <a:rPr lang="es-CO" sz="950" u="none" cap="none" strike="noStrike"/>
                        <a:t>Julieta Márquez Gutiérrez y Sergio Andrés Ocampo Rivera</a:t>
                      </a:r>
                      <a:endParaRPr sz="1100" u="none" cap="none" strike="noStrike">
                        <a:solidFill>
                          <a:srgbClr val="2D2533"/>
                        </a:solidFill>
                        <a:latin typeface="Arial"/>
                        <a:ea typeface="Arial"/>
                        <a:cs typeface="Arial"/>
                        <a:sym typeface="Arial"/>
                      </a:endParaRPr>
                    </a:p>
                  </a:txBody>
                  <a:tcPr marT="137150" marB="137150" marR="137150" marL="137150"/>
                </a:tc>
              </a:tr>
              <a:tr h="120650">
                <a:tc>
                  <a:txBody>
                    <a:bodyPr/>
                    <a:lstStyle/>
                    <a:p>
                      <a:pPr indent="0" lvl="0" marL="0" marR="0" rtl="0" algn="l">
                        <a:lnSpc>
                          <a:spcPct val="115000"/>
                        </a:lnSpc>
                        <a:spcBef>
                          <a:spcPts val="0"/>
                        </a:spcBef>
                        <a:spcAft>
                          <a:spcPts val="0"/>
                        </a:spcAft>
                        <a:buClr>
                          <a:srgbClr val="000000"/>
                        </a:buClr>
                        <a:buSzPts val="950"/>
                        <a:buFont typeface="Arial"/>
                        <a:buNone/>
                      </a:pPr>
                      <a:r>
                        <a:rPr b="1" lang="es-CO" sz="950" u="none" cap="none" strike="noStrike"/>
                        <a:t>Validación pedagógica:</a:t>
                      </a:r>
                      <a:endParaRPr b="1" sz="1100" u="none" cap="none" strike="noStrike">
                        <a:latin typeface="Arial"/>
                        <a:ea typeface="Arial"/>
                        <a:cs typeface="Arial"/>
                        <a:sym typeface="Arial"/>
                      </a:endParaRPr>
                    </a:p>
                  </a:txBody>
                  <a:tcPr marT="137150" marB="137150" marR="137150" marL="137150"/>
                </a:tc>
                <a:tc>
                  <a:txBody>
                    <a:bodyPr/>
                    <a:lstStyle/>
                    <a:p>
                      <a:pPr indent="0" lvl="0" marL="0" marR="0" rtl="0" algn="r">
                        <a:lnSpc>
                          <a:spcPct val="115000"/>
                        </a:lnSpc>
                        <a:spcBef>
                          <a:spcPts val="0"/>
                        </a:spcBef>
                        <a:spcAft>
                          <a:spcPts val="0"/>
                        </a:spcAft>
                        <a:buClr>
                          <a:srgbClr val="000000"/>
                        </a:buClr>
                        <a:buSzPts val="950"/>
                        <a:buFont typeface="Arial"/>
                        <a:buNone/>
                      </a:pPr>
                      <a:r>
                        <a:rPr lang="es-CO" sz="950" u="none" cap="none" strike="noStrike"/>
                        <a:t>Sandra Patricia Hoyos Sepúlveda</a:t>
                      </a:r>
                      <a:endParaRPr sz="1100" u="none" cap="none" strike="noStrike">
                        <a:solidFill>
                          <a:srgbClr val="2D2533"/>
                        </a:solidFill>
                        <a:latin typeface="Arial"/>
                        <a:ea typeface="Arial"/>
                        <a:cs typeface="Arial"/>
                        <a:sym typeface="Arial"/>
                      </a:endParaRPr>
                    </a:p>
                  </a:txBody>
                  <a:tcPr marT="137150" marB="137150" marR="137150" marL="137150"/>
                </a:tc>
              </a:tr>
              <a:tr h="120650">
                <a:tc>
                  <a:txBody>
                    <a:bodyPr/>
                    <a:lstStyle/>
                    <a:p>
                      <a:pPr indent="0" lvl="0" marL="0" marR="0" rtl="0" algn="l">
                        <a:lnSpc>
                          <a:spcPct val="115000"/>
                        </a:lnSpc>
                        <a:spcBef>
                          <a:spcPts val="0"/>
                        </a:spcBef>
                        <a:spcAft>
                          <a:spcPts val="0"/>
                        </a:spcAft>
                        <a:buClr>
                          <a:srgbClr val="000000"/>
                        </a:buClr>
                        <a:buSzPts val="950"/>
                        <a:buFont typeface="Arial"/>
                        <a:buNone/>
                      </a:pPr>
                      <a:r>
                        <a:rPr b="1" lang="es-CO" sz="950" u="none" cap="none" strike="noStrike"/>
                        <a:t>Diseño gráfico:</a:t>
                      </a:r>
                      <a:endParaRPr b="1" sz="1100" u="none" cap="none" strike="noStrike">
                        <a:latin typeface="Arial"/>
                        <a:ea typeface="Arial"/>
                        <a:cs typeface="Arial"/>
                        <a:sym typeface="Arial"/>
                      </a:endParaRPr>
                    </a:p>
                  </a:txBody>
                  <a:tcPr marT="137150" marB="137150" marR="137150" marL="137150"/>
                </a:tc>
                <a:tc>
                  <a:txBody>
                    <a:bodyPr/>
                    <a:lstStyle/>
                    <a:p>
                      <a:pPr indent="0" lvl="0" marL="0" marR="0" rtl="0" algn="r">
                        <a:lnSpc>
                          <a:spcPct val="115000"/>
                        </a:lnSpc>
                        <a:spcBef>
                          <a:spcPts val="0"/>
                        </a:spcBef>
                        <a:spcAft>
                          <a:spcPts val="0"/>
                        </a:spcAft>
                        <a:buClr>
                          <a:srgbClr val="000000"/>
                        </a:buClr>
                        <a:buSzPts val="950"/>
                        <a:buFont typeface="Arial"/>
                        <a:buNone/>
                      </a:pPr>
                      <a:r>
                        <a:rPr lang="es-CO" sz="950" u="none" cap="none" strike="noStrike"/>
                        <a:t>Andrea Valentina Roa Orozco</a:t>
                      </a:r>
                      <a:endParaRPr sz="1100" u="none" cap="none" strike="noStrike">
                        <a:solidFill>
                          <a:srgbClr val="2D2533"/>
                        </a:solidFill>
                        <a:latin typeface="Arial"/>
                        <a:ea typeface="Arial"/>
                        <a:cs typeface="Arial"/>
                        <a:sym typeface="Arial"/>
                      </a:endParaRPr>
                    </a:p>
                  </a:txBody>
                  <a:tcPr marT="137150" marB="137150" marR="137150" marL="137150"/>
                </a:tc>
              </a:tr>
              <a:tr h="120650">
                <a:tc>
                  <a:txBody>
                    <a:bodyPr/>
                    <a:lstStyle/>
                    <a:p>
                      <a:pPr indent="0" lvl="0" marL="0" marR="0" rtl="0" algn="l">
                        <a:lnSpc>
                          <a:spcPct val="115000"/>
                        </a:lnSpc>
                        <a:spcBef>
                          <a:spcPts val="0"/>
                        </a:spcBef>
                        <a:spcAft>
                          <a:spcPts val="0"/>
                        </a:spcAft>
                        <a:buClr>
                          <a:srgbClr val="000000"/>
                        </a:buClr>
                        <a:buSzPts val="950"/>
                        <a:buFont typeface="Arial"/>
                        <a:buNone/>
                      </a:pPr>
                      <a:r>
                        <a:rPr b="1" lang="es-CO" sz="950" u="none" cap="none" strike="noStrike"/>
                        <a:t>Disposición y ensamble:</a:t>
                      </a:r>
                      <a:endParaRPr b="1" sz="1100" u="none" cap="none" strike="noStrike">
                        <a:latin typeface="Arial"/>
                        <a:ea typeface="Arial"/>
                        <a:cs typeface="Arial"/>
                        <a:sym typeface="Arial"/>
                      </a:endParaRPr>
                    </a:p>
                  </a:txBody>
                  <a:tcPr marT="137150" marB="137150" marR="137150" marL="137150"/>
                </a:tc>
                <a:tc>
                  <a:txBody>
                    <a:bodyPr/>
                    <a:lstStyle/>
                    <a:p>
                      <a:pPr indent="0" lvl="0" marL="0" marR="0" rtl="0" algn="r">
                        <a:lnSpc>
                          <a:spcPct val="115000"/>
                        </a:lnSpc>
                        <a:spcBef>
                          <a:spcPts val="0"/>
                        </a:spcBef>
                        <a:spcAft>
                          <a:spcPts val="0"/>
                        </a:spcAft>
                        <a:buClr>
                          <a:srgbClr val="000000"/>
                        </a:buClr>
                        <a:buSzPts val="950"/>
                        <a:buFont typeface="Arial"/>
                        <a:buNone/>
                      </a:pPr>
                      <a:r>
                        <a:rPr lang="es-CO" sz="950" u="none" cap="none" strike="noStrike"/>
                        <a:t>Samayda Herrera Betancur</a:t>
                      </a:r>
                      <a:endParaRPr sz="1100" u="none" cap="none" strike="noStrike">
                        <a:solidFill>
                          <a:srgbClr val="2D2533"/>
                        </a:solidFill>
                        <a:latin typeface="Arial"/>
                        <a:ea typeface="Arial"/>
                        <a:cs typeface="Arial"/>
                        <a:sym typeface="Arial"/>
                      </a:endParaRPr>
                    </a:p>
                  </a:txBody>
                  <a:tcPr marT="137150" marB="137150" marR="137150" marL="137150"/>
                </a:tc>
              </a:tr>
              <a:tr h="120650">
                <a:tc>
                  <a:txBody>
                    <a:bodyPr/>
                    <a:lstStyle/>
                    <a:p>
                      <a:pPr indent="0" lvl="0" marL="0" marR="0" rtl="0" algn="l">
                        <a:lnSpc>
                          <a:spcPct val="115000"/>
                        </a:lnSpc>
                        <a:spcBef>
                          <a:spcPts val="0"/>
                        </a:spcBef>
                        <a:spcAft>
                          <a:spcPts val="0"/>
                        </a:spcAft>
                        <a:buClr>
                          <a:srgbClr val="000000"/>
                        </a:buClr>
                        <a:buSzPts val="950"/>
                        <a:buFont typeface="Arial"/>
                        <a:buNone/>
                      </a:pPr>
                      <a:r>
                        <a:rPr b="1" lang="es-CO" sz="950" u="none" cap="none" strike="noStrike"/>
                        <a:t>Última actualización</a:t>
                      </a:r>
                      <a:endParaRPr b="1" sz="1100" u="none" cap="none" strike="noStrike">
                        <a:latin typeface="Arial"/>
                        <a:ea typeface="Arial"/>
                        <a:cs typeface="Arial"/>
                        <a:sym typeface="Arial"/>
                      </a:endParaRPr>
                    </a:p>
                  </a:txBody>
                  <a:tcPr marT="137150" marB="137150" marR="137150" marL="137150"/>
                </a:tc>
                <a:tc>
                  <a:txBody>
                    <a:bodyPr/>
                    <a:lstStyle/>
                    <a:p>
                      <a:pPr indent="0" lvl="0" marL="0" marR="0" rtl="0" algn="r">
                        <a:lnSpc>
                          <a:spcPct val="115000"/>
                        </a:lnSpc>
                        <a:spcBef>
                          <a:spcPts val="0"/>
                        </a:spcBef>
                        <a:spcAft>
                          <a:spcPts val="0"/>
                        </a:spcAft>
                        <a:buClr>
                          <a:srgbClr val="000000"/>
                        </a:buClr>
                        <a:buSzPts val="950"/>
                        <a:buFont typeface="Arial"/>
                        <a:buNone/>
                      </a:pPr>
                      <a:r>
                        <a:rPr lang="es-CO" sz="950" u="none" cap="none" strike="noStrike"/>
                        <a:t>Octubre de 2026</a:t>
                      </a:r>
                      <a:endParaRPr sz="1100" u="none" cap="none" strike="noStrike">
                        <a:solidFill>
                          <a:srgbClr val="2D2533"/>
                        </a:solidFill>
                        <a:latin typeface="Arial"/>
                        <a:ea typeface="Arial"/>
                        <a:cs typeface="Arial"/>
                        <a:sym typeface="Arial"/>
                      </a:endParaRPr>
                    </a:p>
                  </a:txBody>
                  <a:tcPr marT="137150" marB="137150" marR="137150" marL="137150"/>
                </a:tc>
              </a:tr>
            </a:tbl>
          </a:graphicData>
        </a:graphic>
      </p:graphicFrame>
    </p:spTree>
  </p:cSld>
  <p:clrMapOvr>
    <a:masterClrMapping/>
  </p:clrMapOvr>
</p:sld>
</file>

<file path=ppt/theme/theme1.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2026-08-28T21:01:11Z</dcterms:created>
  <dc:creator>Walnut Exporter</dc:creator>
</cp:coreProperties>
</file>