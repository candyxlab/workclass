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4"/>
  </p:sldIdLst>
  <p:sldSz cy="10696575" cx="75628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g1VRzVKoHjViqIh8oPZsalegRQ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customschemas.google.com/relationships/presentationmetadata" Target="metadata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h2db26118f76d5007_0_111:notes"/>
          <p:cNvSpPr/>
          <p:nvPr>
            <p:ph idx="2" type="sldImg"/>
          </p:nvPr>
        </p:nvSpPr>
        <p:spPr>
          <a:xfrm>
            <a:off x="2216150" y="685800"/>
            <a:ext cx="242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" name="Google Shape;10;h2db26118f76d5007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7570166" cy="10712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slide" Target="slide3.xml"/><Relationship Id="rId6" Type="http://schemas.openxmlformats.org/officeDocument/2006/relationships/slide" Target="slide3.xml"/><Relationship Id="rId7" Type="http://schemas.openxmlformats.org/officeDocument/2006/relationships/image" Target="../media/image6.png"/><Relationship Id="rId8" Type="http://schemas.openxmlformats.org/officeDocument/2006/relationships/slide" Target="slide4.xml"/><Relationship Id="rId9" Type="http://schemas.openxmlformats.org/officeDocument/2006/relationships/slide" Target="slide4.xml"/><Relationship Id="rId10" Type="http://schemas.openxmlformats.org/officeDocument/2006/relationships/slide" Target="slide5.xml"/><Relationship Id="rId11" Type="http://schemas.openxmlformats.org/officeDocument/2006/relationships/slide" Target="slide5.xml"/><Relationship Id="rId12" Type="http://schemas.openxmlformats.org/officeDocument/2006/relationships/slide" Target="slide6.xml"/><Relationship Id="rId13" Type="http://schemas.openxmlformats.org/officeDocument/2006/relationships/slide" Target="slide6.xml"/><Relationship Id="rId14" Type="http://schemas.openxmlformats.org/officeDocument/2006/relationships/slide" Target="slide7.xml"/><Relationship Id="rId15" Type="http://schemas.openxmlformats.org/officeDocument/2006/relationships/slide" Target="slide7.xml"/><Relationship Id="rId16" Type="http://schemas.openxmlformats.org/officeDocument/2006/relationships/slide" Target="slide1.xml"/><Relationship Id="rId17" Type="http://schemas.openxmlformats.org/officeDocument/2006/relationships/slide" Target="slide1.xml"/><Relationship Id="rId18" Type="http://schemas.openxmlformats.org/officeDocument/2006/relationships/slide" Target="slide3.xml"/><Relationship Id="rId19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" Target="slide2.xml"/><Relationship Id="rId8" Type="http://schemas.openxmlformats.org/officeDocument/2006/relationships/slide" Target="slide2.xml"/><Relationship Id="rId9" Type="http://schemas.openxmlformats.org/officeDocument/2006/relationships/slide" Target="slide4.xml"/><Relationship Id="rId10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21.png"/><Relationship Id="rId8" Type="http://schemas.openxmlformats.org/officeDocument/2006/relationships/slide" Target="slide3.xml"/><Relationship Id="rId9" Type="http://schemas.openxmlformats.org/officeDocument/2006/relationships/slide" Target="slide3.xml"/><Relationship Id="rId10" Type="http://schemas.openxmlformats.org/officeDocument/2006/relationships/slide" Target="slide5.xml"/><Relationship Id="rId11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Relationship Id="rId8" Type="http://schemas.openxmlformats.org/officeDocument/2006/relationships/slide" Target="slide4.xml"/><Relationship Id="rId9" Type="http://schemas.openxmlformats.org/officeDocument/2006/relationships/slide" Target="slide4.xml"/><Relationship Id="rId10" Type="http://schemas.openxmlformats.org/officeDocument/2006/relationships/slide" Target="slide6.xml"/><Relationship Id="rId11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7" Type="http://schemas.openxmlformats.org/officeDocument/2006/relationships/slide" Target="slide5.xml"/><Relationship Id="rId8" Type="http://schemas.openxmlformats.org/officeDocument/2006/relationships/slide" Target="slide5.xml"/><Relationship Id="rId9" Type="http://schemas.openxmlformats.org/officeDocument/2006/relationships/slide" Target="slide7.xml"/><Relationship Id="rId10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slide" Target="slide6.xml"/><Relationship Id="rId6" Type="http://schemas.openxmlformats.org/officeDocument/2006/relationships/slide" Target="slide6.xml"/><Relationship Id="rId7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slide" Target="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h2db26118f76d5007_0_111"/>
          <p:cNvGrpSpPr/>
          <p:nvPr/>
        </p:nvGrpSpPr>
        <p:grpSpPr>
          <a:xfrm>
            <a:off x="-4479" y="-105955"/>
            <a:ext cx="791487" cy="10841713"/>
            <a:chOff x="0" y="-28575"/>
            <a:chExt cx="283200" cy="3883274"/>
          </a:xfrm>
        </p:grpSpPr>
        <p:sp>
          <p:nvSpPr>
            <p:cNvPr id="13" name="Google Shape;13;h2db26118f76d5007_0_111"/>
            <p:cNvSpPr/>
            <p:nvPr/>
          </p:nvSpPr>
          <p:spPr>
            <a:xfrm>
              <a:off x="0" y="0"/>
              <a:ext cx="283182" cy="3854699"/>
            </a:xfrm>
            <a:custGeom>
              <a:rect b="b" l="l" r="r" t="t"/>
              <a:pathLst>
                <a:path extrusionOk="0" h="3854699" w="283182">
                  <a:moveTo>
                    <a:pt x="0" y="0"/>
                  </a:moveTo>
                  <a:lnTo>
                    <a:pt x="283182" y="0"/>
                  </a:lnTo>
                  <a:lnTo>
                    <a:pt x="283182" y="3854699"/>
                  </a:lnTo>
                  <a:lnTo>
                    <a:pt x="0" y="3854699"/>
                  </a:lnTo>
                  <a:close/>
                </a:path>
              </a:pathLst>
            </a:custGeom>
            <a:gradFill>
              <a:gsLst>
                <a:gs pos="0">
                  <a:srgbClr val="664092"/>
                </a:gs>
                <a:gs pos="100000">
                  <a:srgbClr val="5266CE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4" name="Google Shape;14;h2db26118f76d5007_0_111"/>
            <p:cNvSpPr txBox="1"/>
            <p:nvPr/>
          </p:nvSpPr>
          <p:spPr>
            <a:xfrm>
              <a:off x="0" y="-28575"/>
              <a:ext cx="283200" cy="38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50" lIns="50850" spcFirstLastPara="1" rIns="50850" wrap="square" tIns="50850">
              <a:noAutofit/>
            </a:bodyPr>
            <a:lstStyle/>
            <a:p>
              <a:pPr indent="0" lvl="0" marL="0" marR="0" rtl="0" algn="ctr">
                <a:lnSpc>
                  <a:spcPct val="104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" name="Google Shape;15;h2db26118f76d5007_0_111"/>
          <p:cNvGrpSpPr/>
          <p:nvPr/>
        </p:nvGrpSpPr>
        <p:grpSpPr>
          <a:xfrm>
            <a:off x="376975" y="-957715"/>
            <a:ext cx="10997590" cy="12612380"/>
            <a:chOff x="12900" y="0"/>
            <a:chExt cx="812800" cy="812800"/>
          </a:xfrm>
        </p:grpSpPr>
        <p:sp>
          <p:nvSpPr>
            <p:cNvPr id="16" name="Google Shape;16;h2db26118f76d5007_0_111"/>
            <p:cNvSpPr/>
            <p:nvPr/>
          </p:nvSpPr>
          <p:spPr>
            <a:xfrm>
              <a:off x="1290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2325" lIns="122325" spcFirstLastPara="1" rIns="122325" wrap="square" tIns="122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h2db26118f76d5007_0_111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50" lIns="50850" spcFirstLastPara="1" rIns="50850" wrap="square" tIns="50850">
              <a:noAutofit/>
            </a:bodyPr>
            <a:lstStyle/>
            <a:p>
              <a:pPr indent="0" lvl="0" marL="0" marR="0" rtl="0" algn="ctr">
                <a:lnSpc>
                  <a:spcPct val="104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8;h2db26118f76d5007_0_111"/>
          <p:cNvSpPr/>
          <p:nvPr/>
        </p:nvSpPr>
        <p:spPr>
          <a:xfrm>
            <a:off x="1938900" y="3840480"/>
            <a:ext cx="1816943" cy="193000"/>
          </a:xfrm>
          <a:custGeom>
            <a:rect b="b" l="l" r="r" t="t"/>
            <a:pathLst>
              <a:path extrusionOk="0" h="161506" w="1425053">
                <a:moveTo>
                  <a:pt x="0" y="0"/>
                </a:moveTo>
                <a:lnTo>
                  <a:pt x="1425052" y="0"/>
                </a:lnTo>
                <a:lnTo>
                  <a:pt x="1425052" y="161506"/>
                </a:lnTo>
                <a:lnTo>
                  <a:pt x="0" y="161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h2db26118f76d5007_0_111"/>
          <p:cNvGrpSpPr/>
          <p:nvPr/>
        </p:nvGrpSpPr>
        <p:grpSpPr>
          <a:xfrm>
            <a:off x="1510953" y="250466"/>
            <a:ext cx="1753616" cy="1751828"/>
            <a:chOff x="0" y="0"/>
            <a:chExt cx="812800" cy="812800"/>
          </a:xfrm>
        </p:grpSpPr>
        <p:sp>
          <p:nvSpPr>
            <p:cNvPr id="20" name="Google Shape;20;h2db26118f76d5007_0_1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22325" lIns="122325" spcFirstLastPara="1" rIns="122325" wrap="square" tIns="122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h2db26118f76d5007_0_111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675" lIns="68675" spcFirstLastPara="1" rIns="68675" wrap="square" tIns="68675">
              <a:noAutofit/>
            </a:bodyPr>
            <a:lstStyle/>
            <a:p>
              <a:pPr indent="0" lvl="0" marL="0" marR="0" rtl="0" algn="ctr">
                <a:lnSpc>
                  <a:spcPct val="94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" name="Google Shape;22;h2db26118f76d5007_0_111"/>
          <p:cNvSpPr txBox="1"/>
          <p:nvPr/>
        </p:nvSpPr>
        <p:spPr>
          <a:xfrm>
            <a:off x="1938900" y="2099212"/>
            <a:ext cx="383922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TEMA 1 · FUNDAMENTOS · IA EN ACCIÓN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h2db26118f76d5007_0_111"/>
          <p:cNvSpPr txBox="1"/>
          <p:nvPr/>
        </p:nvSpPr>
        <p:spPr>
          <a:xfrm>
            <a:off x="1938900" y="2808287"/>
            <a:ext cx="3809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Laboratorio con IA:</a:t>
            </a:r>
            <a:endParaRPr b="0" i="0" sz="30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Scrum bajo la lupa</a:t>
            </a:r>
            <a:endParaRPr b="0" i="0" sz="3000" u="none" cap="none" strike="noStrik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h2db26118f76d5007_0_111"/>
          <p:cNvSpPr txBox="1"/>
          <p:nvPr/>
        </p:nvSpPr>
        <p:spPr>
          <a:xfrm>
            <a:off x="1968425" y="4160520"/>
            <a:ext cx="475488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US" sz="14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Analizamos, contrastamos y decidimos.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h2db26118f76d5007_0_111"/>
          <p:cNvSpPr txBox="1"/>
          <p:nvPr/>
        </p:nvSpPr>
        <p:spPr>
          <a:xfrm>
            <a:off x="4251900" y="5911987"/>
            <a:ext cx="3809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El reto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h2db26118f76d5007_0_111"/>
          <p:cNvSpPr txBox="1"/>
          <p:nvPr/>
        </p:nvSpPr>
        <p:spPr>
          <a:xfrm>
            <a:off x="4251899" y="6302737"/>
            <a:ext cx="2612921" cy="1269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Analizaremos una situación de proyecto con apoyo de la inteligencia artificial para reconocer qué debe hacerse visible, qué conviene inspeccionar, qué decisiones pueden adaptarse y qué valores de Scrum orientan la actuación.</a:t>
            </a:r>
            <a:endParaRPr/>
          </a:p>
        </p:txBody>
      </p:sp>
      <p:sp>
        <p:nvSpPr>
          <p:cNvPr id="27" name="Google Shape;27;h2db26118f76d5007_0_111"/>
          <p:cNvSpPr/>
          <p:nvPr/>
        </p:nvSpPr>
        <p:spPr>
          <a:xfrm>
            <a:off x="543314" y="5482878"/>
            <a:ext cx="3143250" cy="314323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sq" cmpd="sng" w="42750">
            <a:solidFill>
              <a:srgbClr val="FFD9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122325" lIns="122325" spcFirstLastPara="1" rIns="122325" wrap="square" tIns="122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" name="Google Shape;28;h2db26118f76d5007_0_111"/>
          <p:cNvGrpSpPr/>
          <p:nvPr/>
        </p:nvGrpSpPr>
        <p:grpSpPr>
          <a:xfrm>
            <a:off x="522058" y="7954856"/>
            <a:ext cx="1677934" cy="1674853"/>
            <a:chOff x="0" y="1668"/>
            <a:chExt cx="1866154" cy="1864770"/>
          </a:xfrm>
        </p:grpSpPr>
        <p:grpSp>
          <p:nvGrpSpPr>
            <p:cNvPr id="29" name="Google Shape;29;h2db26118f76d5007_0_111"/>
            <p:cNvGrpSpPr/>
            <p:nvPr/>
          </p:nvGrpSpPr>
          <p:grpSpPr>
            <a:xfrm>
              <a:off x="25519" y="25519"/>
              <a:ext cx="1815389" cy="1815389"/>
              <a:chOff x="0" y="0"/>
              <a:chExt cx="812800" cy="812800"/>
            </a:xfrm>
          </p:grpSpPr>
          <p:sp>
            <p:nvSpPr>
              <p:cNvPr id="30" name="Google Shape;30;h2db26118f76d5007_0_1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467CF1"/>
                  </a:gs>
                  <a:gs pos="100000">
                    <a:srgbClr val="664092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122325" lIns="122325" spcFirstLastPara="1" rIns="122325" wrap="square" tIns="12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h2db26118f76d5007_0_111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67975" lIns="67975" spcFirstLastPara="1" rIns="67975" wrap="square" tIns="67975">
                <a:noAutofit/>
              </a:bodyPr>
              <a:lstStyle/>
              <a:p>
                <a:pPr indent="0" lvl="0" marL="0" marR="0" rtl="0" algn="ctr">
                  <a:lnSpc>
                    <a:spcPct val="104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" name="Google Shape;32;h2db26118f76d5007_0_111"/>
            <p:cNvSpPr/>
            <p:nvPr/>
          </p:nvSpPr>
          <p:spPr>
            <a:xfrm rot="-5400000">
              <a:off x="692" y="976"/>
              <a:ext cx="1864770" cy="1866154"/>
            </a:xfrm>
            <a:custGeom>
              <a:rect b="b" l="l" r="r" t="t"/>
              <a:pathLst>
                <a:path extrusionOk="0" h="1708150" w="1706883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gradFill>
              <a:gsLst>
                <a:gs pos="0">
                  <a:srgbClr val="467CF1"/>
                </a:gs>
                <a:gs pos="100000">
                  <a:srgbClr val="66409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122325" lIns="122325" spcFirstLastPara="1" rIns="122325" wrap="square" tIns="122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3" name="Google Shape;33;h2db26118f76d5007_0_1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14649" y="9191345"/>
            <a:ext cx="4429787" cy="727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h2db26118f76d5007_0_1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34137" y="689560"/>
            <a:ext cx="2751193" cy="620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"/>
          <p:cNvSpPr txBox="1"/>
          <p:nvPr/>
        </p:nvSpPr>
        <p:spPr>
          <a:xfrm>
            <a:off x="612648" y="877824"/>
            <a:ext cx="63459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LABORATORIO CON IA · SCRUM BAJO LA LUPA</a:t>
            </a:r>
            <a:endParaRPr/>
          </a:p>
        </p:txBody>
      </p:sp>
      <p:sp>
        <p:nvSpPr>
          <p:cNvPr id="40" name="Google Shape;40;p1"/>
          <p:cNvSpPr txBox="1"/>
          <p:nvPr/>
        </p:nvSpPr>
        <p:spPr>
          <a:xfrm>
            <a:off x="612648" y="1188720"/>
            <a:ext cx="6345936" cy="265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IA en acción · Laboratorio</a:t>
            </a:r>
            <a:endParaRPr/>
          </a:p>
        </p:txBody>
      </p:sp>
      <p:sp>
        <p:nvSpPr>
          <p:cNvPr id="41" name="Google Shape;41;p1"/>
          <p:cNvSpPr txBox="1"/>
          <p:nvPr/>
        </p:nvSpPr>
        <p:spPr>
          <a:xfrm>
            <a:off x="612648" y="1618488"/>
            <a:ext cx="6345936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Scrum bajo la lupa: analizamos, contrastamos y decidimos</a:t>
            </a:r>
            <a:endParaRPr/>
          </a:p>
        </p:txBody>
      </p:sp>
      <p:pic>
        <p:nvPicPr>
          <p:cNvPr descr="image.png" id="42" name="Google Shape;4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2532888"/>
            <a:ext cx="1024128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"/>
          <p:cNvSpPr txBox="1"/>
          <p:nvPr/>
        </p:nvSpPr>
        <p:spPr>
          <a:xfrm>
            <a:off x="612648" y="2825496"/>
            <a:ext cx="6345936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Reto: </a:t>
            </a:r>
            <a:r>
              <a:rPr b="0" i="0" lang="en-US" sz="12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analizaremos una situación de proyecto con apoyo de la inteligencia artificial para reconocer qué debe hacerse visible, qué conviene inspeccionar, qué decisiones pueden adaptarse y qué valores de Scrum orientan la actuación.</a:t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612648" y="3685032"/>
            <a:ext cx="6345936" cy="1930908"/>
          </a:xfrm>
          <a:prstGeom prst="roundRect">
            <a:avLst>
              <a:gd fmla="val 5682" name="adj"/>
            </a:avLst>
          </a:prstGeom>
          <a:solidFill>
            <a:srgbClr val="F1EB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obot_regular_664092.png" id="45" name="Google Shape;4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384962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"/>
          <p:cNvSpPr txBox="1"/>
          <p:nvPr/>
        </p:nvSpPr>
        <p:spPr>
          <a:xfrm>
            <a:off x="1280160" y="3849624"/>
            <a:ext cx="5513832" cy="321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Prompt sugerido para trabajar con IA</a:t>
            </a:r>
            <a:endParaRPr/>
          </a:p>
        </p:txBody>
      </p:sp>
      <p:sp>
        <p:nvSpPr>
          <p:cNvPr id="47" name="Google Shape;47;p1"/>
          <p:cNvSpPr txBox="1"/>
          <p:nvPr/>
        </p:nvSpPr>
        <p:spPr>
          <a:xfrm>
            <a:off x="1280160" y="4226052"/>
            <a:ext cx="5513832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«Analiza la siguiente situación desde los fundamentos de Scrum: [describir la situación]. Identifica qué debería hacerse visible para favorecer la transparencia, qué aspectos deberían inspeccionarse y qué decisiones podrían adaptarse a partir de los resultados. Indica también qué valores de Scrum serían especialmente importantes y explica brevemente por qué.»</a:t>
            </a:r>
            <a:endParaRPr/>
          </a:p>
        </p:txBody>
      </p:sp>
      <p:sp>
        <p:nvSpPr>
          <p:cNvPr id="48" name="Google Shape;48;p1"/>
          <p:cNvSpPr txBox="1"/>
          <p:nvPr/>
        </p:nvSpPr>
        <p:spPr>
          <a:xfrm>
            <a:off x="612648" y="5798820"/>
            <a:ext cx="6345936" cy="321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Ruta de la ficha</a:t>
            </a:r>
            <a:endParaRPr/>
          </a:p>
        </p:txBody>
      </p:sp>
      <p:sp>
        <p:nvSpPr>
          <p:cNvPr id="49" name="Google Shape;49;p1">
            <a:hlinkClick action="ppaction://hlinksldjump" r:id="rId5"/>
          </p:cNvPr>
          <p:cNvSpPr/>
          <p:nvPr/>
        </p:nvSpPr>
        <p:spPr>
          <a:xfrm>
            <a:off x="612648" y="6211824"/>
            <a:ext cx="6345936" cy="512064"/>
          </a:xfrm>
          <a:prstGeom prst="roundRect">
            <a:avLst>
              <a:gd fmla="val 50000" name="adj"/>
            </a:avLst>
          </a:prstGeom>
          <a:solidFill>
            <a:srgbClr val="FAF9FB"/>
          </a:solidFill>
          <a:ln cap="flat" cmpd="sng" w="12700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640075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Nuestra situación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Describimos el proyecto, proceso o situación</a:t>
            </a:r>
            <a:endParaRPr/>
          </a:p>
        </p:txBody>
      </p:sp>
      <p:sp>
        <p:nvSpPr>
          <p:cNvPr id="50" name="Google Shape;50;p1">
            <a:hlinkClick action="ppaction://hlinksldjump" r:id="rId6"/>
          </p:cNvPr>
          <p:cNvSpPr/>
          <p:nvPr/>
        </p:nvSpPr>
        <p:spPr>
          <a:xfrm>
            <a:off x="685800" y="6275832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pic>
        <p:nvPicPr>
          <p:cNvPr descr="arrow-right_bold_664092.png" id="51" name="Google Shape;51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47104" y="634898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">
            <a:hlinkClick action="ppaction://hlinksldjump" r:id="rId8"/>
          </p:cNvPr>
          <p:cNvSpPr/>
          <p:nvPr/>
        </p:nvSpPr>
        <p:spPr>
          <a:xfrm>
            <a:off x="612648" y="6787896"/>
            <a:ext cx="6345936" cy="512064"/>
          </a:xfrm>
          <a:prstGeom prst="roundRect">
            <a:avLst>
              <a:gd fmla="val 50000" name="adj"/>
            </a:avLst>
          </a:prstGeom>
          <a:solidFill>
            <a:srgbClr val="FAF9FB"/>
          </a:solidFill>
          <a:ln cap="flat" cmpd="sng" w="12700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640075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Consultamos a la IA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Registramos sus principales recomendaciones</a:t>
            </a:r>
            <a:endParaRPr/>
          </a:p>
        </p:txBody>
      </p:sp>
      <p:sp>
        <p:nvSpPr>
          <p:cNvPr id="53" name="Google Shape;53;p1">
            <a:hlinkClick action="ppaction://hlinksldjump" r:id="rId9"/>
          </p:cNvPr>
          <p:cNvSpPr/>
          <p:nvPr/>
        </p:nvSpPr>
        <p:spPr>
          <a:xfrm>
            <a:off x="685800" y="6851904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pic>
        <p:nvPicPr>
          <p:cNvPr descr="arrow-right_bold_664092.png" id="54" name="Google Shape;54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47104" y="69250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>
            <a:hlinkClick action="ppaction://hlinksldjump" r:id="rId10"/>
          </p:cNvPr>
          <p:cNvSpPr/>
          <p:nvPr/>
        </p:nvSpPr>
        <p:spPr>
          <a:xfrm>
            <a:off x="612648" y="7363968"/>
            <a:ext cx="6345936" cy="512064"/>
          </a:xfrm>
          <a:prstGeom prst="roundRect">
            <a:avLst>
              <a:gd fmla="val 50000" name="adj"/>
            </a:avLst>
          </a:prstGeom>
          <a:solidFill>
            <a:srgbClr val="FAF9FB"/>
          </a:solidFill>
          <a:ln cap="flat" cmpd="sng" w="12700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640075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Analizamos críticamente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Contrastamos con los fundamentos de Scrum</a:t>
            </a:r>
            <a:endParaRPr/>
          </a:p>
        </p:txBody>
      </p:sp>
      <p:sp>
        <p:nvSpPr>
          <p:cNvPr id="56" name="Google Shape;56;p1">
            <a:hlinkClick action="ppaction://hlinksldjump" r:id="rId11"/>
          </p:cNvPr>
          <p:cNvSpPr/>
          <p:nvPr/>
        </p:nvSpPr>
        <p:spPr>
          <a:xfrm>
            <a:off x="685800" y="7427976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pic>
        <p:nvPicPr>
          <p:cNvPr descr="arrow-right_bold_664092.png" id="57" name="Google Shape;57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47104" y="75011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>
            <a:hlinkClick action="ppaction://hlinksldjump" r:id="rId12"/>
          </p:cNvPr>
          <p:cNvSpPr/>
          <p:nvPr/>
        </p:nvSpPr>
        <p:spPr>
          <a:xfrm>
            <a:off x="612648" y="7940040"/>
            <a:ext cx="6345936" cy="512064"/>
          </a:xfrm>
          <a:prstGeom prst="roundRect">
            <a:avLst>
              <a:gd fmla="val 50000" name="adj"/>
            </a:avLst>
          </a:prstGeom>
          <a:solidFill>
            <a:srgbClr val="FAF9FB"/>
          </a:solidFill>
          <a:ln cap="flat" cmpd="sng" w="12700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640075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Nuestra decisión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Proponemos tres acciones concretas</a:t>
            </a:r>
            <a:endParaRPr/>
          </a:p>
        </p:txBody>
      </p:sp>
      <p:sp>
        <p:nvSpPr>
          <p:cNvPr id="59" name="Google Shape;59;p1">
            <a:hlinkClick action="ppaction://hlinksldjump" r:id="rId13"/>
          </p:cNvPr>
          <p:cNvSpPr/>
          <p:nvPr/>
        </p:nvSpPr>
        <p:spPr>
          <a:xfrm>
            <a:off x="685800" y="8004048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pic>
        <p:nvPicPr>
          <p:cNvPr descr="arrow-right_bold_664092.png" id="60" name="Google Shape;60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47104" y="8077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>
            <a:hlinkClick action="ppaction://hlinksldjump" r:id="rId14"/>
          </p:cNvPr>
          <p:cNvSpPr/>
          <p:nvPr/>
        </p:nvSpPr>
        <p:spPr>
          <a:xfrm>
            <a:off x="612648" y="8516112"/>
            <a:ext cx="6345936" cy="512064"/>
          </a:xfrm>
          <a:prstGeom prst="roundRect">
            <a:avLst>
              <a:gd fmla="val 50000" name="adj"/>
            </a:avLst>
          </a:prstGeom>
          <a:solidFill>
            <a:srgbClr val="FAF9FB"/>
          </a:solidFill>
          <a:ln cap="flat" cmpd="sng" w="12700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640075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Reflexión final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Qué cambiamos de la respuesta inicial de la IA</a:t>
            </a:r>
            <a:endParaRPr/>
          </a:p>
        </p:txBody>
      </p:sp>
      <p:sp>
        <p:nvSpPr>
          <p:cNvPr id="62" name="Google Shape;62;p1">
            <a:hlinkClick action="ppaction://hlinksldjump" r:id="rId15"/>
          </p:cNvPr>
          <p:cNvSpPr/>
          <p:nvPr/>
        </p:nvSpPr>
        <p:spPr>
          <a:xfrm>
            <a:off x="685800" y="8580120"/>
            <a:ext cx="384048" cy="38404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★</a:t>
            </a:r>
            <a:endParaRPr/>
          </a:p>
        </p:txBody>
      </p:sp>
      <p:pic>
        <p:nvPicPr>
          <p:cNvPr descr="arrow-right_bold_664092.png" id="63" name="Google Shape;63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47104" y="865327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">
            <a:hlinkClick action="ppaction://hlinksldjump" r:id="rId16"/>
          </p:cNvPr>
          <p:cNvSpPr/>
          <p:nvPr/>
        </p:nvSpPr>
        <p:spPr>
          <a:xfrm>
            <a:off x="548640" y="10040112"/>
            <a:ext cx="1051560" cy="329184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">
            <a:hlinkClick action="ppaction://hlinksldjump" r:id="rId17"/>
          </p:cNvPr>
          <p:cNvSpPr/>
          <p:nvPr/>
        </p:nvSpPr>
        <p:spPr>
          <a:xfrm>
            <a:off x="548640" y="9994392"/>
            <a:ext cx="1051560" cy="32918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663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/>
          </a:p>
        </p:txBody>
      </p:sp>
      <p:sp>
        <p:nvSpPr>
          <p:cNvPr id="66" name="Google Shape;66;p1">
            <a:hlinkClick action="ppaction://hlinksldjump" r:id="rId18"/>
          </p:cNvPr>
          <p:cNvSpPr/>
          <p:nvPr/>
        </p:nvSpPr>
        <p:spPr>
          <a:xfrm>
            <a:off x="1709928" y="10040112"/>
            <a:ext cx="1188720" cy="329184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>
            <a:hlinkClick action="ppaction://hlinksldjump" r:id="rId19"/>
          </p:cNvPr>
          <p:cNvSpPr/>
          <p:nvPr/>
        </p:nvSpPr>
        <p:spPr>
          <a:xfrm>
            <a:off x="1709928" y="9994392"/>
            <a:ext cx="1188720" cy="329184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 txBox="1"/>
          <p:nvPr/>
        </p:nvSpPr>
        <p:spPr>
          <a:xfrm>
            <a:off x="612648" y="877824"/>
            <a:ext cx="63459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LABORATORIO CON IA · SCRUM BAJO LA LUPA</a:t>
            </a:r>
            <a:endParaRPr/>
          </a:p>
        </p:txBody>
      </p:sp>
      <p:sp>
        <p:nvSpPr>
          <p:cNvPr id="73" name="Google Shape;73;p6"/>
          <p:cNvSpPr txBox="1"/>
          <p:nvPr/>
        </p:nvSpPr>
        <p:spPr>
          <a:xfrm>
            <a:off x="612648" y="1188720"/>
            <a:ext cx="6345936" cy="265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Ficha de laboratorio con IA · Paso 01</a:t>
            </a:r>
            <a:endParaRPr/>
          </a:p>
        </p:txBody>
      </p:sp>
      <p:sp>
        <p:nvSpPr>
          <p:cNvPr id="74" name="Google Shape;74;p6"/>
          <p:cNvSpPr txBox="1"/>
          <p:nvPr/>
        </p:nvSpPr>
        <p:spPr>
          <a:xfrm>
            <a:off x="612648" y="1618488"/>
            <a:ext cx="6345936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Nuestra situación</a:t>
            </a:r>
            <a:endParaRPr/>
          </a:p>
        </p:txBody>
      </p:sp>
      <p:pic>
        <p:nvPicPr>
          <p:cNvPr descr="image.png" id="75" name="Google Shape;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2148840"/>
            <a:ext cx="1024128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/>
          <p:cNvSpPr txBox="1"/>
          <p:nvPr/>
        </p:nvSpPr>
        <p:spPr>
          <a:xfrm>
            <a:off x="612648" y="2441448"/>
            <a:ext cx="6345936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Describimos brevemente el proyecto, proceso o situación que vamos a analizar con apoyo de la IA.</a:t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612648" y="3108960"/>
            <a:ext cx="6345936" cy="1078992"/>
          </a:xfrm>
          <a:prstGeom prst="roundRect">
            <a:avLst>
              <a:gd fmla="val 10169" name="adj"/>
            </a:avLst>
          </a:prstGeom>
          <a:solidFill>
            <a:srgbClr val="EAF0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612648" y="3200400"/>
            <a:ext cx="45720" cy="89611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encil-simple-line_regular_664092.png" id="79" name="Google Shape;7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392" y="32735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 txBox="1"/>
          <p:nvPr/>
        </p:nvSpPr>
        <p:spPr>
          <a:xfrm>
            <a:off x="1353312" y="3273552"/>
            <a:ext cx="54406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Copia el prompt en tu herramienta de IA y reemplaza [describir la situación] por tu caso del paso 01. Escribe en los campos editables y guarda el PDF para conservar tus respuestas.</a:t>
            </a:r>
            <a:endParaRPr/>
          </a:p>
        </p:txBody>
      </p:sp>
      <p:pic>
        <p:nvPicPr>
          <p:cNvPr descr="folder-simple_bold_664092.png" id="81" name="Google Shape;8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648" y="437997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"/>
          <p:cNvSpPr txBox="1"/>
          <p:nvPr/>
        </p:nvSpPr>
        <p:spPr>
          <a:xfrm>
            <a:off x="905256" y="4370832"/>
            <a:ext cx="6053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Proyecto, proceso o iniciativa:</a:t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612648" y="4700016"/>
            <a:ext cx="6345936" cy="1920240"/>
          </a:xfrm>
          <a:prstGeom prst="roundRect">
            <a:avLst>
              <a:gd fmla="val 4761" name="adj"/>
            </a:avLst>
          </a:prstGeom>
          <a:solidFill>
            <a:srgbClr val="FAF9FB"/>
          </a:solidFill>
          <a:ln cap="flat" cmpd="sng" w="9525">
            <a:solidFill>
              <a:srgbClr val="E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740664" y="4791456"/>
            <a:ext cx="6071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6AFC0"/>
                </a:solidFill>
                <a:latin typeface="Arial"/>
                <a:ea typeface="Arial"/>
                <a:cs typeface="Arial"/>
                <a:sym typeface="Arial"/>
              </a:rPr>
              <a:t>Escribe aquí...</a:t>
            </a:r>
            <a:endParaRPr/>
          </a:p>
        </p:txBody>
      </p:sp>
      <p:pic>
        <p:nvPicPr>
          <p:cNvPr descr="warning-circle_bold_B31686.png" id="85" name="Google Shape;8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" y="681228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 txBox="1"/>
          <p:nvPr/>
        </p:nvSpPr>
        <p:spPr>
          <a:xfrm>
            <a:off x="905256" y="6803136"/>
            <a:ext cx="6053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Principal dificultad identificada:</a:t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612648" y="7132320"/>
            <a:ext cx="6345936" cy="1920240"/>
          </a:xfrm>
          <a:prstGeom prst="roundRect">
            <a:avLst>
              <a:gd fmla="val 4761" name="adj"/>
            </a:avLst>
          </a:prstGeom>
          <a:solidFill>
            <a:srgbClr val="FAF9FB"/>
          </a:solidFill>
          <a:ln cap="flat" cmpd="sng" w="9525">
            <a:solidFill>
              <a:srgbClr val="E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740664" y="7223760"/>
            <a:ext cx="6071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6AFC0"/>
                </a:solidFill>
                <a:latin typeface="Arial"/>
                <a:ea typeface="Arial"/>
                <a:cs typeface="Arial"/>
                <a:sym typeface="Arial"/>
              </a:rPr>
              <a:t>Escribe aquí...</a:t>
            </a:r>
            <a:endParaRPr/>
          </a:p>
        </p:txBody>
      </p:sp>
      <p:sp>
        <p:nvSpPr>
          <p:cNvPr id="89" name="Google Shape;89;p6">
            <a:hlinkClick action="ppaction://hlinksldjump" r:id="rId7"/>
          </p:cNvPr>
          <p:cNvSpPr/>
          <p:nvPr/>
        </p:nvSpPr>
        <p:spPr>
          <a:xfrm>
            <a:off x="548640" y="10040112"/>
            <a:ext cx="1051560" cy="329184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>
            <a:hlinkClick action="ppaction://hlinksldjump" r:id="rId8"/>
          </p:cNvPr>
          <p:cNvSpPr/>
          <p:nvPr/>
        </p:nvSpPr>
        <p:spPr>
          <a:xfrm>
            <a:off x="548640" y="9994392"/>
            <a:ext cx="1051560" cy="32918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663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/>
          </a:p>
        </p:txBody>
      </p:sp>
      <p:sp>
        <p:nvSpPr>
          <p:cNvPr id="91" name="Google Shape;91;p6">
            <a:hlinkClick action="ppaction://hlinksldjump" r:id="rId9"/>
          </p:cNvPr>
          <p:cNvSpPr/>
          <p:nvPr/>
        </p:nvSpPr>
        <p:spPr>
          <a:xfrm>
            <a:off x="1709928" y="10040112"/>
            <a:ext cx="1188720" cy="329184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>
            <a:hlinkClick action="ppaction://hlinksldjump" r:id="rId10"/>
          </p:cNvPr>
          <p:cNvSpPr/>
          <p:nvPr/>
        </p:nvSpPr>
        <p:spPr>
          <a:xfrm>
            <a:off x="1709928" y="9994392"/>
            <a:ext cx="1188720" cy="329184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 txBox="1"/>
          <p:nvPr/>
        </p:nvSpPr>
        <p:spPr>
          <a:xfrm>
            <a:off x="612648" y="877824"/>
            <a:ext cx="63459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LABORATORIO CON IA · SCRUM BAJO LA LUPA</a:t>
            </a:r>
            <a:endParaRPr/>
          </a:p>
        </p:txBody>
      </p:sp>
      <p:sp>
        <p:nvSpPr>
          <p:cNvPr id="98" name="Google Shape;98;p7"/>
          <p:cNvSpPr txBox="1"/>
          <p:nvPr/>
        </p:nvSpPr>
        <p:spPr>
          <a:xfrm>
            <a:off x="612648" y="1188720"/>
            <a:ext cx="6345936" cy="265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Ficha de laboratorio con IA · Paso 02</a:t>
            </a:r>
            <a:endParaRPr/>
          </a:p>
        </p:txBody>
      </p:sp>
      <p:sp>
        <p:nvSpPr>
          <p:cNvPr id="99" name="Google Shape;99;p7"/>
          <p:cNvSpPr txBox="1"/>
          <p:nvPr/>
        </p:nvSpPr>
        <p:spPr>
          <a:xfrm>
            <a:off x="612648" y="1618488"/>
            <a:ext cx="6345936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Consultamos a la IA</a:t>
            </a:r>
            <a:endParaRPr/>
          </a:p>
        </p:txBody>
      </p:sp>
      <p:pic>
        <p:nvPicPr>
          <p:cNvPr descr="image.png" id="100" name="Google Shape;10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2148840"/>
            <a:ext cx="1024128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7"/>
          <p:cNvSpPr txBox="1"/>
          <p:nvPr/>
        </p:nvSpPr>
        <p:spPr>
          <a:xfrm>
            <a:off x="612648" y="2441448"/>
            <a:ext cx="6345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Registramos las principales recomendaciones generadas por la IA.</a:t>
            </a:r>
            <a:endParaRPr/>
          </a:p>
        </p:txBody>
      </p:sp>
      <p:pic>
        <p:nvPicPr>
          <p:cNvPr descr="eye_bold_2F6FED.png" id="102" name="Google Shape;10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" y="288036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 txBox="1"/>
          <p:nvPr/>
        </p:nvSpPr>
        <p:spPr>
          <a:xfrm>
            <a:off x="905256" y="2871216"/>
            <a:ext cx="6053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Transparencia · ¿Qué propone hacer visible?</a:t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612648" y="3200400"/>
            <a:ext cx="6345936" cy="1097280"/>
          </a:xfrm>
          <a:prstGeom prst="roundRect">
            <a:avLst>
              <a:gd fmla="val 8333" name="adj"/>
            </a:avLst>
          </a:prstGeom>
          <a:solidFill>
            <a:srgbClr val="FAF9FB"/>
          </a:solidFill>
          <a:ln cap="flat" cmpd="sng" w="9525">
            <a:solidFill>
              <a:srgbClr val="E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740664" y="3291840"/>
            <a:ext cx="6071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6AFC0"/>
                </a:solidFill>
                <a:latin typeface="Arial"/>
                <a:ea typeface="Arial"/>
                <a:cs typeface="Arial"/>
                <a:sym typeface="Arial"/>
              </a:rPr>
              <a:t>Escribe aquí...</a:t>
            </a:r>
            <a:endParaRPr/>
          </a:p>
        </p:txBody>
      </p:sp>
      <p:pic>
        <p:nvPicPr>
          <p:cNvPr descr="magnifying-glass_bold_664092.png" id="106" name="Google Shape;10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648" y="44897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7"/>
          <p:cNvSpPr txBox="1"/>
          <p:nvPr/>
        </p:nvSpPr>
        <p:spPr>
          <a:xfrm>
            <a:off x="905256" y="4480560"/>
            <a:ext cx="6053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Inspección · ¿Qué propone revisar?</a:t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612648" y="4809744"/>
            <a:ext cx="6345936" cy="1097280"/>
          </a:xfrm>
          <a:prstGeom prst="roundRect">
            <a:avLst>
              <a:gd fmla="val 8333" name="adj"/>
            </a:avLst>
          </a:prstGeom>
          <a:solidFill>
            <a:srgbClr val="FAF9FB"/>
          </a:solidFill>
          <a:ln cap="flat" cmpd="sng" w="9525">
            <a:solidFill>
              <a:srgbClr val="E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 txBox="1"/>
          <p:nvPr/>
        </p:nvSpPr>
        <p:spPr>
          <a:xfrm>
            <a:off x="740664" y="4901184"/>
            <a:ext cx="6071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6AFC0"/>
                </a:solidFill>
                <a:latin typeface="Arial"/>
                <a:ea typeface="Arial"/>
                <a:cs typeface="Arial"/>
                <a:sym typeface="Arial"/>
              </a:rPr>
              <a:t>Escribe aquí...</a:t>
            </a:r>
            <a:endParaRPr/>
          </a:p>
        </p:txBody>
      </p:sp>
      <p:pic>
        <p:nvPicPr>
          <p:cNvPr descr="arrows-clockwise_bold_B31686.png" id="110" name="Google Shape;11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" y="609904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7"/>
          <p:cNvSpPr txBox="1"/>
          <p:nvPr/>
        </p:nvSpPr>
        <p:spPr>
          <a:xfrm>
            <a:off x="905256" y="6089904"/>
            <a:ext cx="6053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Adaptación · ¿Qué propone modificar?</a:t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612648" y="6419088"/>
            <a:ext cx="6345936" cy="1097280"/>
          </a:xfrm>
          <a:prstGeom prst="roundRect">
            <a:avLst>
              <a:gd fmla="val 8333" name="adj"/>
            </a:avLst>
          </a:prstGeom>
          <a:solidFill>
            <a:srgbClr val="FAF9FB"/>
          </a:solidFill>
          <a:ln cap="flat" cmpd="sng" w="9525">
            <a:solidFill>
              <a:srgbClr val="E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740664" y="6510528"/>
            <a:ext cx="6071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6AFC0"/>
                </a:solidFill>
                <a:latin typeface="Arial"/>
                <a:ea typeface="Arial"/>
                <a:cs typeface="Arial"/>
                <a:sym typeface="Arial"/>
              </a:rPr>
              <a:t>Escribe aquí...</a:t>
            </a:r>
            <a:endParaRPr/>
          </a:p>
        </p:txBody>
      </p:sp>
      <p:pic>
        <p:nvPicPr>
          <p:cNvPr descr="heart_bold_B08A00.png" id="114" name="Google Shape;11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2648" y="77083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7"/>
          <p:cNvSpPr txBox="1"/>
          <p:nvPr/>
        </p:nvSpPr>
        <p:spPr>
          <a:xfrm>
            <a:off x="905256" y="7699248"/>
            <a:ext cx="6053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Valores · ¿Cuáles identifica?</a:t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612648" y="8028432"/>
            <a:ext cx="6345936" cy="1097280"/>
          </a:xfrm>
          <a:prstGeom prst="roundRect">
            <a:avLst>
              <a:gd fmla="val 8333" name="adj"/>
            </a:avLst>
          </a:prstGeom>
          <a:solidFill>
            <a:srgbClr val="FAF9FB"/>
          </a:solidFill>
          <a:ln cap="flat" cmpd="sng" w="9525">
            <a:solidFill>
              <a:srgbClr val="E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740664" y="8119872"/>
            <a:ext cx="6071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6AFC0"/>
                </a:solidFill>
                <a:latin typeface="Arial"/>
                <a:ea typeface="Arial"/>
                <a:cs typeface="Arial"/>
                <a:sym typeface="Arial"/>
              </a:rPr>
              <a:t>Escribe aquí...</a:t>
            </a:r>
            <a:endParaRPr/>
          </a:p>
        </p:txBody>
      </p:sp>
      <p:sp>
        <p:nvSpPr>
          <p:cNvPr id="118" name="Google Shape;118;p7">
            <a:hlinkClick action="ppaction://hlinksldjump" r:id="rId8"/>
          </p:cNvPr>
          <p:cNvSpPr/>
          <p:nvPr/>
        </p:nvSpPr>
        <p:spPr>
          <a:xfrm>
            <a:off x="548640" y="10040112"/>
            <a:ext cx="1051560" cy="329184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>
            <a:hlinkClick action="ppaction://hlinksldjump" r:id="rId9"/>
          </p:cNvPr>
          <p:cNvSpPr/>
          <p:nvPr/>
        </p:nvSpPr>
        <p:spPr>
          <a:xfrm>
            <a:off x="548640" y="9994392"/>
            <a:ext cx="1051560" cy="32918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663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/>
          </a:p>
        </p:txBody>
      </p:sp>
      <p:sp>
        <p:nvSpPr>
          <p:cNvPr id="120" name="Google Shape;120;p7">
            <a:hlinkClick action="ppaction://hlinksldjump" r:id="rId10"/>
          </p:cNvPr>
          <p:cNvSpPr/>
          <p:nvPr/>
        </p:nvSpPr>
        <p:spPr>
          <a:xfrm>
            <a:off x="1709928" y="10040112"/>
            <a:ext cx="1188720" cy="329184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>
            <a:hlinkClick action="ppaction://hlinksldjump" r:id="rId11"/>
          </p:cNvPr>
          <p:cNvSpPr/>
          <p:nvPr/>
        </p:nvSpPr>
        <p:spPr>
          <a:xfrm>
            <a:off x="1709928" y="9994392"/>
            <a:ext cx="1188720" cy="329184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/>
        </p:nvSpPr>
        <p:spPr>
          <a:xfrm>
            <a:off x="612648" y="877824"/>
            <a:ext cx="63459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LABORATORIO CON IA · SCRUM BAJO LA LUPA</a:t>
            </a:r>
            <a:endParaRPr/>
          </a:p>
        </p:txBody>
      </p:sp>
      <p:sp>
        <p:nvSpPr>
          <p:cNvPr id="127" name="Google Shape;127;p8"/>
          <p:cNvSpPr txBox="1"/>
          <p:nvPr/>
        </p:nvSpPr>
        <p:spPr>
          <a:xfrm>
            <a:off x="612648" y="1188720"/>
            <a:ext cx="6345936" cy="265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Ficha de laboratorio con IA · Paso 03</a:t>
            </a:r>
            <a:endParaRPr/>
          </a:p>
        </p:txBody>
      </p:sp>
      <p:sp>
        <p:nvSpPr>
          <p:cNvPr id="128" name="Google Shape;128;p8"/>
          <p:cNvSpPr txBox="1"/>
          <p:nvPr/>
        </p:nvSpPr>
        <p:spPr>
          <a:xfrm>
            <a:off x="612648" y="1618488"/>
            <a:ext cx="6345936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Analizamos críticamente</a:t>
            </a:r>
            <a:endParaRPr/>
          </a:p>
        </p:txBody>
      </p:sp>
      <p:pic>
        <p:nvPicPr>
          <p:cNvPr descr="image.png" id="129" name="Google Shape;12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2148840"/>
            <a:ext cx="1024128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8"/>
          <p:cNvSpPr txBox="1"/>
          <p:nvPr/>
        </p:nvSpPr>
        <p:spPr>
          <a:xfrm>
            <a:off x="612648" y="2441448"/>
            <a:ext cx="6345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Contrastamos las recomendaciones con los fundamentos de Scrum y el contexto.</a:t>
            </a:r>
            <a:endParaRPr/>
          </a:p>
        </p:txBody>
      </p:sp>
      <p:pic>
        <p:nvPicPr>
          <p:cNvPr descr="check-circle_bold_2E7D32.png" id="131" name="Google Shape;13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" y="288036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8"/>
          <p:cNvSpPr txBox="1"/>
          <p:nvPr/>
        </p:nvSpPr>
        <p:spPr>
          <a:xfrm>
            <a:off x="905256" y="2871216"/>
            <a:ext cx="6053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Una recomendación pertinente:</a:t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612648" y="3200400"/>
            <a:ext cx="6345936" cy="1097280"/>
          </a:xfrm>
          <a:prstGeom prst="roundRect">
            <a:avLst>
              <a:gd fmla="val 8333" name="adj"/>
            </a:avLst>
          </a:prstGeom>
          <a:solidFill>
            <a:srgbClr val="FAF9FB"/>
          </a:solidFill>
          <a:ln cap="flat" cmpd="sng" w="9525">
            <a:solidFill>
              <a:srgbClr val="E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740664" y="3291840"/>
            <a:ext cx="6071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6AFC0"/>
                </a:solidFill>
                <a:latin typeface="Arial"/>
                <a:ea typeface="Arial"/>
                <a:cs typeface="Arial"/>
                <a:sym typeface="Arial"/>
              </a:rPr>
              <a:t>Escribe aquí...</a:t>
            </a:r>
            <a:endParaRPr/>
          </a:p>
        </p:txBody>
      </p:sp>
      <p:pic>
        <p:nvPicPr>
          <p:cNvPr descr="warning_bold_B08A00.png" id="135" name="Google Shape;13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648" y="44897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8"/>
          <p:cNvSpPr txBox="1"/>
          <p:nvPr/>
        </p:nvSpPr>
        <p:spPr>
          <a:xfrm>
            <a:off x="905256" y="4480560"/>
            <a:ext cx="6053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Una que necesita ajustes:</a:t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612648" y="4809744"/>
            <a:ext cx="6345936" cy="1097280"/>
          </a:xfrm>
          <a:prstGeom prst="roundRect">
            <a:avLst>
              <a:gd fmla="val 8333" name="adj"/>
            </a:avLst>
          </a:prstGeom>
          <a:solidFill>
            <a:srgbClr val="FAF9FB"/>
          </a:solidFill>
          <a:ln cap="flat" cmpd="sng" w="9525">
            <a:solidFill>
              <a:srgbClr val="E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40664" y="4901184"/>
            <a:ext cx="6071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6AFC0"/>
                </a:solidFill>
                <a:latin typeface="Arial"/>
                <a:ea typeface="Arial"/>
                <a:cs typeface="Arial"/>
                <a:sym typeface="Arial"/>
              </a:rPr>
              <a:t>Escribe aquí...</a:t>
            </a:r>
            <a:endParaRPr/>
          </a:p>
        </p:txBody>
      </p:sp>
      <p:pic>
        <p:nvPicPr>
          <p:cNvPr descr="x-circle_bold_B31686.png" id="139" name="Google Shape;13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" y="609904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8"/>
          <p:cNvSpPr txBox="1"/>
          <p:nvPr/>
        </p:nvSpPr>
        <p:spPr>
          <a:xfrm>
            <a:off x="905256" y="6089904"/>
            <a:ext cx="6053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Una que descartaríamos:</a:t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612648" y="6419088"/>
            <a:ext cx="6345936" cy="1097280"/>
          </a:xfrm>
          <a:prstGeom prst="roundRect">
            <a:avLst>
              <a:gd fmla="val 8333" name="adj"/>
            </a:avLst>
          </a:prstGeom>
          <a:solidFill>
            <a:srgbClr val="FAF9FB"/>
          </a:solidFill>
          <a:ln cap="flat" cmpd="sng" w="9525">
            <a:solidFill>
              <a:srgbClr val="E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40664" y="6510528"/>
            <a:ext cx="6071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6AFC0"/>
                </a:solidFill>
                <a:latin typeface="Arial"/>
                <a:ea typeface="Arial"/>
                <a:cs typeface="Arial"/>
                <a:sym typeface="Arial"/>
              </a:rPr>
              <a:t>Escribe aquí...</a:t>
            </a:r>
            <a:endParaRPr/>
          </a:p>
        </p:txBody>
      </p:sp>
      <p:pic>
        <p:nvPicPr>
          <p:cNvPr descr="question_bold_664092.png" id="143" name="Google Shape;14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2648" y="77083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8"/>
          <p:cNvSpPr txBox="1"/>
          <p:nvPr/>
        </p:nvSpPr>
        <p:spPr>
          <a:xfrm>
            <a:off x="905256" y="7699248"/>
            <a:ext cx="6053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¿Por qué?</a:t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612648" y="8028432"/>
            <a:ext cx="6345936" cy="1097280"/>
          </a:xfrm>
          <a:prstGeom prst="roundRect">
            <a:avLst>
              <a:gd fmla="val 8333" name="adj"/>
            </a:avLst>
          </a:prstGeom>
          <a:solidFill>
            <a:srgbClr val="FAF9FB"/>
          </a:solidFill>
          <a:ln cap="flat" cmpd="sng" w="9525">
            <a:solidFill>
              <a:srgbClr val="E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740664" y="8119872"/>
            <a:ext cx="6071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6AFC0"/>
                </a:solidFill>
                <a:latin typeface="Arial"/>
                <a:ea typeface="Arial"/>
                <a:cs typeface="Arial"/>
                <a:sym typeface="Arial"/>
              </a:rPr>
              <a:t>Escribe aquí...</a:t>
            </a:r>
            <a:endParaRPr/>
          </a:p>
        </p:txBody>
      </p:sp>
      <p:sp>
        <p:nvSpPr>
          <p:cNvPr id="147" name="Google Shape;147;p8">
            <a:hlinkClick action="ppaction://hlinksldjump" r:id="rId8"/>
          </p:cNvPr>
          <p:cNvSpPr/>
          <p:nvPr/>
        </p:nvSpPr>
        <p:spPr>
          <a:xfrm>
            <a:off x="548640" y="10040112"/>
            <a:ext cx="1051560" cy="329184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>
            <a:hlinkClick action="ppaction://hlinksldjump" r:id="rId9"/>
          </p:cNvPr>
          <p:cNvSpPr/>
          <p:nvPr/>
        </p:nvSpPr>
        <p:spPr>
          <a:xfrm>
            <a:off x="548640" y="9994392"/>
            <a:ext cx="1051560" cy="32918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663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/>
          </a:p>
        </p:txBody>
      </p:sp>
      <p:sp>
        <p:nvSpPr>
          <p:cNvPr id="149" name="Google Shape;149;p8">
            <a:hlinkClick action="ppaction://hlinksldjump" r:id="rId10"/>
          </p:cNvPr>
          <p:cNvSpPr/>
          <p:nvPr/>
        </p:nvSpPr>
        <p:spPr>
          <a:xfrm>
            <a:off x="1709928" y="10040112"/>
            <a:ext cx="1188720" cy="329184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>
            <a:hlinkClick action="ppaction://hlinksldjump" r:id="rId11"/>
          </p:cNvPr>
          <p:cNvSpPr/>
          <p:nvPr/>
        </p:nvSpPr>
        <p:spPr>
          <a:xfrm>
            <a:off x="1709928" y="9994392"/>
            <a:ext cx="1188720" cy="329184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/>
          <p:nvPr/>
        </p:nvSpPr>
        <p:spPr>
          <a:xfrm>
            <a:off x="612648" y="877824"/>
            <a:ext cx="63459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LABORATORIO CON IA · SCRUM BAJO LA LUPA</a:t>
            </a:r>
            <a:endParaRPr/>
          </a:p>
        </p:txBody>
      </p:sp>
      <p:sp>
        <p:nvSpPr>
          <p:cNvPr id="156" name="Google Shape;156;p9"/>
          <p:cNvSpPr txBox="1"/>
          <p:nvPr/>
        </p:nvSpPr>
        <p:spPr>
          <a:xfrm>
            <a:off x="612648" y="1188720"/>
            <a:ext cx="6345936" cy="265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Ficha de laboratorio con IA · Paso 04</a:t>
            </a:r>
            <a:endParaRPr/>
          </a:p>
        </p:txBody>
      </p:sp>
      <p:sp>
        <p:nvSpPr>
          <p:cNvPr id="157" name="Google Shape;157;p9"/>
          <p:cNvSpPr txBox="1"/>
          <p:nvPr/>
        </p:nvSpPr>
        <p:spPr>
          <a:xfrm>
            <a:off x="612648" y="1618488"/>
            <a:ext cx="6345936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Nuestra decisión</a:t>
            </a:r>
            <a:endParaRPr/>
          </a:p>
        </p:txBody>
      </p:sp>
      <p:pic>
        <p:nvPicPr>
          <p:cNvPr descr="image.png" id="158" name="Google Shape;1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2148840"/>
            <a:ext cx="1024128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9"/>
          <p:cNvSpPr txBox="1"/>
          <p:nvPr/>
        </p:nvSpPr>
        <p:spPr>
          <a:xfrm>
            <a:off x="612648" y="2441448"/>
            <a:ext cx="6345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Proponemos tres acciones concretas para la situación planteada.</a:t>
            </a:r>
            <a:endParaRPr/>
          </a:p>
        </p:txBody>
      </p:sp>
      <p:pic>
        <p:nvPicPr>
          <p:cNvPr descr="number-circle-one_bold_664092.png" id="160" name="Google Shape;16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" y="288036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"/>
          <p:cNvSpPr txBox="1"/>
          <p:nvPr/>
        </p:nvSpPr>
        <p:spPr>
          <a:xfrm>
            <a:off x="905256" y="2871216"/>
            <a:ext cx="6053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Acción 1</a:t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612648" y="3200400"/>
            <a:ext cx="6345936" cy="1417320"/>
          </a:xfrm>
          <a:prstGeom prst="roundRect">
            <a:avLst>
              <a:gd fmla="val 6451" name="adj"/>
            </a:avLst>
          </a:prstGeom>
          <a:solidFill>
            <a:srgbClr val="FAF9FB"/>
          </a:solidFill>
          <a:ln cap="flat" cmpd="sng" w="9525">
            <a:solidFill>
              <a:srgbClr val="E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740664" y="3291840"/>
            <a:ext cx="6071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6AFC0"/>
                </a:solidFill>
                <a:latin typeface="Arial"/>
                <a:ea typeface="Arial"/>
                <a:cs typeface="Arial"/>
                <a:sym typeface="Arial"/>
              </a:rPr>
              <a:t>Escribe aquí...</a:t>
            </a:r>
            <a:endParaRPr/>
          </a:p>
        </p:txBody>
      </p:sp>
      <p:pic>
        <p:nvPicPr>
          <p:cNvPr descr="number-circle-two_bold_664092.png" id="164" name="Google Shape;16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648" y="480974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9"/>
          <p:cNvSpPr txBox="1"/>
          <p:nvPr/>
        </p:nvSpPr>
        <p:spPr>
          <a:xfrm>
            <a:off x="905256" y="4800600"/>
            <a:ext cx="6053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Acción 2</a:t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612648" y="5129784"/>
            <a:ext cx="6345936" cy="1417320"/>
          </a:xfrm>
          <a:prstGeom prst="roundRect">
            <a:avLst>
              <a:gd fmla="val 6451" name="adj"/>
            </a:avLst>
          </a:prstGeom>
          <a:solidFill>
            <a:srgbClr val="FAF9FB"/>
          </a:solidFill>
          <a:ln cap="flat" cmpd="sng" w="9525">
            <a:solidFill>
              <a:srgbClr val="E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740664" y="5221224"/>
            <a:ext cx="6071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6AFC0"/>
                </a:solidFill>
                <a:latin typeface="Arial"/>
                <a:ea typeface="Arial"/>
                <a:cs typeface="Arial"/>
                <a:sym typeface="Arial"/>
              </a:rPr>
              <a:t>Escribe aquí...</a:t>
            </a:r>
            <a:endParaRPr/>
          </a:p>
        </p:txBody>
      </p:sp>
      <p:pic>
        <p:nvPicPr>
          <p:cNvPr descr="number-circle-three_bold_664092.png" id="168" name="Google Shape;16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" y="673912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9"/>
          <p:cNvSpPr txBox="1"/>
          <p:nvPr/>
        </p:nvSpPr>
        <p:spPr>
          <a:xfrm>
            <a:off x="905256" y="6729984"/>
            <a:ext cx="6053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Acción 3</a:t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612648" y="7059168"/>
            <a:ext cx="6345936" cy="1417320"/>
          </a:xfrm>
          <a:prstGeom prst="roundRect">
            <a:avLst>
              <a:gd fmla="val 6451" name="adj"/>
            </a:avLst>
          </a:prstGeom>
          <a:solidFill>
            <a:srgbClr val="FAF9FB"/>
          </a:solidFill>
          <a:ln cap="flat" cmpd="sng" w="9525">
            <a:solidFill>
              <a:srgbClr val="E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740664" y="7150608"/>
            <a:ext cx="6071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6AFC0"/>
                </a:solidFill>
                <a:latin typeface="Arial"/>
                <a:ea typeface="Arial"/>
                <a:cs typeface="Arial"/>
                <a:sym typeface="Arial"/>
              </a:rPr>
              <a:t>Escribe aquí...</a:t>
            </a:r>
            <a:endParaRPr/>
          </a:p>
        </p:txBody>
      </p:sp>
      <p:sp>
        <p:nvSpPr>
          <p:cNvPr id="172" name="Google Shape;172;p9">
            <a:hlinkClick action="ppaction://hlinksldjump" r:id="rId7"/>
          </p:cNvPr>
          <p:cNvSpPr/>
          <p:nvPr/>
        </p:nvSpPr>
        <p:spPr>
          <a:xfrm>
            <a:off x="548640" y="10040112"/>
            <a:ext cx="1051560" cy="329184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9">
            <a:hlinkClick action="ppaction://hlinksldjump" r:id="rId8"/>
          </p:cNvPr>
          <p:cNvSpPr/>
          <p:nvPr/>
        </p:nvSpPr>
        <p:spPr>
          <a:xfrm>
            <a:off x="548640" y="9994392"/>
            <a:ext cx="1051560" cy="32918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663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/>
          </a:p>
        </p:txBody>
      </p:sp>
      <p:sp>
        <p:nvSpPr>
          <p:cNvPr id="174" name="Google Shape;174;p9">
            <a:hlinkClick action="ppaction://hlinksldjump" r:id="rId9"/>
          </p:cNvPr>
          <p:cNvSpPr/>
          <p:nvPr/>
        </p:nvSpPr>
        <p:spPr>
          <a:xfrm>
            <a:off x="1709928" y="10040112"/>
            <a:ext cx="1188720" cy="329184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9">
            <a:hlinkClick action="ppaction://hlinksldjump" r:id="rId10"/>
          </p:cNvPr>
          <p:cNvSpPr/>
          <p:nvPr/>
        </p:nvSpPr>
        <p:spPr>
          <a:xfrm>
            <a:off x="1709928" y="9994392"/>
            <a:ext cx="1188720" cy="329184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/>
        </p:nvSpPr>
        <p:spPr>
          <a:xfrm>
            <a:off x="612648" y="877824"/>
            <a:ext cx="63459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LABORATORIO CON IA · SCRUM BAJO LA LUPA</a:t>
            </a:r>
            <a:endParaRPr/>
          </a:p>
        </p:txBody>
      </p:sp>
      <p:sp>
        <p:nvSpPr>
          <p:cNvPr id="181" name="Google Shape;181;p22"/>
          <p:cNvSpPr txBox="1"/>
          <p:nvPr/>
        </p:nvSpPr>
        <p:spPr>
          <a:xfrm>
            <a:off x="612648" y="1188720"/>
            <a:ext cx="6345936" cy="265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Ficha de laboratorio con IA · Cierre</a:t>
            </a: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612648" y="1618488"/>
            <a:ext cx="6345936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Reflexión final</a:t>
            </a:r>
            <a:endParaRPr/>
          </a:p>
        </p:txBody>
      </p:sp>
      <p:pic>
        <p:nvPicPr>
          <p:cNvPr descr="image.png" id="183" name="Google Shape;18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2148840"/>
            <a:ext cx="1024128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2"/>
          <p:cNvSpPr txBox="1"/>
          <p:nvPr/>
        </p:nvSpPr>
        <p:spPr>
          <a:xfrm>
            <a:off x="612648" y="2441448"/>
            <a:ext cx="6345936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¿Qué modificamos de la respuesta inicial de la IA después de contrastarla con nuestros conocimientos sobre Scrum?</a:t>
            </a:r>
            <a:endParaRPr/>
          </a:p>
        </p:txBody>
      </p:sp>
      <p:pic>
        <p:nvPicPr>
          <p:cNvPr descr="star_bold_B08A00.png" id="185" name="Google Shape;18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" y="30723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 txBox="1"/>
          <p:nvPr/>
        </p:nvSpPr>
        <p:spPr>
          <a:xfrm>
            <a:off x="905256" y="3063240"/>
            <a:ext cx="60533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Nuestra reflexión:</a:t>
            </a: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612648" y="3392424"/>
            <a:ext cx="6345936" cy="3108960"/>
          </a:xfrm>
          <a:prstGeom prst="roundRect">
            <a:avLst>
              <a:gd fmla="val 2941" name="adj"/>
            </a:avLst>
          </a:prstGeom>
          <a:solidFill>
            <a:srgbClr val="FAF9FB"/>
          </a:solidFill>
          <a:ln cap="flat" cmpd="sng" w="9525">
            <a:solidFill>
              <a:srgbClr val="EC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740664" y="3483864"/>
            <a:ext cx="6071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6AFC0"/>
                </a:solidFill>
                <a:latin typeface="Arial"/>
                <a:ea typeface="Arial"/>
                <a:cs typeface="Arial"/>
                <a:sym typeface="Arial"/>
              </a:rPr>
              <a:t>Escribe aquí...</a:t>
            </a:r>
            <a:endParaRPr/>
          </a:p>
        </p:txBody>
      </p:sp>
      <p:sp>
        <p:nvSpPr>
          <p:cNvPr id="189" name="Google Shape;189;p22"/>
          <p:cNvSpPr/>
          <p:nvPr/>
        </p:nvSpPr>
        <p:spPr>
          <a:xfrm>
            <a:off x="612648" y="6684264"/>
            <a:ext cx="6345936" cy="1491996"/>
          </a:xfrm>
          <a:prstGeom prst="roundRect">
            <a:avLst>
              <a:gd fmla="val 7354" name="adj"/>
            </a:avLst>
          </a:prstGeom>
          <a:gradFill>
            <a:gsLst>
              <a:gs pos="0">
                <a:srgbClr val="B31686"/>
              </a:gs>
              <a:gs pos="100000">
                <a:srgbClr val="963F92"/>
              </a:gs>
            </a:gsLst>
            <a:lin ang="135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795528" y="6867144"/>
            <a:ext cx="5980176" cy="321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Idea clave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795528" y="7243572"/>
            <a:ext cx="5980176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3E9F0"/>
                </a:solidFill>
                <a:latin typeface="Arial"/>
                <a:ea typeface="Arial"/>
                <a:cs typeface="Arial"/>
                <a:sym typeface="Arial"/>
              </a:rPr>
              <a:t>Utilizar IA no significa aceptar automáticamente sus respuestas. El aprendizaje se fortalece cuando analizamos sus propuestas, las contrastamos con los fundamentos de Scrum y decidimos cuáles son pertinentes para nuestro contexto.</a:t>
            </a:r>
            <a:endParaRPr/>
          </a:p>
        </p:txBody>
      </p:sp>
      <p:sp>
        <p:nvSpPr>
          <p:cNvPr id="192" name="Google Shape;192;p22">
            <a:hlinkClick action="ppaction://hlinksldjump" r:id="rId5"/>
          </p:cNvPr>
          <p:cNvSpPr/>
          <p:nvPr/>
        </p:nvSpPr>
        <p:spPr>
          <a:xfrm>
            <a:off x="548640" y="10040112"/>
            <a:ext cx="1051560" cy="329184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2">
            <a:hlinkClick action="ppaction://hlinksldjump" r:id="rId6"/>
          </p:cNvPr>
          <p:cNvSpPr/>
          <p:nvPr/>
        </p:nvSpPr>
        <p:spPr>
          <a:xfrm>
            <a:off x="548640" y="9994392"/>
            <a:ext cx="1051560" cy="32918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663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/>
          </a:p>
        </p:txBody>
      </p:sp>
      <p:sp>
        <p:nvSpPr>
          <p:cNvPr id="174" name="Google Shape;174;p9">
            <a:hlinkClick action="ppaction://hlinksldjump" r:id="rId7"/>
          </p:cNvPr>
          <p:cNvSpPr/>
          <p:nvPr/>
        </p:nvSpPr>
        <p:spPr>
          <a:xfrm>
            <a:off x="1709928" y="10040112"/>
            <a:ext cx="1188720" cy="329184"/>
          </a:xfrm>
          <a:prstGeom prst="roundRect">
            <a:avLst>
              <a:gd fmla="val 50000" name="adj"/>
            </a:avLst>
          </a:prstGeom>
          <a:solidFill>
            <a:srgbClr val="C8A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9">
            <a:hlinkClick action="ppaction://hlinksldjump" r:id="rId7"/>
          </p:cNvPr>
          <p:cNvSpPr/>
          <p:nvPr/>
        </p:nvSpPr>
        <p:spPr>
          <a:xfrm>
            <a:off x="1709928" y="9994392"/>
            <a:ext cx="1188720" cy="329184"/>
          </a:xfrm>
          <a:prstGeom prst="roundRect">
            <a:avLst>
              <a:gd fmla="val 50000" name="adj"/>
            </a:avLst>
          </a:prstGeom>
          <a:solidFill>
            <a:srgbClr val="FFD9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0" name="Google Shape;180;p22"/>
          <p:cNvSpPr txBox="1"/>
          <p:nvPr/>
        </p:nvSpPr>
        <p:spPr>
          <a:xfrm>
            <a:off x="612648" y="877824"/>
            <a:ext cx="63459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LABORATORIO CON IA · SCRUM BAJO LA LUPA</a:t>
            </a:r>
            <a:endParaRPr/>
          </a:p>
        </p:txBody>
      </p:sp>
      <p:sp>
        <p:nvSpPr>
          <p:cNvPr id="181" name="Google Shape;181;p22"/>
          <p:cNvSpPr txBox="1"/>
          <p:nvPr/>
        </p:nvSpPr>
        <p:spPr>
          <a:xfrm>
            <a:off x="612648" y="1188720"/>
            <a:ext cx="6345936" cy="265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612648" y="1618488"/>
            <a:ext cx="6345936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Sobre este documento</a:t>
            </a:r>
            <a:endParaRPr/>
          </a:p>
        </p:txBody>
      </p:sp>
      <p:pic>
        <p:nvPicPr>
          <p:cNvPr id="183" name="Picture 18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148840"/>
            <a:ext cx="1024128" cy="118872"/>
          </a:xfrm>
          <a:prstGeom prst="rect">
            <a:avLst/>
          </a:prstGeom>
        </p:spPr>
      </p:pic>
      <p:graphicFrame>
        <p:nvGraphicFramePr>
          <p:cNvPr id="184" name="Table 183"/>
          <p:cNvGraphicFramePr>
            <a:graphicFrameLocks noGrp="1"/>
          </p:cNvGraphicFramePr>
          <p:nvPr/>
        </p:nvGraphicFramePr>
        <p:xfrm>
          <a:off x="612648" y="2667712"/>
          <a:ext cx="6345936" cy="4620000"/>
        </p:xfrm>
        <a:graphic>
          <a:graphicData uri="http://schemas.openxmlformats.org/drawingml/2006/table">
            <a:tbl>
              <a:tblPr/>
              <a:tblGrid>
                <a:gridCol w="2919130"/>
                <a:gridCol w="3426806"/>
              </a:tblGrid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Proyecto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@Medellín — SAPIENCIA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Tipo de recurso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PDF interactivo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Coordinación general: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Luz Dary Morales Galvis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Experto temático: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Diana María Velázquez García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Diseñador de la experiencia virtual de aprendizaje: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Julieta Márquez Gutiérrez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Corrección de estilo: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Julieta Márquez Gutiérrez y Sergio Andrés Ocampo Rivera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Validación pedagógica: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Sandra Patricia Hoyos Sepúlveda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Diseño gráfico: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Andrea Valentina Roa Orozco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Desarrollo de interactivos: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Paola Andrea Quintero Aguilar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Disposición y ensamble: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Samayda Herrera Betancur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2159"/>
                          </a:solidFill>
                          <a:latin typeface="Arial"/>
                        </a:rPr>
                        <a:t>Última actualización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332F37"/>
                          </a:solidFill>
                          <a:latin typeface="Arial"/>
                        </a:rPr>
                        <a:t>Octubre de 2026</a:t>
                      </a:r>
                    </a:p>
                  </a:txBody>
                  <a:tcPr marL="137150" marR="137150" marT="91440" marB="9144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F1EBF6"/>
                    </a:solidFill>
                  </a:tcPr>
                </a:tc>
              </a:tr>
            </a:tbl>
          </a:graphicData>
        </a:graphic>
      </p:graphicFrame>
      <p:sp>
        <p:nvSpPr>
          <p:cNvPr id="192" name="Google Shape;192;p22">
            <a:hlinkClick action="ppaction://hlinksldjump" r:id="rId3"/>
          </p:cNvPr>
          <p:cNvSpPr/>
          <p:nvPr/>
        </p:nvSpPr>
        <p:spPr>
          <a:xfrm>
            <a:off x="548640" y="10040112"/>
            <a:ext cx="1051560" cy="329184"/>
          </a:xfrm>
          <a:prstGeom prst="roundRect">
            <a:avLst>
              <a:gd fmla="val 50000" name="adj"/>
            </a:avLst>
          </a:prstGeom>
          <a:solidFill>
            <a:srgbClr val="D8D2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2">
            <a:hlinkClick action="ppaction://hlinksldjump" r:id="rId3"/>
          </p:cNvPr>
          <p:cNvSpPr/>
          <p:nvPr/>
        </p:nvSpPr>
        <p:spPr>
          <a:xfrm>
            <a:off x="548640" y="9994392"/>
            <a:ext cx="1051560" cy="32918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663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USUARIO</dc:creator>
</cp:coreProperties>
</file>