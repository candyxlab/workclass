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4" r:id="rId3"/>
    <p:sldId id="259" r:id="rId4"/>
    <p:sldId id="263" r:id="rId5"/>
    <p:sldId id="260" r:id="rId6"/>
    <p:sldId id="262" r:id="rId7"/>
    <p:sldId id="265" r:id="rId12"/>
  </p:sldIdLst>
  <p:sldSz cx="7562850" cy="106965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SYGDidA1uJTKl/soFi7IIwlw9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159"/>
    <a:srgbClr val="F1EBF6"/>
    <a:srgbClr val="664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414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12" Type="http://schemas.openxmlformats.org/officeDocument/2006/relationships/slide" Target="slides/slide7.xml"/><Relationship Id="rId13" Type="http://customschemas.google.com/relationships/presentationmetadata" Target="meta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2db26118f76d500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h2db26118f76d500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370B6129-FC4C-433F-8859-E74126B7E2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7570166" cy="1071274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1.xml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slide" Target="slide4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slide" Target="slide5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h2db26118f76d5007_0_111"/>
          <p:cNvGrpSpPr/>
          <p:nvPr/>
        </p:nvGrpSpPr>
        <p:grpSpPr>
          <a:xfrm>
            <a:off x="-4479" y="-105955"/>
            <a:ext cx="791487" cy="10841713"/>
            <a:chOff x="0" y="-28575"/>
            <a:chExt cx="283200" cy="3883274"/>
          </a:xfrm>
        </p:grpSpPr>
        <p:sp>
          <p:nvSpPr>
            <p:cNvPr id="119" name="Google Shape;119;h2db26118f76d5007_0_111"/>
            <p:cNvSpPr/>
            <p:nvPr/>
          </p:nvSpPr>
          <p:spPr>
            <a:xfrm>
              <a:off x="0" y="0"/>
              <a:ext cx="283182" cy="3854699"/>
            </a:xfrm>
            <a:custGeom>
              <a:avLst/>
              <a:gdLst/>
              <a:ahLst/>
              <a:cxnLst/>
              <a:rect l="l" t="t" r="r" b="b"/>
              <a:pathLst>
                <a:path w="283182" h="3854699" extrusionOk="0">
                  <a:moveTo>
                    <a:pt x="0" y="0"/>
                  </a:moveTo>
                  <a:lnTo>
                    <a:pt x="283182" y="0"/>
                  </a:lnTo>
                  <a:lnTo>
                    <a:pt x="283182" y="3854699"/>
                  </a:lnTo>
                  <a:lnTo>
                    <a:pt x="0" y="3854699"/>
                  </a:lnTo>
                  <a:close/>
                </a:path>
              </a:pathLst>
            </a:custGeom>
            <a:gradFill>
              <a:gsLst>
                <a:gs pos="0">
                  <a:srgbClr val="664092"/>
                </a:gs>
                <a:gs pos="100000">
                  <a:srgbClr val="5266CE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0" name="Google Shape;120;h2db26118f76d5007_0_111"/>
            <p:cNvSpPr txBox="1"/>
            <p:nvPr/>
          </p:nvSpPr>
          <p:spPr>
            <a:xfrm>
              <a:off x="0" y="-28575"/>
              <a:ext cx="283200" cy="388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50" tIns="50850" rIns="50850" bIns="50850" anchor="ctr" anchorCtr="0">
              <a:noAutofit/>
            </a:bodyPr>
            <a:lstStyle/>
            <a:p>
              <a:pPr marL="0" marR="0" lvl="0" indent="0" algn="ctr" rtl="0">
                <a:lnSpc>
                  <a:spcPct val="104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h2db26118f76d5007_0_111"/>
          <p:cNvGrpSpPr/>
          <p:nvPr/>
        </p:nvGrpSpPr>
        <p:grpSpPr>
          <a:xfrm>
            <a:off x="376975" y="-957715"/>
            <a:ext cx="10997590" cy="12612380"/>
            <a:chOff x="12900" y="0"/>
            <a:chExt cx="812800" cy="812800"/>
          </a:xfrm>
        </p:grpSpPr>
        <p:sp>
          <p:nvSpPr>
            <p:cNvPr id="122" name="Google Shape;122;h2db26118f76d5007_0_111"/>
            <p:cNvSpPr/>
            <p:nvPr/>
          </p:nvSpPr>
          <p:spPr>
            <a:xfrm>
              <a:off x="1290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2325" tIns="122325" rIns="122325" bIns="1223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h2db26118f76d5007_0_111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50" tIns="50850" rIns="50850" bIns="50850" anchor="ctr" anchorCtr="0">
              <a:noAutofit/>
            </a:bodyPr>
            <a:lstStyle/>
            <a:p>
              <a:pPr marL="0" marR="0" lvl="0" indent="0" algn="ctr" rtl="0">
                <a:lnSpc>
                  <a:spcPct val="104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h2db26118f76d5007_0_111"/>
          <p:cNvSpPr/>
          <p:nvPr/>
        </p:nvSpPr>
        <p:spPr>
          <a:xfrm>
            <a:off x="1938900" y="3901788"/>
            <a:ext cx="1816943" cy="193000"/>
          </a:xfrm>
          <a:custGeom>
            <a:avLst/>
            <a:gdLst/>
            <a:ahLst/>
            <a:cxnLst/>
            <a:rect l="l" t="t" r="r" b="b"/>
            <a:pathLst>
              <a:path w="1425053" h="161506" extrusionOk="0">
                <a:moveTo>
                  <a:pt x="0" y="0"/>
                </a:moveTo>
                <a:lnTo>
                  <a:pt x="1425052" y="0"/>
                </a:lnTo>
                <a:lnTo>
                  <a:pt x="1425052" y="161506"/>
                </a:lnTo>
                <a:lnTo>
                  <a:pt x="0" y="161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h2db26118f76d5007_0_111"/>
          <p:cNvGrpSpPr/>
          <p:nvPr/>
        </p:nvGrpSpPr>
        <p:grpSpPr>
          <a:xfrm>
            <a:off x="1510953" y="250466"/>
            <a:ext cx="1753616" cy="1751828"/>
            <a:chOff x="0" y="0"/>
            <a:chExt cx="812800" cy="812800"/>
          </a:xfrm>
        </p:grpSpPr>
        <p:sp>
          <p:nvSpPr>
            <p:cNvPr id="131" name="Google Shape;131;h2db26118f76d5007_0_1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2325" tIns="122325" rIns="122325" bIns="1223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h2db26118f76d5007_0_111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675" tIns="68675" rIns="68675" bIns="68675" anchor="ctr" anchorCtr="0">
              <a:noAutofit/>
            </a:bodyPr>
            <a:lstStyle/>
            <a:p>
              <a:pPr marL="0" marR="0" lvl="0" indent="0" algn="ctr" rtl="0">
                <a:lnSpc>
                  <a:spcPct val="94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h2db26118f76d5007_0_111"/>
          <p:cNvSpPr txBox="1"/>
          <p:nvPr/>
        </p:nvSpPr>
        <p:spPr>
          <a:xfrm>
            <a:off x="1938900" y="2099212"/>
            <a:ext cx="38392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IA EN ACCIÓN · LABORATORIO</a:t>
            </a:r>
            <a:endParaRPr dirty="0"/>
          </a:p>
        </p:txBody>
      </p:sp>
      <p:sp>
        <p:nvSpPr>
          <p:cNvPr id="135" name="Google Shape;135;h2db26118f76d5007_0_111"/>
          <p:cNvSpPr txBox="1"/>
          <p:nvPr/>
        </p:nvSpPr>
        <p:spPr>
          <a:xfrm>
            <a:off x="1938900" y="2542032"/>
            <a:ext cx="38097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Laboratorio con IA:</a:t>
            </a:r>
            <a:endParaRPr sz="3000" dirty="0">
              <a:solidFill>
                <a:srgbClr val="3D2159"/>
              </a:solidFill>
            </a:endParaRPr>
          </a:p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¿Qué tan ágil es nuestra forma de trabajar?</a:t>
            </a:r>
            <a:endParaRPr sz="3000" dirty="0">
              <a:solidFill>
                <a:srgbClr val="3D2159"/>
              </a:solidFill>
            </a:endParaRPr>
          </a:p>
        </p:txBody>
      </p:sp>
      <p:sp>
        <p:nvSpPr>
          <p:cNvPr id="137" name="Google Shape;137;h2db26118f76d5007_0_111"/>
          <p:cNvSpPr txBox="1"/>
          <p:nvPr/>
        </p:nvSpPr>
        <p:spPr>
          <a:xfrm>
            <a:off x="4251900" y="5911987"/>
            <a:ext cx="3809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Reto</a:t>
            </a:r>
            <a:endParaRPr dirty="0"/>
          </a:p>
        </p:txBody>
      </p:sp>
      <p:sp>
        <p:nvSpPr>
          <p:cNvPr id="138" name="Google Shape;138;h2db26118f76d5007_0_111"/>
          <p:cNvSpPr txBox="1"/>
          <p:nvPr/>
        </p:nvSpPr>
        <p:spPr>
          <a:xfrm>
            <a:off x="4251899" y="6302737"/>
            <a:ext cx="2697541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Seleccionaremos un proyecto, proceso o iniciativa de una organización o emprendimiento y analizaremos cómo podría abordarse desde una lógica más ágil.</a:t>
            </a:r>
          </a:p>
        </p:txBody>
      </p:sp>
      <p:sp>
        <p:nvSpPr>
          <p:cNvPr id="139" name="Google Shape;139;h2db26118f76d5007_0_111"/>
          <p:cNvSpPr/>
          <p:nvPr/>
        </p:nvSpPr>
        <p:spPr>
          <a:xfrm>
            <a:off x="543314" y="5482878"/>
            <a:ext cx="3143250" cy="3143238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2214" t="34" r="-5470" b="-34"/>
            </a:stretch>
          </a:blipFill>
          <a:ln w="42750" cap="sq" cmpd="sng">
            <a:solidFill>
              <a:srgbClr val="FFD9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122325" tIns="122325" rIns="122325" bIns="122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h2db26118f76d5007_0_111"/>
          <p:cNvGrpSpPr/>
          <p:nvPr/>
        </p:nvGrpSpPr>
        <p:grpSpPr>
          <a:xfrm>
            <a:off x="522058" y="7954856"/>
            <a:ext cx="1677934" cy="1674853"/>
            <a:chOff x="0" y="1668"/>
            <a:chExt cx="1866154" cy="1864770"/>
          </a:xfrm>
        </p:grpSpPr>
        <p:grpSp>
          <p:nvGrpSpPr>
            <p:cNvPr id="141" name="Google Shape;141;h2db26118f76d5007_0_111"/>
            <p:cNvGrpSpPr/>
            <p:nvPr/>
          </p:nvGrpSpPr>
          <p:grpSpPr>
            <a:xfrm>
              <a:off x="25519" y="25519"/>
              <a:ext cx="1815389" cy="1815389"/>
              <a:chOff x="0" y="0"/>
              <a:chExt cx="812800" cy="812800"/>
            </a:xfrm>
          </p:grpSpPr>
          <p:sp>
            <p:nvSpPr>
              <p:cNvPr id="142" name="Google Shape;142;h2db26118f76d5007_0_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67CF1"/>
                  </a:gs>
                  <a:gs pos="100000">
                    <a:srgbClr val="66409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122325" tIns="122325" rIns="122325" bIns="1223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h2db26118f76d5007_0_111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975" tIns="67975" rIns="67975" bIns="679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" name="Google Shape;144;h2db26118f76d5007_0_111"/>
            <p:cNvSpPr/>
            <p:nvPr/>
          </p:nvSpPr>
          <p:spPr>
            <a:xfrm rot="-5400000">
              <a:off x="692" y="976"/>
              <a:ext cx="1864770" cy="1866154"/>
            </a:xfrm>
            <a:custGeom>
              <a:avLst/>
              <a:gdLst/>
              <a:ahLst/>
              <a:cxnLst/>
              <a:rect l="l" t="t" r="r" b="b"/>
              <a:pathLst>
                <a:path w="1706883" h="1708150" extrusionOk="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adFill>
              <a:gsLst>
                <a:gs pos="0">
                  <a:srgbClr val="467CF1"/>
                </a:gs>
                <a:gs pos="100000">
                  <a:srgbClr val="6640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2325" tIns="122325" rIns="122325" bIns="1223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" name="Gráfico 33">
            <a:extLst>
              <a:ext uri="{FF2B5EF4-FFF2-40B4-BE49-F238E27FC236}">
                <a16:creationId xmlns:a16="http://schemas.microsoft.com/office/drawing/2014/main" id="{DEDE7871-DC85-489C-91F4-661EEC80BF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4649" y="9191345"/>
            <a:ext cx="4429787" cy="727355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17BCFC7C-EA2B-45FD-9C8D-93ECE340F9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4137" y="689560"/>
            <a:ext cx="2751193" cy="6204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"/>
          <p:cNvSpPr txBox="1"/>
          <p:nvPr/>
        </p:nvSpPr>
        <p:spPr>
          <a:xfrm>
            <a:off x="609600" y="879288"/>
            <a:ext cx="63444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 dirty="0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¿QUÉ TAN ÁGIL ES NUESTRA FORMA DE TRABAJAR?</a:t>
            </a:r>
            <a:endParaRPr dirty="0"/>
          </a:p>
        </p:txBody>
      </p:sp>
      <p:sp>
        <p:nvSpPr>
          <p:cNvPr id="160" name="Google Shape;160;p2"/>
          <p:cNvSpPr txBox="1"/>
          <p:nvPr/>
        </p:nvSpPr>
        <p:spPr>
          <a:xfrm>
            <a:off x="609600" y="1190088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IA en acción · Laboratorio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609600" y="1615659"/>
            <a:ext cx="6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Prompt sugerido para trabajar con IA</a:t>
            </a:r>
            <a:endParaRPr/>
          </a:p>
        </p:txBody>
      </p:sp>
      <p:pic>
        <p:nvPicPr>
          <p:cNvPr id="162" name="Google Shape;162;p2" descr="dot_row_gol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2144604"/>
            <a:ext cx="1026038" cy="1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/>
          <p:nvPr/>
        </p:nvSpPr>
        <p:spPr>
          <a:xfrm>
            <a:off x="609600" y="2514600"/>
            <a:ext cx="6344400" cy="1600200"/>
          </a:xfrm>
          <a:prstGeom prst="roundRect">
            <a:avLst>
              <a:gd name="adj" fmla="val 6000"/>
            </a:avLst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762000" y="2651760"/>
            <a:ext cx="603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“Analiza la siguiente situación desde los principios de la agilidad: [describir brevemente el proyecto o situación]. Identifica: 1) qué aspectos dificultan la adaptación al cambio, 2) dónde podría incorporarse retroalimentación temprana, 3) qué resultado de valor podría entregarse de manera incremental y 4) qué principio ágil podría orientar cada mejora. Presenta tus recomendaciones de manera breve y justificada.”</a:t>
            </a:r>
            <a:endParaRPr/>
          </a:p>
        </p:txBody>
      </p:sp>
      <p:sp>
        <p:nvSpPr>
          <p:cNvPr id="167" name="Botón Anterior sombra">
            <a:hlinkClick r:id="rId3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Botón Anterior">
            <a:hlinkClick r:id="rId3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69" name="Botón Siguiente sombra">
            <a:hlinkClick r:id="rId4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Botón Siguiente">
            <a:hlinkClick r:id="rId4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  <p:sp>
        <p:nvSpPr>
          <p:cNvPr id="12" name="Google Shape;203;p4">
            <a:extLst>
              <a:ext uri="{FF2B5EF4-FFF2-40B4-BE49-F238E27FC236}">
                <a16:creationId xmlns:a16="http://schemas.microsoft.com/office/drawing/2014/main" id="{D13503C2-10D9-47D2-8221-9A62CBA8AF64}"/>
              </a:ext>
            </a:extLst>
          </p:cNvPr>
          <p:cNvSpPr txBox="1"/>
          <p:nvPr/>
        </p:nvSpPr>
        <p:spPr>
          <a:xfrm>
            <a:off x="609600" y="4644441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Paso 1</a:t>
            </a:r>
            <a:endParaRPr/>
          </a:p>
        </p:txBody>
      </p:sp>
      <p:sp>
        <p:nvSpPr>
          <p:cNvPr id="13" name="Google Shape;204;p4">
            <a:extLst>
              <a:ext uri="{FF2B5EF4-FFF2-40B4-BE49-F238E27FC236}">
                <a16:creationId xmlns:a16="http://schemas.microsoft.com/office/drawing/2014/main" id="{8478E0C2-2154-4F5A-A352-D0131A635A5B}"/>
              </a:ext>
            </a:extLst>
          </p:cNvPr>
          <p:cNvSpPr txBox="1"/>
          <p:nvPr/>
        </p:nvSpPr>
        <p:spPr>
          <a:xfrm>
            <a:off x="609600" y="5070012"/>
            <a:ext cx="6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Nuestra situación</a:t>
            </a:r>
            <a:endParaRPr/>
          </a:p>
        </p:txBody>
      </p:sp>
      <p:pic>
        <p:nvPicPr>
          <p:cNvPr id="14" name="Google Shape;205;p4" descr="dot_row_gold.png">
            <a:extLst>
              <a:ext uri="{FF2B5EF4-FFF2-40B4-BE49-F238E27FC236}">
                <a16:creationId xmlns:a16="http://schemas.microsoft.com/office/drawing/2014/main" id="{5AD0A16E-8DF0-4D53-8BC2-46880BE3DD3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5598957"/>
            <a:ext cx="1026038" cy="1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06;p4">
            <a:extLst>
              <a:ext uri="{FF2B5EF4-FFF2-40B4-BE49-F238E27FC236}">
                <a16:creationId xmlns:a16="http://schemas.microsoft.com/office/drawing/2014/main" id="{DE6A7F03-6931-48C6-83AE-43AFDE2F3096}"/>
              </a:ext>
            </a:extLst>
          </p:cNvPr>
          <p:cNvSpPr txBox="1"/>
          <p:nvPr/>
        </p:nvSpPr>
        <p:spPr>
          <a:xfrm>
            <a:off x="609600" y="5900241"/>
            <a:ext cx="63444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Describimos brevemente el proyecto, proceso o reto.</a:t>
            </a:r>
            <a:endParaRPr/>
          </a:p>
        </p:txBody>
      </p:sp>
      <p:sp>
        <p:nvSpPr>
          <p:cNvPr id="16" name="Google Shape;207;p4">
            <a:extLst>
              <a:ext uri="{FF2B5EF4-FFF2-40B4-BE49-F238E27FC236}">
                <a16:creationId xmlns:a16="http://schemas.microsoft.com/office/drawing/2014/main" id="{1916E03B-B5CA-4500-9D5D-20E74EAEEE62}"/>
              </a:ext>
            </a:extLst>
          </p:cNvPr>
          <p:cNvSpPr txBox="1"/>
          <p:nvPr/>
        </p:nvSpPr>
        <p:spPr>
          <a:xfrm>
            <a:off x="609600" y="6480241"/>
            <a:ext cx="63444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Proyecto, proceso o iniciativa:</a:t>
            </a:r>
            <a:endParaRPr/>
          </a:p>
        </p:txBody>
      </p:sp>
      <p:sp>
        <p:nvSpPr>
          <p:cNvPr id="17" name="Google Shape;208;p4">
            <a:extLst>
              <a:ext uri="{FF2B5EF4-FFF2-40B4-BE49-F238E27FC236}">
                <a16:creationId xmlns:a16="http://schemas.microsoft.com/office/drawing/2014/main" id="{667C5875-4F03-41E8-9C48-4D7599776AE9}"/>
              </a:ext>
            </a:extLst>
          </p:cNvPr>
          <p:cNvSpPr/>
          <p:nvPr/>
        </p:nvSpPr>
        <p:spPr>
          <a:xfrm>
            <a:off x="609600" y="6770241"/>
            <a:ext cx="6344400" cy="2194560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09;p4">
            <a:extLst>
              <a:ext uri="{FF2B5EF4-FFF2-40B4-BE49-F238E27FC236}">
                <a16:creationId xmlns:a16="http://schemas.microsoft.com/office/drawing/2014/main" id="{FFCE5457-F521-4097-AF6B-A555883411D2}"/>
              </a:ext>
            </a:extLst>
          </p:cNvPr>
          <p:cNvSpPr txBox="1"/>
          <p:nvPr/>
        </p:nvSpPr>
        <p:spPr>
          <a:xfrm>
            <a:off x="736600" y="6871841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"/>
          <p:cNvSpPr txBox="1"/>
          <p:nvPr/>
        </p:nvSpPr>
        <p:spPr>
          <a:xfrm>
            <a:off x="609600" y="879288"/>
            <a:ext cx="63444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 dirty="0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FICHA DE LABORATORIO CON IA · DE LOS PRINCIPIOS ÁGILES A LA PRÁCTICA</a:t>
            </a:r>
            <a:endParaRPr dirty="0"/>
          </a:p>
        </p:txBody>
      </p:sp>
      <p:sp>
        <p:nvSpPr>
          <p:cNvPr id="160" name="Google Shape;160;p2"/>
          <p:cNvSpPr txBox="1"/>
          <p:nvPr/>
        </p:nvSpPr>
        <p:spPr>
          <a:xfrm>
            <a:off x="609600" y="1190088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Paso 2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609600" y="1615659"/>
            <a:ext cx="6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Consultamos a la IA</a:t>
            </a:r>
            <a:endParaRPr/>
          </a:p>
        </p:txBody>
      </p:sp>
      <p:pic>
        <p:nvPicPr>
          <p:cNvPr id="162" name="Google Shape;162;p2" descr="dot_row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144604"/>
            <a:ext cx="1026038" cy="1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"/>
          <p:cNvSpPr txBox="1"/>
          <p:nvPr/>
        </p:nvSpPr>
        <p:spPr>
          <a:xfrm>
            <a:off x="609600" y="2445888"/>
            <a:ext cx="63444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Registramos las principales recomendaciones generadas por la IA.</a:t>
            </a:r>
            <a:endParaRPr/>
          </a:p>
        </p:txBody>
      </p:sp>
      <p:sp>
        <p:nvSpPr>
          <p:cNvPr id="167" name="Google Shape;167;p2"/>
          <p:cNvSpPr txBox="1"/>
          <p:nvPr/>
        </p:nvSpPr>
        <p:spPr>
          <a:xfrm>
            <a:off x="609600" y="3026664"/>
            <a:ext cx="6344400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Recomendaciones clave:</a:t>
            </a:r>
            <a:endParaRPr/>
          </a:p>
        </p:txBody>
      </p:sp>
      <p:sp>
        <p:nvSpPr>
          <p:cNvPr id="168" name="Google Shape;168;p2"/>
          <p:cNvSpPr/>
          <p:nvPr/>
        </p:nvSpPr>
        <p:spPr>
          <a:xfrm>
            <a:off x="609600" y="3392424"/>
            <a:ext cx="6344400" cy="566928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Shape 174"/>
          <p:cNvSpPr/>
          <p:nvPr/>
        </p:nvSpPr>
        <p:spPr>
          <a:xfrm>
            <a:off x="609600" y="4818888"/>
            <a:ext cx="6344400" cy="566928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Shape 172"/>
          <p:cNvSpPr/>
          <p:nvPr/>
        </p:nvSpPr>
        <p:spPr>
          <a:xfrm>
            <a:off x="609600" y="4105656"/>
            <a:ext cx="6344400" cy="566928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736600" y="3483864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1. Escribe aquí...</a:t>
            </a:r>
            <a:endParaRPr/>
          </a:p>
        </p:txBody>
      </p:sp>
      <p:sp>
        <p:nvSpPr>
          <p:cNvPr id="173" name="Shape 173"/>
          <p:cNvSpPr txBox="1"/>
          <p:nvPr/>
        </p:nvSpPr>
        <p:spPr>
          <a:xfrm>
            <a:off x="736600" y="4197096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2. Escribe aquí...</a:t>
            </a:r>
            <a:endParaRPr/>
          </a:p>
        </p:txBody>
      </p:sp>
      <p:sp>
        <p:nvSpPr>
          <p:cNvPr id="175" name="Shape 175"/>
          <p:cNvSpPr txBox="1"/>
          <p:nvPr/>
        </p:nvSpPr>
        <p:spPr>
          <a:xfrm>
            <a:off x="736600" y="4910327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3. Escribe aquí...</a:t>
            </a:r>
            <a:endParaRPr/>
          </a:p>
        </p:txBody>
      </p:sp>
      <p:sp>
        <p:nvSpPr>
          <p:cNvPr id="176" name="Botón Anterior sombra">
            <a:hlinkClick action="ppaction://hlinksldjump" r:id="rId6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Botón Anterior">
            <a:hlinkClick action="ppaction://hlinksldjump" r:id="rId6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78" name="Botón Siguiente sombra">
            <a:hlinkClick r:id="rId5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Botón Siguiente">
            <a:hlinkClick r:id="rId5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"/>
          <p:cNvSpPr txBox="1"/>
          <p:nvPr/>
        </p:nvSpPr>
        <p:spPr>
          <a:xfrm>
            <a:off x="609600" y="879288"/>
            <a:ext cx="63444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FICHA DE LABORATORIO CON IA · DE LOS PRINCIPIOS ÁGILES A LA PRÁCTICA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609600" y="1190088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Paso 3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609600" y="1615659"/>
            <a:ext cx="6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Analizamos críticamente</a:t>
            </a:r>
            <a:endParaRPr/>
          </a:p>
        </p:txBody>
      </p:sp>
      <p:pic>
        <p:nvPicPr>
          <p:cNvPr id="205" name="Google Shape;205;p4" descr="dot_row_gol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2144604"/>
            <a:ext cx="1026038" cy="1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"/>
          <p:cNvSpPr txBox="1"/>
          <p:nvPr/>
        </p:nvSpPr>
        <p:spPr>
          <a:xfrm>
            <a:off x="609600" y="2445888"/>
            <a:ext cx="63444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Contrastamos las recomendaciones con los valores, principios y el contexto.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609600" y="3025888"/>
            <a:ext cx="63444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¿Cuáles son coherentes con los valores y principios ágiles?</a:t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609600" y="3315888"/>
            <a:ext cx="6344400" cy="1188720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736600" y="3417488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609600" y="4736592"/>
            <a:ext cx="63444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¿Cuáles modificaríamos o descartaríamos?</a:t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609600" y="5029200"/>
            <a:ext cx="6344400" cy="1188720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736600" y="5129784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213" name="Botón Anterior sombra">
            <a:hlinkClick r:id="rId3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Botón Anterior">
            <a:hlinkClick r:id="rId3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215" name="Botón Siguiente sombra">
            <a:hlinkClick r:id="rId4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Botón Siguiente">
            <a:hlinkClick r:id="rId4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/>
        </p:nvSpPr>
        <p:spPr>
          <a:xfrm>
            <a:off x="609600" y="879288"/>
            <a:ext cx="63444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FICHA DE LABORATORIO CON IA · DE LOS PRINCIPIOS ÁGILES A LA PRÁCTICA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609600" y="1190088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Paso 4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609600" y="1615659"/>
            <a:ext cx="6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Nuestra decisión</a:t>
            </a:r>
            <a:endParaRPr/>
          </a:p>
        </p:txBody>
      </p:sp>
      <p:pic>
        <p:nvPicPr>
          <p:cNvPr id="179" name="Google Shape;179;p3" descr="dot_row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144604"/>
            <a:ext cx="1026038" cy="1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"/>
          <p:cNvSpPr txBox="1"/>
          <p:nvPr/>
        </p:nvSpPr>
        <p:spPr>
          <a:xfrm>
            <a:off x="609600" y="2445888"/>
            <a:ext cx="63444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Proponemos tres acciones concretas para incorporar una lógica más ágil.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609600" y="3026664"/>
            <a:ext cx="634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Acción 1:</a:t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609600" y="3319272"/>
            <a:ext cx="6344400" cy="658368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736600" y="3419856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609600" y="4215384"/>
            <a:ext cx="634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Acción 2:</a:t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609600" y="4507992"/>
            <a:ext cx="6344400" cy="658368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736600" y="4608576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187" name="Google Shape;187;p3"/>
          <p:cNvSpPr txBox="1"/>
          <p:nvPr/>
        </p:nvSpPr>
        <p:spPr>
          <a:xfrm>
            <a:off x="609600" y="5404104"/>
            <a:ext cx="634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Acción 3:</a:t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609600" y="5696712"/>
            <a:ext cx="6344400" cy="658368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736600" y="5797296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190" name="Botón Anterior sombra">
            <a:hlinkClick r:id="rId4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Botón Anterior">
            <a:hlinkClick r:id="rId4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92" name="Botón Siguiente sombra">
            <a:hlinkClick r:id="rId5" action="ppaction://hlinksldjump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Botón Siguiente">
            <a:hlinkClick r:id="rId5" action="ppaction://hlinksldjump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 txBox="1"/>
          <p:nvPr/>
        </p:nvSpPr>
        <p:spPr>
          <a:xfrm>
            <a:off x="609600" y="879288"/>
            <a:ext cx="63444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FICHA DE LABORATORIO CON IA · DE LOS PRINCIPIOS ÁGILES A LA PRÁCTICA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609600" y="1190088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609600" y="1615659"/>
            <a:ext cx="6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Reflexión final</a:t>
            </a:r>
            <a:endParaRPr/>
          </a:p>
        </p:txBody>
      </p:sp>
      <p:pic>
        <p:nvPicPr>
          <p:cNvPr id="225" name="Google Shape;225;p5" descr="dot_row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144604"/>
            <a:ext cx="1026038" cy="1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 txBox="1"/>
          <p:nvPr/>
        </p:nvSpPr>
        <p:spPr>
          <a:xfrm>
            <a:off x="609600" y="2440672"/>
            <a:ext cx="63444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¿Qué cambió entre la propuesta inicial de la IA y nuestra decisión final?</a:t>
            </a:r>
            <a:endParaRPr dirty="0"/>
          </a:p>
        </p:txBody>
      </p:sp>
      <p:sp>
        <p:nvSpPr>
          <p:cNvPr id="233" name="Google Shape;233;p5"/>
          <p:cNvSpPr/>
          <p:nvPr/>
        </p:nvSpPr>
        <p:spPr>
          <a:xfrm>
            <a:off x="609600" y="2871215"/>
            <a:ext cx="6344400" cy="1737360"/>
          </a:xfrm>
          <a:prstGeom prst="roundRect">
            <a:avLst>
              <a:gd name="adj" fmla="val 5000"/>
            </a:avLst>
          </a:prstGeom>
          <a:solidFill>
            <a:srgbClr val="FAF9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736600" y="2971800"/>
            <a:ext cx="6090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609600" y="4901184"/>
            <a:ext cx="6344400" cy="1325880"/>
          </a:xfrm>
          <a:prstGeom prst="roundRect">
            <a:avLst>
              <a:gd name="adj" fmla="val 5000"/>
            </a:avLst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787400" y="5038344"/>
            <a:ext cx="5988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n-US" sz="1700" b="1" i="0" u="none" strike="noStrike" cap="none" dirty="0" err="1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recordar</a:t>
            </a:r>
            <a:endParaRPr dirty="0">
              <a:solidFill>
                <a:srgbClr val="3D2159"/>
              </a:solidFill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787400" y="5358384"/>
            <a:ext cx="598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 dirty="0">
                <a:solidFill>
                  <a:srgbClr val="3D2159"/>
                </a:solidFill>
                <a:sym typeface="Arial"/>
              </a:rPr>
              <a:t>La IA puede ayudarnos a explorar alternativas; el criterio para decidir proviene de nuestra comprensión del contexto y de los principios que orientan la agilidad.</a:t>
            </a:r>
            <a:endParaRPr dirty="0">
              <a:solidFill>
                <a:srgbClr val="3D2159"/>
              </a:solidFill>
            </a:endParaRPr>
          </a:p>
        </p:txBody>
      </p:sp>
      <p:sp>
        <p:nvSpPr>
          <p:cNvPr id="238" name="Botón Anterior sombra">
            <a:hlinkClick r:id="rId4" action="ppaction://hlinksldjump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Botón Anterior">
            <a:hlinkClick r:id="rId4" action="ppaction://hlinksldjump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  <p:sp>
        <p:nvSpPr>
          <p:cNvPr id="192" name="Botón Siguiente sombra">
            <a:hlinkClick action="ppaction://hlinksldjump" r:id="rId5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Botón Siguiente">
            <a:hlinkClick action="ppaction://hlinksldjump" r:id="rId5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Siguiente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2" name="Google Shape;222;p5"/>
          <p:cNvSpPr txBox="1"/>
          <p:nvPr/>
        </p:nvSpPr>
        <p:spPr>
          <a:xfrm>
            <a:off x="609600" y="879288"/>
            <a:ext cx="63444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FICHA DE LABORATORIO CON IA · DE LOS PRINCIPIOS ÁGILES A LA PRÁCTICA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609600" y="1190088"/>
            <a:ext cx="634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609600" y="1615659"/>
            <a:ext cx="6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Sobre este documento</a:t>
            </a:r>
            <a:endParaRPr/>
          </a:p>
        </p:txBody>
      </p:sp>
      <p:pic>
        <p:nvPicPr>
          <p:cNvPr id="225" name="Picture 2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44604"/>
            <a:ext cx="1026038" cy="116284"/>
          </a:xfrm>
          <a:prstGeom prst="rect">
            <a:avLst/>
          </a:prstGeom>
        </p:spPr>
      </p:pic>
      <p:graphicFrame>
        <p:nvGraphicFramePr>
          <p:cNvPr id="226" name="Table 225"/>
          <p:cNvGraphicFramePr>
            <a:graphicFrameLocks noGrp="1"/>
          </p:cNvGraphicFramePr>
          <p:nvPr/>
        </p:nvGraphicFramePr>
        <p:xfrm>
          <a:off x="609600" y="2660888"/>
          <a:ext cx="6344400" cy="4620000"/>
        </p:xfrm>
        <a:graphic>
          <a:graphicData uri="http://schemas.openxmlformats.org/drawingml/2006/table">
            <a:tbl>
              <a:tblPr/>
              <a:tblGrid>
                <a:gridCol w="2918424"/>
                <a:gridCol w="3425976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Proyecto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@Medellín — SAPIENCIA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Tipo de recurso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PDF interactivo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Coordinación general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Luz Dary Morales Galvis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Experto temático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Diana María Velázquez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Diseñador de la experiencia virtual de aprendizaje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Julieta Márquez Gutiérrez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Corrección de estilo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Julieta Márquez Gutiérrez y Sergio Andrés Ocampo Rivera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Validación pedagógica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Sandra Patricia Hoyos Sepúlveda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Diseño gráfico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Andrea Valentina Roa Orozco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Desarrollo multimedia e interactivos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Paola Andrea Quintero Aguilar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Disposición y ensamble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Samayda Herrera Betancur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Última actualización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Octubre de 2026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</a:tbl>
          </a:graphicData>
        </a:graphic>
      </p:graphicFrame>
      <p:sp>
        <p:nvSpPr>
          <p:cNvPr id="238" name="Botón Anterior sombra">
            <a:hlinkClick action="ppaction://hlinksldjump" r:id="rId3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Botón Anterior">
            <a:hlinkClick action="ppaction://hlinksldjump" r:id="rId3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3D8F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3D8F"/>
                </a:solidFill>
                <a:latin typeface="Arial"/>
              </a:rPr>
              <a:t>Anterior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377</Words>
  <Application>Microsoft Office PowerPoint</Application>
  <PresentationFormat>Personalizado</PresentationFormat>
  <Paragraphs>56</Paragraphs>
  <Slides>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Valentina Orozco</cp:lastModifiedBy>
  <cp:revision>9</cp:revision>
  <dcterms:created xsi:type="dcterms:W3CDTF">2013-01-27T09:14:16Z</dcterms:created>
  <dcterms:modified xsi:type="dcterms:W3CDTF">2026-09-28T12:15:33Z</dcterms:modified>
</cp:coreProperties>
</file>