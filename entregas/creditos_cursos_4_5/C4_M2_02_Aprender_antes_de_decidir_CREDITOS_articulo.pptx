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73" r:id="rId23"/>
  </p:sldIdLst>
  <p:sldSz cy="9906000" cx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4" roundtripDataSignature="AMtx7mgG2dkpHyBS1/PVzo/jAKu6Mdw2l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E427A51-1B64-45B8-BDF3-1F6A3C46F699}">
  <a:tblStyle styleId="{2E427A51-1B64-45B8-BDF3-1F6A3C46F699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9EC"/>
          </a:solidFill>
        </a:fill>
      </a:tcStyle>
    </a:wholeTbl>
    <a:band1H>
      <a:tcTxStyle b="off" i="off"/>
      <a:tcStyle>
        <a:fill>
          <a:solidFill>
            <a:srgbClr val="CAD1D8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AD1D8"/>
          </a:solidFill>
        </a:fill>
      </a:tcStyle>
    </a:band1V>
    <a:band2V>
      <a:tcTxStyle b="off" i="off"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23" Type="http://schemas.openxmlformats.org/officeDocument/2006/relationships/slide" Target="slides/slide18.xml"/><Relationship Id="rId24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1" name="Google Shape;541;p9:notes"/>
          <p:cNvSpPr/>
          <p:nvPr>
            <p:ph idx="2" type="sldImg"/>
          </p:nvPr>
        </p:nvSpPr>
        <p:spPr>
          <a:xfrm>
            <a:off x="461963" y="0"/>
            <a:ext cx="2076450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7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-72969" y="1"/>
            <a:ext cx="7003938" cy="99060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9"/>
          <p:cNvSpPr/>
          <p:nvPr/>
        </p:nvSpPr>
        <p:spPr>
          <a:xfrm>
            <a:off x="638485" y="723900"/>
            <a:ext cx="408611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1" i="0" lang="es-MX" sz="825" u="none" cap="none" strike="noStrike">
                <a:solidFill>
                  <a:srgbClr val="664092"/>
                </a:solidFill>
                <a:latin typeface="Arial"/>
                <a:ea typeface="Arial"/>
                <a:cs typeface="Arial"/>
                <a:sym typeface="Arial"/>
              </a:rPr>
              <a:t>Artículo educativo · Aprender antes de decidir qué solución construir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9"/>
          <p:cNvSpPr/>
          <p:nvPr/>
        </p:nvSpPr>
        <p:spPr>
          <a:xfrm>
            <a:off x="638485" y="1428750"/>
            <a:ext cx="5581029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5"/>
              <a:buFont typeface="Arial"/>
              <a:buNone/>
            </a:pPr>
            <a:r>
              <a:rPr b="1" i="0" lang="es-MX" sz="2325" u="none" cap="none" strike="noStrike">
                <a:solidFill>
                  <a:srgbClr val="664092"/>
                </a:solidFill>
                <a:latin typeface="Arial"/>
                <a:ea typeface="Arial"/>
                <a:cs typeface="Arial"/>
                <a:sym typeface="Arial"/>
              </a:rPr>
              <a:t>Sobre este documento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45" name="Google Shape;545;p9"/>
          <p:cNvGraphicFramePr/>
          <p:nvPr/>
        </p:nvGraphicFramePr>
        <p:xfrm>
          <a:off x="640080" y="198930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{2E427A51-1B64-45B8-BDF3-1F6A3C46F699}</a:tableStyleId>
              </a:tblPr>
              <a:tblGrid>
                <a:gridCol w="2749850"/>
                <a:gridCol w="2831200"/>
              </a:tblGrid>
              <a:tr h="120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b="1" lang="es-MX" sz="95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Proyecto</a:t>
                      </a:r>
                      <a:endParaRPr b="1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7150" marB="137150" marR="137150" marL="137150">
                    <a:solidFill>
                      <a:srgbClr val="E5E6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lang="es-MX" sz="95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@Medellín — SAPIENCIA</a:t>
                      </a:r>
                      <a:endParaRPr sz="1100" u="none" cap="none" strike="noStrike">
                        <a:solidFill>
                          <a:srgbClr val="2D253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7150" marB="137150" marR="137150" marL="137150">
                    <a:solidFill>
                      <a:srgbClr val="E5E6ED"/>
                    </a:solidFill>
                  </a:tcPr>
                </a:tc>
              </a:tr>
              <a:tr h="120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b="1" lang="es-MX" sz="95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Tipo de recurso</a:t>
                      </a:r>
                      <a:endParaRPr b="1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7150" marB="137150" marR="137150" marL="137150">
                    <a:solidFill>
                      <a:srgbClr val="E5E6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lang="es-MX" sz="95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Artículo educativo</a:t>
                      </a:r>
                      <a:endParaRPr sz="1100" u="none" cap="none" strike="noStrike">
                        <a:solidFill>
                          <a:srgbClr val="2D253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7150" marB="137150" marR="137150" marL="137150">
                    <a:solidFill>
                      <a:srgbClr val="E5E6ED"/>
                    </a:solidFill>
                  </a:tcPr>
                </a:tc>
              </a:tr>
              <a:tr h="120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b="1" lang="es-MX" sz="95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Coordinación general:</a:t>
                      </a:r>
                      <a:endParaRPr b="1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7150" marB="137150" marR="137150" marL="137150">
                    <a:solidFill>
                      <a:srgbClr val="E5E6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lang="es-MX" sz="95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Luz Dary Morales Galvis</a:t>
                      </a:r>
                      <a:endParaRPr sz="1100" u="none" cap="none" strike="noStrike">
                        <a:solidFill>
                          <a:srgbClr val="2D253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7150" marB="137150" marR="137150" marL="137150">
                    <a:solidFill>
                      <a:srgbClr val="E5E6ED"/>
                    </a:solidFill>
                  </a:tcPr>
                </a:tc>
              </a:tr>
              <a:tr h="120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b="1" lang="es-MX" sz="95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Experto temático:</a:t>
                      </a:r>
                      <a:endParaRPr b="1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7150" marB="137150" marR="137150" marL="137150">
                    <a:solidFill>
                      <a:srgbClr val="E5E6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lang="es-MX" sz="95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Diana María Velázquez García</a:t>
                      </a:r>
                      <a:endParaRPr sz="1100" u="none" cap="none" strike="noStrike">
                        <a:solidFill>
                          <a:srgbClr val="2D253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7150" marB="137150" marR="137150" marL="137150">
                    <a:solidFill>
                      <a:srgbClr val="E5E6ED"/>
                    </a:solidFill>
                  </a:tcPr>
                </a:tc>
              </a:tr>
              <a:tr h="120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b="1" lang="es-MX" sz="95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Diseñador de la experiencia virtual de aprendizaje:</a:t>
                      </a:r>
                      <a:endParaRPr b="1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7150" marB="137150" marR="137150" marL="137150">
                    <a:solidFill>
                      <a:srgbClr val="E5E6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lang="es-MX" sz="95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Julieta Márquez Gutiérrez</a:t>
                      </a:r>
                      <a:endParaRPr sz="1100" u="none" cap="none" strike="noStrike">
                        <a:solidFill>
                          <a:srgbClr val="2D253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7150" marB="137150" marR="137150" marL="137150">
                    <a:solidFill>
                      <a:srgbClr val="E5E6ED"/>
                    </a:solidFill>
                  </a:tcPr>
                </a:tc>
              </a:tr>
              <a:tr h="120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b="1" lang="es-MX" sz="95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Corrección de estilo:</a:t>
                      </a:r>
                      <a:endParaRPr b="1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7150" marB="137150" marR="137150" marL="137150">
                    <a:solidFill>
                      <a:srgbClr val="E5E6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lang="es-MX" sz="95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Sergio Andrés Ocampo Rivera</a:t>
                      </a:r>
                      <a:endParaRPr sz="1100" u="none" cap="none" strike="noStrike">
                        <a:solidFill>
                          <a:srgbClr val="2D253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7150" marB="137150" marR="137150" marL="137150">
                    <a:solidFill>
                      <a:srgbClr val="E5E6ED"/>
                    </a:solidFill>
                  </a:tcPr>
                </a:tc>
              </a:tr>
              <a:tr h="120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b="1" lang="es-MX" sz="95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Validación pedagógica:</a:t>
                      </a:r>
                      <a:endParaRPr b="1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7150" marB="137150" marR="137150" marL="137150">
                    <a:solidFill>
                      <a:srgbClr val="E5E6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lang="es-MX" sz="95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Sandra Patricia Hoyos Sepúlveda</a:t>
                      </a:r>
                      <a:endParaRPr sz="1100" u="none" cap="none" strike="noStrike">
                        <a:solidFill>
                          <a:srgbClr val="2D253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7150" marB="137150" marR="137150" marL="137150">
                    <a:solidFill>
                      <a:srgbClr val="E5E6ED"/>
                    </a:solidFill>
                  </a:tcPr>
                </a:tc>
              </a:tr>
              <a:tr h="120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b="1" lang="es-MX" sz="95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Diseño gráfico:</a:t>
                      </a:r>
                      <a:endParaRPr b="1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7150" marB="137150" marR="137150" marL="137150">
                    <a:solidFill>
                      <a:srgbClr val="E5E6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lang="es-MX" sz="95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Andrea Valentina Roa Orozco</a:t>
                      </a:r>
                      <a:endParaRPr sz="1100" u="none" cap="none" strike="noStrike">
                        <a:solidFill>
                          <a:srgbClr val="2D253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7150" marB="137150" marR="137150" marL="137150">
                    <a:solidFill>
                      <a:srgbClr val="E5E6ED"/>
                    </a:solidFill>
                  </a:tcPr>
                </a:tc>
              </a:tr>
              <a:tr h="120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b="1" lang="es-MX" sz="95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Disposición y ensamble:</a:t>
                      </a:r>
                      <a:endParaRPr b="1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7150" marB="137150" marR="137150" marL="137150">
                    <a:solidFill>
                      <a:srgbClr val="E5E6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lang="es-MX" sz="95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Samayda Herrera Betancur</a:t>
                      </a:r>
                      <a:endParaRPr sz="1100" u="none" cap="none" strike="noStrike">
                        <a:solidFill>
                          <a:srgbClr val="2D253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7150" marB="137150" marR="137150" marL="137150">
                    <a:solidFill>
                      <a:srgbClr val="E5E6ED"/>
                    </a:solidFill>
                  </a:tcPr>
                </a:tc>
              </a:tr>
              <a:tr h="120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b="1" lang="es-MX" sz="95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Última actualización</a:t>
                      </a:r>
                      <a:endParaRPr b="1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7150" marB="137150" marR="137150" marL="137150">
                    <a:solidFill>
                      <a:srgbClr val="E5E6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lang="es-MX" sz="95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Octubre de 2026</a:t>
                      </a:r>
                      <a:endParaRPr sz="1100" u="none" cap="none" strike="noStrike">
                        <a:solidFill>
                          <a:srgbClr val="2D253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7150" marB="137150" marR="137150" marL="137150">
                    <a:solidFill>
                      <a:srgbClr val="E5E6ED"/>
                    </a:solidFill>
                  </a:tcPr>
                </a:tc>
              </a:tr>
            </a:tbl>
          </a:graphicData>
        </a:graphic>
      </p:graphicFrame>
      <p:sp>
        <p:nvSpPr>
          <p:cNvPr id="546" name="Google Shape;546;p9"/>
          <p:cNvSpPr/>
          <p:nvPr/>
        </p:nvSpPr>
        <p:spPr>
          <a:xfrm>
            <a:off x="638485" y="1104900"/>
            <a:ext cx="5182384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1" i="0" lang="es-MX" sz="975" u="none" cap="none" strike="noStrike">
                <a:solidFill>
                  <a:srgbClr val="3560D6"/>
                </a:solidFill>
                <a:latin typeface="Arial"/>
                <a:ea typeface="Arial"/>
                <a:cs typeface="Arial"/>
                <a:sym typeface="Arial"/>
              </a:rPr>
              <a:t>Créditos</a:t>
            </a:r>
            <a:endParaRPr b="1" i="0" sz="975" u="none" cap="none" strike="noStrike">
              <a:solidFill>
                <a:srgbClr val="3560D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9"/>
          <p:cNvSpPr/>
          <p:nvPr/>
        </p:nvSpPr>
        <p:spPr>
          <a:xfrm>
            <a:off x="638485" y="8401050"/>
            <a:ext cx="534184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s-MX" sz="975" u="none" cap="none" strike="noStrike">
                <a:solidFill>
                  <a:srgbClr val="7B7480"/>
                </a:solidFill>
                <a:latin typeface="Arial"/>
                <a:ea typeface="Arial"/>
                <a:cs typeface="Arial"/>
                <a:sym typeface="Arial"/>
              </a:rPr>
              <a:t>Copyright 2026. Todos los derechos reservados.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2026-08-28T21:01:11Z</dcterms:created>
  <dc:creator>Walnut Exporter</dc:creator>
</cp:coreProperties>
</file>