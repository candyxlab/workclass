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9906000" cx="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gG2dkpHyBS1/PVzo/jAKu6Mdw2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E427A51-1B64-45B8-BDF3-1F6A3C46F699}">
  <a:tblStyle styleId="{2E427A51-1B64-45B8-BDF3-1F6A3C46F699}"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b="off" i="off"/>
      <a:tcStyle>
        <a:fill>
          <a:solidFill>
            <a:srgbClr val="CAD1D8"/>
          </a:solidFill>
        </a:fill>
      </a:tcStyle>
    </a:band1H>
    <a:band2H>
      <a:tcTxStyle b="off" i="off"/>
    </a:band2H>
    <a:band1V>
      <a:tcTxStyle b="off" i="off"/>
      <a:tcStyle>
        <a:fill>
          <a:solidFill>
            <a:srgbClr val="CAD1D8"/>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p:nvPr>
            <p:ph idx="2" type="sldImg"/>
          </p:nvPr>
        </p:nvSpPr>
        <p:spPr>
          <a:xfrm>
            <a:off x="461963" y="0"/>
            <a:ext cx="2076450" cy="30003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461963" y="0"/>
            <a:ext cx="2076450"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 name="Google Shape;2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 name="Google Shape;26;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12: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 name="Google Shape;61;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3: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 name="Google Shape;74;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4: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5: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6: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7: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8: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9: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0: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1: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2: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23: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24: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25: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4" name="Google Shape;514;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6:notes"/>
          <p:cNvSpPr/>
          <p:nvPr>
            <p:ph idx="2" type="sldImg"/>
          </p:nvPr>
        </p:nvSpPr>
        <p:spPr>
          <a:xfrm>
            <a:off x="461963" y="0"/>
            <a:ext cx="2076450" cy="30003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notes"/>
          <p:cNvSpPr/>
          <p:nvPr>
            <p:ph idx="2" type="sldImg"/>
          </p:nvPr>
        </p:nvSpPr>
        <p:spPr>
          <a:xfrm>
            <a:off x="461963" y="0"/>
            <a:ext cx="2076450" cy="30003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7"/>
          <p:cNvPicPr preferRelativeResize="0"/>
          <p:nvPr/>
        </p:nvPicPr>
        <p:blipFill rotWithShape="1">
          <a:blip r:embed="rId1">
            <a:alphaModFix/>
          </a:blip>
          <a:srcRect b="0" l="0" r="0" t="0"/>
          <a:stretch/>
        </p:blipFill>
        <p:spPr>
          <a:xfrm>
            <a:off x="-72969" y="1"/>
            <a:ext cx="7003938" cy="99060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slide" Target="slide3.xml"/><Relationship Id="rId4" Type="http://schemas.openxmlformats.org/officeDocument/2006/relationships/slide" Target="slide3.xml"/><Relationship Id="rId5" Type="http://schemas.openxmlformats.org/officeDocument/2006/relationships/slide" Target="slide3.xml"/><Relationship Id="rId6" Type="http://schemas.openxmlformats.org/officeDocument/2006/relationships/slide" Target="slide3.xml"/><Relationship Id="rId7" Type="http://schemas.openxmlformats.org/officeDocument/2006/relationships/slide" Target="slide3.xml"/><Relationship Id="rId8" Type="http://schemas.openxmlformats.org/officeDocument/2006/relationships/slide" Target="slide5.xml"/><Relationship Id="rId9" Type="http://schemas.openxmlformats.org/officeDocument/2006/relationships/slide" Target="slide5.xml"/><Relationship Id="rId10" Type="http://schemas.openxmlformats.org/officeDocument/2006/relationships/slide" Target="slide5.xml"/><Relationship Id="rId11" Type="http://schemas.openxmlformats.org/officeDocument/2006/relationships/slide" Target="slide5.xml"/><Relationship Id="rId12" Type="http://schemas.openxmlformats.org/officeDocument/2006/relationships/slide" Target="slide5.xml"/><Relationship Id="rId13" Type="http://schemas.openxmlformats.org/officeDocument/2006/relationships/slide" Target="slide10.xml"/><Relationship Id="rId14" Type="http://schemas.openxmlformats.org/officeDocument/2006/relationships/slide" Target="slide10.xml"/><Relationship Id="rId15" Type="http://schemas.openxmlformats.org/officeDocument/2006/relationships/slide" Target="slide10.xml"/><Relationship Id="rId16" Type="http://schemas.openxmlformats.org/officeDocument/2006/relationships/slide" Target="slide10.xml"/><Relationship Id="rId17" Type="http://schemas.openxmlformats.org/officeDocument/2006/relationships/slide" Target="slide10.xml"/><Relationship Id="rId18" Type="http://schemas.openxmlformats.org/officeDocument/2006/relationships/slide" Target="slide17.xml"/><Relationship Id="rId19" Type="http://schemas.openxmlformats.org/officeDocument/2006/relationships/slide" Target="slide16.xml"/><Relationship Id="rId20" Type="http://schemas.openxmlformats.org/officeDocument/2006/relationships/slide" Target="slide16.xml"/><Relationship Id="rId21" Type="http://schemas.openxmlformats.org/officeDocument/2006/relationships/slide" Target="slide16.xml"/><Relationship Id="rId22" Type="http://schemas.openxmlformats.org/officeDocument/2006/relationships/slide" Target="slide16.xml"/><Relationship Id="rId23" Type="http://schemas.openxmlformats.org/officeDocument/2006/relationships/slide" Target="slide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asana.com/es/resources/what-is-kanban" TargetMode="External"/><Relationship Id="rId4" Type="http://schemas.openxmlformats.org/officeDocument/2006/relationships/hyperlink" Target="https://agilemanifesto.org/iso/es/manifesto.html" TargetMode="External"/><Relationship Id="rId5" Type="http://schemas.openxmlformats.org/officeDocument/2006/relationships/hyperlink" Target="https://www.ellenmacarthurfoundation.org/topics/circular-economy-introduction/overview"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5" name="Shape 15"/>
        <p:cNvGrpSpPr/>
        <p:nvPr/>
      </p:nvGrpSpPr>
      <p:grpSpPr>
        <a:xfrm>
          <a:off x="0" y="0"/>
          <a:ext cx="0" cy="0"/>
          <a:chOff x="0" y="0"/>
          <a:chExt cx="0" cy="0"/>
        </a:xfrm>
      </p:grpSpPr>
      <p:sp>
        <p:nvSpPr>
          <p:cNvPr id="16" name="Google Shape;16;p1"/>
          <p:cNvSpPr/>
          <p:nvPr/>
        </p:nvSpPr>
        <p:spPr>
          <a:xfrm>
            <a:off x="0" y="0"/>
            <a:ext cx="6858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 name="Google Shape;17;p1"/>
          <p:cNvSpPr/>
          <p:nvPr/>
        </p:nvSpPr>
        <p:spPr>
          <a:xfrm>
            <a:off x="609600" y="685255"/>
            <a:ext cx="2000250" cy="323850"/>
          </a:xfrm>
          <a:prstGeom prst="roundRect">
            <a:avLst>
              <a:gd fmla="val 50000" name="adj"/>
            </a:avLst>
          </a:prstGeom>
          <a:solidFill>
            <a:srgbClr val="6640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
          <p:cNvSpPr/>
          <p:nvPr/>
        </p:nvSpPr>
        <p:spPr>
          <a:xfrm>
            <a:off x="742950" y="770980"/>
            <a:ext cx="1733550" cy="171450"/>
          </a:xfrm>
          <a:prstGeom prst="rect">
            <a:avLst/>
          </a:prstGeom>
          <a:noFill/>
          <a:ln>
            <a:noFill/>
          </a:ln>
        </p:spPr>
        <p:txBody>
          <a:bodyPr anchorCtr="0" anchor="t" bIns="0" lIns="0" spcFirstLastPara="1" rIns="0" wrap="square" tIns="0">
            <a:normAutofit/>
          </a:bodyPr>
          <a:lstStyle/>
          <a:p>
            <a:pPr indent="0" lvl="0" marL="0" marR="0" rtl="0" algn="ctr">
              <a:lnSpc>
                <a:spcPct val="100000"/>
              </a:lnSpc>
              <a:spcBef>
                <a:spcPts val="0"/>
              </a:spcBef>
              <a:spcAft>
                <a:spcPts val="0"/>
              </a:spcAft>
              <a:buClr>
                <a:srgbClr val="000000"/>
              </a:buClr>
              <a:buSzPts val="900"/>
              <a:buFont typeface="Arial"/>
              <a:buNone/>
            </a:pPr>
            <a:r>
              <a:rPr b="1" i="0" lang="es-MX" sz="900" u="none" cap="none" strike="noStrike">
                <a:solidFill>
                  <a:srgbClr val="E5E6ED"/>
                </a:solidFill>
                <a:latin typeface="Arial"/>
                <a:ea typeface="Arial"/>
                <a:cs typeface="Arial"/>
                <a:sym typeface="Arial"/>
              </a:rPr>
              <a:t>Artículo educativo</a:t>
            </a:r>
            <a:endParaRPr b="1" i="0" sz="900" u="none" cap="none" strike="noStrike">
              <a:solidFill>
                <a:srgbClr val="E5E6ED"/>
              </a:solidFill>
              <a:latin typeface="Arial"/>
              <a:ea typeface="Arial"/>
              <a:cs typeface="Arial"/>
              <a:sym typeface="Arial"/>
            </a:endParaRPr>
          </a:p>
        </p:txBody>
      </p:sp>
      <p:sp>
        <p:nvSpPr>
          <p:cNvPr id="19" name="Google Shape;19;p1"/>
          <p:cNvSpPr/>
          <p:nvPr/>
        </p:nvSpPr>
        <p:spPr>
          <a:xfrm>
            <a:off x="609599" y="1195794"/>
            <a:ext cx="5394960" cy="173736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4000"/>
              <a:buFont typeface="Arial"/>
              <a:buNone/>
            </a:pPr>
            <a:r>
              <a:rPr b="1" i="0" lang="es-MX" sz="3600" u="none" cap="none" strike="noStrike">
                <a:solidFill>
                  <a:srgbClr val="262626"/>
                </a:solidFill>
                <a:latin typeface="Arial"/>
                <a:ea typeface="Arial"/>
                <a:cs typeface="Arial"/>
                <a:sym typeface="Arial"/>
              </a:rPr>
              <a:t>Agilidad más allá de las herramientas</a:t>
            </a:r>
            <a:endParaRPr b="0" i="0" sz="1400" u="none" cap="none" strike="noStrike">
              <a:solidFill>
                <a:srgbClr val="000000"/>
              </a:solidFill>
              <a:latin typeface="Arial"/>
              <a:ea typeface="Arial"/>
              <a:cs typeface="Arial"/>
              <a:sym typeface="Arial"/>
            </a:endParaRPr>
          </a:p>
        </p:txBody>
      </p:sp>
      <p:sp>
        <p:nvSpPr>
          <p:cNvPr id="20" name="Google Shape;20;p1"/>
          <p:cNvSpPr/>
          <p:nvPr/>
        </p:nvSpPr>
        <p:spPr>
          <a:xfrm>
            <a:off x="609599" y="3017520"/>
            <a:ext cx="4711337" cy="8763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650"/>
              <a:buFont typeface="Arial"/>
              <a:buNone/>
            </a:pPr>
            <a:r>
              <a:rPr b="1" i="0" lang="es-MX" sz="1650" u="none" cap="none" strike="noStrike">
                <a:solidFill>
                  <a:srgbClr val="262626"/>
                </a:solidFill>
                <a:latin typeface="Arial"/>
                <a:ea typeface="Arial"/>
                <a:cs typeface="Arial"/>
                <a:sym typeface="Arial"/>
              </a:rPr>
              <a:t>Metodologías ágiles</a:t>
            </a:r>
            <a:endParaRPr b="1" i="0" sz="1650" u="none" cap="none" strike="noStrike">
              <a:solidFill>
                <a:srgbClr val="262626"/>
              </a:solidFill>
              <a:latin typeface="Arial"/>
              <a:ea typeface="Arial"/>
              <a:cs typeface="Arial"/>
              <a:sym typeface="Arial"/>
            </a:endParaRPr>
          </a:p>
        </p:txBody>
      </p:sp>
      <p:sp>
        <p:nvSpPr>
          <p:cNvPr id="21" name="Google Shape;21;p1"/>
          <p:cNvSpPr/>
          <p:nvPr/>
        </p:nvSpPr>
        <p:spPr>
          <a:xfrm>
            <a:off x="581025" y="3401568"/>
            <a:ext cx="4206240" cy="8001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731"/>
              <a:buFont typeface="Arial"/>
              <a:buNone/>
            </a:pPr>
            <a:r>
              <a:rPr b="1" i="0" lang="es-MX" sz="1500" u="none" cap="none" strike="noStrike">
                <a:solidFill>
                  <a:srgbClr val="595959"/>
                </a:solidFill>
                <a:latin typeface="Arial"/>
                <a:ea typeface="Arial"/>
                <a:cs typeface="Arial"/>
                <a:sym typeface="Arial"/>
              </a:rPr>
              <a:t>Un recorrido desde los fundamentos de la agilidad hasta su aplicación en contextos reales.</a:t>
            </a:r>
            <a:endParaRPr b="0" i="0" sz="1400" u="none" cap="none" strike="noStrike">
              <a:solidFill>
                <a:srgbClr val="000000"/>
              </a:solidFill>
              <a:latin typeface="Arial"/>
              <a:ea typeface="Arial"/>
              <a:cs typeface="Arial"/>
              <a:sym typeface="Arial"/>
            </a:endParaRPr>
          </a:p>
        </p:txBody>
      </p:sp>
      <p:pic>
        <p:nvPicPr>
          <p:cNvPr id="22" name="Google Shape;22;p1"/>
          <p:cNvPicPr preferRelativeResize="0"/>
          <p:nvPr/>
        </p:nvPicPr>
        <p:blipFill rotWithShape="1">
          <a:blip r:embed="rId4">
            <a:alphaModFix/>
          </a:blip>
          <a:srcRect b="0" l="8691" r="8691" t="0"/>
          <a:stretch/>
        </p:blipFill>
        <p:spPr>
          <a:xfrm>
            <a:off x="2654299" y="4528458"/>
            <a:ext cx="3789363" cy="3796800"/>
          </a:xfrm>
          <a:prstGeom prst="flowChartConnector">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 name="Shape 27"/>
        <p:cNvGrpSpPr/>
        <p:nvPr/>
      </p:nvGrpSpPr>
      <p:grpSpPr>
        <a:xfrm>
          <a:off x="0" y="0"/>
          <a:ext cx="0" cy="0"/>
          <a:chOff x="0" y="0"/>
          <a:chExt cx="0" cy="0"/>
        </a:xfrm>
      </p:grpSpPr>
      <p:sp>
        <p:nvSpPr>
          <p:cNvPr id="28" name="Google Shape;28;p2"/>
          <p:cNvSpPr/>
          <p:nvPr/>
        </p:nvSpPr>
        <p:spPr>
          <a:xfrm>
            <a:off x="640809" y="1104900"/>
            <a:ext cx="5409924" cy="22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75"/>
              <a:buFont typeface="Arial"/>
              <a:buNone/>
            </a:pPr>
            <a:r>
              <a:rPr b="1" i="0" lang="es-MX" sz="975" u="none" cap="none" strike="noStrike">
                <a:solidFill>
                  <a:srgbClr val="3560D6"/>
                </a:solidFill>
                <a:latin typeface="Arial"/>
                <a:ea typeface="Arial"/>
                <a:cs typeface="Arial"/>
                <a:sym typeface="Arial"/>
              </a:rPr>
              <a:t>Mapa de lectura</a:t>
            </a:r>
            <a:endParaRPr b="1" i="0" sz="975" u="none" cap="none" strike="noStrike">
              <a:solidFill>
                <a:srgbClr val="3560D6"/>
              </a:solidFill>
              <a:latin typeface="Arial"/>
              <a:ea typeface="Arial"/>
              <a:cs typeface="Arial"/>
              <a:sym typeface="Arial"/>
            </a:endParaRPr>
          </a:p>
        </p:txBody>
      </p:sp>
      <p:sp>
        <p:nvSpPr>
          <p:cNvPr id="29" name="Google Shape;29;p2"/>
          <p:cNvSpPr/>
          <p:nvPr/>
        </p:nvSpPr>
        <p:spPr>
          <a:xfrm>
            <a:off x="640808" y="1409700"/>
            <a:ext cx="5576383" cy="430163"/>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325"/>
              <a:buFont typeface="Arial"/>
              <a:buNone/>
            </a:pPr>
            <a:r>
              <a:rPr b="1" i="0" lang="es-MX" sz="2325" u="none" cap="none" strike="noStrike">
                <a:solidFill>
                  <a:srgbClr val="664092"/>
                </a:solidFill>
                <a:latin typeface="Arial"/>
                <a:ea typeface="Arial"/>
                <a:cs typeface="Arial"/>
                <a:sym typeface="Arial"/>
              </a:rPr>
              <a:t>Implementar sin caer en las apariencias</a:t>
            </a:r>
            <a:endParaRPr b="0" i="0" sz="1400" u="none" cap="none" strike="noStrike">
              <a:solidFill>
                <a:srgbClr val="000000"/>
              </a:solidFill>
              <a:latin typeface="Arial"/>
              <a:ea typeface="Arial"/>
              <a:cs typeface="Arial"/>
              <a:sym typeface="Arial"/>
            </a:endParaRPr>
          </a:p>
        </p:txBody>
      </p:sp>
      <p:sp>
        <p:nvSpPr>
          <p:cNvPr id="30" name="Google Shape;30;p2"/>
          <p:cNvSpPr/>
          <p:nvPr/>
        </p:nvSpPr>
        <p:spPr>
          <a:xfrm>
            <a:off x="640808" y="2068317"/>
            <a:ext cx="5576383" cy="1325880"/>
          </a:xfrm>
          <a:prstGeom prst="roundRect">
            <a:avLst>
              <a:gd fmla="val 18033" name="adj"/>
            </a:avLst>
          </a:prstGeom>
          <a:solidFill>
            <a:srgbClr val="E5E6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
          <p:cNvSpPr/>
          <p:nvPr/>
        </p:nvSpPr>
        <p:spPr>
          <a:xfrm>
            <a:off x="869409" y="2277867"/>
            <a:ext cx="5056198" cy="2095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75"/>
              <a:buFont typeface="Arial"/>
              <a:buNone/>
            </a:pPr>
            <a:r>
              <a:rPr b="1" i="0" lang="es-MX" sz="975" u="none" cap="none" strike="noStrike">
                <a:solidFill>
                  <a:srgbClr val="024791"/>
                </a:solidFill>
                <a:latin typeface="Arial"/>
                <a:ea typeface="Arial"/>
                <a:cs typeface="Arial"/>
                <a:sym typeface="Arial"/>
              </a:rPr>
              <a:t>Resultado de aprendizaje</a:t>
            </a:r>
            <a:endParaRPr b="1" i="0" sz="975" u="none" cap="none" strike="noStrike">
              <a:solidFill>
                <a:srgbClr val="024791"/>
              </a:solidFill>
              <a:latin typeface="Arial"/>
              <a:ea typeface="Arial"/>
              <a:cs typeface="Arial"/>
              <a:sym typeface="Arial"/>
            </a:endParaRPr>
          </a:p>
        </p:txBody>
      </p:sp>
      <p:sp>
        <p:nvSpPr>
          <p:cNvPr id="32" name="Google Shape;32;p2"/>
          <p:cNvSpPr/>
          <p:nvPr/>
        </p:nvSpPr>
        <p:spPr>
          <a:xfrm>
            <a:off x="869409" y="2526250"/>
            <a:ext cx="5056198" cy="82296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rgbClr val="000000"/>
              </a:buClr>
              <a:buSzPts val="1179"/>
              <a:buFont typeface="Arial"/>
              <a:buNone/>
            </a:pPr>
            <a:r>
              <a:rPr b="1" i="0" lang="es-MX" sz="1050" u="none" cap="none" strike="noStrike">
                <a:solidFill>
                  <a:srgbClr val="332F37"/>
                </a:solidFill>
                <a:latin typeface="Arial"/>
                <a:ea typeface="Arial"/>
                <a:cs typeface="Arial"/>
                <a:sym typeface="Arial"/>
              </a:rPr>
              <a:t>Comprender los fundamentos de las metodologías ágiles y analizar su aplicación en organizaciones y emprendimientos, reconociendo sus valores, principios y decisiones clave para responder al cambio y generar valor de manera incremental.</a:t>
            </a:r>
            <a:endParaRPr b="0" i="0" sz="1400" u="none" cap="none" strike="noStrike">
              <a:solidFill>
                <a:srgbClr val="000000"/>
              </a:solidFill>
              <a:latin typeface="Arial"/>
              <a:ea typeface="Arial"/>
              <a:cs typeface="Arial"/>
              <a:sym typeface="Arial"/>
            </a:endParaRPr>
          </a:p>
        </p:txBody>
      </p:sp>
      <p:sp>
        <p:nvSpPr>
          <p:cNvPr id="33" name="Google Shape;33;p2">
            <a:hlinkClick action="ppaction://hlinksldjump" r:id="rId3"/>
          </p:cNvPr>
          <p:cNvSpPr/>
          <p:nvPr/>
        </p:nvSpPr>
        <p:spPr>
          <a:xfrm>
            <a:off x="659859" y="3670276"/>
            <a:ext cx="5534768" cy="742950"/>
          </a:xfrm>
          <a:prstGeom prst="roundRect">
            <a:avLst>
              <a:gd fmla="val 25641" name="adj"/>
            </a:avLst>
          </a:prstGeom>
          <a:solidFill>
            <a:srgbClr val="D8D2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
            <a:hlinkClick action="ppaction://hlinksldjump" r:id="rId4"/>
          </p:cNvPr>
          <p:cNvSpPr/>
          <p:nvPr/>
        </p:nvSpPr>
        <p:spPr>
          <a:xfrm>
            <a:off x="640808" y="3622651"/>
            <a:ext cx="5576383" cy="742950"/>
          </a:xfrm>
          <a:prstGeom prst="roundRect">
            <a:avLst>
              <a:gd fmla="val 25641" name="adj"/>
            </a:avLst>
          </a:prstGeom>
          <a:solidFill>
            <a:srgbClr val="FFFFFF"/>
          </a:solidFill>
          <a:ln cap="flat" cmpd="sng" w="9525">
            <a:solidFill>
              <a:srgbClr val="DDD8E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
            <a:hlinkClick action="ppaction://hlinksldjump" r:id="rId5"/>
          </p:cNvPr>
          <p:cNvSpPr/>
          <p:nvPr/>
        </p:nvSpPr>
        <p:spPr>
          <a:xfrm>
            <a:off x="640808" y="3622651"/>
            <a:ext cx="790681" cy="742950"/>
          </a:xfrm>
          <a:prstGeom prst="roundRect">
            <a:avLst>
              <a:gd fmla="val 26316" name="adj"/>
            </a:avLst>
          </a:prstGeom>
          <a:solidFill>
            <a:srgbClr val="73CD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
            <a:hlinkClick action="ppaction://hlinksldjump" r:id="rId6"/>
          </p:cNvPr>
          <p:cNvSpPr/>
          <p:nvPr/>
        </p:nvSpPr>
        <p:spPr>
          <a:xfrm>
            <a:off x="640808" y="3841726"/>
            <a:ext cx="790681" cy="266700"/>
          </a:xfrm>
          <a:prstGeom prst="rect">
            <a:avLst/>
          </a:prstGeom>
          <a:noFill/>
          <a:ln>
            <a:noFill/>
          </a:ln>
        </p:spPr>
        <p:txBody>
          <a:bodyPr anchorCtr="0" anchor="t" bIns="0" lIns="0" spcFirstLastPara="1" rIns="0" wrap="square" tIns="0">
            <a:normAutofit/>
          </a:bodyPr>
          <a:lstStyle/>
          <a:p>
            <a:pPr indent="0" lvl="0" marL="0" marR="0" rtl="0" algn="ctr">
              <a:lnSpc>
                <a:spcPct val="100000"/>
              </a:lnSpc>
              <a:spcBef>
                <a:spcPts val="0"/>
              </a:spcBef>
              <a:spcAft>
                <a:spcPts val="0"/>
              </a:spcAft>
              <a:buClr>
                <a:srgbClr val="000000"/>
              </a:buClr>
              <a:buSzPts val="1500"/>
              <a:buFont typeface="Arial"/>
              <a:buNone/>
            </a:pPr>
            <a:r>
              <a:rPr b="1" i="0" lang="es-MX" sz="1500" u="none" cap="none" strike="noStrike">
                <a:solidFill>
                  <a:srgbClr val="024791"/>
                </a:solidFill>
                <a:latin typeface="Arial"/>
                <a:ea typeface="Arial"/>
                <a:cs typeface="Arial"/>
                <a:sym typeface="Arial"/>
              </a:rPr>
              <a:t>01</a:t>
            </a:r>
            <a:endParaRPr b="0" i="0" sz="1400" u="none" cap="none" strike="noStrike">
              <a:solidFill>
                <a:srgbClr val="024791"/>
              </a:solidFill>
              <a:latin typeface="Arial"/>
              <a:ea typeface="Arial"/>
              <a:cs typeface="Arial"/>
              <a:sym typeface="Arial"/>
            </a:endParaRPr>
          </a:p>
        </p:txBody>
      </p:sp>
      <p:sp>
        <p:nvSpPr>
          <p:cNvPr id="37" name="Google Shape;37;p2">
            <a:hlinkClick action="ppaction://hlinksldjump" r:id="rId7"/>
          </p:cNvPr>
          <p:cNvSpPr/>
          <p:nvPr/>
        </p:nvSpPr>
        <p:spPr>
          <a:xfrm>
            <a:off x="1593308" y="3746476"/>
            <a:ext cx="4057443" cy="22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350"/>
              <a:buFont typeface="Arial"/>
              <a:buNone/>
            </a:pPr>
            <a:r>
              <a:rPr b="1" i="0" lang="es-MX" sz="1350" u="sng" cap="none" strike="noStrike">
                <a:solidFill>
                  <a:srgbClr val="3D2159"/>
                </a:solidFill>
                <a:latin typeface="Arial"/>
                <a:ea typeface="Arial"/>
                <a:cs typeface="Arial"/>
                <a:sym typeface="Arial"/>
              </a:rPr>
              <a:t>Introducción – Tema 1</a:t>
            </a:r>
            <a:endParaRPr b="0" i="0" sz="1400" u="none" cap="none" strike="noStrike">
              <a:solidFill>
                <a:srgbClr val="000000"/>
              </a:solidFill>
              <a:latin typeface="Arial"/>
              <a:ea typeface="Arial"/>
              <a:cs typeface="Arial"/>
              <a:sym typeface="Arial"/>
            </a:endParaRPr>
          </a:p>
        </p:txBody>
      </p:sp>
      <p:sp>
        <p:nvSpPr>
          <p:cNvPr id="38" name="Google Shape;38;p2"/>
          <p:cNvSpPr/>
          <p:nvPr/>
        </p:nvSpPr>
        <p:spPr>
          <a:xfrm>
            <a:off x="1593308" y="4032226"/>
            <a:ext cx="4057443"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75"/>
              <a:buFont typeface="Arial"/>
              <a:buNone/>
            </a:pPr>
            <a:r>
              <a:rPr b="0" i="0" lang="es-MX" sz="975" u="none" cap="none" strike="noStrike">
                <a:solidFill>
                  <a:srgbClr val="7B7480"/>
                </a:solidFill>
                <a:latin typeface="Arial"/>
                <a:ea typeface="Arial"/>
                <a:cs typeface="Arial"/>
                <a:sym typeface="Arial"/>
              </a:rPr>
              <a:t>Más allá de las prácticas: comprender la lógica ágil</a:t>
            </a:r>
            <a:endParaRPr b="0" i="0" sz="1400" u="none" cap="none" strike="noStrike">
              <a:solidFill>
                <a:srgbClr val="000000"/>
              </a:solidFill>
              <a:latin typeface="Arial"/>
              <a:ea typeface="Arial"/>
              <a:cs typeface="Arial"/>
              <a:sym typeface="Arial"/>
            </a:endParaRPr>
          </a:p>
        </p:txBody>
      </p:sp>
      <p:sp>
        <p:nvSpPr>
          <p:cNvPr id="39" name="Google Shape;39;p2">
            <a:hlinkClick action="ppaction://hlinksldjump" r:id="rId8"/>
          </p:cNvPr>
          <p:cNvSpPr/>
          <p:nvPr/>
        </p:nvSpPr>
        <p:spPr>
          <a:xfrm>
            <a:off x="659859" y="4660876"/>
            <a:ext cx="5534768" cy="742950"/>
          </a:xfrm>
          <a:prstGeom prst="roundRect">
            <a:avLst>
              <a:gd fmla="val 25641" name="adj"/>
            </a:avLst>
          </a:prstGeom>
          <a:solidFill>
            <a:srgbClr val="D8D2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
            <a:hlinkClick action="ppaction://hlinksldjump" r:id="rId9"/>
          </p:cNvPr>
          <p:cNvSpPr/>
          <p:nvPr/>
        </p:nvSpPr>
        <p:spPr>
          <a:xfrm>
            <a:off x="640808" y="4613251"/>
            <a:ext cx="5576383" cy="742950"/>
          </a:xfrm>
          <a:prstGeom prst="roundRect">
            <a:avLst>
              <a:gd fmla="val 25641" name="adj"/>
            </a:avLst>
          </a:prstGeom>
          <a:solidFill>
            <a:srgbClr val="FFFFFF"/>
          </a:solidFill>
          <a:ln cap="flat" cmpd="sng" w="9525">
            <a:solidFill>
              <a:srgbClr val="DDD8E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
            <a:hlinkClick action="ppaction://hlinksldjump" r:id="rId10"/>
          </p:cNvPr>
          <p:cNvSpPr/>
          <p:nvPr/>
        </p:nvSpPr>
        <p:spPr>
          <a:xfrm>
            <a:off x="640808" y="4613251"/>
            <a:ext cx="790681" cy="742950"/>
          </a:xfrm>
          <a:prstGeom prst="roundRect">
            <a:avLst>
              <a:gd fmla="val 26316" name="adj"/>
            </a:avLst>
          </a:prstGeom>
          <a:solidFill>
            <a:srgbClr val="6640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
            <a:hlinkClick action="ppaction://hlinksldjump" r:id="rId11"/>
          </p:cNvPr>
          <p:cNvSpPr/>
          <p:nvPr/>
        </p:nvSpPr>
        <p:spPr>
          <a:xfrm>
            <a:off x="640808" y="4832326"/>
            <a:ext cx="790681" cy="266700"/>
          </a:xfrm>
          <a:prstGeom prst="rect">
            <a:avLst/>
          </a:prstGeom>
          <a:noFill/>
          <a:ln>
            <a:noFill/>
          </a:ln>
        </p:spPr>
        <p:txBody>
          <a:bodyPr anchorCtr="0" anchor="t" bIns="0" lIns="0" spcFirstLastPara="1" rIns="0" wrap="square" tIns="0">
            <a:normAutofit/>
          </a:bodyPr>
          <a:lstStyle/>
          <a:p>
            <a:pPr indent="0" lvl="0" marL="0" marR="0" rtl="0" algn="ctr">
              <a:lnSpc>
                <a:spcPct val="100000"/>
              </a:lnSpc>
              <a:spcBef>
                <a:spcPts val="0"/>
              </a:spcBef>
              <a:spcAft>
                <a:spcPts val="0"/>
              </a:spcAft>
              <a:buClr>
                <a:srgbClr val="000000"/>
              </a:buClr>
              <a:buSzPts val="1500"/>
              <a:buFont typeface="Arial"/>
              <a:buNone/>
            </a:pPr>
            <a:r>
              <a:rPr b="1" i="0" lang="es-MX" sz="1500" u="none" cap="none" strike="noStrike">
                <a:solidFill>
                  <a:srgbClr val="FFFFFF"/>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43" name="Google Shape;43;p2">
            <a:hlinkClick action="ppaction://hlinksldjump" r:id="rId12"/>
          </p:cNvPr>
          <p:cNvSpPr/>
          <p:nvPr/>
        </p:nvSpPr>
        <p:spPr>
          <a:xfrm>
            <a:off x="1593308" y="4737076"/>
            <a:ext cx="4057443" cy="22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350"/>
              <a:buFont typeface="Arial"/>
              <a:buNone/>
            </a:pPr>
            <a:r>
              <a:rPr b="1" i="0" lang="es-MX" sz="1350" u="sng" cap="none" strike="noStrike">
                <a:solidFill>
                  <a:srgbClr val="3D2159"/>
                </a:solidFill>
                <a:latin typeface="Arial"/>
                <a:ea typeface="Arial"/>
                <a:cs typeface="Arial"/>
                <a:sym typeface="Arial"/>
              </a:rPr>
              <a:t>Tema 2</a:t>
            </a:r>
            <a:endParaRPr b="0" i="0" sz="1400" u="none" cap="none" strike="noStrike">
              <a:solidFill>
                <a:srgbClr val="000000"/>
              </a:solidFill>
              <a:latin typeface="Arial"/>
              <a:ea typeface="Arial"/>
              <a:cs typeface="Arial"/>
              <a:sym typeface="Arial"/>
            </a:endParaRPr>
          </a:p>
        </p:txBody>
      </p:sp>
      <p:sp>
        <p:nvSpPr>
          <p:cNvPr id="44" name="Google Shape;44;p2"/>
          <p:cNvSpPr/>
          <p:nvPr/>
        </p:nvSpPr>
        <p:spPr>
          <a:xfrm>
            <a:off x="1593308" y="5022826"/>
            <a:ext cx="4057443"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75"/>
              <a:buFont typeface="Arial"/>
              <a:buNone/>
            </a:pPr>
            <a:r>
              <a:rPr b="0" i="0" lang="es-MX" sz="975" u="none" cap="none" strike="noStrike">
                <a:solidFill>
                  <a:srgbClr val="7B7480"/>
                </a:solidFill>
                <a:latin typeface="Arial"/>
                <a:ea typeface="Arial"/>
                <a:cs typeface="Arial"/>
                <a:sym typeface="Arial"/>
              </a:rPr>
              <a:t>Del hacer al aprender: convertir resultados en decisiones</a:t>
            </a:r>
            <a:endParaRPr b="0" i="0" sz="1400" u="none" cap="none" strike="noStrike">
              <a:solidFill>
                <a:srgbClr val="000000"/>
              </a:solidFill>
              <a:latin typeface="Arial"/>
              <a:ea typeface="Arial"/>
              <a:cs typeface="Arial"/>
              <a:sym typeface="Arial"/>
            </a:endParaRPr>
          </a:p>
        </p:txBody>
      </p:sp>
      <p:sp>
        <p:nvSpPr>
          <p:cNvPr id="45" name="Google Shape;45;p2">
            <a:hlinkClick action="ppaction://hlinksldjump" r:id="rId13"/>
          </p:cNvPr>
          <p:cNvSpPr/>
          <p:nvPr/>
        </p:nvSpPr>
        <p:spPr>
          <a:xfrm>
            <a:off x="659859" y="5651476"/>
            <a:ext cx="5534768" cy="742950"/>
          </a:xfrm>
          <a:prstGeom prst="roundRect">
            <a:avLst>
              <a:gd fmla="val 25641" name="adj"/>
            </a:avLst>
          </a:prstGeom>
          <a:solidFill>
            <a:srgbClr val="D8D2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
            <a:hlinkClick action="ppaction://hlinksldjump" r:id="rId14"/>
          </p:cNvPr>
          <p:cNvSpPr/>
          <p:nvPr/>
        </p:nvSpPr>
        <p:spPr>
          <a:xfrm>
            <a:off x="640808" y="5603851"/>
            <a:ext cx="5576383" cy="742950"/>
          </a:xfrm>
          <a:prstGeom prst="roundRect">
            <a:avLst>
              <a:gd fmla="val 25641" name="adj"/>
            </a:avLst>
          </a:prstGeom>
          <a:solidFill>
            <a:srgbClr val="FFFFFF"/>
          </a:solidFill>
          <a:ln cap="flat" cmpd="sng" w="9525">
            <a:solidFill>
              <a:srgbClr val="DDD8E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2">
            <a:hlinkClick action="ppaction://hlinksldjump" r:id="rId15"/>
          </p:cNvPr>
          <p:cNvSpPr/>
          <p:nvPr/>
        </p:nvSpPr>
        <p:spPr>
          <a:xfrm>
            <a:off x="640808" y="5603851"/>
            <a:ext cx="790681" cy="742950"/>
          </a:xfrm>
          <a:prstGeom prst="roundRect">
            <a:avLst>
              <a:gd fmla="val 26316" name="adj"/>
            </a:avLst>
          </a:prstGeom>
          <a:solidFill>
            <a:srgbClr val="467B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
            <a:hlinkClick action="ppaction://hlinksldjump" r:id="rId16"/>
          </p:cNvPr>
          <p:cNvSpPr/>
          <p:nvPr/>
        </p:nvSpPr>
        <p:spPr>
          <a:xfrm>
            <a:off x="640808" y="5822926"/>
            <a:ext cx="790681" cy="266700"/>
          </a:xfrm>
          <a:prstGeom prst="rect">
            <a:avLst/>
          </a:prstGeom>
          <a:noFill/>
          <a:ln>
            <a:noFill/>
          </a:ln>
        </p:spPr>
        <p:txBody>
          <a:bodyPr anchorCtr="0" anchor="t" bIns="0" lIns="0" spcFirstLastPara="1" rIns="0" wrap="square" tIns="0">
            <a:normAutofit/>
          </a:bodyPr>
          <a:lstStyle/>
          <a:p>
            <a:pPr indent="0" lvl="0" marL="0" marR="0" rtl="0" algn="ctr">
              <a:lnSpc>
                <a:spcPct val="100000"/>
              </a:lnSpc>
              <a:spcBef>
                <a:spcPts val="0"/>
              </a:spcBef>
              <a:spcAft>
                <a:spcPts val="0"/>
              </a:spcAft>
              <a:buClr>
                <a:srgbClr val="000000"/>
              </a:buClr>
              <a:buSzPts val="1500"/>
              <a:buFont typeface="Arial"/>
              <a:buNone/>
            </a:pPr>
            <a:r>
              <a:rPr b="1" i="0" lang="es-MX" sz="1500" u="none" cap="none" strike="noStrike">
                <a:solidFill>
                  <a:srgbClr val="FFFFFF"/>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49" name="Google Shape;49;p2">
            <a:hlinkClick action="ppaction://hlinksldjump" r:id="rId17"/>
          </p:cNvPr>
          <p:cNvSpPr/>
          <p:nvPr/>
        </p:nvSpPr>
        <p:spPr>
          <a:xfrm>
            <a:off x="1593308" y="5727676"/>
            <a:ext cx="4057443" cy="22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350"/>
              <a:buFont typeface="Arial"/>
              <a:buNone/>
            </a:pPr>
            <a:r>
              <a:rPr b="1" i="0" lang="es-MX" sz="1350" u="sng" cap="none" strike="noStrike">
                <a:solidFill>
                  <a:srgbClr val="3D2159"/>
                </a:solidFill>
                <a:latin typeface="Arial"/>
                <a:ea typeface="Arial"/>
                <a:cs typeface="Arial"/>
                <a:sym typeface="Arial"/>
                <a:hlinkClick action="ppaction://hlinksldjump" r:id="rId18">
                  <a:extLst>
                    <a:ext uri="{A12FA001-AC4F-418D-AE19-62706E023703}">
                      <ahyp:hlinkClr val="tx"/>
                    </a:ext>
                  </a:extLst>
                </a:hlinkClick>
              </a:rPr>
              <a:t>Tema 3</a:t>
            </a:r>
            <a:endParaRPr b="0" i="0" sz="1400" u="none" cap="none" strike="noStrike">
              <a:solidFill>
                <a:srgbClr val="000000"/>
              </a:solidFill>
              <a:latin typeface="Arial"/>
              <a:ea typeface="Arial"/>
              <a:cs typeface="Arial"/>
              <a:sym typeface="Arial"/>
            </a:endParaRPr>
          </a:p>
        </p:txBody>
      </p:sp>
      <p:sp>
        <p:nvSpPr>
          <p:cNvPr id="50" name="Google Shape;50;p2"/>
          <p:cNvSpPr/>
          <p:nvPr/>
        </p:nvSpPr>
        <p:spPr>
          <a:xfrm>
            <a:off x="1593308" y="6013426"/>
            <a:ext cx="4057443"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75"/>
              <a:buFont typeface="Arial"/>
              <a:buNone/>
            </a:pPr>
            <a:r>
              <a:rPr b="0" i="0" lang="es-MX" sz="975" u="none" cap="none" strike="noStrike">
                <a:solidFill>
                  <a:srgbClr val="7B7480"/>
                </a:solidFill>
                <a:latin typeface="Arial"/>
                <a:ea typeface="Arial"/>
                <a:cs typeface="Arial"/>
                <a:sym typeface="Arial"/>
              </a:rPr>
              <a:t>Equipos con capacidad de adaptación: autonomía con propósito</a:t>
            </a:r>
            <a:endParaRPr b="0" i="0" sz="1400" u="none" cap="none" strike="noStrike">
              <a:solidFill>
                <a:srgbClr val="000000"/>
              </a:solidFill>
              <a:latin typeface="Arial"/>
              <a:ea typeface="Arial"/>
              <a:cs typeface="Arial"/>
              <a:sym typeface="Arial"/>
            </a:endParaRPr>
          </a:p>
        </p:txBody>
      </p:sp>
      <p:sp>
        <p:nvSpPr>
          <p:cNvPr id="51" name="Google Shape;51;p2">
            <a:hlinkClick action="ppaction://hlinksldjump" r:id="rId19"/>
          </p:cNvPr>
          <p:cNvSpPr/>
          <p:nvPr/>
        </p:nvSpPr>
        <p:spPr>
          <a:xfrm>
            <a:off x="659859" y="6642076"/>
            <a:ext cx="5534768" cy="742950"/>
          </a:xfrm>
          <a:prstGeom prst="roundRect">
            <a:avLst>
              <a:gd fmla="val 25641" name="adj"/>
            </a:avLst>
          </a:prstGeom>
          <a:solidFill>
            <a:srgbClr val="D8D2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2">
            <a:hlinkClick action="ppaction://hlinksldjump" r:id="rId20"/>
          </p:cNvPr>
          <p:cNvSpPr/>
          <p:nvPr/>
        </p:nvSpPr>
        <p:spPr>
          <a:xfrm>
            <a:off x="640808" y="6594451"/>
            <a:ext cx="5576383" cy="742950"/>
          </a:xfrm>
          <a:prstGeom prst="roundRect">
            <a:avLst>
              <a:gd fmla="val 25641" name="adj"/>
            </a:avLst>
          </a:prstGeom>
          <a:solidFill>
            <a:srgbClr val="FFFFFF"/>
          </a:solidFill>
          <a:ln cap="flat" cmpd="sng" w="9525">
            <a:solidFill>
              <a:srgbClr val="DDD8E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2">
            <a:hlinkClick action="ppaction://hlinksldjump" r:id="rId21"/>
          </p:cNvPr>
          <p:cNvSpPr/>
          <p:nvPr/>
        </p:nvSpPr>
        <p:spPr>
          <a:xfrm>
            <a:off x="640808" y="6594451"/>
            <a:ext cx="790681" cy="742950"/>
          </a:xfrm>
          <a:prstGeom prst="roundRect">
            <a:avLst>
              <a:gd fmla="val 26316" name="adj"/>
            </a:avLst>
          </a:prstGeom>
          <a:solidFill>
            <a:srgbClr val="02479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
            <a:hlinkClick action="ppaction://hlinksldjump" r:id="rId22"/>
          </p:cNvPr>
          <p:cNvSpPr/>
          <p:nvPr/>
        </p:nvSpPr>
        <p:spPr>
          <a:xfrm>
            <a:off x="640808" y="6813526"/>
            <a:ext cx="790681" cy="266700"/>
          </a:xfrm>
          <a:prstGeom prst="rect">
            <a:avLst/>
          </a:prstGeom>
          <a:noFill/>
          <a:ln>
            <a:noFill/>
          </a:ln>
        </p:spPr>
        <p:txBody>
          <a:bodyPr anchorCtr="0" anchor="t" bIns="0" lIns="0" spcFirstLastPara="1" rIns="0" wrap="square" tIns="0">
            <a:normAutofit/>
          </a:bodyPr>
          <a:lstStyle/>
          <a:p>
            <a:pPr indent="0" lvl="0" marL="0" marR="0" rtl="0" algn="ctr">
              <a:lnSpc>
                <a:spcPct val="100000"/>
              </a:lnSpc>
              <a:spcBef>
                <a:spcPts val="0"/>
              </a:spcBef>
              <a:spcAft>
                <a:spcPts val="0"/>
              </a:spcAft>
              <a:buClr>
                <a:srgbClr val="000000"/>
              </a:buClr>
              <a:buSzPts val="1500"/>
              <a:buFont typeface="Arial"/>
              <a:buNone/>
            </a:pPr>
            <a:r>
              <a:rPr b="1" i="0" lang="es-MX" sz="1500" u="none" cap="none" strike="noStrike">
                <a:solidFill>
                  <a:srgbClr val="FFFFFF"/>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sp>
        <p:nvSpPr>
          <p:cNvPr id="55" name="Google Shape;55;p2">
            <a:hlinkClick action="ppaction://hlinksldjump" r:id="rId23"/>
          </p:cNvPr>
          <p:cNvSpPr/>
          <p:nvPr/>
        </p:nvSpPr>
        <p:spPr>
          <a:xfrm>
            <a:off x="1593308" y="6718276"/>
            <a:ext cx="4057443" cy="22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350"/>
              <a:buFont typeface="Arial"/>
              <a:buNone/>
            </a:pPr>
            <a:r>
              <a:rPr b="1" i="0" lang="es-MX" sz="1350" u="none" cap="none" strike="noStrike">
                <a:solidFill>
                  <a:srgbClr val="3D2159"/>
                </a:solidFill>
                <a:latin typeface="Arial"/>
                <a:ea typeface="Arial"/>
                <a:cs typeface="Arial"/>
                <a:sym typeface="Arial"/>
              </a:rPr>
              <a:t>Síntesis y referencias</a:t>
            </a:r>
            <a:endParaRPr b="0" i="0" sz="1400" u="none" cap="none" strike="noStrike">
              <a:solidFill>
                <a:srgbClr val="000000"/>
              </a:solidFill>
              <a:latin typeface="Arial"/>
              <a:ea typeface="Arial"/>
              <a:cs typeface="Arial"/>
              <a:sym typeface="Arial"/>
            </a:endParaRPr>
          </a:p>
        </p:txBody>
      </p:sp>
      <p:sp>
        <p:nvSpPr>
          <p:cNvPr id="56" name="Google Shape;56;p2"/>
          <p:cNvSpPr/>
          <p:nvPr/>
        </p:nvSpPr>
        <p:spPr>
          <a:xfrm>
            <a:off x="640808" y="723900"/>
            <a:ext cx="4265517"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Agilidad más allá de las herramientas</a:t>
            </a:r>
            <a:endParaRPr b="0" i="0" sz="1400" u="none" cap="none" strike="noStrike">
              <a:solidFill>
                <a:srgbClr val="000000"/>
              </a:solidFill>
              <a:latin typeface="Arial"/>
              <a:ea typeface="Arial"/>
              <a:cs typeface="Arial"/>
              <a:sym typeface="Arial"/>
            </a:endParaRPr>
          </a:p>
        </p:txBody>
      </p:sp>
      <p:cxnSp>
        <p:nvCxnSpPr>
          <p:cNvPr id="57" name="Google Shape;57;p2"/>
          <p:cNvCxnSpPr/>
          <p:nvPr/>
        </p:nvCxnSpPr>
        <p:spPr>
          <a:xfrm>
            <a:off x="748515" y="2068317"/>
            <a:ext cx="1047572" cy="0"/>
          </a:xfrm>
          <a:prstGeom prst="straightConnector1">
            <a:avLst/>
          </a:prstGeom>
          <a:noFill/>
          <a:ln cap="flat" cmpd="sng" w="53975">
            <a:solidFill>
              <a:srgbClr val="73CDEB"/>
            </a:solidFill>
            <a:prstDash val="solid"/>
            <a:round/>
            <a:headEnd len="med" w="med" type="oval"/>
            <a:tailEnd len="med" w="med" type="oval"/>
          </a:ln>
        </p:spPr>
      </p:cxnSp>
      <p:sp>
        <p:nvSpPr>
          <p:cNvPr id="58" name="Google Shape;58;p2"/>
          <p:cNvSpPr/>
          <p:nvPr/>
        </p:nvSpPr>
        <p:spPr>
          <a:xfrm>
            <a:off x="1593308" y="7003514"/>
            <a:ext cx="4057443"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75"/>
              <a:buFont typeface="Arial"/>
              <a:buNone/>
            </a:pPr>
            <a:r>
              <a:rPr b="0" i="0" lang="es-MX" sz="975" u="none" cap="none" strike="noStrike">
                <a:solidFill>
                  <a:srgbClr val="7B7480"/>
                </a:solidFill>
                <a:latin typeface="Arial"/>
                <a:ea typeface="Arial"/>
                <a:cs typeface="Arial"/>
                <a:sym typeface="Arial"/>
              </a:rPr>
              <a:t>Para reflexionar y continuar la lectura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2"/>
          <p:cNvSpPr/>
          <p:nvPr/>
        </p:nvSpPr>
        <p:spPr>
          <a:xfrm>
            <a:off x="640808" y="723900"/>
            <a:ext cx="4265517"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Agilidad más allá de las herramientas</a:t>
            </a:r>
            <a:endParaRPr b="0" i="0" sz="1400" u="none" cap="none" strike="noStrike">
              <a:solidFill>
                <a:srgbClr val="000000"/>
              </a:solidFill>
              <a:latin typeface="Arial"/>
              <a:ea typeface="Arial"/>
              <a:cs typeface="Arial"/>
              <a:sym typeface="Arial"/>
            </a:endParaRPr>
          </a:p>
        </p:txBody>
      </p:sp>
      <p:sp>
        <p:nvSpPr>
          <p:cNvPr id="64" name="Google Shape;64;p12"/>
          <p:cNvSpPr/>
          <p:nvPr/>
        </p:nvSpPr>
        <p:spPr>
          <a:xfrm>
            <a:off x="640808" y="723900"/>
            <a:ext cx="4067386"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Agilidad más allá de las herramientas</a:t>
            </a:r>
            <a:endParaRPr b="0" i="0" sz="1400" u="none" cap="none" strike="noStrike">
              <a:solidFill>
                <a:srgbClr val="000000"/>
              </a:solidFill>
              <a:latin typeface="Arial"/>
              <a:ea typeface="Arial"/>
              <a:cs typeface="Arial"/>
              <a:sym typeface="Arial"/>
            </a:endParaRPr>
          </a:p>
        </p:txBody>
      </p:sp>
      <p:sp>
        <p:nvSpPr>
          <p:cNvPr id="65" name="Google Shape;65;p12"/>
          <p:cNvSpPr/>
          <p:nvPr/>
        </p:nvSpPr>
        <p:spPr>
          <a:xfrm>
            <a:off x="640808" y="1104900"/>
            <a:ext cx="5158636" cy="2095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75"/>
              <a:buFont typeface="Arial"/>
              <a:buNone/>
            </a:pPr>
            <a:r>
              <a:rPr b="1" i="0" lang="es-MX" sz="975" u="none" cap="none" strike="noStrike">
                <a:solidFill>
                  <a:srgbClr val="3560D6"/>
                </a:solidFill>
                <a:latin typeface="Arial"/>
                <a:ea typeface="Arial"/>
                <a:cs typeface="Arial"/>
                <a:sym typeface="Arial"/>
              </a:rPr>
              <a:t>Introducción – Tema 1 · Más allá de las prácticas</a:t>
            </a:r>
            <a:endParaRPr b="0" i="0" sz="1400" u="none" cap="none" strike="noStrike">
              <a:solidFill>
                <a:srgbClr val="000000"/>
              </a:solidFill>
              <a:latin typeface="Arial"/>
              <a:ea typeface="Arial"/>
              <a:cs typeface="Arial"/>
              <a:sym typeface="Arial"/>
            </a:endParaRPr>
          </a:p>
        </p:txBody>
      </p:sp>
      <p:sp>
        <p:nvSpPr>
          <p:cNvPr id="66" name="Google Shape;66;p12"/>
          <p:cNvSpPr/>
          <p:nvPr/>
        </p:nvSpPr>
        <p:spPr>
          <a:xfrm>
            <a:off x="640807" y="1428750"/>
            <a:ext cx="5555455" cy="8763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325"/>
              <a:buFont typeface="Arial"/>
              <a:buNone/>
            </a:pPr>
            <a:r>
              <a:rPr b="1" i="0" lang="es-MX" sz="2325" u="none" cap="none" strike="noStrike">
                <a:solidFill>
                  <a:srgbClr val="664092"/>
                </a:solidFill>
                <a:latin typeface="Arial"/>
                <a:ea typeface="Arial"/>
                <a:cs typeface="Arial"/>
                <a:sym typeface="Arial"/>
              </a:rPr>
              <a:t>Implementar sin caer en las apariencias</a:t>
            </a:r>
            <a:endParaRPr b="0" i="0" sz="1400" u="none" cap="none" strike="noStrike">
              <a:solidFill>
                <a:srgbClr val="000000"/>
              </a:solidFill>
              <a:latin typeface="Arial"/>
              <a:ea typeface="Arial"/>
              <a:cs typeface="Arial"/>
              <a:sym typeface="Arial"/>
            </a:endParaRPr>
          </a:p>
        </p:txBody>
      </p:sp>
      <p:cxnSp>
        <p:nvCxnSpPr>
          <p:cNvPr id="67" name="Google Shape;67;p12"/>
          <p:cNvCxnSpPr/>
          <p:nvPr/>
        </p:nvCxnSpPr>
        <p:spPr>
          <a:xfrm>
            <a:off x="748514" y="2447192"/>
            <a:ext cx="998913" cy="0"/>
          </a:xfrm>
          <a:prstGeom prst="straightConnector1">
            <a:avLst/>
          </a:prstGeom>
          <a:noFill/>
          <a:ln cap="flat" cmpd="sng" w="53975">
            <a:solidFill>
              <a:srgbClr val="73CDEB"/>
            </a:solidFill>
            <a:prstDash val="solid"/>
            <a:round/>
            <a:headEnd len="med" w="med" type="oval"/>
            <a:tailEnd len="med" w="med" type="oval"/>
          </a:ln>
        </p:spPr>
      </p:cxnSp>
      <p:sp>
        <p:nvSpPr>
          <p:cNvPr id="68" name="Google Shape;68;p12"/>
          <p:cNvSpPr txBox="1"/>
          <p:nvPr/>
        </p:nvSpPr>
        <p:spPr>
          <a:xfrm>
            <a:off x="642332" y="2697480"/>
            <a:ext cx="5552280" cy="2617833"/>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s-MX" sz="1100" u="none" cap="none" strike="noStrike">
                <a:solidFill>
                  <a:srgbClr val="56505B"/>
                </a:solidFill>
                <a:latin typeface="Arial"/>
                <a:ea typeface="Arial"/>
                <a:cs typeface="Arial"/>
                <a:sym typeface="Arial"/>
              </a:rPr>
              <a:t>Adoptar un tablero, realizar reuniones breves o dividir el trabajo en ciclos puede hacer que un equipo parezca ágil, pero estas prácticas no garantizan por sí mismas la capacidad de aprender, responder al cambio o generar valor de manera incremental. La agilidad adquiere sentido cuando las herramientas y dinámicas de trabajo favorecen la colaboración, la entrega de resultados útiles, la retroalimentación oportuna y la revisión continua de la forma de trabajar, en coherencia con los valores y principios del Manifiesto Ágil (Beck et al., 2001).</a:t>
            </a:r>
            <a:endParaRPr b="0" i="0" sz="1100" u="none" cap="none" strike="noStrike">
              <a:solidFill>
                <a:srgbClr val="56505B"/>
              </a:solidFill>
              <a:latin typeface="Arial"/>
              <a:ea typeface="Arial"/>
              <a:cs typeface="Arial"/>
              <a:sym typeface="Arial"/>
            </a:endParaRPr>
          </a:p>
          <a:p>
            <a:pPr indent="0" lvl="0" marL="0" marR="0" rtl="0" algn="l">
              <a:lnSpc>
                <a:spcPct val="130000"/>
              </a:lnSpc>
              <a:spcBef>
                <a:spcPts val="0"/>
              </a:spcBef>
              <a:spcAft>
                <a:spcPts val="0"/>
              </a:spcAft>
              <a:buNone/>
            </a:pPr>
            <a:r>
              <a:t/>
            </a:r>
            <a:endParaRPr b="0" i="0" sz="1100" u="none" cap="none" strike="noStrike">
              <a:solidFill>
                <a:srgbClr val="56505B"/>
              </a:solidFill>
              <a:latin typeface="Arial"/>
              <a:ea typeface="Arial"/>
              <a:cs typeface="Arial"/>
              <a:sym typeface="Arial"/>
            </a:endParaRPr>
          </a:p>
          <a:p>
            <a:pPr indent="0" lvl="0" marL="0" marR="0" rtl="0" algn="l">
              <a:lnSpc>
                <a:spcPct val="130000"/>
              </a:lnSpc>
              <a:spcBef>
                <a:spcPts val="0"/>
              </a:spcBef>
              <a:spcAft>
                <a:spcPts val="0"/>
              </a:spcAft>
              <a:buNone/>
            </a:pPr>
            <a:r>
              <a:rPr b="0" i="0" lang="es-MX" sz="1100" u="none" cap="none" strike="noStrike">
                <a:solidFill>
                  <a:srgbClr val="56505B"/>
                </a:solidFill>
                <a:latin typeface="Arial"/>
                <a:ea typeface="Arial"/>
                <a:cs typeface="Arial"/>
                <a:sym typeface="Arial"/>
              </a:rPr>
              <a:t>Por ello, una organización puede incorporar prácticas ágiles y, al mismo tiempo, mantener decisiones centralizadas, recibir retroalimentación tardía o aferrarse al plan inicial pese a la aparición de nueva información; en estos casos, cambia la apariencia del proceso, pero no necesariamente la manera de trabajar.</a:t>
            </a:r>
            <a:endParaRPr/>
          </a:p>
        </p:txBody>
      </p:sp>
      <p:sp>
        <p:nvSpPr>
          <p:cNvPr id="69" name="Google Shape;69;p12"/>
          <p:cNvSpPr txBox="1"/>
          <p:nvPr/>
        </p:nvSpPr>
        <p:spPr>
          <a:xfrm>
            <a:off x="642332" y="5561549"/>
            <a:ext cx="5552280" cy="14619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MX" sz="950" u="none" cap="none" strike="noStrike">
                <a:solidFill>
                  <a:srgbClr val="3560D6"/>
                </a:solidFill>
                <a:latin typeface="Arial"/>
                <a:ea typeface="Arial"/>
                <a:cs typeface="Arial"/>
                <a:sym typeface="Arial"/>
              </a:rPr>
              <a:t>FIGURA 1 · EL ICEBERG DE LA AGILIDAD</a:t>
            </a:r>
            <a:endParaRPr/>
          </a:p>
        </p:txBody>
      </p:sp>
      <p:sp>
        <p:nvSpPr>
          <p:cNvPr id="70" name="Google Shape;70;p12"/>
          <p:cNvSpPr txBox="1"/>
          <p:nvPr/>
        </p:nvSpPr>
        <p:spPr>
          <a:xfrm>
            <a:off x="642332" y="5799293"/>
            <a:ext cx="5552280" cy="203004"/>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MX" sz="1300" u="none" cap="none" strike="noStrike">
                <a:solidFill>
                  <a:srgbClr val="664092"/>
                </a:solidFill>
                <a:latin typeface="Arial"/>
                <a:ea typeface="Arial"/>
                <a:cs typeface="Arial"/>
                <a:sym typeface="Arial"/>
              </a:rPr>
              <a:t>Parecer ágiles no es lo mismo que trabajar con agilidad</a:t>
            </a:r>
            <a:endParaRPr/>
          </a:p>
        </p:txBody>
      </p:sp>
      <p:sp>
        <p:nvSpPr>
          <p:cNvPr id="71" name="Google Shape;71;p12"/>
          <p:cNvSpPr txBox="1"/>
          <p:nvPr/>
        </p:nvSpPr>
        <p:spPr>
          <a:xfrm>
            <a:off x="642332" y="6090377"/>
            <a:ext cx="5552280" cy="788101"/>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MX" sz="1050" u="none" cap="none" strike="noStrike">
                <a:solidFill>
                  <a:srgbClr val="56505B"/>
                </a:solidFill>
                <a:latin typeface="Arial"/>
                <a:ea typeface="Arial"/>
                <a:cs typeface="Arial"/>
                <a:sym typeface="Arial"/>
              </a:rPr>
              <a:t>Adoptar herramientas o ceremonias externas no garantiza una cultura ágil: el impacto depende de las preguntas y decisiones con que se gestionan. En la superficie está lo visible (la forma): herramientas, ceremonias y artefactos. En el fondo está el sentido (la sustancia): las preguntas que necesitamos hacernos.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3"/>
          <p:cNvSpPr/>
          <p:nvPr/>
        </p:nvSpPr>
        <p:spPr>
          <a:xfrm>
            <a:off x="640808" y="723900"/>
            <a:ext cx="4265517"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Agilidad más allá de las herramientas</a:t>
            </a:r>
            <a:endParaRPr b="0" i="0" sz="1400" u="none" cap="none" strike="noStrike">
              <a:solidFill>
                <a:srgbClr val="000000"/>
              </a:solidFill>
              <a:latin typeface="Arial"/>
              <a:ea typeface="Arial"/>
              <a:cs typeface="Arial"/>
              <a:sym typeface="Arial"/>
            </a:endParaRPr>
          </a:p>
        </p:txBody>
      </p:sp>
      <p:sp>
        <p:nvSpPr>
          <p:cNvPr id="77" name="Google Shape;77;p13"/>
          <p:cNvSpPr/>
          <p:nvPr/>
        </p:nvSpPr>
        <p:spPr>
          <a:xfrm>
            <a:off x="640807" y="2428483"/>
            <a:ext cx="2357897" cy="958596"/>
          </a:xfrm>
          <a:prstGeom prst="roundRect">
            <a:avLst>
              <a:gd fmla="val 9538" name="adj"/>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 name="Google Shape;78;p13"/>
          <p:cNvSpPr/>
          <p:nvPr/>
        </p:nvSpPr>
        <p:spPr>
          <a:xfrm>
            <a:off x="2698207" y="2428483"/>
            <a:ext cx="3518986" cy="958596"/>
          </a:xfrm>
          <a:prstGeom prst="roundRect">
            <a:avLst>
              <a:gd fmla="val 9538" name="adj"/>
            </a:avLst>
          </a:prstGeom>
          <a:solidFill>
            <a:srgbClr val="65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 name="Google Shape;79;p13"/>
          <p:cNvSpPr/>
          <p:nvPr/>
        </p:nvSpPr>
        <p:spPr>
          <a:xfrm>
            <a:off x="2698207" y="2428483"/>
            <a:ext cx="144361" cy="958596"/>
          </a:xfrm>
          <a:prstGeom prst="rect">
            <a:avLst/>
          </a:prstGeom>
          <a:solidFill>
            <a:srgbClr val="65439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 name="Google Shape;80;p13"/>
          <p:cNvSpPr/>
          <p:nvPr/>
        </p:nvSpPr>
        <p:spPr>
          <a:xfrm>
            <a:off x="750536" y="2556499"/>
            <a:ext cx="461928" cy="457200"/>
          </a:xfrm>
          <a:prstGeom prst="ellipse">
            <a:avLst/>
          </a:prstGeom>
          <a:solidFill>
            <a:srgbClr val="65439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654396"/>
              </a:solidFill>
              <a:latin typeface="Arial"/>
              <a:ea typeface="Arial"/>
              <a:cs typeface="Arial"/>
              <a:sym typeface="Arial"/>
            </a:endParaRPr>
          </a:p>
        </p:txBody>
      </p:sp>
      <p:sp>
        <p:nvSpPr>
          <p:cNvPr id="81" name="Google Shape;81;p13"/>
          <p:cNvSpPr/>
          <p:nvPr/>
        </p:nvSpPr>
        <p:spPr>
          <a:xfrm>
            <a:off x="851120" y="2657083"/>
            <a:ext cx="258680" cy="256032"/>
          </a:xfrm>
          <a:custGeom>
            <a:rect b="b" l="l" r="r" t="t"/>
            <a:pathLst>
              <a:path extrusionOk="0" h="256000" w="256000">
                <a:moveTo>
                  <a:pt x="216000" y="48000"/>
                </a:moveTo>
                <a:lnTo>
                  <a:pt x="40000" y="48000"/>
                </a:lnTo>
                <a:cubicBezTo>
                  <a:pt x="38596" y="48000"/>
                  <a:pt x="37216" y="48370"/>
                  <a:pt x="36000" y="49072"/>
                </a:cubicBezTo>
                <a:cubicBezTo>
                  <a:pt x="34784" y="49774"/>
                  <a:pt x="33774" y="50784"/>
                  <a:pt x="33072" y="52000"/>
                </a:cubicBezTo>
                <a:cubicBezTo>
                  <a:pt x="32370" y="53216"/>
                  <a:pt x="32000" y="54596"/>
                  <a:pt x="32000" y="56000"/>
                </a:cubicBezTo>
                <a:lnTo>
                  <a:pt x="32000" y="208000"/>
                </a:lnTo>
                <a:cubicBezTo>
                  <a:pt x="32000" y="210808"/>
                  <a:pt x="32739" y="213568"/>
                  <a:pt x="34144" y="216000"/>
                </a:cubicBezTo>
                <a:cubicBezTo>
                  <a:pt x="35548" y="218432"/>
                  <a:pt x="37568" y="220452"/>
                  <a:pt x="40000" y="221856"/>
                </a:cubicBezTo>
                <a:cubicBezTo>
                  <a:pt x="42432" y="223261"/>
                  <a:pt x="45192" y="224000"/>
                  <a:pt x="48000" y="224000"/>
                </a:cubicBezTo>
                <a:lnTo>
                  <a:pt x="88000" y="224000"/>
                </a:lnTo>
                <a:cubicBezTo>
                  <a:pt x="90808" y="224000"/>
                  <a:pt x="93568" y="223261"/>
                  <a:pt x="96000" y="221856"/>
                </a:cubicBezTo>
                <a:cubicBezTo>
                  <a:pt x="98432" y="220452"/>
                  <a:pt x="100452" y="218432"/>
                  <a:pt x="101856" y="216000"/>
                </a:cubicBezTo>
                <a:cubicBezTo>
                  <a:pt x="103261" y="213568"/>
                  <a:pt x="104000" y="210808"/>
                  <a:pt x="104000" y="208000"/>
                </a:cubicBezTo>
                <a:lnTo>
                  <a:pt x="104000" y="160000"/>
                </a:lnTo>
                <a:lnTo>
                  <a:pt x="152000" y="160000"/>
                </a:lnTo>
                <a:lnTo>
                  <a:pt x="152000" y="176000"/>
                </a:lnTo>
                <a:cubicBezTo>
                  <a:pt x="152000" y="178808"/>
                  <a:pt x="152739" y="181568"/>
                  <a:pt x="154144" y="184000"/>
                </a:cubicBezTo>
                <a:cubicBezTo>
                  <a:pt x="155548" y="186432"/>
                  <a:pt x="157568" y="188452"/>
                  <a:pt x="160000" y="189856"/>
                </a:cubicBezTo>
                <a:cubicBezTo>
                  <a:pt x="162432" y="191261"/>
                  <a:pt x="165192" y="192000"/>
                  <a:pt x="168000" y="192000"/>
                </a:cubicBezTo>
                <a:lnTo>
                  <a:pt x="208000" y="192000"/>
                </a:lnTo>
                <a:cubicBezTo>
                  <a:pt x="210808" y="192000"/>
                  <a:pt x="213568" y="191261"/>
                  <a:pt x="216000" y="189856"/>
                </a:cubicBezTo>
                <a:cubicBezTo>
                  <a:pt x="218432" y="188452"/>
                  <a:pt x="220452" y="186432"/>
                  <a:pt x="221856" y="184000"/>
                </a:cubicBezTo>
                <a:cubicBezTo>
                  <a:pt x="223261" y="181568"/>
                  <a:pt x="224000" y="178808"/>
                  <a:pt x="224000" y="176000"/>
                </a:cubicBezTo>
                <a:lnTo>
                  <a:pt x="224000" y="56000"/>
                </a:lnTo>
                <a:cubicBezTo>
                  <a:pt x="224000" y="54596"/>
                  <a:pt x="223630" y="53216"/>
                  <a:pt x="222928" y="52000"/>
                </a:cubicBezTo>
                <a:cubicBezTo>
                  <a:pt x="222226" y="50784"/>
                  <a:pt x="221216" y="49774"/>
                  <a:pt x="220000" y="49072"/>
                </a:cubicBezTo>
                <a:cubicBezTo>
                  <a:pt x="218784" y="48370"/>
                  <a:pt x="217404" y="48000"/>
                  <a:pt x="216000" y="48000"/>
                </a:cubicBezTo>
                <a:close/>
                <a:moveTo>
                  <a:pt x="88000" y="208000"/>
                </a:moveTo>
                <a:lnTo>
                  <a:pt x="48000" y="208000"/>
                </a:lnTo>
                <a:lnTo>
                  <a:pt x="48000" y="128000"/>
                </a:lnTo>
                <a:lnTo>
                  <a:pt x="88000" y="128000"/>
                </a:lnTo>
                <a:close/>
                <a:moveTo>
                  <a:pt x="88000" y="112000"/>
                </a:moveTo>
                <a:lnTo>
                  <a:pt x="48000" y="112000"/>
                </a:lnTo>
                <a:lnTo>
                  <a:pt x="48000" y="64000"/>
                </a:lnTo>
                <a:lnTo>
                  <a:pt x="88000" y="64000"/>
                </a:lnTo>
                <a:close/>
                <a:moveTo>
                  <a:pt x="152000" y="144000"/>
                </a:moveTo>
                <a:lnTo>
                  <a:pt x="104000" y="144000"/>
                </a:lnTo>
                <a:lnTo>
                  <a:pt x="104000" y="64000"/>
                </a:lnTo>
                <a:lnTo>
                  <a:pt x="152000" y="64000"/>
                </a:lnTo>
                <a:close/>
                <a:moveTo>
                  <a:pt x="208000" y="176000"/>
                </a:moveTo>
                <a:lnTo>
                  <a:pt x="168000" y="176000"/>
                </a:lnTo>
                <a:lnTo>
                  <a:pt x="168000" y="128000"/>
                </a:lnTo>
                <a:lnTo>
                  <a:pt x="208000" y="128000"/>
                </a:lnTo>
                <a:close/>
                <a:moveTo>
                  <a:pt x="208000" y="112000"/>
                </a:moveTo>
                <a:lnTo>
                  <a:pt x="168000" y="112000"/>
                </a:lnTo>
                <a:lnTo>
                  <a:pt x="168000" y="64000"/>
                </a:lnTo>
                <a:lnTo>
                  <a:pt x="208000" y="6400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 name="Google Shape;82;p13"/>
          <p:cNvSpPr txBox="1"/>
          <p:nvPr/>
        </p:nvSpPr>
        <p:spPr>
          <a:xfrm>
            <a:off x="1280888" y="2538211"/>
            <a:ext cx="1306175" cy="68390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s-MX" sz="950" u="none" cap="none" strike="noStrike">
                <a:solidFill>
                  <a:srgbClr val="654396"/>
                </a:solidFill>
                <a:latin typeface="Arial"/>
                <a:ea typeface="Arial"/>
                <a:cs typeface="Arial"/>
                <a:sym typeface="Arial"/>
              </a:rPr>
              <a:t>2. Tableros de trabajo</a:t>
            </a:r>
            <a:endParaRPr b="1" i="0" sz="950" u="none" cap="none" strike="noStrike">
              <a:solidFill>
                <a:srgbClr val="654396"/>
              </a:solidFill>
              <a:latin typeface="Arial"/>
              <a:ea typeface="Arial"/>
              <a:cs typeface="Arial"/>
              <a:sym typeface="Arial"/>
            </a:endParaRPr>
          </a:p>
          <a:p>
            <a:pPr indent="0" lvl="0" marL="0" marR="0" rtl="0" algn="l">
              <a:lnSpc>
                <a:spcPct val="115000"/>
              </a:lnSpc>
              <a:spcBef>
                <a:spcPts val="200"/>
              </a:spcBef>
              <a:spcAft>
                <a:spcPts val="0"/>
              </a:spcAft>
              <a:buNone/>
            </a:pPr>
            <a:r>
              <a:rPr b="0" i="0" lang="es-MX" sz="950" u="none" cap="none" strike="noStrike">
                <a:solidFill>
                  <a:srgbClr val="654396"/>
                </a:solidFill>
                <a:latin typeface="Arial"/>
                <a:ea typeface="Arial"/>
                <a:cs typeface="Arial"/>
                <a:sym typeface="Arial"/>
              </a:rPr>
              <a:t>Kanban físico o digital (Por hacer, En proceso, Hecho).</a:t>
            </a:r>
            <a:endParaRPr/>
          </a:p>
        </p:txBody>
      </p:sp>
      <p:sp>
        <p:nvSpPr>
          <p:cNvPr id="83" name="Google Shape;83;p13"/>
          <p:cNvSpPr txBox="1"/>
          <p:nvPr/>
        </p:nvSpPr>
        <p:spPr>
          <a:xfrm>
            <a:off x="2950769" y="2538211"/>
            <a:ext cx="2962959" cy="55880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s-MX" sz="1050" u="none" cap="none" strike="noStrike">
                <a:solidFill>
                  <a:srgbClr val="FFD900"/>
                </a:solidFill>
                <a:latin typeface="Arial"/>
                <a:ea typeface="Arial"/>
                <a:cs typeface="Arial"/>
                <a:sym typeface="Arial"/>
              </a:rPr>
              <a:t>¿Podemos revisar prioridades?</a:t>
            </a:r>
            <a:endParaRPr/>
          </a:p>
          <a:p>
            <a:pPr indent="0" lvl="0" marL="0" marR="0" rtl="0" algn="l">
              <a:lnSpc>
                <a:spcPct val="118000"/>
              </a:lnSpc>
              <a:spcBef>
                <a:spcPts val="300"/>
              </a:spcBef>
              <a:spcAft>
                <a:spcPts val="0"/>
              </a:spcAft>
              <a:buNone/>
            </a:pPr>
            <a:r>
              <a:rPr b="0" i="0" lang="es-MX" sz="950" u="none" cap="none" strike="noStrike">
                <a:solidFill>
                  <a:srgbClr val="E6ECF7"/>
                </a:solidFill>
                <a:latin typeface="Arial"/>
                <a:ea typeface="Arial"/>
                <a:cs typeface="Arial"/>
                <a:sym typeface="Arial"/>
              </a:rPr>
              <a:t>Visibilizar tareas no es suficiente si el equipo no puede pausar o reorganizar el trabajo ante bloqueos.</a:t>
            </a:r>
            <a:endParaRPr/>
          </a:p>
        </p:txBody>
      </p:sp>
      <p:sp>
        <p:nvSpPr>
          <p:cNvPr id="84" name="Google Shape;84;p13"/>
          <p:cNvSpPr/>
          <p:nvPr/>
        </p:nvSpPr>
        <p:spPr>
          <a:xfrm>
            <a:off x="640807" y="3451087"/>
            <a:ext cx="2357897" cy="928421"/>
          </a:xfrm>
          <a:prstGeom prst="roundRect">
            <a:avLst>
              <a:gd fmla="val 9848" name="adj"/>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 name="Google Shape;85;p13"/>
          <p:cNvSpPr/>
          <p:nvPr/>
        </p:nvSpPr>
        <p:spPr>
          <a:xfrm>
            <a:off x="2698207" y="3451087"/>
            <a:ext cx="3518986" cy="928421"/>
          </a:xfrm>
          <a:prstGeom prst="roundRect">
            <a:avLst>
              <a:gd fmla="val 9848" name="adj"/>
            </a:avLst>
          </a:prstGeom>
          <a:solidFill>
            <a:srgbClr val="65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 name="Google Shape;86;p13"/>
          <p:cNvSpPr/>
          <p:nvPr/>
        </p:nvSpPr>
        <p:spPr>
          <a:xfrm>
            <a:off x="2698207" y="3451087"/>
            <a:ext cx="144361" cy="928421"/>
          </a:xfrm>
          <a:prstGeom prst="rect">
            <a:avLst/>
          </a:prstGeom>
          <a:solidFill>
            <a:srgbClr val="65439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7" name="Google Shape;87;p13"/>
          <p:cNvSpPr/>
          <p:nvPr/>
        </p:nvSpPr>
        <p:spPr>
          <a:xfrm>
            <a:off x="750536" y="3579103"/>
            <a:ext cx="461928" cy="457200"/>
          </a:xfrm>
          <a:prstGeom prst="ellipse">
            <a:avLst/>
          </a:prstGeom>
          <a:solidFill>
            <a:srgbClr val="65439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654396"/>
              </a:solidFill>
              <a:latin typeface="Arial"/>
              <a:ea typeface="Arial"/>
              <a:cs typeface="Arial"/>
              <a:sym typeface="Arial"/>
            </a:endParaRPr>
          </a:p>
        </p:txBody>
      </p:sp>
      <p:sp>
        <p:nvSpPr>
          <p:cNvPr id="88" name="Google Shape;88;p13"/>
          <p:cNvSpPr/>
          <p:nvPr/>
        </p:nvSpPr>
        <p:spPr>
          <a:xfrm>
            <a:off x="851120" y="3679687"/>
            <a:ext cx="258680" cy="256032"/>
          </a:xfrm>
          <a:custGeom>
            <a:rect b="b" l="l" r="r" t="t"/>
            <a:pathLst>
              <a:path extrusionOk="0" h="256000" w="256000">
                <a:moveTo>
                  <a:pt x="223680" y="66150"/>
                </a:moveTo>
                <a:lnTo>
                  <a:pt x="135680" y="18000"/>
                </a:lnTo>
                <a:cubicBezTo>
                  <a:pt x="133329" y="16701"/>
                  <a:pt x="130686" y="16019"/>
                  <a:pt x="128000" y="16019"/>
                </a:cubicBezTo>
                <a:cubicBezTo>
                  <a:pt x="125314" y="16019"/>
                  <a:pt x="122671" y="16701"/>
                  <a:pt x="120320" y="18000"/>
                </a:cubicBezTo>
                <a:lnTo>
                  <a:pt x="32320" y="66170"/>
                </a:lnTo>
                <a:cubicBezTo>
                  <a:pt x="30650" y="67084"/>
                  <a:pt x="29157" y="68288"/>
                  <a:pt x="27910" y="69726"/>
                </a:cubicBezTo>
                <a:cubicBezTo>
                  <a:pt x="26663" y="71165"/>
                  <a:pt x="25683" y="72814"/>
                  <a:pt x="25016" y="74596"/>
                </a:cubicBezTo>
                <a:cubicBezTo>
                  <a:pt x="24348" y="76379"/>
                  <a:pt x="24004" y="78267"/>
                  <a:pt x="24000" y="80170"/>
                </a:cubicBezTo>
                <a:lnTo>
                  <a:pt x="24000" y="175810"/>
                </a:lnTo>
                <a:cubicBezTo>
                  <a:pt x="24004" y="177713"/>
                  <a:pt x="24348" y="179601"/>
                  <a:pt x="25016" y="181384"/>
                </a:cubicBezTo>
                <a:cubicBezTo>
                  <a:pt x="25683" y="183166"/>
                  <a:pt x="26663" y="184815"/>
                  <a:pt x="27910" y="186254"/>
                </a:cubicBezTo>
                <a:cubicBezTo>
                  <a:pt x="29157" y="187692"/>
                  <a:pt x="30650" y="188896"/>
                  <a:pt x="32320" y="189810"/>
                </a:cubicBezTo>
                <a:lnTo>
                  <a:pt x="120320" y="237980"/>
                </a:lnTo>
                <a:cubicBezTo>
                  <a:pt x="122671" y="239279"/>
                  <a:pt x="125314" y="239961"/>
                  <a:pt x="128000" y="239961"/>
                </a:cubicBezTo>
                <a:cubicBezTo>
                  <a:pt x="130686" y="239961"/>
                  <a:pt x="133329" y="239279"/>
                  <a:pt x="135680" y="237980"/>
                </a:cubicBezTo>
                <a:lnTo>
                  <a:pt x="223680" y="189810"/>
                </a:lnTo>
                <a:cubicBezTo>
                  <a:pt x="225350" y="188896"/>
                  <a:pt x="226843" y="187692"/>
                  <a:pt x="228090" y="186254"/>
                </a:cubicBezTo>
                <a:cubicBezTo>
                  <a:pt x="229337" y="184815"/>
                  <a:pt x="230317" y="183166"/>
                  <a:pt x="230984" y="181384"/>
                </a:cubicBezTo>
                <a:cubicBezTo>
                  <a:pt x="231652" y="179601"/>
                  <a:pt x="231996" y="177713"/>
                  <a:pt x="232000" y="175810"/>
                </a:cubicBezTo>
                <a:lnTo>
                  <a:pt x="232000" y="80180"/>
                </a:lnTo>
                <a:cubicBezTo>
                  <a:pt x="231999" y="78273"/>
                  <a:pt x="231658" y="76382"/>
                  <a:pt x="230991" y="74595"/>
                </a:cubicBezTo>
                <a:cubicBezTo>
                  <a:pt x="230325" y="72809"/>
                  <a:pt x="229345" y="71155"/>
                  <a:pt x="228097" y="69714"/>
                </a:cubicBezTo>
                <a:cubicBezTo>
                  <a:pt x="226849" y="68272"/>
                  <a:pt x="225353" y="67065"/>
                  <a:pt x="223680" y="66150"/>
                </a:cubicBezTo>
                <a:close/>
                <a:moveTo>
                  <a:pt x="128000" y="32000"/>
                </a:moveTo>
                <a:lnTo>
                  <a:pt x="208340" y="76000"/>
                </a:lnTo>
                <a:lnTo>
                  <a:pt x="178570" y="92300"/>
                </a:lnTo>
                <a:lnTo>
                  <a:pt x="98220" y="48300"/>
                </a:lnTo>
                <a:close/>
                <a:moveTo>
                  <a:pt x="128000" y="120000"/>
                </a:moveTo>
                <a:lnTo>
                  <a:pt x="47660" y="76000"/>
                </a:lnTo>
                <a:lnTo>
                  <a:pt x="81560" y="57440"/>
                </a:lnTo>
                <a:lnTo>
                  <a:pt x="161900" y="101440"/>
                </a:lnTo>
                <a:close/>
                <a:moveTo>
                  <a:pt x="40000" y="90000"/>
                </a:moveTo>
                <a:lnTo>
                  <a:pt x="120000" y="133780"/>
                </a:lnTo>
                <a:lnTo>
                  <a:pt x="120000" y="219570"/>
                </a:lnTo>
                <a:lnTo>
                  <a:pt x="40000" y="175820"/>
                </a:lnTo>
                <a:close/>
                <a:moveTo>
                  <a:pt x="216000" y="175780"/>
                </a:moveTo>
                <a:lnTo>
                  <a:pt x="216000" y="175780"/>
                </a:lnTo>
                <a:lnTo>
                  <a:pt x="136000" y="219570"/>
                </a:lnTo>
                <a:lnTo>
                  <a:pt x="136000" y="133820"/>
                </a:lnTo>
                <a:lnTo>
                  <a:pt x="168000" y="116310"/>
                </a:lnTo>
                <a:lnTo>
                  <a:pt x="168000" y="152000"/>
                </a:lnTo>
                <a:cubicBezTo>
                  <a:pt x="168000" y="153404"/>
                  <a:pt x="168370" y="154784"/>
                  <a:pt x="169072" y="156000"/>
                </a:cubicBezTo>
                <a:cubicBezTo>
                  <a:pt x="169774" y="157216"/>
                  <a:pt x="170784" y="158226"/>
                  <a:pt x="172000" y="158928"/>
                </a:cubicBezTo>
                <a:cubicBezTo>
                  <a:pt x="173216" y="159630"/>
                  <a:pt x="174596" y="160000"/>
                  <a:pt x="176000" y="160000"/>
                </a:cubicBezTo>
                <a:cubicBezTo>
                  <a:pt x="177404" y="160000"/>
                  <a:pt x="178784" y="159630"/>
                  <a:pt x="180000" y="158928"/>
                </a:cubicBezTo>
                <a:cubicBezTo>
                  <a:pt x="181216" y="158226"/>
                  <a:pt x="182226" y="157216"/>
                  <a:pt x="182928" y="156000"/>
                </a:cubicBezTo>
                <a:cubicBezTo>
                  <a:pt x="183630" y="154784"/>
                  <a:pt x="184000" y="153404"/>
                  <a:pt x="184000" y="152000"/>
                </a:cubicBezTo>
                <a:lnTo>
                  <a:pt x="184000" y="107550"/>
                </a:lnTo>
                <a:lnTo>
                  <a:pt x="216000" y="90000"/>
                </a:lnTo>
                <a:lnTo>
                  <a:pt x="216000" y="17577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 name="Google Shape;89;p13"/>
          <p:cNvSpPr txBox="1"/>
          <p:nvPr/>
        </p:nvSpPr>
        <p:spPr>
          <a:xfrm>
            <a:off x="1280888" y="3560815"/>
            <a:ext cx="1306175" cy="51578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s-MX" sz="950" u="none" cap="none" strike="noStrike">
                <a:solidFill>
                  <a:srgbClr val="654396"/>
                </a:solidFill>
                <a:latin typeface="Arial"/>
                <a:ea typeface="Arial"/>
                <a:cs typeface="Arial"/>
                <a:sym typeface="Arial"/>
              </a:rPr>
              <a:t>3. Entregas frecuentes</a:t>
            </a:r>
            <a:endParaRPr/>
          </a:p>
          <a:p>
            <a:pPr indent="0" lvl="0" marL="0" marR="0" rtl="0" algn="l">
              <a:lnSpc>
                <a:spcPct val="115000"/>
              </a:lnSpc>
              <a:spcBef>
                <a:spcPts val="200"/>
              </a:spcBef>
              <a:spcAft>
                <a:spcPts val="0"/>
              </a:spcAft>
              <a:buNone/>
            </a:pPr>
            <a:r>
              <a:rPr b="0" i="0" lang="es-MX" sz="950" u="none" cap="none" strike="noStrike">
                <a:solidFill>
                  <a:srgbClr val="654396"/>
                </a:solidFill>
                <a:latin typeface="Arial"/>
                <a:ea typeface="Arial"/>
                <a:cs typeface="Arial"/>
                <a:sym typeface="Arial"/>
              </a:rPr>
              <a:t>Lanzamiento continuo de versiones y avances.</a:t>
            </a:r>
            <a:endParaRPr/>
          </a:p>
        </p:txBody>
      </p:sp>
      <p:sp>
        <p:nvSpPr>
          <p:cNvPr id="90" name="Google Shape;90;p13"/>
          <p:cNvSpPr txBox="1"/>
          <p:nvPr/>
        </p:nvSpPr>
        <p:spPr>
          <a:xfrm>
            <a:off x="2950769" y="3560815"/>
            <a:ext cx="2962959" cy="731290"/>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s-MX" sz="1050" u="none" cap="none" strike="noStrike">
                <a:solidFill>
                  <a:srgbClr val="FFD900"/>
                </a:solidFill>
                <a:latin typeface="Arial"/>
                <a:ea typeface="Arial"/>
                <a:cs typeface="Arial"/>
                <a:sym typeface="Arial"/>
              </a:rPr>
              <a:t>¿Estamos generando valor?</a:t>
            </a:r>
            <a:endParaRPr/>
          </a:p>
          <a:p>
            <a:pPr indent="0" lvl="0" marL="0" marR="0" rtl="0" algn="l">
              <a:lnSpc>
                <a:spcPct val="118000"/>
              </a:lnSpc>
              <a:spcBef>
                <a:spcPts val="300"/>
              </a:spcBef>
              <a:spcAft>
                <a:spcPts val="0"/>
              </a:spcAft>
              <a:buNone/>
            </a:pPr>
            <a:r>
              <a:rPr b="0" i="0" lang="es-MX" sz="950" u="none" cap="none" strike="noStrike">
                <a:solidFill>
                  <a:srgbClr val="E6ECF7"/>
                </a:solidFill>
                <a:latin typeface="Arial"/>
                <a:ea typeface="Arial"/>
                <a:cs typeface="Arial"/>
                <a:sym typeface="Arial"/>
              </a:rPr>
              <a:t>Entregar con frecuencia solo acumula trabajo si lo liberado no resuelve problemas reales de usuarios o clientes.</a:t>
            </a:r>
            <a:endParaRPr/>
          </a:p>
        </p:txBody>
      </p:sp>
      <p:sp>
        <p:nvSpPr>
          <p:cNvPr id="91" name="Google Shape;91;p13"/>
          <p:cNvSpPr/>
          <p:nvPr/>
        </p:nvSpPr>
        <p:spPr>
          <a:xfrm>
            <a:off x="640807" y="4443516"/>
            <a:ext cx="2357897" cy="958596"/>
          </a:xfrm>
          <a:prstGeom prst="roundRect">
            <a:avLst>
              <a:gd fmla="val 9538" name="adj"/>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 name="Google Shape;92;p13"/>
          <p:cNvSpPr/>
          <p:nvPr/>
        </p:nvSpPr>
        <p:spPr>
          <a:xfrm>
            <a:off x="2698207" y="4443516"/>
            <a:ext cx="3518986" cy="958596"/>
          </a:xfrm>
          <a:prstGeom prst="roundRect">
            <a:avLst>
              <a:gd fmla="val 9538" name="adj"/>
            </a:avLst>
          </a:prstGeom>
          <a:solidFill>
            <a:srgbClr val="65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3" name="Google Shape;93;p13"/>
          <p:cNvSpPr/>
          <p:nvPr/>
        </p:nvSpPr>
        <p:spPr>
          <a:xfrm>
            <a:off x="2698207" y="4443516"/>
            <a:ext cx="144361" cy="958596"/>
          </a:xfrm>
          <a:prstGeom prst="rect">
            <a:avLst/>
          </a:prstGeom>
          <a:solidFill>
            <a:srgbClr val="65439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4" name="Google Shape;94;p13"/>
          <p:cNvSpPr/>
          <p:nvPr/>
        </p:nvSpPr>
        <p:spPr>
          <a:xfrm>
            <a:off x="750536" y="4571532"/>
            <a:ext cx="461928" cy="457200"/>
          </a:xfrm>
          <a:prstGeom prst="ellipse">
            <a:avLst/>
          </a:prstGeom>
          <a:solidFill>
            <a:srgbClr val="65439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654396"/>
              </a:solidFill>
              <a:latin typeface="Arial"/>
              <a:ea typeface="Arial"/>
              <a:cs typeface="Arial"/>
              <a:sym typeface="Arial"/>
            </a:endParaRPr>
          </a:p>
        </p:txBody>
      </p:sp>
      <p:sp>
        <p:nvSpPr>
          <p:cNvPr id="95" name="Google Shape;95;p13"/>
          <p:cNvSpPr/>
          <p:nvPr/>
        </p:nvSpPr>
        <p:spPr>
          <a:xfrm>
            <a:off x="851120" y="4672116"/>
            <a:ext cx="258680" cy="256032"/>
          </a:xfrm>
          <a:custGeom>
            <a:rect b="b" l="l" r="r" t="t"/>
            <a:pathLst>
              <a:path extrusionOk="0" h="256000" w="256000">
                <a:moveTo>
                  <a:pt x="244800" y="150400"/>
                </a:moveTo>
                <a:cubicBezTo>
                  <a:pt x="243677" y="151243"/>
                  <a:pt x="242351" y="151775"/>
                  <a:pt x="240957" y="151943"/>
                </a:cubicBezTo>
                <a:cubicBezTo>
                  <a:pt x="239563" y="152111"/>
                  <a:pt x="238149" y="151909"/>
                  <a:pt x="236857" y="151357"/>
                </a:cubicBezTo>
                <a:cubicBezTo>
                  <a:pt x="235566" y="150805"/>
                  <a:pt x="234443" y="149923"/>
                  <a:pt x="233600" y="148800"/>
                </a:cubicBezTo>
                <a:cubicBezTo>
                  <a:pt x="228778" y="142319"/>
                  <a:pt x="222502" y="137060"/>
                  <a:pt x="215276" y="133447"/>
                </a:cubicBezTo>
                <a:cubicBezTo>
                  <a:pt x="208051" y="129835"/>
                  <a:pt x="200078" y="127969"/>
                  <a:pt x="192000" y="128000"/>
                </a:cubicBezTo>
                <a:cubicBezTo>
                  <a:pt x="190955" y="128000"/>
                  <a:pt x="189921" y="127795"/>
                  <a:pt x="188955" y="127398"/>
                </a:cubicBezTo>
                <a:cubicBezTo>
                  <a:pt x="187989" y="127000"/>
                  <a:pt x="187110" y="126417"/>
                  <a:pt x="186369" y="125681"/>
                </a:cubicBezTo>
                <a:cubicBezTo>
                  <a:pt x="185627" y="124946"/>
                  <a:pt x="185036" y="124072"/>
                  <a:pt x="184630" y="123110"/>
                </a:cubicBezTo>
                <a:cubicBezTo>
                  <a:pt x="184215" y="122126"/>
                  <a:pt x="184001" y="121068"/>
                  <a:pt x="184001" y="120000"/>
                </a:cubicBezTo>
                <a:cubicBezTo>
                  <a:pt x="184001" y="118932"/>
                  <a:pt x="184215" y="117874"/>
                  <a:pt x="184630" y="116890"/>
                </a:cubicBezTo>
                <a:cubicBezTo>
                  <a:pt x="185036" y="115928"/>
                  <a:pt x="185627" y="115054"/>
                  <a:pt x="186369" y="114319"/>
                </a:cubicBezTo>
                <a:cubicBezTo>
                  <a:pt x="187110" y="113583"/>
                  <a:pt x="187989" y="113000"/>
                  <a:pt x="188955" y="112602"/>
                </a:cubicBezTo>
                <a:cubicBezTo>
                  <a:pt x="189921" y="112205"/>
                  <a:pt x="190955" y="112000"/>
                  <a:pt x="192000" y="112000"/>
                </a:cubicBezTo>
                <a:cubicBezTo>
                  <a:pt x="195984" y="112000"/>
                  <a:pt x="199906" y="111007"/>
                  <a:pt x="203411" y="109112"/>
                </a:cubicBezTo>
                <a:cubicBezTo>
                  <a:pt x="206916" y="107218"/>
                  <a:pt x="209895" y="104480"/>
                  <a:pt x="212077" y="101146"/>
                </a:cubicBezTo>
                <a:cubicBezTo>
                  <a:pt x="214260" y="97813"/>
                  <a:pt x="215578" y="93988"/>
                  <a:pt x="215913" y="90018"/>
                </a:cubicBezTo>
                <a:cubicBezTo>
                  <a:pt x="216248" y="86047"/>
                  <a:pt x="215589" y="82056"/>
                  <a:pt x="213996" y="78404"/>
                </a:cubicBezTo>
                <a:cubicBezTo>
                  <a:pt x="212403" y="74752"/>
                  <a:pt x="209925" y="71553"/>
                  <a:pt x="206787" y="69098"/>
                </a:cubicBezTo>
                <a:cubicBezTo>
                  <a:pt x="203649" y="66643"/>
                  <a:pt x="199949" y="65007"/>
                  <a:pt x="196021" y="64340"/>
                </a:cubicBezTo>
                <a:cubicBezTo>
                  <a:pt x="192093" y="63672"/>
                  <a:pt x="188060" y="63992"/>
                  <a:pt x="184287" y="65272"/>
                </a:cubicBezTo>
                <a:cubicBezTo>
                  <a:pt x="180514" y="66553"/>
                  <a:pt x="177118" y="68752"/>
                  <a:pt x="174408" y="71672"/>
                </a:cubicBezTo>
                <a:cubicBezTo>
                  <a:pt x="171697" y="74593"/>
                  <a:pt x="169756" y="78142"/>
                  <a:pt x="168760" y="82000"/>
                </a:cubicBezTo>
                <a:cubicBezTo>
                  <a:pt x="168409" y="83360"/>
                  <a:pt x="167706" y="84605"/>
                  <a:pt x="166722" y="85607"/>
                </a:cubicBezTo>
                <a:cubicBezTo>
                  <a:pt x="165738" y="86610"/>
                  <a:pt x="164507" y="87336"/>
                  <a:pt x="163153" y="87712"/>
                </a:cubicBezTo>
                <a:cubicBezTo>
                  <a:pt x="161799" y="88088"/>
                  <a:pt x="160370" y="88101"/>
                  <a:pt x="159010" y="87750"/>
                </a:cubicBezTo>
                <a:cubicBezTo>
                  <a:pt x="157650" y="87399"/>
                  <a:pt x="156405" y="86696"/>
                  <a:pt x="155403" y="85712"/>
                </a:cubicBezTo>
                <a:cubicBezTo>
                  <a:pt x="154400" y="84728"/>
                  <a:pt x="153674" y="83497"/>
                  <a:pt x="153298" y="82143"/>
                </a:cubicBezTo>
                <a:cubicBezTo>
                  <a:pt x="152922" y="80789"/>
                  <a:pt x="152909" y="79360"/>
                  <a:pt x="153260" y="78000"/>
                </a:cubicBezTo>
                <a:cubicBezTo>
                  <a:pt x="154817" y="71973"/>
                  <a:pt x="157760" y="66393"/>
                  <a:pt x="161854" y="61704"/>
                </a:cubicBezTo>
                <a:cubicBezTo>
                  <a:pt x="165947" y="57014"/>
                  <a:pt x="171079" y="53345"/>
                  <a:pt x="176840" y="50988"/>
                </a:cubicBezTo>
                <a:cubicBezTo>
                  <a:pt x="182602" y="48630"/>
                  <a:pt x="188834" y="47650"/>
                  <a:pt x="195040" y="48125"/>
                </a:cubicBezTo>
                <a:cubicBezTo>
                  <a:pt x="201247" y="48600"/>
                  <a:pt x="207258" y="50518"/>
                  <a:pt x="212593" y="53724"/>
                </a:cubicBezTo>
                <a:cubicBezTo>
                  <a:pt x="217928" y="56931"/>
                  <a:pt x="222442" y="61339"/>
                  <a:pt x="225774" y="66596"/>
                </a:cubicBezTo>
                <a:cubicBezTo>
                  <a:pt x="229106" y="71854"/>
                  <a:pt x="231165" y="77817"/>
                  <a:pt x="231787" y="84011"/>
                </a:cubicBezTo>
                <a:cubicBezTo>
                  <a:pt x="232409" y="90204"/>
                  <a:pt x="231577" y="96458"/>
                  <a:pt x="229358" y="102273"/>
                </a:cubicBezTo>
                <a:cubicBezTo>
                  <a:pt x="227138" y="108089"/>
                  <a:pt x="223591" y="113306"/>
                  <a:pt x="219000" y="117510"/>
                </a:cubicBezTo>
                <a:cubicBezTo>
                  <a:pt x="229877" y="122220"/>
                  <a:pt x="239335" y="129695"/>
                  <a:pt x="246430" y="139190"/>
                </a:cubicBezTo>
                <a:cubicBezTo>
                  <a:pt x="247060" y="140033"/>
                  <a:pt x="247518" y="140991"/>
                  <a:pt x="247777" y="142011"/>
                </a:cubicBezTo>
                <a:cubicBezTo>
                  <a:pt x="248037" y="143031"/>
                  <a:pt x="248092" y="144092"/>
                  <a:pt x="247941" y="145133"/>
                </a:cubicBezTo>
                <a:cubicBezTo>
                  <a:pt x="247789" y="146174"/>
                  <a:pt x="247434" y="147176"/>
                  <a:pt x="246895" y="148079"/>
                </a:cubicBezTo>
                <a:cubicBezTo>
                  <a:pt x="246356" y="148983"/>
                  <a:pt x="245644" y="149772"/>
                  <a:pt x="244800" y="150400"/>
                </a:cubicBezTo>
                <a:close/>
                <a:moveTo>
                  <a:pt x="190920" y="212000"/>
                </a:moveTo>
                <a:cubicBezTo>
                  <a:pt x="191582" y="213042"/>
                  <a:pt x="191994" y="214223"/>
                  <a:pt x="192124" y="215450"/>
                </a:cubicBezTo>
                <a:cubicBezTo>
                  <a:pt x="192254" y="216678"/>
                  <a:pt x="192098" y="217919"/>
                  <a:pt x="191669" y="219076"/>
                </a:cubicBezTo>
                <a:cubicBezTo>
                  <a:pt x="191239" y="220233"/>
                  <a:pt x="190548" y="221275"/>
                  <a:pt x="189648" y="222121"/>
                </a:cubicBezTo>
                <a:cubicBezTo>
                  <a:pt x="188749" y="222966"/>
                  <a:pt x="187666" y="223592"/>
                  <a:pt x="186485" y="223949"/>
                </a:cubicBezTo>
                <a:cubicBezTo>
                  <a:pt x="185303" y="224307"/>
                  <a:pt x="184055" y="224386"/>
                  <a:pt x="182838" y="224180"/>
                </a:cubicBezTo>
                <a:cubicBezTo>
                  <a:pt x="181621" y="223975"/>
                  <a:pt x="180467" y="223491"/>
                  <a:pt x="179469" y="222765"/>
                </a:cubicBezTo>
                <a:cubicBezTo>
                  <a:pt x="178470" y="222040"/>
                  <a:pt x="177652" y="221094"/>
                  <a:pt x="177080" y="220000"/>
                </a:cubicBezTo>
                <a:cubicBezTo>
                  <a:pt x="172041" y="211467"/>
                  <a:pt x="164863" y="204394"/>
                  <a:pt x="156256" y="199482"/>
                </a:cubicBezTo>
                <a:cubicBezTo>
                  <a:pt x="147650" y="194570"/>
                  <a:pt x="137910" y="191985"/>
                  <a:pt x="128000" y="191985"/>
                </a:cubicBezTo>
                <a:cubicBezTo>
                  <a:pt x="118090" y="191985"/>
                  <a:pt x="108350" y="194570"/>
                  <a:pt x="99744" y="199482"/>
                </a:cubicBezTo>
                <a:cubicBezTo>
                  <a:pt x="91137" y="204394"/>
                  <a:pt x="83959" y="211467"/>
                  <a:pt x="78920" y="220000"/>
                </a:cubicBezTo>
                <a:cubicBezTo>
                  <a:pt x="78348" y="221094"/>
                  <a:pt x="77530" y="222040"/>
                  <a:pt x="76531" y="222765"/>
                </a:cubicBezTo>
                <a:cubicBezTo>
                  <a:pt x="75533" y="223491"/>
                  <a:pt x="74379" y="223975"/>
                  <a:pt x="73162" y="224180"/>
                </a:cubicBezTo>
                <a:cubicBezTo>
                  <a:pt x="71945" y="224386"/>
                  <a:pt x="70697" y="224307"/>
                  <a:pt x="69515" y="223949"/>
                </a:cubicBezTo>
                <a:cubicBezTo>
                  <a:pt x="68334" y="223592"/>
                  <a:pt x="67251" y="222966"/>
                  <a:pt x="66352" y="222121"/>
                </a:cubicBezTo>
                <a:cubicBezTo>
                  <a:pt x="65452" y="221275"/>
                  <a:pt x="64761" y="220233"/>
                  <a:pt x="64331" y="219076"/>
                </a:cubicBezTo>
                <a:cubicBezTo>
                  <a:pt x="63902" y="217919"/>
                  <a:pt x="63746" y="216678"/>
                  <a:pt x="63876" y="215450"/>
                </a:cubicBezTo>
                <a:cubicBezTo>
                  <a:pt x="64006" y="214223"/>
                  <a:pt x="64418" y="213042"/>
                  <a:pt x="65080" y="212000"/>
                </a:cubicBezTo>
                <a:cubicBezTo>
                  <a:pt x="68933" y="205379"/>
                  <a:pt x="73818" y="199415"/>
                  <a:pt x="79549" y="194333"/>
                </a:cubicBezTo>
                <a:cubicBezTo>
                  <a:pt x="85281" y="189250"/>
                  <a:pt x="91786" y="185114"/>
                  <a:pt x="98820" y="182080"/>
                </a:cubicBezTo>
                <a:cubicBezTo>
                  <a:pt x="92466" y="177215"/>
                  <a:pt x="87428" y="170837"/>
                  <a:pt x="84166" y="163529"/>
                </a:cubicBezTo>
                <a:cubicBezTo>
                  <a:pt x="80905" y="156220"/>
                  <a:pt x="79523" y="148211"/>
                  <a:pt x="80146" y="140232"/>
                </a:cubicBezTo>
                <a:cubicBezTo>
                  <a:pt x="80768" y="132254"/>
                  <a:pt x="83377" y="124556"/>
                  <a:pt x="87733" y="117842"/>
                </a:cubicBezTo>
                <a:cubicBezTo>
                  <a:pt x="92089" y="111129"/>
                  <a:pt x="98055" y="105610"/>
                  <a:pt x="105087" y="101790"/>
                </a:cubicBezTo>
                <a:cubicBezTo>
                  <a:pt x="112120" y="97969"/>
                  <a:pt x="119997" y="95968"/>
                  <a:pt x="128000" y="95968"/>
                </a:cubicBezTo>
                <a:cubicBezTo>
                  <a:pt x="136003" y="95968"/>
                  <a:pt x="143880" y="97969"/>
                  <a:pt x="150913" y="101790"/>
                </a:cubicBezTo>
                <a:cubicBezTo>
                  <a:pt x="157945" y="105610"/>
                  <a:pt x="163911" y="111129"/>
                  <a:pt x="168267" y="117842"/>
                </a:cubicBezTo>
                <a:cubicBezTo>
                  <a:pt x="172623" y="124556"/>
                  <a:pt x="175232" y="132254"/>
                  <a:pt x="175854" y="140232"/>
                </a:cubicBezTo>
                <a:cubicBezTo>
                  <a:pt x="176477" y="148211"/>
                  <a:pt x="175095" y="156220"/>
                  <a:pt x="171834" y="163529"/>
                </a:cubicBezTo>
                <a:cubicBezTo>
                  <a:pt x="168572" y="170837"/>
                  <a:pt x="163534" y="177215"/>
                  <a:pt x="157180" y="182080"/>
                </a:cubicBezTo>
                <a:cubicBezTo>
                  <a:pt x="164214" y="185114"/>
                  <a:pt x="170719" y="189250"/>
                  <a:pt x="176451" y="194333"/>
                </a:cubicBezTo>
                <a:cubicBezTo>
                  <a:pt x="182182" y="199415"/>
                  <a:pt x="187067" y="205379"/>
                  <a:pt x="190920" y="212000"/>
                </a:cubicBezTo>
                <a:close/>
                <a:moveTo>
                  <a:pt x="128000" y="176000"/>
                </a:moveTo>
                <a:cubicBezTo>
                  <a:pt x="133617" y="176000"/>
                  <a:pt x="139136" y="174521"/>
                  <a:pt x="144000" y="171713"/>
                </a:cubicBezTo>
                <a:cubicBezTo>
                  <a:pt x="148864" y="168904"/>
                  <a:pt x="152904" y="164864"/>
                  <a:pt x="155713" y="160000"/>
                </a:cubicBezTo>
                <a:cubicBezTo>
                  <a:pt x="158521" y="155136"/>
                  <a:pt x="160000" y="149617"/>
                  <a:pt x="160000" y="144000"/>
                </a:cubicBezTo>
                <a:cubicBezTo>
                  <a:pt x="160000" y="138383"/>
                  <a:pt x="158521" y="132864"/>
                  <a:pt x="155713" y="128000"/>
                </a:cubicBezTo>
                <a:cubicBezTo>
                  <a:pt x="152904" y="123136"/>
                  <a:pt x="148864" y="119096"/>
                  <a:pt x="144000" y="116287"/>
                </a:cubicBezTo>
                <a:cubicBezTo>
                  <a:pt x="139136" y="113479"/>
                  <a:pt x="133617" y="112000"/>
                  <a:pt x="128000" y="112000"/>
                </a:cubicBezTo>
                <a:cubicBezTo>
                  <a:pt x="122383" y="112000"/>
                  <a:pt x="116864" y="113479"/>
                  <a:pt x="112000" y="116287"/>
                </a:cubicBezTo>
                <a:cubicBezTo>
                  <a:pt x="107136" y="119096"/>
                  <a:pt x="103096" y="123136"/>
                  <a:pt x="100287" y="128000"/>
                </a:cubicBezTo>
                <a:cubicBezTo>
                  <a:pt x="97479" y="132864"/>
                  <a:pt x="96000" y="138383"/>
                  <a:pt x="96000" y="144000"/>
                </a:cubicBezTo>
                <a:cubicBezTo>
                  <a:pt x="96000" y="149617"/>
                  <a:pt x="97479" y="155136"/>
                  <a:pt x="100287" y="160000"/>
                </a:cubicBezTo>
                <a:cubicBezTo>
                  <a:pt x="103096" y="164864"/>
                  <a:pt x="107136" y="168904"/>
                  <a:pt x="112000" y="171713"/>
                </a:cubicBezTo>
                <a:cubicBezTo>
                  <a:pt x="116864" y="174521"/>
                  <a:pt x="122383" y="176000"/>
                  <a:pt x="128000" y="176000"/>
                </a:cubicBezTo>
                <a:close/>
                <a:moveTo>
                  <a:pt x="72000" y="120000"/>
                </a:moveTo>
                <a:cubicBezTo>
                  <a:pt x="72000" y="118596"/>
                  <a:pt x="71630" y="117216"/>
                  <a:pt x="70928" y="116000"/>
                </a:cubicBezTo>
                <a:cubicBezTo>
                  <a:pt x="70226" y="114784"/>
                  <a:pt x="69216" y="113774"/>
                  <a:pt x="68000" y="113072"/>
                </a:cubicBezTo>
                <a:cubicBezTo>
                  <a:pt x="66784" y="112370"/>
                  <a:pt x="65404" y="112000"/>
                  <a:pt x="64000" y="112000"/>
                </a:cubicBezTo>
                <a:cubicBezTo>
                  <a:pt x="60016" y="112000"/>
                  <a:pt x="56094" y="111007"/>
                  <a:pt x="52589" y="109112"/>
                </a:cubicBezTo>
                <a:cubicBezTo>
                  <a:pt x="49084" y="107218"/>
                  <a:pt x="46105" y="104480"/>
                  <a:pt x="43923" y="101146"/>
                </a:cubicBezTo>
                <a:cubicBezTo>
                  <a:pt x="41740" y="97813"/>
                  <a:pt x="40422" y="93988"/>
                  <a:pt x="40087" y="90018"/>
                </a:cubicBezTo>
                <a:cubicBezTo>
                  <a:pt x="39752" y="86047"/>
                  <a:pt x="40411" y="82056"/>
                  <a:pt x="42004" y="78404"/>
                </a:cubicBezTo>
                <a:cubicBezTo>
                  <a:pt x="43597" y="74752"/>
                  <a:pt x="46075" y="71553"/>
                  <a:pt x="49213" y="69098"/>
                </a:cubicBezTo>
                <a:cubicBezTo>
                  <a:pt x="52351" y="66643"/>
                  <a:pt x="56051" y="65007"/>
                  <a:pt x="59979" y="64340"/>
                </a:cubicBezTo>
                <a:cubicBezTo>
                  <a:pt x="63907" y="63672"/>
                  <a:pt x="67940" y="63992"/>
                  <a:pt x="71713" y="65272"/>
                </a:cubicBezTo>
                <a:cubicBezTo>
                  <a:pt x="75486" y="66553"/>
                  <a:pt x="78882" y="68752"/>
                  <a:pt x="81592" y="71672"/>
                </a:cubicBezTo>
                <a:cubicBezTo>
                  <a:pt x="84303" y="74593"/>
                  <a:pt x="86244" y="78142"/>
                  <a:pt x="87240" y="82000"/>
                </a:cubicBezTo>
                <a:cubicBezTo>
                  <a:pt x="87591" y="83360"/>
                  <a:pt x="88294" y="84605"/>
                  <a:pt x="89278" y="85607"/>
                </a:cubicBezTo>
                <a:cubicBezTo>
                  <a:pt x="90262" y="86610"/>
                  <a:pt x="91493" y="87336"/>
                  <a:pt x="92847" y="87712"/>
                </a:cubicBezTo>
                <a:cubicBezTo>
                  <a:pt x="94201" y="88088"/>
                  <a:pt x="95630" y="88101"/>
                  <a:pt x="96990" y="87750"/>
                </a:cubicBezTo>
                <a:cubicBezTo>
                  <a:pt x="98350" y="87399"/>
                  <a:pt x="99595" y="86696"/>
                  <a:pt x="100597" y="85712"/>
                </a:cubicBezTo>
                <a:cubicBezTo>
                  <a:pt x="101600" y="84728"/>
                  <a:pt x="102326" y="83497"/>
                  <a:pt x="102702" y="82143"/>
                </a:cubicBezTo>
                <a:cubicBezTo>
                  <a:pt x="103078" y="80789"/>
                  <a:pt x="103091" y="79360"/>
                  <a:pt x="102740" y="78000"/>
                </a:cubicBezTo>
                <a:cubicBezTo>
                  <a:pt x="101183" y="71973"/>
                  <a:pt x="98240" y="66393"/>
                  <a:pt x="94146" y="61704"/>
                </a:cubicBezTo>
                <a:cubicBezTo>
                  <a:pt x="90053" y="57014"/>
                  <a:pt x="84921" y="53345"/>
                  <a:pt x="79160" y="50988"/>
                </a:cubicBezTo>
                <a:cubicBezTo>
                  <a:pt x="73398" y="48630"/>
                  <a:pt x="67166" y="47650"/>
                  <a:pt x="60960" y="48125"/>
                </a:cubicBezTo>
                <a:cubicBezTo>
                  <a:pt x="54753" y="48600"/>
                  <a:pt x="48742" y="50518"/>
                  <a:pt x="43407" y="53724"/>
                </a:cubicBezTo>
                <a:cubicBezTo>
                  <a:pt x="38072" y="56931"/>
                  <a:pt x="33558" y="61339"/>
                  <a:pt x="30226" y="66596"/>
                </a:cubicBezTo>
                <a:cubicBezTo>
                  <a:pt x="26894" y="71854"/>
                  <a:pt x="24835" y="77817"/>
                  <a:pt x="24213" y="84011"/>
                </a:cubicBezTo>
                <a:cubicBezTo>
                  <a:pt x="23591" y="90204"/>
                  <a:pt x="24423" y="96458"/>
                  <a:pt x="26642" y="102273"/>
                </a:cubicBezTo>
                <a:cubicBezTo>
                  <a:pt x="28862" y="108089"/>
                  <a:pt x="32409" y="113306"/>
                  <a:pt x="37000" y="117510"/>
                </a:cubicBezTo>
                <a:cubicBezTo>
                  <a:pt x="26134" y="122224"/>
                  <a:pt x="16687" y="129699"/>
                  <a:pt x="9600" y="139190"/>
                </a:cubicBezTo>
                <a:cubicBezTo>
                  <a:pt x="8757" y="140313"/>
                  <a:pt x="8224" y="141639"/>
                  <a:pt x="8055" y="143034"/>
                </a:cubicBezTo>
                <a:cubicBezTo>
                  <a:pt x="7886" y="144428"/>
                  <a:pt x="8088" y="145843"/>
                  <a:pt x="8639" y="147135"/>
                </a:cubicBezTo>
                <a:cubicBezTo>
                  <a:pt x="9190" y="148427"/>
                  <a:pt x="10072" y="149552"/>
                  <a:pt x="11195" y="150395"/>
                </a:cubicBezTo>
                <a:cubicBezTo>
                  <a:pt x="12318" y="151238"/>
                  <a:pt x="13644" y="151771"/>
                  <a:pt x="15039" y="151940"/>
                </a:cubicBezTo>
                <a:cubicBezTo>
                  <a:pt x="16433" y="152109"/>
                  <a:pt x="17848" y="151907"/>
                  <a:pt x="19140" y="151356"/>
                </a:cubicBezTo>
                <a:cubicBezTo>
                  <a:pt x="20432" y="150805"/>
                  <a:pt x="21557" y="149923"/>
                  <a:pt x="22400" y="148800"/>
                </a:cubicBezTo>
                <a:cubicBezTo>
                  <a:pt x="27222" y="142319"/>
                  <a:pt x="33498" y="137060"/>
                  <a:pt x="40724" y="133447"/>
                </a:cubicBezTo>
                <a:cubicBezTo>
                  <a:pt x="47949" y="129835"/>
                  <a:pt x="55922" y="127969"/>
                  <a:pt x="64000" y="128000"/>
                </a:cubicBezTo>
                <a:cubicBezTo>
                  <a:pt x="65404" y="128000"/>
                  <a:pt x="66784" y="127630"/>
                  <a:pt x="68000" y="126928"/>
                </a:cubicBezTo>
                <a:cubicBezTo>
                  <a:pt x="69216" y="126226"/>
                  <a:pt x="70226" y="125216"/>
                  <a:pt x="70928" y="124000"/>
                </a:cubicBezTo>
                <a:cubicBezTo>
                  <a:pt x="71630" y="122784"/>
                  <a:pt x="72000" y="121404"/>
                  <a:pt x="72000" y="12000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6" name="Google Shape;96;p13"/>
          <p:cNvSpPr txBox="1"/>
          <p:nvPr/>
        </p:nvSpPr>
        <p:spPr>
          <a:xfrm>
            <a:off x="1280888" y="4553244"/>
            <a:ext cx="1306175" cy="68390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s-MX" sz="950" u="none" cap="none" strike="noStrike">
                <a:solidFill>
                  <a:srgbClr val="654396"/>
                </a:solidFill>
                <a:latin typeface="Arial"/>
                <a:ea typeface="Arial"/>
                <a:cs typeface="Arial"/>
                <a:sym typeface="Arial"/>
              </a:rPr>
              <a:t>4. Equipos autónomos</a:t>
            </a:r>
            <a:endParaRPr/>
          </a:p>
          <a:p>
            <a:pPr indent="0" lvl="0" marL="0" marR="0" rtl="0" algn="l">
              <a:lnSpc>
                <a:spcPct val="115000"/>
              </a:lnSpc>
              <a:spcBef>
                <a:spcPts val="200"/>
              </a:spcBef>
              <a:spcAft>
                <a:spcPts val="0"/>
              </a:spcAft>
              <a:buNone/>
            </a:pPr>
            <a:r>
              <a:rPr b="0" i="0" lang="es-MX" sz="950" u="none" cap="none" strike="noStrike">
                <a:solidFill>
                  <a:srgbClr val="654396"/>
                </a:solidFill>
                <a:latin typeface="Arial"/>
                <a:ea typeface="Arial"/>
                <a:cs typeface="Arial"/>
                <a:sym typeface="Arial"/>
              </a:rPr>
              <a:t>Células multidisciplinarias de trabajo.</a:t>
            </a:r>
            <a:endParaRPr/>
          </a:p>
        </p:txBody>
      </p:sp>
      <p:sp>
        <p:nvSpPr>
          <p:cNvPr id="97" name="Google Shape;97;p13"/>
          <p:cNvSpPr txBox="1"/>
          <p:nvPr/>
        </p:nvSpPr>
        <p:spPr>
          <a:xfrm>
            <a:off x="2950769" y="4553244"/>
            <a:ext cx="2962959" cy="731290"/>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s-MX" sz="1050" u="none" cap="none" strike="noStrike">
                <a:solidFill>
                  <a:srgbClr val="FFD900"/>
                </a:solidFill>
                <a:latin typeface="Arial"/>
                <a:ea typeface="Arial"/>
                <a:cs typeface="Arial"/>
                <a:sym typeface="Arial"/>
              </a:rPr>
              <a:t>¿Tienen capacidad real para decidir?</a:t>
            </a:r>
            <a:endParaRPr/>
          </a:p>
          <a:p>
            <a:pPr indent="0" lvl="0" marL="0" marR="0" rtl="0" algn="l">
              <a:lnSpc>
                <a:spcPct val="118000"/>
              </a:lnSpc>
              <a:spcBef>
                <a:spcPts val="300"/>
              </a:spcBef>
              <a:spcAft>
                <a:spcPts val="0"/>
              </a:spcAft>
              <a:buNone/>
            </a:pPr>
            <a:r>
              <a:rPr b="0" i="0" lang="es-MX" sz="950" u="none" cap="none" strike="noStrike">
                <a:solidFill>
                  <a:srgbClr val="E6ECF7"/>
                </a:solidFill>
                <a:latin typeface="Arial"/>
                <a:ea typeface="Arial"/>
                <a:cs typeface="Arial"/>
                <a:sym typeface="Arial"/>
              </a:rPr>
              <a:t>La autoorganización fracasa cuando el equipo depende de autorizaciones jerárquicas lentas para cada decisión operativa.</a:t>
            </a:r>
            <a:endParaRPr/>
          </a:p>
        </p:txBody>
      </p:sp>
      <p:sp>
        <p:nvSpPr>
          <p:cNvPr id="98" name="Google Shape;98;p13"/>
          <p:cNvSpPr/>
          <p:nvPr/>
        </p:nvSpPr>
        <p:spPr>
          <a:xfrm>
            <a:off x="640807" y="5466120"/>
            <a:ext cx="2357897" cy="958596"/>
          </a:xfrm>
          <a:prstGeom prst="roundRect">
            <a:avLst>
              <a:gd fmla="val 9538" name="adj"/>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9" name="Google Shape;99;p13"/>
          <p:cNvSpPr/>
          <p:nvPr/>
        </p:nvSpPr>
        <p:spPr>
          <a:xfrm>
            <a:off x="2698207" y="5466120"/>
            <a:ext cx="3518986" cy="958596"/>
          </a:xfrm>
          <a:prstGeom prst="roundRect">
            <a:avLst>
              <a:gd fmla="val 9538" name="adj"/>
            </a:avLst>
          </a:prstGeom>
          <a:solidFill>
            <a:srgbClr val="65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0" name="Google Shape;100;p13"/>
          <p:cNvSpPr/>
          <p:nvPr/>
        </p:nvSpPr>
        <p:spPr>
          <a:xfrm>
            <a:off x="2698207" y="5466120"/>
            <a:ext cx="144361" cy="958596"/>
          </a:xfrm>
          <a:prstGeom prst="rect">
            <a:avLst/>
          </a:prstGeom>
          <a:solidFill>
            <a:srgbClr val="65439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1" name="Google Shape;101;p13"/>
          <p:cNvSpPr/>
          <p:nvPr/>
        </p:nvSpPr>
        <p:spPr>
          <a:xfrm>
            <a:off x="750536" y="5594136"/>
            <a:ext cx="461928" cy="457200"/>
          </a:xfrm>
          <a:prstGeom prst="ellipse">
            <a:avLst/>
          </a:prstGeom>
          <a:solidFill>
            <a:srgbClr val="65439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654396"/>
              </a:solidFill>
              <a:latin typeface="Arial"/>
              <a:ea typeface="Arial"/>
              <a:cs typeface="Arial"/>
              <a:sym typeface="Arial"/>
            </a:endParaRPr>
          </a:p>
        </p:txBody>
      </p:sp>
      <p:sp>
        <p:nvSpPr>
          <p:cNvPr id="102" name="Google Shape;102;p13"/>
          <p:cNvSpPr/>
          <p:nvPr/>
        </p:nvSpPr>
        <p:spPr>
          <a:xfrm>
            <a:off x="851120" y="5694720"/>
            <a:ext cx="258680" cy="256032"/>
          </a:xfrm>
          <a:custGeom>
            <a:rect b="b" l="l" r="r" t="t"/>
            <a:pathLst>
              <a:path extrusionOk="0" h="256000" w="256000">
                <a:moveTo>
                  <a:pt x="232070" y="186760"/>
                </a:moveTo>
                <a:cubicBezTo>
                  <a:pt x="237597" y="175295"/>
                  <a:pt x="240310" y="162676"/>
                  <a:pt x="239982" y="149952"/>
                </a:cubicBezTo>
                <a:cubicBezTo>
                  <a:pt x="239653" y="137229"/>
                  <a:pt x="236293" y="124766"/>
                  <a:pt x="230182" y="113602"/>
                </a:cubicBezTo>
                <a:cubicBezTo>
                  <a:pt x="224070" y="102437"/>
                  <a:pt x="215381" y="92891"/>
                  <a:pt x="204840" y="85759"/>
                </a:cubicBezTo>
                <a:cubicBezTo>
                  <a:pt x="194299" y="78626"/>
                  <a:pt x="182206" y="74111"/>
                  <a:pt x="169570" y="72590"/>
                </a:cubicBezTo>
                <a:cubicBezTo>
                  <a:pt x="164760" y="61406"/>
                  <a:pt x="157460" y="51467"/>
                  <a:pt x="148227" y="43531"/>
                </a:cubicBezTo>
                <a:cubicBezTo>
                  <a:pt x="138995" y="35595"/>
                  <a:pt x="128071" y="29870"/>
                  <a:pt x="116292" y="26794"/>
                </a:cubicBezTo>
                <a:cubicBezTo>
                  <a:pt x="104513" y="23718"/>
                  <a:pt x="92185" y="23371"/>
                  <a:pt x="80251" y="25780"/>
                </a:cubicBezTo>
                <a:cubicBezTo>
                  <a:pt x="68318" y="28188"/>
                  <a:pt x="57090" y="33290"/>
                  <a:pt x="47426" y="40694"/>
                </a:cubicBezTo>
                <a:cubicBezTo>
                  <a:pt x="37761" y="48098"/>
                  <a:pt x="29914" y="57611"/>
                  <a:pt x="24482" y="68507"/>
                </a:cubicBezTo>
                <a:cubicBezTo>
                  <a:pt x="19051" y="79403"/>
                  <a:pt x="16177" y="91396"/>
                  <a:pt x="16082" y="103570"/>
                </a:cubicBezTo>
                <a:cubicBezTo>
                  <a:pt x="15986" y="115744"/>
                  <a:pt x="18670" y="127780"/>
                  <a:pt x="23930" y="138760"/>
                </a:cubicBezTo>
                <a:lnTo>
                  <a:pt x="16660" y="163470"/>
                </a:lnTo>
                <a:cubicBezTo>
                  <a:pt x="16011" y="165672"/>
                  <a:pt x="15844" y="167988"/>
                  <a:pt x="16169" y="170260"/>
                </a:cubicBezTo>
                <a:cubicBezTo>
                  <a:pt x="16494" y="172533"/>
                  <a:pt x="17305" y="174709"/>
                  <a:pt x="18546" y="176640"/>
                </a:cubicBezTo>
                <a:cubicBezTo>
                  <a:pt x="19787" y="178572"/>
                  <a:pt x="21428" y="180213"/>
                  <a:pt x="23360" y="181454"/>
                </a:cubicBezTo>
                <a:cubicBezTo>
                  <a:pt x="25291" y="182695"/>
                  <a:pt x="27467" y="183506"/>
                  <a:pt x="29740" y="183831"/>
                </a:cubicBezTo>
                <a:cubicBezTo>
                  <a:pt x="32012" y="184156"/>
                  <a:pt x="34328" y="183989"/>
                  <a:pt x="36530" y="183340"/>
                </a:cubicBezTo>
                <a:lnTo>
                  <a:pt x="61240" y="176070"/>
                </a:lnTo>
                <a:cubicBezTo>
                  <a:pt x="69174" y="179882"/>
                  <a:pt x="77681" y="182365"/>
                  <a:pt x="86420" y="183420"/>
                </a:cubicBezTo>
                <a:cubicBezTo>
                  <a:pt x="90666" y="193368"/>
                  <a:pt x="96885" y="202352"/>
                  <a:pt x="104701" y="209828"/>
                </a:cubicBezTo>
                <a:cubicBezTo>
                  <a:pt x="112517" y="217304"/>
                  <a:pt x="121769" y="223118"/>
                  <a:pt x="131895" y="226918"/>
                </a:cubicBezTo>
                <a:cubicBezTo>
                  <a:pt x="142022" y="230718"/>
                  <a:pt x="152815" y="232424"/>
                  <a:pt x="163619" y="231935"/>
                </a:cubicBezTo>
                <a:cubicBezTo>
                  <a:pt x="174424" y="231445"/>
                  <a:pt x="185018" y="228770"/>
                  <a:pt x="194760" y="224070"/>
                </a:cubicBezTo>
                <a:lnTo>
                  <a:pt x="219470" y="231340"/>
                </a:lnTo>
                <a:cubicBezTo>
                  <a:pt x="221671" y="231988"/>
                  <a:pt x="223986" y="232155"/>
                  <a:pt x="226258" y="231830"/>
                </a:cubicBezTo>
                <a:cubicBezTo>
                  <a:pt x="228529" y="231505"/>
                  <a:pt x="230704" y="230694"/>
                  <a:pt x="232635" y="229455"/>
                </a:cubicBezTo>
                <a:cubicBezTo>
                  <a:pt x="234565" y="228215"/>
                  <a:pt x="236207" y="226574"/>
                  <a:pt x="237448" y="224644"/>
                </a:cubicBezTo>
                <a:cubicBezTo>
                  <a:pt x="238689" y="222714"/>
                  <a:pt x="239500" y="220539"/>
                  <a:pt x="239826" y="218268"/>
                </a:cubicBezTo>
                <a:cubicBezTo>
                  <a:pt x="240153" y="215997"/>
                  <a:pt x="239987" y="213681"/>
                  <a:pt x="239340" y="211480"/>
                </a:cubicBezTo>
                <a:close/>
                <a:moveTo>
                  <a:pt x="62000" y="159500"/>
                </a:moveTo>
                <a:cubicBezTo>
                  <a:pt x="61236" y="159502"/>
                  <a:pt x="60475" y="159610"/>
                  <a:pt x="59740" y="159820"/>
                </a:cubicBezTo>
                <a:lnTo>
                  <a:pt x="32000" y="168000"/>
                </a:lnTo>
                <a:lnTo>
                  <a:pt x="40170" y="140240"/>
                </a:lnTo>
                <a:cubicBezTo>
                  <a:pt x="40458" y="139247"/>
                  <a:pt x="40550" y="138207"/>
                  <a:pt x="40442" y="137178"/>
                </a:cubicBezTo>
                <a:cubicBezTo>
                  <a:pt x="40334" y="136150"/>
                  <a:pt x="40028" y="135152"/>
                  <a:pt x="39540" y="134240"/>
                </a:cubicBezTo>
                <a:cubicBezTo>
                  <a:pt x="34304" y="124447"/>
                  <a:pt x="31705" y="113458"/>
                  <a:pt x="32001" y="102357"/>
                </a:cubicBezTo>
                <a:cubicBezTo>
                  <a:pt x="32297" y="91255"/>
                  <a:pt x="35477" y="80420"/>
                  <a:pt x="41228" y="70920"/>
                </a:cubicBezTo>
                <a:cubicBezTo>
                  <a:pt x="46978" y="61420"/>
                  <a:pt x="55104" y="53578"/>
                  <a:pt x="64802" y="48169"/>
                </a:cubicBezTo>
                <a:cubicBezTo>
                  <a:pt x="74501" y="42759"/>
                  <a:pt x="85442" y="39966"/>
                  <a:pt x="96547" y="40064"/>
                </a:cubicBezTo>
                <a:cubicBezTo>
                  <a:pt x="107651" y="40163"/>
                  <a:pt x="118541" y="43150"/>
                  <a:pt x="128142" y="48731"/>
                </a:cubicBezTo>
                <a:cubicBezTo>
                  <a:pt x="137743" y="54312"/>
                  <a:pt x="145728" y="62297"/>
                  <a:pt x="151309" y="71898"/>
                </a:cubicBezTo>
                <a:cubicBezTo>
                  <a:pt x="156890" y="81499"/>
                  <a:pt x="159877" y="92389"/>
                  <a:pt x="159976" y="103493"/>
                </a:cubicBezTo>
                <a:cubicBezTo>
                  <a:pt x="160074" y="114598"/>
                  <a:pt x="157281" y="125539"/>
                  <a:pt x="151871" y="135238"/>
                </a:cubicBezTo>
                <a:cubicBezTo>
                  <a:pt x="146462" y="144936"/>
                  <a:pt x="138620" y="153062"/>
                  <a:pt x="129120" y="158812"/>
                </a:cubicBezTo>
                <a:cubicBezTo>
                  <a:pt x="119620" y="164563"/>
                  <a:pt x="108785" y="167743"/>
                  <a:pt x="97683" y="168039"/>
                </a:cubicBezTo>
                <a:cubicBezTo>
                  <a:pt x="86582" y="168335"/>
                  <a:pt x="75593" y="165736"/>
                  <a:pt x="65800" y="160500"/>
                </a:cubicBezTo>
                <a:cubicBezTo>
                  <a:pt x="64636" y="159856"/>
                  <a:pt x="63330" y="159512"/>
                  <a:pt x="62000" y="159500"/>
                </a:cubicBezTo>
                <a:close/>
                <a:moveTo>
                  <a:pt x="215790" y="188230"/>
                </a:moveTo>
                <a:lnTo>
                  <a:pt x="224000" y="216000"/>
                </a:lnTo>
                <a:lnTo>
                  <a:pt x="196240" y="207830"/>
                </a:lnTo>
                <a:cubicBezTo>
                  <a:pt x="195247" y="207542"/>
                  <a:pt x="194207" y="207450"/>
                  <a:pt x="193178" y="207558"/>
                </a:cubicBezTo>
                <a:cubicBezTo>
                  <a:pt x="192150" y="207666"/>
                  <a:pt x="191152" y="207972"/>
                  <a:pt x="190240" y="208460"/>
                </a:cubicBezTo>
                <a:cubicBezTo>
                  <a:pt x="180488" y="213667"/>
                  <a:pt x="169552" y="216262"/>
                  <a:pt x="158500" y="215991"/>
                </a:cubicBezTo>
                <a:cubicBezTo>
                  <a:pt x="147448" y="215720"/>
                  <a:pt x="136652" y="212592"/>
                  <a:pt x="127168" y="206913"/>
                </a:cubicBezTo>
                <a:cubicBezTo>
                  <a:pt x="117683" y="201233"/>
                  <a:pt x="109828" y="193194"/>
                  <a:pt x="104370" y="183580"/>
                </a:cubicBezTo>
                <a:cubicBezTo>
                  <a:pt x="115323" y="182437"/>
                  <a:pt x="125923" y="179042"/>
                  <a:pt x="135503" y="173609"/>
                </a:cubicBezTo>
                <a:cubicBezTo>
                  <a:pt x="145083" y="168176"/>
                  <a:pt x="153437" y="160822"/>
                  <a:pt x="160040" y="152008"/>
                </a:cubicBezTo>
                <a:cubicBezTo>
                  <a:pt x="166644" y="143195"/>
                  <a:pt x="171355" y="133111"/>
                  <a:pt x="173878" y="122390"/>
                </a:cubicBezTo>
                <a:cubicBezTo>
                  <a:pt x="176400" y="111670"/>
                  <a:pt x="176680" y="100543"/>
                  <a:pt x="174700" y="89710"/>
                </a:cubicBezTo>
                <a:cubicBezTo>
                  <a:pt x="184243" y="91960"/>
                  <a:pt x="193144" y="96372"/>
                  <a:pt x="200711" y="102607"/>
                </a:cubicBezTo>
                <a:cubicBezTo>
                  <a:pt x="208279" y="108842"/>
                  <a:pt x="214313" y="116733"/>
                  <a:pt x="218348" y="125669"/>
                </a:cubicBezTo>
                <a:cubicBezTo>
                  <a:pt x="222382" y="134606"/>
                  <a:pt x="224310" y="144351"/>
                  <a:pt x="223980" y="154151"/>
                </a:cubicBezTo>
                <a:cubicBezTo>
                  <a:pt x="223651" y="163950"/>
                  <a:pt x="221075" y="173544"/>
                  <a:pt x="216450" y="182190"/>
                </a:cubicBezTo>
                <a:cubicBezTo>
                  <a:pt x="215957" y="183107"/>
                  <a:pt x="215648" y="184112"/>
                  <a:pt x="215540" y="185148"/>
                </a:cubicBezTo>
                <a:cubicBezTo>
                  <a:pt x="215432" y="186184"/>
                  <a:pt x="215527" y="187231"/>
                  <a:pt x="215820" y="18823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3" name="Google Shape;103;p13"/>
          <p:cNvSpPr txBox="1"/>
          <p:nvPr/>
        </p:nvSpPr>
        <p:spPr>
          <a:xfrm>
            <a:off x="1280888" y="5575848"/>
            <a:ext cx="1306175" cy="68390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s-MX" sz="950" u="none" cap="none" strike="noStrike">
                <a:solidFill>
                  <a:srgbClr val="654396"/>
                </a:solidFill>
                <a:latin typeface="Arial"/>
                <a:ea typeface="Arial"/>
                <a:cs typeface="Arial"/>
                <a:sym typeface="Arial"/>
              </a:rPr>
              <a:t>5. Prácticas y reuniones</a:t>
            </a:r>
            <a:endParaRPr/>
          </a:p>
          <a:p>
            <a:pPr indent="0" lvl="0" marL="0" marR="0" rtl="0" algn="l">
              <a:lnSpc>
                <a:spcPct val="115000"/>
              </a:lnSpc>
              <a:spcBef>
                <a:spcPts val="200"/>
              </a:spcBef>
              <a:spcAft>
                <a:spcPts val="0"/>
              </a:spcAft>
              <a:buNone/>
            </a:pPr>
            <a:r>
              <a:rPr b="0" i="0" lang="es-MX" sz="950" u="none" cap="none" strike="noStrike">
                <a:solidFill>
                  <a:srgbClr val="654396"/>
                </a:solidFill>
                <a:latin typeface="Arial"/>
                <a:ea typeface="Arial"/>
                <a:cs typeface="Arial"/>
                <a:sym typeface="Arial"/>
              </a:rPr>
              <a:t>Dailies, retrospectivas y planificaciones.</a:t>
            </a:r>
            <a:endParaRPr/>
          </a:p>
        </p:txBody>
      </p:sp>
      <p:sp>
        <p:nvSpPr>
          <p:cNvPr id="104" name="Google Shape;104;p13"/>
          <p:cNvSpPr txBox="1"/>
          <p:nvPr/>
        </p:nvSpPr>
        <p:spPr>
          <a:xfrm>
            <a:off x="2950769" y="5575848"/>
            <a:ext cx="2962959" cy="55880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s-MX" sz="1050" u="none" cap="none" strike="noStrike">
                <a:solidFill>
                  <a:srgbClr val="FFD900"/>
                </a:solidFill>
                <a:latin typeface="Arial"/>
                <a:ea typeface="Arial"/>
                <a:cs typeface="Arial"/>
                <a:sym typeface="Arial"/>
              </a:rPr>
              <a:t>¿Comprendemos para qué las utilizamos?</a:t>
            </a:r>
            <a:endParaRPr/>
          </a:p>
          <a:p>
            <a:pPr indent="0" lvl="0" marL="0" marR="0" rtl="0" algn="l">
              <a:lnSpc>
                <a:spcPct val="118000"/>
              </a:lnSpc>
              <a:spcBef>
                <a:spcPts val="300"/>
              </a:spcBef>
              <a:spcAft>
                <a:spcPts val="0"/>
              </a:spcAft>
              <a:buNone/>
            </a:pPr>
            <a:r>
              <a:rPr b="0" i="0" lang="es-MX" sz="950" u="none" cap="none" strike="noStrike">
                <a:solidFill>
                  <a:srgbClr val="E6ECF7"/>
                </a:solidFill>
                <a:latin typeface="Arial"/>
                <a:ea typeface="Arial"/>
                <a:cs typeface="Arial"/>
                <a:sym typeface="Arial"/>
              </a:rPr>
              <a:t>Cumplir el rito sin reflexión ni diálogo honesto convierte las sesiones en burocracia improductiva.</a:t>
            </a:r>
            <a:endParaRPr/>
          </a:p>
        </p:txBody>
      </p:sp>
      <p:sp>
        <p:nvSpPr>
          <p:cNvPr id="105" name="Google Shape;105;p13"/>
          <p:cNvSpPr/>
          <p:nvPr/>
        </p:nvSpPr>
        <p:spPr>
          <a:xfrm>
            <a:off x="640807" y="6706296"/>
            <a:ext cx="5610833" cy="1223010"/>
          </a:xfrm>
          <a:prstGeom prst="roundRect">
            <a:avLst>
              <a:gd fmla="val 9372" name="adj"/>
            </a:avLst>
          </a:prstGeom>
          <a:solidFill>
            <a:srgbClr val="E5E6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6" name="Google Shape;106;p13"/>
          <p:cNvSpPr txBox="1"/>
          <p:nvPr/>
        </p:nvSpPr>
        <p:spPr>
          <a:xfrm>
            <a:off x="1445480" y="6904368"/>
            <a:ext cx="4555314" cy="788101"/>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1" i="0" lang="es-MX" sz="1050" u="none" cap="none" strike="noStrike">
                <a:solidFill>
                  <a:srgbClr val="024791"/>
                </a:solidFill>
                <a:latin typeface="Arial"/>
                <a:ea typeface="Arial"/>
                <a:cs typeface="Arial"/>
                <a:sym typeface="Arial"/>
              </a:rPr>
              <a:t>Las herramientas flotan; las decisiones profundizan. </a:t>
            </a:r>
            <a:r>
              <a:rPr b="0" i="0" lang="es-MX" sz="1050" u="none" cap="none" strike="noStrike">
                <a:solidFill>
                  <a:srgbClr val="332F37"/>
                </a:solidFill>
                <a:latin typeface="Arial"/>
                <a:ea typeface="Arial"/>
                <a:cs typeface="Arial"/>
                <a:sym typeface="Arial"/>
              </a:rPr>
              <a:t>La agilidad es una mentalidad orientada al aprendizaje: las prácticas visibles son solo vehículos; su autenticidad se demuestra en la capacidad de tomar decisiones conscientes basadas en evidencia.</a:t>
            </a:r>
            <a:endParaRPr/>
          </a:p>
        </p:txBody>
      </p:sp>
      <p:sp>
        <p:nvSpPr>
          <p:cNvPr id="107" name="Google Shape;107;p13"/>
          <p:cNvSpPr txBox="1"/>
          <p:nvPr/>
        </p:nvSpPr>
        <p:spPr>
          <a:xfrm>
            <a:off x="640807" y="8096746"/>
            <a:ext cx="5610833" cy="150619"/>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1" lang="es-MX" sz="950" u="none" cap="none" strike="noStrike">
                <a:solidFill>
                  <a:srgbClr val="7B7480"/>
                </a:solidFill>
                <a:latin typeface="Arial"/>
                <a:ea typeface="Arial"/>
                <a:cs typeface="Arial"/>
                <a:sym typeface="Arial"/>
              </a:rPr>
              <a:t>Fuente: elaboración basada en Beck et al. (2001).</a:t>
            </a:r>
            <a:endParaRPr/>
          </a:p>
        </p:txBody>
      </p:sp>
      <p:sp>
        <p:nvSpPr>
          <p:cNvPr id="108" name="Google Shape;108;p13"/>
          <p:cNvSpPr txBox="1"/>
          <p:nvPr/>
        </p:nvSpPr>
        <p:spPr>
          <a:xfrm>
            <a:off x="640807" y="8389354"/>
            <a:ext cx="5610833" cy="41723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1" lang="es-MX" sz="1100" u="none" cap="none" strike="noStrike">
                <a:solidFill>
                  <a:srgbClr val="56505B"/>
                </a:solidFill>
                <a:latin typeface="Arial"/>
                <a:ea typeface="Arial"/>
                <a:cs typeface="Arial"/>
                <a:sym typeface="Arial"/>
              </a:rPr>
              <a:t>La figura permite reconocer una primera diferencia fundamental: la práctica visible no es suficiente si no modifica la manera en que aprendemos y tomamos decisiones.</a:t>
            </a:r>
            <a:endParaRPr/>
          </a:p>
        </p:txBody>
      </p:sp>
      <p:sp>
        <p:nvSpPr>
          <p:cNvPr id="109" name="Google Shape;109;p13"/>
          <p:cNvSpPr/>
          <p:nvPr/>
        </p:nvSpPr>
        <p:spPr>
          <a:xfrm>
            <a:off x="640807" y="1099416"/>
            <a:ext cx="2357897" cy="384048"/>
          </a:xfrm>
          <a:prstGeom prst="roundRect">
            <a:avLst>
              <a:gd fmla="val 47619" name="adj"/>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0" name="Google Shape;110;p13"/>
          <p:cNvSpPr txBox="1"/>
          <p:nvPr/>
        </p:nvSpPr>
        <p:spPr>
          <a:xfrm>
            <a:off x="956483" y="1201524"/>
            <a:ext cx="1430561" cy="150619"/>
          </a:xfrm>
          <a:prstGeom prst="rect">
            <a:avLst/>
          </a:prstGeom>
          <a:noFill/>
          <a:ln>
            <a:noFill/>
          </a:ln>
        </p:spPr>
        <p:txBody>
          <a:bodyPr anchorCtr="0" anchor="ctr" bIns="0" lIns="0" spcFirstLastPara="1" rIns="0" wrap="square" tIns="0">
            <a:spAutoFit/>
          </a:bodyPr>
          <a:lstStyle/>
          <a:p>
            <a:pPr indent="0" lvl="0" marL="0" marR="0" rtl="0" algn="l">
              <a:lnSpc>
                <a:spcPct val="112000"/>
              </a:lnSpc>
              <a:spcBef>
                <a:spcPts val="0"/>
              </a:spcBef>
              <a:spcAft>
                <a:spcPts val="0"/>
              </a:spcAft>
              <a:buNone/>
            </a:pPr>
            <a:r>
              <a:rPr b="1" i="0" lang="es-MX" sz="950" u="none" cap="none" strike="noStrike">
                <a:solidFill>
                  <a:srgbClr val="654396"/>
                </a:solidFill>
                <a:latin typeface="Arial"/>
                <a:ea typeface="Arial"/>
                <a:cs typeface="Arial"/>
                <a:sym typeface="Arial"/>
              </a:rPr>
              <a:t>La superficie · </a:t>
            </a:r>
            <a:r>
              <a:rPr b="0" i="0" lang="es-MX" sz="950" u="none" cap="none" strike="noStrike">
                <a:solidFill>
                  <a:srgbClr val="654396"/>
                </a:solidFill>
                <a:latin typeface="Arial"/>
                <a:ea typeface="Arial"/>
                <a:cs typeface="Arial"/>
                <a:sym typeface="Arial"/>
              </a:rPr>
              <a:t>lo visible</a:t>
            </a:r>
            <a:endParaRPr/>
          </a:p>
        </p:txBody>
      </p:sp>
      <p:sp>
        <p:nvSpPr>
          <p:cNvPr id="111" name="Google Shape;111;p13"/>
          <p:cNvSpPr/>
          <p:nvPr/>
        </p:nvSpPr>
        <p:spPr>
          <a:xfrm>
            <a:off x="2698207" y="1099416"/>
            <a:ext cx="3518986" cy="384048"/>
          </a:xfrm>
          <a:prstGeom prst="roundRect">
            <a:avLst>
              <a:gd fmla="val 47619" name="adj"/>
            </a:avLst>
          </a:prstGeom>
          <a:solidFill>
            <a:srgbClr val="65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2" name="Google Shape;112;p13"/>
          <p:cNvSpPr txBox="1"/>
          <p:nvPr/>
        </p:nvSpPr>
        <p:spPr>
          <a:xfrm>
            <a:off x="2968564" y="1216130"/>
            <a:ext cx="2945164" cy="150619"/>
          </a:xfrm>
          <a:prstGeom prst="rect">
            <a:avLst/>
          </a:prstGeom>
          <a:noFill/>
          <a:ln>
            <a:noFill/>
          </a:ln>
        </p:spPr>
        <p:txBody>
          <a:bodyPr anchorCtr="0" anchor="ctr" bIns="0" lIns="0" spcFirstLastPara="1" rIns="0" wrap="square" tIns="0">
            <a:spAutoFit/>
          </a:bodyPr>
          <a:lstStyle/>
          <a:p>
            <a:pPr indent="0" lvl="0" marL="0" marR="0" rtl="0" algn="l">
              <a:lnSpc>
                <a:spcPct val="112000"/>
              </a:lnSpc>
              <a:spcBef>
                <a:spcPts val="0"/>
              </a:spcBef>
              <a:spcAft>
                <a:spcPts val="0"/>
              </a:spcAft>
              <a:buNone/>
            </a:pPr>
            <a:r>
              <a:rPr b="1" i="0" lang="es-MX" sz="950" u="none" cap="none" strike="noStrike">
                <a:solidFill>
                  <a:srgbClr val="FFD900"/>
                </a:solidFill>
                <a:latin typeface="Arial"/>
                <a:ea typeface="Arial"/>
                <a:cs typeface="Arial"/>
                <a:sym typeface="Arial"/>
              </a:rPr>
              <a:t>El fondo · </a:t>
            </a:r>
            <a:r>
              <a:rPr b="0" i="0" lang="es-MX" sz="950" u="none" cap="none" strike="noStrike">
                <a:solidFill>
                  <a:srgbClr val="FFFFFF"/>
                </a:solidFill>
                <a:latin typeface="Arial"/>
                <a:ea typeface="Arial"/>
                <a:cs typeface="Arial"/>
                <a:sym typeface="Arial"/>
              </a:rPr>
              <a:t>el sentido: lo que necesitamos preguntarnos</a:t>
            </a:r>
            <a:endParaRPr b="0" i="0" sz="950" u="none" cap="none" strike="noStrike">
              <a:solidFill>
                <a:srgbClr val="FFFFFF"/>
              </a:solidFill>
              <a:latin typeface="Arial"/>
              <a:ea typeface="Arial"/>
              <a:cs typeface="Arial"/>
              <a:sym typeface="Arial"/>
            </a:endParaRPr>
          </a:p>
        </p:txBody>
      </p:sp>
      <p:sp>
        <p:nvSpPr>
          <p:cNvPr id="113" name="Google Shape;113;p13"/>
          <p:cNvSpPr/>
          <p:nvPr/>
        </p:nvSpPr>
        <p:spPr>
          <a:xfrm>
            <a:off x="640807" y="1574904"/>
            <a:ext cx="2357897" cy="792099"/>
          </a:xfrm>
          <a:prstGeom prst="roundRect">
            <a:avLst>
              <a:gd fmla="val 11544" name="adj"/>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4" name="Google Shape;114;p13"/>
          <p:cNvSpPr/>
          <p:nvPr/>
        </p:nvSpPr>
        <p:spPr>
          <a:xfrm>
            <a:off x="2698207" y="1574904"/>
            <a:ext cx="3518986" cy="792099"/>
          </a:xfrm>
          <a:prstGeom prst="roundRect">
            <a:avLst>
              <a:gd fmla="val 11544" name="adj"/>
            </a:avLst>
          </a:prstGeom>
          <a:solidFill>
            <a:srgbClr val="65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5" name="Google Shape;115;p13"/>
          <p:cNvSpPr/>
          <p:nvPr/>
        </p:nvSpPr>
        <p:spPr>
          <a:xfrm>
            <a:off x="2698207" y="1574904"/>
            <a:ext cx="144361" cy="792099"/>
          </a:xfrm>
          <a:prstGeom prst="rect">
            <a:avLst/>
          </a:prstGeom>
          <a:solidFill>
            <a:srgbClr val="65439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6" name="Google Shape;116;p13"/>
          <p:cNvSpPr/>
          <p:nvPr/>
        </p:nvSpPr>
        <p:spPr>
          <a:xfrm>
            <a:off x="750536" y="1702920"/>
            <a:ext cx="461928" cy="457200"/>
          </a:xfrm>
          <a:prstGeom prst="ellipse">
            <a:avLst/>
          </a:prstGeom>
          <a:solidFill>
            <a:srgbClr val="65439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654396"/>
              </a:solidFill>
              <a:latin typeface="Arial"/>
              <a:ea typeface="Arial"/>
              <a:cs typeface="Arial"/>
              <a:sym typeface="Arial"/>
            </a:endParaRPr>
          </a:p>
        </p:txBody>
      </p:sp>
      <p:sp>
        <p:nvSpPr>
          <p:cNvPr id="117" name="Google Shape;117;p13"/>
          <p:cNvSpPr/>
          <p:nvPr/>
        </p:nvSpPr>
        <p:spPr>
          <a:xfrm>
            <a:off x="851120" y="1803504"/>
            <a:ext cx="258680" cy="256032"/>
          </a:xfrm>
          <a:custGeom>
            <a:rect b="b" l="l" r="r" t="t"/>
            <a:pathLst>
              <a:path extrusionOk="0" h="256000" w="256000">
                <a:moveTo>
                  <a:pt x="224000" y="48000"/>
                </a:moveTo>
                <a:lnTo>
                  <a:pt x="224000" y="96000"/>
                </a:lnTo>
                <a:cubicBezTo>
                  <a:pt x="224000" y="97404"/>
                  <a:pt x="223630" y="98784"/>
                  <a:pt x="222928" y="100000"/>
                </a:cubicBezTo>
                <a:cubicBezTo>
                  <a:pt x="222226" y="101216"/>
                  <a:pt x="221216" y="102226"/>
                  <a:pt x="220000" y="102928"/>
                </a:cubicBezTo>
                <a:cubicBezTo>
                  <a:pt x="218784" y="103630"/>
                  <a:pt x="217404" y="104000"/>
                  <a:pt x="216000" y="104000"/>
                </a:cubicBezTo>
                <a:lnTo>
                  <a:pt x="168000" y="104000"/>
                </a:lnTo>
                <a:cubicBezTo>
                  <a:pt x="166596" y="104000"/>
                  <a:pt x="165216" y="103630"/>
                  <a:pt x="164000" y="102928"/>
                </a:cubicBezTo>
                <a:cubicBezTo>
                  <a:pt x="162784" y="102226"/>
                  <a:pt x="161774" y="101216"/>
                  <a:pt x="161072" y="100000"/>
                </a:cubicBezTo>
                <a:cubicBezTo>
                  <a:pt x="160370" y="98784"/>
                  <a:pt x="160000" y="97404"/>
                  <a:pt x="160000" y="96000"/>
                </a:cubicBezTo>
                <a:cubicBezTo>
                  <a:pt x="160000" y="94596"/>
                  <a:pt x="160370" y="93216"/>
                  <a:pt x="161072" y="92000"/>
                </a:cubicBezTo>
                <a:cubicBezTo>
                  <a:pt x="161774" y="90784"/>
                  <a:pt x="162784" y="89774"/>
                  <a:pt x="164000" y="89072"/>
                </a:cubicBezTo>
                <a:cubicBezTo>
                  <a:pt x="165216" y="88370"/>
                  <a:pt x="166596" y="88000"/>
                  <a:pt x="168000" y="88000"/>
                </a:cubicBezTo>
                <a:lnTo>
                  <a:pt x="196690" y="88000"/>
                </a:lnTo>
                <a:lnTo>
                  <a:pt x="182060" y="73370"/>
                </a:lnTo>
                <a:cubicBezTo>
                  <a:pt x="174698" y="65974"/>
                  <a:pt x="165952" y="60099"/>
                  <a:pt x="156322" y="56079"/>
                </a:cubicBezTo>
                <a:cubicBezTo>
                  <a:pt x="146693" y="52060"/>
                  <a:pt x="136365" y="49973"/>
                  <a:pt x="125930" y="49940"/>
                </a:cubicBezTo>
                <a:lnTo>
                  <a:pt x="125480" y="49940"/>
                </a:lnTo>
                <a:cubicBezTo>
                  <a:pt x="115131" y="49916"/>
                  <a:pt x="104875" y="51912"/>
                  <a:pt x="95291" y="55817"/>
                </a:cubicBezTo>
                <a:cubicBezTo>
                  <a:pt x="85706" y="59722"/>
                  <a:pt x="76976" y="65460"/>
                  <a:pt x="69590" y="72710"/>
                </a:cubicBezTo>
                <a:cubicBezTo>
                  <a:pt x="68579" y="73654"/>
                  <a:pt x="67340" y="74320"/>
                  <a:pt x="65994" y="74642"/>
                </a:cubicBezTo>
                <a:cubicBezTo>
                  <a:pt x="64649" y="74964"/>
                  <a:pt x="63242" y="74932"/>
                  <a:pt x="61913" y="74548"/>
                </a:cubicBezTo>
                <a:cubicBezTo>
                  <a:pt x="60584" y="74165"/>
                  <a:pt x="59376" y="73443"/>
                  <a:pt x="58409" y="72454"/>
                </a:cubicBezTo>
                <a:cubicBezTo>
                  <a:pt x="57442" y="71464"/>
                  <a:pt x="56748" y="70240"/>
                  <a:pt x="56396" y="68903"/>
                </a:cubicBezTo>
                <a:cubicBezTo>
                  <a:pt x="56043" y="67565"/>
                  <a:pt x="56043" y="66158"/>
                  <a:pt x="56396" y="64821"/>
                </a:cubicBezTo>
                <a:cubicBezTo>
                  <a:pt x="56749" y="63483"/>
                  <a:pt x="57443" y="62259"/>
                  <a:pt x="58410" y="61270"/>
                </a:cubicBezTo>
                <a:cubicBezTo>
                  <a:pt x="70374" y="49577"/>
                  <a:pt x="85189" y="41212"/>
                  <a:pt x="101380" y="37007"/>
                </a:cubicBezTo>
                <a:cubicBezTo>
                  <a:pt x="117572" y="32802"/>
                  <a:pt x="134585" y="32902"/>
                  <a:pt x="150727" y="37296"/>
                </a:cubicBezTo>
                <a:cubicBezTo>
                  <a:pt x="166868" y="41690"/>
                  <a:pt x="181584" y="50228"/>
                  <a:pt x="193410" y="62060"/>
                </a:cubicBezTo>
                <a:lnTo>
                  <a:pt x="208000" y="76690"/>
                </a:lnTo>
                <a:lnTo>
                  <a:pt x="208000" y="48000"/>
                </a:lnTo>
                <a:cubicBezTo>
                  <a:pt x="208000" y="46596"/>
                  <a:pt x="208370" y="45216"/>
                  <a:pt x="209072" y="44000"/>
                </a:cubicBezTo>
                <a:cubicBezTo>
                  <a:pt x="209774" y="42784"/>
                  <a:pt x="210784" y="41774"/>
                  <a:pt x="212000" y="41072"/>
                </a:cubicBezTo>
                <a:cubicBezTo>
                  <a:pt x="213216" y="40370"/>
                  <a:pt x="214596" y="40000"/>
                  <a:pt x="216000" y="40000"/>
                </a:cubicBezTo>
                <a:cubicBezTo>
                  <a:pt x="217404" y="40000"/>
                  <a:pt x="218784" y="40370"/>
                  <a:pt x="220000" y="41072"/>
                </a:cubicBezTo>
                <a:cubicBezTo>
                  <a:pt x="221216" y="41774"/>
                  <a:pt x="222226" y="42784"/>
                  <a:pt x="222928" y="44000"/>
                </a:cubicBezTo>
                <a:cubicBezTo>
                  <a:pt x="223630" y="45216"/>
                  <a:pt x="224000" y="46596"/>
                  <a:pt x="224000" y="48000"/>
                </a:cubicBezTo>
                <a:close/>
                <a:moveTo>
                  <a:pt x="186410" y="183290"/>
                </a:moveTo>
                <a:cubicBezTo>
                  <a:pt x="176441" y="193028"/>
                  <a:pt x="164098" y="199994"/>
                  <a:pt x="150609" y="203495"/>
                </a:cubicBezTo>
                <a:cubicBezTo>
                  <a:pt x="137120" y="206997"/>
                  <a:pt x="122948" y="206914"/>
                  <a:pt x="109501" y="203254"/>
                </a:cubicBezTo>
                <a:cubicBezTo>
                  <a:pt x="96054" y="199595"/>
                  <a:pt x="83794" y="192484"/>
                  <a:pt x="73940" y="182630"/>
                </a:cubicBezTo>
                <a:lnTo>
                  <a:pt x="59310" y="168000"/>
                </a:lnTo>
                <a:lnTo>
                  <a:pt x="88000" y="168000"/>
                </a:lnTo>
                <a:cubicBezTo>
                  <a:pt x="89404" y="168000"/>
                  <a:pt x="90784" y="167630"/>
                  <a:pt x="92000" y="166928"/>
                </a:cubicBezTo>
                <a:cubicBezTo>
                  <a:pt x="93216" y="166226"/>
                  <a:pt x="94226" y="165216"/>
                  <a:pt x="94928" y="164000"/>
                </a:cubicBezTo>
                <a:cubicBezTo>
                  <a:pt x="95630" y="162784"/>
                  <a:pt x="96000" y="161404"/>
                  <a:pt x="96000" y="160000"/>
                </a:cubicBezTo>
                <a:cubicBezTo>
                  <a:pt x="96000" y="158596"/>
                  <a:pt x="95630" y="157216"/>
                  <a:pt x="94928" y="156000"/>
                </a:cubicBezTo>
                <a:cubicBezTo>
                  <a:pt x="94226" y="154784"/>
                  <a:pt x="93216" y="153774"/>
                  <a:pt x="92000" y="153072"/>
                </a:cubicBezTo>
                <a:cubicBezTo>
                  <a:pt x="90784" y="152370"/>
                  <a:pt x="89404" y="152000"/>
                  <a:pt x="88000" y="152000"/>
                </a:cubicBezTo>
                <a:lnTo>
                  <a:pt x="40000" y="152000"/>
                </a:lnTo>
                <a:cubicBezTo>
                  <a:pt x="38596" y="152000"/>
                  <a:pt x="37216" y="152370"/>
                  <a:pt x="36000" y="153072"/>
                </a:cubicBezTo>
                <a:cubicBezTo>
                  <a:pt x="34784" y="153774"/>
                  <a:pt x="33774" y="154784"/>
                  <a:pt x="33072" y="156000"/>
                </a:cubicBezTo>
                <a:cubicBezTo>
                  <a:pt x="32370" y="157216"/>
                  <a:pt x="32000" y="158596"/>
                  <a:pt x="32000" y="160000"/>
                </a:cubicBezTo>
                <a:lnTo>
                  <a:pt x="32000" y="208000"/>
                </a:lnTo>
                <a:cubicBezTo>
                  <a:pt x="32000" y="209404"/>
                  <a:pt x="32370" y="210784"/>
                  <a:pt x="33072" y="212000"/>
                </a:cubicBezTo>
                <a:cubicBezTo>
                  <a:pt x="33774" y="213216"/>
                  <a:pt x="34784" y="214226"/>
                  <a:pt x="36000" y="214928"/>
                </a:cubicBezTo>
                <a:cubicBezTo>
                  <a:pt x="37216" y="215630"/>
                  <a:pt x="38596" y="216000"/>
                  <a:pt x="40000" y="216000"/>
                </a:cubicBezTo>
                <a:cubicBezTo>
                  <a:pt x="41404" y="216000"/>
                  <a:pt x="42784" y="215630"/>
                  <a:pt x="44000" y="214928"/>
                </a:cubicBezTo>
                <a:cubicBezTo>
                  <a:pt x="45216" y="214226"/>
                  <a:pt x="46226" y="213216"/>
                  <a:pt x="46928" y="212000"/>
                </a:cubicBezTo>
                <a:cubicBezTo>
                  <a:pt x="47630" y="210784"/>
                  <a:pt x="48000" y="209404"/>
                  <a:pt x="48000" y="208000"/>
                </a:cubicBezTo>
                <a:lnTo>
                  <a:pt x="48000" y="179310"/>
                </a:lnTo>
                <a:lnTo>
                  <a:pt x="62630" y="193940"/>
                </a:lnTo>
                <a:cubicBezTo>
                  <a:pt x="71464" y="202819"/>
                  <a:pt x="81961" y="209872"/>
                  <a:pt x="93520" y="214697"/>
                </a:cubicBezTo>
                <a:cubicBezTo>
                  <a:pt x="105079" y="219521"/>
                  <a:pt x="117475" y="222023"/>
                  <a:pt x="130000" y="222060"/>
                </a:cubicBezTo>
                <a:lnTo>
                  <a:pt x="130530" y="222060"/>
                </a:lnTo>
                <a:cubicBezTo>
                  <a:pt x="142950" y="222092"/>
                  <a:pt x="155258" y="219697"/>
                  <a:pt x="166761" y="215010"/>
                </a:cubicBezTo>
                <a:cubicBezTo>
                  <a:pt x="178263" y="210323"/>
                  <a:pt x="188739" y="203434"/>
                  <a:pt x="197600" y="194730"/>
                </a:cubicBezTo>
                <a:cubicBezTo>
                  <a:pt x="198567" y="193741"/>
                  <a:pt x="199261" y="192517"/>
                  <a:pt x="199614" y="191179"/>
                </a:cubicBezTo>
                <a:cubicBezTo>
                  <a:pt x="199967" y="189842"/>
                  <a:pt x="199967" y="188435"/>
                  <a:pt x="199614" y="187097"/>
                </a:cubicBezTo>
                <a:cubicBezTo>
                  <a:pt x="199262" y="185760"/>
                  <a:pt x="198568" y="184536"/>
                  <a:pt x="197601" y="183546"/>
                </a:cubicBezTo>
                <a:cubicBezTo>
                  <a:pt x="196634" y="182557"/>
                  <a:pt x="195426" y="181835"/>
                  <a:pt x="194097" y="181452"/>
                </a:cubicBezTo>
                <a:cubicBezTo>
                  <a:pt x="192768" y="181068"/>
                  <a:pt x="191361" y="181036"/>
                  <a:pt x="190016" y="181358"/>
                </a:cubicBezTo>
                <a:cubicBezTo>
                  <a:pt x="188670" y="181680"/>
                  <a:pt x="187431" y="182346"/>
                  <a:pt x="186420" y="18329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8" name="Google Shape;118;p13"/>
          <p:cNvSpPr txBox="1"/>
          <p:nvPr/>
        </p:nvSpPr>
        <p:spPr>
          <a:xfrm>
            <a:off x="1280888" y="1684632"/>
            <a:ext cx="1306175" cy="51578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s-MX" sz="950" u="none" cap="none" strike="noStrike">
                <a:solidFill>
                  <a:srgbClr val="654396"/>
                </a:solidFill>
                <a:latin typeface="Arial"/>
                <a:ea typeface="Arial"/>
                <a:cs typeface="Arial"/>
                <a:sym typeface="Arial"/>
              </a:rPr>
              <a:t>1. Ciclos cortos</a:t>
            </a:r>
            <a:endParaRPr b="1" i="0" sz="950" u="none" cap="none" strike="noStrike">
              <a:solidFill>
                <a:srgbClr val="654396"/>
              </a:solidFill>
              <a:latin typeface="Arial"/>
              <a:ea typeface="Arial"/>
              <a:cs typeface="Arial"/>
              <a:sym typeface="Arial"/>
            </a:endParaRPr>
          </a:p>
          <a:p>
            <a:pPr indent="0" lvl="0" marL="0" marR="0" rtl="0" algn="l">
              <a:lnSpc>
                <a:spcPct val="115000"/>
              </a:lnSpc>
              <a:spcBef>
                <a:spcPts val="200"/>
              </a:spcBef>
              <a:spcAft>
                <a:spcPts val="0"/>
              </a:spcAft>
              <a:buNone/>
            </a:pPr>
            <a:r>
              <a:rPr b="0" i="0" lang="es-MX" sz="950" u="none" cap="none" strike="noStrike">
                <a:solidFill>
                  <a:srgbClr val="654396"/>
                </a:solidFill>
                <a:latin typeface="Arial"/>
                <a:ea typeface="Arial"/>
                <a:cs typeface="Arial"/>
                <a:sym typeface="Arial"/>
              </a:rPr>
              <a:t>Sprints o iteraciones de 2 a 4 semanas.</a:t>
            </a:r>
            <a:endParaRPr/>
          </a:p>
        </p:txBody>
      </p:sp>
      <p:sp>
        <p:nvSpPr>
          <p:cNvPr id="119" name="Google Shape;119;p13"/>
          <p:cNvSpPr txBox="1"/>
          <p:nvPr/>
        </p:nvSpPr>
        <p:spPr>
          <a:xfrm>
            <a:off x="2950769" y="1684632"/>
            <a:ext cx="2962959" cy="55880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s-MX" sz="1050" u="none" cap="none" strike="noStrike">
                <a:solidFill>
                  <a:srgbClr val="FFD900"/>
                </a:solidFill>
                <a:latin typeface="Arial"/>
                <a:ea typeface="Arial"/>
                <a:cs typeface="Arial"/>
                <a:sym typeface="Arial"/>
              </a:rPr>
              <a:t>¿Utilizamos lo aprendido para ajustar?</a:t>
            </a:r>
            <a:endParaRPr/>
          </a:p>
          <a:p>
            <a:pPr indent="0" lvl="0" marL="0" marR="0" rtl="0" algn="l">
              <a:lnSpc>
                <a:spcPct val="118000"/>
              </a:lnSpc>
              <a:spcBef>
                <a:spcPts val="300"/>
              </a:spcBef>
              <a:spcAft>
                <a:spcPts val="0"/>
              </a:spcAft>
              <a:buNone/>
            </a:pPr>
            <a:r>
              <a:rPr b="0" i="0" lang="es-MX" sz="950" u="none" cap="none" strike="noStrike">
                <a:solidFill>
                  <a:srgbClr val="E6ECF7"/>
                </a:solidFill>
                <a:latin typeface="Arial"/>
                <a:ea typeface="Arial"/>
                <a:cs typeface="Arial"/>
                <a:sym typeface="Arial"/>
              </a:rPr>
              <a:t>Si al terminar un ciclo no se adapta el plan según la evidencia, la iteración pierde su sentido empírico.</a:t>
            </a:r>
            <a:endParaRPr/>
          </a:p>
        </p:txBody>
      </p:sp>
      <p:cxnSp>
        <p:nvCxnSpPr>
          <p:cNvPr id="120" name="Google Shape;120;p13"/>
          <p:cNvCxnSpPr/>
          <p:nvPr/>
        </p:nvCxnSpPr>
        <p:spPr>
          <a:xfrm>
            <a:off x="748515" y="6706295"/>
            <a:ext cx="1047572" cy="0"/>
          </a:xfrm>
          <a:prstGeom prst="straightConnector1">
            <a:avLst/>
          </a:prstGeom>
          <a:noFill/>
          <a:ln cap="flat" cmpd="sng" w="53975">
            <a:solidFill>
              <a:srgbClr val="73CDEB"/>
            </a:solidFill>
            <a:prstDash val="solid"/>
            <a:round/>
            <a:headEnd len="med" w="med" type="oval"/>
            <a:tailEnd len="med" w="med" type="oval"/>
          </a:ln>
        </p:spPr>
      </p:cxnSp>
      <p:sp>
        <p:nvSpPr>
          <p:cNvPr id="121" name="Google Shape;121;p13"/>
          <p:cNvSpPr/>
          <p:nvPr/>
        </p:nvSpPr>
        <p:spPr>
          <a:xfrm>
            <a:off x="812180" y="6904368"/>
            <a:ext cx="461928" cy="45720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654396"/>
              </a:solidFill>
              <a:latin typeface="Arial"/>
              <a:ea typeface="Arial"/>
              <a:cs typeface="Arial"/>
              <a:sym typeface="Arial"/>
            </a:endParaRPr>
          </a:p>
        </p:txBody>
      </p:sp>
      <p:sp>
        <p:nvSpPr>
          <p:cNvPr id="122" name="Google Shape;122;p13"/>
          <p:cNvSpPr/>
          <p:nvPr/>
        </p:nvSpPr>
        <p:spPr>
          <a:xfrm>
            <a:off x="913238" y="6992665"/>
            <a:ext cx="259812" cy="280606"/>
          </a:xfrm>
          <a:custGeom>
            <a:rect b="b" l="l" r="r" t="t"/>
            <a:pathLst>
              <a:path extrusionOk="0" h="256000" w="256000">
                <a:moveTo>
                  <a:pt x="176000" y="232000"/>
                </a:moveTo>
                <a:cubicBezTo>
                  <a:pt x="176000" y="233404"/>
                  <a:pt x="175630" y="234784"/>
                  <a:pt x="174928" y="236000"/>
                </a:cubicBezTo>
                <a:cubicBezTo>
                  <a:pt x="174226" y="237216"/>
                  <a:pt x="173216" y="238226"/>
                  <a:pt x="172000" y="238928"/>
                </a:cubicBezTo>
                <a:cubicBezTo>
                  <a:pt x="170784" y="239630"/>
                  <a:pt x="169404" y="240000"/>
                  <a:pt x="168000" y="240000"/>
                </a:cubicBezTo>
                <a:lnTo>
                  <a:pt x="88000" y="240000"/>
                </a:lnTo>
                <a:cubicBezTo>
                  <a:pt x="86596" y="240000"/>
                  <a:pt x="85216" y="239630"/>
                  <a:pt x="84000" y="238928"/>
                </a:cubicBezTo>
                <a:cubicBezTo>
                  <a:pt x="82784" y="238226"/>
                  <a:pt x="81774" y="237216"/>
                  <a:pt x="81072" y="236000"/>
                </a:cubicBezTo>
                <a:cubicBezTo>
                  <a:pt x="80370" y="234784"/>
                  <a:pt x="80000" y="233404"/>
                  <a:pt x="80000" y="232000"/>
                </a:cubicBezTo>
                <a:cubicBezTo>
                  <a:pt x="80000" y="230596"/>
                  <a:pt x="80370" y="229216"/>
                  <a:pt x="81072" y="228000"/>
                </a:cubicBezTo>
                <a:cubicBezTo>
                  <a:pt x="81774" y="226784"/>
                  <a:pt x="82784" y="225774"/>
                  <a:pt x="84000" y="225072"/>
                </a:cubicBezTo>
                <a:cubicBezTo>
                  <a:pt x="85216" y="224370"/>
                  <a:pt x="86596" y="224000"/>
                  <a:pt x="88000" y="224000"/>
                </a:cubicBezTo>
                <a:lnTo>
                  <a:pt x="168000" y="224000"/>
                </a:lnTo>
                <a:cubicBezTo>
                  <a:pt x="169404" y="224000"/>
                  <a:pt x="170784" y="224370"/>
                  <a:pt x="172000" y="225072"/>
                </a:cubicBezTo>
                <a:cubicBezTo>
                  <a:pt x="173216" y="225774"/>
                  <a:pt x="174226" y="226784"/>
                  <a:pt x="174928" y="228000"/>
                </a:cubicBezTo>
                <a:cubicBezTo>
                  <a:pt x="175630" y="229216"/>
                  <a:pt x="176000" y="230596"/>
                  <a:pt x="176000" y="232000"/>
                </a:cubicBezTo>
                <a:close/>
                <a:moveTo>
                  <a:pt x="216000" y="104000"/>
                </a:moveTo>
                <a:cubicBezTo>
                  <a:pt x="216034" y="117336"/>
                  <a:pt x="213021" y="130505"/>
                  <a:pt x="207192" y="142499"/>
                </a:cubicBezTo>
                <a:cubicBezTo>
                  <a:pt x="201362" y="154493"/>
                  <a:pt x="192868" y="164998"/>
                  <a:pt x="182360" y="173210"/>
                </a:cubicBezTo>
                <a:cubicBezTo>
                  <a:pt x="180395" y="174716"/>
                  <a:pt x="178801" y="176652"/>
                  <a:pt x="177698" y="178868"/>
                </a:cubicBezTo>
                <a:cubicBezTo>
                  <a:pt x="176596" y="181085"/>
                  <a:pt x="176015" y="183524"/>
                  <a:pt x="176000" y="186000"/>
                </a:cubicBezTo>
                <a:lnTo>
                  <a:pt x="176000" y="192000"/>
                </a:lnTo>
                <a:cubicBezTo>
                  <a:pt x="176000" y="194808"/>
                  <a:pt x="175261" y="197568"/>
                  <a:pt x="173856" y="200000"/>
                </a:cubicBezTo>
                <a:cubicBezTo>
                  <a:pt x="172452" y="202432"/>
                  <a:pt x="170432" y="204452"/>
                  <a:pt x="168000" y="205856"/>
                </a:cubicBezTo>
                <a:cubicBezTo>
                  <a:pt x="165568" y="207261"/>
                  <a:pt x="162808" y="208000"/>
                  <a:pt x="160000" y="208000"/>
                </a:cubicBezTo>
                <a:lnTo>
                  <a:pt x="96000" y="208000"/>
                </a:lnTo>
                <a:cubicBezTo>
                  <a:pt x="93192" y="208000"/>
                  <a:pt x="90432" y="207261"/>
                  <a:pt x="88000" y="205856"/>
                </a:cubicBezTo>
                <a:cubicBezTo>
                  <a:pt x="85568" y="204452"/>
                  <a:pt x="83548" y="202432"/>
                  <a:pt x="82144" y="200000"/>
                </a:cubicBezTo>
                <a:cubicBezTo>
                  <a:pt x="80739" y="197568"/>
                  <a:pt x="80000" y="194808"/>
                  <a:pt x="80000" y="192000"/>
                </a:cubicBezTo>
                <a:lnTo>
                  <a:pt x="80000" y="186000"/>
                </a:lnTo>
                <a:cubicBezTo>
                  <a:pt x="79998" y="183554"/>
                  <a:pt x="79436" y="181141"/>
                  <a:pt x="78356" y="178946"/>
                </a:cubicBezTo>
                <a:cubicBezTo>
                  <a:pt x="77276" y="176752"/>
                  <a:pt x="75707" y="174834"/>
                  <a:pt x="73770" y="173340"/>
                </a:cubicBezTo>
                <a:cubicBezTo>
                  <a:pt x="63288" y="165177"/>
                  <a:pt x="54800" y="154735"/>
                  <a:pt x="48950" y="142807"/>
                </a:cubicBezTo>
                <a:cubicBezTo>
                  <a:pt x="43099" y="130879"/>
                  <a:pt x="40039" y="117775"/>
                  <a:pt x="40000" y="104490"/>
                </a:cubicBezTo>
                <a:cubicBezTo>
                  <a:pt x="39740" y="56830"/>
                  <a:pt x="78260" y="17140"/>
                  <a:pt x="125880" y="16000"/>
                </a:cubicBezTo>
                <a:cubicBezTo>
                  <a:pt x="137613" y="15717"/>
                  <a:pt x="149285" y="17785"/>
                  <a:pt x="160208" y="22080"/>
                </a:cubicBezTo>
                <a:cubicBezTo>
                  <a:pt x="171130" y="26376"/>
                  <a:pt x="181083" y="32813"/>
                  <a:pt x="189480" y="41013"/>
                </a:cubicBezTo>
                <a:cubicBezTo>
                  <a:pt x="197878" y="49213"/>
                  <a:pt x="204550" y="59010"/>
                  <a:pt x="209105" y="69827"/>
                </a:cubicBezTo>
                <a:cubicBezTo>
                  <a:pt x="213659" y="80644"/>
                  <a:pt x="216003" y="92263"/>
                  <a:pt x="216000" y="104000"/>
                </a:cubicBezTo>
                <a:close/>
                <a:moveTo>
                  <a:pt x="200000" y="104000"/>
                </a:moveTo>
                <a:cubicBezTo>
                  <a:pt x="200003" y="94397"/>
                  <a:pt x="198084" y="84889"/>
                  <a:pt x="194358" y="76039"/>
                </a:cubicBezTo>
                <a:cubicBezTo>
                  <a:pt x="190631" y="67188"/>
                  <a:pt x="185171" y="59172"/>
                  <a:pt x="178300" y="52463"/>
                </a:cubicBezTo>
                <a:cubicBezTo>
                  <a:pt x="171429" y="45754"/>
                  <a:pt x="163285" y="40487"/>
                  <a:pt x="154348" y="36973"/>
                </a:cubicBezTo>
                <a:cubicBezTo>
                  <a:pt x="145411" y="33459"/>
                  <a:pt x="135860" y="31768"/>
                  <a:pt x="126260" y="32000"/>
                </a:cubicBezTo>
                <a:cubicBezTo>
                  <a:pt x="87260" y="32920"/>
                  <a:pt x="55790" y="65390"/>
                  <a:pt x="56000" y="104390"/>
                </a:cubicBezTo>
                <a:cubicBezTo>
                  <a:pt x="56037" y="115255"/>
                  <a:pt x="58544" y="125972"/>
                  <a:pt x="63333" y="135725"/>
                </a:cubicBezTo>
                <a:cubicBezTo>
                  <a:pt x="68121" y="145478"/>
                  <a:pt x="75066" y="154016"/>
                  <a:pt x="83640" y="160690"/>
                </a:cubicBezTo>
                <a:cubicBezTo>
                  <a:pt x="87494" y="163686"/>
                  <a:pt x="90612" y="167525"/>
                  <a:pt x="92755" y="171912"/>
                </a:cubicBezTo>
                <a:cubicBezTo>
                  <a:pt x="94897" y="176299"/>
                  <a:pt x="96007" y="181118"/>
                  <a:pt x="96000" y="186000"/>
                </a:cubicBezTo>
                <a:lnTo>
                  <a:pt x="96000" y="192000"/>
                </a:lnTo>
                <a:lnTo>
                  <a:pt x="160000" y="192000"/>
                </a:lnTo>
                <a:lnTo>
                  <a:pt x="160000" y="186000"/>
                </a:lnTo>
                <a:cubicBezTo>
                  <a:pt x="160011" y="181104"/>
                  <a:pt x="161140" y="176275"/>
                  <a:pt x="163301" y="171882"/>
                </a:cubicBezTo>
                <a:cubicBezTo>
                  <a:pt x="165462" y="167489"/>
                  <a:pt x="168599" y="163647"/>
                  <a:pt x="172470" y="160650"/>
                </a:cubicBezTo>
                <a:cubicBezTo>
                  <a:pt x="181071" y="153929"/>
                  <a:pt x="188023" y="145330"/>
                  <a:pt x="192794" y="135512"/>
                </a:cubicBezTo>
                <a:cubicBezTo>
                  <a:pt x="197565" y="125695"/>
                  <a:pt x="200030" y="114915"/>
                  <a:pt x="200000" y="104000"/>
                </a:cubicBezTo>
                <a:close/>
                <a:moveTo>
                  <a:pt x="183890" y="94660"/>
                </a:moveTo>
                <a:cubicBezTo>
                  <a:pt x="182513" y="86969"/>
                  <a:pt x="179585" y="79638"/>
                  <a:pt x="175286" y="73114"/>
                </a:cubicBezTo>
                <a:cubicBezTo>
                  <a:pt x="170986" y="66590"/>
                  <a:pt x="165403" y="61008"/>
                  <a:pt x="158878" y="56710"/>
                </a:cubicBezTo>
                <a:cubicBezTo>
                  <a:pt x="152353" y="52411"/>
                  <a:pt x="145022" y="49485"/>
                  <a:pt x="137330" y="48110"/>
                </a:cubicBezTo>
                <a:cubicBezTo>
                  <a:pt x="135945" y="47877"/>
                  <a:pt x="134523" y="48012"/>
                  <a:pt x="133207" y="48502"/>
                </a:cubicBezTo>
                <a:cubicBezTo>
                  <a:pt x="131891" y="48992"/>
                  <a:pt x="130727" y="49821"/>
                  <a:pt x="129832" y="50903"/>
                </a:cubicBezTo>
                <a:cubicBezTo>
                  <a:pt x="128937" y="51986"/>
                  <a:pt x="128343" y="53285"/>
                  <a:pt x="128110" y="54670"/>
                </a:cubicBezTo>
                <a:cubicBezTo>
                  <a:pt x="127877" y="56055"/>
                  <a:pt x="128012" y="57477"/>
                  <a:pt x="128502" y="58793"/>
                </a:cubicBezTo>
                <a:cubicBezTo>
                  <a:pt x="128992" y="60109"/>
                  <a:pt x="129821" y="61273"/>
                  <a:pt x="130903" y="62168"/>
                </a:cubicBezTo>
                <a:cubicBezTo>
                  <a:pt x="131986" y="63063"/>
                  <a:pt x="133285" y="63657"/>
                  <a:pt x="134670" y="63890"/>
                </a:cubicBezTo>
                <a:cubicBezTo>
                  <a:pt x="151240" y="66680"/>
                  <a:pt x="165300" y="80740"/>
                  <a:pt x="168110" y="97340"/>
                </a:cubicBezTo>
                <a:cubicBezTo>
                  <a:pt x="168320" y="98575"/>
                  <a:pt x="168817" y="99744"/>
                  <a:pt x="169561" y="100751"/>
                </a:cubicBezTo>
                <a:cubicBezTo>
                  <a:pt x="170305" y="101759"/>
                  <a:pt x="171275" y="102578"/>
                  <a:pt x="172394" y="103142"/>
                </a:cubicBezTo>
                <a:cubicBezTo>
                  <a:pt x="173512" y="103707"/>
                  <a:pt x="174747" y="104000"/>
                  <a:pt x="176000" y="104000"/>
                </a:cubicBezTo>
                <a:cubicBezTo>
                  <a:pt x="176452" y="103997"/>
                  <a:pt x="176903" y="103961"/>
                  <a:pt x="177350" y="103890"/>
                </a:cubicBezTo>
                <a:cubicBezTo>
                  <a:pt x="178734" y="103654"/>
                  <a:pt x="180032" y="103057"/>
                  <a:pt x="181112" y="102161"/>
                </a:cubicBezTo>
                <a:cubicBezTo>
                  <a:pt x="182192" y="101264"/>
                  <a:pt x="183018" y="100099"/>
                  <a:pt x="183506" y="98783"/>
                </a:cubicBezTo>
                <a:cubicBezTo>
                  <a:pt x="183993" y="97466"/>
                  <a:pt x="184126" y="96044"/>
                  <a:pt x="183890" y="94660"/>
                </a:cubicBezTo>
                <a:close/>
              </a:path>
            </a:pathLst>
          </a:custGeom>
          <a:solidFill>
            <a:srgbClr val="02479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4"/>
          <p:cNvSpPr/>
          <p:nvPr/>
        </p:nvSpPr>
        <p:spPr>
          <a:xfrm>
            <a:off x="640808" y="723900"/>
            <a:ext cx="4265517"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Agilidad más allá de las herramientas</a:t>
            </a:r>
            <a:endParaRPr b="0" i="0" sz="1400" u="none" cap="none" strike="noStrike">
              <a:solidFill>
                <a:srgbClr val="000000"/>
              </a:solidFill>
              <a:latin typeface="Arial"/>
              <a:ea typeface="Arial"/>
              <a:cs typeface="Arial"/>
              <a:sym typeface="Arial"/>
            </a:endParaRPr>
          </a:p>
        </p:txBody>
      </p:sp>
      <p:sp>
        <p:nvSpPr>
          <p:cNvPr id="128" name="Google Shape;128;p14"/>
          <p:cNvSpPr/>
          <p:nvPr/>
        </p:nvSpPr>
        <p:spPr>
          <a:xfrm>
            <a:off x="640808" y="1104900"/>
            <a:ext cx="4953000" cy="2095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75"/>
              <a:buFont typeface="Arial"/>
              <a:buNone/>
            </a:pPr>
            <a:r>
              <a:rPr b="1" i="0" lang="es-MX" sz="975" u="none" cap="none" strike="noStrike">
                <a:solidFill>
                  <a:srgbClr val="3560D6"/>
                </a:solidFill>
                <a:latin typeface="Arial"/>
                <a:ea typeface="Arial"/>
                <a:cs typeface="Arial"/>
                <a:sym typeface="Arial"/>
              </a:rPr>
              <a:t>Tema 2 · Del hacer al aprender</a:t>
            </a:r>
            <a:endParaRPr b="0" i="0" sz="1400" u="none" cap="none" strike="noStrike">
              <a:solidFill>
                <a:srgbClr val="000000"/>
              </a:solidFill>
              <a:latin typeface="Arial"/>
              <a:ea typeface="Arial"/>
              <a:cs typeface="Arial"/>
              <a:sym typeface="Arial"/>
            </a:endParaRPr>
          </a:p>
        </p:txBody>
      </p:sp>
      <p:sp>
        <p:nvSpPr>
          <p:cNvPr id="129" name="Google Shape;129;p14"/>
          <p:cNvSpPr/>
          <p:nvPr/>
        </p:nvSpPr>
        <p:spPr>
          <a:xfrm>
            <a:off x="640808" y="1428750"/>
            <a:ext cx="5579570" cy="8763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325"/>
              <a:buFont typeface="Arial"/>
              <a:buNone/>
            </a:pPr>
            <a:r>
              <a:rPr b="1" i="0" lang="es-MX" sz="2325" u="none" cap="none" strike="noStrike">
                <a:solidFill>
                  <a:srgbClr val="664092"/>
                </a:solidFill>
                <a:latin typeface="Arial"/>
                <a:ea typeface="Arial"/>
                <a:cs typeface="Arial"/>
                <a:sym typeface="Arial"/>
              </a:rPr>
              <a:t>Cuando hacemos ciclos, pero no aprendemos</a:t>
            </a:r>
            <a:endParaRPr b="0" i="0" sz="1400" u="none" cap="none" strike="noStrike">
              <a:solidFill>
                <a:srgbClr val="000000"/>
              </a:solidFill>
              <a:latin typeface="Arial"/>
              <a:ea typeface="Arial"/>
              <a:cs typeface="Arial"/>
              <a:sym typeface="Arial"/>
            </a:endParaRPr>
          </a:p>
        </p:txBody>
      </p:sp>
      <p:cxnSp>
        <p:nvCxnSpPr>
          <p:cNvPr id="130" name="Google Shape;130;p14"/>
          <p:cNvCxnSpPr/>
          <p:nvPr/>
        </p:nvCxnSpPr>
        <p:spPr>
          <a:xfrm>
            <a:off x="748514" y="2447192"/>
            <a:ext cx="959094" cy="0"/>
          </a:xfrm>
          <a:prstGeom prst="straightConnector1">
            <a:avLst/>
          </a:prstGeom>
          <a:noFill/>
          <a:ln cap="flat" cmpd="sng" w="53975">
            <a:solidFill>
              <a:srgbClr val="73CDEB"/>
            </a:solidFill>
            <a:prstDash val="solid"/>
            <a:round/>
            <a:headEnd len="med" w="med" type="oval"/>
            <a:tailEnd len="med" w="med" type="oval"/>
          </a:ln>
        </p:spPr>
      </p:cxnSp>
      <p:sp>
        <p:nvSpPr>
          <p:cNvPr id="131" name="Google Shape;131;p14"/>
          <p:cNvSpPr txBox="1"/>
          <p:nvPr/>
        </p:nvSpPr>
        <p:spPr>
          <a:xfrm>
            <a:off x="642332" y="2697480"/>
            <a:ext cx="5576382" cy="2177712"/>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s-MX" sz="1100" u="none" cap="none" strike="noStrike">
                <a:solidFill>
                  <a:srgbClr val="56505B"/>
                </a:solidFill>
                <a:latin typeface="Arial"/>
                <a:ea typeface="Arial"/>
                <a:cs typeface="Arial"/>
                <a:sym typeface="Arial"/>
              </a:rPr>
              <a:t>Dividir un proyecto en periodos cortos permite observar resultados con mayor frecuencia, pero el valor de estos ciclos depende de lo que hacemos con la información obtenida. Los principios ágiles enfatizan tanto la entrega frecuente como la reflexión periódica del equipo para ajustar su comportamiento y mejorar su efectividad (Beck et al., 2001).</a:t>
            </a:r>
            <a:endParaRPr b="0" i="0" sz="1100" u="none" cap="none" strike="noStrike">
              <a:solidFill>
                <a:srgbClr val="56505B"/>
              </a:solidFill>
              <a:latin typeface="Arial"/>
              <a:ea typeface="Arial"/>
              <a:cs typeface="Arial"/>
              <a:sym typeface="Arial"/>
            </a:endParaRPr>
          </a:p>
          <a:p>
            <a:pPr indent="0" lvl="0" marL="0" marR="0" rtl="0" algn="l">
              <a:lnSpc>
                <a:spcPct val="130000"/>
              </a:lnSpc>
              <a:spcBef>
                <a:spcPts val="0"/>
              </a:spcBef>
              <a:spcAft>
                <a:spcPts val="0"/>
              </a:spcAft>
              <a:buNone/>
            </a:pPr>
            <a:r>
              <a:t/>
            </a:r>
            <a:endParaRPr b="0" i="0" sz="1100" u="none" cap="none" strike="noStrike">
              <a:solidFill>
                <a:srgbClr val="56505B"/>
              </a:solidFill>
              <a:latin typeface="Arial"/>
              <a:ea typeface="Arial"/>
              <a:cs typeface="Arial"/>
              <a:sym typeface="Arial"/>
            </a:endParaRPr>
          </a:p>
          <a:p>
            <a:pPr indent="0" lvl="0" marL="0" marR="0" rtl="0" algn="l">
              <a:lnSpc>
                <a:spcPct val="130000"/>
              </a:lnSpc>
              <a:spcBef>
                <a:spcPts val="0"/>
              </a:spcBef>
              <a:spcAft>
                <a:spcPts val="0"/>
              </a:spcAft>
              <a:buNone/>
            </a:pPr>
            <a:r>
              <a:rPr b="0" i="0" lang="es-MX" sz="1100" u="none" cap="none" strike="noStrike">
                <a:solidFill>
                  <a:srgbClr val="56505B"/>
                </a:solidFill>
                <a:latin typeface="Arial"/>
                <a:ea typeface="Arial"/>
                <a:cs typeface="Arial"/>
                <a:sym typeface="Arial"/>
              </a:rPr>
              <a:t>Por esta razón, si al finalizar cada periodo simplemente iniciamos el siguiente sin revisar resultados, dificultades o necesidades emergentes, hemos cambiado la duración del trabajo, pero no necesariamente hemos incorporado una lógica de aprendizaje. Un ciclo adquiere sentido cuando permite hacer visible lo ocurrido y utilizar esa información para orientar las decisiones posteriores.</a:t>
            </a:r>
            <a:endParaRPr/>
          </a:p>
        </p:txBody>
      </p:sp>
      <p:sp>
        <p:nvSpPr>
          <p:cNvPr id="132" name="Google Shape;132;p14"/>
          <p:cNvSpPr txBox="1"/>
          <p:nvPr/>
        </p:nvSpPr>
        <p:spPr>
          <a:xfrm>
            <a:off x="642332" y="5125479"/>
            <a:ext cx="5576382" cy="14619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MX" sz="950" u="none" cap="none" strike="noStrike">
                <a:solidFill>
                  <a:srgbClr val="3560D6"/>
                </a:solidFill>
                <a:latin typeface="Arial"/>
                <a:ea typeface="Arial"/>
                <a:cs typeface="Arial"/>
                <a:sym typeface="Arial"/>
              </a:rPr>
              <a:t>FIGURA 2 · DINÁMICA ITERATIVA</a:t>
            </a:r>
            <a:endParaRPr/>
          </a:p>
        </p:txBody>
      </p:sp>
      <p:sp>
        <p:nvSpPr>
          <p:cNvPr id="133" name="Google Shape;133;p14"/>
          <p:cNvSpPr txBox="1"/>
          <p:nvPr/>
        </p:nvSpPr>
        <p:spPr>
          <a:xfrm>
            <a:off x="642332" y="5363223"/>
            <a:ext cx="5576382" cy="203004"/>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MX" sz="1300" u="none" cap="none" strike="noStrike">
                <a:solidFill>
                  <a:srgbClr val="664092"/>
                </a:solidFill>
                <a:latin typeface="Arial"/>
                <a:ea typeface="Arial"/>
                <a:cs typeface="Arial"/>
                <a:sym typeface="Arial"/>
              </a:rPr>
              <a:t>El ciclo continúa con el aprendizaje</a:t>
            </a:r>
            <a:endParaRPr/>
          </a:p>
        </p:txBody>
      </p:sp>
      <p:sp>
        <p:nvSpPr>
          <p:cNvPr id="134" name="Google Shape;134;p14"/>
          <p:cNvSpPr txBox="1"/>
          <p:nvPr/>
        </p:nvSpPr>
        <p:spPr>
          <a:xfrm>
            <a:off x="642332" y="5654307"/>
            <a:ext cx="5576382" cy="586122"/>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MX" sz="1050" u="none" cap="none" strike="noStrike">
                <a:solidFill>
                  <a:srgbClr val="56505B"/>
                </a:solidFill>
                <a:latin typeface="Arial"/>
                <a:ea typeface="Arial"/>
                <a:cs typeface="Arial"/>
                <a:sym typeface="Arial"/>
              </a:rPr>
              <a:t>La iteración solo es ágil si cada ciclo produce evidencia útil para transformar nuestras decisiones de trabajo. El ciclo tiene cinco momentos y, al terminar el quinto, vuelve a comenzar.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5"/>
          <p:cNvSpPr/>
          <p:nvPr/>
        </p:nvSpPr>
        <p:spPr>
          <a:xfrm>
            <a:off x="640808" y="7115251"/>
            <a:ext cx="5576384" cy="965835"/>
          </a:xfrm>
          <a:prstGeom prst="roundRect">
            <a:avLst>
              <a:gd fmla="val 9372" name="adj"/>
            </a:avLst>
          </a:prstGeom>
          <a:solidFill>
            <a:srgbClr val="E5E6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0" name="Google Shape;140;p15"/>
          <p:cNvSpPr/>
          <p:nvPr/>
        </p:nvSpPr>
        <p:spPr>
          <a:xfrm>
            <a:off x="640808" y="723900"/>
            <a:ext cx="4265517"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Agilidad más allá de las herramientas</a:t>
            </a:r>
            <a:endParaRPr b="0" i="0" sz="1400" u="none" cap="none" strike="noStrike">
              <a:solidFill>
                <a:srgbClr val="000000"/>
              </a:solidFill>
              <a:latin typeface="Arial"/>
              <a:ea typeface="Arial"/>
              <a:cs typeface="Arial"/>
              <a:sym typeface="Arial"/>
            </a:endParaRPr>
          </a:p>
        </p:txBody>
      </p:sp>
      <p:sp>
        <p:nvSpPr>
          <p:cNvPr id="141" name="Google Shape;141;p15"/>
          <p:cNvSpPr/>
          <p:nvPr/>
        </p:nvSpPr>
        <p:spPr>
          <a:xfrm>
            <a:off x="640808" y="1104900"/>
            <a:ext cx="5576384" cy="805586"/>
          </a:xfrm>
          <a:prstGeom prst="roundRect">
            <a:avLst>
              <a:gd fmla="val 13620" name="adj"/>
            </a:avLst>
          </a:prstGeom>
          <a:solidFill>
            <a:srgbClr val="FFFFFF"/>
          </a:solidFill>
          <a:ln cap="flat" cmpd="sng" w="12700">
            <a:solidFill>
              <a:srgbClr val="DCDD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2" name="Google Shape;142;p15"/>
          <p:cNvSpPr/>
          <p:nvPr/>
        </p:nvSpPr>
        <p:spPr>
          <a:xfrm>
            <a:off x="640808" y="3125085"/>
            <a:ext cx="5576384" cy="805586"/>
          </a:xfrm>
          <a:prstGeom prst="roundRect">
            <a:avLst>
              <a:gd fmla="val 13620" name="adj"/>
            </a:avLst>
          </a:prstGeom>
          <a:solidFill>
            <a:srgbClr val="FFFFFF"/>
          </a:solidFill>
          <a:ln cap="flat" cmpd="sng" w="12700">
            <a:solidFill>
              <a:srgbClr val="DCDD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3" name="Google Shape;143;p15"/>
          <p:cNvSpPr/>
          <p:nvPr/>
        </p:nvSpPr>
        <p:spPr>
          <a:xfrm>
            <a:off x="640808" y="3234813"/>
            <a:ext cx="64008" cy="586130"/>
          </a:xfrm>
          <a:prstGeom prst="rect">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4" name="Google Shape;144;p15"/>
          <p:cNvSpPr/>
          <p:nvPr/>
        </p:nvSpPr>
        <p:spPr>
          <a:xfrm>
            <a:off x="841976" y="3244414"/>
            <a:ext cx="566928" cy="566928"/>
          </a:xfrm>
          <a:prstGeom prst="ellipse">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5" name="Google Shape;145;p15"/>
          <p:cNvSpPr/>
          <p:nvPr/>
        </p:nvSpPr>
        <p:spPr>
          <a:xfrm>
            <a:off x="966700" y="3369138"/>
            <a:ext cx="317480" cy="317480"/>
          </a:xfrm>
          <a:custGeom>
            <a:rect b="b" l="l" r="r" t="t"/>
            <a:pathLst>
              <a:path extrusionOk="0" h="256000" w="256000">
                <a:moveTo>
                  <a:pt x="176000" y="232000"/>
                </a:moveTo>
                <a:cubicBezTo>
                  <a:pt x="176000" y="233404"/>
                  <a:pt x="175630" y="234784"/>
                  <a:pt x="174928" y="236000"/>
                </a:cubicBezTo>
                <a:cubicBezTo>
                  <a:pt x="174226" y="237216"/>
                  <a:pt x="173216" y="238226"/>
                  <a:pt x="172000" y="238928"/>
                </a:cubicBezTo>
                <a:cubicBezTo>
                  <a:pt x="170784" y="239630"/>
                  <a:pt x="169404" y="240000"/>
                  <a:pt x="168000" y="240000"/>
                </a:cubicBezTo>
                <a:lnTo>
                  <a:pt x="88000" y="240000"/>
                </a:lnTo>
                <a:cubicBezTo>
                  <a:pt x="86596" y="240000"/>
                  <a:pt x="85216" y="239630"/>
                  <a:pt x="84000" y="238928"/>
                </a:cubicBezTo>
                <a:cubicBezTo>
                  <a:pt x="82784" y="238226"/>
                  <a:pt x="81774" y="237216"/>
                  <a:pt x="81072" y="236000"/>
                </a:cubicBezTo>
                <a:cubicBezTo>
                  <a:pt x="80370" y="234784"/>
                  <a:pt x="80000" y="233404"/>
                  <a:pt x="80000" y="232000"/>
                </a:cubicBezTo>
                <a:cubicBezTo>
                  <a:pt x="80000" y="230596"/>
                  <a:pt x="80370" y="229216"/>
                  <a:pt x="81072" y="228000"/>
                </a:cubicBezTo>
                <a:cubicBezTo>
                  <a:pt x="81774" y="226784"/>
                  <a:pt x="82784" y="225774"/>
                  <a:pt x="84000" y="225072"/>
                </a:cubicBezTo>
                <a:cubicBezTo>
                  <a:pt x="85216" y="224370"/>
                  <a:pt x="86596" y="224000"/>
                  <a:pt x="88000" y="224000"/>
                </a:cubicBezTo>
                <a:lnTo>
                  <a:pt x="168000" y="224000"/>
                </a:lnTo>
                <a:cubicBezTo>
                  <a:pt x="169404" y="224000"/>
                  <a:pt x="170784" y="224370"/>
                  <a:pt x="172000" y="225072"/>
                </a:cubicBezTo>
                <a:cubicBezTo>
                  <a:pt x="173216" y="225774"/>
                  <a:pt x="174226" y="226784"/>
                  <a:pt x="174928" y="228000"/>
                </a:cubicBezTo>
                <a:cubicBezTo>
                  <a:pt x="175630" y="229216"/>
                  <a:pt x="176000" y="230596"/>
                  <a:pt x="176000" y="232000"/>
                </a:cubicBezTo>
                <a:close/>
                <a:moveTo>
                  <a:pt x="216000" y="104000"/>
                </a:moveTo>
                <a:cubicBezTo>
                  <a:pt x="216034" y="117336"/>
                  <a:pt x="213021" y="130505"/>
                  <a:pt x="207192" y="142499"/>
                </a:cubicBezTo>
                <a:cubicBezTo>
                  <a:pt x="201362" y="154493"/>
                  <a:pt x="192868" y="164998"/>
                  <a:pt x="182360" y="173210"/>
                </a:cubicBezTo>
                <a:cubicBezTo>
                  <a:pt x="180395" y="174716"/>
                  <a:pt x="178801" y="176652"/>
                  <a:pt x="177698" y="178868"/>
                </a:cubicBezTo>
                <a:cubicBezTo>
                  <a:pt x="176596" y="181085"/>
                  <a:pt x="176015" y="183524"/>
                  <a:pt x="176000" y="186000"/>
                </a:cubicBezTo>
                <a:lnTo>
                  <a:pt x="176000" y="192000"/>
                </a:lnTo>
                <a:cubicBezTo>
                  <a:pt x="176000" y="194808"/>
                  <a:pt x="175261" y="197568"/>
                  <a:pt x="173856" y="200000"/>
                </a:cubicBezTo>
                <a:cubicBezTo>
                  <a:pt x="172452" y="202432"/>
                  <a:pt x="170432" y="204452"/>
                  <a:pt x="168000" y="205856"/>
                </a:cubicBezTo>
                <a:cubicBezTo>
                  <a:pt x="165568" y="207261"/>
                  <a:pt x="162808" y="208000"/>
                  <a:pt x="160000" y="208000"/>
                </a:cubicBezTo>
                <a:lnTo>
                  <a:pt x="96000" y="208000"/>
                </a:lnTo>
                <a:cubicBezTo>
                  <a:pt x="93192" y="208000"/>
                  <a:pt x="90432" y="207261"/>
                  <a:pt x="88000" y="205856"/>
                </a:cubicBezTo>
                <a:cubicBezTo>
                  <a:pt x="85568" y="204452"/>
                  <a:pt x="83548" y="202432"/>
                  <a:pt x="82144" y="200000"/>
                </a:cubicBezTo>
                <a:cubicBezTo>
                  <a:pt x="80739" y="197568"/>
                  <a:pt x="80000" y="194808"/>
                  <a:pt x="80000" y="192000"/>
                </a:cubicBezTo>
                <a:lnTo>
                  <a:pt x="80000" y="186000"/>
                </a:lnTo>
                <a:cubicBezTo>
                  <a:pt x="79998" y="183554"/>
                  <a:pt x="79436" y="181141"/>
                  <a:pt x="78356" y="178946"/>
                </a:cubicBezTo>
                <a:cubicBezTo>
                  <a:pt x="77276" y="176752"/>
                  <a:pt x="75707" y="174834"/>
                  <a:pt x="73770" y="173340"/>
                </a:cubicBezTo>
                <a:cubicBezTo>
                  <a:pt x="63288" y="165177"/>
                  <a:pt x="54800" y="154735"/>
                  <a:pt x="48950" y="142807"/>
                </a:cubicBezTo>
                <a:cubicBezTo>
                  <a:pt x="43099" y="130879"/>
                  <a:pt x="40039" y="117775"/>
                  <a:pt x="40000" y="104490"/>
                </a:cubicBezTo>
                <a:cubicBezTo>
                  <a:pt x="39740" y="56830"/>
                  <a:pt x="78260" y="17140"/>
                  <a:pt x="125880" y="16000"/>
                </a:cubicBezTo>
                <a:cubicBezTo>
                  <a:pt x="137613" y="15717"/>
                  <a:pt x="149285" y="17785"/>
                  <a:pt x="160208" y="22080"/>
                </a:cubicBezTo>
                <a:cubicBezTo>
                  <a:pt x="171130" y="26376"/>
                  <a:pt x="181083" y="32813"/>
                  <a:pt x="189480" y="41013"/>
                </a:cubicBezTo>
                <a:cubicBezTo>
                  <a:pt x="197878" y="49213"/>
                  <a:pt x="204550" y="59010"/>
                  <a:pt x="209105" y="69827"/>
                </a:cubicBezTo>
                <a:cubicBezTo>
                  <a:pt x="213659" y="80644"/>
                  <a:pt x="216003" y="92263"/>
                  <a:pt x="216000" y="104000"/>
                </a:cubicBezTo>
                <a:close/>
                <a:moveTo>
                  <a:pt x="200000" y="104000"/>
                </a:moveTo>
                <a:cubicBezTo>
                  <a:pt x="200003" y="94397"/>
                  <a:pt x="198084" y="84889"/>
                  <a:pt x="194358" y="76039"/>
                </a:cubicBezTo>
                <a:cubicBezTo>
                  <a:pt x="190631" y="67188"/>
                  <a:pt x="185171" y="59172"/>
                  <a:pt x="178300" y="52463"/>
                </a:cubicBezTo>
                <a:cubicBezTo>
                  <a:pt x="171429" y="45754"/>
                  <a:pt x="163285" y="40487"/>
                  <a:pt x="154348" y="36973"/>
                </a:cubicBezTo>
                <a:cubicBezTo>
                  <a:pt x="145411" y="33459"/>
                  <a:pt x="135860" y="31768"/>
                  <a:pt x="126260" y="32000"/>
                </a:cubicBezTo>
                <a:cubicBezTo>
                  <a:pt x="87260" y="32920"/>
                  <a:pt x="55790" y="65390"/>
                  <a:pt x="56000" y="104390"/>
                </a:cubicBezTo>
                <a:cubicBezTo>
                  <a:pt x="56037" y="115255"/>
                  <a:pt x="58544" y="125972"/>
                  <a:pt x="63333" y="135725"/>
                </a:cubicBezTo>
                <a:cubicBezTo>
                  <a:pt x="68121" y="145478"/>
                  <a:pt x="75066" y="154016"/>
                  <a:pt x="83640" y="160690"/>
                </a:cubicBezTo>
                <a:cubicBezTo>
                  <a:pt x="87494" y="163686"/>
                  <a:pt x="90612" y="167525"/>
                  <a:pt x="92755" y="171912"/>
                </a:cubicBezTo>
                <a:cubicBezTo>
                  <a:pt x="94897" y="176299"/>
                  <a:pt x="96007" y="181118"/>
                  <a:pt x="96000" y="186000"/>
                </a:cubicBezTo>
                <a:lnTo>
                  <a:pt x="96000" y="192000"/>
                </a:lnTo>
                <a:lnTo>
                  <a:pt x="160000" y="192000"/>
                </a:lnTo>
                <a:lnTo>
                  <a:pt x="160000" y="186000"/>
                </a:lnTo>
                <a:cubicBezTo>
                  <a:pt x="160011" y="181104"/>
                  <a:pt x="161140" y="176275"/>
                  <a:pt x="163301" y="171882"/>
                </a:cubicBezTo>
                <a:cubicBezTo>
                  <a:pt x="165462" y="167489"/>
                  <a:pt x="168599" y="163647"/>
                  <a:pt x="172470" y="160650"/>
                </a:cubicBezTo>
                <a:cubicBezTo>
                  <a:pt x="181071" y="153929"/>
                  <a:pt x="188023" y="145330"/>
                  <a:pt x="192794" y="135512"/>
                </a:cubicBezTo>
                <a:cubicBezTo>
                  <a:pt x="197565" y="125695"/>
                  <a:pt x="200030" y="114915"/>
                  <a:pt x="200000" y="104000"/>
                </a:cubicBezTo>
                <a:close/>
                <a:moveTo>
                  <a:pt x="183890" y="94660"/>
                </a:moveTo>
                <a:cubicBezTo>
                  <a:pt x="182513" y="86969"/>
                  <a:pt x="179585" y="79638"/>
                  <a:pt x="175286" y="73114"/>
                </a:cubicBezTo>
                <a:cubicBezTo>
                  <a:pt x="170986" y="66590"/>
                  <a:pt x="165403" y="61008"/>
                  <a:pt x="158878" y="56710"/>
                </a:cubicBezTo>
                <a:cubicBezTo>
                  <a:pt x="152353" y="52411"/>
                  <a:pt x="145022" y="49485"/>
                  <a:pt x="137330" y="48110"/>
                </a:cubicBezTo>
                <a:cubicBezTo>
                  <a:pt x="135945" y="47877"/>
                  <a:pt x="134523" y="48012"/>
                  <a:pt x="133207" y="48502"/>
                </a:cubicBezTo>
                <a:cubicBezTo>
                  <a:pt x="131891" y="48992"/>
                  <a:pt x="130727" y="49821"/>
                  <a:pt x="129832" y="50903"/>
                </a:cubicBezTo>
                <a:cubicBezTo>
                  <a:pt x="128937" y="51986"/>
                  <a:pt x="128343" y="53285"/>
                  <a:pt x="128110" y="54670"/>
                </a:cubicBezTo>
                <a:cubicBezTo>
                  <a:pt x="127877" y="56055"/>
                  <a:pt x="128012" y="57477"/>
                  <a:pt x="128502" y="58793"/>
                </a:cubicBezTo>
                <a:cubicBezTo>
                  <a:pt x="128992" y="60109"/>
                  <a:pt x="129821" y="61273"/>
                  <a:pt x="130903" y="62168"/>
                </a:cubicBezTo>
                <a:cubicBezTo>
                  <a:pt x="131986" y="63063"/>
                  <a:pt x="133285" y="63657"/>
                  <a:pt x="134670" y="63890"/>
                </a:cubicBezTo>
                <a:cubicBezTo>
                  <a:pt x="151240" y="66680"/>
                  <a:pt x="165300" y="80740"/>
                  <a:pt x="168110" y="97340"/>
                </a:cubicBezTo>
                <a:cubicBezTo>
                  <a:pt x="168320" y="98575"/>
                  <a:pt x="168817" y="99744"/>
                  <a:pt x="169561" y="100751"/>
                </a:cubicBezTo>
                <a:cubicBezTo>
                  <a:pt x="170305" y="101759"/>
                  <a:pt x="171275" y="102578"/>
                  <a:pt x="172394" y="103142"/>
                </a:cubicBezTo>
                <a:cubicBezTo>
                  <a:pt x="173512" y="103707"/>
                  <a:pt x="174747" y="104000"/>
                  <a:pt x="176000" y="104000"/>
                </a:cubicBezTo>
                <a:cubicBezTo>
                  <a:pt x="176452" y="103997"/>
                  <a:pt x="176903" y="103961"/>
                  <a:pt x="177350" y="103890"/>
                </a:cubicBezTo>
                <a:cubicBezTo>
                  <a:pt x="178734" y="103654"/>
                  <a:pt x="180032" y="103057"/>
                  <a:pt x="181112" y="102161"/>
                </a:cubicBezTo>
                <a:cubicBezTo>
                  <a:pt x="182192" y="101264"/>
                  <a:pt x="183018" y="100099"/>
                  <a:pt x="183506" y="98783"/>
                </a:cubicBezTo>
                <a:cubicBezTo>
                  <a:pt x="183993" y="97466"/>
                  <a:pt x="184126" y="96044"/>
                  <a:pt x="183890" y="9466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6" name="Google Shape;146;p15"/>
          <p:cNvSpPr/>
          <p:nvPr/>
        </p:nvSpPr>
        <p:spPr>
          <a:xfrm>
            <a:off x="1226024" y="3189550"/>
            <a:ext cx="274320" cy="27432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7" name="Google Shape;147;p15"/>
          <p:cNvSpPr txBox="1"/>
          <p:nvPr/>
        </p:nvSpPr>
        <p:spPr>
          <a:xfrm>
            <a:off x="1664935" y="3269142"/>
            <a:ext cx="4380761" cy="572336"/>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1" i="0" lang="es-MX" sz="950" u="none" cap="none" strike="noStrike">
                <a:solidFill>
                  <a:srgbClr val="664092"/>
                </a:solidFill>
                <a:latin typeface="Arial"/>
                <a:ea typeface="Arial"/>
                <a:cs typeface="Arial"/>
                <a:sym typeface="Arial"/>
              </a:rPr>
              <a:t>03. </a:t>
            </a:r>
            <a:r>
              <a:rPr b="1" i="0" lang="es-MX" sz="1100" u="none" cap="none" strike="noStrike">
                <a:solidFill>
                  <a:srgbClr val="0B2E6B"/>
                </a:solidFill>
                <a:latin typeface="Arial"/>
                <a:ea typeface="Arial"/>
                <a:cs typeface="Arial"/>
                <a:sym typeface="Arial"/>
              </a:rPr>
              <a:t>Aprendemos</a:t>
            </a:r>
            <a:r>
              <a:rPr b="1" i="0" lang="es-MX" sz="900" u="none" cap="none" strike="noStrike">
                <a:solidFill>
                  <a:srgbClr val="664092"/>
                </a:solidFill>
                <a:latin typeface="Arial"/>
                <a:ea typeface="Arial"/>
                <a:cs typeface="Arial"/>
                <a:sym typeface="Arial"/>
              </a:rPr>
              <a:t>   Reflexionar</a:t>
            </a:r>
            <a:endParaRPr/>
          </a:p>
          <a:p>
            <a:pPr indent="0" lvl="0" marL="0" marR="0" rtl="0" algn="l">
              <a:lnSpc>
                <a:spcPct val="118000"/>
              </a:lnSpc>
              <a:spcBef>
                <a:spcPts val="200"/>
              </a:spcBef>
              <a:spcAft>
                <a:spcPts val="0"/>
              </a:spcAft>
              <a:buNone/>
            </a:pPr>
            <a:r>
              <a:rPr b="0" i="0" lang="es-MX" sz="950" u="none" cap="none" strike="noStrike">
                <a:solidFill>
                  <a:srgbClr val="3A3A48"/>
                </a:solidFill>
                <a:latin typeface="Arial"/>
                <a:ea typeface="Arial"/>
                <a:cs typeface="Arial"/>
                <a:sym typeface="Arial"/>
              </a:rPr>
              <a:t>Contrastamos la evidencia con los supuestos: ¿qué funcionó y qué falló?</a:t>
            </a:r>
            <a:endParaRPr/>
          </a:p>
          <a:p>
            <a:pPr indent="0" lvl="0" marL="0" marR="0" rtl="0" algn="l">
              <a:lnSpc>
                <a:spcPct val="118000"/>
              </a:lnSpc>
              <a:spcBef>
                <a:spcPts val="200"/>
              </a:spcBef>
              <a:spcAft>
                <a:spcPts val="0"/>
              </a:spcAft>
              <a:buNone/>
            </a:pPr>
            <a:r>
              <a:rPr b="0" i="1" lang="es-MX" sz="900" u="none" cap="none" strike="noStrike">
                <a:solidFill>
                  <a:srgbClr val="664092"/>
                </a:solidFill>
                <a:latin typeface="Arial"/>
                <a:ea typeface="Arial"/>
                <a:cs typeface="Arial"/>
                <a:sym typeface="Arial"/>
              </a:rPr>
              <a:t>La evidencia nos da perspectiva.</a:t>
            </a:r>
            <a:endParaRPr/>
          </a:p>
        </p:txBody>
      </p:sp>
      <p:sp>
        <p:nvSpPr>
          <p:cNvPr id="148" name="Google Shape;148;p15"/>
          <p:cNvSpPr/>
          <p:nvPr/>
        </p:nvSpPr>
        <p:spPr>
          <a:xfrm>
            <a:off x="1034000" y="3939815"/>
            <a:ext cx="182880" cy="109728"/>
          </a:xfrm>
          <a:prstGeom prst="downArrow">
            <a:avLst>
              <a:gd fmla="val 50000" name="adj1"/>
              <a:gd fmla="val 50000" name="adj2"/>
            </a:avLst>
          </a:prstGeom>
          <a:solidFill>
            <a:srgbClr val="B9C3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9" name="Google Shape;149;p15"/>
          <p:cNvSpPr/>
          <p:nvPr/>
        </p:nvSpPr>
        <p:spPr>
          <a:xfrm>
            <a:off x="640808" y="4049543"/>
            <a:ext cx="5576384" cy="976427"/>
          </a:xfrm>
          <a:prstGeom prst="roundRect">
            <a:avLst>
              <a:gd fmla="val 11237" name="adj"/>
            </a:avLst>
          </a:prstGeom>
          <a:solidFill>
            <a:srgbClr val="FFFFFF"/>
          </a:solidFill>
          <a:ln cap="flat" cmpd="sng" w="12700">
            <a:solidFill>
              <a:srgbClr val="DCDD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0" name="Google Shape;150;p15"/>
          <p:cNvSpPr/>
          <p:nvPr/>
        </p:nvSpPr>
        <p:spPr>
          <a:xfrm>
            <a:off x="640808" y="4159271"/>
            <a:ext cx="64008" cy="756971"/>
          </a:xfrm>
          <a:prstGeom prst="rect">
            <a:avLst/>
          </a:prstGeom>
          <a:solidFill>
            <a:srgbClr val="A719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1" name="Google Shape;151;p15"/>
          <p:cNvSpPr/>
          <p:nvPr/>
        </p:nvSpPr>
        <p:spPr>
          <a:xfrm>
            <a:off x="841976" y="4254293"/>
            <a:ext cx="566928" cy="566928"/>
          </a:xfrm>
          <a:prstGeom prst="ellipse">
            <a:avLst/>
          </a:prstGeom>
          <a:solidFill>
            <a:srgbClr val="A719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2" name="Google Shape;152;p15"/>
          <p:cNvSpPr/>
          <p:nvPr/>
        </p:nvSpPr>
        <p:spPr>
          <a:xfrm>
            <a:off x="966700" y="4379017"/>
            <a:ext cx="317480" cy="317480"/>
          </a:xfrm>
          <a:custGeom>
            <a:rect b="b" l="l" r="r" t="t"/>
            <a:pathLst>
              <a:path extrusionOk="0" h="256000" w="256000">
                <a:moveTo>
                  <a:pt x="128000" y="24000"/>
                </a:moveTo>
                <a:cubicBezTo>
                  <a:pt x="109746" y="24000"/>
                  <a:pt x="91809" y="28806"/>
                  <a:pt x="76000" y="37933"/>
                </a:cubicBezTo>
                <a:cubicBezTo>
                  <a:pt x="60191" y="47061"/>
                  <a:pt x="47061" y="60191"/>
                  <a:pt x="37933" y="76000"/>
                </a:cubicBezTo>
                <a:cubicBezTo>
                  <a:pt x="28806" y="91809"/>
                  <a:pt x="24000" y="109746"/>
                  <a:pt x="24000" y="128000"/>
                </a:cubicBezTo>
                <a:cubicBezTo>
                  <a:pt x="24000" y="146254"/>
                  <a:pt x="28806" y="164191"/>
                  <a:pt x="37933" y="180000"/>
                </a:cubicBezTo>
                <a:cubicBezTo>
                  <a:pt x="47061" y="195809"/>
                  <a:pt x="60191" y="208939"/>
                  <a:pt x="76000" y="218067"/>
                </a:cubicBezTo>
                <a:cubicBezTo>
                  <a:pt x="91809" y="227194"/>
                  <a:pt x="109746" y="232000"/>
                  <a:pt x="128000" y="232000"/>
                </a:cubicBezTo>
                <a:cubicBezTo>
                  <a:pt x="146254" y="232000"/>
                  <a:pt x="164191" y="227194"/>
                  <a:pt x="180000" y="218067"/>
                </a:cubicBezTo>
                <a:cubicBezTo>
                  <a:pt x="195809" y="208939"/>
                  <a:pt x="208939" y="195809"/>
                  <a:pt x="218067" y="180000"/>
                </a:cubicBezTo>
                <a:cubicBezTo>
                  <a:pt x="227194" y="164191"/>
                  <a:pt x="232000" y="146254"/>
                  <a:pt x="232000" y="128000"/>
                </a:cubicBezTo>
                <a:cubicBezTo>
                  <a:pt x="231981" y="109751"/>
                  <a:pt x="227164" y="91824"/>
                  <a:pt x="218034" y="76023"/>
                </a:cubicBezTo>
                <a:cubicBezTo>
                  <a:pt x="208904" y="60222"/>
                  <a:pt x="195778" y="47096"/>
                  <a:pt x="179977" y="37966"/>
                </a:cubicBezTo>
                <a:cubicBezTo>
                  <a:pt x="164176" y="28836"/>
                  <a:pt x="146249" y="24019"/>
                  <a:pt x="128000" y="24000"/>
                </a:cubicBezTo>
                <a:close/>
                <a:moveTo>
                  <a:pt x="128000" y="216000"/>
                </a:moveTo>
                <a:cubicBezTo>
                  <a:pt x="112554" y="216000"/>
                  <a:pt x="97377" y="211933"/>
                  <a:pt x="84000" y="204210"/>
                </a:cubicBezTo>
                <a:cubicBezTo>
                  <a:pt x="70623" y="196487"/>
                  <a:pt x="59513" y="185377"/>
                  <a:pt x="51790" y="172000"/>
                </a:cubicBezTo>
                <a:cubicBezTo>
                  <a:pt x="44067" y="158623"/>
                  <a:pt x="40000" y="143446"/>
                  <a:pt x="40000" y="128000"/>
                </a:cubicBezTo>
                <a:cubicBezTo>
                  <a:pt x="40000" y="112554"/>
                  <a:pt x="44067" y="97377"/>
                  <a:pt x="51790" y="84000"/>
                </a:cubicBezTo>
                <a:cubicBezTo>
                  <a:pt x="59513" y="70623"/>
                  <a:pt x="70623" y="59513"/>
                  <a:pt x="84000" y="51790"/>
                </a:cubicBezTo>
                <a:cubicBezTo>
                  <a:pt x="97377" y="44067"/>
                  <a:pt x="112554" y="40000"/>
                  <a:pt x="128000" y="40000"/>
                </a:cubicBezTo>
                <a:cubicBezTo>
                  <a:pt x="143446" y="40000"/>
                  <a:pt x="158623" y="44067"/>
                  <a:pt x="172000" y="51790"/>
                </a:cubicBezTo>
                <a:cubicBezTo>
                  <a:pt x="185377" y="59513"/>
                  <a:pt x="196487" y="70623"/>
                  <a:pt x="204210" y="84000"/>
                </a:cubicBezTo>
                <a:cubicBezTo>
                  <a:pt x="211933" y="97377"/>
                  <a:pt x="216000" y="112554"/>
                  <a:pt x="216000" y="128000"/>
                </a:cubicBezTo>
                <a:cubicBezTo>
                  <a:pt x="215982" y="143441"/>
                  <a:pt x="211906" y="158609"/>
                  <a:pt x="204180" y="171979"/>
                </a:cubicBezTo>
                <a:cubicBezTo>
                  <a:pt x="196455" y="185348"/>
                  <a:pt x="185348" y="196455"/>
                  <a:pt x="171979" y="204180"/>
                </a:cubicBezTo>
                <a:cubicBezTo>
                  <a:pt x="158609" y="211906"/>
                  <a:pt x="143441" y="215982"/>
                  <a:pt x="128000" y="216000"/>
                </a:cubicBezTo>
                <a:close/>
                <a:moveTo>
                  <a:pt x="172420" y="72840"/>
                </a:moveTo>
                <a:lnTo>
                  <a:pt x="108420" y="104840"/>
                </a:lnTo>
                <a:cubicBezTo>
                  <a:pt x="107651" y="105226"/>
                  <a:pt x="106949" y="105733"/>
                  <a:pt x="106341" y="106341"/>
                </a:cubicBezTo>
                <a:cubicBezTo>
                  <a:pt x="105733" y="106949"/>
                  <a:pt x="105226" y="107651"/>
                  <a:pt x="104840" y="108420"/>
                </a:cubicBezTo>
                <a:lnTo>
                  <a:pt x="72840" y="172420"/>
                </a:lnTo>
                <a:cubicBezTo>
                  <a:pt x="72229" y="173640"/>
                  <a:pt x="71941" y="174996"/>
                  <a:pt x="72002" y="176359"/>
                </a:cubicBezTo>
                <a:cubicBezTo>
                  <a:pt x="72064" y="177722"/>
                  <a:pt x="72472" y="179047"/>
                  <a:pt x="73190" y="180207"/>
                </a:cubicBezTo>
                <a:cubicBezTo>
                  <a:pt x="73907" y="181368"/>
                  <a:pt x="74910" y="182325"/>
                  <a:pt x="76102" y="182989"/>
                </a:cubicBezTo>
                <a:cubicBezTo>
                  <a:pt x="77294" y="183653"/>
                  <a:pt x="78636" y="184001"/>
                  <a:pt x="80000" y="184000"/>
                </a:cubicBezTo>
                <a:cubicBezTo>
                  <a:pt x="81242" y="183998"/>
                  <a:pt x="82467" y="183711"/>
                  <a:pt x="83580" y="183160"/>
                </a:cubicBezTo>
                <a:lnTo>
                  <a:pt x="147580" y="151160"/>
                </a:lnTo>
                <a:cubicBezTo>
                  <a:pt x="148349" y="150774"/>
                  <a:pt x="149051" y="150267"/>
                  <a:pt x="149659" y="149659"/>
                </a:cubicBezTo>
                <a:cubicBezTo>
                  <a:pt x="150267" y="149051"/>
                  <a:pt x="150774" y="148349"/>
                  <a:pt x="151160" y="147580"/>
                </a:cubicBezTo>
                <a:lnTo>
                  <a:pt x="183160" y="83580"/>
                </a:lnTo>
                <a:cubicBezTo>
                  <a:pt x="183762" y="82381"/>
                  <a:pt x="184053" y="81051"/>
                  <a:pt x="184007" y="79710"/>
                </a:cubicBezTo>
                <a:cubicBezTo>
                  <a:pt x="183960" y="78370"/>
                  <a:pt x="183577" y="77062"/>
                  <a:pt x="182893" y="75908"/>
                </a:cubicBezTo>
                <a:cubicBezTo>
                  <a:pt x="182209" y="74755"/>
                  <a:pt x="181245" y="73791"/>
                  <a:pt x="180092" y="73107"/>
                </a:cubicBezTo>
                <a:cubicBezTo>
                  <a:pt x="178938" y="72423"/>
                  <a:pt x="177630" y="72040"/>
                  <a:pt x="176290" y="71993"/>
                </a:cubicBezTo>
                <a:cubicBezTo>
                  <a:pt x="174949" y="71947"/>
                  <a:pt x="173619" y="72238"/>
                  <a:pt x="172420" y="72840"/>
                </a:cubicBezTo>
                <a:close/>
                <a:moveTo>
                  <a:pt x="138000" y="138000"/>
                </a:moveTo>
                <a:lnTo>
                  <a:pt x="97890" y="158110"/>
                </a:lnTo>
                <a:lnTo>
                  <a:pt x="118000" y="118000"/>
                </a:lnTo>
                <a:lnTo>
                  <a:pt x="158150" y="9793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3" name="Google Shape;153;p15"/>
          <p:cNvSpPr/>
          <p:nvPr/>
        </p:nvSpPr>
        <p:spPr>
          <a:xfrm>
            <a:off x="1226024" y="4199429"/>
            <a:ext cx="274320" cy="27432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4" name="Google Shape;154;p15"/>
          <p:cNvSpPr txBox="1"/>
          <p:nvPr/>
        </p:nvSpPr>
        <p:spPr>
          <a:xfrm>
            <a:off x="1664935" y="4192779"/>
            <a:ext cx="4380761" cy="744819"/>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1" i="0" lang="es-MX" sz="950" u="none" cap="none" strike="noStrike">
                <a:solidFill>
                  <a:srgbClr val="A71989"/>
                </a:solidFill>
                <a:latin typeface="Arial"/>
                <a:ea typeface="Arial"/>
                <a:cs typeface="Arial"/>
                <a:sym typeface="Arial"/>
              </a:rPr>
              <a:t>04. </a:t>
            </a:r>
            <a:r>
              <a:rPr b="1" i="0" lang="es-MX" sz="1100" u="none" cap="none" strike="noStrike">
                <a:solidFill>
                  <a:srgbClr val="0B2E6B"/>
                </a:solidFill>
                <a:latin typeface="Arial"/>
                <a:ea typeface="Arial"/>
                <a:cs typeface="Arial"/>
                <a:sym typeface="Arial"/>
              </a:rPr>
              <a:t>Decidimos</a:t>
            </a:r>
            <a:r>
              <a:rPr b="1" i="0" lang="es-MX" sz="900" u="none" cap="none" strike="noStrike">
                <a:solidFill>
                  <a:srgbClr val="A71989"/>
                </a:solidFill>
                <a:latin typeface="Arial"/>
                <a:ea typeface="Arial"/>
                <a:cs typeface="Arial"/>
                <a:sym typeface="Arial"/>
              </a:rPr>
              <a:t>   Calibrar</a:t>
            </a:r>
            <a:endParaRPr/>
          </a:p>
          <a:p>
            <a:pPr indent="0" lvl="0" marL="0" marR="0" rtl="0" algn="l">
              <a:lnSpc>
                <a:spcPct val="118000"/>
              </a:lnSpc>
              <a:spcBef>
                <a:spcPts val="200"/>
              </a:spcBef>
              <a:spcAft>
                <a:spcPts val="0"/>
              </a:spcAft>
              <a:buNone/>
            </a:pPr>
            <a:r>
              <a:rPr b="0" i="0" lang="es-MX" sz="950" u="none" cap="none" strike="noStrike">
                <a:solidFill>
                  <a:srgbClr val="3A3A48"/>
                </a:solidFill>
                <a:latin typeface="Arial"/>
                <a:ea typeface="Arial"/>
                <a:cs typeface="Arial"/>
                <a:sym typeface="Arial"/>
              </a:rPr>
              <a:t>Tomamos postura consciente: ¿qué cambiamos, qué priorizamos y qué descartamos?</a:t>
            </a:r>
            <a:endParaRPr/>
          </a:p>
          <a:p>
            <a:pPr indent="0" lvl="0" marL="0" marR="0" rtl="0" algn="l">
              <a:lnSpc>
                <a:spcPct val="118000"/>
              </a:lnSpc>
              <a:spcBef>
                <a:spcPts val="200"/>
              </a:spcBef>
              <a:spcAft>
                <a:spcPts val="0"/>
              </a:spcAft>
              <a:buNone/>
            </a:pPr>
            <a:r>
              <a:rPr b="0" i="1" lang="es-MX" sz="900" u="none" cap="none" strike="noStrike">
                <a:solidFill>
                  <a:srgbClr val="664092"/>
                </a:solidFill>
                <a:latin typeface="Arial"/>
                <a:ea typeface="Arial"/>
                <a:cs typeface="Arial"/>
                <a:sym typeface="Arial"/>
              </a:rPr>
              <a:t>Decisiones que generan valor.</a:t>
            </a:r>
            <a:endParaRPr/>
          </a:p>
        </p:txBody>
      </p:sp>
      <p:sp>
        <p:nvSpPr>
          <p:cNvPr id="155" name="Google Shape;155;p15"/>
          <p:cNvSpPr/>
          <p:nvPr/>
        </p:nvSpPr>
        <p:spPr>
          <a:xfrm>
            <a:off x="1034000" y="5035114"/>
            <a:ext cx="182880" cy="109728"/>
          </a:xfrm>
          <a:prstGeom prst="downArrow">
            <a:avLst>
              <a:gd fmla="val 50000" name="adj1"/>
              <a:gd fmla="val 50000" name="adj2"/>
            </a:avLst>
          </a:prstGeom>
          <a:solidFill>
            <a:srgbClr val="B9C3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6" name="Google Shape;156;p15"/>
          <p:cNvSpPr/>
          <p:nvPr/>
        </p:nvSpPr>
        <p:spPr>
          <a:xfrm>
            <a:off x="640808" y="5144842"/>
            <a:ext cx="5576384" cy="976427"/>
          </a:xfrm>
          <a:prstGeom prst="roundRect">
            <a:avLst>
              <a:gd fmla="val 11237" name="adj"/>
            </a:avLst>
          </a:prstGeom>
          <a:solidFill>
            <a:srgbClr val="FFFFFF"/>
          </a:solidFill>
          <a:ln cap="flat" cmpd="sng" w="12700">
            <a:solidFill>
              <a:srgbClr val="DCDD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 name="Google Shape;157;p15"/>
          <p:cNvSpPr/>
          <p:nvPr/>
        </p:nvSpPr>
        <p:spPr>
          <a:xfrm>
            <a:off x="640808" y="5254570"/>
            <a:ext cx="64008" cy="756971"/>
          </a:xfrm>
          <a:prstGeom prst="rect">
            <a:avLst/>
          </a:prstGeom>
          <a:solidFill>
            <a:srgbClr val="0B2E6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8" name="Google Shape;158;p15"/>
          <p:cNvSpPr/>
          <p:nvPr/>
        </p:nvSpPr>
        <p:spPr>
          <a:xfrm>
            <a:off x="841976" y="5349592"/>
            <a:ext cx="566928" cy="566928"/>
          </a:xfrm>
          <a:prstGeom prst="ellipse">
            <a:avLst/>
          </a:prstGeom>
          <a:solidFill>
            <a:srgbClr val="0B2E6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9" name="Google Shape;159;p15"/>
          <p:cNvSpPr/>
          <p:nvPr/>
        </p:nvSpPr>
        <p:spPr>
          <a:xfrm>
            <a:off x="966700" y="5474316"/>
            <a:ext cx="317480" cy="317480"/>
          </a:xfrm>
          <a:custGeom>
            <a:rect b="b" l="l" r="r" t="t"/>
            <a:pathLst>
              <a:path extrusionOk="0" h="256000" w="256000">
                <a:moveTo>
                  <a:pt x="224000" y="48000"/>
                </a:moveTo>
                <a:lnTo>
                  <a:pt x="224000" y="96000"/>
                </a:lnTo>
                <a:cubicBezTo>
                  <a:pt x="224000" y="97404"/>
                  <a:pt x="223630" y="98784"/>
                  <a:pt x="222928" y="100000"/>
                </a:cubicBezTo>
                <a:cubicBezTo>
                  <a:pt x="222226" y="101216"/>
                  <a:pt x="221216" y="102226"/>
                  <a:pt x="220000" y="102928"/>
                </a:cubicBezTo>
                <a:cubicBezTo>
                  <a:pt x="218784" y="103630"/>
                  <a:pt x="217404" y="104000"/>
                  <a:pt x="216000" y="104000"/>
                </a:cubicBezTo>
                <a:lnTo>
                  <a:pt x="168000" y="104000"/>
                </a:lnTo>
                <a:cubicBezTo>
                  <a:pt x="166596" y="104000"/>
                  <a:pt x="165216" y="103630"/>
                  <a:pt x="164000" y="102928"/>
                </a:cubicBezTo>
                <a:cubicBezTo>
                  <a:pt x="162784" y="102226"/>
                  <a:pt x="161774" y="101216"/>
                  <a:pt x="161072" y="100000"/>
                </a:cubicBezTo>
                <a:cubicBezTo>
                  <a:pt x="160370" y="98784"/>
                  <a:pt x="160000" y="97404"/>
                  <a:pt x="160000" y="96000"/>
                </a:cubicBezTo>
                <a:cubicBezTo>
                  <a:pt x="160000" y="94596"/>
                  <a:pt x="160370" y="93216"/>
                  <a:pt x="161072" y="92000"/>
                </a:cubicBezTo>
                <a:cubicBezTo>
                  <a:pt x="161774" y="90784"/>
                  <a:pt x="162784" y="89774"/>
                  <a:pt x="164000" y="89072"/>
                </a:cubicBezTo>
                <a:cubicBezTo>
                  <a:pt x="165216" y="88370"/>
                  <a:pt x="166596" y="88000"/>
                  <a:pt x="168000" y="88000"/>
                </a:cubicBezTo>
                <a:lnTo>
                  <a:pt x="196690" y="88000"/>
                </a:lnTo>
                <a:lnTo>
                  <a:pt x="182060" y="73370"/>
                </a:lnTo>
                <a:cubicBezTo>
                  <a:pt x="174698" y="65974"/>
                  <a:pt x="165952" y="60099"/>
                  <a:pt x="156322" y="56079"/>
                </a:cubicBezTo>
                <a:cubicBezTo>
                  <a:pt x="146693" y="52060"/>
                  <a:pt x="136365" y="49973"/>
                  <a:pt x="125930" y="49940"/>
                </a:cubicBezTo>
                <a:lnTo>
                  <a:pt x="125480" y="49940"/>
                </a:lnTo>
                <a:cubicBezTo>
                  <a:pt x="115131" y="49916"/>
                  <a:pt x="104875" y="51912"/>
                  <a:pt x="95291" y="55817"/>
                </a:cubicBezTo>
                <a:cubicBezTo>
                  <a:pt x="85706" y="59722"/>
                  <a:pt x="76976" y="65460"/>
                  <a:pt x="69590" y="72710"/>
                </a:cubicBezTo>
                <a:cubicBezTo>
                  <a:pt x="68579" y="73654"/>
                  <a:pt x="67340" y="74320"/>
                  <a:pt x="65994" y="74642"/>
                </a:cubicBezTo>
                <a:cubicBezTo>
                  <a:pt x="64649" y="74964"/>
                  <a:pt x="63242" y="74932"/>
                  <a:pt x="61913" y="74548"/>
                </a:cubicBezTo>
                <a:cubicBezTo>
                  <a:pt x="60584" y="74165"/>
                  <a:pt x="59376" y="73443"/>
                  <a:pt x="58409" y="72454"/>
                </a:cubicBezTo>
                <a:cubicBezTo>
                  <a:pt x="57442" y="71464"/>
                  <a:pt x="56748" y="70240"/>
                  <a:pt x="56396" y="68903"/>
                </a:cubicBezTo>
                <a:cubicBezTo>
                  <a:pt x="56043" y="67565"/>
                  <a:pt x="56043" y="66158"/>
                  <a:pt x="56396" y="64821"/>
                </a:cubicBezTo>
                <a:cubicBezTo>
                  <a:pt x="56749" y="63483"/>
                  <a:pt x="57443" y="62259"/>
                  <a:pt x="58410" y="61270"/>
                </a:cubicBezTo>
                <a:cubicBezTo>
                  <a:pt x="70374" y="49577"/>
                  <a:pt x="85189" y="41212"/>
                  <a:pt x="101380" y="37007"/>
                </a:cubicBezTo>
                <a:cubicBezTo>
                  <a:pt x="117572" y="32802"/>
                  <a:pt x="134585" y="32902"/>
                  <a:pt x="150727" y="37296"/>
                </a:cubicBezTo>
                <a:cubicBezTo>
                  <a:pt x="166868" y="41690"/>
                  <a:pt x="181584" y="50228"/>
                  <a:pt x="193410" y="62060"/>
                </a:cubicBezTo>
                <a:lnTo>
                  <a:pt x="208000" y="76690"/>
                </a:lnTo>
                <a:lnTo>
                  <a:pt x="208000" y="48000"/>
                </a:lnTo>
                <a:cubicBezTo>
                  <a:pt x="208000" y="46596"/>
                  <a:pt x="208370" y="45216"/>
                  <a:pt x="209072" y="44000"/>
                </a:cubicBezTo>
                <a:cubicBezTo>
                  <a:pt x="209774" y="42784"/>
                  <a:pt x="210784" y="41774"/>
                  <a:pt x="212000" y="41072"/>
                </a:cubicBezTo>
                <a:cubicBezTo>
                  <a:pt x="213216" y="40370"/>
                  <a:pt x="214596" y="40000"/>
                  <a:pt x="216000" y="40000"/>
                </a:cubicBezTo>
                <a:cubicBezTo>
                  <a:pt x="217404" y="40000"/>
                  <a:pt x="218784" y="40370"/>
                  <a:pt x="220000" y="41072"/>
                </a:cubicBezTo>
                <a:cubicBezTo>
                  <a:pt x="221216" y="41774"/>
                  <a:pt x="222226" y="42784"/>
                  <a:pt x="222928" y="44000"/>
                </a:cubicBezTo>
                <a:cubicBezTo>
                  <a:pt x="223630" y="45216"/>
                  <a:pt x="224000" y="46596"/>
                  <a:pt x="224000" y="48000"/>
                </a:cubicBezTo>
                <a:close/>
                <a:moveTo>
                  <a:pt x="186410" y="183290"/>
                </a:moveTo>
                <a:cubicBezTo>
                  <a:pt x="176441" y="193028"/>
                  <a:pt x="164098" y="199994"/>
                  <a:pt x="150609" y="203495"/>
                </a:cubicBezTo>
                <a:cubicBezTo>
                  <a:pt x="137120" y="206997"/>
                  <a:pt x="122948" y="206914"/>
                  <a:pt x="109501" y="203254"/>
                </a:cubicBezTo>
                <a:cubicBezTo>
                  <a:pt x="96054" y="199595"/>
                  <a:pt x="83794" y="192484"/>
                  <a:pt x="73940" y="182630"/>
                </a:cubicBezTo>
                <a:lnTo>
                  <a:pt x="59310" y="168000"/>
                </a:lnTo>
                <a:lnTo>
                  <a:pt x="88000" y="168000"/>
                </a:lnTo>
                <a:cubicBezTo>
                  <a:pt x="89404" y="168000"/>
                  <a:pt x="90784" y="167630"/>
                  <a:pt x="92000" y="166928"/>
                </a:cubicBezTo>
                <a:cubicBezTo>
                  <a:pt x="93216" y="166226"/>
                  <a:pt x="94226" y="165216"/>
                  <a:pt x="94928" y="164000"/>
                </a:cubicBezTo>
                <a:cubicBezTo>
                  <a:pt x="95630" y="162784"/>
                  <a:pt x="96000" y="161404"/>
                  <a:pt x="96000" y="160000"/>
                </a:cubicBezTo>
                <a:cubicBezTo>
                  <a:pt x="96000" y="158596"/>
                  <a:pt x="95630" y="157216"/>
                  <a:pt x="94928" y="156000"/>
                </a:cubicBezTo>
                <a:cubicBezTo>
                  <a:pt x="94226" y="154784"/>
                  <a:pt x="93216" y="153774"/>
                  <a:pt x="92000" y="153072"/>
                </a:cubicBezTo>
                <a:cubicBezTo>
                  <a:pt x="90784" y="152370"/>
                  <a:pt x="89404" y="152000"/>
                  <a:pt x="88000" y="152000"/>
                </a:cubicBezTo>
                <a:lnTo>
                  <a:pt x="40000" y="152000"/>
                </a:lnTo>
                <a:cubicBezTo>
                  <a:pt x="38596" y="152000"/>
                  <a:pt x="37216" y="152370"/>
                  <a:pt x="36000" y="153072"/>
                </a:cubicBezTo>
                <a:cubicBezTo>
                  <a:pt x="34784" y="153774"/>
                  <a:pt x="33774" y="154784"/>
                  <a:pt x="33072" y="156000"/>
                </a:cubicBezTo>
                <a:cubicBezTo>
                  <a:pt x="32370" y="157216"/>
                  <a:pt x="32000" y="158596"/>
                  <a:pt x="32000" y="160000"/>
                </a:cubicBezTo>
                <a:lnTo>
                  <a:pt x="32000" y="208000"/>
                </a:lnTo>
                <a:cubicBezTo>
                  <a:pt x="32000" y="209404"/>
                  <a:pt x="32370" y="210784"/>
                  <a:pt x="33072" y="212000"/>
                </a:cubicBezTo>
                <a:cubicBezTo>
                  <a:pt x="33774" y="213216"/>
                  <a:pt x="34784" y="214226"/>
                  <a:pt x="36000" y="214928"/>
                </a:cubicBezTo>
                <a:cubicBezTo>
                  <a:pt x="37216" y="215630"/>
                  <a:pt x="38596" y="216000"/>
                  <a:pt x="40000" y="216000"/>
                </a:cubicBezTo>
                <a:cubicBezTo>
                  <a:pt x="41404" y="216000"/>
                  <a:pt x="42784" y="215630"/>
                  <a:pt x="44000" y="214928"/>
                </a:cubicBezTo>
                <a:cubicBezTo>
                  <a:pt x="45216" y="214226"/>
                  <a:pt x="46226" y="213216"/>
                  <a:pt x="46928" y="212000"/>
                </a:cubicBezTo>
                <a:cubicBezTo>
                  <a:pt x="47630" y="210784"/>
                  <a:pt x="48000" y="209404"/>
                  <a:pt x="48000" y="208000"/>
                </a:cubicBezTo>
                <a:lnTo>
                  <a:pt x="48000" y="179310"/>
                </a:lnTo>
                <a:lnTo>
                  <a:pt x="62630" y="193940"/>
                </a:lnTo>
                <a:cubicBezTo>
                  <a:pt x="71464" y="202819"/>
                  <a:pt x="81961" y="209872"/>
                  <a:pt x="93520" y="214697"/>
                </a:cubicBezTo>
                <a:cubicBezTo>
                  <a:pt x="105079" y="219521"/>
                  <a:pt x="117475" y="222023"/>
                  <a:pt x="130000" y="222060"/>
                </a:cubicBezTo>
                <a:lnTo>
                  <a:pt x="130530" y="222060"/>
                </a:lnTo>
                <a:cubicBezTo>
                  <a:pt x="142950" y="222092"/>
                  <a:pt x="155258" y="219697"/>
                  <a:pt x="166761" y="215010"/>
                </a:cubicBezTo>
                <a:cubicBezTo>
                  <a:pt x="178263" y="210323"/>
                  <a:pt x="188739" y="203434"/>
                  <a:pt x="197600" y="194730"/>
                </a:cubicBezTo>
                <a:cubicBezTo>
                  <a:pt x="198567" y="193741"/>
                  <a:pt x="199261" y="192517"/>
                  <a:pt x="199614" y="191179"/>
                </a:cubicBezTo>
                <a:cubicBezTo>
                  <a:pt x="199967" y="189842"/>
                  <a:pt x="199967" y="188435"/>
                  <a:pt x="199614" y="187097"/>
                </a:cubicBezTo>
                <a:cubicBezTo>
                  <a:pt x="199262" y="185760"/>
                  <a:pt x="198568" y="184536"/>
                  <a:pt x="197601" y="183546"/>
                </a:cubicBezTo>
                <a:cubicBezTo>
                  <a:pt x="196634" y="182557"/>
                  <a:pt x="195426" y="181835"/>
                  <a:pt x="194097" y="181452"/>
                </a:cubicBezTo>
                <a:cubicBezTo>
                  <a:pt x="192768" y="181068"/>
                  <a:pt x="191361" y="181036"/>
                  <a:pt x="190016" y="181358"/>
                </a:cubicBezTo>
                <a:cubicBezTo>
                  <a:pt x="188670" y="181680"/>
                  <a:pt x="187431" y="182346"/>
                  <a:pt x="186420" y="18329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0" name="Google Shape;160;p15"/>
          <p:cNvSpPr/>
          <p:nvPr/>
        </p:nvSpPr>
        <p:spPr>
          <a:xfrm>
            <a:off x="1226024" y="5294728"/>
            <a:ext cx="274320" cy="27432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1" name="Google Shape;161;p15"/>
          <p:cNvSpPr txBox="1"/>
          <p:nvPr/>
        </p:nvSpPr>
        <p:spPr>
          <a:xfrm>
            <a:off x="1664935" y="5374319"/>
            <a:ext cx="4380761" cy="572336"/>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1" i="0" lang="es-MX" sz="950" u="none" cap="none" strike="noStrike">
                <a:solidFill>
                  <a:srgbClr val="0B2E6B"/>
                </a:solidFill>
                <a:latin typeface="Arial"/>
                <a:ea typeface="Arial"/>
                <a:cs typeface="Arial"/>
                <a:sym typeface="Arial"/>
              </a:rPr>
              <a:t>05. </a:t>
            </a:r>
            <a:r>
              <a:rPr b="1" i="0" lang="es-MX" sz="1100" u="none" cap="none" strike="noStrike">
                <a:solidFill>
                  <a:srgbClr val="0B2E6B"/>
                </a:solidFill>
                <a:latin typeface="Arial"/>
                <a:ea typeface="Arial"/>
                <a:cs typeface="Arial"/>
                <a:sym typeface="Arial"/>
              </a:rPr>
              <a:t>Ajustamos</a:t>
            </a:r>
            <a:r>
              <a:rPr b="1" i="0" lang="es-MX" sz="900" u="none" cap="none" strike="noStrike">
                <a:solidFill>
                  <a:srgbClr val="0B2E6B"/>
                </a:solidFill>
                <a:latin typeface="Arial"/>
                <a:ea typeface="Arial"/>
                <a:cs typeface="Arial"/>
                <a:sym typeface="Arial"/>
              </a:rPr>
              <a:t>   Recalibrar</a:t>
            </a:r>
            <a:endParaRPr/>
          </a:p>
          <a:p>
            <a:pPr indent="0" lvl="0" marL="0" marR="0" rtl="0" algn="l">
              <a:lnSpc>
                <a:spcPct val="118000"/>
              </a:lnSpc>
              <a:spcBef>
                <a:spcPts val="200"/>
              </a:spcBef>
              <a:spcAft>
                <a:spcPts val="0"/>
              </a:spcAft>
              <a:buNone/>
            </a:pPr>
            <a:r>
              <a:rPr b="0" i="0" lang="es-MX" sz="950" u="none" cap="none" strike="noStrike">
                <a:solidFill>
                  <a:srgbClr val="3A3A48"/>
                </a:solidFill>
                <a:latin typeface="Arial"/>
                <a:ea typeface="Arial"/>
                <a:cs typeface="Arial"/>
                <a:sym typeface="Arial"/>
              </a:rPr>
              <a:t>Modificamos el plan y el alcance para iniciar el siguiente ciclo con mejor rumbo.</a:t>
            </a:r>
            <a:endParaRPr/>
          </a:p>
          <a:p>
            <a:pPr indent="0" lvl="0" marL="0" marR="0" rtl="0" algn="l">
              <a:lnSpc>
                <a:spcPct val="118000"/>
              </a:lnSpc>
              <a:spcBef>
                <a:spcPts val="200"/>
              </a:spcBef>
              <a:spcAft>
                <a:spcPts val="0"/>
              </a:spcAft>
              <a:buNone/>
            </a:pPr>
            <a:r>
              <a:rPr b="0" i="1" lang="es-MX" sz="900" u="none" cap="none" strike="noStrike">
                <a:solidFill>
                  <a:srgbClr val="664092"/>
                </a:solidFill>
                <a:latin typeface="Arial"/>
                <a:ea typeface="Arial"/>
                <a:cs typeface="Arial"/>
                <a:sym typeface="Arial"/>
              </a:rPr>
              <a:t>Un nuevo ciclo, con más claridad.</a:t>
            </a:r>
            <a:endParaRPr/>
          </a:p>
        </p:txBody>
      </p:sp>
      <p:grpSp>
        <p:nvGrpSpPr>
          <p:cNvPr id="162" name="Google Shape;162;p15"/>
          <p:cNvGrpSpPr/>
          <p:nvPr/>
        </p:nvGrpSpPr>
        <p:grpSpPr>
          <a:xfrm>
            <a:off x="1696212" y="6436959"/>
            <a:ext cx="3465576" cy="365760"/>
            <a:chOff x="1500344" y="6379809"/>
            <a:chExt cx="3465576" cy="365760"/>
          </a:xfrm>
        </p:grpSpPr>
        <p:sp>
          <p:nvSpPr>
            <p:cNvPr id="163" name="Google Shape;163;p15"/>
            <p:cNvSpPr/>
            <p:nvPr/>
          </p:nvSpPr>
          <p:spPr>
            <a:xfrm>
              <a:off x="1500344" y="6379809"/>
              <a:ext cx="3465576" cy="365760"/>
            </a:xfrm>
            <a:prstGeom prst="roundRect">
              <a:avLst>
                <a:gd fmla="val 50000" name="adj"/>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64" name="Google Shape;164;p15"/>
            <p:cNvGrpSpPr/>
            <p:nvPr/>
          </p:nvGrpSpPr>
          <p:grpSpPr>
            <a:xfrm>
              <a:off x="1851752" y="6443817"/>
              <a:ext cx="2762760" cy="237744"/>
              <a:chOff x="2020824" y="6443817"/>
              <a:chExt cx="2762760" cy="237744"/>
            </a:xfrm>
          </p:grpSpPr>
          <p:sp>
            <p:nvSpPr>
              <p:cNvPr id="165" name="Google Shape;165;p15"/>
              <p:cNvSpPr/>
              <p:nvPr/>
            </p:nvSpPr>
            <p:spPr>
              <a:xfrm>
                <a:off x="2020824" y="6443817"/>
                <a:ext cx="237744" cy="237744"/>
              </a:xfrm>
              <a:custGeom>
                <a:rect b="b" l="l" r="r" t="t"/>
                <a:pathLst>
                  <a:path extrusionOk="0" h="256000" w="256000">
                    <a:moveTo>
                      <a:pt x="228000" y="48000"/>
                    </a:moveTo>
                    <a:lnTo>
                      <a:pt x="228000" y="96000"/>
                    </a:lnTo>
                    <a:cubicBezTo>
                      <a:pt x="228000" y="98106"/>
                      <a:pt x="227445" y="100176"/>
                      <a:pt x="226392" y="102000"/>
                    </a:cubicBezTo>
                    <a:cubicBezTo>
                      <a:pt x="225339" y="103824"/>
                      <a:pt x="223824" y="105339"/>
                      <a:pt x="222000" y="106392"/>
                    </a:cubicBezTo>
                    <a:cubicBezTo>
                      <a:pt x="220176" y="107445"/>
                      <a:pt x="218106" y="108000"/>
                      <a:pt x="216000" y="108000"/>
                    </a:cubicBezTo>
                    <a:lnTo>
                      <a:pt x="168000" y="108000"/>
                    </a:lnTo>
                    <a:cubicBezTo>
                      <a:pt x="165894" y="108000"/>
                      <a:pt x="163824" y="107445"/>
                      <a:pt x="162000" y="106392"/>
                    </a:cubicBezTo>
                    <a:cubicBezTo>
                      <a:pt x="160176" y="105339"/>
                      <a:pt x="158661" y="103824"/>
                      <a:pt x="157608" y="102000"/>
                    </a:cubicBezTo>
                    <a:cubicBezTo>
                      <a:pt x="156555" y="100176"/>
                      <a:pt x="156000" y="98106"/>
                      <a:pt x="156000" y="96000"/>
                    </a:cubicBezTo>
                    <a:cubicBezTo>
                      <a:pt x="156000" y="93894"/>
                      <a:pt x="156555" y="91824"/>
                      <a:pt x="157608" y="90000"/>
                    </a:cubicBezTo>
                    <a:cubicBezTo>
                      <a:pt x="158661" y="88176"/>
                      <a:pt x="160176" y="86661"/>
                      <a:pt x="162000" y="85608"/>
                    </a:cubicBezTo>
                    <a:cubicBezTo>
                      <a:pt x="163824" y="84555"/>
                      <a:pt x="165894" y="84000"/>
                      <a:pt x="168000" y="84000"/>
                    </a:cubicBezTo>
                    <a:lnTo>
                      <a:pt x="187000" y="84000"/>
                    </a:lnTo>
                    <a:lnTo>
                      <a:pt x="179200" y="76200"/>
                    </a:lnTo>
                    <a:cubicBezTo>
                      <a:pt x="172208" y="69173"/>
                      <a:pt x="163900" y="63590"/>
                      <a:pt x="154752" y="59771"/>
                    </a:cubicBezTo>
                    <a:cubicBezTo>
                      <a:pt x="145604" y="55952"/>
                      <a:pt x="135793" y="53971"/>
                      <a:pt x="125880" y="53940"/>
                    </a:cubicBezTo>
                    <a:lnTo>
                      <a:pt x="125450" y="53940"/>
                    </a:lnTo>
                    <a:cubicBezTo>
                      <a:pt x="115624" y="53918"/>
                      <a:pt x="105887" y="55816"/>
                      <a:pt x="96788" y="59525"/>
                    </a:cubicBezTo>
                    <a:cubicBezTo>
                      <a:pt x="87689" y="63234"/>
                      <a:pt x="79401" y="68685"/>
                      <a:pt x="72390" y="75570"/>
                    </a:cubicBezTo>
                    <a:cubicBezTo>
                      <a:pt x="71101" y="76830"/>
                      <a:pt x="69545" y="77784"/>
                      <a:pt x="67836" y="78361"/>
                    </a:cubicBezTo>
                    <a:cubicBezTo>
                      <a:pt x="66128" y="78937"/>
                      <a:pt x="64312" y="79121"/>
                      <a:pt x="62523" y="78899"/>
                    </a:cubicBezTo>
                    <a:cubicBezTo>
                      <a:pt x="60734" y="78677"/>
                      <a:pt x="59018" y="78055"/>
                      <a:pt x="57502" y="77079"/>
                    </a:cubicBezTo>
                    <a:cubicBezTo>
                      <a:pt x="55986" y="76103"/>
                      <a:pt x="54710" y="74797"/>
                      <a:pt x="53768" y="73260"/>
                    </a:cubicBezTo>
                    <a:cubicBezTo>
                      <a:pt x="52826" y="71723"/>
                      <a:pt x="52243" y="69994"/>
                      <a:pt x="52061" y="68200"/>
                    </a:cubicBezTo>
                    <a:cubicBezTo>
                      <a:pt x="51879" y="66406"/>
                      <a:pt x="52104" y="64595"/>
                      <a:pt x="52718" y="62900"/>
                    </a:cubicBezTo>
                    <a:cubicBezTo>
                      <a:pt x="53333" y="61205"/>
                      <a:pt x="54321" y="59670"/>
                      <a:pt x="55610" y="58410"/>
                    </a:cubicBezTo>
                    <a:cubicBezTo>
                      <a:pt x="64842" y="49345"/>
                      <a:pt x="75756" y="42169"/>
                      <a:pt x="87738" y="37287"/>
                    </a:cubicBezTo>
                    <a:cubicBezTo>
                      <a:pt x="99720" y="32404"/>
                      <a:pt x="112541" y="29909"/>
                      <a:pt x="125480" y="29940"/>
                    </a:cubicBezTo>
                    <a:lnTo>
                      <a:pt x="126000" y="29940"/>
                    </a:lnTo>
                    <a:cubicBezTo>
                      <a:pt x="139051" y="29976"/>
                      <a:pt x="151968" y="32581"/>
                      <a:pt x="164012" y="37606"/>
                    </a:cubicBezTo>
                    <a:cubicBezTo>
                      <a:pt x="176056" y="42631"/>
                      <a:pt x="186994" y="49979"/>
                      <a:pt x="196200" y="59230"/>
                    </a:cubicBezTo>
                    <a:lnTo>
                      <a:pt x="204000" y="67000"/>
                    </a:lnTo>
                    <a:lnTo>
                      <a:pt x="204000" y="48000"/>
                    </a:lnTo>
                    <a:cubicBezTo>
                      <a:pt x="204000" y="45894"/>
                      <a:pt x="204555" y="43824"/>
                      <a:pt x="205608" y="42000"/>
                    </a:cubicBezTo>
                    <a:cubicBezTo>
                      <a:pt x="206661" y="40176"/>
                      <a:pt x="208176" y="38661"/>
                      <a:pt x="210000" y="37608"/>
                    </a:cubicBezTo>
                    <a:cubicBezTo>
                      <a:pt x="211824" y="36555"/>
                      <a:pt x="213894" y="36000"/>
                      <a:pt x="216000" y="36000"/>
                    </a:cubicBezTo>
                    <a:cubicBezTo>
                      <a:pt x="218106" y="36000"/>
                      <a:pt x="220176" y="36555"/>
                      <a:pt x="222000" y="37608"/>
                    </a:cubicBezTo>
                    <a:cubicBezTo>
                      <a:pt x="223824" y="38661"/>
                      <a:pt x="225339" y="40176"/>
                      <a:pt x="226392" y="42000"/>
                    </a:cubicBezTo>
                    <a:cubicBezTo>
                      <a:pt x="227445" y="43824"/>
                      <a:pt x="228000" y="45894"/>
                      <a:pt x="228000" y="48000"/>
                    </a:cubicBezTo>
                    <a:close/>
                    <a:moveTo>
                      <a:pt x="183610" y="180430"/>
                    </a:moveTo>
                    <a:cubicBezTo>
                      <a:pt x="176596" y="187319"/>
                      <a:pt x="168303" y="192771"/>
                      <a:pt x="159198" y="196481"/>
                    </a:cubicBezTo>
                    <a:cubicBezTo>
                      <a:pt x="150093" y="200190"/>
                      <a:pt x="140351" y="202085"/>
                      <a:pt x="130520" y="202060"/>
                    </a:cubicBezTo>
                    <a:lnTo>
                      <a:pt x="130090" y="202060"/>
                    </a:lnTo>
                    <a:cubicBezTo>
                      <a:pt x="120177" y="202029"/>
                      <a:pt x="110366" y="200048"/>
                      <a:pt x="101218" y="196229"/>
                    </a:cubicBezTo>
                    <a:cubicBezTo>
                      <a:pt x="92070" y="192410"/>
                      <a:pt x="83762" y="186827"/>
                      <a:pt x="76770" y="179800"/>
                    </a:cubicBezTo>
                    <a:lnTo>
                      <a:pt x="69000" y="172000"/>
                    </a:lnTo>
                    <a:lnTo>
                      <a:pt x="88000" y="172000"/>
                    </a:lnTo>
                    <a:cubicBezTo>
                      <a:pt x="90106" y="172000"/>
                      <a:pt x="92176" y="171445"/>
                      <a:pt x="94000" y="170392"/>
                    </a:cubicBezTo>
                    <a:cubicBezTo>
                      <a:pt x="95824" y="169339"/>
                      <a:pt x="97339" y="167824"/>
                      <a:pt x="98392" y="166000"/>
                    </a:cubicBezTo>
                    <a:cubicBezTo>
                      <a:pt x="99445" y="164176"/>
                      <a:pt x="100000" y="162106"/>
                      <a:pt x="100000" y="160000"/>
                    </a:cubicBezTo>
                    <a:cubicBezTo>
                      <a:pt x="100000" y="157894"/>
                      <a:pt x="99445" y="155824"/>
                      <a:pt x="98392" y="154000"/>
                    </a:cubicBezTo>
                    <a:cubicBezTo>
                      <a:pt x="97339" y="152176"/>
                      <a:pt x="95824" y="150661"/>
                      <a:pt x="94000" y="149608"/>
                    </a:cubicBezTo>
                    <a:cubicBezTo>
                      <a:pt x="92176" y="148555"/>
                      <a:pt x="90106" y="148000"/>
                      <a:pt x="88000" y="148000"/>
                    </a:cubicBezTo>
                    <a:lnTo>
                      <a:pt x="40000" y="148000"/>
                    </a:lnTo>
                    <a:cubicBezTo>
                      <a:pt x="37894" y="148000"/>
                      <a:pt x="35824" y="148555"/>
                      <a:pt x="34000" y="149608"/>
                    </a:cubicBezTo>
                    <a:cubicBezTo>
                      <a:pt x="32176" y="150661"/>
                      <a:pt x="30661" y="152176"/>
                      <a:pt x="29608" y="154000"/>
                    </a:cubicBezTo>
                    <a:cubicBezTo>
                      <a:pt x="28555" y="155824"/>
                      <a:pt x="28000" y="157894"/>
                      <a:pt x="28000" y="160000"/>
                    </a:cubicBezTo>
                    <a:lnTo>
                      <a:pt x="28000" y="208000"/>
                    </a:lnTo>
                    <a:cubicBezTo>
                      <a:pt x="28000" y="210106"/>
                      <a:pt x="28555" y="212176"/>
                      <a:pt x="29608" y="214000"/>
                    </a:cubicBezTo>
                    <a:cubicBezTo>
                      <a:pt x="30661" y="215824"/>
                      <a:pt x="32176" y="217339"/>
                      <a:pt x="34000" y="218392"/>
                    </a:cubicBezTo>
                    <a:cubicBezTo>
                      <a:pt x="35824" y="219445"/>
                      <a:pt x="37894" y="220000"/>
                      <a:pt x="40000" y="220000"/>
                    </a:cubicBezTo>
                    <a:cubicBezTo>
                      <a:pt x="42106" y="220000"/>
                      <a:pt x="44176" y="219445"/>
                      <a:pt x="46000" y="218392"/>
                    </a:cubicBezTo>
                    <a:cubicBezTo>
                      <a:pt x="47824" y="217339"/>
                      <a:pt x="49339" y="215824"/>
                      <a:pt x="50392" y="214000"/>
                    </a:cubicBezTo>
                    <a:cubicBezTo>
                      <a:pt x="51445" y="212176"/>
                      <a:pt x="52000" y="210106"/>
                      <a:pt x="52000" y="208000"/>
                    </a:cubicBezTo>
                    <a:lnTo>
                      <a:pt x="52000" y="189000"/>
                    </a:lnTo>
                    <a:lnTo>
                      <a:pt x="59800" y="196800"/>
                    </a:lnTo>
                    <a:cubicBezTo>
                      <a:pt x="69008" y="206045"/>
                      <a:pt x="79947" y="213388"/>
                      <a:pt x="91992" y="218408"/>
                    </a:cubicBezTo>
                    <a:cubicBezTo>
                      <a:pt x="104036" y="223428"/>
                      <a:pt x="116951" y="226028"/>
                      <a:pt x="130000" y="226060"/>
                    </a:cubicBezTo>
                    <a:lnTo>
                      <a:pt x="130560" y="226060"/>
                    </a:lnTo>
                    <a:cubicBezTo>
                      <a:pt x="143499" y="226091"/>
                      <a:pt x="156320" y="223596"/>
                      <a:pt x="168302" y="218713"/>
                    </a:cubicBezTo>
                    <a:cubicBezTo>
                      <a:pt x="180284" y="213831"/>
                      <a:pt x="191198" y="206655"/>
                      <a:pt x="200430" y="197590"/>
                    </a:cubicBezTo>
                    <a:cubicBezTo>
                      <a:pt x="201936" y="196117"/>
                      <a:pt x="203028" y="194274"/>
                      <a:pt x="203596" y="192245"/>
                    </a:cubicBezTo>
                    <a:cubicBezTo>
                      <a:pt x="204164" y="190217"/>
                      <a:pt x="204188" y="188075"/>
                      <a:pt x="203665" y="186034"/>
                    </a:cubicBezTo>
                    <a:cubicBezTo>
                      <a:pt x="203143" y="183993"/>
                      <a:pt x="202093" y="182126"/>
                      <a:pt x="200620" y="180620"/>
                    </a:cubicBezTo>
                    <a:cubicBezTo>
                      <a:pt x="199147" y="179114"/>
                      <a:pt x="197304" y="178022"/>
                      <a:pt x="195275" y="177454"/>
                    </a:cubicBezTo>
                    <a:cubicBezTo>
                      <a:pt x="193247" y="176886"/>
                      <a:pt x="191105" y="176862"/>
                      <a:pt x="189064" y="177385"/>
                    </a:cubicBezTo>
                    <a:cubicBezTo>
                      <a:pt x="187023" y="177907"/>
                      <a:pt x="185156" y="178957"/>
                      <a:pt x="183650" y="180430"/>
                    </a:cubicBezTo>
                    <a:close/>
                  </a:path>
                </a:pathLst>
              </a:custGeom>
              <a:solidFill>
                <a:srgbClr val="66409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6" name="Google Shape;166;p15"/>
              <p:cNvSpPr txBox="1"/>
              <p:nvPr/>
            </p:nvSpPr>
            <p:spPr>
              <a:xfrm>
                <a:off x="2341628" y="6487379"/>
                <a:ext cx="2441956" cy="150619"/>
              </a:xfrm>
              <a:prstGeom prst="rect">
                <a:avLst/>
              </a:prstGeom>
              <a:noFill/>
              <a:ln>
                <a:noFill/>
              </a:ln>
            </p:spPr>
            <p:txBody>
              <a:bodyPr anchorCtr="0" anchor="ctr" bIns="0" lIns="0" spcFirstLastPara="1" rIns="0" wrap="square" tIns="0">
                <a:spAutoFit/>
              </a:bodyPr>
              <a:lstStyle/>
              <a:p>
                <a:pPr indent="0" lvl="0" marL="0" marR="0" rtl="0" algn="ctr">
                  <a:lnSpc>
                    <a:spcPct val="112000"/>
                  </a:lnSpc>
                  <a:spcBef>
                    <a:spcPts val="0"/>
                  </a:spcBef>
                  <a:spcAft>
                    <a:spcPts val="0"/>
                  </a:spcAft>
                  <a:buNone/>
                </a:pPr>
                <a:r>
                  <a:rPr b="1" i="0" lang="es-MX" sz="950" u="none" cap="none" strike="noStrike">
                    <a:solidFill>
                      <a:srgbClr val="664092"/>
                    </a:solidFill>
                    <a:latin typeface="Arial"/>
                    <a:ea typeface="Arial"/>
                    <a:cs typeface="Arial"/>
                    <a:sym typeface="Arial"/>
                  </a:rPr>
                  <a:t>El ciclo vuelve a comenzar en el paso 01</a:t>
                </a:r>
                <a:endParaRPr/>
              </a:p>
            </p:txBody>
          </p:sp>
        </p:grpSp>
      </p:grpSp>
      <p:sp>
        <p:nvSpPr>
          <p:cNvPr id="167" name="Google Shape;167;p15"/>
          <p:cNvSpPr/>
          <p:nvPr/>
        </p:nvSpPr>
        <p:spPr>
          <a:xfrm>
            <a:off x="805400" y="7349867"/>
            <a:ext cx="502920" cy="50292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8" name="Google Shape;168;p15"/>
          <p:cNvSpPr/>
          <p:nvPr/>
        </p:nvSpPr>
        <p:spPr>
          <a:xfrm>
            <a:off x="916042" y="7460509"/>
            <a:ext cx="281635" cy="281635"/>
          </a:xfrm>
          <a:custGeom>
            <a:rect b="b" l="l" r="r" t="t"/>
            <a:pathLst>
              <a:path extrusionOk="0" h="256000" w="256000">
                <a:moveTo>
                  <a:pt x="164000" y="80000"/>
                </a:moveTo>
                <a:cubicBezTo>
                  <a:pt x="168915" y="80000"/>
                  <a:pt x="173744" y="78706"/>
                  <a:pt x="178000" y="76249"/>
                </a:cubicBezTo>
                <a:cubicBezTo>
                  <a:pt x="182256" y="73791"/>
                  <a:pt x="185791" y="70256"/>
                  <a:pt x="188249" y="66000"/>
                </a:cubicBezTo>
                <a:cubicBezTo>
                  <a:pt x="190706" y="61744"/>
                  <a:pt x="192000" y="56915"/>
                  <a:pt x="192000" y="52000"/>
                </a:cubicBezTo>
                <a:cubicBezTo>
                  <a:pt x="192000" y="47085"/>
                  <a:pt x="190706" y="42256"/>
                  <a:pt x="188249" y="38000"/>
                </a:cubicBezTo>
                <a:cubicBezTo>
                  <a:pt x="185791" y="33744"/>
                  <a:pt x="182256" y="30209"/>
                  <a:pt x="178000" y="27751"/>
                </a:cubicBezTo>
                <a:cubicBezTo>
                  <a:pt x="173744" y="25294"/>
                  <a:pt x="168915" y="24000"/>
                  <a:pt x="164000" y="24000"/>
                </a:cubicBezTo>
                <a:cubicBezTo>
                  <a:pt x="159085" y="24000"/>
                  <a:pt x="154256" y="25294"/>
                  <a:pt x="150000" y="27751"/>
                </a:cubicBezTo>
                <a:cubicBezTo>
                  <a:pt x="145744" y="30209"/>
                  <a:pt x="142209" y="33744"/>
                  <a:pt x="139751" y="38000"/>
                </a:cubicBezTo>
                <a:cubicBezTo>
                  <a:pt x="137294" y="42256"/>
                  <a:pt x="136000" y="47085"/>
                  <a:pt x="136000" y="52000"/>
                </a:cubicBezTo>
                <a:cubicBezTo>
                  <a:pt x="136000" y="56915"/>
                  <a:pt x="137294" y="61744"/>
                  <a:pt x="139751" y="66000"/>
                </a:cubicBezTo>
                <a:cubicBezTo>
                  <a:pt x="142209" y="70256"/>
                  <a:pt x="145744" y="73791"/>
                  <a:pt x="150000" y="76249"/>
                </a:cubicBezTo>
                <a:cubicBezTo>
                  <a:pt x="154256" y="78706"/>
                  <a:pt x="159085" y="80000"/>
                  <a:pt x="164000" y="80000"/>
                </a:cubicBezTo>
                <a:close/>
                <a:moveTo>
                  <a:pt x="164000" y="40000"/>
                </a:moveTo>
                <a:cubicBezTo>
                  <a:pt x="166106" y="40000"/>
                  <a:pt x="168176" y="40555"/>
                  <a:pt x="170000" y="41608"/>
                </a:cubicBezTo>
                <a:cubicBezTo>
                  <a:pt x="171824" y="42661"/>
                  <a:pt x="173339" y="44176"/>
                  <a:pt x="174392" y="46000"/>
                </a:cubicBezTo>
                <a:cubicBezTo>
                  <a:pt x="175445" y="47824"/>
                  <a:pt x="176000" y="49894"/>
                  <a:pt x="176000" y="52000"/>
                </a:cubicBezTo>
                <a:cubicBezTo>
                  <a:pt x="176000" y="54106"/>
                  <a:pt x="175445" y="56176"/>
                  <a:pt x="174392" y="58000"/>
                </a:cubicBezTo>
                <a:cubicBezTo>
                  <a:pt x="173339" y="59824"/>
                  <a:pt x="171824" y="61339"/>
                  <a:pt x="170000" y="62392"/>
                </a:cubicBezTo>
                <a:cubicBezTo>
                  <a:pt x="168176" y="63445"/>
                  <a:pt x="166106" y="64000"/>
                  <a:pt x="164000" y="64000"/>
                </a:cubicBezTo>
                <a:cubicBezTo>
                  <a:pt x="161894" y="64000"/>
                  <a:pt x="159824" y="63445"/>
                  <a:pt x="158000" y="62392"/>
                </a:cubicBezTo>
                <a:cubicBezTo>
                  <a:pt x="156176" y="61339"/>
                  <a:pt x="154661" y="59824"/>
                  <a:pt x="153608" y="58000"/>
                </a:cubicBezTo>
                <a:cubicBezTo>
                  <a:pt x="152555" y="56176"/>
                  <a:pt x="152000" y="54106"/>
                  <a:pt x="152000" y="52000"/>
                </a:cubicBezTo>
                <a:cubicBezTo>
                  <a:pt x="152000" y="49894"/>
                  <a:pt x="152555" y="47824"/>
                  <a:pt x="153608" y="46000"/>
                </a:cubicBezTo>
                <a:cubicBezTo>
                  <a:pt x="154661" y="44176"/>
                  <a:pt x="156176" y="42661"/>
                  <a:pt x="158000" y="41608"/>
                </a:cubicBezTo>
                <a:cubicBezTo>
                  <a:pt x="159824" y="40555"/>
                  <a:pt x="161894" y="40000"/>
                  <a:pt x="164000" y="40000"/>
                </a:cubicBezTo>
                <a:close/>
                <a:moveTo>
                  <a:pt x="254880" y="195920"/>
                </a:moveTo>
                <a:lnTo>
                  <a:pt x="200320" y="103840"/>
                </a:lnTo>
                <a:cubicBezTo>
                  <a:pt x="198913" y="101441"/>
                  <a:pt x="196900" y="99454"/>
                  <a:pt x="194483" y="98078"/>
                </a:cubicBezTo>
                <a:cubicBezTo>
                  <a:pt x="192067" y="96703"/>
                  <a:pt x="189331" y="95986"/>
                  <a:pt x="186550" y="96000"/>
                </a:cubicBezTo>
                <a:lnTo>
                  <a:pt x="186550" y="96000"/>
                </a:lnTo>
                <a:cubicBezTo>
                  <a:pt x="183771" y="95985"/>
                  <a:pt x="181036" y="96702"/>
                  <a:pt x="178621" y="98078"/>
                </a:cubicBezTo>
                <a:cubicBezTo>
                  <a:pt x="176206" y="99454"/>
                  <a:pt x="174195" y="101442"/>
                  <a:pt x="172790" y="103840"/>
                </a:cubicBezTo>
                <a:lnTo>
                  <a:pt x="146630" y="148000"/>
                </a:lnTo>
                <a:lnTo>
                  <a:pt x="101790" y="71900"/>
                </a:lnTo>
                <a:cubicBezTo>
                  <a:pt x="100377" y="69499"/>
                  <a:pt x="98361" y="67508"/>
                  <a:pt x="95943" y="66125"/>
                </a:cubicBezTo>
                <a:cubicBezTo>
                  <a:pt x="93524" y="64742"/>
                  <a:pt x="90786" y="64014"/>
                  <a:pt x="88000" y="64014"/>
                </a:cubicBezTo>
                <a:cubicBezTo>
                  <a:pt x="85214" y="64014"/>
                  <a:pt x="82476" y="64742"/>
                  <a:pt x="80057" y="66125"/>
                </a:cubicBezTo>
                <a:cubicBezTo>
                  <a:pt x="77639" y="67508"/>
                  <a:pt x="75623" y="69499"/>
                  <a:pt x="74210" y="71900"/>
                </a:cubicBezTo>
                <a:lnTo>
                  <a:pt x="1110" y="195940"/>
                </a:lnTo>
                <a:cubicBezTo>
                  <a:pt x="539" y="196910"/>
                  <a:pt x="179" y="197989"/>
                  <a:pt x="53" y="199108"/>
                </a:cubicBezTo>
                <a:cubicBezTo>
                  <a:pt x="-72" y="200226"/>
                  <a:pt x="40" y="201359"/>
                  <a:pt x="382" y="202431"/>
                </a:cubicBezTo>
                <a:cubicBezTo>
                  <a:pt x="724" y="203504"/>
                  <a:pt x="1288" y="204492"/>
                  <a:pt x="2038" y="205331"/>
                </a:cubicBezTo>
                <a:cubicBezTo>
                  <a:pt x="2788" y="206170"/>
                  <a:pt x="3707" y="206842"/>
                  <a:pt x="4734" y="207302"/>
                </a:cubicBezTo>
                <a:cubicBezTo>
                  <a:pt x="5762" y="207762"/>
                  <a:pt x="6874" y="208000"/>
                  <a:pt x="8000" y="208000"/>
                </a:cubicBezTo>
                <a:lnTo>
                  <a:pt x="248000" y="208000"/>
                </a:lnTo>
                <a:cubicBezTo>
                  <a:pt x="249127" y="208000"/>
                  <a:pt x="250242" y="207761"/>
                  <a:pt x="251270" y="207300"/>
                </a:cubicBezTo>
                <a:cubicBezTo>
                  <a:pt x="252299" y="206839"/>
                  <a:pt x="253219" y="206166"/>
                  <a:pt x="253969" y="205325"/>
                </a:cubicBezTo>
                <a:cubicBezTo>
                  <a:pt x="254719" y="204484"/>
                  <a:pt x="255283" y="203493"/>
                  <a:pt x="255624" y="202419"/>
                </a:cubicBezTo>
                <a:cubicBezTo>
                  <a:pt x="255965" y="201344"/>
                  <a:pt x="256075" y="200210"/>
                  <a:pt x="255947" y="199090"/>
                </a:cubicBezTo>
                <a:cubicBezTo>
                  <a:pt x="255818" y="197970"/>
                  <a:pt x="255455" y="196890"/>
                  <a:pt x="254880" y="195920"/>
                </a:cubicBezTo>
                <a:close/>
                <a:moveTo>
                  <a:pt x="88000" y="80000"/>
                </a:moveTo>
                <a:lnTo>
                  <a:pt x="111570" y="120000"/>
                </a:lnTo>
                <a:lnTo>
                  <a:pt x="64430" y="120000"/>
                </a:lnTo>
                <a:close/>
                <a:moveTo>
                  <a:pt x="22000" y="192000"/>
                </a:moveTo>
                <a:lnTo>
                  <a:pt x="55000" y="136000"/>
                </a:lnTo>
                <a:lnTo>
                  <a:pt x="121000" y="136000"/>
                </a:lnTo>
                <a:lnTo>
                  <a:pt x="139740" y="167800"/>
                </a:lnTo>
                <a:lnTo>
                  <a:pt x="139740" y="167800"/>
                </a:lnTo>
                <a:lnTo>
                  <a:pt x="154000" y="192000"/>
                </a:lnTo>
                <a:close/>
                <a:moveTo>
                  <a:pt x="172570" y="192000"/>
                </a:moveTo>
                <a:lnTo>
                  <a:pt x="155910" y="163720"/>
                </a:lnTo>
                <a:lnTo>
                  <a:pt x="186550" y="112000"/>
                </a:lnTo>
                <a:lnTo>
                  <a:pt x="234000" y="192000"/>
                </a:lnTo>
                <a:close/>
              </a:path>
            </a:pathLst>
          </a:custGeom>
          <a:solidFill>
            <a:srgbClr val="0B2E6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9" name="Google Shape;169;p15"/>
          <p:cNvSpPr txBox="1"/>
          <p:nvPr/>
        </p:nvSpPr>
        <p:spPr>
          <a:xfrm>
            <a:off x="1445479" y="7308265"/>
            <a:ext cx="4572061" cy="586122"/>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1" i="0" lang="es-MX" sz="1050" u="none" cap="none" strike="noStrike">
                <a:solidFill>
                  <a:srgbClr val="024791"/>
                </a:solidFill>
                <a:latin typeface="Arial"/>
                <a:ea typeface="Arial"/>
                <a:cs typeface="Arial"/>
                <a:sym typeface="Arial"/>
              </a:rPr>
              <a:t>Adaptación basada en evidencia. </a:t>
            </a:r>
            <a:r>
              <a:rPr b="0" i="0" lang="es-MX" sz="1050" u="none" cap="none" strike="noStrike">
                <a:solidFill>
                  <a:srgbClr val="332F37"/>
                </a:solidFill>
                <a:latin typeface="Arial"/>
                <a:ea typeface="Arial"/>
                <a:cs typeface="Arial"/>
                <a:sym typeface="Arial"/>
              </a:rPr>
              <a:t>Trabajar en periodos cortos crea oportunidades para aprender; la agilidad aparece cuando ese aprendizaje se convierte en decisiones.</a:t>
            </a:r>
            <a:endParaRPr/>
          </a:p>
        </p:txBody>
      </p:sp>
      <p:sp>
        <p:nvSpPr>
          <p:cNvPr id="170" name="Google Shape;170;p15"/>
          <p:cNvSpPr txBox="1"/>
          <p:nvPr/>
        </p:nvSpPr>
        <p:spPr>
          <a:xfrm>
            <a:off x="640808" y="8248836"/>
            <a:ext cx="5330952" cy="201168"/>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1" lang="es-MX" sz="950" u="none" cap="none" strike="noStrike">
                <a:solidFill>
                  <a:srgbClr val="7B7480"/>
                </a:solidFill>
                <a:latin typeface="Arial"/>
                <a:ea typeface="Arial"/>
                <a:cs typeface="Arial"/>
                <a:sym typeface="Arial"/>
              </a:rPr>
              <a:t>Fuente: elaboración propia.</a:t>
            </a:r>
            <a:endParaRPr/>
          </a:p>
        </p:txBody>
      </p:sp>
      <p:sp>
        <p:nvSpPr>
          <p:cNvPr id="171" name="Google Shape;171;p15"/>
          <p:cNvSpPr/>
          <p:nvPr/>
        </p:nvSpPr>
        <p:spPr>
          <a:xfrm>
            <a:off x="640808" y="1214628"/>
            <a:ext cx="64008" cy="586130"/>
          </a:xfrm>
          <a:prstGeom prst="rect">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2" name="Google Shape;172;p15"/>
          <p:cNvSpPr/>
          <p:nvPr/>
        </p:nvSpPr>
        <p:spPr>
          <a:xfrm>
            <a:off x="841976" y="1224229"/>
            <a:ext cx="566928" cy="566928"/>
          </a:xfrm>
          <a:prstGeom prst="ellipse">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3" name="Google Shape;173;p15"/>
          <p:cNvSpPr/>
          <p:nvPr/>
        </p:nvSpPr>
        <p:spPr>
          <a:xfrm>
            <a:off x="966700" y="1348953"/>
            <a:ext cx="317480" cy="317480"/>
          </a:xfrm>
          <a:custGeom>
            <a:rect b="b" l="l" r="r" t="t"/>
            <a:pathLst>
              <a:path extrusionOk="0" h="256000" w="256000">
                <a:moveTo>
                  <a:pt x="128000" y="80000"/>
                </a:moveTo>
                <a:cubicBezTo>
                  <a:pt x="119575" y="80000"/>
                  <a:pt x="111296" y="82218"/>
                  <a:pt x="104000" y="86431"/>
                </a:cubicBezTo>
                <a:cubicBezTo>
                  <a:pt x="96704" y="90643"/>
                  <a:pt x="90643" y="96704"/>
                  <a:pt x="86431" y="104000"/>
                </a:cubicBezTo>
                <a:cubicBezTo>
                  <a:pt x="82218" y="111296"/>
                  <a:pt x="80000" y="119575"/>
                  <a:pt x="80000" y="128000"/>
                </a:cubicBezTo>
                <a:cubicBezTo>
                  <a:pt x="80000" y="136425"/>
                  <a:pt x="82218" y="144704"/>
                  <a:pt x="86431" y="152000"/>
                </a:cubicBezTo>
                <a:cubicBezTo>
                  <a:pt x="90643" y="159296"/>
                  <a:pt x="96704" y="165357"/>
                  <a:pt x="104000" y="169569"/>
                </a:cubicBezTo>
                <a:cubicBezTo>
                  <a:pt x="111296" y="173782"/>
                  <a:pt x="119575" y="176000"/>
                  <a:pt x="128000" y="176000"/>
                </a:cubicBezTo>
                <a:cubicBezTo>
                  <a:pt x="136425" y="176000"/>
                  <a:pt x="144704" y="173782"/>
                  <a:pt x="152000" y="169569"/>
                </a:cubicBezTo>
                <a:cubicBezTo>
                  <a:pt x="159296" y="165357"/>
                  <a:pt x="165357" y="159296"/>
                  <a:pt x="169569" y="152000"/>
                </a:cubicBezTo>
                <a:cubicBezTo>
                  <a:pt x="173782" y="144704"/>
                  <a:pt x="176000" y="136425"/>
                  <a:pt x="176000" y="128000"/>
                </a:cubicBezTo>
                <a:cubicBezTo>
                  <a:pt x="175991" y="119577"/>
                  <a:pt x="173768" y="111303"/>
                  <a:pt x="169554" y="104011"/>
                </a:cubicBezTo>
                <a:cubicBezTo>
                  <a:pt x="165340" y="96718"/>
                  <a:pt x="159282" y="90660"/>
                  <a:pt x="151989" y="86446"/>
                </a:cubicBezTo>
                <a:cubicBezTo>
                  <a:pt x="144697" y="82232"/>
                  <a:pt x="136423" y="80009"/>
                  <a:pt x="128000" y="80000"/>
                </a:cubicBezTo>
                <a:close/>
                <a:moveTo>
                  <a:pt x="128000" y="160000"/>
                </a:moveTo>
                <a:cubicBezTo>
                  <a:pt x="122383" y="160000"/>
                  <a:pt x="116864" y="158521"/>
                  <a:pt x="112000" y="155713"/>
                </a:cubicBezTo>
                <a:cubicBezTo>
                  <a:pt x="107136" y="152904"/>
                  <a:pt x="103096" y="148864"/>
                  <a:pt x="100287" y="144000"/>
                </a:cubicBezTo>
                <a:cubicBezTo>
                  <a:pt x="97479" y="139136"/>
                  <a:pt x="96000" y="133617"/>
                  <a:pt x="96000" y="128000"/>
                </a:cubicBezTo>
                <a:cubicBezTo>
                  <a:pt x="96000" y="122383"/>
                  <a:pt x="97479" y="116864"/>
                  <a:pt x="100287" y="112000"/>
                </a:cubicBezTo>
                <a:cubicBezTo>
                  <a:pt x="103096" y="107136"/>
                  <a:pt x="107136" y="103096"/>
                  <a:pt x="112000" y="100287"/>
                </a:cubicBezTo>
                <a:cubicBezTo>
                  <a:pt x="116864" y="97479"/>
                  <a:pt x="122383" y="96000"/>
                  <a:pt x="128000" y="96000"/>
                </a:cubicBezTo>
                <a:cubicBezTo>
                  <a:pt x="133617" y="96000"/>
                  <a:pt x="139136" y="97479"/>
                  <a:pt x="144000" y="100287"/>
                </a:cubicBezTo>
                <a:cubicBezTo>
                  <a:pt x="148864" y="103096"/>
                  <a:pt x="152904" y="107136"/>
                  <a:pt x="155713" y="112000"/>
                </a:cubicBezTo>
                <a:cubicBezTo>
                  <a:pt x="158521" y="116864"/>
                  <a:pt x="160000" y="122383"/>
                  <a:pt x="160000" y="128000"/>
                </a:cubicBezTo>
                <a:cubicBezTo>
                  <a:pt x="160000" y="133617"/>
                  <a:pt x="158521" y="139136"/>
                  <a:pt x="155713" y="144000"/>
                </a:cubicBezTo>
                <a:cubicBezTo>
                  <a:pt x="152904" y="148864"/>
                  <a:pt x="148864" y="152904"/>
                  <a:pt x="144000" y="155713"/>
                </a:cubicBezTo>
                <a:cubicBezTo>
                  <a:pt x="139136" y="158521"/>
                  <a:pt x="133617" y="160000"/>
                  <a:pt x="128000" y="160000"/>
                </a:cubicBezTo>
                <a:close/>
                <a:moveTo>
                  <a:pt x="216000" y="130160"/>
                </a:moveTo>
                <a:quadBezTo>
                  <a:pt x="216060" y="128000"/>
                  <a:pt x="216000" y="125840"/>
                </a:quadBezTo>
                <a:lnTo>
                  <a:pt x="230920" y="107200"/>
                </a:lnTo>
                <a:cubicBezTo>
                  <a:pt x="231702" y="106221"/>
                  <a:pt x="232244" y="105072"/>
                  <a:pt x="232501" y="103846"/>
                </a:cubicBezTo>
                <a:cubicBezTo>
                  <a:pt x="232758" y="102620"/>
                  <a:pt x="232723" y="101350"/>
                  <a:pt x="232400" y="100140"/>
                </a:cubicBezTo>
                <a:cubicBezTo>
                  <a:pt x="229954" y="90946"/>
                  <a:pt x="226295" y="82118"/>
                  <a:pt x="221520" y="73890"/>
                </a:cubicBezTo>
                <a:cubicBezTo>
                  <a:pt x="220895" y="72813"/>
                  <a:pt x="220027" y="71897"/>
                  <a:pt x="218985" y="71215"/>
                </a:cubicBezTo>
                <a:cubicBezTo>
                  <a:pt x="217944" y="70533"/>
                  <a:pt x="216757" y="70103"/>
                  <a:pt x="215520" y="69960"/>
                </a:cubicBezTo>
                <a:lnTo>
                  <a:pt x="191800" y="67320"/>
                </a:lnTo>
                <a:quadBezTo>
                  <a:pt x="190320" y="65760"/>
                  <a:pt x="188800" y="64320"/>
                </a:quadBezTo>
                <a:lnTo>
                  <a:pt x="186000" y="40540"/>
                </a:lnTo>
                <a:cubicBezTo>
                  <a:pt x="185856" y="39302"/>
                  <a:pt x="185425" y="38115"/>
                  <a:pt x="184741" y="37073"/>
                </a:cubicBezTo>
                <a:cubicBezTo>
                  <a:pt x="184057" y="36032"/>
                  <a:pt x="183139" y="35164"/>
                  <a:pt x="182060" y="34540"/>
                </a:cubicBezTo>
                <a:cubicBezTo>
                  <a:pt x="173828" y="29773"/>
                  <a:pt x="165002" y="26118"/>
                  <a:pt x="155810" y="23670"/>
                </a:cubicBezTo>
                <a:cubicBezTo>
                  <a:pt x="154599" y="23348"/>
                  <a:pt x="153329" y="23315"/>
                  <a:pt x="152102" y="23574"/>
                </a:cubicBezTo>
                <a:cubicBezTo>
                  <a:pt x="150876" y="23833"/>
                  <a:pt x="149728" y="24376"/>
                  <a:pt x="148750" y="25160"/>
                </a:cubicBezTo>
                <a:lnTo>
                  <a:pt x="130160" y="40000"/>
                </a:lnTo>
                <a:quadBezTo>
                  <a:pt x="128000" y="40000"/>
                  <a:pt x="125840" y="40000"/>
                </a:quadBezTo>
                <a:lnTo>
                  <a:pt x="107200" y="25110"/>
                </a:lnTo>
                <a:cubicBezTo>
                  <a:pt x="106221" y="24328"/>
                  <a:pt x="105072" y="23786"/>
                  <a:pt x="103846" y="23529"/>
                </a:cubicBezTo>
                <a:cubicBezTo>
                  <a:pt x="102620" y="23272"/>
                  <a:pt x="101350" y="23307"/>
                  <a:pt x="100140" y="23630"/>
                </a:cubicBezTo>
                <a:cubicBezTo>
                  <a:pt x="90948" y="26080"/>
                  <a:pt x="82121" y="29739"/>
                  <a:pt x="73890" y="34510"/>
                </a:cubicBezTo>
                <a:cubicBezTo>
                  <a:pt x="72813" y="35135"/>
                  <a:pt x="71897" y="36003"/>
                  <a:pt x="71215" y="37045"/>
                </a:cubicBezTo>
                <a:cubicBezTo>
                  <a:pt x="70533" y="38086"/>
                  <a:pt x="70103" y="39273"/>
                  <a:pt x="69960" y="40510"/>
                </a:cubicBezTo>
                <a:lnTo>
                  <a:pt x="67320" y="64270"/>
                </a:lnTo>
                <a:quadBezTo>
                  <a:pt x="65760" y="65760"/>
                  <a:pt x="64320" y="67270"/>
                </a:quadBezTo>
                <a:lnTo>
                  <a:pt x="40540" y="70000"/>
                </a:lnTo>
                <a:cubicBezTo>
                  <a:pt x="39302" y="70144"/>
                  <a:pt x="38115" y="70575"/>
                  <a:pt x="37073" y="71259"/>
                </a:cubicBezTo>
                <a:cubicBezTo>
                  <a:pt x="36032" y="71943"/>
                  <a:pt x="35164" y="72861"/>
                  <a:pt x="34540" y="73940"/>
                </a:cubicBezTo>
                <a:cubicBezTo>
                  <a:pt x="29773" y="82172"/>
                  <a:pt x="26118" y="90998"/>
                  <a:pt x="23670" y="100190"/>
                </a:cubicBezTo>
                <a:cubicBezTo>
                  <a:pt x="23348" y="101401"/>
                  <a:pt x="23315" y="102671"/>
                  <a:pt x="23574" y="103898"/>
                </a:cubicBezTo>
                <a:cubicBezTo>
                  <a:pt x="23833" y="105124"/>
                  <a:pt x="24376" y="106272"/>
                  <a:pt x="25160" y="107250"/>
                </a:cubicBezTo>
                <a:lnTo>
                  <a:pt x="40000" y="125840"/>
                </a:lnTo>
                <a:quadBezTo>
                  <a:pt x="40000" y="128000"/>
                  <a:pt x="40000" y="130160"/>
                </a:quadBezTo>
                <a:lnTo>
                  <a:pt x="25110" y="148800"/>
                </a:lnTo>
                <a:cubicBezTo>
                  <a:pt x="24328" y="149779"/>
                  <a:pt x="23786" y="150928"/>
                  <a:pt x="23529" y="152154"/>
                </a:cubicBezTo>
                <a:cubicBezTo>
                  <a:pt x="23272" y="153380"/>
                  <a:pt x="23307" y="154650"/>
                  <a:pt x="23630" y="155860"/>
                </a:cubicBezTo>
                <a:cubicBezTo>
                  <a:pt x="26076" y="165054"/>
                  <a:pt x="29735" y="173882"/>
                  <a:pt x="34510" y="182110"/>
                </a:cubicBezTo>
                <a:cubicBezTo>
                  <a:pt x="35135" y="183187"/>
                  <a:pt x="36003" y="184103"/>
                  <a:pt x="37045" y="184785"/>
                </a:cubicBezTo>
                <a:cubicBezTo>
                  <a:pt x="38086" y="185467"/>
                  <a:pt x="39273" y="185897"/>
                  <a:pt x="40510" y="186040"/>
                </a:cubicBezTo>
                <a:lnTo>
                  <a:pt x="64230" y="188680"/>
                </a:lnTo>
                <a:quadBezTo>
                  <a:pt x="65720" y="190240"/>
                  <a:pt x="67230" y="191680"/>
                </a:quadBezTo>
                <a:lnTo>
                  <a:pt x="70000" y="215460"/>
                </a:lnTo>
                <a:cubicBezTo>
                  <a:pt x="70144" y="216698"/>
                  <a:pt x="70575" y="217885"/>
                  <a:pt x="71259" y="218927"/>
                </a:cubicBezTo>
                <a:cubicBezTo>
                  <a:pt x="71943" y="219968"/>
                  <a:pt x="72861" y="220836"/>
                  <a:pt x="73940" y="221460"/>
                </a:cubicBezTo>
                <a:cubicBezTo>
                  <a:pt x="82172" y="226227"/>
                  <a:pt x="90998" y="229882"/>
                  <a:pt x="100190" y="232330"/>
                </a:cubicBezTo>
                <a:cubicBezTo>
                  <a:pt x="101401" y="232652"/>
                  <a:pt x="102671" y="232685"/>
                  <a:pt x="103898" y="232426"/>
                </a:cubicBezTo>
                <a:cubicBezTo>
                  <a:pt x="105124" y="232167"/>
                  <a:pt x="106272" y="231624"/>
                  <a:pt x="107250" y="230840"/>
                </a:cubicBezTo>
                <a:lnTo>
                  <a:pt x="125840" y="216000"/>
                </a:lnTo>
                <a:quadBezTo>
                  <a:pt x="128000" y="216060"/>
                  <a:pt x="130160" y="216000"/>
                </a:quadBezTo>
                <a:lnTo>
                  <a:pt x="148800" y="230920"/>
                </a:lnTo>
                <a:cubicBezTo>
                  <a:pt x="149779" y="231702"/>
                  <a:pt x="150928" y="232244"/>
                  <a:pt x="152154" y="232501"/>
                </a:cubicBezTo>
                <a:cubicBezTo>
                  <a:pt x="153380" y="232758"/>
                  <a:pt x="154650" y="232723"/>
                  <a:pt x="155860" y="232400"/>
                </a:cubicBezTo>
                <a:cubicBezTo>
                  <a:pt x="165054" y="229954"/>
                  <a:pt x="173882" y="226295"/>
                  <a:pt x="182110" y="221520"/>
                </a:cubicBezTo>
                <a:cubicBezTo>
                  <a:pt x="183187" y="220895"/>
                  <a:pt x="184103" y="220027"/>
                  <a:pt x="184785" y="218985"/>
                </a:cubicBezTo>
                <a:cubicBezTo>
                  <a:pt x="185467" y="217944"/>
                  <a:pt x="185897" y="216757"/>
                  <a:pt x="186040" y="215520"/>
                </a:cubicBezTo>
                <a:lnTo>
                  <a:pt x="188680" y="191800"/>
                </a:lnTo>
                <a:quadBezTo>
                  <a:pt x="190240" y="190320"/>
                  <a:pt x="191680" y="188800"/>
                </a:quadBezTo>
                <a:lnTo>
                  <a:pt x="215460" y="186000"/>
                </a:lnTo>
                <a:cubicBezTo>
                  <a:pt x="216698" y="185856"/>
                  <a:pt x="217885" y="185425"/>
                  <a:pt x="218927" y="184741"/>
                </a:cubicBezTo>
                <a:cubicBezTo>
                  <a:pt x="219968" y="184057"/>
                  <a:pt x="220836" y="183139"/>
                  <a:pt x="221460" y="182060"/>
                </a:cubicBezTo>
                <a:cubicBezTo>
                  <a:pt x="226227" y="173828"/>
                  <a:pt x="229882" y="165002"/>
                  <a:pt x="232330" y="155810"/>
                </a:cubicBezTo>
                <a:cubicBezTo>
                  <a:pt x="232652" y="154599"/>
                  <a:pt x="232685" y="153329"/>
                  <a:pt x="232426" y="152102"/>
                </a:cubicBezTo>
                <a:cubicBezTo>
                  <a:pt x="232167" y="150876"/>
                  <a:pt x="231624" y="149728"/>
                  <a:pt x="230840" y="148750"/>
                </a:cubicBezTo>
                <a:close/>
                <a:moveTo>
                  <a:pt x="199900" y="123660"/>
                </a:moveTo>
                <a:cubicBezTo>
                  <a:pt x="200070" y="126551"/>
                  <a:pt x="200070" y="129449"/>
                  <a:pt x="199900" y="132340"/>
                </a:cubicBezTo>
                <a:cubicBezTo>
                  <a:pt x="199841" y="133321"/>
                  <a:pt x="199963" y="134305"/>
                  <a:pt x="200261" y="135242"/>
                </a:cubicBezTo>
                <a:cubicBezTo>
                  <a:pt x="200558" y="136179"/>
                  <a:pt x="201026" y="137053"/>
                  <a:pt x="201640" y="137820"/>
                </a:cubicBezTo>
                <a:lnTo>
                  <a:pt x="215830" y="155550"/>
                </a:lnTo>
                <a:cubicBezTo>
                  <a:pt x="214202" y="160725"/>
                  <a:pt x="212117" y="165744"/>
                  <a:pt x="209600" y="170550"/>
                </a:cubicBezTo>
                <a:lnTo>
                  <a:pt x="187000" y="173110"/>
                </a:lnTo>
                <a:cubicBezTo>
                  <a:pt x="186024" y="173218"/>
                  <a:pt x="185077" y="173505"/>
                  <a:pt x="184205" y="173957"/>
                </a:cubicBezTo>
                <a:cubicBezTo>
                  <a:pt x="183333" y="174408"/>
                  <a:pt x="182552" y="175016"/>
                  <a:pt x="181900" y="175750"/>
                </a:cubicBezTo>
                <a:cubicBezTo>
                  <a:pt x="179975" y="177915"/>
                  <a:pt x="177925" y="179965"/>
                  <a:pt x="175760" y="181890"/>
                </a:cubicBezTo>
                <a:cubicBezTo>
                  <a:pt x="175026" y="182542"/>
                  <a:pt x="174418" y="183323"/>
                  <a:pt x="173967" y="184195"/>
                </a:cubicBezTo>
                <a:cubicBezTo>
                  <a:pt x="173515" y="185067"/>
                  <a:pt x="173228" y="186014"/>
                  <a:pt x="173120" y="186990"/>
                </a:cubicBezTo>
                <a:lnTo>
                  <a:pt x="170610" y="209570"/>
                </a:lnTo>
                <a:cubicBezTo>
                  <a:pt x="165805" y="212088"/>
                  <a:pt x="160785" y="214173"/>
                  <a:pt x="155610" y="215800"/>
                </a:cubicBezTo>
                <a:lnTo>
                  <a:pt x="137870" y="201610"/>
                </a:lnTo>
                <a:cubicBezTo>
                  <a:pt x="137165" y="201047"/>
                  <a:pt x="136370" y="200607"/>
                  <a:pt x="135519" y="200309"/>
                </a:cubicBezTo>
                <a:cubicBezTo>
                  <a:pt x="134668" y="200011"/>
                  <a:pt x="133772" y="199859"/>
                  <a:pt x="132870" y="199860"/>
                </a:cubicBezTo>
                <a:lnTo>
                  <a:pt x="132390" y="199860"/>
                </a:lnTo>
                <a:cubicBezTo>
                  <a:pt x="129499" y="200030"/>
                  <a:pt x="126601" y="200030"/>
                  <a:pt x="123710" y="199860"/>
                </a:cubicBezTo>
                <a:cubicBezTo>
                  <a:pt x="122729" y="199801"/>
                  <a:pt x="121745" y="199923"/>
                  <a:pt x="120808" y="200221"/>
                </a:cubicBezTo>
                <a:cubicBezTo>
                  <a:pt x="119871" y="200518"/>
                  <a:pt x="118997" y="200986"/>
                  <a:pt x="118230" y="201600"/>
                </a:cubicBezTo>
                <a:lnTo>
                  <a:pt x="100450" y="215800"/>
                </a:lnTo>
                <a:cubicBezTo>
                  <a:pt x="95275" y="214172"/>
                  <a:pt x="90256" y="212087"/>
                  <a:pt x="85450" y="209570"/>
                </a:cubicBezTo>
                <a:lnTo>
                  <a:pt x="82890" y="187000"/>
                </a:lnTo>
                <a:cubicBezTo>
                  <a:pt x="82782" y="186024"/>
                  <a:pt x="82495" y="185077"/>
                  <a:pt x="82043" y="184205"/>
                </a:cubicBezTo>
                <a:cubicBezTo>
                  <a:pt x="81592" y="183333"/>
                  <a:pt x="80984" y="182552"/>
                  <a:pt x="80250" y="181900"/>
                </a:cubicBezTo>
                <a:cubicBezTo>
                  <a:pt x="78085" y="179975"/>
                  <a:pt x="76035" y="177925"/>
                  <a:pt x="74110" y="175760"/>
                </a:cubicBezTo>
                <a:cubicBezTo>
                  <a:pt x="73458" y="175026"/>
                  <a:pt x="72677" y="174418"/>
                  <a:pt x="71805" y="173967"/>
                </a:cubicBezTo>
                <a:cubicBezTo>
                  <a:pt x="70933" y="173515"/>
                  <a:pt x="69986" y="173228"/>
                  <a:pt x="69010" y="173120"/>
                </a:cubicBezTo>
                <a:lnTo>
                  <a:pt x="46430" y="170600"/>
                </a:lnTo>
                <a:cubicBezTo>
                  <a:pt x="43912" y="165795"/>
                  <a:pt x="41827" y="160775"/>
                  <a:pt x="40200" y="155600"/>
                </a:cubicBezTo>
                <a:lnTo>
                  <a:pt x="54390" y="137860"/>
                </a:lnTo>
                <a:cubicBezTo>
                  <a:pt x="55004" y="137093"/>
                  <a:pt x="55472" y="136219"/>
                  <a:pt x="55769" y="135282"/>
                </a:cubicBezTo>
                <a:cubicBezTo>
                  <a:pt x="56067" y="134345"/>
                  <a:pt x="56189" y="133361"/>
                  <a:pt x="56130" y="132380"/>
                </a:cubicBezTo>
                <a:cubicBezTo>
                  <a:pt x="55960" y="129489"/>
                  <a:pt x="55960" y="126591"/>
                  <a:pt x="56130" y="123700"/>
                </a:cubicBezTo>
                <a:cubicBezTo>
                  <a:pt x="56189" y="122719"/>
                  <a:pt x="56067" y="121735"/>
                  <a:pt x="55769" y="120798"/>
                </a:cubicBezTo>
                <a:cubicBezTo>
                  <a:pt x="55472" y="119861"/>
                  <a:pt x="55004" y="118987"/>
                  <a:pt x="54390" y="118220"/>
                </a:cubicBezTo>
                <a:lnTo>
                  <a:pt x="40200" y="100450"/>
                </a:lnTo>
                <a:cubicBezTo>
                  <a:pt x="41828" y="95275"/>
                  <a:pt x="43913" y="90256"/>
                  <a:pt x="46430" y="85450"/>
                </a:cubicBezTo>
                <a:lnTo>
                  <a:pt x="69000" y="82890"/>
                </a:lnTo>
                <a:cubicBezTo>
                  <a:pt x="69976" y="82782"/>
                  <a:pt x="70923" y="82495"/>
                  <a:pt x="71795" y="82043"/>
                </a:cubicBezTo>
                <a:cubicBezTo>
                  <a:pt x="72667" y="81592"/>
                  <a:pt x="73448" y="80984"/>
                  <a:pt x="74100" y="80250"/>
                </a:cubicBezTo>
                <a:cubicBezTo>
                  <a:pt x="76025" y="78085"/>
                  <a:pt x="78075" y="76035"/>
                  <a:pt x="80240" y="74110"/>
                </a:cubicBezTo>
                <a:cubicBezTo>
                  <a:pt x="80977" y="73458"/>
                  <a:pt x="81587" y="72675"/>
                  <a:pt x="82041" y="71802"/>
                </a:cubicBezTo>
                <a:cubicBezTo>
                  <a:pt x="82494" y="70928"/>
                  <a:pt x="82782" y="69978"/>
                  <a:pt x="82890" y="69000"/>
                </a:cubicBezTo>
                <a:lnTo>
                  <a:pt x="85400" y="46430"/>
                </a:lnTo>
                <a:cubicBezTo>
                  <a:pt x="90205" y="43912"/>
                  <a:pt x="95225" y="41827"/>
                  <a:pt x="100400" y="40200"/>
                </a:cubicBezTo>
                <a:lnTo>
                  <a:pt x="118140" y="54390"/>
                </a:lnTo>
                <a:cubicBezTo>
                  <a:pt x="118907" y="55004"/>
                  <a:pt x="119781" y="55472"/>
                  <a:pt x="120718" y="55769"/>
                </a:cubicBezTo>
                <a:cubicBezTo>
                  <a:pt x="121655" y="56067"/>
                  <a:pt x="122639" y="56189"/>
                  <a:pt x="123620" y="56130"/>
                </a:cubicBezTo>
                <a:cubicBezTo>
                  <a:pt x="126511" y="55960"/>
                  <a:pt x="129409" y="55960"/>
                  <a:pt x="132300" y="56130"/>
                </a:cubicBezTo>
                <a:cubicBezTo>
                  <a:pt x="133281" y="56189"/>
                  <a:pt x="134265" y="56067"/>
                  <a:pt x="135202" y="55769"/>
                </a:cubicBezTo>
                <a:cubicBezTo>
                  <a:pt x="136139" y="55472"/>
                  <a:pt x="137013" y="55004"/>
                  <a:pt x="137780" y="54390"/>
                </a:cubicBezTo>
                <a:lnTo>
                  <a:pt x="155550" y="40200"/>
                </a:lnTo>
                <a:cubicBezTo>
                  <a:pt x="160725" y="41828"/>
                  <a:pt x="165744" y="43913"/>
                  <a:pt x="170550" y="46430"/>
                </a:cubicBezTo>
                <a:lnTo>
                  <a:pt x="173110" y="69000"/>
                </a:lnTo>
                <a:cubicBezTo>
                  <a:pt x="173218" y="69976"/>
                  <a:pt x="173505" y="70923"/>
                  <a:pt x="173957" y="71795"/>
                </a:cubicBezTo>
                <a:cubicBezTo>
                  <a:pt x="174408" y="72667"/>
                  <a:pt x="175016" y="73448"/>
                  <a:pt x="175750" y="74100"/>
                </a:cubicBezTo>
                <a:cubicBezTo>
                  <a:pt x="177915" y="76025"/>
                  <a:pt x="179965" y="78075"/>
                  <a:pt x="181890" y="80240"/>
                </a:cubicBezTo>
                <a:cubicBezTo>
                  <a:pt x="182542" y="80974"/>
                  <a:pt x="183323" y="81582"/>
                  <a:pt x="184195" y="82033"/>
                </a:cubicBezTo>
                <a:cubicBezTo>
                  <a:pt x="185067" y="82485"/>
                  <a:pt x="186014" y="82772"/>
                  <a:pt x="186990" y="82880"/>
                </a:cubicBezTo>
                <a:lnTo>
                  <a:pt x="209570" y="85390"/>
                </a:lnTo>
                <a:cubicBezTo>
                  <a:pt x="212088" y="90195"/>
                  <a:pt x="214173" y="95215"/>
                  <a:pt x="215800" y="100390"/>
                </a:cubicBezTo>
                <a:lnTo>
                  <a:pt x="201610" y="118130"/>
                </a:lnTo>
                <a:cubicBezTo>
                  <a:pt x="200990" y="118904"/>
                  <a:pt x="200519" y="119786"/>
                  <a:pt x="200221" y="120732"/>
                </a:cubicBezTo>
                <a:cubicBezTo>
                  <a:pt x="199924" y="121678"/>
                  <a:pt x="199805" y="122671"/>
                  <a:pt x="199870" y="12366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4" name="Google Shape;174;p15"/>
          <p:cNvSpPr/>
          <p:nvPr/>
        </p:nvSpPr>
        <p:spPr>
          <a:xfrm>
            <a:off x="1226024" y="1169365"/>
            <a:ext cx="274320" cy="27432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5" name="Google Shape;175;p15"/>
          <p:cNvSpPr txBox="1"/>
          <p:nvPr/>
        </p:nvSpPr>
        <p:spPr>
          <a:xfrm>
            <a:off x="1664935" y="1248957"/>
            <a:ext cx="4380761" cy="572336"/>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1" i="0" lang="es-MX" sz="950" u="none" cap="none" strike="noStrike">
                <a:solidFill>
                  <a:srgbClr val="024791"/>
                </a:solidFill>
                <a:latin typeface="Arial"/>
                <a:ea typeface="Arial"/>
                <a:cs typeface="Arial"/>
                <a:sym typeface="Arial"/>
              </a:rPr>
              <a:t>01. </a:t>
            </a:r>
            <a:r>
              <a:rPr b="1" i="0" lang="es-MX" sz="1100" u="none" cap="none" strike="noStrike">
                <a:solidFill>
                  <a:srgbClr val="0B2E6B"/>
                </a:solidFill>
                <a:latin typeface="Arial"/>
                <a:ea typeface="Arial"/>
                <a:cs typeface="Arial"/>
                <a:sym typeface="Arial"/>
              </a:rPr>
              <a:t>Hacemos</a:t>
            </a:r>
            <a:r>
              <a:rPr b="1" i="0" lang="es-MX" sz="900" u="none" cap="none" strike="noStrike">
                <a:solidFill>
                  <a:srgbClr val="024791"/>
                </a:solidFill>
                <a:latin typeface="Arial"/>
                <a:ea typeface="Arial"/>
                <a:cs typeface="Arial"/>
                <a:sym typeface="Arial"/>
              </a:rPr>
              <a:t>   Accionar</a:t>
            </a:r>
            <a:endParaRPr/>
          </a:p>
          <a:p>
            <a:pPr indent="0" lvl="0" marL="0" marR="0" rtl="0" algn="l">
              <a:lnSpc>
                <a:spcPct val="118000"/>
              </a:lnSpc>
              <a:spcBef>
                <a:spcPts val="200"/>
              </a:spcBef>
              <a:spcAft>
                <a:spcPts val="0"/>
              </a:spcAft>
              <a:buNone/>
            </a:pPr>
            <a:r>
              <a:rPr b="0" i="0" lang="es-MX" sz="950" u="none" cap="none" strike="noStrike">
                <a:solidFill>
                  <a:srgbClr val="3A3A48"/>
                </a:solidFill>
                <a:latin typeface="Arial"/>
                <a:ea typeface="Arial"/>
                <a:cs typeface="Arial"/>
                <a:sym typeface="Arial"/>
              </a:rPr>
              <a:t>Ejecutamos el trabajo del ciclo a partir de la hipótesis inicial acordada.</a:t>
            </a:r>
            <a:endParaRPr/>
          </a:p>
          <a:p>
            <a:pPr indent="0" lvl="0" marL="0" marR="0" rtl="0" algn="l">
              <a:lnSpc>
                <a:spcPct val="118000"/>
              </a:lnSpc>
              <a:spcBef>
                <a:spcPts val="200"/>
              </a:spcBef>
              <a:spcAft>
                <a:spcPts val="0"/>
              </a:spcAft>
              <a:buNone/>
            </a:pPr>
            <a:r>
              <a:rPr b="0" i="1" lang="es-MX" sz="900" u="none" cap="none" strike="noStrike">
                <a:solidFill>
                  <a:srgbClr val="664092"/>
                </a:solidFill>
                <a:latin typeface="Arial"/>
                <a:ea typeface="Arial"/>
                <a:cs typeface="Arial"/>
                <a:sym typeface="Arial"/>
              </a:rPr>
              <a:t>De la idea a la acción.</a:t>
            </a:r>
            <a:endParaRPr/>
          </a:p>
        </p:txBody>
      </p:sp>
      <p:sp>
        <p:nvSpPr>
          <p:cNvPr id="176" name="Google Shape;176;p15"/>
          <p:cNvSpPr/>
          <p:nvPr/>
        </p:nvSpPr>
        <p:spPr>
          <a:xfrm>
            <a:off x="1034000" y="1919630"/>
            <a:ext cx="182880" cy="109728"/>
          </a:xfrm>
          <a:prstGeom prst="downArrow">
            <a:avLst>
              <a:gd fmla="val 50000" name="adj1"/>
              <a:gd fmla="val 50000" name="adj2"/>
            </a:avLst>
          </a:prstGeom>
          <a:solidFill>
            <a:srgbClr val="B9C3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7" name="Google Shape;177;p15"/>
          <p:cNvSpPr/>
          <p:nvPr/>
        </p:nvSpPr>
        <p:spPr>
          <a:xfrm>
            <a:off x="640808" y="2029358"/>
            <a:ext cx="5576384" cy="976427"/>
          </a:xfrm>
          <a:prstGeom prst="roundRect">
            <a:avLst>
              <a:gd fmla="val 11237" name="adj"/>
            </a:avLst>
          </a:prstGeom>
          <a:solidFill>
            <a:srgbClr val="FFFFFF"/>
          </a:solidFill>
          <a:ln cap="flat" cmpd="sng" w="12700">
            <a:solidFill>
              <a:srgbClr val="DCDD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8" name="Google Shape;178;p15"/>
          <p:cNvSpPr/>
          <p:nvPr/>
        </p:nvSpPr>
        <p:spPr>
          <a:xfrm>
            <a:off x="640808" y="2139086"/>
            <a:ext cx="64008" cy="756971"/>
          </a:xfrm>
          <a:prstGeom prst="rect">
            <a:avLst/>
          </a:prstGeom>
          <a:solidFill>
            <a:srgbClr val="2F6F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9" name="Google Shape;179;p15"/>
          <p:cNvSpPr/>
          <p:nvPr/>
        </p:nvSpPr>
        <p:spPr>
          <a:xfrm>
            <a:off x="841976" y="2234108"/>
            <a:ext cx="566928" cy="566928"/>
          </a:xfrm>
          <a:prstGeom prst="ellipse">
            <a:avLst/>
          </a:prstGeom>
          <a:solidFill>
            <a:srgbClr val="2F6F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0" name="Google Shape;180;p15"/>
          <p:cNvSpPr/>
          <p:nvPr/>
        </p:nvSpPr>
        <p:spPr>
          <a:xfrm>
            <a:off x="966700" y="2358832"/>
            <a:ext cx="317480" cy="317480"/>
          </a:xfrm>
          <a:custGeom>
            <a:rect b="b" l="l" r="r" t="t"/>
            <a:pathLst>
              <a:path extrusionOk="0" h="256000" w="256000">
                <a:moveTo>
                  <a:pt x="247310" y="124760"/>
                </a:moveTo>
                <a:cubicBezTo>
                  <a:pt x="246960" y="123970"/>
                  <a:pt x="238490" y="105180"/>
                  <a:pt x="219660" y="86350"/>
                </a:cubicBezTo>
                <a:cubicBezTo>
                  <a:pt x="194570" y="61260"/>
                  <a:pt x="162880" y="48000"/>
                  <a:pt x="128000" y="48000"/>
                </a:cubicBezTo>
                <a:cubicBezTo>
                  <a:pt x="93120" y="48000"/>
                  <a:pt x="61430" y="61260"/>
                  <a:pt x="36340" y="86350"/>
                </a:cubicBezTo>
                <a:cubicBezTo>
                  <a:pt x="17510" y="105180"/>
                  <a:pt x="9000" y="124000"/>
                  <a:pt x="8690" y="124760"/>
                </a:cubicBezTo>
                <a:cubicBezTo>
                  <a:pt x="8235" y="125783"/>
                  <a:pt x="8000" y="126890"/>
                  <a:pt x="8000" y="128010"/>
                </a:cubicBezTo>
                <a:cubicBezTo>
                  <a:pt x="8000" y="129130"/>
                  <a:pt x="8235" y="130237"/>
                  <a:pt x="8690" y="131260"/>
                </a:cubicBezTo>
                <a:cubicBezTo>
                  <a:pt x="9040" y="132050"/>
                  <a:pt x="17510" y="150830"/>
                  <a:pt x="36340" y="169660"/>
                </a:cubicBezTo>
                <a:cubicBezTo>
                  <a:pt x="61430" y="194740"/>
                  <a:pt x="93120" y="208000"/>
                  <a:pt x="128000" y="208000"/>
                </a:cubicBezTo>
                <a:cubicBezTo>
                  <a:pt x="162880" y="208000"/>
                  <a:pt x="194570" y="194740"/>
                  <a:pt x="219660" y="169660"/>
                </a:cubicBezTo>
                <a:cubicBezTo>
                  <a:pt x="238490" y="150830"/>
                  <a:pt x="246960" y="132050"/>
                  <a:pt x="247310" y="131260"/>
                </a:cubicBezTo>
                <a:cubicBezTo>
                  <a:pt x="247765" y="130237"/>
                  <a:pt x="248000" y="129130"/>
                  <a:pt x="248000" y="128010"/>
                </a:cubicBezTo>
                <a:cubicBezTo>
                  <a:pt x="248000" y="126890"/>
                  <a:pt x="247765" y="125783"/>
                  <a:pt x="247310" y="124760"/>
                </a:cubicBezTo>
                <a:close/>
                <a:moveTo>
                  <a:pt x="128000" y="192000"/>
                </a:moveTo>
                <a:cubicBezTo>
                  <a:pt x="97220" y="192000"/>
                  <a:pt x="70330" y="180810"/>
                  <a:pt x="48070" y="158750"/>
                </a:cubicBezTo>
                <a:cubicBezTo>
                  <a:pt x="38937" y="149667"/>
                  <a:pt x="31166" y="139309"/>
                  <a:pt x="25000" y="128000"/>
                </a:cubicBezTo>
                <a:cubicBezTo>
                  <a:pt x="31164" y="116689"/>
                  <a:pt x="38935" y="106332"/>
                  <a:pt x="48070" y="97250"/>
                </a:cubicBezTo>
                <a:cubicBezTo>
                  <a:pt x="70330" y="75190"/>
                  <a:pt x="97220" y="64000"/>
                  <a:pt x="128000" y="64000"/>
                </a:cubicBezTo>
                <a:cubicBezTo>
                  <a:pt x="158780" y="64000"/>
                  <a:pt x="185670" y="75190"/>
                  <a:pt x="207930" y="97250"/>
                </a:cubicBezTo>
                <a:cubicBezTo>
                  <a:pt x="217081" y="106330"/>
                  <a:pt x="224869" y="116687"/>
                  <a:pt x="231050" y="128000"/>
                </a:cubicBezTo>
                <a:cubicBezTo>
                  <a:pt x="223840" y="141460"/>
                  <a:pt x="192430" y="192000"/>
                  <a:pt x="128000" y="192000"/>
                </a:cubicBezTo>
                <a:close/>
                <a:moveTo>
                  <a:pt x="128000" y="80000"/>
                </a:moveTo>
                <a:cubicBezTo>
                  <a:pt x="119575" y="80000"/>
                  <a:pt x="111296" y="82218"/>
                  <a:pt x="104000" y="86431"/>
                </a:cubicBezTo>
                <a:cubicBezTo>
                  <a:pt x="96704" y="90643"/>
                  <a:pt x="90643" y="96704"/>
                  <a:pt x="86431" y="104000"/>
                </a:cubicBezTo>
                <a:cubicBezTo>
                  <a:pt x="82218" y="111296"/>
                  <a:pt x="80000" y="119575"/>
                  <a:pt x="80000" y="128000"/>
                </a:cubicBezTo>
                <a:cubicBezTo>
                  <a:pt x="80000" y="136425"/>
                  <a:pt x="82218" y="144704"/>
                  <a:pt x="86431" y="152000"/>
                </a:cubicBezTo>
                <a:cubicBezTo>
                  <a:pt x="90643" y="159296"/>
                  <a:pt x="96704" y="165357"/>
                  <a:pt x="104000" y="169569"/>
                </a:cubicBezTo>
                <a:cubicBezTo>
                  <a:pt x="111296" y="173782"/>
                  <a:pt x="119575" y="176000"/>
                  <a:pt x="128000" y="176000"/>
                </a:cubicBezTo>
                <a:cubicBezTo>
                  <a:pt x="136425" y="176000"/>
                  <a:pt x="144704" y="173782"/>
                  <a:pt x="152000" y="169569"/>
                </a:cubicBezTo>
                <a:cubicBezTo>
                  <a:pt x="159296" y="165357"/>
                  <a:pt x="165357" y="159296"/>
                  <a:pt x="169569" y="152000"/>
                </a:cubicBezTo>
                <a:cubicBezTo>
                  <a:pt x="173782" y="144704"/>
                  <a:pt x="176000" y="136425"/>
                  <a:pt x="176000" y="128000"/>
                </a:cubicBezTo>
                <a:cubicBezTo>
                  <a:pt x="175991" y="119577"/>
                  <a:pt x="173768" y="111303"/>
                  <a:pt x="169554" y="104011"/>
                </a:cubicBezTo>
                <a:cubicBezTo>
                  <a:pt x="165340" y="96718"/>
                  <a:pt x="159282" y="90660"/>
                  <a:pt x="151989" y="86446"/>
                </a:cubicBezTo>
                <a:cubicBezTo>
                  <a:pt x="144697" y="82232"/>
                  <a:pt x="136423" y="80009"/>
                  <a:pt x="128000" y="80000"/>
                </a:cubicBezTo>
                <a:close/>
                <a:moveTo>
                  <a:pt x="128000" y="160000"/>
                </a:moveTo>
                <a:cubicBezTo>
                  <a:pt x="122383" y="160000"/>
                  <a:pt x="116864" y="158521"/>
                  <a:pt x="112000" y="155713"/>
                </a:cubicBezTo>
                <a:cubicBezTo>
                  <a:pt x="107136" y="152904"/>
                  <a:pt x="103096" y="148864"/>
                  <a:pt x="100287" y="144000"/>
                </a:cubicBezTo>
                <a:cubicBezTo>
                  <a:pt x="97479" y="139136"/>
                  <a:pt x="96000" y="133617"/>
                  <a:pt x="96000" y="128000"/>
                </a:cubicBezTo>
                <a:cubicBezTo>
                  <a:pt x="96000" y="122383"/>
                  <a:pt x="97479" y="116864"/>
                  <a:pt x="100287" y="112000"/>
                </a:cubicBezTo>
                <a:cubicBezTo>
                  <a:pt x="103096" y="107136"/>
                  <a:pt x="107136" y="103096"/>
                  <a:pt x="112000" y="100287"/>
                </a:cubicBezTo>
                <a:cubicBezTo>
                  <a:pt x="116864" y="97479"/>
                  <a:pt x="122383" y="96000"/>
                  <a:pt x="128000" y="96000"/>
                </a:cubicBezTo>
                <a:cubicBezTo>
                  <a:pt x="133617" y="96000"/>
                  <a:pt x="139136" y="97479"/>
                  <a:pt x="144000" y="100287"/>
                </a:cubicBezTo>
                <a:cubicBezTo>
                  <a:pt x="148864" y="103096"/>
                  <a:pt x="152904" y="107136"/>
                  <a:pt x="155713" y="112000"/>
                </a:cubicBezTo>
                <a:cubicBezTo>
                  <a:pt x="158521" y="116864"/>
                  <a:pt x="160000" y="122383"/>
                  <a:pt x="160000" y="128000"/>
                </a:cubicBezTo>
                <a:cubicBezTo>
                  <a:pt x="160000" y="133617"/>
                  <a:pt x="158521" y="139136"/>
                  <a:pt x="155713" y="144000"/>
                </a:cubicBezTo>
                <a:cubicBezTo>
                  <a:pt x="152904" y="148864"/>
                  <a:pt x="148864" y="152904"/>
                  <a:pt x="144000" y="155713"/>
                </a:cubicBezTo>
                <a:cubicBezTo>
                  <a:pt x="139136" y="158521"/>
                  <a:pt x="133617" y="160000"/>
                  <a:pt x="128000" y="16000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1" name="Google Shape;181;p15"/>
          <p:cNvSpPr/>
          <p:nvPr/>
        </p:nvSpPr>
        <p:spPr>
          <a:xfrm>
            <a:off x="1226024" y="2179244"/>
            <a:ext cx="274320" cy="27432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2" name="Google Shape;182;p15"/>
          <p:cNvSpPr txBox="1"/>
          <p:nvPr/>
        </p:nvSpPr>
        <p:spPr>
          <a:xfrm>
            <a:off x="1664935" y="2258835"/>
            <a:ext cx="4380761" cy="572336"/>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1" i="0" lang="es-MX" sz="950" u="none" cap="none" strike="noStrike">
                <a:solidFill>
                  <a:srgbClr val="2F6FED"/>
                </a:solidFill>
                <a:latin typeface="Arial"/>
                <a:ea typeface="Arial"/>
                <a:cs typeface="Arial"/>
                <a:sym typeface="Arial"/>
              </a:rPr>
              <a:t>02. </a:t>
            </a:r>
            <a:r>
              <a:rPr b="1" i="0" lang="es-MX" sz="1100" u="none" cap="none" strike="noStrike">
                <a:solidFill>
                  <a:srgbClr val="0B2E6B"/>
                </a:solidFill>
                <a:latin typeface="Arial"/>
                <a:ea typeface="Arial"/>
                <a:cs typeface="Arial"/>
                <a:sym typeface="Arial"/>
              </a:rPr>
              <a:t>Observamos</a:t>
            </a:r>
            <a:r>
              <a:rPr b="1" i="0" lang="es-MX" sz="900" u="none" cap="none" strike="noStrike">
                <a:solidFill>
                  <a:srgbClr val="2F6FED"/>
                </a:solidFill>
                <a:latin typeface="Arial"/>
                <a:ea typeface="Arial"/>
                <a:cs typeface="Arial"/>
                <a:sym typeface="Arial"/>
              </a:rPr>
              <a:t>   Medir</a:t>
            </a:r>
            <a:endParaRPr/>
          </a:p>
          <a:p>
            <a:pPr indent="0" lvl="0" marL="0" marR="0" rtl="0" algn="l">
              <a:lnSpc>
                <a:spcPct val="118000"/>
              </a:lnSpc>
              <a:spcBef>
                <a:spcPts val="200"/>
              </a:spcBef>
              <a:spcAft>
                <a:spcPts val="0"/>
              </a:spcAft>
              <a:buNone/>
            </a:pPr>
            <a:r>
              <a:rPr b="0" i="0" lang="es-MX" sz="950" u="none" cap="none" strike="noStrike">
                <a:solidFill>
                  <a:srgbClr val="3A3A48"/>
                </a:solidFill>
                <a:latin typeface="Arial"/>
                <a:ea typeface="Arial"/>
                <a:cs typeface="Arial"/>
                <a:sym typeface="Arial"/>
              </a:rPr>
              <a:t>Recolectamos datos, vemos el avance en uso real y escuchamos a los usuarios.</a:t>
            </a:r>
            <a:endParaRPr/>
          </a:p>
          <a:p>
            <a:pPr indent="0" lvl="0" marL="0" marR="0" rtl="0" algn="l">
              <a:lnSpc>
                <a:spcPct val="118000"/>
              </a:lnSpc>
              <a:spcBef>
                <a:spcPts val="200"/>
              </a:spcBef>
              <a:spcAft>
                <a:spcPts val="0"/>
              </a:spcAft>
              <a:buNone/>
            </a:pPr>
            <a:r>
              <a:rPr b="0" i="1" lang="es-MX" sz="900" u="none" cap="none" strike="noStrike">
                <a:solidFill>
                  <a:srgbClr val="664092"/>
                </a:solidFill>
                <a:latin typeface="Arial"/>
                <a:ea typeface="Arial"/>
                <a:cs typeface="Arial"/>
                <a:sym typeface="Arial"/>
              </a:rPr>
              <a:t>Mirar con datos, no con suposiciones.</a:t>
            </a:r>
            <a:endParaRPr/>
          </a:p>
        </p:txBody>
      </p:sp>
      <p:sp>
        <p:nvSpPr>
          <p:cNvPr id="183" name="Google Shape;183;p15"/>
          <p:cNvSpPr/>
          <p:nvPr/>
        </p:nvSpPr>
        <p:spPr>
          <a:xfrm>
            <a:off x="1034000" y="3014929"/>
            <a:ext cx="182880" cy="109728"/>
          </a:xfrm>
          <a:prstGeom prst="downArrow">
            <a:avLst>
              <a:gd fmla="val 50000" name="adj1"/>
              <a:gd fmla="val 50000" name="adj2"/>
            </a:avLst>
          </a:prstGeom>
          <a:solidFill>
            <a:srgbClr val="B9C3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184" name="Google Shape;184;p15"/>
          <p:cNvCxnSpPr/>
          <p:nvPr/>
        </p:nvCxnSpPr>
        <p:spPr>
          <a:xfrm>
            <a:off x="748515" y="7115250"/>
            <a:ext cx="1047572" cy="0"/>
          </a:xfrm>
          <a:prstGeom prst="straightConnector1">
            <a:avLst/>
          </a:prstGeom>
          <a:noFill/>
          <a:ln cap="flat" cmpd="sng" w="53975">
            <a:solidFill>
              <a:srgbClr val="73CDEB"/>
            </a:solidFill>
            <a:prstDash val="solid"/>
            <a:round/>
            <a:headEnd len="med" w="med" type="oval"/>
            <a:tailEnd len="med" w="med" type="oval"/>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6"/>
          <p:cNvSpPr/>
          <p:nvPr/>
        </p:nvSpPr>
        <p:spPr>
          <a:xfrm>
            <a:off x="640808" y="723900"/>
            <a:ext cx="4265517"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Agilidad más allá de las herramientas</a:t>
            </a:r>
            <a:endParaRPr b="0" i="0" sz="1400" u="none" cap="none" strike="noStrike">
              <a:solidFill>
                <a:srgbClr val="000000"/>
              </a:solidFill>
              <a:latin typeface="Arial"/>
              <a:ea typeface="Arial"/>
              <a:cs typeface="Arial"/>
              <a:sym typeface="Arial"/>
            </a:endParaRPr>
          </a:p>
        </p:txBody>
      </p:sp>
      <p:sp>
        <p:nvSpPr>
          <p:cNvPr id="190" name="Google Shape;190;p16"/>
          <p:cNvSpPr/>
          <p:nvPr/>
        </p:nvSpPr>
        <p:spPr>
          <a:xfrm>
            <a:off x="668067" y="4283116"/>
            <a:ext cx="5521867" cy="2775966"/>
          </a:xfrm>
          <a:prstGeom prst="roundRect">
            <a:avLst>
              <a:gd fmla="val 4611" name="adj"/>
            </a:avLst>
          </a:prstGeom>
          <a:solidFill>
            <a:srgbClr val="FFF3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1" name="Google Shape;191;p16"/>
          <p:cNvSpPr/>
          <p:nvPr/>
        </p:nvSpPr>
        <p:spPr>
          <a:xfrm>
            <a:off x="832660" y="4411132"/>
            <a:ext cx="402336" cy="402336"/>
          </a:xfrm>
          <a:prstGeom prst="ellipse">
            <a:avLst/>
          </a:prstGeom>
          <a:solidFill>
            <a:srgbClr val="C25A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2" name="Google Shape;192;p16"/>
          <p:cNvSpPr/>
          <p:nvPr/>
        </p:nvSpPr>
        <p:spPr>
          <a:xfrm>
            <a:off x="921174" y="4499646"/>
            <a:ext cx="225308" cy="225308"/>
          </a:xfrm>
          <a:custGeom>
            <a:rect b="b" l="l" r="r" t="t"/>
            <a:pathLst>
              <a:path extrusionOk="0" h="256000" w="256000">
                <a:moveTo>
                  <a:pt x="176000" y="232000"/>
                </a:moveTo>
                <a:cubicBezTo>
                  <a:pt x="176000" y="233404"/>
                  <a:pt x="175630" y="234784"/>
                  <a:pt x="174928" y="236000"/>
                </a:cubicBezTo>
                <a:cubicBezTo>
                  <a:pt x="174226" y="237216"/>
                  <a:pt x="173216" y="238226"/>
                  <a:pt x="172000" y="238928"/>
                </a:cubicBezTo>
                <a:cubicBezTo>
                  <a:pt x="170784" y="239630"/>
                  <a:pt x="169404" y="240000"/>
                  <a:pt x="168000" y="240000"/>
                </a:cubicBezTo>
                <a:lnTo>
                  <a:pt x="88000" y="240000"/>
                </a:lnTo>
                <a:cubicBezTo>
                  <a:pt x="86596" y="240000"/>
                  <a:pt x="85216" y="239630"/>
                  <a:pt x="84000" y="238928"/>
                </a:cubicBezTo>
                <a:cubicBezTo>
                  <a:pt x="82784" y="238226"/>
                  <a:pt x="81774" y="237216"/>
                  <a:pt x="81072" y="236000"/>
                </a:cubicBezTo>
                <a:cubicBezTo>
                  <a:pt x="80370" y="234784"/>
                  <a:pt x="80000" y="233404"/>
                  <a:pt x="80000" y="232000"/>
                </a:cubicBezTo>
                <a:cubicBezTo>
                  <a:pt x="80000" y="230596"/>
                  <a:pt x="80370" y="229216"/>
                  <a:pt x="81072" y="228000"/>
                </a:cubicBezTo>
                <a:cubicBezTo>
                  <a:pt x="81774" y="226784"/>
                  <a:pt x="82784" y="225774"/>
                  <a:pt x="84000" y="225072"/>
                </a:cubicBezTo>
                <a:cubicBezTo>
                  <a:pt x="85216" y="224370"/>
                  <a:pt x="86596" y="224000"/>
                  <a:pt x="88000" y="224000"/>
                </a:cubicBezTo>
                <a:lnTo>
                  <a:pt x="168000" y="224000"/>
                </a:lnTo>
                <a:cubicBezTo>
                  <a:pt x="169404" y="224000"/>
                  <a:pt x="170784" y="224370"/>
                  <a:pt x="172000" y="225072"/>
                </a:cubicBezTo>
                <a:cubicBezTo>
                  <a:pt x="173216" y="225774"/>
                  <a:pt x="174226" y="226784"/>
                  <a:pt x="174928" y="228000"/>
                </a:cubicBezTo>
                <a:cubicBezTo>
                  <a:pt x="175630" y="229216"/>
                  <a:pt x="176000" y="230596"/>
                  <a:pt x="176000" y="232000"/>
                </a:cubicBezTo>
                <a:close/>
                <a:moveTo>
                  <a:pt x="216000" y="104000"/>
                </a:moveTo>
                <a:cubicBezTo>
                  <a:pt x="216034" y="117336"/>
                  <a:pt x="213021" y="130505"/>
                  <a:pt x="207192" y="142499"/>
                </a:cubicBezTo>
                <a:cubicBezTo>
                  <a:pt x="201362" y="154493"/>
                  <a:pt x="192868" y="164998"/>
                  <a:pt x="182360" y="173210"/>
                </a:cubicBezTo>
                <a:cubicBezTo>
                  <a:pt x="180395" y="174716"/>
                  <a:pt x="178801" y="176652"/>
                  <a:pt x="177698" y="178868"/>
                </a:cubicBezTo>
                <a:cubicBezTo>
                  <a:pt x="176596" y="181085"/>
                  <a:pt x="176015" y="183524"/>
                  <a:pt x="176000" y="186000"/>
                </a:cubicBezTo>
                <a:lnTo>
                  <a:pt x="176000" y="192000"/>
                </a:lnTo>
                <a:cubicBezTo>
                  <a:pt x="176000" y="194808"/>
                  <a:pt x="175261" y="197568"/>
                  <a:pt x="173856" y="200000"/>
                </a:cubicBezTo>
                <a:cubicBezTo>
                  <a:pt x="172452" y="202432"/>
                  <a:pt x="170432" y="204452"/>
                  <a:pt x="168000" y="205856"/>
                </a:cubicBezTo>
                <a:cubicBezTo>
                  <a:pt x="165568" y="207261"/>
                  <a:pt x="162808" y="208000"/>
                  <a:pt x="160000" y="208000"/>
                </a:cubicBezTo>
                <a:lnTo>
                  <a:pt x="96000" y="208000"/>
                </a:lnTo>
                <a:cubicBezTo>
                  <a:pt x="93192" y="208000"/>
                  <a:pt x="90432" y="207261"/>
                  <a:pt x="88000" y="205856"/>
                </a:cubicBezTo>
                <a:cubicBezTo>
                  <a:pt x="85568" y="204452"/>
                  <a:pt x="83548" y="202432"/>
                  <a:pt x="82144" y="200000"/>
                </a:cubicBezTo>
                <a:cubicBezTo>
                  <a:pt x="80739" y="197568"/>
                  <a:pt x="80000" y="194808"/>
                  <a:pt x="80000" y="192000"/>
                </a:cubicBezTo>
                <a:lnTo>
                  <a:pt x="80000" y="186000"/>
                </a:lnTo>
                <a:cubicBezTo>
                  <a:pt x="79998" y="183554"/>
                  <a:pt x="79436" y="181141"/>
                  <a:pt x="78356" y="178946"/>
                </a:cubicBezTo>
                <a:cubicBezTo>
                  <a:pt x="77276" y="176752"/>
                  <a:pt x="75707" y="174834"/>
                  <a:pt x="73770" y="173340"/>
                </a:cubicBezTo>
                <a:cubicBezTo>
                  <a:pt x="63288" y="165177"/>
                  <a:pt x="54800" y="154735"/>
                  <a:pt x="48950" y="142807"/>
                </a:cubicBezTo>
                <a:cubicBezTo>
                  <a:pt x="43099" y="130879"/>
                  <a:pt x="40039" y="117775"/>
                  <a:pt x="40000" y="104490"/>
                </a:cubicBezTo>
                <a:cubicBezTo>
                  <a:pt x="39740" y="56830"/>
                  <a:pt x="78260" y="17140"/>
                  <a:pt x="125880" y="16000"/>
                </a:cubicBezTo>
                <a:cubicBezTo>
                  <a:pt x="137613" y="15717"/>
                  <a:pt x="149285" y="17785"/>
                  <a:pt x="160208" y="22080"/>
                </a:cubicBezTo>
                <a:cubicBezTo>
                  <a:pt x="171130" y="26376"/>
                  <a:pt x="181083" y="32813"/>
                  <a:pt x="189480" y="41013"/>
                </a:cubicBezTo>
                <a:cubicBezTo>
                  <a:pt x="197878" y="49213"/>
                  <a:pt x="204550" y="59010"/>
                  <a:pt x="209105" y="69827"/>
                </a:cubicBezTo>
                <a:cubicBezTo>
                  <a:pt x="213659" y="80644"/>
                  <a:pt x="216003" y="92263"/>
                  <a:pt x="216000" y="104000"/>
                </a:cubicBezTo>
                <a:close/>
                <a:moveTo>
                  <a:pt x="200000" y="104000"/>
                </a:moveTo>
                <a:cubicBezTo>
                  <a:pt x="200003" y="94397"/>
                  <a:pt x="198084" y="84889"/>
                  <a:pt x="194358" y="76039"/>
                </a:cubicBezTo>
                <a:cubicBezTo>
                  <a:pt x="190631" y="67188"/>
                  <a:pt x="185171" y="59172"/>
                  <a:pt x="178300" y="52463"/>
                </a:cubicBezTo>
                <a:cubicBezTo>
                  <a:pt x="171429" y="45754"/>
                  <a:pt x="163285" y="40487"/>
                  <a:pt x="154348" y="36973"/>
                </a:cubicBezTo>
                <a:cubicBezTo>
                  <a:pt x="145411" y="33459"/>
                  <a:pt x="135860" y="31768"/>
                  <a:pt x="126260" y="32000"/>
                </a:cubicBezTo>
                <a:cubicBezTo>
                  <a:pt x="87260" y="32920"/>
                  <a:pt x="55790" y="65390"/>
                  <a:pt x="56000" y="104390"/>
                </a:cubicBezTo>
                <a:cubicBezTo>
                  <a:pt x="56037" y="115255"/>
                  <a:pt x="58544" y="125972"/>
                  <a:pt x="63333" y="135725"/>
                </a:cubicBezTo>
                <a:cubicBezTo>
                  <a:pt x="68121" y="145478"/>
                  <a:pt x="75066" y="154016"/>
                  <a:pt x="83640" y="160690"/>
                </a:cubicBezTo>
                <a:cubicBezTo>
                  <a:pt x="87494" y="163686"/>
                  <a:pt x="90612" y="167525"/>
                  <a:pt x="92755" y="171912"/>
                </a:cubicBezTo>
                <a:cubicBezTo>
                  <a:pt x="94897" y="176299"/>
                  <a:pt x="96007" y="181118"/>
                  <a:pt x="96000" y="186000"/>
                </a:cubicBezTo>
                <a:lnTo>
                  <a:pt x="96000" y="192000"/>
                </a:lnTo>
                <a:lnTo>
                  <a:pt x="160000" y="192000"/>
                </a:lnTo>
                <a:lnTo>
                  <a:pt x="160000" y="186000"/>
                </a:lnTo>
                <a:cubicBezTo>
                  <a:pt x="160011" y="181104"/>
                  <a:pt x="161140" y="176275"/>
                  <a:pt x="163301" y="171882"/>
                </a:cubicBezTo>
                <a:cubicBezTo>
                  <a:pt x="165462" y="167489"/>
                  <a:pt x="168599" y="163647"/>
                  <a:pt x="172470" y="160650"/>
                </a:cubicBezTo>
                <a:cubicBezTo>
                  <a:pt x="181071" y="153929"/>
                  <a:pt x="188023" y="145330"/>
                  <a:pt x="192794" y="135512"/>
                </a:cubicBezTo>
                <a:cubicBezTo>
                  <a:pt x="197565" y="125695"/>
                  <a:pt x="200030" y="114915"/>
                  <a:pt x="200000" y="104000"/>
                </a:cubicBezTo>
                <a:close/>
                <a:moveTo>
                  <a:pt x="183890" y="94660"/>
                </a:moveTo>
                <a:cubicBezTo>
                  <a:pt x="182513" y="86969"/>
                  <a:pt x="179585" y="79638"/>
                  <a:pt x="175286" y="73114"/>
                </a:cubicBezTo>
                <a:cubicBezTo>
                  <a:pt x="170986" y="66590"/>
                  <a:pt x="165403" y="61008"/>
                  <a:pt x="158878" y="56710"/>
                </a:cubicBezTo>
                <a:cubicBezTo>
                  <a:pt x="152353" y="52411"/>
                  <a:pt x="145022" y="49485"/>
                  <a:pt x="137330" y="48110"/>
                </a:cubicBezTo>
                <a:cubicBezTo>
                  <a:pt x="135945" y="47877"/>
                  <a:pt x="134523" y="48012"/>
                  <a:pt x="133207" y="48502"/>
                </a:cubicBezTo>
                <a:cubicBezTo>
                  <a:pt x="131891" y="48992"/>
                  <a:pt x="130727" y="49821"/>
                  <a:pt x="129832" y="50903"/>
                </a:cubicBezTo>
                <a:cubicBezTo>
                  <a:pt x="128937" y="51986"/>
                  <a:pt x="128343" y="53285"/>
                  <a:pt x="128110" y="54670"/>
                </a:cubicBezTo>
                <a:cubicBezTo>
                  <a:pt x="127877" y="56055"/>
                  <a:pt x="128012" y="57477"/>
                  <a:pt x="128502" y="58793"/>
                </a:cubicBezTo>
                <a:cubicBezTo>
                  <a:pt x="128992" y="60109"/>
                  <a:pt x="129821" y="61273"/>
                  <a:pt x="130903" y="62168"/>
                </a:cubicBezTo>
                <a:cubicBezTo>
                  <a:pt x="131986" y="63063"/>
                  <a:pt x="133285" y="63657"/>
                  <a:pt x="134670" y="63890"/>
                </a:cubicBezTo>
                <a:cubicBezTo>
                  <a:pt x="151240" y="66680"/>
                  <a:pt x="165300" y="80740"/>
                  <a:pt x="168110" y="97340"/>
                </a:cubicBezTo>
                <a:cubicBezTo>
                  <a:pt x="168320" y="98575"/>
                  <a:pt x="168817" y="99744"/>
                  <a:pt x="169561" y="100751"/>
                </a:cubicBezTo>
                <a:cubicBezTo>
                  <a:pt x="170305" y="101759"/>
                  <a:pt x="171275" y="102578"/>
                  <a:pt x="172394" y="103142"/>
                </a:cubicBezTo>
                <a:cubicBezTo>
                  <a:pt x="173512" y="103707"/>
                  <a:pt x="174747" y="104000"/>
                  <a:pt x="176000" y="104000"/>
                </a:cubicBezTo>
                <a:cubicBezTo>
                  <a:pt x="176452" y="103997"/>
                  <a:pt x="176903" y="103961"/>
                  <a:pt x="177350" y="103890"/>
                </a:cubicBezTo>
                <a:cubicBezTo>
                  <a:pt x="178734" y="103654"/>
                  <a:pt x="180032" y="103057"/>
                  <a:pt x="181112" y="102161"/>
                </a:cubicBezTo>
                <a:cubicBezTo>
                  <a:pt x="182192" y="101264"/>
                  <a:pt x="183018" y="100099"/>
                  <a:pt x="183506" y="98783"/>
                </a:cubicBezTo>
                <a:cubicBezTo>
                  <a:pt x="183993" y="97466"/>
                  <a:pt x="184126" y="96044"/>
                  <a:pt x="183890" y="9466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3" name="Google Shape;193;p16"/>
          <p:cNvSpPr txBox="1"/>
          <p:nvPr/>
        </p:nvSpPr>
        <p:spPr>
          <a:xfrm>
            <a:off x="1353867" y="4433308"/>
            <a:ext cx="4167820" cy="357983"/>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MX" sz="1100" u="none" cap="none" strike="noStrike">
                <a:solidFill>
                  <a:srgbClr val="0E4791"/>
                </a:solidFill>
                <a:latin typeface="Arial"/>
                <a:ea typeface="Arial"/>
                <a:cs typeface="Arial"/>
                <a:sym typeface="Arial"/>
              </a:rPr>
              <a:t>Idea importante: visualizar el trabajo no es suficiente para ser ágiles</a:t>
            </a:r>
            <a:endParaRPr b="1" i="0" sz="1100" u="none" cap="none" strike="noStrike">
              <a:solidFill>
                <a:srgbClr val="0E4791"/>
              </a:solidFill>
              <a:latin typeface="Arial"/>
              <a:ea typeface="Arial"/>
              <a:cs typeface="Arial"/>
              <a:sym typeface="Arial"/>
            </a:endParaRPr>
          </a:p>
        </p:txBody>
      </p:sp>
      <p:sp>
        <p:nvSpPr>
          <p:cNvPr id="194" name="Google Shape;194;p16"/>
          <p:cNvSpPr txBox="1"/>
          <p:nvPr/>
        </p:nvSpPr>
        <p:spPr>
          <a:xfrm>
            <a:off x="1353867" y="4904908"/>
            <a:ext cx="4735483" cy="15933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s-MX" sz="950" u="none" cap="none" strike="noStrike">
                <a:solidFill>
                  <a:srgbClr val="3A3A48"/>
                </a:solidFill>
                <a:latin typeface="Arial"/>
                <a:ea typeface="Arial"/>
                <a:cs typeface="Arial"/>
                <a:sym typeface="Arial"/>
              </a:rPr>
              <a:t>Un tablero aporta valor solo si la información visible permite:</a:t>
            </a:r>
            <a:endParaRPr/>
          </a:p>
        </p:txBody>
      </p:sp>
      <p:sp>
        <p:nvSpPr>
          <p:cNvPr id="195" name="Google Shape;195;p16"/>
          <p:cNvSpPr/>
          <p:nvPr/>
        </p:nvSpPr>
        <p:spPr>
          <a:xfrm>
            <a:off x="1216708" y="5188372"/>
            <a:ext cx="4599432" cy="329184"/>
          </a:xfrm>
          <a:prstGeom prst="roundRect">
            <a:avLst>
              <a:gd fmla="val 27777"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6" name="Google Shape;196;p16"/>
          <p:cNvSpPr/>
          <p:nvPr/>
        </p:nvSpPr>
        <p:spPr>
          <a:xfrm>
            <a:off x="1308148" y="5224948"/>
            <a:ext cx="256032" cy="256032"/>
          </a:xfrm>
          <a:custGeom>
            <a:rect b="b" l="l" r="r" t="t"/>
            <a:pathLst>
              <a:path extrusionOk="0" h="256000" w="256000">
                <a:moveTo>
                  <a:pt x="80000" y="64000"/>
                </a:moveTo>
                <a:cubicBezTo>
                  <a:pt x="80000" y="62596"/>
                  <a:pt x="80370" y="61216"/>
                  <a:pt x="81072" y="60000"/>
                </a:cubicBezTo>
                <a:cubicBezTo>
                  <a:pt x="81774" y="58784"/>
                  <a:pt x="82784" y="57774"/>
                  <a:pt x="84000" y="57072"/>
                </a:cubicBezTo>
                <a:cubicBezTo>
                  <a:pt x="85216" y="56370"/>
                  <a:pt x="86596" y="56000"/>
                  <a:pt x="88000" y="56000"/>
                </a:cubicBezTo>
                <a:lnTo>
                  <a:pt x="216000" y="56000"/>
                </a:lnTo>
                <a:cubicBezTo>
                  <a:pt x="217404" y="56000"/>
                  <a:pt x="218784" y="56370"/>
                  <a:pt x="220000" y="57072"/>
                </a:cubicBezTo>
                <a:cubicBezTo>
                  <a:pt x="221216" y="57774"/>
                  <a:pt x="222226" y="58784"/>
                  <a:pt x="222928" y="60000"/>
                </a:cubicBezTo>
                <a:cubicBezTo>
                  <a:pt x="223630" y="61216"/>
                  <a:pt x="224000" y="62596"/>
                  <a:pt x="224000" y="64000"/>
                </a:cubicBezTo>
                <a:cubicBezTo>
                  <a:pt x="224000" y="65404"/>
                  <a:pt x="223630" y="66784"/>
                  <a:pt x="222928" y="68000"/>
                </a:cubicBezTo>
                <a:cubicBezTo>
                  <a:pt x="222226" y="69216"/>
                  <a:pt x="221216" y="70226"/>
                  <a:pt x="220000" y="70928"/>
                </a:cubicBezTo>
                <a:cubicBezTo>
                  <a:pt x="218784" y="71630"/>
                  <a:pt x="217404" y="72000"/>
                  <a:pt x="216000" y="72000"/>
                </a:cubicBezTo>
                <a:lnTo>
                  <a:pt x="88000" y="72000"/>
                </a:lnTo>
                <a:cubicBezTo>
                  <a:pt x="86596" y="72000"/>
                  <a:pt x="85216" y="71630"/>
                  <a:pt x="84000" y="70928"/>
                </a:cubicBezTo>
                <a:cubicBezTo>
                  <a:pt x="82784" y="70226"/>
                  <a:pt x="81774" y="69216"/>
                  <a:pt x="81072" y="68000"/>
                </a:cubicBezTo>
                <a:cubicBezTo>
                  <a:pt x="80370" y="66784"/>
                  <a:pt x="80000" y="65404"/>
                  <a:pt x="80000" y="64000"/>
                </a:cubicBezTo>
                <a:close/>
                <a:moveTo>
                  <a:pt x="216000" y="120000"/>
                </a:moveTo>
                <a:lnTo>
                  <a:pt x="88000" y="120000"/>
                </a:lnTo>
                <a:cubicBezTo>
                  <a:pt x="86596" y="120000"/>
                  <a:pt x="85216" y="120370"/>
                  <a:pt x="84000" y="121072"/>
                </a:cubicBezTo>
                <a:cubicBezTo>
                  <a:pt x="82784" y="121774"/>
                  <a:pt x="81774" y="122784"/>
                  <a:pt x="81072" y="124000"/>
                </a:cubicBezTo>
                <a:cubicBezTo>
                  <a:pt x="80370" y="125216"/>
                  <a:pt x="80000" y="126596"/>
                  <a:pt x="80000" y="128000"/>
                </a:cubicBezTo>
                <a:cubicBezTo>
                  <a:pt x="80000" y="129404"/>
                  <a:pt x="80370" y="130784"/>
                  <a:pt x="81072" y="132000"/>
                </a:cubicBezTo>
                <a:cubicBezTo>
                  <a:pt x="81774" y="133216"/>
                  <a:pt x="82784" y="134226"/>
                  <a:pt x="84000" y="134928"/>
                </a:cubicBezTo>
                <a:cubicBezTo>
                  <a:pt x="85216" y="135630"/>
                  <a:pt x="86596" y="136000"/>
                  <a:pt x="88000" y="136000"/>
                </a:cubicBezTo>
                <a:lnTo>
                  <a:pt x="216000" y="136000"/>
                </a:lnTo>
                <a:cubicBezTo>
                  <a:pt x="217404" y="136000"/>
                  <a:pt x="218784" y="135630"/>
                  <a:pt x="220000" y="134928"/>
                </a:cubicBezTo>
                <a:cubicBezTo>
                  <a:pt x="221216" y="134226"/>
                  <a:pt x="222226" y="133216"/>
                  <a:pt x="222928" y="132000"/>
                </a:cubicBezTo>
                <a:cubicBezTo>
                  <a:pt x="223630" y="130784"/>
                  <a:pt x="224000" y="129404"/>
                  <a:pt x="224000" y="128000"/>
                </a:cubicBezTo>
                <a:cubicBezTo>
                  <a:pt x="224000" y="126596"/>
                  <a:pt x="223630" y="125216"/>
                  <a:pt x="222928" y="124000"/>
                </a:cubicBezTo>
                <a:cubicBezTo>
                  <a:pt x="222226" y="122784"/>
                  <a:pt x="221216" y="121774"/>
                  <a:pt x="220000" y="121072"/>
                </a:cubicBezTo>
                <a:cubicBezTo>
                  <a:pt x="218784" y="120370"/>
                  <a:pt x="217404" y="120000"/>
                  <a:pt x="216000" y="120000"/>
                </a:cubicBezTo>
                <a:close/>
                <a:moveTo>
                  <a:pt x="216000" y="184000"/>
                </a:moveTo>
                <a:lnTo>
                  <a:pt x="88000" y="184000"/>
                </a:lnTo>
                <a:cubicBezTo>
                  <a:pt x="86596" y="184000"/>
                  <a:pt x="85216" y="184370"/>
                  <a:pt x="84000" y="185072"/>
                </a:cubicBezTo>
                <a:cubicBezTo>
                  <a:pt x="82784" y="185774"/>
                  <a:pt x="81774" y="186784"/>
                  <a:pt x="81072" y="188000"/>
                </a:cubicBezTo>
                <a:cubicBezTo>
                  <a:pt x="80370" y="189216"/>
                  <a:pt x="80000" y="190596"/>
                  <a:pt x="80000" y="192000"/>
                </a:cubicBezTo>
                <a:cubicBezTo>
                  <a:pt x="80000" y="193404"/>
                  <a:pt x="80370" y="194784"/>
                  <a:pt x="81072" y="196000"/>
                </a:cubicBezTo>
                <a:cubicBezTo>
                  <a:pt x="81774" y="197216"/>
                  <a:pt x="82784" y="198226"/>
                  <a:pt x="84000" y="198928"/>
                </a:cubicBezTo>
                <a:cubicBezTo>
                  <a:pt x="85216" y="199630"/>
                  <a:pt x="86596" y="200000"/>
                  <a:pt x="88000" y="200000"/>
                </a:cubicBezTo>
                <a:lnTo>
                  <a:pt x="216000" y="200000"/>
                </a:lnTo>
                <a:cubicBezTo>
                  <a:pt x="217404" y="200000"/>
                  <a:pt x="218784" y="199630"/>
                  <a:pt x="220000" y="198928"/>
                </a:cubicBezTo>
                <a:cubicBezTo>
                  <a:pt x="221216" y="198226"/>
                  <a:pt x="222226" y="197216"/>
                  <a:pt x="222928" y="196000"/>
                </a:cubicBezTo>
                <a:cubicBezTo>
                  <a:pt x="223630" y="194784"/>
                  <a:pt x="224000" y="193404"/>
                  <a:pt x="224000" y="192000"/>
                </a:cubicBezTo>
                <a:cubicBezTo>
                  <a:pt x="224000" y="190596"/>
                  <a:pt x="223630" y="189216"/>
                  <a:pt x="222928" y="188000"/>
                </a:cubicBezTo>
                <a:cubicBezTo>
                  <a:pt x="222226" y="186784"/>
                  <a:pt x="221216" y="185774"/>
                  <a:pt x="220000" y="185072"/>
                </a:cubicBezTo>
                <a:cubicBezTo>
                  <a:pt x="218784" y="184370"/>
                  <a:pt x="217404" y="184000"/>
                  <a:pt x="216000" y="184000"/>
                </a:cubicBezTo>
                <a:close/>
                <a:moveTo>
                  <a:pt x="44000" y="52000"/>
                </a:moveTo>
                <a:cubicBezTo>
                  <a:pt x="41894" y="52000"/>
                  <a:pt x="39824" y="52555"/>
                  <a:pt x="38000" y="53608"/>
                </a:cubicBezTo>
                <a:cubicBezTo>
                  <a:pt x="36176" y="54661"/>
                  <a:pt x="34661" y="56176"/>
                  <a:pt x="33608" y="58000"/>
                </a:cubicBezTo>
                <a:cubicBezTo>
                  <a:pt x="32555" y="59824"/>
                  <a:pt x="32000" y="61894"/>
                  <a:pt x="32000" y="64000"/>
                </a:cubicBezTo>
                <a:cubicBezTo>
                  <a:pt x="32000" y="66106"/>
                  <a:pt x="32555" y="68176"/>
                  <a:pt x="33608" y="70000"/>
                </a:cubicBezTo>
                <a:cubicBezTo>
                  <a:pt x="34661" y="71824"/>
                  <a:pt x="36176" y="73339"/>
                  <a:pt x="38000" y="74392"/>
                </a:cubicBezTo>
                <a:cubicBezTo>
                  <a:pt x="39824" y="75445"/>
                  <a:pt x="41894" y="76000"/>
                  <a:pt x="44000" y="76000"/>
                </a:cubicBezTo>
                <a:cubicBezTo>
                  <a:pt x="46106" y="76000"/>
                  <a:pt x="48176" y="75445"/>
                  <a:pt x="50000" y="74392"/>
                </a:cubicBezTo>
                <a:cubicBezTo>
                  <a:pt x="51824" y="73339"/>
                  <a:pt x="53339" y="71824"/>
                  <a:pt x="54392" y="70000"/>
                </a:cubicBezTo>
                <a:cubicBezTo>
                  <a:pt x="55445" y="68176"/>
                  <a:pt x="56000" y="66106"/>
                  <a:pt x="56000" y="64000"/>
                </a:cubicBezTo>
                <a:cubicBezTo>
                  <a:pt x="56000" y="61894"/>
                  <a:pt x="55445" y="59824"/>
                  <a:pt x="54392" y="58000"/>
                </a:cubicBezTo>
                <a:cubicBezTo>
                  <a:pt x="53339" y="56176"/>
                  <a:pt x="51824" y="54661"/>
                  <a:pt x="50000" y="53608"/>
                </a:cubicBezTo>
                <a:cubicBezTo>
                  <a:pt x="48176" y="52555"/>
                  <a:pt x="46106" y="52000"/>
                  <a:pt x="44000" y="52000"/>
                </a:cubicBezTo>
                <a:close/>
                <a:moveTo>
                  <a:pt x="44000" y="116000"/>
                </a:moveTo>
                <a:cubicBezTo>
                  <a:pt x="41894" y="116000"/>
                  <a:pt x="39824" y="116555"/>
                  <a:pt x="38000" y="117608"/>
                </a:cubicBezTo>
                <a:cubicBezTo>
                  <a:pt x="36176" y="118661"/>
                  <a:pt x="34661" y="120176"/>
                  <a:pt x="33608" y="122000"/>
                </a:cubicBezTo>
                <a:cubicBezTo>
                  <a:pt x="32555" y="123824"/>
                  <a:pt x="32000" y="125894"/>
                  <a:pt x="32000" y="128000"/>
                </a:cubicBezTo>
                <a:cubicBezTo>
                  <a:pt x="32000" y="130106"/>
                  <a:pt x="32555" y="132176"/>
                  <a:pt x="33608" y="134000"/>
                </a:cubicBezTo>
                <a:cubicBezTo>
                  <a:pt x="34661" y="135824"/>
                  <a:pt x="36176" y="137339"/>
                  <a:pt x="38000" y="138392"/>
                </a:cubicBezTo>
                <a:cubicBezTo>
                  <a:pt x="39824" y="139445"/>
                  <a:pt x="41894" y="140000"/>
                  <a:pt x="44000" y="140000"/>
                </a:cubicBezTo>
                <a:cubicBezTo>
                  <a:pt x="46106" y="140000"/>
                  <a:pt x="48176" y="139445"/>
                  <a:pt x="50000" y="138392"/>
                </a:cubicBezTo>
                <a:cubicBezTo>
                  <a:pt x="51824" y="137339"/>
                  <a:pt x="53339" y="135824"/>
                  <a:pt x="54392" y="134000"/>
                </a:cubicBezTo>
                <a:cubicBezTo>
                  <a:pt x="55445" y="132176"/>
                  <a:pt x="56000" y="130106"/>
                  <a:pt x="56000" y="128000"/>
                </a:cubicBezTo>
                <a:cubicBezTo>
                  <a:pt x="56000" y="125894"/>
                  <a:pt x="55445" y="123824"/>
                  <a:pt x="54392" y="122000"/>
                </a:cubicBezTo>
                <a:cubicBezTo>
                  <a:pt x="53339" y="120176"/>
                  <a:pt x="51824" y="118661"/>
                  <a:pt x="50000" y="117608"/>
                </a:cubicBezTo>
                <a:cubicBezTo>
                  <a:pt x="48176" y="116555"/>
                  <a:pt x="46106" y="116000"/>
                  <a:pt x="44000" y="116000"/>
                </a:cubicBezTo>
                <a:close/>
                <a:moveTo>
                  <a:pt x="44000" y="180000"/>
                </a:moveTo>
                <a:cubicBezTo>
                  <a:pt x="41894" y="180000"/>
                  <a:pt x="39824" y="180555"/>
                  <a:pt x="38000" y="181608"/>
                </a:cubicBezTo>
                <a:cubicBezTo>
                  <a:pt x="36176" y="182661"/>
                  <a:pt x="34661" y="184176"/>
                  <a:pt x="33608" y="186000"/>
                </a:cubicBezTo>
                <a:cubicBezTo>
                  <a:pt x="32555" y="187824"/>
                  <a:pt x="32000" y="189894"/>
                  <a:pt x="32000" y="192000"/>
                </a:cubicBezTo>
                <a:cubicBezTo>
                  <a:pt x="32000" y="194106"/>
                  <a:pt x="32555" y="196176"/>
                  <a:pt x="33608" y="198000"/>
                </a:cubicBezTo>
                <a:cubicBezTo>
                  <a:pt x="34661" y="199824"/>
                  <a:pt x="36176" y="201339"/>
                  <a:pt x="38000" y="202392"/>
                </a:cubicBezTo>
                <a:cubicBezTo>
                  <a:pt x="39824" y="203445"/>
                  <a:pt x="41894" y="204000"/>
                  <a:pt x="44000" y="204000"/>
                </a:cubicBezTo>
                <a:cubicBezTo>
                  <a:pt x="46106" y="204000"/>
                  <a:pt x="48176" y="203445"/>
                  <a:pt x="50000" y="202392"/>
                </a:cubicBezTo>
                <a:cubicBezTo>
                  <a:pt x="51824" y="201339"/>
                  <a:pt x="53339" y="199824"/>
                  <a:pt x="54392" y="198000"/>
                </a:cubicBezTo>
                <a:cubicBezTo>
                  <a:pt x="55445" y="196176"/>
                  <a:pt x="56000" y="194106"/>
                  <a:pt x="56000" y="192000"/>
                </a:cubicBezTo>
                <a:cubicBezTo>
                  <a:pt x="56000" y="189894"/>
                  <a:pt x="55445" y="187824"/>
                  <a:pt x="54392" y="186000"/>
                </a:cubicBezTo>
                <a:cubicBezTo>
                  <a:pt x="53339" y="184176"/>
                  <a:pt x="51824" y="182661"/>
                  <a:pt x="50000" y="181608"/>
                </a:cubicBezTo>
                <a:cubicBezTo>
                  <a:pt x="48176" y="180555"/>
                  <a:pt x="46106" y="180000"/>
                  <a:pt x="44000" y="180000"/>
                </a:cubicBezTo>
                <a:close/>
              </a:path>
            </a:pathLst>
          </a:custGeom>
          <a:solidFill>
            <a:srgbClr val="C25A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7" name="Google Shape;197;p16"/>
          <p:cNvSpPr txBox="1"/>
          <p:nvPr/>
        </p:nvSpPr>
        <p:spPr>
          <a:xfrm>
            <a:off x="1655619" y="5276020"/>
            <a:ext cx="4351265" cy="153888"/>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s-MX" sz="950" u="none" cap="none" strike="noStrike">
                <a:solidFill>
                  <a:srgbClr val="0B2E6B"/>
                </a:solidFill>
                <a:latin typeface="Arial"/>
                <a:ea typeface="Arial"/>
                <a:cs typeface="Arial"/>
                <a:sym typeface="Arial"/>
              </a:rPr>
              <a:t>Revisar prioridades.</a:t>
            </a:r>
            <a:endParaRPr/>
          </a:p>
        </p:txBody>
      </p:sp>
      <p:sp>
        <p:nvSpPr>
          <p:cNvPr id="198" name="Google Shape;198;p16"/>
          <p:cNvSpPr/>
          <p:nvPr/>
        </p:nvSpPr>
        <p:spPr>
          <a:xfrm>
            <a:off x="1216708" y="5590708"/>
            <a:ext cx="4599432" cy="329184"/>
          </a:xfrm>
          <a:prstGeom prst="roundRect">
            <a:avLst>
              <a:gd fmla="val 27777"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9" name="Google Shape;199;p16"/>
          <p:cNvSpPr/>
          <p:nvPr/>
        </p:nvSpPr>
        <p:spPr>
          <a:xfrm>
            <a:off x="1308148" y="5627284"/>
            <a:ext cx="256032" cy="256032"/>
          </a:xfrm>
          <a:custGeom>
            <a:rect b="b" l="l" r="r" t="t"/>
            <a:pathLst>
              <a:path extrusionOk="0" h="256000" w="256000">
                <a:moveTo>
                  <a:pt x="244800" y="150400"/>
                </a:moveTo>
                <a:cubicBezTo>
                  <a:pt x="243677" y="151243"/>
                  <a:pt x="242351" y="151775"/>
                  <a:pt x="240957" y="151943"/>
                </a:cubicBezTo>
                <a:cubicBezTo>
                  <a:pt x="239563" y="152111"/>
                  <a:pt x="238149" y="151909"/>
                  <a:pt x="236857" y="151357"/>
                </a:cubicBezTo>
                <a:cubicBezTo>
                  <a:pt x="235566" y="150805"/>
                  <a:pt x="234443" y="149923"/>
                  <a:pt x="233600" y="148800"/>
                </a:cubicBezTo>
                <a:cubicBezTo>
                  <a:pt x="228778" y="142319"/>
                  <a:pt x="222502" y="137060"/>
                  <a:pt x="215276" y="133447"/>
                </a:cubicBezTo>
                <a:cubicBezTo>
                  <a:pt x="208051" y="129835"/>
                  <a:pt x="200078" y="127969"/>
                  <a:pt x="192000" y="128000"/>
                </a:cubicBezTo>
                <a:cubicBezTo>
                  <a:pt x="190955" y="128000"/>
                  <a:pt x="189921" y="127795"/>
                  <a:pt x="188955" y="127398"/>
                </a:cubicBezTo>
                <a:cubicBezTo>
                  <a:pt x="187989" y="127000"/>
                  <a:pt x="187110" y="126417"/>
                  <a:pt x="186369" y="125681"/>
                </a:cubicBezTo>
                <a:cubicBezTo>
                  <a:pt x="185627" y="124946"/>
                  <a:pt x="185036" y="124072"/>
                  <a:pt x="184630" y="123110"/>
                </a:cubicBezTo>
                <a:cubicBezTo>
                  <a:pt x="184215" y="122126"/>
                  <a:pt x="184001" y="121068"/>
                  <a:pt x="184001" y="120000"/>
                </a:cubicBezTo>
                <a:cubicBezTo>
                  <a:pt x="184001" y="118932"/>
                  <a:pt x="184215" y="117874"/>
                  <a:pt x="184630" y="116890"/>
                </a:cubicBezTo>
                <a:cubicBezTo>
                  <a:pt x="185036" y="115928"/>
                  <a:pt x="185627" y="115054"/>
                  <a:pt x="186369" y="114319"/>
                </a:cubicBezTo>
                <a:cubicBezTo>
                  <a:pt x="187110" y="113583"/>
                  <a:pt x="187989" y="113000"/>
                  <a:pt x="188955" y="112602"/>
                </a:cubicBezTo>
                <a:cubicBezTo>
                  <a:pt x="189921" y="112205"/>
                  <a:pt x="190955" y="112000"/>
                  <a:pt x="192000" y="112000"/>
                </a:cubicBezTo>
                <a:cubicBezTo>
                  <a:pt x="195984" y="112000"/>
                  <a:pt x="199906" y="111007"/>
                  <a:pt x="203411" y="109112"/>
                </a:cubicBezTo>
                <a:cubicBezTo>
                  <a:pt x="206916" y="107218"/>
                  <a:pt x="209895" y="104480"/>
                  <a:pt x="212077" y="101146"/>
                </a:cubicBezTo>
                <a:cubicBezTo>
                  <a:pt x="214260" y="97813"/>
                  <a:pt x="215578" y="93988"/>
                  <a:pt x="215913" y="90018"/>
                </a:cubicBezTo>
                <a:cubicBezTo>
                  <a:pt x="216248" y="86047"/>
                  <a:pt x="215589" y="82056"/>
                  <a:pt x="213996" y="78404"/>
                </a:cubicBezTo>
                <a:cubicBezTo>
                  <a:pt x="212403" y="74752"/>
                  <a:pt x="209925" y="71553"/>
                  <a:pt x="206787" y="69098"/>
                </a:cubicBezTo>
                <a:cubicBezTo>
                  <a:pt x="203649" y="66643"/>
                  <a:pt x="199949" y="65007"/>
                  <a:pt x="196021" y="64340"/>
                </a:cubicBezTo>
                <a:cubicBezTo>
                  <a:pt x="192093" y="63672"/>
                  <a:pt x="188060" y="63992"/>
                  <a:pt x="184287" y="65272"/>
                </a:cubicBezTo>
                <a:cubicBezTo>
                  <a:pt x="180514" y="66553"/>
                  <a:pt x="177118" y="68752"/>
                  <a:pt x="174408" y="71672"/>
                </a:cubicBezTo>
                <a:cubicBezTo>
                  <a:pt x="171697" y="74593"/>
                  <a:pt x="169756" y="78142"/>
                  <a:pt x="168760" y="82000"/>
                </a:cubicBezTo>
                <a:cubicBezTo>
                  <a:pt x="168409" y="83360"/>
                  <a:pt x="167706" y="84605"/>
                  <a:pt x="166722" y="85607"/>
                </a:cubicBezTo>
                <a:cubicBezTo>
                  <a:pt x="165738" y="86610"/>
                  <a:pt x="164507" y="87336"/>
                  <a:pt x="163153" y="87712"/>
                </a:cubicBezTo>
                <a:cubicBezTo>
                  <a:pt x="161799" y="88088"/>
                  <a:pt x="160370" y="88101"/>
                  <a:pt x="159010" y="87750"/>
                </a:cubicBezTo>
                <a:cubicBezTo>
                  <a:pt x="157650" y="87399"/>
                  <a:pt x="156405" y="86696"/>
                  <a:pt x="155403" y="85712"/>
                </a:cubicBezTo>
                <a:cubicBezTo>
                  <a:pt x="154400" y="84728"/>
                  <a:pt x="153674" y="83497"/>
                  <a:pt x="153298" y="82143"/>
                </a:cubicBezTo>
                <a:cubicBezTo>
                  <a:pt x="152922" y="80789"/>
                  <a:pt x="152909" y="79360"/>
                  <a:pt x="153260" y="78000"/>
                </a:cubicBezTo>
                <a:cubicBezTo>
                  <a:pt x="154817" y="71973"/>
                  <a:pt x="157760" y="66393"/>
                  <a:pt x="161854" y="61704"/>
                </a:cubicBezTo>
                <a:cubicBezTo>
                  <a:pt x="165947" y="57014"/>
                  <a:pt x="171079" y="53345"/>
                  <a:pt x="176840" y="50988"/>
                </a:cubicBezTo>
                <a:cubicBezTo>
                  <a:pt x="182602" y="48630"/>
                  <a:pt x="188834" y="47650"/>
                  <a:pt x="195040" y="48125"/>
                </a:cubicBezTo>
                <a:cubicBezTo>
                  <a:pt x="201247" y="48600"/>
                  <a:pt x="207258" y="50518"/>
                  <a:pt x="212593" y="53724"/>
                </a:cubicBezTo>
                <a:cubicBezTo>
                  <a:pt x="217928" y="56931"/>
                  <a:pt x="222442" y="61339"/>
                  <a:pt x="225774" y="66596"/>
                </a:cubicBezTo>
                <a:cubicBezTo>
                  <a:pt x="229106" y="71854"/>
                  <a:pt x="231165" y="77817"/>
                  <a:pt x="231787" y="84011"/>
                </a:cubicBezTo>
                <a:cubicBezTo>
                  <a:pt x="232409" y="90204"/>
                  <a:pt x="231577" y="96458"/>
                  <a:pt x="229358" y="102273"/>
                </a:cubicBezTo>
                <a:cubicBezTo>
                  <a:pt x="227138" y="108089"/>
                  <a:pt x="223591" y="113306"/>
                  <a:pt x="219000" y="117510"/>
                </a:cubicBezTo>
                <a:cubicBezTo>
                  <a:pt x="229877" y="122220"/>
                  <a:pt x="239335" y="129695"/>
                  <a:pt x="246430" y="139190"/>
                </a:cubicBezTo>
                <a:cubicBezTo>
                  <a:pt x="247060" y="140033"/>
                  <a:pt x="247518" y="140991"/>
                  <a:pt x="247777" y="142011"/>
                </a:cubicBezTo>
                <a:cubicBezTo>
                  <a:pt x="248037" y="143031"/>
                  <a:pt x="248092" y="144092"/>
                  <a:pt x="247941" y="145133"/>
                </a:cubicBezTo>
                <a:cubicBezTo>
                  <a:pt x="247789" y="146174"/>
                  <a:pt x="247434" y="147176"/>
                  <a:pt x="246895" y="148079"/>
                </a:cubicBezTo>
                <a:cubicBezTo>
                  <a:pt x="246356" y="148983"/>
                  <a:pt x="245644" y="149772"/>
                  <a:pt x="244800" y="150400"/>
                </a:cubicBezTo>
                <a:close/>
                <a:moveTo>
                  <a:pt x="190920" y="212000"/>
                </a:moveTo>
                <a:cubicBezTo>
                  <a:pt x="191582" y="213042"/>
                  <a:pt x="191994" y="214223"/>
                  <a:pt x="192124" y="215450"/>
                </a:cubicBezTo>
                <a:cubicBezTo>
                  <a:pt x="192254" y="216678"/>
                  <a:pt x="192098" y="217919"/>
                  <a:pt x="191669" y="219076"/>
                </a:cubicBezTo>
                <a:cubicBezTo>
                  <a:pt x="191239" y="220233"/>
                  <a:pt x="190548" y="221275"/>
                  <a:pt x="189648" y="222121"/>
                </a:cubicBezTo>
                <a:cubicBezTo>
                  <a:pt x="188749" y="222966"/>
                  <a:pt x="187666" y="223592"/>
                  <a:pt x="186485" y="223949"/>
                </a:cubicBezTo>
                <a:cubicBezTo>
                  <a:pt x="185303" y="224307"/>
                  <a:pt x="184055" y="224386"/>
                  <a:pt x="182838" y="224180"/>
                </a:cubicBezTo>
                <a:cubicBezTo>
                  <a:pt x="181621" y="223975"/>
                  <a:pt x="180467" y="223491"/>
                  <a:pt x="179469" y="222765"/>
                </a:cubicBezTo>
                <a:cubicBezTo>
                  <a:pt x="178470" y="222040"/>
                  <a:pt x="177652" y="221094"/>
                  <a:pt x="177080" y="220000"/>
                </a:cubicBezTo>
                <a:cubicBezTo>
                  <a:pt x="172041" y="211467"/>
                  <a:pt x="164863" y="204394"/>
                  <a:pt x="156256" y="199482"/>
                </a:cubicBezTo>
                <a:cubicBezTo>
                  <a:pt x="147650" y="194570"/>
                  <a:pt x="137910" y="191985"/>
                  <a:pt x="128000" y="191985"/>
                </a:cubicBezTo>
                <a:cubicBezTo>
                  <a:pt x="118090" y="191985"/>
                  <a:pt x="108350" y="194570"/>
                  <a:pt x="99744" y="199482"/>
                </a:cubicBezTo>
                <a:cubicBezTo>
                  <a:pt x="91137" y="204394"/>
                  <a:pt x="83959" y="211467"/>
                  <a:pt x="78920" y="220000"/>
                </a:cubicBezTo>
                <a:cubicBezTo>
                  <a:pt x="78348" y="221094"/>
                  <a:pt x="77530" y="222040"/>
                  <a:pt x="76531" y="222765"/>
                </a:cubicBezTo>
                <a:cubicBezTo>
                  <a:pt x="75533" y="223491"/>
                  <a:pt x="74379" y="223975"/>
                  <a:pt x="73162" y="224180"/>
                </a:cubicBezTo>
                <a:cubicBezTo>
                  <a:pt x="71945" y="224386"/>
                  <a:pt x="70697" y="224307"/>
                  <a:pt x="69515" y="223949"/>
                </a:cubicBezTo>
                <a:cubicBezTo>
                  <a:pt x="68334" y="223592"/>
                  <a:pt x="67251" y="222966"/>
                  <a:pt x="66352" y="222121"/>
                </a:cubicBezTo>
                <a:cubicBezTo>
                  <a:pt x="65452" y="221275"/>
                  <a:pt x="64761" y="220233"/>
                  <a:pt x="64331" y="219076"/>
                </a:cubicBezTo>
                <a:cubicBezTo>
                  <a:pt x="63902" y="217919"/>
                  <a:pt x="63746" y="216678"/>
                  <a:pt x="63876" y="215450"/>
                </a:cubicBezTo>
                <a:cubicBezTo>
                  <a:pt x="64006" y="214223"/>
                  <a:pt x="64418" y="213042"/>
                  <a:pt x="65080" y="212000"/>
                </a:cubicBezTo>
                <a:cubicBezTo>
                  <a:pt x="68933" y="205379"/>
                  <a:pt x="73818" y="199415"/>
                  <a:pt x="79549" y="194333"/>
                </a:cubicBezTo>
                <a:cubicBezTo>
                  <a:pt x="85281" y="189250"/>
                  <a:pt x="91786" y="185114"/>
                  <a:pt x="98820" y="182080"/>
                </a:cubicBezTo>
                <a:cubicBezTo>
                  <a:pt x="92466" y="177215"/>
                  <a:pt x="87428" y="170837"/>
                  <a:pt x="84166" y="163529"/>
                </a:cubicBezTo>
                <a:cubicBezTo>
                  <a:pt x="80905" y="156220"/>
                  <a:pt x="79523" y="148211"/>
                  <a:pt x="80146" y="140232"/>
                </a:cubicBezTo>
                <a:cubicBezTo>
                  <a:pt x="80768" y="132254"/>
                  <a:pt x="83377" y="124556"/>
                  <a:pt x="87733" y="117842"/>
                </a:cubicBezTo>
                <a:cubicBezTo>
                  <a:pt x="92089" y="111129"/>
                  <a:pt x="98055" y="105610"/>
                  <a:pt x="105087" y="101790"/>
                </a:cubicBezTo>
                <a:cubicBezTo>
                  <a:pt x="112120" y="97969"/>
                  <a:pt x="119997" y="95968"/>
                  <a:pt x="128000" y="95968"/>
                </a:cubicBezTo>
                <a:cubicBezTo>
                  <a:pt x="136003" y="95968"/>
                  <a:pt x="143880" y="97969"/>
                  <a:pt x="150913" y="101790"/>
                </a:cubicBezTo>
                <a:cubicBezTo>
                  <a:pt x="157945" y="105610"/>
                  <a:pt x="163911" y="111129"/>
                  <a:pt x="168267" y="117842"/>
                </a:cubicBezTo>
                <a:cubicBezTo>
                  <a:pt x="172623" y="124556"/>
                  <a:pt x="175232" y="132254"/>
                  <a:pt x="175854" y="140232"/>
                </a:cubicBezTo>
                <a:cubicBezTo>
                  <a:pt x="176477" y="148211"/>
                  <a:pt x="175095" y="156220"/>
                  <a:pt x="171834" y="163529"/>
                </a:cubicBezTo>
                <a:cubicBezTo>
                  <a:pt x="168572" y="170837"/>
                  <a:pt x="163534" y="177215"/>
                  <a:pt x="157180" y="182080"/>
                </a:cubicBezTo>
                <a:cubicBezTo>
                  <a:pt x="164214" y="185114"/>
                  <a:pt x="170719" y="189250"/>
                  <a:pt x="176451" y="194333"/>
                </a:cubicBezTo>
                <a:cubicBezTo>
                  <a:pt x="182182" y="199415"/>
                  <a:pt x="187067" y="205379"/>
                  <a:pt x="190920" y="212000"/>
                </a:cubicBezTo>
                <a:close/>
                <a:moveTo>
                  <a:pt x="128000" y="176000"/>
                </a:moveTo>
                <a:cubicBezTo>
                  <a:pt x="133617" y="176000"/>
                  <a:pt x="139136" y="174521"/>
                  <a:pt x="144000" y="171713"/>
                </a:cubicBezTo>
                <a:cubicBezTo>
                  <a:pt x="148864" y="168904"/>
                  <a:pt x="152904" y="164864"/>
                  <a:pt x="155713" y="160000"/>
                </a:cubicBezTo>
                <a:cubicBezTo>
                  <a:pt x="158521" y="155136"/>
                  <a:pt x="160000" y="149617"/>
                  <a:pt x="160000" y="144000"/>
                </a:cubicBezTo>
                <a:cubicBezTo>
                  <a:pt x="160000" y="138383"/>
                  <a:pt x="158521" y="132864"/>
                  <a:pt x="155713" y="128000"/>
                </a:cubicBezTo>
                <a:cubicBezTo>
                  <a:pt x="152904" y="123136"/>
                  <a:pt x="148864" y="119096"/>
                  <a:pt x="144000" y="116287"/>
                </a:cubicBezTo>
                <a:cubicBezTo>
                  <a:pt x="139136" y="113479"/>
                  <a:pt x="133617" y="112000"/>
                  <a:pt x="128000" y="112000"/>
                </a:cubicBezTo>
                <a:cubicBezTo>
                  <a:pt x="122383" y="112000"/>
                  <a:pt x="116864" y="113479"/>
                  <a:pt x="112000" y="116287"/>
                </a:cubicBezTo>
                <a:cubicBezTo>
                  <a:pt x="107136" y="119096"/>
                  <a:pt x="103096" y="123136"/>
                  <a:pt x="100287" y="128000"/>
                </a:cubicBezTo>
                <a:cubicBezTo>
                  <a:pt x="97479" y="132864"/>
                  <a:pt x="96000" y="138383"/>
                  <a:pt x="96000" y="144000"/>
                </a:cubicBezTo>
                <a:cubicBezTo>
                  <a:pt x="96000" y="149617"/>
                  <a:pt x="97479" y="155136"/>
                  <a:pt x="100287" y="160000"/>
                </a:cubicBezTo>
                <a:cubicBezTo>
                  <a:pt x="103096" y="164864"/>
                  <a:pt x="107136" y="168904"/>
                  <a:pt x="112000" y="171713"/>
                </a:cubicBezTo>
                <a:cubicBezTo>
                  <a:pt x="116864" y="174521"/>
                  <a:pt x="122383" y="176000"/>
                  <a:pt x="128000" y="176000"/>
                </a:cubicBezTo>
                <a:close/>
                <a:moveTo>
                  <a:pt x="72000" y="120000"/>
                </a:moveTo>
                <a:cubicBezTo>
                  <a:pt x="72000" y="118596"/>
                  <a:pt x="71630" y="117216"/>
                  <a:pt x="70928" y="116000"/>
                </a:cubicBezTo>
                <a:cubicBezTo>
                  <a:pt x="70226" y="114784"/>
                  <a:pt x="69216" y="113774"/>
                  <a:pt x="68000" y="113072"/>
                </a:cubicBezTo>
                <a:cubicBezTo>
                  <a:pt x="66784" y="112370"/>
                  <a:pt x="65404" y="112000"/>
                  <a:pt x="64000" y="112000"/>
                </a:cubicBezTo>
                <a:cubicBezTo>
                  <a:pt x="60016" y="112000"/>
                  <a:pt x="56094" y="111007"/>
                  <a:pt x="52589" y="109112"/>
                </a:cubicBezTo>
                <a:cubicBezTo>
                  <a:pt x="49084" y="107218"/>
                  <a:pt x="46105" y="104480"/>
                  <a:pt x="43923" y="101146"/>
                </a:cubicBezTo>
                <a:cubicBezTo>
                  <a:pt x="41740" y="97813"/>
                  <a:pt x="40422" y="93988"/>
                  <a:pt x="40087" y="90018"/>
                </a:cubicBezTo>
                <a:cubicBezTo>
                  <a:pt x="39752" y="86047"/>
                  <a:pt x="40411" y="82056"/>
                  <a:pt x="42004" y="78404"/>
                </a:cubicBezTo>
                <a:cubicBezTo>
                  <a:pt x="43597" y="74752"/>
                  <a:pt x="46075" y="71553"/>
                  <a:pt x="49213" y="69098"/>
                </a:cubicBezTo>
                <a:cubicBezTo>
                  <a:pt x="52351" y="66643"/>
                  <a:pt x="56051" y="65007"/>
                  <a:pt x="59979" y="64340"/>
                </a:cubicBezTo>
                <a:cubicBezTo>
                  <a:pt x="63907" y="63672"/>
                  <a:pt x="67940" y="63992"/>
                  <a:pt x="71713" y="65272"/>
                </a:cubicBezTo>
                <a:cubicBezTo>
                  <a:pt x="75486" y="66553"/>
                  <a:pt x="78882" y="68752"/>
                  <a:pt x="81592" y="71672"/>
                </a:cubicBezTo>
                <a:cubicBezTo>
                  <a:pt x="84303" y="74593"/>
                  <a:pt x="86244" y="78142"/>
                  <a:pt x="87240" y="82000"/>
                </a:cubicBezTo>
                <a:cubicBezTo>
                  <a:pt x="87591" y="83360"/>
                  <a:pt x="88294" y="84605"/>
                  <a:pt x="89278" y="85607"/>
                </a:cubicBezTo>
                <a:cubicBezTo>
                  <a:pt x="90262" y="86610"/>
                  <a:pt x="91493" y="87336"/>
                  <a:pt x="92847" y="87712"/>
                </a:cubicBezTo>
                <a:cubicBezTo>
                  <a:pt x="94201" y="88088"/>
                  <a:pt x="95630" y="88101"/>
                  <a:pt x="96990" y="87750"/>
                </a:cubicBezTo>
                <a:cubicBezTo>
                  <a:pt x="98350" y="87399"/>
                  <a:pt x="99595" y="86696"/>
                  <a:pt x="100597" y="85712"/>
                </a:cubicBezTo>
                <a:cubicBezTo>
                  <a:pt x="101600" y="84728"/>
                  <a:pt x="102326" y="83497"/>
                  <a:pt x="102702" y="82143"/>
                </a:cubicBezTo>
                <a:cubicBezTo>
                  <a:pt x="103078" y="80789"/>
                  <a:pt x="103091" y="79360"/>
                  <a:pt x="102740" y="78000"/>
                </a:cubicBezTo>
                <a:cubicBezTo>
                  <a:pt x="101183" y="71973"/>
                  <a:pt x="98240" y="66393"/>
                  <a:pt x="94146" y="61704"/>
                </a:cubicBezTo>
                <a:cubicBezTo>
                  <a:pt x="90053" y="57014"/>
                  <a:pt x="84921" y="53345"/>
                  <a:pt x="79160" y="50988"/>
                </a:cubicBezTo>
                <a:cubicBezTo>
                  <a:pt x="73398" y="48630"/>
                  <a:pt x="67166" y="47650"/>
                  <a:pt x="60960" y="48125"/>
                </a:cubicBezTo>
                <a:cubicBezTo>
                  <a:pt x="54753" y="48600"/>
                  <a:pt x="48742" y="50518"/>
                  <a:pt x="43407" y="53724"/>
                </a:cubicBezTo>
                <a:cubicBezTo>
                  <a:pt x="38072" y="56931"/>
                  <a:pt x="33558" y="61339"/>
                  <a:pt x="30226" y="66596"/>
                </a:cubicBezTo>
                <a:cubicBezTo>
                  <a:pt x="26894" y="71854"/>
                  <a:pt x="24835" y="77817"/>
                  <a:pt x="24213" y="84011"/>
                </a:cubicBezTo>
                <a:cubicBezTo>
                  <a:pt x="23591" y="90204"/>
                  <a:pt x="24423" y="96458"/>
                  <a:pt x="26642" y="102273"/>
                </a:cubicBezTo>
                <a:cubicBezTo>
                  <a:pt x="28862" y="108089"/>
                  <a:pt x="32409" y="113306"/>
                  <a:pt x="37000" y="117510"/>
                </a:cubicBezTo>
                <a:cubicBezTo>
                  <a:pt x="26134" y="122224"/>
                  <a:pt x="16687" y="129699"/>
                  <a:pt x="9600" y="139190"/>
                </a:cubicBezTo>
                <a:cubicBezTo>
                  <a:pt x="8757" y="140313"/>
                  <a:pt x="8224" y="141639"/>
                  <a:pt x="8055" y="143034"/>
                </a:cubicBezTo>
                <a:cubicBezTo>
                  <a:pt x="7886" y="144428"/>
                  <a:pt x="8088" y="145843"/>
                  <a:pt x="8639" y="147135"/>
                </a:cubicBezTo>
                <a:cubicBezTo>
                  <a:pt x="9190" y="148427"/>
                  <a:pt x="10072" y="149552"/>
                  <a:pt x="11195" y="150395"/>
                </a:cubicBezTo>
                <a:cubicBezTo>
                  <a:pt x="12318" y="151238"/>
                  <a:pt x="13644" y="151771"/>
                  <a:pt x="15039" y="151940"/>
                </a:cubicBezTo>
                <a:cubicBezTo>
                  <a:pt x="16433" y="152109"/>
                  <a:pt x="17848" y="151907"/>
                  <a:pt x="19140" y="151356"/>
                </a:cubicBezTo>
                <a:cubicBezTo>
                  <a:pt x="20432" y="150805"/>
                  <a:pt x="21557" y="149923"/>
                  <a:pt x="22400" y="148800"/>
                </a:cubicBezTo>
                <a:cubicBezTo>
                  <a:pt x="27222" y="142319"/>
                  <a:pt x="33498" y="137060"/>
                  <a:pt x="40724" y="133447"/>
                </a:cubicBezTo>
                <a:cubicBezTo>
                  <a:pt x="47949" y="129835"/>
                  <a:pt x="55922" y="127969"/>
                  <a:pt x="64000" y="128000"/>
                </a:cubicBezTo>
                <a:cubicBezTo>
                  <a:pt x="65404" y="128000"/>
                  <a:pt x="66784" y="127630"/>
                  <a:pt x="68000" y="126928"/>
                </a:cubicBezTo>
                <a:cubicBezTo>
                  <a:pt x="69216" y="126226"/>
                  <a:pt x="70226" y="125216"/>
                  <a:pt x="70928" y="124000"/>
                </a:cubicBezTo>
                <a:cubicBezTo>
                  <a:pt x="71630" y="122784"/>
                  <a:pt x="72000" y="121404"/>
                  <a:pt x="72000" y="120000"/>
                </a:cubicBezTo>
                <a:close/>
              </a:path>
            </a:pathLst>
          </a:custGeom>
          <a:solidFill>
            <a:srgbClr val="C25A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0" name="Google Shape;200;p16"/>
          <p:cNvSpPr txBox="1"/>
          <p:nvPr/>
        </p:nvSpPr>
        <p:spPr>
          <a:xfrm>
            <a:off x="1655619" y="5678356"/>
            <a:ext cx="4351265" cy="153888"/>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s-MX" sz="950" u="none" cap="none" strike="noStrike">
                <a:solidFill>
                  <a:srgbClr val="0B2E6B"/>
                </a:solidFill>
                <a:latin typeface="Arial"/>
                <a:ea typeface="Arial"/>
                <a:cs typeface="Arial"/>
                <a:sym typeface="Arial"/>
              </a:rPr>
              <a:t>Identificar necesidades.</a:t>
            </a:r>
            <a:endParaRPr/>
          </a:p>
        </p:txBody>
      </p:sp>
      <p:sp>
        <p:nvSpPr>
          <p:cNvPr id="201" name="Google Shape;201;p16"/>
          <p:cNvSpPr/>
          <p:nvPr/>
        </p:nvSpPr>
        <p:spPr>
          <a:xfrm>
            <a:off x="1216708" y="5993044"/>
            <a:ext cx="4599432" cy="329184"/>
          </a:xfrm>
          <a:prstGeom prst="roundRect">
            <a:avLst>
              <a:gd fmla="val 27777"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2" name="Google Shape;202;p16"/>
          <p:cNvSpPr/>
          <p:nvPr/>
        </p:nvSpPr>
        <p:spPr>
          <a:xfrm>
            <a:off x="1308148" y="6029620"/>
            <a:ext cx="256032" cy="256032"/>
          </a:xfrm>
          <a:custGeom>
            <a:rect b="b" l="l" r="r" t="t"/>
            <a:pathLst>
              <a:path extrusionOk="0" h="256000" w="256000">
                <a:moveTo>
                  <a:pt x="229660" y="77660"/>
                </a:moveTo>
                <a:lnTo>
                  <a:pt x="101660" y="205660"/>
                </a:lnTo>
                <a:cubicBezTo>
                  <a:pt x="100917" y="206404"/>
                  <a:pt x="100035" y="206994"/>
                  <a:pt x="99064" y="207396"/>
                </a:cubicBezTo>
                <a:cubicBezTo>
                  <a:pt x="98092" y="207799"/>
                  <a:pt x="97051" y="208006"/>
                  <a:pt x="96000" y="208006"/>
                </a:cubicBezTo>
                <a:cubicBezTo>
                  <a:pt x="94949" y="208006"/>
                  <a:pt x="93908" y="207799"/>
                  <a:pt x="92936" y="207396"/>
                </a:cubicBezTo>
                <a:cubicBezTo>
                  <a:pt x="91965" y="206994"/>
                  <a:pt x="91083" y="206404"/>
                  <a:pt x="90340" y="205660"/>
                </a:cubicBezTo>
                <a:lnTo>
                  <a:pt x="34340" y="149660"/>
                </a:lnTo>
                <a:cubicBezTo>
                  <a:pt x="33347" y="148667"/>
                  <a:pt x="32632" y="147429"/>
                  <a:pt x="32268" y="146072"/>
                </a:cubicBezTo>
                <a:cubicBezTo>
                  <a:pt x="31905" y="144715"/>
                  <a:pt x="31905" y="143285"/>
                  <a:pt x="32268" y="141928"/>
                </a:cubicBezTo>
                <a:cubicBezTo>
                  <a:pt x="32632" y="140571"/>
                  <a:pt x="33347" y="139333"/>
                  <a:pt x="34340" y="138340"/>
                </a:cubicBezTo>
                <a:cubicBezTo>
                  <a:pt x="35333" y="137347"/>
                  <a:pt x="36571" y="136632"/>
                  <a:pt x="37928" y="136268"/>
                </a:cubicBezTo>
                <a:cubicBezTo>
                  <a:pt x="39285" y="135905"/>
                  <a:pt x="40715" y="135905"/>
                  <a:pt x="42072" y="136268"/>
                </a:cubicBezTo>
                <a:cubicBezTo>
                  <a:pt x="43429" y="136632"/>
                  <a:pt x="44667" y="137347"/>
                  <a:pt x="45660" y="138340"/>
                </a:cubicBezTo>
                <a:lnTo>
                  <a:pt x="96000" y="188690"/>
                </a:lnTo>
                <a:lnTo>
                  <a:pt x="218340" y="66340"/>
                </a:lnTo>
                <a:cubicBezTo>
                  <a:pt x="219333" y="65347"/>
                  <a:pt x="220571" y="64632"/>
                  <a:pt x="221928" y="64268"/>
                </a:cubicBezTo>
                <a:cubicBezTo>
                  <a:pt x="223285" y="63905"/>
                  <a:pt x="224715" y="63905"/>
                  <a:pt x="226072" y="64268"/>
                </a:cubicBezTo>
                <a:cubicBezTo>
                  <a:pt x="227429" y="64632"/>
                  <a:pt x="228667" y="65347"/>
                  <a:pt x="229660" y="66340"/>
                </a:cubicBezTo>
                <a:cubicBezTo>
                  <a:pt x="230653" y="67333"/>
                  <a:pt x="231368" y="68571"/>
                  <a:pt x="231732" y="69928"/>
                </a:cubicBezTo>
                <a:cubicBezTo>
                  <a:pt x="232095" y="71285"/>
                  <a:pt x="232095" y="72715"/>
                  <a:pt x="231732" y="74072"/>
                </a:cubicBezTo>
                <a:cubicBezTo>
                  <a:pt x="231368" y="75429"/>
                  <a:pt x="230653" y="76667"/>
                  <a:pt x="229660" y="77660"/>
                </a:cubicBezTo>
                <a:close/>
              </a:path>
            </a:pathLst>
          </a:custGeom>
          <a:solidFill>
            <a:srgbClr val="C25A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3" name="Google Shape;203;p16"/>
          <p:cNvSpPr txBox="1"/>
          <p:nvPr/>
        </p:nvSpPr>
        <p:spPr>
          <a:xfrm>
            <a:off x="1655619" y="6080692"/>
            <a:ext cx="4351265" cy="153888"/>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s-MX" sz="950" u="none" cap="none" strike="noStrike">
                <a:solidFill>
                  <a:srgbClr val="0B2E6B"/>
                </a:solidFill>
                <a:latin typeface="Arial"/>
                <a:ea typeface="Arial"/>
                <a:cs typeface="Arial"/>
                <a:sym typeface="Arial"/>
              </a:rPr>
              <a:t>Tomar decisiones.</a:t>
            </a:r>
            <a:endParaRPr/>
          </a:p>
        </p:txBody>
      </p:sp>
      <p:sp>
        <p:nvSpPr>
          <p:cNvPr id="204" name="Google Shape;204;p16"/>
          <p:cNvSpPr txBox="1"/>
          <p:nvPr/>
        </p:nvSpPr>
        <p:spPr>
          <a:xfrm>
            <a:off x="1353867" y="6483028"/>
            <a:ext cx="4625020" cy="347596"/>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MX" sz="950" u="none" cap="none" strike="noStrike">
                <a:solidFill>
                  <a:srgbClr val="3A3A48"/>
                </a:solidFill>
                <a:latin typeface="Arial"/>
                <a:ea typeface="Arial"/>
                <a:cs typeface="Arial"/>
                <a:sym typeface="Arial"/>
              </a:rPr>
              <a:t>Si todo debe permanecer exactamente como fue definido al inicio, tendremos un tablero nuevo, pero no una forma de trabajo más adaptable.</a:t>
            </a:r>
            <a:endParaRPr/>
          </a:p>
        </p:txBody>
      </p:sp>
      <p:sp>
        <p:nvSpPr>
          <p:cNvPr id="205" name="Google Shape;205;p16"/>
          <p:cNvSpPr txBox="1"/>
          <p:nvPr/>
        </p:nvSpPr>
        <p:spPr>
          <a:xfrm>
            <a:off x="640808" y="1234440"/>
            <a:ext cx="5599972" cy="226472"/>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MX" sz="1450" u="none" cap="none" strike="noStrike">
                <a:solidFill>
                  <a:srgbClr val="664092"/>
                </a:solidFill>
                <a:latin typeface="Arial"/>
                <a:ea typeface="Arial"/>
                <a:cs typeface="Arial"/>
                <a:sym typeface="Arial"/>
              </a:rPr>
              <a:t>Cuando tenemos un tablero, pero nada puede cambiar</a:t>
            </a:r>
            <a:endParaRPr b="1" i="0" sz="1450" u="none" cap="none" strike="noStrike">
              <a:solidFill>
                <a:srgbClr val="664092"/>
              </a:solidFill>
              <a:latin typeface="Arial"/>
              <a:ea typeface="Arial"/>
              <a:cs typeface="Arial"/>
              <a:sym typeface="Arial"/>
            </a:endParaRPr>
          </a:p>
        </p:txBody>
      </p:sp>
      <p:sp>
        <p:nvSpPr>
          <p:cNvPr id="206" name="Google Shape;206;p16"/>
          <p:cNvSpPr txBox="1"/>
          <p:nvPr/>
        </p:nvSpPr>
        <p:spPr>
          <a:xfrm>
            <a:off x="640808" y="1623822"/>
            <a:ext cx="5599972" cy="2397772"/>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s-MX" sz="1100" u="none" cap="none" strike="noStrike">
                <a:solidFill>
                  <a:srgbClr val="56505B"/>
                </a:solidFill>
                <a:latin typeface="Arial"/>
                <a:ea typeface="Arial"/>
                <a:cs typeface="Arial"/>
                <a:sym typeface="Arial"/>
              </a:rPr>
              <a:t>Los tableros Kanban permiten visualizar las tareas y observar cómo avanza el trabajo por diferentes etapas. También pueden ayudar a reconocer bloqueos, gestionar el flujo y favorecer procesos de mejora continua (Asana, 2026). Sin embargo, trasladar tarjetas entre columnas no convierte automáticamente al equipo en ágil.</a:t>
            </a:r>
            <a:endParaRPr b="0" i="0" sz="1100" u="none" cap="none" strike="noStrike">
              <a:solidFill>
                <a:srgbClr val="56505B"/>
              </a:solidFill>
              <a:latin typeface="Arial"/>
              <a:ea typeface="Arial"/>
              <a:cs typeface="Arial"/>
              <a:sym typeface="Arial"/>
            </a:endParaRPr>
          </a:p>
          <a:p>
            <a:pPr indent="0" lvl="0" marL="0" marR="0" rtl="0" algn="l">
              <a:lnSpc>
                <a:spcPct val="130000"/>
              </a:lnSpc>
              <a:spcBef>
                <a:spcPts val="0"/>
              </a:spcBef>
              <a:spcAft>
                <a:spcPts val="0"/>
              </a:spcAft>
              <a:buNone/>
            </a:pPr>
            <a:r>
              <a:t/>
            </a:r>
            <a:endParaRPr b="0" i="0" sz="1100" u="none" cap="none" strike="noStrike">
              <a:solidFill>
                <a:srgbClr val="56505B"/>
              </a:solidFill>
              <a:latin typeface="Arial"/>
              <a:ea typeface="Arial"/>
              <a:cs typeface="Arial"/>
              <a:sym typeface="Arial"/>
            </a:endParaRPr>
          </a:p>
          <a:p>
            <a:pPr indent="0" lvl="0" marL="0" marR="0" rtl="0" algn="l">
              <a:lnSpc>
                <a:spcPct val="130000"/>
              </a:lnSpc>
              <a:spcBef>
                <a:spcPts val="0"/>
              </a:spcBef>
              <a:spcAft>
                <a:spcPts val="0"/>
              </a:spcAft>
              <a:buNone/>
            </a:pPr>
            <a:r>
              <a:rPr b="0" i="0" lang="es-MX" sz="1100" u="none" cap="none" strike="noStrike">
                <a:solidFill>
                  <a:srgbClr val="56505B"/>
                </a:solidFill>
                <a:latin typeface="Arial"/>
                <a:ea typeface="Arial"/>
                <a:cs typeface="Arial"/>
                <a:sym typeface="Arial"/>
              </a:rPr>
              <a:t>Imaginemos que durante el proyecto identificamos una necesidad más importante del usuario, pero no podemos revisar las prioridades porque todas las tareas fueron establecidas desde el comienzo y deben ejecutarse exactamente en ese orden. El tablero continúa funcionando como instrumento de visualización, pero nuestra capacidad de adaptación permanece limitada. La herramienta aporta mayor valor cuando la información que hace visible contribuye a analizar el trabajo y orientar decisiones.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7"/>
          <p:cNvSpPr/>
          <p:nvPr/>
        </p:nvSpPr>
        <p:spPr>
          <a:xfrm>
            <a:off x="638485" y="723900"/>
            <a:ext cx="4086110"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Agilidad más allá de las herramientas</a:t>
            </a:r>
            <a:endParaRPr b="0" i="0" sz="1400" u="none" cap="none" strike="noStrike">
              <a:solidFill>
                <a:srgbClr val="000000"/>
              </a:solidFill>
              <a:latin typeface="Arial"/>
              <a:ea typeface="Arial"/>
              <a:cs typeface="Arial"/>
              <a:sym typeface="Arial"/>
            </a:endParaRPr>
          </a:p>
        </p:txBody>
      </p:sp>
      <p:sp>
        <p:nvSpPr>
          <p:cNvPr id="212" name="Google Shape;212;p17"/>
          <p:cNvSpPr txBox="1"/>
          <p:nvPr/>
        </p:nvSpPr>
        <p:spPr>
          <a:xfrm>
            <a:off x="640080" y="1143000"/>
            <a:ext cx="557784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MX" sz="950" u="none" cap="none" strike="noStrike">
                <a:solidFill>
                  <a:srgbClr val="3560D6"/>
                </a:solidFill>
                <a:latin typeface="Arial"/>
                <a:ea typeface="Arial"/>
                <a:cs typeface="Arial"/>
                <a:sym typeface="Arial"/>
              </a:rPr>
              <a:t>FIGURA 3 · COMPARATIVA DE FLUJOS</a:t>
            </a:r>
            <a:endParaRPr/>
          </a:p>
        </p:txBody>
      </p:sp>
      <p:sp>
        <p:nvSpPr>
          <p:cNvPr id="213" name="Google Shape;213;p17"/>
          <p:cNvSpPr txBox="1"/>
          <p:nvPr/>
        </p:nvSpPr>
        <p:spPr>
          <a:xfrm>
            <a:off x="640080" y="1380744"/>
            <a:ext cx="5577840" cy="25450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MX" sz="1300" u="none" cap="none" strike="noStrike">
                <a:solidFill>
                  <a:srgbClr val="664092"/>
                </a:solidFill>
                <a:latin typeface="Arial"/>
                <a:ea typeface="Arial"/>
                <a:cs typeface="Arial"/>
                <a:sym typeface="Arial"/>
              </a:rPr>
              <a:t>Dos formas de utilizar un tablero</a:t>
            </a:r>
            <a:endParaRPr/>
          </a:p>
        </p:txBody>
      </p:sp>
      <p:sp>
        <p:nvSpPr>
          <p:cNvPr id="214" name="Google Shape;214;p17"/>
          <p:cNvSpPr txBox="1"/>
          <p:nvPr/>
        </p:nvSpPr>
        <p:spPr>
          <a:xfrm>
            <a:off x="640080" y="1671828"/>
            <a:ext cx="5577840" cy="436626"/>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MX" sz="1050" u="none" cap="none" strike="noStrike">
                <a:solidFill>
                  <a:srgbClr val="56505B"/>
                </a:solidFill>
                <a:latin typeface="Arial"/>
                <a:ea typeface="Arial"/>
                <a:cs typeface="Arial"/>
                <a:sym typeface="Arial"/>
              </a:rPr>
              <a:t>La misma herramienta puede llevar a resultados muy diferentes según las preguntas y decisiones que la acompañen.</a:t>
            </a:r>
            <a:endParaRPr/>
          </a:p>
        </p:txBody>
      </p:sp>
      <p:sp>
        <p:nvSpPr>
          <p:cNvPr id="215" name="Google Shape;215;p17"/>
          <p:cNvSpPr/>
          <p:nvPr/>
        </p:nvSpPr>
        <p:spPr>
          <a:xfrm>
            <a:off x="640080" y="2266340"/>
            <a:ext cx="2616705" cy="4121760"/>
          </a:xfrm>
          <a:prstGeom prst="roundRect">
            <a:avLst>
              <a:gd fmla="val 4387" name="adj"/>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6" name="Google Shape;216;p17"/>
          <p:cNvSpPr/>
          <p:nvPr/>
        </p:nvSpPr>
        <p:spPr>
          <a:xfrm>
            <a:off x="640080" y="2266340"/>
            <a:ext cx="2616705" cy="755904"/>
          </a:xfrm>
          <a:prstGeom prst="roundRect">
            <a:avLst>
              <a:gd fmla="val 14516" name="adj"/>
            </a:avLst>
          </a:prstGeom>
          <a:solidFill>
            <a:srgbClr val="A719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7" name="Google Shape;217;p17"/>
          <p:cNvSpPr/>
          <p:nvPr/>
        </p:nvSpPr>
        <p:spPr>
          <a:xfrm>
            <a:off x="763782" y="2357780"/>
            <a:ext cx="384048" cy="384048"/>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8" name="Google Shape;218;p17"/>
          <p:cNvSpPr/>
          <p:nvPr/>
        </p:nvSpPr>
        <p:spPr>
          <a:xfrm>
            <a:off x="848273" y="2442271"/>
            <a:ext cx="215067" cy="215067"/>
          </a:xfrm>
          <a:custGeom>
            <a:rect b="b" l="l" r="r" t="t"/>
            <a:pathLst>
              <a:path extrusionOk="0" h="256000" w="256000">
                <a:moveTo>
                  <a:pt x="224000" y="128000"/>
                </a:moveTo>
                <a:cubicBezTo>
                  <a:pt x="224000" y="129404"/>
                  <a:pt x="223630" y="130784"/>
                  <a:pt x="222928" y="132000"/>
                </a:cubicBezTo>
                <a:cubicBezTo>
                  <a:pt x="222226" y="133216"/>
                  <a:pt x="221216" y="134226"/>
                  <a:pt x="220000" y="134928"/>
                </a:cubicBezTo>
                <a:cubicBezTo>
                  <a:pt x="218784" y="135630"/>
                  <a:pt x="217404" y="136000"/>
                  <a:pt x="216000" y="136000"/>
                </a:cubicBezTo>
                <a:lnTo>
                  <a:pt x="128000" y="136000"/>
                </a:lnTo>
                <a:cubicBezTo>
                  <a:pt x="126596" y="136000"/>
                  <a:pt x="125216" y="135630"/>
                  <a:pt x="124000" y="134928"/>
                </a:cubicBezTo>
                <a:cubicBezTo>
                  <a:pt x="122784" y="134226"/>
                  <a:pt x="121774" y="133216"/>
                  <a:pt x="121072" y="132000"/>
                </a:cubicBezTo>
                <a:cubicBezTo>
                  <a:pt x="120370" y="130784"/>
                  <a:pt x="120000" y="129404"/>
                  <a:pt x="120000" y="128000"/>
                </a:cubicBezTo>
                <a:cubicBezTo>
                  <a:pt x="120000" y="126596"/>
                  <a:pt x="120370" y="125216"/>
                  <a:pt x="121072" y="124000"/>
                </a:cubicBezTo>
                <a:cubicBezTo>
                  <a:pt x="121774" y="122784"/>
                  <a:pt x="122784" y="121774"/>
                  <a:pt x="124000" y="121072"/>
                </a:cubicBezTo>
                <a:cubicBezTo>
                  <a:pt x="125216" y="120370"/>
                  <a:pt x="126596" y="120000"/>
                  <a:pt x="128000" y="120000"/>
                </a:cubicBezTo>
                <a:lnTo>
                  <a:pt x="216000" y="120000"/>
                </a:lnTo>
                <a:cubicBezTo>
                  <a:pt x="217404" y="120000"/>
                  <a:pt x="218784" y="120370"/>
                  <a:pt x="220000" y="121072"/>
                </a:cubicBezTo>
                <a:cubicBezTo>
                  <a:pt x="221216" y="121774"/>
                  <a:pt x="222226" y="122784"/>
                  <a:pt x="222928" y="124000"/>
                </a:cubicBezTo>
                <a:cubicBezTo>
                  <a:pt x="223630" y="125216"/>
                  <a:pt x="224000" y="126596"/>
                  <a:pt x="224000" y="128000"/>
                </a:cubicBezTo>
                <a:close/>
                <a:moveTo>
                  <a:pt x="128000" y="72000"/>
                </a:moveTo>
                <a:lnTo>
                  <a:pt x="216000" y="72000"/>
                </a:lnTo>
                <a:cubicBezTo>
                  <a:pt x="217404" y="72000"/>
                  <a:pt x="218784" y="71630"/>
                  <a:pt x="220000" y="70928"/>
                </a:cubicBezTo>
                <a:cubicBezTo>
                  <a:pt x="221216" y="70226"/>
                  <a:pt x="222226" y="69216"/>
                  <a:pt x="222928" y="68000"/>
                </a:cubicBezTo>
                <a:cubicBezTo>
                  <a:pt x="223630" y="66784"/>
                  <a:pt x="224000" y="65404"/>
                  <a:pt x="224000" y="64000"/>
                </a:cubicBezTo>
                <a:cubicBezTo>
                  <a:pt x="224000" y="62596"/>
                  <a:pt x="223630" y="61216"/>
                  <a:pt x="222928" y="60000"/>
                </a:cubicBezTo>
                <a:cubicBezTo>
                  <a:pt x="222226" y="58784"/>
                  <a:pt x="221216" y="57774"/>
                  <a:pt x="220000" y="57072"/>
                </a:cubicBezTo>
                <a:cubicBezTo>
                  <a:pt x="218784" y="56370"/>
                  <a:pt x="217404" y="56000"/>
                  <a:pt x="216000" y="56000"/>
                </a:cubicBezTo>
                <a:lnTo>
                  <a:pt x="128000" y="56000"/>
                </a:lnTo>
                <a:cubicBezTo>
                  <a:pt x="126596" y="56000"/>
                  <a:pt x="125216" y="56370"/>
                  <a:pt x="124000" y="57072"/>
                </a:cubicBezTo>
                <a:cubicBezTo>
                  <a:pt x="122784" y="57774"/>
                  <a:pt x="121774" y="58784"/>
                  <a:pt x="121072" y="60000"/>
                </a:cubicBezTo>
                <a:cubicBezTo>
                  <a:pt x="120370" y="61216"/>
                  <a:pt x="120000" y="62596"/>
                  <a:pt x="120000" y="64000"/>
                </a:cubicBezTo>
                <a:cubicBezTo>
                  <a:pt x="120000" y="65404"/>
                  <a:pt x="120370" y="66784"/>
                  <a:pt x="121072" y="68000"/>
                </a:cubicBezTo>
                <a:cubicBezTo>
                  <a:pt x="121774" y="69216"/>
                  <a:pt x="122784" y="70226"/>
                  <a:pt x="124000" y="70928"/>
                </a:cubicBezTo>
                <a:cubicBezTo>
                  <a:pt x="125216" y="71630"/>
                  <a:pt x="126596" y="72000"/>
                  <a:pt x="128000" y="72000"/>
                </a:cubicBezTo>
                <a:close/>
                <a:moveTo>
                  <a:pt x="216000" y="184000"/>
                </a:moveTo>
                <a:lnTo>
                  <a:pt x="128000" y="184000"/>
                </a:lnTo>
                <a:cubicBezTo>
                  <a:pt x="126596" y="184000"/>
                  <a:pt x="125216" y="184370"/>
                  <a:pt x="124000" y="185072"/>
                </a:cubicBezTo>
                <a:cubicBezTo>
                  <a:pt x="122784" y="185774"/>
                  <a:pt x="121774" y="186784"/>
                  <a:pt x="121072" y="188000"/>
                </a:cubicBezTo>
                <a:cubicBezTo>
                  <a:pt x="120370" y="189216"/>
                  <a:pt x="120000" y="190596"/>
                  <a:pt x="120000" y="192000"/>
                </a:cubicBezTo>
                <a:cubicBezTo>
                  <a:pt x="120000" y="193404"/>
                  <a:pt x="120370" y="194784"/>
                  <a:pt x="121072" y="196000"/>
                </a:cubicBezTo>
                <a:cubicBezTo>
                  <a:pt x="121774" y="197216"/>
                  <a:pt x="122784" y="198226"/>
                  <a:pt x="124000" y="198928"/>
                </a:cubicBezTo>
                <a:cubicBezTo>
                  <a:pt x="125216" y="199630"/>
                  <a:pt x="126596" y="200000"/>
                  <a:pt x="128000" y="200000"/>
                </a:cubicBezTo>
                <a:lnTo>
                  <a:pt x="216000" y="200000"/>
                </a:lnTo>
                <a:cubicBezTo>
                  <a:pt x="217404" y="200000"/>
                  <a:pt x="218784" y="199630"/>
                  <a:pt x="220000" y="198928"/>
                </a:cubicBezTo>
                <a:cubicBezTo>
                  <a:pt x="221216" y="198226"/>
                  <a:pt x="222226" y="197216"/>
                  <a:pt x="222928" y="196000"/>
                </a:cubicBezTo>
                <a:cubicBezTo>
                  <a:pt x="223630" y="194784"/>
                  <a:pt x="224000" y="193404"/>
                  <a:pt x="224000" y="192000"/>
                </a:cubicBezTo>
                <a:cubicBezTo>
                  <a:pt x="224000" y="190596"/>
                  <a:pt x="223630" y="189216"/>
                  <a:pt x="222928" y="188000"/>
                </a:cubicBezTo>
                <a:cubicBezTo>
                  <a:pt x="222226" y="186784"/>
                  <a:pt x="221216" y="185774"/>
                  <a:pt x="220000" y="185072"/>
                </a:cubicBezTo>
                <a:cubicBezTo>
                  <a:pt x="218784" y="184370"/>
                  <a:pt x="217404" y="184000"/>
                  <a:pt x="216000" y="184000"/>
                </a:cubicBezTo>
                <a:close/>
                <a:moveTo>
                  <a:pt x="82340" y="42340"/>
                </a:moveTo>
                <a:lnTo>
                  <a:pt x="56000" y="68690"/>
                </a:lnTo>
                <a:lnTo>
                  <a:pt x="45660" y="58340"/>
                </a:lnTo>
                <a:cubicBezTo>
                  <a:pt x="44667" y="57347"/>
                  <a:pt x="43429" y="56632"/>
                  <a:pt x="42072" y="56268"/>
                </a:cubicBezTo>
                <a:cubicBezTo>
                  <a:pt x="40715" y="55905"/>
                  <a:pt x="39285" y="55905"/>
                  <a:pt x="37928" y="56268"/>
                </a:cubicBezTo>
                <a:cubicBezTo>
                  <a:pt x="36571" y="56632"/>
                  <a:pt x="35333" y="57347"/>
                  <a:pt x="34340" y="58340"/>
                </a:cubicBezTo>
                <a:cubicBezTo>
                  <a:pt x="33347" y="59333"/>
                  <a:pt x="32632" y="60571"/>
                  <a:pt x="32268" y="61928"/>
                </a:cubicBezTo>
                <a:cubicBezTo>
                  <a:pt x="31905" y="63285"/>
                  <a:pt x="31905" y="64715"/>
                  <a:pt x="32268" y="66072"/>
                </a:cubicBezTo>
                <a:cubicBezTo>
                  <a:pt x="32632" y="67429"/>
                  <a:pt x="33347" y="68667"/>
                  <a:pt x="34340" y="69660"/>
                </a:cubicBezTo>
                <a:lnTo>
                  <a:pt x="50340" y="85660"/>
                </a:lnTo>
                <a:cubicBezTo>
                  <a:pt x="51083" y="86404"/>
                  <a:pt x="51965" y="86994"/>
                  <a:pt x="52936" y="87396"/>
                </a:cubicBezTo>
                <a:cubicBezTo>
                  <a:pt x="53908" y="87799"/>
                  <a:pt x="54949" y="88006"/>
                  <a:pt x="56000" y="88006"/>
                </a:cubicBezTo>
                <a:cubicBezTo>
                  <a:pt x="57051" y="88006"/>
                  <a:pt x="58092" y="87799"/>
                  <a:pt x="59064" y="87396"/>
                </a:cubicBezTo>
                <a:cubicBezTo>
                  <a:pt x="60035" y="86994"/>
                  <a:pt x="60917" y="86404"/>
                  <a:pt x="61660" y="85660"/>
                </a:cubicBezTo>
                <a:lnTo>
                  <a:pt x="93660" y="53660"/>
                </a:lnTo>
                <a:cubicBezTo>
                  <a:pt x="94653" y="52667"/>
                  <a:pt x="95368" y="51429"/>
                  <a:pt x="95732" y="50072"/>
                </a:cubicBezTo>
                <a:cubicBezTo>
                  <a:pt x="96095" y="48715"/>
                  <a:pt x="96095" y="47285"/>
                  <a:pt x="95732" y="45928"/>
                </a:cubicBezTo>
                <a:cubicBezTo>
                  <a:pt x="95368" y="44571"/>
                  <a:pt x="94653" y="43333"/>
                  <a:pt x="93660" y="42340"/>
                </a:cubicBezTo>
                <a:cubicBezTo>
                  <a:pt x="92667" y="41347"/>
                  <a:pt x="91429" y="40632"/>
                  <a:pt x="90072" y="40268"/>
                </a:cubicBezTo>
                <a:cubicBezTo>
                  <a:pt x="88715" y="39905"/>
                  <a:pt x="87285" y="39905"/>
                  <a:pt x="85928" y="40268"/>
                </a:cubicBezTo>
                <a:cubicBezTo>
                  <a:pt x="84571" y="40632"/>
                  <a:pt x="83333" y="41347"/>
                  <a:pt x="82340" y="42340"/>
                </a:cubicBezTo>
                <a:close/>
                <a:moveTo>
                  <a:pt x="82340" y="106340"/>
                </a:moveTo>
                <a:lnTo>
                  <a:pt x="56000" y="132690"/>
                </a:lnTo>
                <a:lnTo>
                  <a:pt x="45660" y="122340"/>
                </a:lnTo>
                <a:cubicBezTo>
                  <a:pt x="44667" y="121347"/>
                  <a:pt x="43429" y="120632"/>
                  <a:pt x="42072" y="120268"/>
                </a:cubicBezTo>
                <a:cubicBezTo>
                  <a:pt x="40715" y="119905"/>
                  <a:pt x="39285" y="119905"/>
                  <a:pt x="37928" y="120268"/>
                </a:cubicBezTo>
                <a:cubicBezTo>
                  <a:pt x="36571" y="120632"/>
                  <a:pt x="35333" y="121347"/>
                  <a:pt x="34340" y="122340"/>
                </a:cubicBezTo>
                <a:cubicBezTo>
                  <a:pt x="33347" y="123333"/>
                  <a:pt x="32632" y="124571"/>
                  <a:pt x="32268" y="125928"/>
                </a:cubicBezTo>
                <a:cubicBezTo>
                  <a:pt x="31905" y="127285"/>
                  <a:pt x="31905" y="128715"/>
                  <a:pt x="32268" y="130072"/>
                </a:cubicBezTo>
                <a:cubicBezTo>
                  <a:pt x="32632" y="131429"/>
                  <a:pt x="33347" y="132667"/>
                  <a:pt x="34340" y="133660"/>
                </a:cubicBezTo>
                <a:lnTo>
                  <a:pt x="50340" y="149660"/>
                </a:lnTo>
                <a:cubicBezTo>
                  <a:pt x="51083" y="150404"/>
                  <a:pt x="51965" y="150994"/>
                  <a:pt x="52936" y="151396"/>
                </a:cubicBezTo>
                <a:cubicBezTo>
                  <a:pt x="53908" y="151799"/>
                  <a:pt x="54949" y="152006"/>
                  <a:pt x="56000" y="152006"/>
                </a:cubicBezTo>
                <a:cubicBezTo>
                  <a:pt x="57051" y="152006"/>
                  <a:pt x="58092" y="151799"/>
                  <a:pt x="59064" y="151396"/>
                </a:cubicBezTo>
                <a:cubicBezTo>
                  <a:pt x="60035" y="150994"/>
                  <a:pt x="60917" y="150404"/>
                  <a:pt x="61660" y="149660"/>
                </a:cubicBezTo>
                <a:lnTo>
                  <a:pt x="93660" y="117660"/>
                </a:lnTo>
                <a:cubicBezTo>
                  <a:pt x="94653" y="116667"/>
                  <a:pt x="95368" y="115429"/>
                  <a:pt x="95732" y="114072"/>
                </a:cubicBezTo>
                <a:cubicBezTo>
                  <a:pt x="96095" y="112715"/>
                  <a:pt x="96095" y="111285"/>
                  <a:pt x="95732" y="109928"/>
                </a:cubicBezTo>
                <a:cubicBezTo>
                  <a:pt x="95368" y="108571"/>
                  <a:pt x="94653" y="107333"/>
                  <a:pt x="93660" y="106340"/>
                </a:cubicBezTo>
                <a:cubicBezTo>
                  <a:pt x="92667" y="105347"/>
                  <a:pt x="91429" y="104632"/>
                  <a:pt x="90072" y="104268"/>
                </a:cubicBezTo>
                <a:cubicBezTo>
                  <a:pt x="88715" y="103905"/>
                  <a:pt x="87285" y="103905"/>
                  <a:pt x="85928" y="104268"/>
                </a:cubicBezTo>
                <a:cubicBezTo>
                  <a:pt x="84571" y="104632"/>
                  <a:pt x="83333" y="105347"/>
                  <a:pt x="82340" y="106340"/>
                </a:cubicBezTo>
                <a:close/>
                <a:moveTo>
                  <a:pt x="82340" y="170340"/>
                </a:moveTo>
                <a:lnTo>
                  <a:pt x="56000" y="196690"/>
                </a:lnTo>
                <a:lnTo>
                  <a:pt x="45660" y="186340"/>
                </a:lnTo>
                <a:cubicBezTo>
                  <a:pt x="44667" y="185347"/>
                  <a:pt x="43429" y="184632"/>
                  <a:pt x="42072" y="184268"/>
                </a:cubicBezTo>
                <a:cubicBezTo>
                  <a:pt x="40715" y="183905"/>
                  <a:pt x="39285" y="183905"/>
                  <a:pt x="37928" y="184268"/>
                </a:cubicBezTo>
                <a:cubicBezTo>
                  <a:pt x="36571" y="184632"/>
                  <a:pt x="35333" y="185347"/>
                  <a:pt x="34340" y="186340"/>
                </a:cubicBezTo>
                <a:cubicBezTo>
                  <a:pt x="33347" y="187333"/>
                  <a:pt x="32632" y="188571"/>
                  <a:pt x="32268" y="189928"/>
                </a:cubicBezTo>
                <a:cubicBezTo>
                  <a:pt x="31905" y="191285"/>
                  <a:pt x="31905" y="192715"/>
                  <a:pt x="32268" y="194072"/>
                </a:cubicBezTo>
                <a:cubicBezTo>
                  <a:pt x="32632" y="195429"/>
                  <a:pt x="33347" y="196667"/>
                  <a:pt x="34340" y="197660"/>
                </a:cubicBezTo>
                <a:lnTo>
                  <a:pt x="50340" y="213660"/>
                </a:lnTo>
                <a:cubicBezTo>
                  <a:pt x="51083" y="214404"/>
                  <a:pt x="51965" y="214994"/>
                  <a:pt x="52936" y="215396"/>
                </a:cubicBezTo>
                <a:cubicBezTo>
                  <a:pt x="53908" y="215799"/>
                  <a:pt x="54949" y="216006"/>
                  <a:pt x="56000" y="216006"/>
                </a:cubicBezTo>
                <a:cubicBezTo>
                  <a:pt x="57051" y="216006"/>
                  <a:pt x="58092" y="215799"/>
                  <a:pt x="59064" y="215396"/>
                </a:cubicBezTo>
                <a:cubicBezTo>
                  <a:pt x="60035" y="214994"/>
                  <a:pt x="60917" y="214404"/>
                  <a:pt x="61660" y="213660"/>
                </a:cubicBezTo>
                <a:lnTo>
                  <a:pt x="93660" y="181660"/>
                </a:lnTo>
                <a:cubicBezTo>
                  <a:pt x="94653" y="180667"/>
                  <a:pt x="95368" y="179429"/>
                  <a:pt x="95732" y="178072"/>
                </a:cubicBezTo>
                <a:cubicBezTo>
                  <a:pt x="96095" y="176715"/>
                  <a:pt x="96095" y="175285"/>
                  <a:pt x="95732" y="173928"/>
                </a:cubicBezTo>
                <a:cubicBezTo>
                  <a:pt x="95368" y="172571"/>
                  <a:pt x="94653" y="171333"/>
                  <a:pt x="93660" y="170340"/>
                </a:cubicBezTo>
                <a:cubicBezTo>
                  <a:pt x="92667" y="169347"/>
                  <a:pt x="91429" y="168632"/>
                  <a:pt x="90072" y="168268"/>
                </a:cubicBezTo>
                <a:cubicBezTo>
                  <a:pt x="88715" y="167905"/>
                  <a:pt x="87285" y="167905"/>
                  <a:pt x="85928" y="168268"/>
                </a:cubicBezTo>
                <a:cubicBezTo>
                  <a:pt x="84571" y="168632"/>
                  <a:pt x="83333" y="169347"/>
                  <a:pt x="82340" y="170340"/>
                </a:cubicBezTo>
                <a:close/>
              </a:path>
            </a:pathLst>
          </a:custGeom>
          <a:solidFill>
            <a:srgbClr val="A7198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9" name="Google Shape;219;p17"/>
          <p:cNvSpPr txBox="1"/>
          <p:nvPr/>
        </p:nvSpPr>
        <p:spPr>
          <a:xfrm>
            <a:off x="1261404" y="2384756"/>
            <a:ext cx="1771296" cy="494687"/>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MX" sz="1000" u="none" cap="none" strike="noStrike">
                <a:solidFill>
                  <a:srgbClr val="FFFFFF"/>
                </a:solidFill>
                <a:latin typeface="Arial"/>
                <a:ea typeface="Arial"/>
                <a:cs typeface="Arial"/>
                <a:sym typeface="Arial"/>
              </a:rPr>
              <a:t>Tablero como lista de chequeo: control estático de tareas</a:t>
            </a:r>
            <a:endParaRPr b="1" i="0" sz="1000" u="none" cap="none" strike="noStrike">
              <a:solidFill>
                <a:srgbClr val="FFFFFF"/>
              </a:solidFill>
              <a:latin typeface="Arial"/>
              <a:ea typeface="Arial"/>
              <a:cs typeface="Arial"/>
              <a:sym typeface="Arial"/>
            </a:endParaRPr>
          </a:p>
        </p:txBody>
      </p:sp>
      <p:sp>
        <p:nvSpPr>
          <p:cNvPr id="220" name="Google Shape;220;p17"/>
          <p:cNvSpPr/>
          <p:nvPr/>
        </p:nvSpPr>
        <p:spPr>
          <a:xfrm>
            <a:off x="754889" y="3199028"/>
            <a:ext cx="2387085" cy="391668"/>
          </a:xfrm>
          <a:prstGeom prst="roundRect">
            <a:avLst>
              <a:gd fmla="val 23346"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1" name="Google Shape;221;p17"/>
          <p:cNvSpPr/>
          <p:nvPr/>
        </p:nvSpPr>
        <p:spPr>
          <a:xfrm>
            <a:off x="856069" y="3275990"/>
            <a:ext cx="237744" cy="237744"/>
          </a:xfrm>
          <a:custGeom>
            <a:rect b="b" l="l" r="r" t="t"/>
            <a:pathLst>
              <a:path extrusionOk="0" h="256000" w="256000">
                <a:moveTo>
                  <a:pt x="247310" y="124760"/>
                </a:moveTo>
                <a:cubicBezTo>
                  <a:pt x="246960" y="123970"/>
                  <a:pt x="238490" y="105180"/>
                  <a:pt x="219660" y="86350"/>
                </a:cubicBezTo>
                <a:cubicBezTo>
                  <a:pt x="194570" y="61260"/>
                  <a:pt x="162880" y="48000"/>
                  <a:pt x="128000" y="48000"/>
                </a:cubicBezTo>
                <a:cubicBezTo>
                  <a:pt x="93120" y="48000"/>
                  <a:pt x="61430" y="61260"/>
                  <a:pt x="36340" y="86350"/>
                </a:cubicBezTo>
                <a:cubicBezTo>
                  <a:pt x="17510" y="105180"/>
                  <a:pt x="9000" y="124000"/>
                  <a:pt x="8690" y="124760"/>
                </a:cubicBezTo>
                <a:cubicBezTo>
                  <a:pt x="8235" y="125783"/>
                  <a:pt x="8000" y="126890"/>
                  <a:pt x="8000" y="128010"/>
                </a:cubicBezTo>
                <a:cubicBezTo>
                  <a:pt x="8000" y="129130"/>
                  <a:pt x="8235" y="130237"/>
                  <a:pt x="8690" y="131260"/>
                </a:cubicBezTo>
                <a:cubicBezTo>
                  <a:pt x="9040" y="132050"/>
                  <a:pt x="17510" y="150830"/>
                  <a:pt x="36340" y="169660"/>
                </a:cubicBezTo>
                <a:cubicBezTo>
                  <a:pt x="61430" y="194740"/>
                  <a:pt x="93120" y="208000"/>
                  <a:pt x="128000" y="208000"/>
                </a:cubicBezTo>
                <a:cubicBezTo>
                  <a:pt x="162880" y="208000"/>
                  <a:pt x="194570" y="194740"/>
                  <a:pt x="219660" y="169660"/>
                </a:cubicBezTo>
                <a:cubicBezTo>
                  <a:pt x="238490" y="150830"/>
                  <a:pt x="246960" y="132050"/>
                  <a:pt x="247310" y="131260"/>
                </a:cubicBezTo>
                <a:cubicBezTo>
                  <a:pt x="247765" y="130237"/>
                  <a:pt x="248000" y="129130"/>
                  <a:pt x="248000" y="128010"/>
                </a:cubicBezTo>
                <a:cubicBezTo>
                  <a:pt x="248000" y="126890"/>
                  <a:pt x="247765" y="125783"/>
                  <a:pt x="247310" y="124760"/>
                </a:cubicBezTo>
                <a:close/>
                <a:moveTo>
                  <a:pt x="128000" y="192000"/>
                </a:moveTo>
                <a:cubicBezTo>
                  <a:pt x="97220" y="192000"/>
                  <a:pt x="70330" y="180810"/>
                  <a:pt x="48070" y="158750"/>
                </a:cubicBezTo>
                <a:cubicBezTo>
                  <a:pt x="38937" y="149667"/>
                  <a:pt x="31166" y="139309"/>
                  <a:pt x="25000" y="128000"/>
                </a:cubicBezTo>
                <a:cubicBezTo>
                  <a:pt x="31164" y="116689"/>
                  <a:pt x="38935" y="106332"/>
                  <a:pt x="48070" y="97250"/>
                </a:cubicBezTo>
                <a:cubicBezTo>
                  <a:pt x="70330" y="75190"/>
                  <a:pt x="97220" y="64000"/>
                  <a:pt x="128000" y="64000"/>
                </a:cubicBezTo>
                <a:cubicBezTo>
                  <a:pt x="158780" y="64000"/>
                  <a:pt x="185670" y="75190"/>
                  <a:pt x="207930" y="97250"/>
                </a:cubicBezTo>
                <a:cubicBezTo>
                  <a:pt x="217081" y="106330"/>
                  <a:pt x="224869" y="116687"/>
                  <a:pt x="231050" y="128000"/>
                </a:cubicBezTo>
                <a:cubicBezTo>
                  <a:pt x="223840" y="141460"/>
                  <a:pt x="192430" y="192000"/>
                  <a:pt x="128000" y="192000"/>
                </a:cubicBezTo>
                <a:close/>
                <a:moveTo>
                  <a:pt x="128000" y="80000"/>
                </a:moveTo>
                <a:cubicBezTo>
                  <a:pt x="119575" y="80000"/>
                  <a:pt x="111296" y="82218"/>
                  <a:pt x="104000" y="86431"/>
                </a:cubicBezTo>
                <a:cubicBezTo>
                  <a:pt x="96704" y="90643"/>
                  <a:pt x="90643" y="96704"/>
                  <a:pt x="86431" y="104000"/>
                </a:cubicBezTo>
                <a:cubicBezTo>
                  <a:pt x="82218" y="111296"/>
                  <a:pt x="80000" y="119575"/>
                  <a:pt x="80000" y="128000"/>
                </a:cubicBezTo>
                <a:cubicBezTo>
                  <a:pt x="80000" y="136425"/>
                  <a:pt x="82218" y="144704"/>
                  <a:pt x="86431" y="152000"/>
                </a:cubicBezTo>
                <a:cubicBezTo>
                  <a:pt x="90643" y="159296"/>
                  <a:pt x="96704" y="165357"/>
                  <a:pt x="104000" y="169569"/>
                </a:cubicBezTo>
                <a:cubicBezTo>
                  <a:pt x="111296" y="173782"/>
                  <a:pt x="119575" y="176000"/>
                  <a:pt x="128000" y="176000"/>
                </a:cubicBezTo>
                <a:cubicBezTo>
                  <a:pt x="136425" y="176000"/>
                  <a:pt x="144704" y="173782"/>
                  <a:pt x="152000" y="169569"/>
                </a:cubicBezTo>
                <a:cubicBezTo>
                  <a:pt x="159296" y="165357"/>
                  <a:pt x="165357" y="159296"/>
                  <a:pt x="169569" y="152000"/>
                </a:cubicBezTo>
                <a:cubicBezTo>
                  <a:pt x="173782" y="144704"/>
                  <a:pt x="176000" y="136425"/>
                  <a:pt x="176000" y="128000"/>
                </a:cubicBezTo>
                <a:cubicBezTo>
                  <a:pt x="175991" y="119577"/>
                  <a:pt x="173768" y="111303"/>
                  <a:pt x="169554" y="104011"/>
                </a:cubicBezTo>
                <a:cubicBezTo>
                  <a:pt x="165340" y="96718"/>
                  <a:pt x="159282" y="90660"/>
                  <a:pt x="151989" y="86446"/>
                </a:cubicBezTo>
                <a:cubicBezTo>
                  <a:pt x="144697" y="82232"/>
                  <a:pt x="136423" y="80009"/>
                  <a:pt x="128000" y="80000"/>
                </a:cubicBezTo>
                <a:close/>
                <a:moveTo>
                  <a:pt x="128000" y="160000"/>
                </a:moveTo>
                <a:cubicBezTo>
                  <a:pt x="122383" y="160000"/>
                  <a:pt x="116864" y="158521"/>
                  <a:pt x="112000" y="155713"/>
                </a:cubicBezTo>
                <a:cubicBezTo>
                  <a:pt x="107136" y="152904"/>
                  <a:pt x="103096" y="148864"/>
                  <a:pt x="100287" y="144000"/>
                </a:cubicBezTo>
                <a:cubicBezTo>
                  <a:pt x="97479" y="139136"/>
                  <a:pt x="96000" y="133617"/>
                  <a:pt x="96000" y="128000"/>
                </a:cubicBezTo>
                <a:cubicBezTo>
                  <a:pt x="96000" y="122383"/>
                  <a:pt x="97479" y="116864"/>
                  <a:pt x="100287" y="112000"/>
                </a:cubicBezTo>
                <a:cubicBezTo>
                  <a:pt x="103096" y="107136"/>
                  <a:pt x="107136" y="103096"/>
                  <a:pt x="112000" y="100287"/>
                </a:cubicBezTo>
                <a:cubicBezTo>
                  <a:pt x="116864" y="97479"/>
                  <a:pt x="122383" y="96000"/>
                  <a:pt x="128000" y="96000"/>
                </a:cubicBezTo>
                <a:cubicBezTo>
                  <a:pt x="133617" y="96000"/>
                  <a:pt x="139136" y="97479"/>
                  <a:pt x="144000" y="100287"/>
                </a:cubicBezTo>
                <a:cubicBezTo>
                  <a:pt x="148864" y="103096"/>
                  <a:pt x="152904" y="107136"/>
                  <a:pt x="155713" y="112000"/>
                </a:cubicBezTo>
                <a:cubicBezTo>
                  <a:pt x="158521" y="116864"/>
                  <a:pt x="160000" y="122383"/>
                  <a:pt x="160000" y="128000"/>
                </a:cubicBezTo>
                <a:cubicBezTo>
                  <a:pt x="160000" y="133617"/>
                  <a:pt x="158521" y="139136"/>
                  <a:pt x="155713" y="144000"/>
                </a:cubicBezTo>
                <a:cubicBezTo>
                  <a:pt x="152904" y="148864"/>
                  <a:pt x="148864" y="152904"/>
                  <a:pt x="144000" y="155713"/>
                </a:cubicBezTo>
                <a:cubicBezTo>
                  <a:pt x="139136" y="158521"/>
                  <a:pt x="133617" y="160000"/>
                  <a:pt x="128000" y="160000"/>
                </a:cubicBezTo>
                <a:close/>
              </a:path>
            </a:pathLst>
          </a:custGeom>
          <a:solidFill>
            <a:srgbClr val="A7198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2" name="Google Shape;222;p17"/>
          <p:cNvSpPr txBox="1"/>
          <p:nvPr/>
        </p:nvSpPr>
        <p:spPr>
          <a:xfrm>
            <a:off x="1194993" y="3199028"/>
            <a:ext cx="1899144" cy="391668"/>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0" i="0" lang="es-MX" sz="950" u="none" cap="none" strike="noStrike">
                <a:solidFill>
                  <a:srgbClr val="2E2E3A"/>
                </a:solidFill>
                <a:latin typeface="Arial"/>
                <a:ea typeface="Arial"/>
                <a:cs typeface="Arial"/>
                <a:sym typeface="Arial"/>
              </a:rPr>
              <a:t>1. Visualizamos tareas: hacemos visible lo que hay que hacer.</a:t>
            </a:r>
            <a:endParaRPr/>
          </a:p>
        </p:txBody>
      </p:sp>
      <p:sp>
        <p:nvSpPr>
          <p:cNvPr id="223" name="Google Shape;223;p17"/>
          <p:cNvSpPr/>
          <p:nvPr/>
        </p:nvSpPr>
        <p:spPr>
          <a:xfrm>
            <a:off x="754889" y="3645560"/>
            <a:ext cx="2387085" cy="391668"/>
          </a:xfrm>
          <a:prstGeom prst="roundRect">
            <a:avLst>
              <a:gd fmla="val 23346"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4" name="Google Shape;224;p17"/>
          <p:cNvSpPr/>
          <p:nvPr/>
        </p:nvSpPr>
        <p:spPr>
          <a:xfrm>
            <a:off x="856069" y="3722522"/>
            <a:ext cx="237744" cy="237744"/>
          </a:xfrm>
          <a:custGeom>
            <a:rect b="b" l="l" r="r" t="t"/>
            <a:pathLst>
              <a:path extrusionOk="0" h="256000" w="256000">
                <a:moveTo>
                  <a:pt x="221660" y="133660"/>
                </a:moveTo>
                <a:lnTo>
                  <a:pt x="149660" y="205660"/>
                </a:lnTo>
                <a:cubicBezTo>
                  <a:pt x="148667" y="206653"/>
                  <a:pt x="147429" y="207368"/>
                  <a:pt x="146072" y="207732"/>
                </a:cubicBezTo>
                <a:cubicBezTo>
                  <a:pt x="144715" y="208095"/>
                  <a:pt x="143285" y="208095"/>
                  <a:pt x="141928" y="207732"/>
                </a:cubicBezTo>
                <a:cubicBezTo>
                  <a:pt x="140571" y="207368"/>
                  <a:pt x="139333" y="206653"/>
                  <a:pt x="138340" y="205660"/>
                </a:cubicBezTo>
                <a:cubicBezTo>
                  <a:pt x="137347" y="204667"/>
                  <a:pt x="136632" y="203429"/>
                  <a:pt x="136268" y="202072"/>
                </a:cubicBezTo>
                <a:cubicBezTo>
                  <a:pt x="135905" y="200715"/>
                  <a:pt x="135905" y="199285"/>
                  <a:pt x="136268" y="197928"/>
                </a:cubicBezTo>
                <a:cubicBezTo>
                  <a:pt x="136632" y="196571"/>
                  <a:pt x="137347" y="195333"/>
                  <a:pt x="138340" y="194340"/>
                </a:cubicBezTo>
                <a:lnTo>
                  <a:pt x="196690" y="136000"/>
                </a:lnTo>
                <a:lnTo>
                  <a:pt x="40000" y="136000"/>
                </a:lnTo>
                <a:cubicBezTo>
                  <a:pt x="38596" y="136000"/>
                  <a:pt x="37216" y="135630"/>
                  <a:pt x="36000" y="134928"/>
                </a:cubicBezTo>
                <a:cubicBezTo>
                  <a:pt x="34784" y="134226"/>
                  <a:pt x="33774" y="133216"/>
                  <a:pt x="33072" y="132000"/>
                </a:cubicBezTo>
                <a:cubicBezTo>
                  <a:pt x="32370" y="130784"/>
                  <a:pt x="32000" y="129404"/>
                  <a:pt x="32000" y="128000"/>
                </a:cubicBezTo>
                <a:cubicBezTo>
                  <a:pt x="32000" y="126596"/>
                  <a:pt x="32370" y="125216"/>
                  <a:pt x="33072" y="124000"/>
                </a:cubicBezTo>
                <a:cubicBezTo>
                  <a:pt x="33774" y="122784"/>
                  <a:pt x="34784" y="121774"/>
                  <a:pt x="36000" y="121072"/>
                </a:cubicBezTo>
                <a:cubicBezTo>
                  <a:pt x="37216" y="120370"/>
                  <a:pt x="38596" y="120000"/>
                  <a:pt x="40000" y="120000"/>
                </a:cubicBezTo>
                <a:lnTo>
                  <a:pt x="196690" y="120000"/>
                </a:lnTo>
                <a:lnTo>
                  <a:pt x="138340" y="61660"/>
                </a:lnTo>
                <a:cubicBezTo>
                  <a:pt x="137347" y="60667"/>
                  <a:pt x="136632" y="59429"/>
                  <a:pt x="136268" y="58072"/>
                </a:cubicBezTo>
                <a:cubicBezTo>
                  <a:pt x="135905" y="56715"/>
                  <a:pt x="135905" y="55285"/>
                  <a:pt x="136268" y="53928"/>
                </a:cubicBezTo>
                <a:cubicBezTo>
                  <a:pt x="136632" y="52571"/>
                  <a:pt x="137347" y="51333"/>
                  <a:pt x="138340" y="50340"/>
                </a:cubicBezTo>
                <a:cubicBezTo>
                  <a:pt x="139333" y="49347"/>
                  <a:pt x="140571" y="48632"/>
                  <a:pt x="141928" y="48268"/>
                </a:cubicBezTo>
                <a:cubicBezTo>
                  <a:pt x="143285" y="47905"/>
                  <a:pt x="144715" y="47905"/>
                  <a:pt x="146072" y="48268"/>
                </a:cubicBezTo>
                <a:cubicBezTo>
                  <a:pt x="147429" y="48632"/>
                  <a:pt x="148667" y="49347"/>
                  <a:pt x="149660" y="50340"/>
                </a:cubicBezTo>
                <a:lnTo>
                  <a:pt x="221660" y="122340"/>
                </a:lnTo>
                <a:cubicBezTo>
                  <a:pt x="222404" y="123083"/>
                  <a:pt x="222994" y="123965"/>
                  <a:pt x="223396" y="124936"/>
                </a:cubicBezTo>
                <a:cubicBezTo>
                  <a:pt x="223799" y="125908"/>
                  <a:pt x="224006" y="126949"/>
                  <a:pt x="224006" y="128000"/>
                </a:cubicBezTo>
                <a:cubicBezTo>
                  <a:pt x="224006" y="129051"/>
                  <a:pt x="223799" y="130092"/>
                  <a:pt x="223396" y="131064"/>
                </a:cubicBezTo>
                <a:cubicBezTo>
                  <a:pt x="222994" y="132035"/>
                  <a:pt x="222404" y="132917"/>
                  <a:pt x="221660" y="133660"/>
                </a:cubicBezTo>
                <a:close/>
              </a:path>
            </a:pathLst>
          </a:custGeom>
          <a:solidFill>
            <a:srgbClr val="A7198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5" name="Google Shape;225;p17"/>
          <p:cNvSpPr txBox="1"/>
          <p:nvPr/>
        </p:nvSpPr>
        <p:spPr>
          <a:xfrm>
            <a:off x="1194993" y="3645560"/>
            <a:ext cx="1899144" cy="391668"/>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0" i="0" lang="es-MX" sz="950" u="none" cap="none" strike="noStrike">
                <a:solidFill>
                  <a:srgbClr val="2E2E3A"/>
                </a:solidFill>
                <a:latin typeface="Arial"/>
                <a:ea typeface="Arial"/>
                <a:cs typeface="Arial"/>
                <a:sym typeface="Arial"/>
              </a:rPr>
              <a:t>2. Movemos tareas: actualizamos el estado en el tablero.</a:t>
            </a:r>
            <a:endParaRPr/>
          </a:p>
        </p:txBody>
      </p:sp>
      <p:sp>
        <p:nvSpPr>
          <p:cNvPr id="226" name="Google Shape;226;p17"/>
          <p:cNvSpPr/>
          <p:nvPr/>
        </p:nvSpPr>
        <p:spPr>
          <a:xfrm>
            <a:off x="754889" y="4092092"/>
            <a:ext cx="2387085" cy="550926"/>
          </a:xfrm>
          <a:prstGeom prst="roundRect">
            <a:avLst>
              <a:gd fmla="val 16597"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7" name="Google Shape;227;p17"/>
          <p:cNvSpPr/>
          <p:nvPr/>
        </p:nvSpPr>
        <p:spPr>
          <a:xfrm>
            <a:off x="856069" y="4248683"/>
            <a:ext cx="237744" cy="237744"/>
          </a:xfrm>
          <a:custGeom>
            <a:rect b="b" l="l" r="r" t="t"/>
            <a:pathLst>
              <a:path extrusionOk="0" h="256000" w="256000">
                <a:moveTo>
                  <a:pt x="42760" y="50000"/>
                </a:moveTo>
                <a:cubicBezTo>
                  <a:pt x="41899" y="50746"/>
                  <a:pt x="41208" y="51667"/>
                  <a:pt x="40732" y="52702"/>
                </a:cubicBezTo>
                <a:cubicBezTo>
                  <a:pt x="40256" y="53737"/>
                  <a:pt x="40006" y="54861"/>
                  <a:pt x="40000" y="56000"/>
                </a:cubicBezTo>
                <a:lnTo>
                  <a:pt x="40000" y="224000"/>
                </a:lnTo>
                <a:cubicBezTo>
                  <a:pt x="40000" y="225404"/>
                  <a:pt x="40370" y="226784"/>
                  <a:pt x="41072" y="228000"/>
                </a:cubicBezTo>
                <a:cubicBezTo>
                  <a:pt x="41774" y="229216"/>
                  <a:pt x="42784" y="230226"/>
                  <a:pt x="44000" y="230928"/>
                </a:cubicBezTo>
                <a:cubicBezTo>
                  <a:pt x="45216" y="231630"/>
                  <a:pt x="46596" y="232000"/>
                  <a:pt x="48000" y="232000"/>
                </a:cubicBezTo>
                <a:cubicBezTo>
                  <a:pt x="49404" y="232000"/>
                  <a:pt x="50784" y="231630"/>
                  <a:pt x="52000" y="230928"/>
                </a:cubicBezTo>
                <a:cubicBezTo>
                  <a:pt x="53216" y="230226"/>
                  <a:pt x="54226" y="229216"/>
                  <a:pt x="54928" y="228000"/>
                </a:cubicBezTo>
                <a:cubicBezTo>
                  <a:pt x="55630" y="226784"/>
                  <a:pt x="56000" y="225404"/>
                  <a:pt x="56000" y="224000"/>
                </a:cubicBezTo>
                <a:lnTo>
                  <a:pt x="56000" y="179770"/>
                </a:lnTo>
                <a:cubicBezTo>
                  <a:pt x="82790" y="158610"/>
                  <a:pt x="105870" y="170020"/>
                  <a:pt x="132450" y="183180"/>
                </a:cubicBezTo>
                <a:cubicBezTo>
                  <a:pt x="148850" y="191290"/>
                  <a:pt x="166510" y="200030"/>
                  <a:pt x="185450" y="200030"/>
                </a:cubicBezTo>
                <a:cubicBezTo>
                  <a:pt x="199380" y="200030"/>
                  <a:pt x="213990" y="195280"/>
                  <a:pt x="229270" y="182030"/>
                </a:cubicBezTo>
                <a:cubicBezTo>
                  <a:pt x="230131" y="181284"/>
                  <a:pt x="230822" y="180363"/>
                  <a:pt x="231298" y="179328"/>
                </a:cubicBezTo>
                <a:cubicBezTo>
                  <a:pt x="231774" y="178293"/>
                  <a:pt x="232024" y="177169"/>
                  <a:pt x="232030" y="176030"/>
                </a:cubicBezTo>
                <a:lnTo>
                  <a:pt x="232030" y="56000"/>
                </a:lnTo>
                <a:cubicBezTo>
                  <a:pt x="232027" y="54775"/>
                  <a:pt x="231743" y="53566"/>
                  <a:pt x="231199" y="52468"/>
                </a:cubicBezTo>
                <a:cubicBezTo>
                  <a:pt x="230655" y="51370"/>
                  <a:pt x="229866" y="50412"/>
                  <a:pt x="228893" y="49667"/>
                </a:cubicBezTo>
                <a:cubicBezTo>
                  <a:pt x="227920" y="48922"/>
                  <a:pt x="226789" y="48410"/>
                  <a:pt x="225587" y="48172"/>
                </a:cubicBezTo>
                <a:cubicBezTo>
                  <a:pt x="224385" y="47933"/>
                  <a:pt x="223144" y="47974"/>
                  <a:pt x="221961" y="48291"/>
                </a:cubicBezTo>
                <a:cubicBezTo>
                  <a:pt x="220777" y="48608"/>
                  <a:pt x="219682" y="49193"/>
                  <a:pt x="218760" y="50000"/>
                </a:cubicBezTo>
                <a:cubicBezTo>
                  <a:pt x="190760" y="74230"/>
                  <a:pt x="167040" y="62490"/>
                  <a:pt x="139550" y="48880"/>
                </a:cubicBezTo>
                <a:cubicBezTo>
                  <a:pt x="111070" y="34760"/>
                  <a:pt x="78780" y="18790"/>
                  <a:pt x="42760" y="50000"/>
                </a:cubicBezTo>
                <a:close/>
                <a:moveTo>
                  <a:pt x="216000" y="172250"/>
                </a:moveTo>
                <a:cubicBezTo>
                  <a:pt x="189210" y="193410"/>
                  <a:pt x="166130" y="181990"/>
                  <a:pt x="139550" y="168840"/>
                </a:cubicBezTo>
                <a:cubicBezTo>
                  <a:pt x="114550" y="156490"/>
                  <a:pt x="86740" y="142710"/>
                  <a:pt x="56000" y="160440"/>
                </a:cubicBezTo>
                <a:lnTo>
                  <a:pt x="56000" y="59790"/>
                </a:lnTo>
                <a:cubicBezTo>
                  <a:pt x="82790" y="38630"/>
                  <a:pt x="105870" y="50040"/>
                  <a:pt x="132450" y="63190"/>
                </a:cubicBezTo>
                <a:cubicBezTo>
                  <a:pt x="157450" y="75540"/>
                  <a:pt x="185270" y="89320"/>
                  <a:pt x="216000" y="71590"/>
                </a:cubicBezTo>
                <a:close/>
              </a:path>
            </a:pathLst>
          </a:custGeom>
          <a:solidFill>
            <a:srgbClr val="A7198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8" name="Google Shape;228;p17"/>
          <p:cNvSpPr txBox="1"/>
          <p:nvPr/>
        </p:nvSpPr>
        <p:spPr>
          <a:xfrm>
            <a:off x="1194993" y="4092092"/>
            <a:ext cx="1899144" cy="550926"/>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0" i="0" lang="es-MX" sz="950" u="none" cap="none" strike="noStrike">
                <a:solidFill>
                  <a:srgbClr val="2E2E3A"/>
                </a:solidFill>
                <a:latin typeface="Arial"/>
                <a:ea typeface="Arial"/>
                <a:cs typeface="Arial"/>
                <a:sym typeface="Arial"/>
              </a:rPr>
              <a:t>3. Cumplimos lo establecido: cerramos el trabajo según lo planeado.</a:t>
            </a:r>
            <a:endParaRPr/>
          </a:p>
        </p:txBody>
      </p:sp>
      <p:sp>
        <p:nvSpPr>
          <p:cNvPr id="229" name="Google Shape;229;p17"/>
          <p:cNvSpPr txBox="1"/>
          <p:nvPr/>
        </p:nvSpPr>
        <p:spPr>
          <a:xfrm>
            <a:off x="823878" y="4743602"/>
            <a:ext cx="2249108" cy="510204"/>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1" lang="es-MX" sz="950" u="none" cap="none" strike="noStrike">
                <a:solidFill>
                  <a:srgbClr val="A71989"/>
                </a:solidFill>
                <a:latin typeface="Arial"/>
                <a:ea typeface="Arial"/>
                <a:cs typeface="Arial"/>
                <a:sym typeface="Arial"/>
              </a:rPr>
              <a:t>Resultado: un flujo corto, rígido y pasivo. Se da por hecho el plan inicial y hay poco espacio para el aprendizaje.</a:t>
            </a:r>
            <a:endParaRPr/>
          </a:p>
        </p:txBody>
      </p:sp>
      <p:sp>
        <p:nvSpPr>
          <p:cNvPr id="230" name="Google Shape;230;p17"/>
          <p:cNvSpPr/>
          <p:nvPr/>
        </p:nvSpPr>
        <p:spPr>
          <a:xfrm>
            <a:off x="3601214" y="2266340"/>
            <a:ext cx="2616705" cy="4121760"/>
          </a:xfrm>
          <a:prstGeom prst="roundRect">
            <a:avLst>
              <a:gd fmla="val 4387" name="adj"/>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1" name="Google Shape;231;p17"/>
          <p:cNvSpPr/>
          <p:nvPr/>
        </p:nvSpPr>
        <p:spPr>
          <a:xfrm>
            <a:off x="3601214" y="2266340"/>
            <a:ext cx="2616705" cy="755904"/>
          </a:xfrm>
          <a:prstGeom prst="roundRect">
            <a:avLst>
              <a:gd fmla="val 11881" name="adj"/>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2" name="Google Shape;232;p17"/>
          <p:cNvSpPr/>
          <p:nvPr/>
        </p:nvSpPr>
        <p:spPr>
          <a:xfrm>
            <a:off x="3724917" y="2357780"/>
            <a:ext cx="384048" cy="384048"/>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3" name="Google Shape;233;p17"/>
          <p:cNvSpPr/>
          <p:nvPr/>
        </p:nvSpPr>
        <p:spPr>
          <a:xfrm>
            <a:off x="3809408" y="2442271"/>
            <a:ext cx="215067" cy="215067"/>
          </a:xfrm>
          <a:custGeom>
            <a:rect b="b" l="l" r="r" t="t"/>
            <a:pathLst>
              <a:path extrusionOk="0" h="256000" w="256000">
                <a:moveTo>
                  <a:pt x="216000" y="48000"/>
                </a:moveTo>
                <a:lnTo>
                  <a:pt x="40000" y="48000"/>
                </a:lnTo>
                <a:cubicBezTo>
                  <a:pt x="38596" y="48000"/>
                  <a:pt x="37216" y="48370"/>
                  <a:pt x="36000" y="49072"/>
                </a:cubicBezTo>
                <a:cubicBezTo>
                  <a:pt x="34784" y="49774"/>
                  <a:pt x="33774" y="50784"/>
                  <a:pt x="33072" y="52000"/>
                </a:cubicBezTo>
                <a:cubicBezTo>
                  <a:pt x="32370" y="53216"/>
                  <a:pt x="32000" y="54596"/>
                  <a:pt x="32000" y="56000"/>
                </a:cubicBezTo>
                <a:lnTo>
                  <a:pt x="32000" y="208000"/>
                </a:lnTo>
                <a:cubicBezTo>
                  <a:pt x="32000" y="210808"/>
                  <a:pt x="32739" y="213568"/>
                  <a:pt x="34144" y="216000"/>
                </a:cubicBezTo>
                <a:cubicBezTo>
                  <a:pt x="35548" y="218432"/>
                  <a:pt x="37568" y="220452"/>
                  <a:pt x="40000" y="221856"/>
                </a:cubicBezTo>
                <a:cubicBezTo>
                  <a:pt x="42432" y="223261"/>
                  <a:pt x="45192" y="224000"/>
                  <a:pt x="48000" y="224000"/>
                </a:cubicBezTo>
                <a:lnTo>
                  <a:pt x="88000" y="224000"/>
                </a:lnTo>
                <a:cubicBezTo>
                  <a:pt x="90808" y="224000"/>
                  <a:pt x="93568" y="223261"/>
                  <a:pt x="96000" y="221856"/>
                </a:cubicBezTo>
                <a:cubicBezTo>
                  <a:pt x="98432" y="220452"/>
                  <a:pt x="100452" y="218432"/>
                  <a:pt x="101856" y="216000"/>
                </a:cubicBezTo>
                <a:cubicBezTo>
                  <a:pt x="103261" y="213568"/>
                  <a:pt x="104000" y="210808"/>
                  <a:pt x="104000" y="208000"/>
                </a:cubicBezTo>
                <a:lnTo>
                  <a:pt x="104000" y="160000"/>
                </a:lnTo>
                <a:lnTo>
                  <a:pt x="152000" y="160000"/>
                </a:lnTo>
                <a:lnTo>
                  <a:pt x="152000" y="176000"/>
                </a:lnTo>
                <a:cubicBezTo>
                  <a:pt x="152000" y="178808"/>
                  <a:pt x="152739" y="181568"/>
                  <a:pt x="154144" y="184000"/>
                </a:cubicBezTo>
                <a:cubicBezTo>
                  <a:pt x="155548" y="186432"/>
                  <a:pt x="157568" y="188452"/>
                  <a:pt x="160000" y="189856"/>
                </a:cubicBezTo>
                <a:cubicBezTo>
                  <a:pt x="162432" y="191261"/>
                  <a:pt x="165192" y="192000"/>
                  <a:pt x="168000" y="192000"/>
                </a:cubicBezTo>
                <a:lnTo>
                  <a:pt x="208000" y="192000"/>
                </a:lnTo>
                <a:cubicBezTo>
                  <a:pt x="210808" y="192000"/>
                  <a:pt x="213568" y="191261"/>
                  <a:pt x="216000" y="189856"/>
                </a:cubicBezTo>
                <a:cubicBezTo>
                  <a:pt x="218432" y="188452"/>
                  <a:pt x="220452" y="186432"/>
                  <a:pt x="221856" y="184000"/>
                </a:cubicBezTo>
                <a:cubicBezTo>
                  <a:pt x="223261" y="181568"/>
                  <a:pt x="224000" y="178808"/>
                  <a:pt x="224000" y="176000"/>
                </a:cubicBezTo>
                <a:lnTo>
                  <a:pt x="224000" y="56000"/>
                </a:lnTo>
                <a:cubicBezTo>
                  <a:pt x="224000" y="54596"/>
                  <a:pt x="223630" y="53216"/>
                  <a:pt x="222928" y="52000"/>
                </a:cubicBezTo>
                <a:cubicBezTo>
                  <a:pt x="222226" y="50784"/>
                  <a:pt x="221216" y="49774"/>
                  <a:pt x="220000" y="49072"/>
                </a:cubicBezTo>
                <a:cubicBezTo>
                  <a:pt x="218784" y="48370"/>
                  <a:pt x="217404" y="48000"/>
                  <a:pt x="216000" y="48000"/>
                </a:cubicBezTo>
                <a:close/>
                <a:moveTo>
                  <a:pt x="88000" y="208000"/>
                </a:moveTo>
                <a:lnTo>
                  <a:pt x="48000" y="208000"/>
                </a:lnTo>
                <a:lnTo>
                  <a:pt x="48000" y="128000"/>
                </a:lnTo>
                <a:lnTo>
                  <a:pt x="88000" y="128000"/>
                </a:lnTo>
                <a:close/>
                <a:moveTo>
                  <a:pt x="88000" y="112000"/>
                </a:moveTo>
                <a:lnTo>
                  <a:pt x="48000" y="112000"/>
                </a:lnTo>
                <a:lnTo>
                  <a:pt x="48000" y="64000"/>
                </a:lnTo>
                <a:lnTo>
                  <a:pt x="88000" y="64000"/>
                </a:lnTo>
                <a:close/>
                <a:moveTo>
                  <a:pt x="152000" y="144000"/>
                </a:moveTo>
                <a:lnTo>
                  <a:pt x="104000" y="144000"/>
                </a:lnTo>
                <a:lnTo>
                  <a:pt x="104000" y="64000"/>
                </a:lnTo>
                <a:lnTo>
                  <a:pt x="152000" y="64000"/>
                </a:lnTo>
                <a:close/>
                <a:moveTo>
                  <a:pt x="208000" y="176000"/>
                </a:moveTo>
                <a:lnTo>
                  <a:pt x="168000" y="176000"/>
                </a:lnTo>
                <a:lnTo>
                  <a:pt x="168000" y="128000"/>
                </a:lnTo>
                <a:lnTo>
                  <a:pt x="208000" y="128000"/>
                </a:lnTo>
                <a:close/>
                <a:moveTo>
                  <a:pt x="208000" y="112000"/>
                </a:moveTo>
                <a:lnTo>
                  <a:pt x="168000" y="112000"/>
                </a:lnTo>
                <a:lnTo>
                  <a:pt x="168000" y="64000"/>
                </a:lnTo>
                <a:lnTo>
                  <a:pt x="208000" y="64000"/>
                </a:lnTo>
                <a:close/>
              </a:path>
            </a:pathLst>
          </a:custGeom>
          <a:solidFill>
            <a:srgbClr val="02479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4" name="Google Shape;234;p17"/>
          <p:cNvSpPr txBox="1"/>
          <p:nvPr/>
        </p:nvSpPr>
        <p:spPr>
          <a:xfrm>
            <a:off x="4222538" y="2384756"/>
            <a:ext cx="1860874" cy="494687"/>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MX" sz="1000" u="none" cap="none" strike="noStrike">
                <a:solidFill>
                  <a:srgbClr val="FFFFFF"/>
                </a:solidFill>
                <a:latin typeface="Arial"/>
                <a:ea typeface="Arial"/>
                <a:cs typeface="Arial"/>
                <a:sym typeface="Arial"/>
              </a:rPr>
              <a:t>Tablero para gestionar el trabajo: gestión adaptativa del valor</a:t>
            </a:r>
            <a:endParaRPr/>
          </a:p>
        </p:txBody>
      </p:sp>
      <p:sp>
        <p:nvSpPr>
          <p:cNvPr id="235" name="Google Shape;235;p17"/>
          <p:cNvSpPr/>
          <p:nvPr/>
        </p:nvSpPr>
        <p:spPr>
          <a:xfrm>
            <a:off x="3716024" y="3199028"/>
            <a:ext cx="2387085" cy="550926"/>
          </a:xfrm>
          <a:prstGeom prst="roundRect">
            <a:avLst>
              <a:gd fmla="val 16597"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6" name="Google Shape;236;p17"/>
          <p:cNvSpPr/>
          <p:nvPr/>
        </p:nvSpPr>
        <p:spPr>
          <a:xfrm>
            <a:off x="3817204" y="3355619"/>
            <a:ext cx="237744" cy="237744"/>
          </a:xfrm>
          <a:custGeom>
            <a:rect b="b" l="l" r="r" t="t"/>
            <a:pathLst>
              <a:path extrusionOk="0" h="256000" w="256000">
                <a:moveTo>
                  <a:pt x="247310" y="124760"/>
                </a:moveTo>
                <a:cubicBezTo>
                  <a:pt x="246960" y="123970"/>
                  <a:pt x="238490" y="105180"/>
                  <a:pt x="219660" y="86350"/>
                </a:cubicBezTo>
                <a:cubicBezTo>
                  <a:pt x="194570" y="61260"/>
                  <a:pt x="162880" y="48000"/>
                  <a:pt x="128000" y="48000"/>
                </a:cubicBezTo>
                <a:cubicBezTo>
                  <a:pt x="93120" y="48000"/>
                  <a:pt x="61430" y="61260"/>
                  <a:pt x="36340" y="86350"/>
                </a:cubicBezTo>
                <a:cubicBezTo>
                  <a:pt x="17510" y="105180"/>
                  <a:pt x="9000" y="124000"/>
                  <a:pt x="8690" y="124760"/>
                </a:cubicBezTo>
                <a:cubicBezTo>
                  <a:pt x="8235" y="125783"/>
                  <a:pt x="8000" y="126890"/>
                  <a:pt x="8000" y="128010"/>
                </a:cubicBezTo>
                <a:cubicBezTo>
                  <a:pt x="8000" y="129130"/>
                  <a:pt x="8235" y="130237"/>
                  <a:pt x="8690" y="131260"/>
                </a:cubicBezTo>
                <a:cubicBezTo>
                  <a:pt x="9040" y="132050"/>
                  <a:pt x="17510" y="150830"/>
                  <a:pt x="36340" y="169660"/>
                </a:cubicBezTo>
                <a:cubicBezTo>
                  <a:pt x="61430" y="194740"/>
                  <a:pt x="93120" y="208000"/>
                  <a:pt x="128000" y="208000"/>
                </a:cubicBezTo>
                <a:cubicBezTo>
                  <a:pt x="162880" y="208000"/>
                  <a:pt x="194570" y="194740"/>
                  <a:pt x="219660" y="169660"/>
                </a:cubicBezTo>
                <a:cubicBezTo>
                  <a:pt x="238490" y="150830"/>
                  <a:pt x="246960" y="132050"/>
                  <a:pt x="247310" y="131260"/>
                </a:cubicBezTo>
                <a:cubicBezTo>
                  <a:pt x="247765" y="130237"/>
                  <a:pt x="248000" y="129130"/>
                  <a:pt x="248000" y="128010"/>
                </a:cubicBezTo>
                <a:cubicBezTo>
                  <a:pt x="248000" y="126890"/>
                  <a:pt x="247765" y="125783"/>
                  <a:pt x="247310" y="124760"/>
                </a:cubicBezTo>
                <a:close/>
                <a:moveTo>
                  <a:pt x="128000" y="192000"/>
                </a:moveTo>
                <a:cubicBezTo>
                  <a:pt x="97220" y="192000"/>
                  <a:pt x="70330" y="180810"/>
                  <a:pt x="48070" y="158750"/>
                </a:cubicBezTo>
                <a:cubicBezTo>
                  <a:pt x="38937" y="149667"/>
                  <a:pt x="31166" y="139309"/>
                  <a:pt x="25000" y="128000"/>
                </a:cubicBezTo>
                <a:cubicBezTo>
                  <a:pt x="31164" y="116689"/>
                  <a:pt x="38935" y="106332"/>
                  <a:pt x="48070" y="97250"/>
                </a:cubicBezTo>
                <a:cubicBezTo>
                  <a:pt x="70330" y="75190"/>
                  <a:pt x="97220" y="64000"/>
                  <a:pt x="128000" y="64000"/>
                </a:cubicBezTo>
                <a:cubicBezTo>
                  <a:pt x="158780" y="64000"/>
                  <a:pt x="185670" y="75190"/>
                  <a:pt x="207930" y="97250"/>
                </a:cubicBezTo>
                <a:cubicBezTo>
                  <a:pt x="217081" y="106330"/>
                  <a:pt x="224869" y="116687"/>
                  <a:pt x="231050" y="128000"/>
                </a:cubicBezTo>
                <a:cubicBezTo>
                  <a:pt x="223840" y="141460"/>
                  <a:pt x="192430" y="192000"/>
                  <a:pt x="128000" y="192000"/>
                </a:cubicBezTo>
                <a:close/>
                <a:moveTo>
                  <a:pt x="128000" y="80000"/>
                </a:moveTo>
                <a:cubicBezTo>
                  <a:pt x="119575" y="80000"/>
                  <a:pt x="111296" y="82218"/>
                  <a:pt x="104000" y="86431"/>
                </a:cubicBezTo>
                <a:cubicBezTo>
                  <a:pt x="96704" y="90643"/>
                  <a:pt x="90643" y="96704"/>
                  <a:pt x="86431" y="104000"/>
                </a:cubicBezTo>
                <a:cubicBezTo>
                  <a:pt x="82218" y="111296"/>
                  <a:pt x="80000" y="119575"/>
                  <a:pt x="80000" y="128000"/>
                </a:cubicBezTo>
                <a:cubicBezTo>
                  <a:pt x="80000" y="136425"/>
                  <a:pt x="82218" y="144704"/>
                  <a:pt x="86431" y="152000"/>
                </a:cubicBezTo>
                <a:cubicBezTo>
                  <a:pt x="90643" y="159296"/>
                  <a:pt x="96704" y="165357"/>
                  <a:pt x="104000" y="169569"/>
                </a:cubicBezTo>
                <a:cubicBezTo>
                  <a:pt x="111296" y="173782"/>
                  <a:pt x="119575" y="176000"/>
                  <a:pt x="128000" y="176000"/>
                </a:cubicBezTo>
                <a:cubicBezTo>
                  <a:pt x="136425" y="176000"/>
                  <a:pt x="144704" y="173782"/>
                  <a:pt x="152000" y="169569"/>
                </a:cubicBezTo>
                <a:cubicBezTo>
                  <a:pt x="159296" y="165357"/>
                  <a:pt x="165357" y="159296"/>
                  <a:pt x="169569" y="152000"/>
                </a:cubicBezTo>
                <a:cubicBezTo>
                  <a:pt x="173782" y="144704"/>
                  <a:pt x="176000" y="136425"/>
                  <a:pt x="176000" y="128000"/>
                </a:cubicBezTo>
                <a:cubicBezTo>
                  <a:pt x="175991" y="119577"/>
                  <a:pt x="173768" y="111303"/>
                  <a:pt x="169554" y="104011"/>
                </a:cubicBezTo>
                <a:cubicBezTo>
                  <a:pt x="165340" y="96718"/>
                  <a:pt x="159282" y="90660"/>
                  <a:pt x="151989" y="86446"/>
                </a:cubicBezTo>
                <a:cubicBezTo>
                  <a:pt x="144697" y="82232"/>
                  <a:pt x="136423" y="80009"/>
                  <a:pt x="128000" y="80000"/>
                </a:cubicBezTo>
                <a:close/>
                <a:moveTo>
                  <a:pt x="128000" y="160000"/>
                </a:moveTo>
                <a:cubicBezTo>
                  <a:pt x="122383" y="160000"/>
                  <a:pt x="116864" y="158521"/>
                  <a:pt x="112000" y="155713"/>
                </a:cubicBezTo>
                <a:cubicBezTo>
                  <a:pt x="107136" y="152904"/>
                  <a:pt x="103096" y="148864"/>
                  <a:pt x="100287" y="144000"/>
                </a:cubicBezTo>
                <a:cubicBezTo>
                  <a:pt x="97479" y="139136"/>
                  <a:pt x="96000" y="133617"/>
                  <a:pt x="96000" y="128000"/>
                </a:cubicBezTo>
                <a:cubicBezTo>
                  <a:pt x="96000" y="122383"/>
                  <a:pt x="97479" y="116864"/>
                  <a:pt x="100287" y="112000"/>
                </a:cubicBezTo>
                <a:cubicBezTo>
                  <a:pt x="103096" y="107136"/>
                  <a:pt x="107136" y="103096"/>
                  <a:pt x="112000" y="100287"/>
                </a:cubicBezTo>
                <a:cubicBezTo>
                  <a:pt x="116864" y="97479"/>
                  <a:pt x="122383" y="96000"/>
                  <a:pt x="128000" y="96000"/>
                </a:cubicBezTo>
                <a:cubicBezTo>
                  <a:pt x="133617" y="96000"/>
                  <a:pt x="139136" y="97479"/>
                  <a:pt x="144000" y="100287"/>
                </a:cubicBezTo>
                <a:cubicBezTo>
                  <a:pt x="148864" y="103096"/>
                  <a:pt x="152904" y="107136"/>
                  <a:pt x="155713" y="112000"/>
                </a:cubicBezTo>
                <a:cubicBezTo>
                  <a:pt x="158521" y="116864"/>
                  <a:pt x="160000" y="122383"/>
                  <a:pt x="160000" y="128000"/>
                </a:cubicBezTo>
                <a:cubicBezTo>
                  <a:pt x="160000" y="133617"/>
                  <a:pt x="158521" y="139136"/>
                  <a:pt x="155713" y="144000"/>
                </a:cubicBezTo>
                <a:cubicBezTo>
                  <a:pt x="152904" y="148864"/>
                  <a:pt x="148864" y="152904"/>
                  <a:pt x="144000" y="155713"/>
                </a:cubicBezTo>
                <a:cubicBezTo>
                  <a:pt x="139136" y="158521"/>
                  <a:pt x="133617" y="160000"/>
                  <a:pt x="128000" y="160000"/>
                </a:cubicBezTo>
                <a:close/>
              </a:path>
            </a:pathLst>
          </a:custGeom>
          <a:solidFill>
            <a:srgbClr val="02479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7" name="Google Shape;237;p17"/>
          <p:cNvSpPr txBox="1"/>
          <p:nvPr/>
        </p:nvSpPr>
        <p:spPr>
          <a:xfrm>
            <a:off x="4156128" y="3199028"/>
            <a:ext cx="1899144" cy="550926"/>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0" i="0" lang="es-MX" sz="950" u="none" cap="none" strike="noStrike">
                <a:solidFill>
                  <a:srgbClr val="2E2E3A"/>
                </a:solidFill>
                <a:latin typeface="Arial"/>
                <a:ea typeface="Arial"/>
                <a:cs typeface="Arial"/>
                <a:sym typeface="Arial"/>
              </a:rPr>
              <a:t>1. Visualizamos el trabajo: hacemos visible el estado real del flujo.</a:t>
            </a:r>
            <a:endParaRPr/>
          </a:p>
        </p:txBody>
      </p:sp>
      <p:sp>
        <p:nvSpPr>
          <p:cNvPr id="238" name="Google Shape;238;p17"/>
          <p:cNvSpPr/>
          <p:nvPr/>
        </p:nvSpPr>
        <p:spPr>
          <a:xfrm>
            <a:off x="3716024" y="3804818"/>
            <a:ext cx="2387085" cy="550926"/>
          </a:xfrm>
          <a:prstGeom prst="roundRect">
            <a:avLst>
              <a:gd fmla="val 16597"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9" name="Google Shape;239;p17"/>
          <p:cNvSpPr/>
          <p:nvPr/>
        </p:nvSpPr>
        <p:spPr>
          <a:xfrm>
            <a:off x="3817204" y="3961409"/>
            <a:ext cx="237744" cy="237744"/>
          </a:xfrm>
          <a:custGeom>
            <a:rect b="b" l="l" r="r" t="t"/>
            <a:pathLst>
              <a:path extrusionOk="0" h="256000" w="256000">
                <a:moveTo>
                  <a:pt x="236800" y="188090"/>
                </a:moveTo>
                <a:lnTo>
                  <a:pt x="149350" y="36220"/>
                </a:lnTo>
                <a:lnTo>
                  <a:pt x="149350" y="36220"/>
                </a:lnTo>
                <a:cubicBezTo>
                  <a:pt x="147165" y="32500"/>
                  <a:pt x="144045" y="29414"/>
                  <a:pt x="140300" y="27271"/>
                </a:cubicBezTo>
                <a:cubicBezTo>
                  <a:pt x="136555" y="25127"/>
                  <a:pt x="132315" y="23999"/>
                  <a:pt x="128000" y="23999"/>
                </a:cubicBezTo>
                <a:cubicBezTo>
                  <a:pt x="123685" y="23999"/>
                  <a:pt x="119445" y="25127"/>
                  <a:pt x="115700" y="27271"/>
                </a:cubicBezTo>
                <a:cubicBezTo>
                  <a:pt x="111955" y="29414"/>
                  <a:pt x="108835" y="32500"/>
                  <a:pt x="106650" y="36220"/>
                </a:cubicBezTo>
                <a:lnTo>
                  <a:pt x="19200" y="188090"/>
                </a:lnTo>
                <a:cubicBezTo>
                  <a:pt x="17803" y="190481"/>
                  <a:pt x="16839" y="193101"/>
                  <a:pt x="16354" y="195828"/>
                </a:cubicBezTo>
                <a:cubicBezTo>
                  <a:pt x="15868" y="198554"/>
                  <a:pt x="15868" y="201346"/>
                  <a:pt x="16354" y="204072"/>
                </a:cubicBezTo>
                <a:cubicBezTo>
                  <a:pt x="16839" y="206799"/>
                  <a:pt x="17803" y="209419"/>
                  <a:pt x="19200" y="211810"/>
                </a:cubicBezTo>
                <a:cubicBezTo>
                  <a:pt x="20633" y="214297"/>
                  <a:pt x="22496" y="216512"/>
                  <a:pt x="24700" y="218351"/>
                </a:cubicBezTo>
                <a:cubicBezTo>
                  <a:pt x="26905" y="220189"/>
                  <a:pt x="29417" y="221624"/>
                  <a:pt x="32122" y="222588"/>
                </a:cubicBezTo>
                <a:cubicBezTo>
                  <a:pt x="34826" y="223552"/>
                  <a:pt x="37679" y="224030"/>
                  <a:pt x="40550" y="224000"/>
                </a:cubicBezTo>
                <a:lnTo>
                  <a:pt x="215450" y="224000"/>
                </a:lnTo>
                <a:cubicBezTo>
                  <a:pt x="218318" y="224027"/>
                  <a:pt x="221169" y="223548"/>
                  <a:pt x="223871" y="222583"/>
                </a:cubicBezTo>
                <a:cubicBezTo>
                  <a:pt x="226572" y="221619"/>
                  <a:pt x="229082" y="220184"/>
                  <a:pt x="231285" y="218346"/>
                </a:cubicBezTo>
                <a:cubicBezTo>
                  <a:pt x="233487" y="216508"/>
                  <a:pt x="235348" y="214295"/>
                  <a:pt x="236780" y="211810"/>
                </a:cubicBezTo>
                <a:cubicBezTo>
                  <a:pt x="238179" y="209420"/>
                  <a:pt x="239145" y="206801"/>
                  <a:pt x="239633" y="204075"/>
                </a:cubicBezTo>
                <a:cubicBezTo>
                  <a:pt x="240121" y="201348"/>
                  <a:pt x="240123" y="198557"/>
                  <a:pt x="239640" y="195830"/>
                </a:cubicBezTo>
                <a:cubicBezTo>
                  <a:pt x="239157" y="193103"/>
                  <a:pt x="238195" y="190483"/>
                  <a:pt x="236800" y="188090"/>
                </a:cubicBezTo>
                <a:close/>
                <a:moveTo>
                  <a:pt x="222930" y="203800"/>
                </a:moveTo>
                <a:cubicBezTo>
                  <a:pt x="222423" y="204664"/>
                  <a:pt x="221768" y="205432"/>
                  <a:pt x="220994" y="206068"/>
                </a:cubicBezTo>
                <a:cubicBezTo>
                  <a:pt x="220220" y="206704"/>
                  <a:pt x="219340" y="207198"/>
                  <a:pt x="218394" y="207528"/>
                </a:cubicBezTo>
                <a:cubicBezTo>
                  <a:pt x="217448" y="207858"/>
                  <a:pt x="216452" y="208017"/>
                  <a:pt x="215450" y="208000"/>
                </a:cubicBezTo>
                <a:lnTo>
                  <a:pt x="40550" y="208000"/>
                </a:lnTo>
                <a:cubicBezTo>
                  <a:pt x="39548" y="208017"/>
                  <a:pt x="38552" y="207858"/>
                  <a:pt x="37606" y="207528"/>
                </a:cubicBezTo>
                <a:cubicBezTo>
                  <a:pt x="36660" y="207198"/>
                  <a:pt x="35780" y="206704"/>
                  <a:pt x="35006" y="206068"/>
                </a:cubicBezTo>
                <a:cubicBezTo>
                  <a:pt x="34232" y="205432"/>
                  <a:pt x="33577" y="204664"/>
                  <a:pt x="33070" y="203800"/>
                </a:cubicBezTo>
                <a:cubicBezTo>
                  <a:pt x="32611" y="203023"/>
                  <a:pt x="32294" y="202171"/>
                  <a:pt x="32135" y="201283"/>
                </a:cubicBezTo>
                <a:cubicBezTo>
                  <a:pt x="31975" y="200395"/>
                  <a:pt x="31975" y="199485"/>
                  <a:pt x="32135" y="198597"/>
                </a:cubicBezTo>
                <a:cubicBezTo>
                  <a:pt x="32294" y="197709"/>
                  <a:pt x="32611" y="196857"/>
                  <a:pt x="33070" y="196080"/>
                </a:cubicBezTo>
                <a:lnTo>
                  <a:pt x="120520" y="44210"/>
                </a:lnTo>
                <a:cubicBezTo>
                  <a:pt x="121298" y="42916"/>
                  <a:pt x="122397" y="41845"/>
                  <a:pt x="123711" y="41101"/>
                </a:cubicBezTo>
                <a:cubicBezTo>
                  <a:pt x="125026" y="40358"/>
                  <a:pt x="126510" y="39967"/>
                  <a:pt x="128020" y="39967"/>
                </a:cubicBezTo>
                <a:cubicBezTo>
                  <a:pt x="129530" y="39967"/>
                  <a:pt x="131014" y="40358"/>
                  <a:pt x="132329" y="41101"/>
                </a:cubicBezTo>
                <a:cubicBezTo>
                  <a:pt x="133643" y="41845"/>
                  <a:pt x="134742" y="42916"/>
                  <a:pt x="135520" y="44210"/>
                </a:cubicBezTo>
                <a:lnTo>
                  <a:pt x="222970" y="196080"/>
                </a:lnTo>
                <a:cubicBezTo>
                  <a:pt x="223425" y="196859"/>
                  <a:pt x="223737" y="197713"/>
                  <a:pt x="223892" y="198602"/>
                </a:cubicBezTo>
                <a:cubicBezTo>
                  <a:pt x="224047" y="199491"/>
                  <a:pt x="224042" y="200400"/>
                  <a:pt x="223878" y="201288"/>
                </a:cubicBezTo>
                <a:cubicBezTo>
                  <a:pt x="223714" y="202175"/>
                  <a:pt x="223393" y="203026"/>
                  <a:pt x="222930" y="203800"/>
                </a:cubicBezTo>
                <a:close/>
                <a:moveTo>
                  <a:pt x="120000" y="144000"/>
                </a:moveTo>
                <a:lnTo>
                  <a:pt x="120000" y="104000"/>
                </a:lnTo>
                <a:cubicBezTo>
                  <a:pt x="120000" y="102596"/>
                  <a:pt x="120370" y="101216"/>
                  <a:pt x="121072" y="100000"/>
                </a:cubicBezTo>
                <a:cubicBezTo>
                  <a:pt x="121774" y="98784"/>
                  <a:pt x="122784" y="97774"/>
                  <a:pt x="124000" y="97072"/>
                </a:cubicBezTo>
                <a:cubicBezTo>
                  <a:pt x="125216" y="96370"/>
                  <a:pt x="126596" y="96000"/>
                  <a:pt x="128000" y="96000"/>
                </a:cubicBezTo>
                <a:cubicBezTo>
                  <a:pt x="129404" y="96000"/>
                  <a:pt x="130784" y="96370"/>
                  <a:pt x="132000" y="97072"/>
                </a:cubicBezTo>
                <a:cubicBezTo>
                  <a:pt x="133216" y="97774"/>
                  <a:pt x="134226" y="98784"/>
                  <a:pt x="134928" y="100000"/>
                </a:cubicBezTo>
                <a:cubicBezTo>
                  <a:pt x="135630" y="101216"/>
                  <a:pt x="136000" y="102596"/>
                  <a:pt x="136000" y="104000"/>
                </a:cubicBezTo>
                <a:lnTo>
                  <a:pt x="136000" y="144000"/>
                </a:lnTo>
                <a:cubicBezTo>
                  <a:pt x="136000" y="145404"/>
                  <a:pt x="135630" y="146784"/>
                  <a:pt x="134928" y="148000"/>
                </a:cubicBezTo>
                <a:cubicBezTo>
                  <a:pt x="134226" y="149216"/>
                  <a:pt x="133216" y="150226"/>
                  <a:pt x="132000" y="150928"/>
                </a:cubicBezTo>
                <a:cubicBezTo>
                  <a:pt x="130784" y="151630"/>
                  <a:pt x="129404" y="152000"/>
                  <a:pt x="128000" y="152000"/>
                </a:cubicBezTo>
                <a:cubicBezTo>
                  <a:pt x="126596" y="152000"/>
                  <a:pt x="125216" y="151630"/>
                  <a:pt x="124000" y="150928"/>
                </a:cubicBezTo>
                <a:cubicBezTo>
                  <a:pt x="122784" y="150226"/>
                  <a:pt x="121774" y="149216"/>
                  <a:pt x="121072" y="148000"/>
                </a:cubicBezTo>
                <a:cubicBezTo>
                  <a:pt x="120370" y="146784"/>
                  <a:pt x="120000" y="145404"/>
                  <a:pt x="120000" y="144000"/>
                </a:cubicBezTo>
                <a:close/>
                <a:moveTo>
                  <a:pt x="140000" y="180000"/>
                </a:moveTo>
                <a:cubicBezTo>
                  <a:pt x="140000" y="182106"/>
                  <a:pt x="139445" y="184176"/>
                  <a:pt x="138392" y="186000"/>
                </a:cubicBezTo>
                <a:cubicBezTo>
                  <a:pt x="137339" y="187824"/>
                  <a:pt x="135824" y="189339"/>
                  <a:pt x="134000" y="190392"/>
                </a:cubicBezTo>
                <a:cubicBezTo>
                  <a:pt x="132176" y="191445"/>
                  <a:pt x="130106" y="192000"/>
                  <a:pt x="128000" y="192000"/>
                </a:cubicBezTo>
                <a:cubicBezTo>
                  <a:pt x="125894" y="192000"/>
                  <a:pt x="123824" y="191445"/>
                  <a:pt x="122000" y="190392"/>
                </a:cubicBezTo>
                <a:cubicBezTo>
                  <a:pt x="120176" y="189339"/>
                  <a:pt x="118661" y="187824"/>
                  <a:pt x="117608" y="186000"/>
                </a:cubicBezTo>
                <a:cubicBezTo>
                  <a:pt x="116555" y="184176"/>
                  <a:pt x="116000" y="182106"/>
                  <a:pt x="116000" y="180000"/>
                </a:cubicBezTo>
                <a:cubicBezTo>
                  <a:pt x="116000" y="177894"/>
                  <a:pt x="116555" y="175824"/>
                  <a:pt x="117608" y="174000"/>
                </a:cubicBezTo>
                <a:cubicBezTo>
                  <a:pt x="118661" y="172176"/>
                  <a:pt x="120176" y="170661"/>
                  <a:pt x="122000" y="169608"/>
                </a:cubicBezTo>
                <a:cubicBezTo>
                  <a:pt x="123824" y="168555"/>
                  <a:pt x="125894" y="168000"/>
                  <a:pt x="128000" y="168000"/>
                </a:cubicBezTo>
                <a:cubicBezTo>
                  <a:pt x="130106" y="168000"/>
                  <a:pt x="132176" y="168555"/>
                  <a:pt x="134000" y="169608"/>
                </a:cubicBezTo>
                <a:cubicBezTo>
                  <a:pt x="135824" y="170661"/>
                  <a:pt x="137339" y="172176"/>
                  <a:pt x="138392" y="174000"/>
                </a:cubicBezTo>
                <a:cubicBezTo>
                  <a:pt x="139445" y="175824"/>
                  <a:pt x="140000" y="177894"/>
                  <a:pt x="140000" y="180000"/>
                </a:cubicBezTo>
                <a:close/>
              </a:path>
            </a:pathLst>
          </a:custGeom>
          <a:solidFill>
            <a:srgbClr val="02479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0" name="Google Shape;240;p17"/>
          <p:cNvSpPr txBox="1"/>
          <p:nvPr/>
        </p:nvSpPr>
        <p:spPr>
          <a:xfrm>
            <a:off x="4156128" y="3804818"/>
            <a:ext cx="1899144" cy="550926"/>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0" i="0" lang="es-MX" sz="950" u="none" cap="none" strike="noStrike">
                <a:solidFill>
                  <a:srgbClr val="2E2E3A"/>
                </a:solidFill>
                <a:latin typeface="Arial"/>
                <a:ea typeface="Arial"/>
                <a:cs typeface="Arial"/>
                <a:sym typeface="Arial"/>
              </a:rPr>
              <a:t>2. Identificamos necesidades o bloqueos: detectamos obstáculos y nuevas demandas.</a:t>
            </a:r>
            <a:endParaRPr/>
          </a:p>
        </p:txBody>
      </p:sp>
      <p:sp>
        <p:nvSpPr>
          <p:cNvPr id="241" name="Google Shape;241;p17"/>
          <p:cNvSpPr/>
          <p:nvPr/>
        </p:nvSpPr>
        <p:spPr>
          <a:xfrm>
            <a:off x="3716024" y="4410608"/>
            <a:ext cx="2387085" cy="391668"/>
          </a:xfrm>
          <a:prstGeom prst="roundRect">
            <a:avLst>
              <a:gd fmla="val 23346"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2" name="Google Shape;242;p17"/>
          <p:cNvSpPr/>
          <p:nvPr/>
        </p:nvSpPr>
        <p:spPr>
          <a:xfrm>
            <a:off x="3817204" y="4487570"/>
            <a:ext cx="237744" cy="237744"/>
          </a:xfrm>
          <a:custGeom>
            <a:rect b="b" l="l" r="r" t="t"/>
            <a:pathLst>
              <a:path extrusionOk="0" h="256000" w="256000">
                <a:moveTo>
                  <a:pt x="224000" y="128000"/>
                </a:moveTo>
                <a:cubicBezTo>
                  <a:pt x="224000" y="129404"/>
                  <a:pt x="223630" y="130784"/>
                  <a:pt x="222928" y="132000"/>
                </a:cubicBezTo>
                <a:cubicBezTo>
                  <a:pt x="222226" y="133216"/>
                  <a:pt x="221216" y="134226"/>
                  <a:pt x="220000" y="134928"/>
                </a:cubicBezTo>
                <a:cubicBezTo>
                  <a:pt x="218784" y="135630"/>
                  <a:pt x="217404" y="136000"/>
                  <a:pt x="216000" y="136000"/>
                </a:cubicBezTo>
                <a:lnTo>
                  <a:pt x="104000" y="136000"/>
                </a:lnTo>
                <a:cubicBezTo>
                  <a:pt x="102596" y="136000"/>
                  <a:pt x="101216" y="135630"/>
                  <a:pt x="100000" y="134928"/>
                </a:cubicBezTo>
                <a:cubicBezTo>
                  <a:pt x="98784" y="134226"/>
                  <a:pt x="97774" y="133216"/>
                  <a:pt x="97072" y="132000"/>
                </a:cubicBezTo>
                <a:cubicBezTo>
                  <a:pt x="96370" y="130784"/>
                  <a:pt x="96000" y="129404"/>
                  <a:pt x="96000" y="128000"/>
                </a:cubicBezTo>
                <a:cubicBezTo>
                  <a:pt x="96000" y="126596"/>
                  <a:pt x="96370" y="125216"/>
                  <a:pt x="97072" y="124000"/>
                </a:cubicBezTo>
                <a:cubicBezTo>
                  <a:pt x="97774" y="122784"/>
                  <a:pt x="98784" y="121774"/>
                  <a:pt x="100000" y="121072"/>
                </a:cubicBezTo>
                <a:cubicBezTo>
                  <a:pt x="101216" y="120370"/>
                  <a:pt x="102596" y="120000"/>
                  <a:pt x="104000" y="120000"/>
                </a:cubicBezTo>
                <a:lnTo>
                  <a:pt x="216000" y="120000"/>
                </a:lnTo>
                <a:cubicBezTo>
                  <a:pt x="217404" y="120000"/>
                  <a:pt x="218784" y="120370"/>
                  <a:pt x="220000" y="121072"/>
                </a:cubicBezTo>
                <a:cubicBezTo>
                  <a:pt x="221216" y="121774"/>
                  <a:pt x="222226" y="122784"/>
                  <a:pt x="222928" y="124000"/>
                </a:cubicBezTo>
                <a:cubicBezTo>
                  <a:pt x="223630" y="125216"/>
                  <a:pt x="224000" y="126596"/>
                  <a:pt x="224000" y="128000"/>
                </a:cubicBezTo>
                <a:close/>
                <a:moveTo>
                  <a:pt x="104000" y="72000"/>
                </a:moveTo>
                <a:lnTo>
                  <a:pt x="216000" y="72000"/>
                </a:lnTo>
                <a:cubicBezTo>
                  <a:pt x="217404" y="72000"/>
                  <a:pt x="218784" y="71630"/>
                  <a:pt x="220000" y="70928"/>
                </a:cubicBezTo>
                <a:cubicBezTo>
                  <a:pt x="221216" y="70226"/>
                  <a:pt x="222226" y="69216"/>
                  <a:pt x="222928" y="68000"/>
                </a:cubicBezTo>
                <a:cubicBezTo>
                  <a:pt x="223630" y="66784"/>
                  <a:pt x="224000" y="65404"/>
                  <a:pt x="224000" y="64000"/>
                </a:cubicBezTo>
                <a:cubicBezTo>
                  <a:pt x="224000" y="62596"/>
                  <a:pt x="223630" y="61216"/>
                  <a:pt x="222928" y="60000"/>
                </a:cubicBezTo>
                <a:cubicBezTo>
                  <a:pt x="222226" y="58784"/>
                  <a:pt x="221216" y="57774"/>
                  <a:pt x="220000" y="57072"/>
                </a:cubicBezTo>
                <a:cubicBezTo>
                  <a:pt x="218784" y="56370"/>
                  <a:pt x="217404" y="56000"/>
                  <a:pt x="216000" y="56000"/>
                </a:cubicBezTo>
                <a:lnTo>
                  <a:pt x="104000" y="56000"/>
                </a:lnTo>
                <a:cubicBezTo>
                  <a:pt x="102596" y="56000"/>
                  <a:pt x="101216" y="56370"/>
                  <a:pt x="100000" y="57072"/>
                </a:cubicBezTo>
                <a:cubicBezTo>
                  <a:pt x="98784" y="57774"/>
                  <a:pt x="97774" y="58784"/>
                  <a:pt x="97072" y="60000"/>
                </a:cubicBezTo>
                <a:cubicBezTo>
                  <a:pt x="96370" y="61216"/>
                  <a:pt x="96000" y="62596"/>
                  <a:pt x="96000" y="64000"/>
                </a:cubicBezTo>
                <a:cubicBezTo>
                  <a:pt x="96000" y="65404"/>
                  <a:pt x="96370" y="66784"/>
                  <a:pt x="97072" y="68000"/>
                </a:cubicBezTo>
                <a:cubicBezTo>
                  <a:pt x="97774" y="69216"/>
                  <a:pt x="98784" y="70226"/>
                  <a:pt x="100000" y="70928"/>
                </a:cubicBezTo>
                <a:cubicBezTo>
                  <a:pt x="101216" y="71630"/>
                  <a:pt x="102596" y="72000"/>
                  <a:pt x="104000" y="72000"/>
                </a:cubicBezTo>
                <a:close/>
                <a:moveTo>
                  <a:pt x="216000" y="184000"/>
                </a:moveTo>
                <a:lnTo>
                  <a:pt x="104000" y="184000"/>
                </a:lnTo>
                <a:cubicBezTo>
                  <a:pt x="102596" y="184000"/>
                  <a:pt x="101216" y="184370"/>
                  <a:pt x="100000" y="185072"/>
                </a:cubicBezTo>
                <a:cubicBezTo>
                  <a:pt x="98784" y="185774"/>
                  <a:pt x="97774" y="186784"/>
                  <a:pt x="97072" y="188000"/>
                </a:cubicBezTo>
                <a:cubicBezTo>
                  <a:pt x="96370" y="189216"/>
                  <a:pt x="96000" y="190596"/>
                  <a:pt x="96000" y="192000"/>
                </a:cubicBezTo>
                <a:cubicBezTo>
                  <a:pt x="96000" y="193404"/>
                  <a:pt x="96370" y="194784"/>
                  <a:pt x="97072" y="196000"/>
                </a:cubicBezTo>
                <a:cubicBezTo>
                  <a:pt x="97774" y="197216"/>
                  <a:pt x="98784" y="198226"/>
                  <a:pt x="100000" y="198928"/>
                </a:cubicBezTo>
                <a:cubicBezTo>
                  <a:pt x="101216" y="199630"/>
                  <a:pt x="102596" y="200000"/>
                  <a:pt x="104000" y="200000"/>
                </a:cubicBezTo>
                <a:lnTo>
                  <a:pt x="216000" y="200000"/>
                </a:lnTo>
                <a:cubicBezTo>
                  <a:pt x="217404" y="200000"/>
                  <a:pt x="218784" y="199630"/>
                  <a:pt x="220000" y="198928"/>
                </a:cubicBezTo>
                <a:cubicBezTo>
                  <a:pt x="221216" y="198226"/>
                  <a:pt x="222226" y="197216"/>
                  <a:pt x="222928" y="196000"/>
                </a:cubicBezTo>
                <a:cubicBezTo>
                  <a:pt x="223630" y="194784"/>
                  <a:pt x="224000" y="193404"/>
                  <a:pt x="224000" y="192000"/>
                </a:cubicBezTo>
                <a:cubicBezTo>
                  <a:pt x="224000" y="190596"/>
                  <a:pt x="223630" y="189216"/>
                  <a:pt x="222928" y="188000"/>
                </a:cubicBezTo>
                <a:cubicBezTo>
                  <a:pt x="222226" y="186784"/>
                  <a:pt x="221216" y="185774"/>
                  <a:pt x="220000" y="185072"/>
                </a:cubicBezTo>
                <a:cubicBezTo>
                  <a:pt x="218784" y="184370"/>
                  <a:pt x="217404" y="184000"/>
                  <a:pt x="216000" y="184000"/>
                </a:cubicBezTo>
                <a:close/>
                <a:moveTo>
                  <a:pt x="43580" y="55160"/>
                </a:moveTo>
                <a:lnTo>
                  <a:pt x="48000" y="52940"/>
                </a:lnTo>
                <a:lnTo>
                  <a:pt x="48000" y="104000"/>
                </a:lnTo>
                <a:cubicBezTo>
                  <a:pt x="48000" y="105404"/>
                  <a:pt x="48370" y="106784"/>
                  <a:pt x="49072" y="108000"/>
                </a:cubicBezTo>
                <a:cubicBezTo>
                  <a:pt x="49774" y="109216"/>
                  <a:pt x="50784" y="110226"/>
                  <a:pt x="52000" y="110928"/>
                </a:cubicBezTo>
                <a:cubicBezTo>
                  <a:pt x="53216" y="111630"/>
                  <a:pt x="54596" y="112000"/>
                  <a:pt x="56000" y="112000"/>
                </a:cubicBezTo>
                <a:cubicBezTo>
                  <a:pt x="57404" y="112000"/>
                  <a:pt x="58784" y="111630"/>
                  <a:pt x="60000" y="110928"/>
                </a:cubicBezTo>
                <a:cubicBezTo>
                  <a:pt x="61216" y="110226"/>
                  <a:pt x="62226" y="109216"/>
                  <a:pt x="62928" y="108000"/>
                </a:cubicBezTo>
                <a:cubicBezTo>
                  <a:pt x="63630" y="106784"/>
                  <a:pt x="64000" y="105404"/>
                  <a:pt x="64000" y="104000"/>
                </a:cubicBezTo>
                <a:lnTo>
                  <a:pt x="64000" y="40000"/>
                </a:lnTo>
                <a:cubicBezTo>
                  <a:pt x="64001" y="38636"/>
                  <a:pt x="63653" y="37294"/>
                  <a:pt x="62989" y="36102"/>
                </a:cubicBezTo>
                <a:cubicBezTo>
                  <a:pt x="62325" y="34910"/>
                  <a:pt x="61368" y="33907"/>
                  <a:pt x="60207" y="33190"/>
                </a:cubicBezTo>
                <a:cubicBezTo>
                  <a:pt x="59047" y="32472"/>
                  <a:pt x="57722" y="32064"/>
                  <a:pt x="56359" y="32002"/>
                </a:cubicBezTo>
                <a:cubicBezTo>
                  <a:pt x="54996" y="31941"/>
                  <a:pt x="53640" y="32229"/>
                  <a:pt x="52420" y="32840"/>
                </a:cubicBezTo>
                <a:lnTo>
                  <a:pt x="36420" y="40840"/>
                </a:lnTo>
                <a:cubicBezTo>
                  <a:pt x="35163" y="41468"/>
                  <a:pt x="34094" y="42417"/>
                  <a:pt x="33320" y="43589"/>
                </a:cubicBezTo>
                <a:cubicBezTo>
                  <a:pt x="32545" y="44762"/>
                  <a:pt x="32093" y="46118"/>
                  <a:pt x="32009" y="47520"/>
                </a:cubicBezTo>
                <a:cubicBezTo>
                  <a:pt x="31925" y="48923"/>
                  <a:pt x="32212" y="50323"/>
                  <a:pt x="32840" y="51580"/>
                </a:cubicBezTo>
                <a:cubicBezTo>
                  <a:pt x="33468" y="52837"/>
                  <a:pt x="34417" y="53906"/>
                  <a:pt x="35589" y="54680"/>
                </a:cubicBezTo>
                <a:cubicBezTo>
                  <a:pt x="36762" y="55455"/>
                  <a:pt x="38118" y="55907"/>
                  <a:pt x="39520" y="55991"/>
                </a:cubicBezTo>
                <a:cubicBezTo>
                  <a:pt x="40923" y="56075"/>
                  <a:pt x="42323" y="55788"/>
                  <a:pt x="43580" y="55160"/>
                </a:cubicBezTo>
                <a:close/>
                <a:moveTo>
                  <a:pt x="79770" y="156720"/>
                </a:moveTo>
                <a:cubicBezTo>
                  <a:pt x="79328" y="153552"/>
                  <a:pt x="78249" y="150505"/>
                  <a:pt x="76599" y="147764"/>
                </a:cubicBezTo>
                <a:cubicBezTo>
                  <a:pt x="74950" y="145023"/>
                  <a:pt x="72763" y="142644"/>
                  <a:pt x="70170" y="140770"/>
                </a:cubicBezTo>
                <a:cubicBezTo>
                  <a:pt x="66732" y="138273"/>
                  <a:pt x="62711" y="136700"/>
                  <a:pt x="58491" y="136199"/>
                </a:cubicBezTo>
                <a:cubicBezTo>
                  <a:pt x="54272" y="135699"/>
                  <a:pt x="49994" y="136288"/>
                  <a:pt x="46067" y="137911"/>
                </a:cubicBezTo>
                <a:cubicBezTo>
                  <a:pt x="42141" y="139534"/>
                  <a:pt x="38695" y="142137"/>
                  <a:pt x="36060" y="145470"/>
                </a:cubicBezTo>
                <a:cubicBezTo>
                  <a:pt x="34539" y="147423"/>
                  <a:pt x="33334" y="149603"/>
                  <a:pt x="32490" y="151930"/>
                </a:cubicBezTo>
                <a:cubicBezTo>
                  <a:pt x="31986" y="153076"/>
                  <a:pt x="31757" y="154324"/>
                  <a:pt x="31823" y="155574"/>
                </a:cubicBezTo>
                <a:cubicBezTo>
                  <a:pt x="31889" y="156825"/>
                  <a:pt x="32248" y="158042"/>
                  <a:pt x="32870" y="159129"/>
                </a:cubicBezTo>
                <a:cubicBezTo>
                  <a:pt x="33492" y="160215"/>
                  <a:pt x="34361" y="161140"/>
                  <a:pt x="35405" y="161830"/>
                </a:cubicBezTo>
                <a:cubicBezTo>
                  <a:pt x="36450" y="162520"/>
                  <a:pt x="37643" y="162954"/>
                  <a:pt x="38886" y="163099"/>
                </a:cubicBezTo>
                <a:cubicBezTo>
                  <a:pt x="40130" y="163244"/>
                  <a:pt x="41390" y="163095"/>
                  <a:pt x="42565" y="162664"/>
                </a:cubicBezTo>
                <a:cubicBezTo>
                  <a:pt x="43741" y="162233"/>
                  <a:pt x="44799" y="161532"/>
                  <a:pt x="45654" y="160618"/>
                </a:cubicBezTo>
                <a:cubicBezTo>
                  <a:pt x="46510" y="159704"/>
                  <a:pt x="47138" y="158602"/>
                  <a:pt x="47490" y="157400"/>
                </a:cubicBezTo>
                <a:cubicBezTo>
                  <a:pt x="47770" y="156633"/>
                  <a:pt x="48168" y="155914"/>
                  <a:pt x="48670" y="155270"/>
                </a:cubicBezTo>
                <a:cubicBezTo>
                  <a:pt x="49604" y="154106"/>
                  <a:pt x="50821" y="153200"/>
                  <a:pt x="52204" y="152638"/>
                </a:cubicBezTo>
                <a:cubicBezTo>
                  <a:pt x="53587" y="152076"/>
                  <a:pt x="55091" y="151876"/>
                  <a:pt x="56572" y="152059"/>
                </a:cubicBezTo>
                <a:cubicBezTo>
                  <a:pt x="58054" y="152241"/>
                  <a:pt x="59465" y="152799"/>
                  <a:pt x="60670" y="153680"/>
                </a:cubicBezTo>
                <a:cubicBezTo>
                  <a:pt x="61546" y="154299"/>
                  <a:pt x="62286" y="155090"/>
                  <a:pt x="62847" y="156005"/>
                </a:cubicBezTo>
                <a:cubicBezTo>
                  <a:pt x="63407" y="156920"/>
                  <a:pt x="63776" y="157939"/>
                  <a:pt x="63930" y="159000"/>
                </a:cubicBezTo>
                <a:cubicBezTo>
                  <a:pt x="64071" y="160019"/>
                  <a:pt x="64005" y="161057"/>
                  <a:pt x="63735" y="162050"/>
                </a:cubicBezTo>
                <a:cubicBezTo>
                  <a:pt x="63465" y="163043"/>
                  <a:pt x="62998" y="163972"/>
                  <a:pt x="62360" y="164780"/>
                </a:cubicBezTo>
                <a:cubicBezTo>
                  <a:pt x="62331" y="164815"/>
                  <a:pt x="62304" y="164852"/>
                  <a:pt x="62280" y="164890"/>
                </a:cubicBezTo>
                <a:lnTo>
                  <a:pt x="33590" y="203210"/>
                </a:lnTo>
                <a:cubicBezTo>
                  <a:pt x="32880" y="204159"/>
                  <a:pt x="32391" y="205254"/>
                  <a:pt x="32156" y="206416"/>
                </a:cubicBezTo>
                <a:cubicBezTo>
                  <a:pt x="31921" y="207578"/>
                  <a:pt x="31948" y="208777"/>
                  <a:pt x="32233" y="209927"/>
                </a:cubicBezTo>
                <a:cubicBezTo>
                  <a:pt x="32519" y="211077"/>
                  <a:pt x="33056" y="212150"/>
                  <a:pt x="33807" y="213067"/>
                </a:cubicBezTo>
                <a:cubicBezTo>
                  <a:pt x="34557" y="213984"/>
                  <a:pt x="35502" y="214723"/>
                  <a:pt x="36573" y="215230"/>
                </a:cubicBezTo>
                <a:cubicBezTo>
                  <a:pt x="37644" y="215737"/>
                  <a:pt x="38815" y="216000"/>
                  <a:pt x="40000" y="216000"/>
                </a:cubicBezTo>
                <a:lnTo>
                  <a:pt x="72000" y="216000"/>
                </a:lnTo>
                <a:cubicBezTo>
                  <a:pt x="73404" y="216000"/>
                  <a:pt x="74784" y="215630"/>
                  <a:pt x="76000" y="214928"/>
                </a:cubicBezTo>
                <a:cubicBezTo>
                  <a:pt x="77216" y="214226"/>
                  <a:pt x="78226" y="213216"/>
                  <a:pt x="78928" y="212000"/>
                </a:cubicBezTo>
                <a:cubicBezTo>
                  <a:pt x="79630" y="210784"/>
                  <a:pt x="80000" y="209404"/>
                  <a:pt x="80000" y="208000"/>
                </a:cubicBezTo>
                <a:cubicBezTo>
                  <a:pt x="80000" y="206596"/>
                  <a:pt x="79630" y="205216"/>
                  <a:pt x="78928" y="204000"/>
                </a:cubicBezTo>
                <a:cubicBezTo>
                  <a:pt x="78226" y="202784"/>
                  <a:pt x="77216" y="201774"/>
                  <a:pt x="76000" y="201072"/>
                </a:cubicBezTo>
                <a:cubicBezTo>
                  <a:pt x="74784" y="200370"/>
                  <a:pt x="73404" y="200000"/>
                  <a:pt x="72000" y="200000"/>
                </a:cubicBezTo>
                <a:lnTo>
                  <a:pt x="56000" y="200000"/>
                </a:lnTo>
                <a:lnTo>
                  <a:pt x="75080" y="174470"/>
                </a:lnTo>
                <a:cubicBezTo>
                  <a:pt x="77014" y="171978"/>
                  <a:pt x="78427" y="169122"/>
                  <a:pt x="79233" y="166073"/>
                </a:cubicBezTo>
                <a:cubicBezTo>
                  <a:pt x="80038" y="163023"/>
                  <a:pt x="80221" y="159842"/>
                  <a:pt x="79770" y="156720"/>
                </a:cubicBezTo>
                <a:close/>
              </a:path>
            </a:pathLst>
          </a:custGeom>
          <a:solidFill>
            <a:srgbClr val="02479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3" name="Google Shape;243;p17"/>
          <p:cNvSpPr txBox="1"/>
          <p:nvPr/>
        </p:nvSpPr>
        <p:spPr>
          <a:xfrm>
            <a:off x="4156128" y="4410608"/>
            <a:ext cx="1899144" cy="391668"/>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0" i="0" lang="es-MX" sz="950" u="none" cap="none" strike="noStrike">
                <a:solidFill>
                  <a:srgbClr val="2E2E3A"/>
                </a:solidFill>
                <a:latin typeface="Arial"/>
                <a:ea typeface="Arial"/>
                <a:cs typeface="Arial"/>
                <a:sym typeface="Arial"/>
              </a:rPr>
              <a:t>3. Revisamos prioridades según la evidencia.</a:t>
            </a:r>
            <a:endParaRPr/>
          </a:p>
        </p:txBody>
      </p:sp>
      <p:sp>
        <p:nvSpPr>
          <p:cNvPr id="244" name="Google Shape;244;p17"/>
          <p:cNvSpPr/>
          <p:nvPr/>
        </p:nvSpPr>
        <p:spPr>
          <a:xfrm>
            <a:off x="3716024" y="4857140"/>
            <a:ext cx="2387085" cy="550926"/>
          </a:xfrm>
          <a:prstGeom prst="roundRect">
            <a:avLst>
              <a:gd fmla="val 16597"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5" name="Google Shape;245;p17"/>
          <p:cNvSpPr/>
          <p:nvPr/>
        </p:nvSpPr>
        <p:spPr>
          <a:xfrm>
            <a:off x="3817204" y="5013731"/>
            <a:ext cx="237744" cy="237744"/>
          </a:xfrm>
          <a:custGeom>
            <a:rect b="b" l="l" r="r" t="t"/>
            <a:pathLst>
              <a:path extrusionOk="0" h="256000" w="256000">
                <a:moveTo>
                  <a:pt x="128000" y="24000"/>
                </a:moveTo>
                <a:cubicBezTo>
                  <a:pt x="109746" y="24000"/>
                  <a:pt x="91809" y="28806"/>
                  <a:pt x="76000" y="37933"/>
                </a:cubicBezTo>
                <a:cubicBezTo>
                  <a:pt x="60191" y="47061"/>
                  <a:pt x="47061" y="60191"/>
                  <a:pt x="37933" y="76000"/>
                </a:cubicBezTo>
                <a:cubicBezTo>
                  <a:pt x="28806" y="91809"/>
                  <a:pt x="24000" y="109746"/>
                  <a:pt x="24000" y="128000"/>
                </a:cubicBezTo>
                <a:cubicBezTo>
                  <a:pt x="24000" y="146254"/>
                  <a:pt x="28806" y="164191"/>
                  <a:pt x="37933" y="180000"/>
                </a:cubicBezTo>
                <a:cubicBezTo>
                  <a:pt x="47061" y="195809"/>
                  <a:pt x="60191" y="208939"/>
                  <a:pt x="76000" y="218067"/>
                </a:cubicBezTo>
                <a:cubicBezTo>
                  <a:pt x="91809" y="227194"/>
                  <a:pt x="109746" y="232000"/>
                  <a:pt x="128000" y="232000"/>
                </a:cubicBezTo>
                <a:cubicBezTo>
                  <a:pt x="146254" y="232000"/>
                  <a:pt x="164191" y="227194"/>
                  <a:pt x="180000" y="218067"/>
                </a:cubicBezTo>
                <a:cubicBezTo>
                  <a:pt x="195809" y="208939"/>
                  <a:pt x="208939" y="195809"/>
                  <a:pt x="218067" y="180000"/>
                </a:cubicBezTo>
                <a:cubicBezTo>
                  <a:pt x="227194" y="164191"/>
                  <a:pt x="232000" y="146254"/>
                  <a:pt x="232000" y="128000"/>
                </a:cubicBezTo>
                <a:cubicBezTo>
                  <a:pt x="231981" y="109751"/>
                  <a:pt x="227164" y="91824"/>
                  <a:pt x="218034" y="76023"/>
                </a:cubicBezTo>
                <a:cubicBezTo>
                  <a:pt x="208904" y="60222"/>
                  <a:pt x="195778" y="47096"/>
                  <a:pt x="179977" y="37966"/>
                </a:cubicBezTo>
                <a:cubicBezTo>
                  <a:pt x="164176" y="28836"/>
                  <a:pt x="146249" y="24019"/>
                  <a:pt x="128000" y="24000"/>
                </a:cubicBezTo>
                <a:close/>
                <a:moveTo>
                  <a:pt x="128000" y="216000"/>
                </a:moveTo>
                <a:cubicBezTo>
                  <a:pt x="112554" y="216000"/>
                  <a:pt x="97377" y="211933"/>
                  <a:pt x="84000" y="204210"/>
                </a:cubicBezTo>
                <a:cubicBezTo>
                  <a:pt x="70623" y="196487"/>
                  <a:pt x="59513" y="185377"/>
                  <a:pt x="51790" y="172000"/>
                </a:cubicBezTo>
                <a:cubicBezTo>
                  <a:pt x="44067" y="158623"/>
                  <a:pt x="40000" y="143446"/>
                  <a:pt x="40000" y="128000"/>
                </a:cubicBezTo>
                <a:cubicBezTo>
                  <a:pt x="40000" y="112554"/>
                  <a:pt x="44067" y="97377"/>
                  <a:pt x="51790" y="84000"/>
                </a:cubicBezTo>
                <a:cubicBezTo>
                  <a:pt x="59513" y="70623"/>
                  <a:pt x="70623" y="59513"/>
                  <a:pt x="84000" y="51790"/>
                </a:cubicBezTo>
                <a:cubicBezTo>
                  <a:pt x="97377" y="44067"/>
                  <a:pt x="112554" y="40000"/>
                  <a:pt x="128000" y="40000"/>
                </a:cubicBezTo>
                <a:cubicBezTo>
                  <a:pt x="143446" y="40000"/>
                  <a:pt x="158623" y="44067"/>
                  <a:pt x="172000" y="51790"/>
                </a:cubicBezTo>
                <a:cubicBezTo>
                  <a:pt x="185377" y="59513"/>
                  <a:pt x="196487" y="70623"/>
                  <a:pt x="204210" y="84000"/>
                </a:cubicBezTo>
                <a:cubicBezTo>
                  <a:pt x="211933" y="97377"/>
                  <a:pt x="216000" y="112554"/>
                  <a:pt x="216000" y="128000"/>
                </a:cubicBezTo>
                <a:cubicBezTo>
                  <a:pt x="215982" y="143441"/>
                  <a:pt x="211906" y="158609"/>
                  <a:pt x="204180" y="171979"/>
                </a:cubicBezTo>
                <a:cubicBezTo>
                  <a:pt x="196455" y="185348"/>
                  <a:pt x="185348" y="196455"/>
                  <a:pt x="171979" y="204180"/>
                </a:cubicBezTo>
                <a:cubicBezTo>
                  <a:pt x="158609" y="211906"/>
                  <a:pt x="143441" y="215982"/>
                  <a:pt x="128000" y="216000"/>
                </a:cubicBezTo>
                <a:close/>
                <a:moveTo>
                  <a:pt x="172420" y="72840"/>
                </a:moveTo>
                <a:lnTo>
                  <a:pt x="108420" y="104840"/>
                </a:lnTo>
                <a:cubicBezTo>
                  <a:pt x="107651" y="105226"/>
                  <a:pt x="106949" y="105733"/>
                  <a:pt x="106341" y="106341"/>
                </a:cubicBezTo>
                <a:cubicBezTo>
                  <a:pt x="105733" y="106949"/>
                  <a:pt x="105226" y="107651"/>
                  <a:pt x="104840" y="108420"/>
                </a:cubicBezTo>
                <a:lnTo>
                  <a:pt x="72840" y="172420"/>
                </a:lnTo>
                <a:cubicBezTo>
                  <a:pt x="72229" y="173640"/>
                  <a:pt x="71941" y="174996"/>
                  <a:pt x="72002" y="176359"/>
                </a:cubicBezTo>
                <a:cubicBezTo>
                  <a:pt x="72064" y="177722"/>
                  <a:pt x="72472" y="179047"/>
                  <a:pt x="73190" y="180207"/>
                </a:cubicBezTo>
                <a:cubicBezTo>
                  <a:pt x="73907" y="181368"/>
                  <a:pt x="74910" y="182325"/>
                  <a:pt x="76102" y="182989"/>
                </a:cubicBezTo>
                <a:cubicBezTo>
                  <a:pt x="77294" y="183653"/>
                  <a:pt x="78636" y="184001"/>
                  <a:pt x="80000" y="184000"/>
                </a:cubicBezTo>
                <a:cubicBezTo>
                  <a:pt x="81242" y="183998"/>
                  <a:pt x="82467" y="183711"/>
                  <a:pt x="83580" y="183160"/>
                </a:cubicBezTo>
                <a:lnTo>
                  <a:pt x="147580" y="151160"/>
                </a:lnTo>
                <a:cubicBezTo>
                  <a:pt x="148349" y="150774"/>
                  <a:pt x="149051" y="150267"/>
                  <a:pt x="149659" y="149659"/>
                </a:cubicBezTo>
                <a:cubicBezTo>
                  <a:pt x="150267" y="149051"/>
                  <a:pt x="150774" y="148349"/>
                  <a:pt x="151160" y="147580"/>
                </a:cubicBezTo>
                <a:lnTo>
                  <a:pt x="183160" y="83580"/>
                </a:lnTo>
                <a:cubicBezTo>
                  <a:pt x="183762" y="82381"/>
                  <a:pt x="184053" y="81051"/>
                  <a:pt x="184007" y="79710"/>
                </a:cubicBezTo>
                <a:cubicBezTo>
                  <a:pt x="183960" y="78370"/>
                  <a:pt x="183577" y="77062"/>
                  <a:pt x="182893" y="75908"/>
                </a:cubicBezTo>
                <a:cubicBezTo>
                  <a:pt x="182209" y="74755"/>
                  <a:pt x="181245" y="73791"/>
                  <a:pt x="180092" y="73107"/>
                </a:cubicBezTo>
                <a:cubicBezTo>
                  <a:pt x="178938" y="72423"/>
                  <a:pt x="177630" y="72040"/>
                  <a:pt x="176290" y="71993"/>
                </a:cubicBezTo>
                <a:cubicBezTo>
                  <a:pt x="174949" y="71947"/>
                  <a:pt x="173619" y="72238"/>
                  <a:pt x="172420" y="72840"/>
                </a:cubicBezTo>
                <a:close/>
                <a:moveTo>
                  <a:pt x="138000" y="138000"/>
                </a:moveTo>
                <a:lnTo>
                  <a:pt x="97890" y="158110"/>
                </a:lnTo>
                <a:lnTo>
                  <a:pt x="118000" y="118000"/>
                </a:lnTo>
                <a:lnTo>
                  <a:pt x="158150" y="97930"/>
                </a:lnTo>
                <a:close/>
              </a:path>
            </a:pathLst>
          </a:custGeom>
          <a:solidFill>
            <a:srgbClr val="02479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6" name="Google Shape;246;p17"/>
          <p:cNvSpPr txBox="1"/>
          <p:nvPr/>
        </p:nvSpPr>
        <p:spPr>
          <a:xfrm>
            <a:off x="4156128" y="4857140"/>
            <a:ext cx="1899144" cy="550926"/>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0" i="0" lang="es-MX" sz="950" u="none" cap="none" strike="noStrike">
                <a:solidFill>
                  <a:srgbClr val="2E2E3A"/>
                </a:solidFill>
                <a:latin typeface="Arial"/>
                <a:ea typeface="Arial"/>
                <a:cs typeface="Arial"/>
                <a:sym typeface="Arial"/>
              </a:rPr>
              <a:t>4. Tomamos decisiones: ajustamos el plan, el alcance o la forma de trabajar.</a:t>
            </a:r>
            <a:endParaRPr/>
          </a:p>
        </p:txBody>
      </p:sp>
      <p:sp>
        <p:nvSpPr>
          <p:cNvPr id="247" name="Google Shape;247;p17"/>
          <p:cNvSpPr txBox="1"/>
          <p:nvPr/>
        </p:nvSpPr>
        <p:spPr>
          <a:xfrm>
            <a:off x="3839604" y="5508650"/>
            <a:ext cx="2139926" cy="68563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1" lang="es-MX" sz="950" u="none" cap="none" strike="noStrike">
                <a:solidFill>
                  <a:srgbClr val="024791"/>
                </a:solidFill>
                <a:latin typeface="Arial"/>
                <a:ea typeface="Arial"/>
                <a:cs typeface="Arial"/>
                <a:sym typeface="Arial"/>
              </a:rPr>
              <a:t>Resultado: un flujo activo y orientado a valor. La información visible se transforma en aprendizaje y decisiones oportunas.</a:t>
            </a:r>
            <a:endParaRPr/>
          </a:p>
        </p:txBody>
      </p:sp>
      <p:sp>
        <p:nvSpPr>
          <p:cNvPr id="248" name="Google Shape;248;p17"/>
          <p:cNvSpPr/>
          <p:nvPr/>
        </p:nvSpPr>
        <p:spPr>
          <a:xfrm>
            <a:off x="3227832" y="4326102"/>
            <a:ext cx="402336" cy="402336"/>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9" name="Google Shape;249;p17"/>
          <p:cNvSpPr txBox="1"/>
          <p:nvPr/>
        </p:nvSpPr>
        <p:spPr>
          <a:xfrm>
            <a:off x="3227832" y="4326102"/>
            <a:ext cx="402336" cy="402336"/>
          </a:xfrm>
          <a:prstGeom prst="rect">
            <a:avLst/>
          </a:prstGeom>
          <a:noFill/>
          <a:ln>
            <a:noFill/>
          </a:ln>
        </p:spPr>
        <p:txBody>
          <a:bodyPr anchorCtr="0" anchor="ctr" bIns="0" lIns="0" spcFirstLastPara="1" rIns="0" wrap="square" tIns="0">
            <a:spAutoFit/>
          </a:bodyPr>
          <a:lstStyle/>
          <a:p>
            <a:pPr indent="0" lvl="0" marL="0" marR="0" rtl="0" algn="ctr">
              <a:lnSpc>
                <a:spcPct val="112000"/>
              </a:lnSpc>
              <a:spcBef>
                <a:spcPts val="0"/>
              </a:spcBef>
              <a:spcAft>
                <a:spcPts val="0"/>
              </a:spcAft>
              <a:buNone/>
            </a:pPr>
            <a:r>
              <a:rPr b="1" i="0" lang="es-MX" sz="1600" u="none" cap="none" strike="noStrike">
                <a:solidFill>
                  <a:srgbClr val="0B2E6B"/>
                </a:solidFill>
                <a:latin typeface="Arial"/>
                <a:ea typeface="Arial"/>
                <a:cs typeface="Arial"/>
                <a:sym typeface="Arial"/>
              </a:rPr>
              <a:t>≠</a:t>
            </a:r>
            <a:endParaRPr/>
          </a:p>
        </p:txBody>
      </p:sp>
      <p:sp>
        <p:nvSpPr>
          <p:cNvPr id="250" name="Google Shape;250;p17"/>
          <p:cNvSpPr/>
          <p:nvPr/>
        </p:nvSpPr>
        <p:spPr>
          <a:xfrm>
            <a:off x="640080" y="6638392"/>
            <a:ext cx="5577840" cy="1165860"/>
          </a:xfrm>
          <a:prstGeom prst="roundRect">
            <a:avLst>
              <a:gd fmla="val 9372" name="adj"/>
            </a:avLst>
          </a:prstGeom>
          <a:solidFill>
            <a:srgbClr val="E5E6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1" name="Google Shape;251;p17"/>
          <p:cNvSpPr/>
          <p:nvPr/>
        </p:nvSpPr>
        <p:spPr>
          <a:xfrm>
            <a:off x="823940" y="6969862"/>
            <a:ext cx="502920" cy="50292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2" name="Google Shape;252;p17"/>
          <p:cNvSpPr/>
          <p:nvPr/>
        </p:nvSpPr>
        <p:spPr>
          <a:xfrm>
            <a:off x="934582" y="7080505"/>
            <a:ext cx="281635" cy="281635"/>
          </a:xfrm>
          <a:custGeom>
            <a:rect b="b" l="l" r="r" t="t"/>
            <a:pathLst>
              <a:path extrusionOk="0" h="256000" w="256000">
                <a:moveTo>
                  <a:pt x="216000" y="48000"/>
                </a:moveTo>
                <a:lnTo>
                  <a:pt x="40000" y="48000"/>
                </a:lnTo>
                <a:cubicBezTo>
                  <a:pt x="38596" y="48000"/>
                  <a:pt x="37216" y="48370"/>
                  <a:pt x="36000" y="49072"/>
                </a:cubicBezTo>
                <a:cubicBezTo>
                  <a:pt x="34784" y="49774"/>
                  <a:pt x="33774" y="50784"/>
                  <a:pt x="33072" y="52000"/>
                </a:cubicBezTo>
                <a:cubicBezTo>
                  <a:pt x="32370" y="53216"/>
                  <a:pt x="32000" y="54596"/>
                  <a:pt x="32000" y="56000"/>
                </a:cubicBezTo>
                <a:lnTo>
                  <a:pt x="32000" y="208000"/>
                </a:lnTo>
                <a:cubicBezTo>
                  <a:pt x="32000" y="210808"/>
                  <a:pt x="32739" y="213568"/>
                  <a:pt x="34144" y="216000"/>
                </a:cubicBezTo>
                <a:cubicBezTo>
                  <a:pt x="35548" y="218432"/>
                  <a:pt x="37568" y="220452"/>
                  <a:pt x="40000" y="221856"/>
                </a:cubicBezTo>
                <a:cubicBezTo>
                  <a:pt x="42432" y="223261"/>
                  <a:pt x="45192" y="224000"/>
                  <a:pt x="48000" y="224000"/>
                </a:cubicBezTo>
                <a:lnTo>
                  <a:pt x="88000" y="224000"/>
                </a:lnTo>
                <a:cubicBezTo>
                  <a:pt x="90808" y="224000"/>
                  <a:pt x="93568" y="223261"/>
                  <a:pt x="96000" y="221856"/>
                </a:cubicBezTo>
                <a:cubicBezTo>
                  <a:pt x="98432" y="220452"/>
                  <a:pt x="100452" y="218432"/>
                  <a:pt x="101856" y="216000"/>
                </a:cubicBezTo>
                <a:cubicBezTo>
                  <a:pt x="103261" y="213568"/>
                  <a:pt x="104000" y="210808"/>
                  <a:pt x="104000" y="208000"/>
                </a:cubicBezTo>
                <a:lnTo>
                  <a:pt x="104000" y="160000"/>
                </a:lnTo>
                <a:lnTo>
                  <a:pt x="152000" y="160000"/>
                </a:lnTo>
                <a:lnTo>
                  <a:pt x="152000" y="176000"/>
                </a:lnTo>
                <a:cubicBezTo>
                  <a:pt x="152000" y="178808"/>
                  <a:pt x="152739" y="181568"/>
                  <a:pt x="154144" y="184000"/>
                </a:cubicBezTo>
                <a:cubicBezTo>
                  <a:pt x="155548" y="186432"/>
                  <a:pt x="157568" y="188452"/>
                  <a:pt x="160000" y="189856"/>
                </a:cubicBezTo>
                <a:cubicBezTo>
                  <a:pt x="162432" y="191261"/>
                  <a:pt x="165192" y="192000"/>
                  <a:pt x="168000" y="192000"/>
                </a:cubicBezTo>
                <a:lnTo>
                  <a:pt x="208000" y="192000"/>
                </a:lnTo>
                <a:cubicBezTo>
                  <a:pt x="210808" y="192000"/>
                  <a:pt x="213568" y="191261"/>
                  <a:pt x="216000" y="189856"/>
                </a:cubicBezTo>
                <a:cubicBezTo>
                  <a:pt x="218432" y="188452"/>
                  <a:pt x="220452" y="186432"/>
                  <a:pt x="221856" y="184000"/>
                </a:cubicBezTo>
                <a:cubicBezTo>
                  <a:pt x="223261" y="181568"/>
                  <a:pt x="224000" y="178808"/>
                  <a:pt x="224000" y="176000"/>
                </a:cubicBezTo>
                <a:lnTo>
                  <a:pt x="224000" y="56000"/>
                </a:lnTo>
                <a:cubicBezTo>
                  <a:pt x="224000" y="54596"/>
                  <a:pt x="223630" y="53216"/>
                  <a:pt x="222928" y="52000"/>
                </a:cubicBezTo>
                <a:cubicBezTo>
                  <a:pt x="222226" y="50784"/>
                  <a:pt x="221216" y="49774"/>
                  <a:pt x="220000" y="49072"/>
                </a:cubicBezTo>
                <a:cubicBezTo>
                  <a:pt x="218784" y="48370"/>
                  <a:pt x="217404" y="48000"/>
                  <a:pt x="216000" y="48000"/>
                </a:cubicBezTo>
                <a:close/>
                <a:moveTo>
                  <a:pt x="88000" y="208000"/>
                </a:moveTo>
                <a:lnTo>
                  <a:pt x="48000" y="208000"/>
                </a:lnTo>
                <a:lnTo>
                  <a:pt x="48000" y="128000"/>
                </a:lnTo>
                <a:lnTo>
                  <a:pt x="88000" y="128000"/>
                </a:lnTo>
                <a:close/>
                <a:moveTo>
                  <a:pt x="88000" y="112000"/>
                </a:moveTo>
                <a:lnTo>
                  <a:pt x="48000" y="112000"/>
                </a:lnTo>
                <a:lnTo>
                  <a:pt x="48000" y="64000"/>
                </a:lnTo>
                <a:lnTo>
                  <a:pt x="88000" y="64000"/>
                </a:lnTo>
                <a:close/>
                <a:moveTo>
                  <a:pt x="152000" y="144000"/>
                </a:moveTo>
                <a:lnTo>
                  <a:pt x="104000" y="144000"/>
                </a:lnTo>
                <a:lnTo>
                  <a:pt x="104000" y="64000"/>
                </a:lnTo>
                <a:lnTo>
                  <a:pt x="152000" y="64000"/>
                </a:lnTo>
                <a:close/>
                <a:moveTo>
                  <a:pt x="208000" y="176000"/>
                </a:moveTo>
                <a:lnTo>
                  <a:pt x="168000" y="176000"/>
                </a:lnTo>
                <a:lnTo>
                  <a:pt x="168000" y="128000"/>
                </a:lnTo>
                <a:lnTo>
                  <a:pt x="208000" y="128000"/>
                </a:lnTo>
                <a:close/>
                <a:moveTo>
                  <a:pt x="208000" y="112000"/>
                </a:moveTo>
                <a:lnTo>
                  <a:pt x="168000" y="112000"/>
                </a:lnTo>
                <a:lnTo>
                  <a:pt x="168000" y="64000"/>
                </a:lnTo>
                <a:lnTo>
                  <a:pt x="208000" y="64000"/>
                </a:lnTo>
                <a:close/>
              </a:path>
            </a:pathLst>
          </a:custGeom>
          <a:solidFill>
            <a:srgbClr val="0B2E6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3" name="Google Shape;253;p17"/>
          <p:cNvSpPr txBox="1"/>
          <p:nvPr/>
        </p:nvSpPr>
        <p:spPr>
          <a:xfrm>
            <a:off x="1482018" y="6802984"/>
            <a:ext cx="4573254" cy="836676"/>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1" i="0" lang="es-MX" sz="1050" u="none" cap="none" strike="noStrike">
                <a:solidFill>
                  <a:srgbClr val="024791"/>
                </a:solidFill>
                <a:latin typeface="Arial"/>
                <a:ea typeface="Arial"/>
                <a:cs typeface="Arial"/>
                <a:sym typeface="Arial"/>
              </a:rPr>
              <a:t>Un tablero no es un fin, es un medio. </a:t>
            </a:r>
            <a:r>
              <a:rPr b="0" i="0" lang="es-MX" sz="1050" u="none" cap="none" strike="noStrike">
                <a:solidFill>
                  <a:srgbClr val="332F37"/>
                </a:solidFill>
                <a:latin typeface="Arial"/>
                <a:ea typeface="Arial"/>
                <a:cs typeface="Arial"/>
                <a:sym typeface="Arial"/>
              </a:rPr>
              <a:t>Su verdadero valor aparece cuando la información que hace visible nos permite cuestionar, recalibrar y tomar decisiones que generan mejores resultados.</a:t>
            </a:r>
            <a:endParaRPr/>
          </a:p>
        </p:txBody>
      </p:sp>
      <p:sp>
        <p:nvSpPr>
          <p:cNvPr id="254" name="Google Shape;254;p17"/>
          <p:cNvSpPr txBox="1"/>
          <p:nvPr/>
        </p:nvSpPr>
        <p:spPr>
          <a:xfrm>
            <a:off x="640080" y="7968844"/>
            <a:ext cx="5577840" cy="201168"/>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1" lang="es-MX" sz="950" u="none" cap="none" strike="noStrike">
                <a:solidFill>
                  <a:srgbClr val="7B7480"/>
                </a:solidFill>
                <a:latin typeface="Arial"/>
                <a:ea typeface="Arial"/>
                <a:cs typeface="Arial"/>
                <a:sym typeface="Arial"/>
              </a:rPr>
              <a:t>Fuente: elaboración propia.</a:t>
            </a:r>
            <a:endParaRPr/>
          </a:p>
        </p:txBody>
      </p:sp>
      <p:sp>
        <p:nvSpPr>
          <p:cNvPr id="255" name="Google Shape;255;p17"/>
          <p:cNvSpPr txBox="1"/>
          <p:nvPr/>
        </p:nvSpPr>
        <p:spPr>
          <a:xfrm>
            <a:off x="640080" y="8261452"/>
            <a:ext cx="5577840" cy="509016"/>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1" lang="es-MX" sz="1100" u="none" cap="none" strike="noStrike">
                <a:solidFill>
                  <a:srgbClr val="56505B"/>
                </a:solidFill>
                <a:latin typeface="Arial"/>
                <a:ea typeface="Arial"/>
                <a:cs typeface="Arial"/>
                <a:sym typeface="Arial"/>
              </a:rPr>
              <a:t>La diferencia no está únicamente en el tablero utilizado, sino en lo que hacemos con la información que el tablero permite visualizar.</a:t>
            </a:r>
            <a:endParaRPr/>
          </a:p>
        </p:txBody>
      </p:sp>
      <p:cxnSp>
        <p:nvCxnSpPr>
          <p:cNvPr id="256" name="Google Shape;256;p17"/>
          <p:cNvCxnSpPr/>
          <p:nvPr/>
        </p:nvCxnSpPr>
        <p:spPr>
          <a:xfrm>
            <a:off x="748527" y="6638392"/>
            <a:ext cx="1047572" cy="0"/>
          </a:xfrm>
          <a:prstGeom prst="straightConnector1">
            <a:avLst/>
          </a:prstGeom>
          <a:noFill/>
          <a:ln cap="flat" cmpd="sng" w="53975">
            <a:solidFill>
              <a:srgbClr val="73CDEB"/>
            </a:solidFill>
            <a:prstDash val="solid"/>
            <a:round/>
            <a:headEnd len="med" w="med" type="oval"/>
            <a:tailEnd len="med" w="med" type="oval"/>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8"/>
          <p:cNvSpPr/>
          <p:nvPr/>
        </p:nvSpPr>
        <p:spPr>
          <a:xfrm>
            <a:off x="638485" y="723900"/>
            <a:ext cx="4086110"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Agilidad más allá de las herramientas</a:t>
            </a:r>
            <a:endParaRPr b="0" i="0" sz="1400" u="none" cap="none" strike="noStrike">
              <a:solidFill>
                <a:srgbClr val="000000"/>
              </a:solidFill>
              <a:latin typeface="Arial"/>
              <a:ea typeface="Arial"/>
              <a:cs typeface="Arial"/>
              <a:sym typeface="Arial"/>
            </a:endParaRPr>
          </a:p>
        </p:txBody>
      </p:sp>
      <p:sp>
        <p:nvSpPr>
          <p:cNvPr id="262" name="Google Shape;262;p18"/>
          <p:cNvSpPr txBox="1"/>
          <p:nvPr/>
        </p:nvSpPr>
        <p:spPr>
          <a:xfrm>
            <a:off x="640080" y="1234440"/>
            <a:ext cx="5577840" cy="522732"/>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MX" sz="1450" u="none" cap="none" strike="noStrike">
                <a:solidFill>
                  <a:srgbClr val="664092"/>
                </a:solidFill>
                <a:latin typeface="Arial"/>
                <a:ea typeface="Arial"/>
                <a:cs typeface="Arial"/>
                <a:sym typeface="Arial"/>
              </a:rPr>
              <a:t>Cuando entregamos más, pero no necesariamente generamos valor</a:t>
            </a:r>
            <a:endParaRPr/>
          </a:p>
        </p:txBody>
      </p:sp>
      <p:sp>
        <p:nvSpPr>
          <p:cNvPr id="263" name="Google Shape;263;p18"/>
          <p:cNvSpPr txBox="1"/>
          <p:nvPr/>
        </p:nvSpPr>
        <p:spPr>
          <a:xfrm>
            <a:off x="640080" y="1866900"/>
            <a:ext cx="5577840" cy="1598676"/>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s-MX" sz="1100" u="none" cap="none" strike="noStrike">
                <a:solidFill>
                  <a:srgbClr val="56505B"/>
                </a:solidFill>
                <a:latin typeface="Arial"/>
                <a:ea typeface="Arial"/>
                <a:cs typeface="Arial"/>
                <a:sym typeface="Arial"/>
              </a:rPr>
              <a:t>Otra confusión frecuente consiste en asociar la agilidad con producir una mayor cantidad de entregas. El Manifiesto Ágil otorga especial importancia a la entrega temprana y continua de software con valor y establece el funcionamiento del producto como una medida fundamental del progreso (Beck et al., 2001). Por tanto, incrementar la frecuencia de las entregas no resulta suficiente si aquello que producimos no responde a una necesidad o no permite aprender algo relevante.</a:t>
            </a:r>
            <a:endParaRPr/>
          </a:p>
        </p:txBody>
      </p:sp>
      <p:sp>
        <p:nvSpPr>
          <p:cNvPr id="264" name="Google Shape;264;p18"/>
          <p:cNvSpPr txBox="1"/>
          <p:nvPr/>
        </p:nvSpPr>
        <p:spPr>
          <a:xfrm>
            <a:off x="640080" y="3593592"/>
            <a:ext cx="5577840" cy="94488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s-MX" sz="1100" u="none" cap="none" strike="noStrike">
                <a:solidFill>
                  <a:srgbClr val="56505B"/>
                </a:solidFill>
                <a:latin typeface="Arial"/>
                <a:ea typeface="Arial"/>
                <a:cs typeface="Arial"/>
                <a:sym typeface="Arial"/>
              </a:rPr>
              <a:t>Podemos generar numerosos resultados parciales que nadie utiliza o que no contribuyen a resolver una necesidad prioritaria. Desde una lógica ágil, necesitamos preguntarnos no solo cuánto hemos producido, sino también qué valor aporta lo realizado y qué podemos aprender de los resultados obtenidos.</a:t>
            </a:r>
            <a:endParaRPr/>
          </a:p>
        </p:txBody>
      </p:sp>
      <p:sp>
        <p:nvSpPr>
          <p:cNvPr id="265" name="Google Shape;265;p18"/>
          <p:cNvSpPr txBox="1"/>
          <p:nvPr/>
        </p:nvSpPr>
        <p:spPr>
          <a:xfrm>
            <a:off x="640080" y="4712208"/>
            <a:ext cx="557784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MX" sz="950" u="none" cap="none" strike="noStrike">
                <a:solidFill>
                  <a:srgbClr val="3560D6"/>
                </a:solidFill>
                <a:latin typeface="Arial"/>
                <a:ea typeface="Arial"/>
                <a:cs typeface="Arial"/>
                <a:sym typeface="Arial"/>
              </a:rPr>
              <a:t>IDEA CLAVE</a:t>
            </a:r>
            <a:endParaRPr/>
          </a:p>
        </p:txBody>
      </p:sp>
      <p:sp>
        <p:nvSpPr>
          <p:cNvPr id="266" name="Google Shape;266;p18"/>
          <p:cNvSpPr txBox="1"/>
          <p:nvPr/>
        </p:nvSpPr>
        <p:spPr>
          <a:xfrm>
            <a:off x="640080" y="4949952"/>
            <a:ext cx="5577840" cy="25450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MX" sz="1300" u="none" cap="none" strike="noStrike">
                <a:solidFill>
                  <a:srgbClr val="664092"/>
                </a:solidFill>
                <a:latin typeface="Arial"/>
                <a:ea typeface="Arial"/>
                <a:cs typeface="Arial"/>
                <a:sym typeface="Arial"/>
              </a:rPr>
              <a:t>Más entregas no significa más valor</a:t>
            </a:r>
            <a:endParaRPr/>
          </a:p>
        </p:txBody>
      </p:sp>
      <p:sp>
        <p:nvSpPr>
          <p:cNvPr id="267" name="Google Shape;267;p18"/>
          <p:cNvSpPr/>
          <p:nvPr/>
        </p:nvSpPr>
        <p:spPr>
          <a:xfrm>
            <a:off x="640080" y="5295900"/>
            <a:ext cx="1655173" cy="868680"/>
          </a:xfrm>
          <a:prstGeom prst="roundRect">
            <a:avLst>
              <a:gd fmla="val 16842" name="adj"/>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8" name="Google Shape;268;p18"/>
          <p:cNvSpPr/>
          <p:nvPr/>
        </p:nvSpPr>
        <p:spPr>
          <a:xfrm>
            <a:off x="1284786" y="5414772"/>
            <a:ext cx="365760" cy="365760"/>
          </a:xfrm>
          <a:prstGeom prst="ellipse">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9" name="Google Shape;269;p18"/>
          <p:cNvSpPr/>
          <p:nvPr/>
        </p:nvSpPr>
        <p:spPr>
          <a:xfrm>
            <a:off x="1365253" y="5495239"/>
            <a:ext cx="204826" cy="204826"/>
          </a:xfrm>
          <a:custGeom>
            <a:rect b="b" l="l" r="r" t="t"/>
            <a:pathLst>
              <a:path extrusionOk="0" h="256000" w="256000">
                <a:moveTo>
                  <a:pt x="223680" y="66150"/>
                </a:moveTo>
                <a:lnTo>
                  <a:pt x="135680" y="18000"/>
                </a:lnTo>
                <a:cubicBezTo>
                  <a:pt x="133329" y="16701"/>
                  <a:pt x="130686" y="16019"/>
                  <a:pt x="128000" y="16019"/>
                </a:cubicBezTo>
                <a:cubicBezTo>
                  <a:pt x="125314" y="16019"/>
                  <a:pt x="122671" y="16701"/>
                  <a:pt x="120320" y="18000"/>
                </a:cubicBezTo>
                <a:lnTo>
                  <a:pt x="32320" y="66170"/>
                </a:lnTo>
                <a:cubicBezTo>
                  <a:pt x="30650" y="67084"/>
                  <a:pt x="29157" y="68288"/>
                  <a:pt x="27910" y="69726"/>
                </a:cubicBezTo>
                <a:cubicBezTo>
                  <a:pt x="26663" y="71165"/>
                  <a:pt x="25683" y="72814"/>
                  <a:pt x="25016" y="74596"/>
                </a:cubicBezTo>
                <a:cubicBezTo>
                  <a:pt x="24348" y="76379"/>
                  <a:pt x="24004" y="78267"/>
                  <a:pt x="24000" y="80170"/>
                </a:cubicBezTo>
                <a:lnTo>
                  <a:pt x="24000" y="175810"/>
                </a:lnTo>
                <a:cubicBezTo>
                  <a:pt x="24004" y="177713"/>
                  <a:pt x="24348" y="179601"/>
                  <a:pt x="25016" y="181384"/>
                </a:cubicBezTo>
                <a:cubicBezTo>
                  <a:pt x="25683" y="183166"/>
                  <a:pt x="26663" y="184815"/>
                  <a:pt x="27910" y="186254"/>
                </a:cubicBezTo>
                <a:cubicBezTo>
                  <a:pt x="29157" y="187692"/>
                  <a:pt x="30650" y="188896"/>
                  <a:pt x="32320" y="189810"/>
                </a:cubicBezTo>
                <a:lnTo>
                  <a:pt x="120320" y="237980"/>
                </a:lnTo>
                <a:cubicBezTo>
                  <a:pt x="122671" y="239279"/>
                  <a:pt x="125314" y="239961"/>
                  <a:pt x="128000" y="239961"/>
                </a:cubicBezTo>
                <a:cubicBezTo>
                  <a:pt x="130686" y="239961"/>
                  <a:pt x="133329" y="239279"/>
                  <a:pt x="135680" y="237980"/>
                </a:cubicBezTo>
                <a:lnTo>
                  <a:pt x="223680" y="189810"/>
                </a:lnTo>
                <a:cubicBezTo>
                  <a:pt x="225350" y="188896"/>
                  <a:pt x="226843" y="187692"/>
                  <a:pt x="228090" y="186254"/>
                </a:cubicBezTo>
                <a:cubicBezTo>
                  <a:pt x="229337" y="184815"/>
                  <a:pt x="230317" y="183166"/>
                  <a:pt x="230984" y="181384"/>
                </a:cubicBezTo>
                <a:cubicBezTo>
                  <a:pt x="231652" y="179601"/>
                  <a:pt x="231996" y="177713"/>
                  <a:pt x="232000" y="175810"/>
                </a:cubicBezTo>
                <a:lnTo>
                  <a:pt x="232000" y="80180"/>
                </a:lnTo>
                <a:cubicBezTo>
                  <a:pt x="231999" y="78273"/>
                  <a:pt x="231658" y="76382"/>
                  <a:pt x="230991" y="74595"/>
                </a:cubicBezTo>
                <a:cubicBezTo>
                  <a:pt x="230325" y="72809"/>
                  <a:pt x="229345" y="71155"/>
                  <a:pt x="228097" y="69714"/>
                </a:cubicBezTo>
                <a:cubicBezTo>
                  <a:pt x="226849" y="68272"/>
                  <a:pt x="225353" y="67065"/>
                  <a:pt x="223680" y="66150"/>
                </a:cubicBezTo>
                <a:close/>
                <a:moveTo>
                  <a:pt x="128000" y="32000"/>
                </a:moveTo>
                <a:lnTo>
                  <a:pt x="208340" y="76000"/>
                </a:lnTo>
                <a:lnTo>
                  <a:pt x="178570" y="92300"/>
                </a:lnTo>
                <a:lnTo>
                  <a:pt x="98220" y="48300"/>
                </a:lnTo>
                <a:close/>
                <a:moveTo>
                  <a:pt x="128000" y="120000"/>
                </a:moveTo>
                <a:lnTo>
                  <a:pt x="47660" y="76000"/>
                </a:lnTo>
                <a:lnTo>
                  <a:pt x="81560" y="57440"/>
                </a:lnTo>
                <a:lnTo>
                  <a:pt x="161900" y="101440"/>
                </a:lnTo>
                <a:close/>
                <a:moveTo>
                  <a:pt x="40000" y="90000"/>
                </a:moveTo>
                <a:lnTo>
                  <a:pt x="120000" y="133780"/>
                </a:lnTo>
                <a:lnTo>
                  <a:pt x="120000" y="219570"/>
                </a:lnTo>
                <a:lnTo>
                  <a:pt x="40000" y="175820"/>
                </a:lnTo>
                <a:close/>
                <a:moveTo>
                  <a:pt x="216000" y="175780"/>
                </a:moveTo>
                <a:lnTo>
                  <a:pt x="216000" y="175780"/>
                </a:lnTo>
                <a:lnTo>
                  <a:pt x="136000" y="219570"/>
                </a:lnTo>
                <a:lnTo>
                  <a:pt x="136000" y="133820"/>
                </a:lnTo>
                <a:lnTo>
                  <a:pt x="168000" y="116310"/>
                </a:lnTo>
                <a:lnTo>
                  <a:pt x="168000" y="152000"/>
                </a:lnTo>
                <a:cubicBezTo>
                  <a:pt x="168000" y="153404"/>
                  <a:pt x="168370" y="154784"/>
                  <a:pt x="169072" y="156000"/>
                </a:cubicBezTo>
                <a:cubicBezTo>
                  <a:pt x="169774" y="157216"/>
                  <a:pt x="170784" y="158226"/>
                  <a:pt x="172000" y="158928"/>
                </a:cubicBezTo>
                <a:cubicBezTo>
                  <a:pt x="173216" y="159630"/>
                  <a:pt x="174596" y="160000"/>
                  <a:pt x="176000" y="160000"/>
                </a:cubicBezTo>
                <a:cubicBezTo>
                  <a:pt x="177404" y="160000"/>
                  <a:pt x="178784" y="159630"/>
                  <a:pt x="180000" y="158928"/>
                </a:cubicBezTo>
                <a:cubicBezTo>
                  <a:pt x="181216" y="158226"/>
                  <a:pt x="182226" y="157216"/>
                  <a:pt x="182928" y="156000"/>
                </a:cubicBezTo>
                <a:cubicBezTo>
                  <a:pt x="183630" y="154784"/>
                  <a:pt x="184000" y="153404"/>
                  <a:pt x="184000" y="152000"/>
                </a:cubicBezTo>
                <a:lnTo>
                  <a:pt x="184000" y="107550"/>
                </a:lnTo>
                <a:lnTo>
                  <a:pt x="216000" y="90000"/>
                </a:lnTo>
                <a:lnTo>
                  <a:pt x="216000" y="17577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18"/>
          <p:cNvSpPr txBox="1"/>
          <p:nvPr/>
        </p:nvSpPr>
        <p:spPr>
          <a:xfrm>
            <a:off x="687917" y="5753100"/>
            <a:ext cx="1559499" cy="384048"/>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s-MX" sz="950" u="none" cap="none" strike="noStrike">
                <a:solidFill>
                  <a:srgbClr val="0B2E6B"/>
                </a:solidFill>
                <a:latin typeface="Arial"/>
                <a:ea typeface="Arial"/>
                <a:cs typeface="Arial"/>
                <a:sym typeface="Arial"/>
              </a:rPr>
              <a:t>Entrega parcial</a:t>
            </a:r>
            <a:endParaRPr/>
          </a:p>
        </p:txBody>
      </p:sp>
      <p:sp>
        <p:nvSpPr>
          <p:cNvPr id="271" name="Google Shape;271;p18"/>
          <p:cNvSpPr/>
          <p:nvPr/>
        </p:nvSpPr>
        <p:spPr>
          <a:xfrm>
            <a:off x="2320317" y="5597652"/>
            <a:ext cx="256032" cy="256032"/>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2" name="Google Shape;272;p18"/>
          <p:cNvSpPr txBox="1"/>
          <p:nvPr/>
        </p:nvSpPr>
        <p:spPr>
          <a:xfrm>
            <a:off x="2320317" y="5597652"/>
            <a:ext cx="256032" cy="256032"/>
          </a:xfrm>
          <a:prstGeom prst="rect">
            <a:avLst/>
          </a:prstGeom>
          <a:noFill/>
          <a:ln>
            <a:noFill/>
          </a:ln>
        </p:spPr>
        <p:txBody>
          <a:bodyPr anchorCtr="0" anchor="ctr" bIns="0" lIns="0" spcFirstLastPara="1" rIns="0" wrap="square" tIns="0">
            <a:spAutoFit/>
          </a:bodyPr>
          <a:lstStyle/>
          <a:p>
            <a:pPr indent="0" lvl="0" marL="0" marR="0" rtl="0" algn="ctr">
              <a:lnSpc>
                <a:spcPct val="112000"/>
              </a:lnSpc>
              <a:spcBef>
                <a:spcPts val="0"/>
              </a:spcBef>
              <a:spcAft>
                <a:spcPts val="0"/>
              </a:spcAft>
              <a:buNone/>
            </a:pPr>
            <a:r>
              <a:rPr b="1" i="0" lang="es-MX" sz="1300" u="none" cap="none" strike="noStrike">
                <a:solidFill>
                  <a:srgbClr val="0B2E6B"/>
                </a:solidFill>
                <a:latin typeface="Arial"/>
                <a:ea typeface="Arial"/>
                <a:cs typeface="Arial"/>
                <a:sym typeface="Arial"/>
              </a:rPr>
              <a:t>+</a:t>
            </a:r>
            <a:endParaRPr/>
          </a:p>
        </p:txBody>
      </p:sp>
      <p:sp>
        <p:nvSpPr>
          <p:cNvPr id="273" name="Google Shape;273;p18"/>
          <p:cNvSpPr/>
          <p:nvPr/>
        </p:nvSpPr>
        <p:spPr>
          <a:xfrm>
            <a:off x="2601413" y="5295900"/>
            <a:ext cx="1655173" cy="868680"/>
          </a:xfrm>
          <a:prstGeom prst="roundRect">
            <a:avLst>
              <a:gd fmla="val 16842" name="adj"/>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18"/>
          <p:cNvSpPr/>
          <p:nvPr/>
        </p:nvSpPr>
        <p:spPr>
          <a:xfrm>
            <a:off x="3246120" y="5414772"/>
            <a:ext cx="365760" cy="365760"/>
          </a:xfrm>
          <a:prstGeom prst="ellipse">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5" name="Google Shape;275;p18"/>
          <p:cNvSpPr/>
          <p:nvPr/>
        </p:nvSpPr>
        <p:spPr>
          <a:xfrm>
            <a:off x="3326587" y="5495239"/>
            <a:ext cx="204826" cy="204826"/>
          </a:xfrm>
          <a:custGeom>
            <a:rect b="b" l="l" r="r" t="t"/>
            <a:pathLst>
              <a:path extrusionOk="0" h="256000" w="256000">
                <a:moveTo>
                  <a:pt x="176000" y="232000"/>
                </a:moveTo>
                <a:cubicBezTo>
                  <a:pt x="176000" y="233404"/>
                  <a:pt x="175630" y="234784"/>
                  <a:pt x="174928" y="236000"/>
                </a:cubicBezTo>
                <a:cubicBezTo>
                  <a:pt x="174226" y="237216"/>
                  <a:pt x="173216" y="238226"/>
                  <a:pt x="172000" y="238928"/>
                </a:cubicBezTo>
                <a:cubicBezTo>
                  <a:pt x="170784" y="239630"/>
                  <a:pt x="169404" y="240000"/>
                  <a:pt x="168000" y="240000"/>
                </a:cubicBezTo>
                <a:lnTo>
                  <a:pt x="88000" y="240000"/>
                </a:lnTo>
                <a:cubicBezTo>
                  <a:pt x="86596" y="240000"/>
                  <a:pt x="85216" y="239630"/>
                  <a:pt x="84000" y="238928"/>
                </a:cubicBezTo>
                <a:cubicBezTo>
                  <a:pt x="82784" y="238226"/>
                  <a:pt x="81774" y="237216"/>
                  <a:pt x="81072" y="236000"/>
                </a:cubicBezTo>
                <a:cubicBezTo>
                  <a:pt x="80370" y="234784"/>
                  <a:pt x="80000" y="233404"/>
                  <a:pt x="80000" y="232000"/>
                </a:cubicBezTo>
                <a:cubicBezTo>
                  <a:pt x="80000" y="230596"/>
                  <a:pt x="80370" y="229216"/>
                  <a:pt x="81072" y="228000"/>
                </a:cubicBezTo>
                <a:cubicBezTo>
                  <a:pt x="81774" y="226784"/>
                  <a:pt x="82784" y="225774"/>
                  <a:pt x="84000" y="225072"/>
                </a:cubicBezTo>
                <a:cubicBezTo>
                  <a:pt x="85216" y="224370"/>
                  <a:pt x="86596" y="224000"/>
                  <a:pt x="88000" y="224000"/>
                </a:cubicBezTo>
                <a:lnTo>
                  <a:pt x="168000" y="224000"/>
                </a:lnTo>
                <a:cubicBezTo>
                  <a:pt x="169404" y="224000"/>
                  <a:pt x="170784" y="224370"/>
                  <a:pt x="172000" y="225072"/>
                </a:cubicBezTo>
                <a:cubicBezTo>
                  <a:pt x="173216" y="225774"/>
                  <a:pt x="174226" y="226784"/>
                  <a:pt x="174928" y="228000"/>
                </a:cubicBezTo>
                <a:cubicBezTo>
                  <a:pt x="175630" y="229216"/>
                  <a:pt x="176000" y="230596"/>
                  <a:pt x="176000" y="232000"/>
                </a:cubicBezTo>
                <a:close/>
                <a:moveTo>
                  <a:pt x="216000" y="104000"/>
                </a:moveTo>
                <a:cubicBezTo>
                  <a:pt x="216034" y="117336"/>
                  <a:pt x="213021" y="130505"/>
                  <a:pt x="207192" y="142499"/>
                </a:cubicBezTo>
                <a:cubicBezTo>
                  <a:pt x="201362" y="154493"/>
                  <a:pt x="192868" y="164998"/>
                  <a:pt x="182360" y="173210"/>
                </a:cubicBezTo>
                <a:cubicBezTo>
                  <a:pt x="180395" y="174716"/>
                  <a:pt x="178801" y="176652"/>
                  <a:pt x="177698" y="178868"/>
                </a:cubicBezTo>
                <a:cubicBezTo>
                  <a:pt x="176596" y="181085"/>
                  <a:pt x="176015" y="183524"/>
                  <a:pt x="176000" y="186000"/>
                </a:cubicBezTo>
                <a:lnTo>
                  <a:pt x="176000" y="192000"/>
                </a:lnTo>
                <a:cubicBezTo>
                  <a:pt x="176000" y="194808"/>
                  <a:pt x="175261" y="197568"/>
                  <a:pt x="173856" y="200000"/>
                </a:cubicBezTo>
                <a:cubicBezTo>
                  <a:pt x="172452" y="202432"/>
                  <a:pt x="170432" y="204452"/>
                  <a:pt x="168000" y="205856"/>
                </a:cubicBezTo>
                <a:cubicBezTo>
                  <a:pt x="165568" y="207261"/>
                  <a:pt x="162808" y="208000"/>
                  <a:pt x="160000" y="208000"/>
                </a:cubicBezTo>
                <a:lnTo>
                  <a:pt x="96000" y="208000"/>
                </a:lnTo>
                <a:cubicBezTo>
                  <a:pt x="93192" y="208000"/>
                  <a:pt x="90432" y="207261"/>
                  <a:pt x="88000" y="205856"/>
                </a:cubicBezTo>
                <a:cubicBezTo>
                  <a:pt x="85568" y="204452"/>
                  <a:pt x="83548" y="202432"/>
                  <a:pt x="82144" y="200000"/>
                </a:cubicBezTo>
                <a:cubicBezTo>
                  <a:pt x="80739" y="197568"/>
                  <a:pt x="80000" y="194808"/>
                  <a:pt x="80000" y="192000"/>
                </a:cubicBezTo>
                <a:lnTo>
                  <a:pt x="80000" y="186000"/>
                </a:lnTo>
                <a:cubicBezTo>
                  <a:pt x="79998" y="183554"/>
                  <a:pt x="79436" y="181141"/>
                  <a:pt x="78356" y="178946"/>
                </a:cubicBezTo>
                <a:cubicBezTo>
                  <a:pt x="77276" y="176752"/>
                  <a:pt x="75707" y="174834"/>
                  <a:pt x="73770" y="173340"/>
                </a:cubicBezTo>
                <a:cubicBezTo>
                  <a:pt x="63288" y="165177"/>
                  <a:pt x="54800" y="154735"/>
                  <a:pt x="48950" y="142807"/>
                </a:cubicBezTo>
                <a:cubicBezTo>
                  <a:pt x="43099" y="130879"/>
                  <a:pt x="40039" y="117775"/>
                  <a:pt x="40000" y="104490"/>
                </a:cubicBezTo>
                <a:cubicBezTo>
                  <a:pt x="39740" y="56830"/>
                  <a:pt x="78260" y="17140"/>
                  <a:pt x="125880" y="16000"/>
                </a:cubicBezTo>
                <a:cubicBezTo>
                  <a:pt x="137613" y="15717"/>
                  <a:pt x="149285" y="17785"/>
                  <a:pt x="160208" y="22080"/>
                </a:cubicBezTo>
                <a:cubicBezTo>
                  <a:pt x="171130" y="26376"/>
                  <a:pt x="181083" y="32813"/>
                  <a:pt x="189480" y="41013"/>
                </a:cubicBezTo>
                <a:cubicBezTo>
                  <a:pt x="197878" y="49213"/>
                  <a:pt x="204550" y="59010"/>
                  <a:pt x="209105" y="69827"/>
                </a:cubicBezTo>
                <a:cubicBezTo>
                  <a:pt x="213659" y="80644"/>
                  <a:pt x="216003" y="92263"/>
                  <a:pt x="216000" y="104000"/>
                </a:cubicBezTo>
                <a:close/>
                <a:moveTo>
                  <a:pt x="200000" y="104000"/>
                </a:moveTo>
                <a:cubicBezTo>
                  <a:pt x="200003" y="94397"/>
                  <a:pt x="198084" y="84889"/>
                  <a:pt x="194358" y="76039"/>
                </a:cubicBezTo>
                <a:cubicBezTo>
                  <a:pt x="190631" y="67188"/>
                  <a:pt x="185171" y="59172"/>
                  <a:pt x="178300" y="52463"/>
                </a:cubicBezTo>
                <a:cubicBezTo>
                  <a:pt x="171429" y="45754"/>
                  <a:pt x="163285" y="40487"/>
                  <a:pt x="154348" y="36973"/>
                </a:cubicBezTo>
                <a:cubicBezTo>
                  <a:pt x="145411" y="33459"/>
                  <a:pt x="135860" y="31768"/>
                  <a:pt x="126260" y="32000"/>
                </a:cubicBezTo>
                <a:cubicBezTo>
                  <a:pt x="87260" y="32920"/>
                  <a:pt x="55790" y="65390"/>
                  <a:pt x="56000" y="104390"/>
                </a:cubicBezTo>
                <a:cubicBezTo>
                  <a:pt x="56037" y="115255"/>
                  <a:pt x="58544" y="125972"/>
                  <a:pt x="63333" y="135725"/>
                </a:cubicBezTo>
                <a:cubicBezTo>
                  <a:pt x="68121" y="145478"/>
                  <a:pt x="75066" y="154016"/>
                  <a:pt x="83640" y="160690"/>
                </a:cubicBezTo>
                <a:cubicBezTo>
                  <a:pt x="87494" y="163686"/>
                  <a:pt x="90612" y="167525"/>
                  <a:pt x="92755" y="171912"/>
                </a:cubicBezTo>
                <a:cubicBezTo>
                  <a:pt x="94897" y="176299"/>
                  <a:pt x="96007" y="181118"/>
                  <a:pt x="96000" y="186000"/>
                </a:cubicBezTo>
                <a:lnTo>
                  <a:pt x="96000" y="192000"/>
                </a:lnTo>
                <a:lnTo>
                  <a:pt x="160000" y="192000"/>
                </a:lnTo>
                <a:lnTo>
                  <a:pt x="160000" y="186000"/>
                </a:lnTo>
                <a:cubicBezTo>
                  <a:pt x="160011" y="181104"/>
                  <a:pt x="161140" y="176275"/>
                  <a:pt x="163301" y="171882"/>
                </a:cubicBezTo>
                <a:cubicBezTo>
                  <a:pt x="165462" y="167489"/>
                  <a:pt x="168599" y="163647"/>
                  <a:pt x="172470" y="160650"/>
                </a:cubicBezTo>
                <a:cubicBezTo>
                  <a:pt x="181071" y="153929"/>
                  <a:pt x="188023" y="145330"/>
                  <a:pt x="192794" y="135512"/>
                </a:cubicBezTo>
                <a:cubicBezTo>
                  <a:pt x="197565" y="125695"/>
                  <a:pt x="200030" y="114915"/>
                  <a:pt x="200000" y="104000"/>
                </a:cubicBezTo>
                <a:close/>
                <a:moveTo>
                  <a:pt x="183890" y="94660"/>
                </a:moveTo>
                <a:cubicBezTo>
                  <a:pt x="182513" y="86969"/>
                  <a:pt x="179585" y="79638"/>
                  <a:pt x="175286" y="73114"/>
                </a:cubicBezTo>
                <a:cubicBezTo>
                  <a:pt x="170986" y="66590"/>
                  <a:pt x="165403" y="61008"/>
                  <a:pt x="158878" y="56710"/>
                </a:cubicBezTo>
                <a:cubicBezTo>
                  <a:pt x="152353" y="52411"/>
                  <a:pt x="145022" y="49485"/>
                  <a:pt x="137330" y="48110"/>
                </a:cubicBezTo>
                <a:cubicBezTo>
                  <a:pt x="135945" y="47877"/>
                  <a:pt x="134523" y="48012"/>
                  <a:pt x="133207" y="48502"/>
                </a:cubicBezTo>
                <a:cubicBezTo>
                  <a:pt x="131891" y="48992"/>
                  <a:pt x="130727" y="49821"/>
                  <a:pt x="129832" y="50903"/>
                </a:cubicBezTo>
                <a:cubicBezTo>
                  <a:pt x="128937" y="51986"/>
                  <a:pt x="128343" y="53285"/>
                  <a:pt x="128110" y="54670"/>
                </a:cubicBezTo>
                <a:cubicBezTo>
                  <a:pt x="127877" y="56055"/>
                  <a:pt x="128012" y="57477"/>
                  <a:pt x="128502" y="58793"/>
                </a:cubicBezTo>
                <a:cubicBezTo>
                  <a:pt x="128992" y="60109"/>
                  <a:pt x="129821" y="61273"/>
                  <a:pt x="130903" y="62168"/>
                </a:cubicBezTo>
                <a:cubicBezTo>
                  <a:pt x="131986" y="63063"/>
                  <a:pt x="133285" y="63657"/>
                  <a:pt x="134670" y="63890"/>
                </a:cubicBezTo>
                <a:cubicBezTo>
                  <a:pt x="151240" y="66680"/>
                  <a:pt x="165300" y="80740"/>
                  <a:pt x="168110" y="97340"/>
                </a:cubicBezTo>
                <a:cubicBezTo>
                  <a:pt x="168320" y="98575"/>
                  <a:pt x="168817" y="99744"/>
                  <a:pt x="169561" y="100751"/>
                </a:cubicBezTo>
                <a:cubicBezTo>
                  <a:pt x="170305" y="101759"/>
                  <a:pt x="171275" y="102578"/>
                  <a:pt x="172394" y="103142"/>
                </a:cubicBezTo>
                <a:cubicBezTo>
                  <a:pt x="173512" y="103707"/>
                  <a:pt x="174747" y="104000"/>
                  <a:pt x="176000" y="104000"/>
                </a:cubicBezTo>
                <a:cubicBezTo>
                  <a:pt x="176452" y="103997"/>
                  <a:pt x="176903" y="103961"/>
                  <a:pt x="177350" y="103890"/>
                </a:cubicBezTo>
                <a:cubicBezTo>
                  <a:pt x="178734" y="103654"/>
                  <a:pt x="180032" y="103057"/>
                  <a:pt x="181112" y="102161"/>
                </a:cubicBezTo>
                <a:cubicBezTo>
                  <a:pt x="182192" y="101264"/>
                  <a:pt x="183018" y="100099"/>
                  <a:pt x="183506" y="98783"/>
                </a:cubicBezTo>
                <a:cubicBezTo>
                  <a:pt x="183993" y="97466"/>
                  <a:pt x="184126" y="96044"/>
                  <a:pt x="183890" y="9466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6" name="Google Shape;276;p18"/>
          <p:cNvSpPr txBox="1"/>
          <p:nvPr/>
        </p:nvSpPr>
        <p:spPr>
          <a:xfrm>
            <a:off x="2649250" y="5753100"/>
            <a:ext cx="1559499" cy="384048"/>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s-MX" sz="950" u="none" cap="none" strike="noStrike">
                <a:solidFill>
                  <a:srgbClr val="0B2E6B"/>
                </a:solidFill>
                <a:latin typeface="Arial"/>
                <a:ea typeface="Arial"/>
                <a:cs typeface="Arial"/>
                <a:sym typeface="Arial"/>
              </a:rPr>
              <a:t>Utilidad o aprendizaje</a:t>
            </a:r>
            <a:endParaRPr/>
          </a:p>
        </p:txBody>
      </p:sp>
      <p:sp>
        <p:nvSpPr>
          <p:cNvPr id="277" name="Google Shape;277;p18"/>
          <p:cNvSpPr/>
          <p:nvPr/>
        </p:nvSpPr>
        <p:spPr>
          <a:xfrm>
            <a:off x="4281650" y="5597652"/>
            <a:ext cx="256032" cy="256032"/>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8" name="Google Shape;278;p18"/>
          <p:cNvSpPr txBox="1"/>
          <p:nvPr/>
        </p:nvSpPr>
        <p:spPr>
          <a:xfrm>
            <a:off x="4281650" y="5597652"/>
            <a:ext cx="256032" cy="256032"/>
          </a:xfrm>
          <a:prstGeom prst="rect">
            <a:avLst/>
          </a:prstGeom>
          <a:noFill/>
          <a:ln>
            <a:noFill/>
          </a:ln>
        </p:spPr>
        <p:txBody>
          <a:bodyPr anchorCtr="0" anchor="ctr" bIns="0" lIns="0" spcFirstLastPara="1" rIns="0" wrap="square" tIns="0">
            <a:spAutoFit/>
          </a:bodyPr>
          <a:lstStyle/>
          <a:p>
            <a:pPr indent="0" lvl="0" marL="0" marR="0" rtl="0" algn="ctr">
              <a:lnSpc>
                <a:spcPct val="112000"/>
              </a:lnSpc>
              <a:spcBef>
                <a:spcPts val="0"/>
              </a:spcBef>
              <a:spcAft>
                <a:spcPts val="0"/>
              </a:spcAft>
              <a:buNone/>
            </a:pPr>
            <a:r>
              <a:rPr b="1" i="0" lang="es-MX" sz="1300" u="none" cap="none" strike="noStrike">
                <a:solidFill>
                  <a:srgbClr val="0B2E6B"/>
                </a:solidFill>
                <a:latin typeface="Arial"/>
                <a:ea typeface="Arial"/>
                <a:cs typeface="Arial"/>
                <a:sym typeface="Arial"/>
              </a:rPr>
              <a:t>=</a:t>
            </a:r>
            <a:endParaRPr/>
          </a:p>
        </p:txBody>
      </p:sp>
      <p:sp>
        <p:nvSpPr>
          <p:cNvPr id="279" name="Google Shape;279;p18"/>
          <p:cNvSpPr/>
          <p:nvPr/>
        </p:nvSpPr>
        <p:spPr>
          <a:xfrm>
            <a:off x="4562746" y="5295900"/>
            <a:ext cx="1655173" cy="868680"/>
          </a:xfrm>
          <a:prstGeom prst="roundRect">
            <a:avLst>
              <a:gd fmla="val 16842" name="adj"/>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18"/>
          <p:cNvSpPr/>
          <p:nvPr/>
        </p:nvSpPr>
        <p:spPr>
          <a:xfrm>
            <a:off x="5207453" y="5414772"/>
            <a:ext cx="365760" cy="36576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1" name="Google Shape;281;p18"/>
          <p:cNvSpPr/>
          <p:nvPr/>
        </p:nvSpPr>
        <p:spPr>
          <a:xfrm>
            <a:off x="5287920" y="5495239"/>
            <a:ext cx="204826" cy="204826"/>
          </a:xfrm>
          <a:custGeom>
            <a:rect b="b" l="l" r="r" t="t"/>
            <a:pathLst>
              <a:path extrusionOk="0" h="256000" w="256000">
                <a:moveTo>
                  <a:pt x="232000" y="208000"/>
                </a:moveTo>
                <a:cubicBezTo>
                  <a:pt x="232000" y="209404"/>
                  <a:pt x="231630" y="210784"/>
                  <a:pt x="230928" y="212000"/>
                </a:cubicBezTo>
                <a:cubicBezTo>
                  <a:pt x="230226" y="213216"/>
                  <a:pt x="229216" y="214226"/>
                  <a:pt x="228000" y="214928"/>
                </a:cubicBezTo>
                <a:cubicBezTo>
                  <a:pt x="226784" y="215630"/>
                  <a:pt x="225404" y="216000"/>
                  <a:pt x="224000" y="216000"/>
                </a:cubicBezTo>
                <a:lnTo>
                  <a:pt x="32000" y="216000"/>
                </a:lnTo>
                <a:cubicBezTo>
                  <a:pt x="30596" y="216000"/>
                  <a:pt x="29216" y="215630"/>
                  <a:pt x="28000" y="214928"/>
                </a:cubicBezTo>
                <a:cubicBezTo>
                  <a:pt x="26784" y="214226"/>
                  <a:pt x="25774" y="213216"/>
                  <a:pt x="25072" y="212000"/>
                </a:cubicBezTo>
                <a:cubicBezTo>
                  <a:pt x="24370" y="210784"/>
                  <a:pt x="24000" y="209404"/>
                  <a:pt x="24000" y="208000"/>
                </a:cubicBezTo>
                <a:lnTo>
                  <a:pt x="24000" y="48000"/>
                </a:lnTo>
                <a:cubicBezTo>
                  <a:pt x="24000" y="46596"/>
                  <a:pt x="24370" y="45216"/>
                  <a:pt x="25072" y="44000"/>
                </a:cubicBezTo>
                <a:cubicBezTo>
                  <a:pt x="25774" y="42784"/>
                  <a:pt x="26784" y="41774"/>
                  <a:pt x="28000" y="41072"/>
                </a:cubicBezTo>
                <a:cubicBezTo>
                  <a:pt x="29216" y="40370"/>
                  <a:pt x="30596" y="40000"/>
                  <a:pt x="32000" y="40000"/>
                </a:cubicBezTo>
                <a:cubicBezTo>
                  <a:pt x="33404" y="40000"/>
                  <a:pt x="34784" y="40370"/>
                  <a:pt x="36000" y="41072"/>
                </a:cubicBezTo>
                <a:cubicBezTo>
                  <a:pt x="37216" y="41774"/>
                  <a:pt x="38226" y="42784"/>
                  <a:pt x="38928" y="44000"/>
                </a:cubicBezTo>
                <a:cubicBezTo>
                  <a:pt x="39630" y="45216"/>
                  <a:pt x="40000" y="46596"/>
                  <a:pt x="40000" y="48000"/>
                </a:cubicBezTo>
                <a:lnTo>
                  <a:pt x="40000" y="156690"/>
                </a:lnTo>
                <a:lnTo>
                  <a:pt x="90340" y="106340"/>
                </a:lnTo>
                <a:cubicBezTo>
                  <a:pt x="91083" y="105596"/>
                  <a:pt x="91965" y="105006"/>
                  <a:pt x="92936" y="104604"/>
                </a:cubicBezTo>
                <a:cubicBezTo>
                  <a:pt x="93908" y="104201"/>
                  <a:pt x="94949" y="103994"/>
                  <a:pt x="96000" y="103994"/>
                </a:cubicBezTo>
                <a:cubicBezTo>
                  <a:pt x="97051" y="103994"/>
                  <a:pt x="98092" y="104201"/>
                  <a:pt x="99064" y="104604"/>
                </a:cubicBezTo>
                <a:cubicBezTo>
                  <a:pt x="100035" y="105006"/>
                  <a:pt x="100917" y="105596"/>
                  <a:pt x="101660" y="106340"/>
                </a:cubicBezTo>
                <a:lnTo>
                  <a:pt x="128000" y="132690"/>
                </a:lnTo>
                <a:lnTo>
                  <a:pt x="180690" y="80000"/>
                </a:lnTo>
                <a:lnTo>
                  <a:pt x="160000" y="80000"/>
                </a:lnTo>
                <a:cubicBezTo>
                  <a:pt x="158596" y="80000"/>
                  <a:pt x="157216" y="79630"/>
                  <a:pt x="156000" y="78928"/>
                </a:cubicBezTo>
                <a:cubicBezTo>
                  <a:pt x="154784" y="78226"/>
                  <a:pt x="153774" y="77216"/>
                  <a:pt x="153072" y="76000"/>
                </a:cubicBezTo>
                <a:cubicBezTo>
                  <a:pt x="152370" y="74784"/>
                  <a:pt x="152000" y="73404"/>
                  <a:pt x="152000" y="72000"/>
                </a:cubicBezTo>
                <a:cubicBezTo>
                  <a:pt x="152000" y="70596"/>
                  <a:pt x="152370" y="69216"/>
                  <a:pt x="153072" y="68000"/>
                </a:cubicBezTo>
                <a:cubicBezTo>
                  <a:pt x="153774" y="66784"/>
                  <a:pt x="154784" y="65774"/>
                  <a:pt x="156000" y="65072"/>
                </a:cubicBezTo>
                <a:cubicBezTo>
                  <a:pt x="157216" y="64370"/>
                  <a:pt x="158596" y="64000"/>
                  <a:pt x="160000" y="64000"/>
                </a:cubicBezTo>
                <a:lnTo>
                  <a:pt x="200000" y="64000"/>
                </a:lnTo>
                <a:cubicBezTo>
                  <a:pt x="201404" y="64000"/>
                  <a:pt x="202784" y="64370"/>
                  <a:pt x="204000" y="65072"/>
                </a:cubicBezTo>
                <a:cubicBezTo>
                  <a:pt x="205216" y="65774"/>
                  <a:pt x="206226" y="66784"/>
                  <a:pt x="206928" y="68000"/>
                </a:cubicBezTo>
                <a:cubicBezTo>
                  <a:pt x="207630" y="69216"/>
                  <a:pt x="208000" y="70596"/>
                  <a:pt x="208000" y="72000"/>
                </a:cubicBezTo>
                <a:lnTo>
                  <a:pt x="208000" y="112000"/>
                </a:lnTo>
                <a:cubicBezTo>
                  <a:pt x="208000" y="113404"/>
                  <a:pt x="207630" y="114784"/>
                  <a:pt x="206928" y="116000"/>
                </a:cubicBezTo>
                <a:cubicBezTo>
                  <a:pt x="206226" y="117216"/>
                  <a:pt x="205216" y="118226"/>
                  <a:pt x="204000" y="118928"/>
                </a:cubicBezTo>
                <a:cubicBezTo>
                  <a:pt x="202784" y="119630"/>
                  <a:pt x="201404" y="120000"/>
                  <a:pt x="200000" y="120000"/>
                </a:cubicBezTo>
                <a:cubicBezTo>
                  <a:pt x="198596" y="120000"/>
                  <a:pt x="197216" y="119630"/>
                  <a:pt x="196000" y="118928"/>
                </a:cubicBezTo>
                <a:cubicBezTo>
                  <a:pt x="194784" y="118226"/>
                  <a:pt x="193774" y="117216"/>
                  <a:pt x="193072" y="116000"/>
                </a:cubicBezTo>
                <a:cubicBezTo>
                  <a:pt x="192370" y="114784"/>
                  <a:pt x="192000" y="113404"/>
                  <a:pt x="192000" y="112000"/>
                </a:cubicBezTo>
                <a:lnTo>
                  <a:pt x="192000" y="91310"/>
                </a:lnTo>
                <a:lnTo>
                  <a:pt x="133660" y="149660"/>
                </a:lnTo>
                <a:cubicBezTo>
                  <a:pt x="132917" y="150404"/>
                  <a:pt x="132035" y="150994"/>
                  <a:pt x="131064" y="151396"/>
                </a:cubicBezTo>
                <a:cubicBezTo>
                  <a:pt x="130092" y="151799"/>
                  <a:pt x="129051" y="152006"/>
                  <a:pt x="128000" y="152006"/>
                </a:cubicBezTo>
                <a:cubicBezTo>
                  <a:pt x="126949" y="152006"/>
                  <a:pt x="125908" y="151799"/>
                  <a:pt x="124936" y="151396"/>
                </a:cubicBezTo>
                <a:cubicBezTo>
                  <a:pt x="123965" y="150994"/>
                  <a:pt x="123083" y="150404"/>
                  <a:pt x="122340" y="149660"/>
                </a:cubicBezTo>
                <a:lnTo>
                  <a:pt x="96000" y="123310"/>
                </a:lnTo>
                <a:lnTo>
                  <a:pt x="40000" y="179310"/>
                </a:lnTo>
                <a:lnTo>
                  <a:pt x="40000" y="200000"/>
                </a:lnTo>
                <a:lnTo>
                  <a:pt x="224000" y="200000"/>
                </a:lnTo>
                <a:cubicBezTo>
                  <a:pt x="225404" y="200000"/>
                  <a:pt x="226784" y="200370"/>
                  <a:pt x="228000" y="201072"/>
                </a:cubicBezTo>
                <a:cubicBezTo>
                  <a:pt x="229216" y="201774"/>
                  <a:pt x="230226" y="202784"/>
                  <a:pt x="230928" y="204000"/>
                </a:cubicBezTo>
                <a:cubicBezTo>
                  <a:pt x="231630" y="205216"/>
                  <a:pt x="232000" y="206596"/>
                  <a:pt x="232000" y="208000"/>
                </a:cubicBezTo>
                <a:close/>
              </a:path>
            </a:pathLst>
          </a:custGeom>
          <a:solidFill>
            <a:srgbClr val="0B2E6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2" name="Google Shape;282;p18"/>
          <p:cNvSpPr txBox="1"/>
          <p:nvPr/>
        </p:nvSpPr>
        <p:spPr>
          <a:xfrm>
            <a:off x="4610583" y="5753100"/>
            <a:ext cx="1559499" cy="384048"/>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s-MX" sz="950" u="none" cap="none" strike="noStrike">
                <a:solidFill>
                  <a:srgbClr val="FFFFFF"/>
                </a:solidFill>
                <a:latin typeface="Arial"/>
                <a:ea typeface="Arial"/>
                <a:cs typeface="Arial"/>
                <a:sym typeface="Arial"/>
              </a:rPr>
              <a:t>Valor para continuar</a:t>
            </a:r>
            <a:endParaRPr/>
          </a:p>
        </p:txBody>
      </p:sp>
      <p:sp>
        <p:nvSpPr>
          <p:cNvPr id="283" name="Google Shape;283;p18"/>
          <p:cNvSpPr txBox="1"/>
          <p:nvPr/>
        </p:nvSpPr>
        <p:spPr>
          <a:xfrm>
            <a:off x="640080" y="6320028"/>
            <a:ext cx="5577840" cy="726948"/>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1" lang="es-MX" sz="1100" u="none" cap="none" strike="noStrike">
                <a:solidFill>
                  <a:srgbClr val="56505B"/>
                </a:solidFill>
                <a:latin typeface="Arial"/>
                <a:ea typeface="Arial"/>
                <a:cs typeface="Arial"/>
                <a:sym typeface="Arial"/>
              </a:rPr>
              <a:t>Una entrega incremental adquiere sentido cuando permite resolver una parte útil de una necesidad, obtener retroalimentación, comprobar una idea o disminuir la incertidumbre antes de continuar.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9"/>
          <p:cNvSpPr/>
          <p:nvPr/>
        </p:nvSpPr>
        <p:spPr>
          <a:xfrm>
            <a:off x="638485" y="723900"/>
            <a:ext cx="4086110"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Agilidad más allá de las herramientas</a:t>
            </a:r>
            <a:endParaRPr b="0" i="0" sz="1400" u="none" cap="none" strike="noStrike">
              <a:solidFill>
                <a:srgbClr val="000000"/>
              </a:solidFill>
              <a:latin typeface="Arial"/>
              <a:ea typeface="Arial"/>
              <a:cs typeface="Arial"/>
              <a:sym typeface="Arial"/>
            </a:endParaRPr>
          </a:p>
        </p:txBody>
      </p:sp>
      <p:sp>
        <p:nvSpPr>
          <p:cNvPr id="289" name="Google Shape;289;p19"/>
          <p:cNvSpPr/>
          <p:nvPr/>
        </p:nvSpPr>
        <p:spPr>
          <a:xfrm>
            <a:off x="638485" y="1104900"/>
            <a:ext cx="5182384" cy="2095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75"/>
              <a:buFont typeface="Arial"/>
              <a:buNone/>
            </a:pPr>
            <a:r>
              <a:rPr b="1" i="0" lang="es-MX" sz="975" u="none" cap="none" strike="noStrike">
                <a:solidFill>
                  <a:srgbClr val="3560D6"/>
                </a:solidFill>
                <a:latin typeface="Arial"/>
                <a:ea typeface="Arial"/>
                <a:cs typeface="Arial"/>
                <a:sym typeface="Arial"/>
              </a:rPr>
              <a:t>Tema 3 · Autonomía con propósito</a:t>
            </a:r>
            <a:endParaRPr b="0" i="0" sz="1400" u="none" cap="none" strike="noStrike">
              <a:solidFill>
                <a:srgbClr val="000000"/>
              </a:solidFill>
              <a:latin typeface="Arial"/>
              <a:ea typeface="Arial"/>
              <a:cs typeface="Arial"/>
              <a:sym typeface="Arial"/>
            </a:endParaRPr>
          </a:p>
        </p:txBody>
      </p:sp>
      <p:sp>
        <p:nvSpPr>
          <p:cNvPr id="290" name="Google Shape;290;p19"/>
          <p:cNvSpPr/>
          <p:nvPr/>
        </p:nvSpPr>
        <p:spPr>
          <a:xfrm>
            <a:off x="638485" y="1428750"/>
            <a:ext cx="5581029" cy="690943"/>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325"/>
              <a:buFont typeface="Arial"/>
              <a:buNone/>
            </a:pPr>
            <a:r>
              <a:rPr b="1" i="0" lang="es-MX" sz="2151" u="none" cap="none" strike="noStrike">
                <a:solidFill>
                  <a:srgbClr val="664092"/>
                </a:solidFill>
                <a:latin typeface="Arial"/>
                <a:ea typeface="Arial"/>
                <a:cs typeface="Arial"/>
                <a:sym typeface="Arial"/>
              </a:rPr>
              <a:t>Cuando hablamos de autonomía, pero todas las decisiones esperan aprobación</a:t>
            </a:r>
            <a:endParaRPr b="0" i="0" sz="1295" u="none" cap="none" strike="noStrike">
              <a:solidFill>
                <a:srgbClr val="000000"/>
              </a:solidFill>
              <a:latin typeface="Arial"/>
              <a:ea typeface="Arial"/>
              <a:cs typeface="Arial"/>
              <a:sym typeface="Arial"/>
            </a:endParaRPr>
          </a:p>
        </p:txBody>
      </p:sp>
      <p:cxnSp>
        <p:nvCxnSpPr>
          <p:cNvPr id="291" name="Google Shape;291;p19"/>
          <p:cNvCxnSpPr/>
          <p:nvPr/>
        </p:nvCxnSpPr>
        <p:spPr>
          <a:xfrm>
            <a:off x="751179" y="2447048"/>
            <a:ext cx="1003511" cy="0"/>
          </a:xfrm>
          <a:prstGeom prst="straightConnector1">
            <a:avLst/>
          </a:prstGeom>
          <a:noFill/>
          <a:ln cap="flat" cmpd="sng" w="53975">
            <a:solidFill>
              <a:srgbClr val="73CDEB"/>
            </a:solidFill>
            <a:prstDash val="solid"/>
            <a:round/>
            <a:headEnd len="med" w="med" type="oval"/>
            <a:tailEnd len="med" w="med" type="oval"/>
          </a:ln>
        </p:spPr>
      </p:cxnSp>
      <p:sp>
        <p:nvSpPr>
          <p:cNvPr id="292" name="Google Shape;292;p19"/>
          <p:cNvSpPr txBox="1"/>
          <p:nvPr/>
        </p:nvSpPr>
        <p:spPr>
          <a:xfrm>
            <a:off x="640080" y="2697336"/>
            <a:ext cx="5577840" cy="1380744"/>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s-MX" sz="1100" u="none" cap="none" strike="noStrike">
                <a:solidFill>
                  <a:srgbClr val="56505B"/>
                </a:solidFill>
                <a:latin typeface="Arial"/>
                <a:ea typeface="Arial"/>
                <a:cs typeface="Arial"/>
                <a:sym typeface="Arial"/>
              </a:rPr>
              <a:t>La agilidad también concede importancia a las personas y a la capacidad de los equipos para organizar el trabajo. Entre sus principios se plantea desarrollar los proyectos alrededor de personas motivadas, proporcionarles las condiciones necesarias y confiar en ellas para ejecutar el trabajo; asimismo, se reconoce el valor de los equipos autoorganizados (Beck et al., 2001).</a:t>
            </a:r>
            <a:endParaRPr/>
          </a:p>
        </p:txBody>
      </p:sp>
      <p:sp>
        <p:nvSpPr>
          <p:cNvPr id="293" name="Google Shape;293;p19"/>
          <p:cNvSpPr txBox="1"/>
          <p:nvPr/>
        </p:nvSpPr>
        <p:spPr>
          <a:xfrm>
            <a:off x="640080" y="4206096"/>
            <a:ext cx="5577840" cy="1162812"/>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s-MX" sz="1100" u="none" cap="none" strike="noStrike">
                <a:solidFill>
                  <a:srgbClr val="56505B"/>
                </a:solidFill>
                <a:latin typeface="Arial"/>
                <a:ea typeface="Arial"/>
                <a:cs typeface="Arial"/>
                <a:sym typeface="Arial"/>
              </a:rPr>
              <a:t>Sin embargo, la autonomía no aparece simplemente porque denominemos a un grupo «equipo ágil». Si cada ajuste necesita múltiples niveles de autorización, la información permanece concentrada o las personas carecen de criterios claros para decidir, la capacidad de responder oportunamente al cambio se reduce.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0"/>
          <p:cNvSpPr/>
          <p:nvPr/>
        </p:nvSpPr>
        <p:spPr>
          <a:xfrm>
            <a:off x="638485" y="723900"/>
            <a:ext cx="4086110"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Agilidad más allá de las herramientas</a:t>
            </a:r>
            <a:endParaRPr b="0" i="0" sz="1400" u="none" cap="none" strike="noStrike">
              <a:solidFill>
                <a:srgbClr val="000000"/>
              </a:solidFill>
              <a:latin typeface="Arial"/>
              <a:ea typeface="Arial"/>
              <a:cs typeface="Arial"/>
              <a:sym typeface="Arial"/>
            </a:endParaRPr>
          </a:p>
        </p:txBody>
      </p:sp>
      <p:sp>
        <p:nvSpPr>
          <p:cNvPr id="299" name="Google Shape;299;p20"/>
          <p:cNvSpPr txBox="1"/>
          <p:nvPr/>
        </p:nvSpPr>
        <p:spPr>
          <a:xfrm>
            <a:off x="640080" y="1143000"/>
            <a:ext cx="557784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MX" sz="950" u="none" cap="none" strike="noStrike">
                <a:solidFill>
                  <a:srgbClr val="3560D6"/>
                </a:solidFill>
                <a:latin typeface="Arial"/>
                <a:ea typeface="Arial"/>
                <a:cs typeface="Arial"/>
                <a:sym typeface="Arial"/>
              </a:rPr>
              <a:t>FIGURA 4 · GESTIÓN DE EQUIPOS</a:t>
            </a:r>
            <a:endParaRPr/>
          </a:p>
        </p:txBody>
      </p:sp>
      <p:sp>
        <p:nvSpPr>
          <p:cNvPr id="300" name="Google Shape;300;p20"/>
          <p:cNvSpPr txBox="1"/>
          <p:nvPr/>
        </p:nvSpPr>
        <p:spPr>
          <a:xfrm>
            <a:off x="640080" y="1380744"/>
            <a:ext cx="5577840" cy="25450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MX" sz="1300" u="none" cap="none" strike="noStrike">
                <a:solidFill>
                  <a:srgbClr val="664092"/>
                </a:solidFill>
                <a:latin typeface="Arial"/>
                <a:ea typeface="Arial"/>
                <a:cs typeface="Arial"/>
                <a:sym typeface="Arial"/>
              </a:rPr>
              <a:t>Condiciones que favorecen la autonomía</a:t>
            </a:r>
            <a:endParaRPr/>
          </a:p>
        </p:txBody>
      </p:sp>
      <p:sp>
        <p:nvSpPr>
          <p:cNvPr id="301" name="Google Shape;301;p20"/>
          <p:cNvSpPr txBox="1"/>
          <p:nvPr/>
        </p:nvSpPr>
        <p:spPr>
          <a:xfrm>
            <a:off x="640080" y="1671828"/>
            <a:ext cx="5577840" cy="236601"/>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MX" sz="1050" u="none" cap="none" strike="noStrike">
                <a:solidFill>
                  <a:srgbClr val="56505B"/>
                </a:solidFill>
                <a:latin typeface="Arial"/>
                <a:ea typeface="Arial"/>
                <a:cs typeface="Arial"/>
                <a:sym typeface="Arial"/>
              </a:rPr>
              <a:t>Cuatro condiciones que, juntas, generan capacidad para tomar decisiones:</a:t>
            </a:r>
            <a:endParaRPr/>
          </a:p>
        </p:txBody>
      </p:sp>
      <p:sp>
        <p:nvSpPr>
          <p:cNvPr id="302" name="Google Shape;302;p20"/>
          <p:cNvSpPr/>
          <p:nvPr/>
        </p:nvSpPr>
        <p:spPr>
          <a:xfrm>
            <a:off x="640080" y="2036445"/>
            <a:ext cx="2712380" cy="1557528"/>
          </a:xfrm>
          <a:prstGeom prst="roundRect">
            <a:avLst>
              <a:gd fmla="val 8219" name="adj"/>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20"/>
          <p:cNvSpPr/>
          <p:nvPr/>
        </p:nvSpPr>
        <p:spPr>
          <a:xfrm>
            <a:off x="793332" y="2164461"/>
            <a:ext cx="420624" cy="420624"/>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4" name="Google Shape;304;p20"/>
          <p:cNvSpPr/>
          <p:nvPr/>
        </p:nvSpPr>
        <p:spPr>
          <a:xfrm>
            <a:off x="885869" y="2256998"/>
            <a:ext cx="235549" cy="235549"/>
          </a:xfrm>
          <a:custGeom>
            <a:rect b="b" l="l" r="r" t="t"/>
            <a:pathLst>
              <a:path extrusionOk="0" h="256000" w="256000">
                <a:moveTo>
                  <a:pt x="221870" y="83160"/>
                </a:moveTo>
                <a:cubicBezTo>
                  <a:pt x="229224" y="98541"/>
                  <a:pt x="232688" y="115495"/>
                  <a:pt x="231957" y="132528"/>
                </a:cubicBezTo>
                <a:cubicBezTo>
                  <a:pt x="231227" y="149560"/>
                  <a:pt x="226323" y="166156"/>
                  <a:pt x="217678" y="180850"/>
                </a:cubicBezTo>
                <a:cubicBezTo>
                  <a:pt x="209034" y="195544"/>
                  <a:pt x="196910" y="207892"/>
                  <a:pt x="182377" y="216805"/>
                </a:cubicBezTo>
                <a:cubicBezTo>
                  <a:pt x="167845" y="225718"/>
                  <a:pt x="151342" y="230926"/>
                  <a:pt x="134326" y="231970"/>
                </a:cubicBezTo>
                <a:cubicBezTo>
                  <a:pt x="117309" y="233013"/>
                  <a:pt x="100294" y="229861"/>
                  <a:pt x="84781" y="222791"/>
                </a:cubicBezTo>
                <a:cubicBezTo>
                  <a:pt x="69268" y="215720"/>
                  <a:pt x="55727" y="204946"/>
                  <a:pt x="45351" y="191419"/>
                </a:cubicBezTo>
                <a:cubicBezTo>
                  <a:pt x="34976" y="177891"/>
                  <a:pt x="28081" y="162020"/>
                  <a:pt x="25274" y="145204"/>
                </a:cubicBezTo>
                <a:cubicBezTo>
                  <a:pt x="22467" y="128388"/>
                  <a:pt x="23833" y="111138"/>
                  <a:pt x="29253" y="94974"/>
                </a:cubicBezTo>
                <a:cubicBezTo>
                  <a:pt x="34672" y="78809"/>
                  <a:pt x="43980" y="64221"/>
                  <a:pt x="56356" y="52496"/>
                </a:cubicBezTo>
                <a:cubicBezTo>
                  <a:pt x="68732" y="40771"/>
                  <a:pt x="83801" y="32263"/>
                  <a:pt x="100233" y="27723"/>
                </a:cubicBezTo>
                <a:cubicBezTo>
                  <a:pt x="116666" y="23184"/>
                  <a:pt x="133965" y="22750"/>
                  <a:pt x="150605" y="26459"/>
                </a:cubicBezTo>
                <a:cubicBezTo>
                  <a:pt x="167245" y="30169"/>
                  <a:pt x="182722" y="37910"/>
                  <a:pt x="195670" y="49000"/>
                </a:cubicBezTo>
                <a:lnTo>
                  <a:pt x="218340" y="26320"/>
                </a:lnTo>
                <a:cubicBezTo>
                  <a:pt x="219333" y="25327"/>
                  <a:pt x="220571" y="24612"/>
                  <a:pt x="221928" y="24248"/>
                </a:cubicBezTo>
                <a:cubicBezTo>
                  <a:pt x="223285" y="23885"/>
                  <a:pt x="224715" y="23885"/>
                  <a:pt x="226072" y="24248"/>
                </a:cubicBezTo>
                <a:cubicBezTo>
                  <a:pt x="227429" y="24612"/>
                  <a:pt x="228667" y="25327"/>
                  <a:pt x="229660" y="26320"/>
                </a:cubicBezTo>
                <a:cubicBezTo>
                  <a:pt x="230653" y="27313"/>
                  <a:pt x="231368" y="28551"/>
                  <a:pt x="231732" y="29908"/>
                </a:cubicBezTo>
                <a:cubicBezTo>
                  <a:pt x="232095" y="31265"/>
                  <a:pt x="232095" y="32695"/>
                  <a:pt x="231732" y="34052"/>
                </a:cubicBezTo>
                <a:cubicBezTo>
                  <a:pt x="231368" y="35409"/>
                  <a:pt x="230653" y="36647"/>
                  <a:pt x="229660" y="37640"/>
                </a:cubicBezTo>
                <a:lnTo>
                  <a:pt x="133660" y="133640"/>
                </a:lnTo>
                <a:cubicBezTo>
                  <a:pt x="132667" y="134633"/>
                  <a:pt x="131429" y="135348"/>
                  <a:pt x="130072" y="135712"/>
                </a:cubicBezTo>
                <a:cubicBezTo>
                  <a:pt x="128715" y="136075"/>
                  <a:pt x="127285" y="136075"/>
                  <a:pt x="125928" y="135712"/>
                </a:cubicBezTo>
                <a:cubicBezTo>
                  <a:pt x="124571" y="135348"/>
                  <a:pt x="123333" y="134633"/>
                  <a:pt x="122340" y="133640"/>
                </a:cubicBezTo>
                <a:cubicBezTo>
                  <a:pt x="121347" y="132647"/>
                  <a:pt x="120632" y="131409"/>
                  <a:pt x="120268" y="130052"/>
                </a:cubicBezTo>
                <a:cubicBezTo>
                  <a:pt x="119905" y="128695"/>
                  <a:pt x="119905" y="127265"/>
                  <a:pt x="120268" y="125908"/>
                </a:cubicBezTo>
                <a:cubicBezTo>
                  <a:pt x="120632" y="124551"/>
                  <a:pt x="121347" y="123313"/>
                  <a:pt x="122340" y="122320"/>
                </a:cubicBezTo>
                <a:lnTo>
                  <a:pt x="150060" y="94600"/>
                </a:lnTo>
                <a:cubicBezTo>
                  <a:pt x="144621" y="91003"/>
                  <a:pt x="138384" y="88790"/>
                  <a:pt x="131894" y="88154"/>
                </a:cubicBezTo>
                <a:cubicBezTo>
                  <a:pt x="125404" y="87518"/>
                  <a:pt x="118856" y="88479"/>
                  <a:pt x="112822" y="90953"/>
                </a:cubicBezTo>
                <a:cubicBezTo>
                  <a:pt x="106788" y="93426"/>
                  <a:pt x="101450" y="97338"/>
                  <a:pt x="97274" y="102346"/>
                </a:cubicBezTo>
                <a:cubicBezTo>
                  <a:pt x="93098" y="107355"/>
                  <a:pt x="90209" y="113309"/>
                  <a:pt x="88860" y="119689"/>
                </a:cubicBezTo>
                <a:cubicBezTo>
                  <a:pt x="87511" y="126069"/>
                  <a:pt x="87742" y="132683"/>
                  <a:pt x="89534" y="138953"/>
                </a:cubicBezTo>
                <a:cubicBezTo>
                  <a:pt x="91326" y="145223"/>
                  <a:pt x="94624" y="150961"/>
                  <a:pt x="99140" y="155665"/>
                </a:cubicBezTo>
                <a:cubicBezTo>
                  <a:pt x="103656" y="160369"/>
                  <a:pt x="109255" y="163899"/>
                  <a:pt x="115446" y="165944"/>
                </a:cubicBezTo>
                <a:cubicBezTo>
                  <a:pt x="121638" y="167990"/>
                  <a:pt x="128238" y="168491"/>
                  <a:pt x="134667" y="167403"/>
                </a:cubicBezTo>
                <a:cubicBezTo>
                  <a:pt x="141097" y="166315"/>
                  <a:pt x="147164" y="163671"/>
                  <a:pt x="152338" y="159703"/>
                </a:cubicBezTo>
                <a:cubicBezTo>
                  <a:pt x="157513" y="155734"/>
                  <a:pt x="161639" y="150560"/>
                  <a:pt x="164356" y="144632"/>
                </a:cubicBezTo>
                <a:cubicBezTo>
                  <a:pt x="167074" y="138704"/>
                  <a:pt x="168301" y="132200"/>
                  <a:pt x="167930" y="125690"/>
                </a:cubicBezTo>
                <a:cubicBezTo>
                  <a:pt x="167862" y="124488"/>
                  <a:pt x="168066" y="123286"/>
                  <a:pt x="168527" y="122174"/>
                </a:cubicBezTo>
                <a:cubicBezTo>
                  <a:pt x="168988" y="121062"/>
                  <a:pt x="169693" y="120068"/>
                  <a:pt x="170590" y="119266"/>
                </a:cubicBezTo>
                <a:cubicBezTo>
                  <a:pt x="171488" y="118464"/>
                  <a:pt x="172554" y="117874"/>
                  <a:pt x="173711" y="117541"/>
                </a:cubicBezTo>
                <a:cubicBezTo>
                  <a:pt x="174868" y="117207"/>
                  <a:pt x="176085" y="117139"/>
                  <a:pt x="177271" y="117340"/>
                </a:cubicBezTo>
                <a:cubicBezTo>
                  <a:pt x="178458" y="117542"/>
                  <a:pt x="179584" y="118008"/>
                  <a:pt x="180566" y="118705"/>
                </a:cubicBezTo>
                <a:cubicBezTo>
                  <a:pt x="181548" y="119401"/>
                  <a:pt x="182360" y="120310"/>
                  <a:pt x="182943" y="121363"/>
                </a:cubicBezTo>
                <a:cubicBezTo>
                  <a:pt x="183525" y="122417"/>
                  <a:pt x="183862" y="123588"/>
                  <a:pt x="183930" y="124790"/>
                </a:cubicBezTo>
                <a:cubicBezTo>
                  <a:pt x="184458" y="134004"/>
                  <a:pt x="182700" y="143207"/>
                  <a:pt x="178813" y="151578"/>
                </a:cubicBezTo>
                <a:cubicBezTo>
                  <a:pt x="174926" y="159949"/>
                  <a:pt x="169029" y="167231"/>
                  <a:pt x="161650" y="172773"/>
                </a:cubicBezTo>
                <a:cubicBezTo>
                  <a:pt x="154270" y="178315"/>
                  <a:pt x="145633" y="181948"/>
                  <a:pt x="136510" y="183347"/>
                </a:cubicBezTo>
                <a:cubicBezTo>
                  <a:pt x="127387" y="184746"/>
                  <a:pt x="118059" y="183868"/>
                  <a:pt x="109357" y="180792"/>
                </a:cubicBezTo>
                <a:cubicBezTo>
                  <a:pt x="100656" y="177716"/>
                  <a:pt x="92848" y="172536"/>
                  <a:pt x="86631" y="165714"/>
                </a:cubicBezTo>
                <a:cubicBezTo>
                  <a:pt x="80415" y="158893"/>
                  <a:pt x="75980" y="150639"/>
                  <a:pt x="73723" y="141690"/>
                </a:cubicBezTo>
                <a:cubicBezTo>
                  <a:pt x="71465" y="132741"/>
                  <a:pt x="71455" y="123372"/>
                  <a:pt x="73692" y="114418"/>
                </a:cubicBezTo>
                <a:cubicBezTo>
                  <a:pt x="75930" y="105464"/>
                  <a:pt x="80346" y="97200"/>
                  <a:pt x="86548" y="90365"/>
                </a:cubicBezTo>
                <a:cubicBezTo>
                  <a:pt x="92749" y="83530"/>
                  <a:pt x="100545" y="78332"/>
                  <a:pt x="109240" y="75237"/>
                </a:cubicBezTo>
                <a:cubicBezTo>
                  <a:pt x="117935" y="72142"/>
                  <a:pt x="127261" y="71243"/>
                  <a:pt x="136387" y="72622"/>
                </a:cubicBezTo>
                <a:cubicBezTo>
                  <a:pt x="145513" y="74001"/>
                  <a:pt x="154158" y="77614"/>
                  <a:pt x="161550" y="83140"/>
                </a:cubicBezTo>
                <a:lnTo>
                  <a:pt x="184300" y="60390"/>
                </a:lnTo>
                <a:cubicBezTo>
                  <a:pt x="173255" y="51220"/>
                  <a:pt x="160130" y="44895"/>
                  <a:pt x="146076" y="41968"/>
                </a:cubicBezTo>
                <a:cubicBezTo>
                  <a:pt x="132023" y="39042"/>
                  <a:pt x="117464" y="39604"/>
                  <a:pt x="103677" y="43604"/>
                </a:cubicBezTo>
                <a:cubicBezTo>
                  <a:pt x="89890" y="47604"/>
                  <a:pt x="77291" y="54921"/>
                  <a:pt x="66986" y="64915"/>
                </a:cubicBezTo>
                <a:cubicBezTo>
                  <a:pt x="56680" y="74908"/>
                  <a:pt x="48979" y="87276"/>
                  <a:pt x="44557" y="100933"/>
                </a:cubicBezTo>
                <a:cubicBezTo>
                  <a:pt x="40135" y="114590"/>
                  <a:pt x="39126" y="129125"/>
                  <a:pt x="41618" y="143262"/>
                </a:cubicBezTo>
                <a:cubicBezTo>
                  <a:pt x="44111" y="157399"/>
                  <a:pt x="50030" y="170713"/>
                  <a:pt x="58856" y="182034"/>
                </a:cubicBezTo>
                <a:cubicBezTo>
                  <a:pt x="67681" y="193356"/>
                  <a:pt x="79148" y="202344"/>
                  <a:pt x="92250" y="208210"/>
                </a:cubicBezTo>
                <a:cubicBezTo>
                  <a:pt x="105352" y="214077"/>
                  <a:pt x="119694" y="216644"/>
                  <a:pt x="134017" y="215688"/>
                </a:cubicBezTo>
                <a:cubicBezTo>
                  <a:pt x="148340" y="214732"/>
                  <a:pt x="162214" y="210281"/>
                  <a:pt x="174419" y="202725"/>
                </a:cubicBezTo>
                <a:cubicBezTo>
                  <a:pt x="186625" y="195169"/>
                  <a:pt x="196795" y="184736"/>
                  <a:pt x="204038" y="172342"/>
                </a:cubicBezTo>
                <a:cubicBezTo>
                  <a:pt x="211281" y="159948"/>
                  <a:pt x="215378" y="145966"/>
                  <a:pt x="215969" y="131623"/>
                </a:cubicBezTo>
                <a:cubicBezTo>
                  <a:pt x="216560" y="117280"/>
                  <a:pt x="213628" y="103008"/>
                  <a:pt x="207430" y="90060"/>
                </a:cubicBezTo>
                <a:cubicBezTo>
                  <a:pt x="206824" y="88793"/>
                  <a:pt x="206563" y="87388"/>
                  <a:pt x="206672" y="85988"/>
                </a:cubicBezTo>
                <a:cubicBezTo>
                  <a:pt x="206782" y="84588"/>
                  <a:pt x="207257" y="83240"/>
                  <a:pt x="208052" y="82082"/>
                </a:cubicBezTo>
                <a:cubicBezTo>
                  <a:pt x="208847" y="80924"/>
                  <a:pt x="209933" y="79996"/>
                  <a:pt x="211200" y="79390"/>
                </a:cubicBezTo>
                <a:cubicBezTo>
                  <a:pt x="212467" y="78784"/>
                  <a:pt x="213872" y="78523"/>
                  <a:pt x="215272" y="78632"/>
                </a:cubicBezTo>
                <a:cubicBezTo>
                  <a:pt x="216672" y="78742"/>
                  <a:pt x="218020" y="79217"/>
                  <a:pt x="219178" y="80012"/>
                </a:cubicBezTo>
                <a:cubicBezTo>
                  <a:pt x="220336" y="80807"/>
                  <a:pt x="221264" y="81893"/>
                  <a:pt x="221870" y="83160"/>
                </a:cubicBezTo>
                <a:close/>
              </a:path>
            </a:pathLst>
          </a:custGeom>
          <a:solidFill>
            <a:srgbClr val="02479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5" name="Google Shape;305;p20"/>
          <p:cNvSpPr/>
          <p:nvPr/>
        </p:nvSpPr>
        <p:spPr>
          <a:xfrm>
            <a:off x="2928699" y="2164461"/>
            <a:ext cx="292608" cy="292608"/>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20"/>
          <p:cNvSpPr txBox="1"/>
          <p:nvPr/>
        </p:nvSpPr>
        <p:spPr>
          <a:xfrm>
            <a:off x="2928699" y="2164461"/>
            <a:ext cx="292608" cy="292608"/>
          </a:xfrm>
          <a:prstGeom prst="rect">
            <a:avLst/>
          </a:prstGeom>
          <a:noFill/>
          <a:ln>
            <a:noFill/>
          </a:ln>
        </p:spPr>
        <p:txBody>
          <a:bodyPr anchorCtr="0" anchor="ctr" bIns="0" lIns="0" spcFirstLastPara="1" rIns="0" wrap="square" tIns="0">
            <a:spAutoFit/>
          </a:bodyPr>
          <a:lstStyle/>
          <a:p>
            <a:pPr indent="0" lvl="0" marL="0" marR="0" rtl="0" algn="ctr">
              <a:lnSpc>
                <a:spcPct val="112000"/>
              </a:lnSpc>
              <a:spcBef>
                <a:spcPts val="0"/>
              </a:spcBef>
              <a:spcAft>
                <a:spcPts val="0"/>
              </a:spcAft>
              <a:buNone/>
            </a:pPr>
            <a:r>
              <a:rPr b="1" i="0" lang="es-MX" sz="1100" u="none" cap="none" strike="noStrike">
                <a:solidFill>
                  <a:srgbClr val="0B2E6B"/>
                </a:solidFill>
                <a:latin typeface="Arial"/>
                <a:ea typeface="Arial"/>
                <a:cs typeface="Arial"/>
                <a:sym typeface="Arial"/>
              </a:rPr>
              <a:t>1</a:t>
            </a:r>
            <a:endParaRPr/>
          </a:p>
        </p:txBody>
      </p:sp>
      <p:sp>
        <p:nvSpPr>
          <p:cNvPr id="307" name="Google Shape;307;p20"/>
          <p:cNvSpPr txBox="1"/>
          <p:nvPr/>
        </p:nvSpPr>
        <p:spPr>
          <a:xfrm>
            <a:off x="783592" y="2658237"/>
            <a:ext cx="2425355" cy="871728"/>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s-MX" sz="1050" u="none" cap="none" strike="noStrike">
                <a:solidFill>
                  <a:srgbClr val="0B2E6B"/>
                </a:solidFill>
                <a:latin typeface="Arial"/>
                <a:ea typeface="Arial"/>
                <a:cs typeface="Arial"/>
                <a:sym typeface="Arial"/>
              </a:rPr>
              <a:t>Propósito compartido</a:t>
            </a:r>
            <a:endParaRPr/>
          </a:p>
          <a:p>
            <a:pPr indent="0" lvl="0" marL="0" marR="0" rtl="0" algn="l">
              <a:lnSpc>
                <a:spcPct val="118000"/>
              </a:lnSpc>
              <a:spcBef>
                <a:spcPts val="300"/>
              </a:spcBef>
              <a:spcAft>
                <a:spcPts val="0"/>
              </a:spcAft>
              <a:buNone/>
            </a:pPr>
            <a:r>
              <a:rPr b="0" i="0" lang="es-MX" sz="950" u="none" cap="none" strike="noStrike">
                <a:solidFill>
                  <a:srgbClr val="3A3A48"/>
                </a:solidFill>
                <a:latin typeface="Arial"/>
                <a:ea typeface="Arial"/>
                <a:cs typeface="Arial"/>
                <a:sym typeface="Arial"/>
              </a:rPr>
              <a:t>Saber con claridad qué problema resolvemos y cuál es el objetivo común del equipo.</a:t>
            </a:r>
            <a:endParaRPr/>
          </a:p>
        </p:txBody>
      </p:sp>
      <p:sp>
        <p:nvSpPr>
          <p:cNvPr id="308" name="Google Shape;308;p20"/>
          <p:cNvSpPr/>
          <p:nvPr/>
        </p:nvSpPr>
        <p:spPr>
          <a:xfrm>
            <a:off x="3505539" y="2036445"/>
            <a:ext cx="2712380" cy="1557528"/>
          </a:xfrm>
          <a:prstGeom prst="roundRect">
            <a:avLst>
              <a:gd fmla="val 8219" name="adj"/>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20"/>
          <p:cNvSpPr/>
          <p:nvPr/>
        </p:nvSpPr>
        <p:spPr>
          <a:xfrm>
            <a:off x="3658792" y="2164461"/>
            <a:ext cx="420624" cy="420624"/>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0" name="Google Shape;310;p20"/>
          <p:cNvSpPr/>
          <p:nvPr/>
        </p:nvSpPr>
        <p:spPr>
          <a:xfrm>
            <a:off x="3751328" y="2256998"/>
            <a:ext cx="235549" cy="235549"/>
          </a:xfrm>
          <a:custGeom>
            <a:rect b="b" l="l" r="r" t="t"/>
            <a:pathLst>
              <a:path extrusionOk="0" h="256000" w="256000">
                <a:moveTo>
                  <a:pt x="224000" y="200000"/>
                </a:moveTo>
                <a:lnTo>
                  <a:pt x="216000" y="200000"/>
                </a:lnTo>
                <a:lnTo>
                  <a:pt x="216000" y="40000"/>
                </a:lnTo>
                <a:cubicBezTo>
                  <a:pt x="216000" y="38596"/>
                  <a:pt x="215630" y="37216"/>
                  <a:pt x="214928" y="36000"/>
                </a:cubicBezTo>
                <a:cubicBezTo>
                  <a:pt x="214226" y="34784"/>
                  <a:pt x="213216" y="33774"/>
                  <a:pt x="212000" y="33072"/>
                </a:cubicBezTo>
                <a:cubicBezTo>
                  <a:pt x="210784" y="32370"/>
                  <a:pt x="209404" y="32000"/>
                  <a:pt x="208000" y="32000"/>
                </a:cubicBezTo>
                <a:lnTo>
                  <a:pt x="152000" y="32000"/>
                </a:lnTo>
                <a:cubicBezTo>
                  <a:pt x="150596" y="32000"/>
                  <a:pt x="149216" y="32370"/>
                  <a:pt x="148000" y="33072"/>
                </a:cubicBezTo>
                <a:cubicBezTo>
                  <a:pt x="146784" y="33774"/>
                  <a:pt x="145774" y="34784"/>
                  <a:pt x="145072" y="36000"/>
                </a:cubicBezTo>
                <a:cubicBezTo>
                  <a:pt x="144370" y="37216"/>
                  <a:pt x="144000" y="38596"/>
                  <a:pt x="144000" y="40000"/>
                </a:cubicBezTo>
                <a:lnTo>
                  <a:pt x="144000" y="80000"/>
                </a:lnTo>
                <a:lnTo>
                  <a:pt x="96000" y="80000"/>
                </a:lnTo>
                <a:cubicBezTo>
                  <a:pt x="94596" y="80000"/>
                  <a:pt x="93216" y="80370"/>
                  <a:pt x="92000" y="81072"/>
                </a:cubicBezTo>
                <a:cubicBezTo>
                  <a:pt x="90784" y="81774"/>
                  <a:pt x="89774" y="82784"/>
                  <a:pt x="89072" y="84000"/>
                </a:cubicBezTo>
                <a:cubicBezTo>
                  <a:pt x="88370" y="85216"/>
                  <a:pt x="88000" y="86596"/>
                  <a:pt x="88000" y="88000"/>
                </a:cubicBezTo>
                <a:lnTo>
                  <a:pt x="88000" y="128000"/>
                </a:lnTo>
                <a:lnTo>
                  <a:pt x="48000" y="128000"/>
                </a:lnTo>
                <a:cubicBezTo>
                  <a:pt x="46596" y="128000"/>
                  <a:pt x="45216" y="128370"/>
                  <a:pt x="44000" y="129072"/>
                </a:cubicBezTo>
                <a:cubicBezTo>
                  <a:pt x="42784" y="129774"/>
                  <a:pt x="41774" y="130784"/>
                  <a:pt x="41072" y="132000"/>
                </a:cubicBezTo>
                <a:cubicBezTo>
                  <a:pt x="40370" y="133216"/>
                  <a:pt x="40000" y="134596"/>
                  <a:pt x="40000" y="136000"/>
                </a:cubicBezTo>
                <a:lnTo>
                  <a:pt x="40000" y="200000"/>
                </a:lnTo>
                <a:lnTo>
                  <a:pt x="32000" y="200000"/>
                </a:lnTo>
                <a:cubicBezTo>
                  <a:pt x="30596" y="200000"/>
                  <a:pt x="29216" y="200370"/>
                  <a:pt x="28000" y="201072"/>
                </a:cubicBezTo>
                <a:cubicBezTo>
                  <a:pt x="26784" y="201774"/>
                  <a:pt x="25774" y="202784"/>
                  <a:pt x="25072" y="204000"/>
                </a:cubicBezTo>
                <a:cubicBezTo>
                  <a:pt x="24370" y="205216"/>
                  <a:pt x="24000" y="206596"/>
                  <a:pt x="24000" y="208000"/>
                </a:cubicBezTo>
                <a:cubicBezTo>
                  <a:pt x="24000" y="209404"/>
                  <a:pt x="24370" y="210784"/>
                  <a:pt x="25072" y="212000"/>
                </a:cubicBezTo>
                <a:cubicBezTo>
                  <a:pt x="25774" y="213216"/>
                  <a:pt x="26784" y="214226"/>
                  <a:pt x="28000" y="214928"/>
                </a:cubicBezTo>
                <a:cubicBezTo>
                  <a:pt x="29216" y="215630"/>
                  <a:pt x="30596" y="216000"/>
                  <a:pt x="32000" y="216000"/>
                </a:cubicBezTo>
                <a:lnTo>
                  <a:pt x="224000" y="216000"/>
                </a:lnTo>
                <a:cubicBezTo>
                  <a:pt x="225404" y="216000"/>
                  <a:pt x="226784" y="215630"/>
                  <a:pt x="228000" y="214928"/>
                </a:cubicBezTo>
                <a:cubicBezTo>
                  <a:pt x="229216" y="214226"/>
                  <a:pt x="230226" y="213216"/>
                  <a:pt x="230928" y="212000"/>
                </a:cubicBezTo>
                <a:cubicBezTo>
                  <a:pt x="231630" y="210784"/>
                  <a:pt x="232000" y="209404"/>
                  <a:pt x="232000" y="208000"/>
                </a:cubicBezTo>
                <a:cubicBezTo>
                  <a:pt x="232000" y="206596"/>
                  <a:pt x="231630" y="205216"/>
                  <a:pt x="230928" y="204000"/>
                </a:cubicBezTo>
                <a:cubicBezTo>
                  <a:pt x="230226" y="202784"/>
                  <a:pt x="229216" y="201774"/>
                  <a:pt x="228000" y="201072"/>
                </a:cubicBezTo>
                <a:cubicBezTo>
                  <a:pt x="226784" y="200370"/>
                  <a:pt x="225404" y="200000"/>
                  <a:pt x="224000" y="200000"/>
                </a:cubicBezTo>
                <a:close/>
                <a:moveTo>
                  <a:pt x="160000" y="48000"/>
                </a:moveTo>
                <a:lnTo>
                  <a:pt x="200000" y="48000"/>
                </a:lnTo>
                <a:lnTo>
                  <a:pt x="200000" y="200000"/>
                </a:lnTo>
                <a:lnTo>
                  <a:pt x="160000" y="200000"/>
                </a:lnTo>
                <a:close/>
                <a:moveTo>
                  <a:pt x="104000" y="96000"/>
                </a:moveTo>
                <a:lnTo>
                  <a:pt x="144000" y="96000"/>
                </a:lnTo>
                <a:lnTo>
                  <a:pt x="144000" y="200000"/>
                </a:lnTo>
                <a:lnTo>
                  <a:pt x="104000" y="200000"/>
                </a:lnTo>
                <a:close/>
                <a:moveTo>
                  <a:pt x="56000" y="144000"/>
                </a:moveTo>
                <a:lnTo>
                  <a:pt x="88000" y="144000"/>
                </a:lnTo>
                <a:lnTo>
                  <a:pt x="88000" y="200000"/>
                </a:lnTo>
                <a:lnTo>
                  <a:pt x="56000" y="200000"/>
                </a:lnTo>
                <a:close/>
              </a:path>
            </a:pathLst>
          </a:custGeom>
          <a:solidFill>
            <a:srgbClr val="66409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1" name="Google Shape;311;p20"/>
          <p:cNvSpPr/>
          <p:nvPr/>
        </p:nvSpPr>
        <p:spPr>
          <a:xfrm>
            <a:off x="5794159" y="2164461"/>
            <a:ext cx="292608" cy="292608"/>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20"/>
          <p:cNvSpPr txBox="1"/>
          <p:nvPr/>
        </p:nvSpPr>
        <p:spPr>
          <a:xfrm>
            <a:off x="5794159" y="2164461"/>
            <a:ext cx="292608" cy="292608"/>
          </a:xfrm>
          <a:prstGeom prst="rect">
            <a:avLst/>
          </a:prstGeom>
          <a:noFill/>
          <a:ln>
            <a:noFill/>
          </a:ln>
        </p:spPr>
        <p:txBody>
          <a:bodyPr anchorCtr="0" anchor="ctr" bIns="0" lIns="0" spcFirstLastPara="1" rIns="0" wrap="square" tIns="0">
            <a:spAutoFit/>
          </a:bodyPr>
          <a:lstStyle/>
          <a:p>
            <a:pPr indent="0" lvl="0" marL="0" marR="0" rtl="0" algn="ctr">
              <a:lnSpc>
                <a:spcPct val="112000"/>
              </a:lnSpc>
              <a:spcBef>
                <a:spcPts val="0"/>
              </a:spcBef>
              <a:spcAft>
                <a:spcPts val="0"/>
              </a:spcAft>
              <a:buNone/>
            </a:pPr>
            <a:r>
              <a:rPr b="1" i="0" lang="es-MX" sz="1100" u="none" cap="none" strike="noStrike">
                <a:solidFill>
                  <a:srgbClr val="0B2E6B"/>
                </a:solidFill>
                <a:latin typeface="Arial"/>
                <a:ea typeface="Arial"/>
                <a:cs typeface="Arial"/>
                <a:sym typeface="Arial"/>
              </a:rPr>
              <a:t>2</a:t>
            </a:r>
            <a:endParaRPr/>
          </a:p>
        </p:txBody>
      </p:sp>
      <p:sp>
        <p:nvSpPr>
          <p:cNvPr id="313" name="Google Shape;313;p20"/>
          <p:cNvSpPr txBox="1"/>
          <p:nvPr/>
        </p:nvSpPr>
        <p:spPr>
          <a:xfrm>
            <a:off x="3649052" y="2658237"/>
            <a:ext cx="2425355" cy="871728"/>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s-MX" sz="1050" u="none" cap="none" strike="noStrike">
                <a:solidFill>
                  <a:srgbClr val="664092"/>
                </a:solidFill>
                <a:latin typeface="Arial"/>
                <a:ea typeface="Arial"/>
                <a:cs typeface="Arial"/>
                <a:sym typeface="Arial"/>
              </a:rPr>
              <a:t>Información disponible</a:t>
            </a:r>
            <a:endParaRPr/>
          </a:p>
          <a:p>
            <a:pPr indent="0" lvl="0" marL="0" marR="0" rtl="0" algn="l">
              <a:lnSpc>
                <a:spcPct val="118000"/>
              </a:lnSpc>
              <a:spcBef>
                <a:spcPts val="300"/>
              </a:spcBef>
              <a:spcAft>
                <a:spcPts val="0"/>
              </a:spcAft>
              <a:buNone/>
            </a:pPr>
            <a:r>
              <a:rPr b="0" i="0" lang="es-MX" sz="950" u="none" cap="none" strike="noStrike">
                <a:solidFill>
                  <a:srgbClr val="3A3A48"/>
                </a:solidFill>
                <a:latin typeface="Arial"/>
                <a:ea typeface="Arial"/>
                <a:cs typeface="Arial"/>
                <a:sym typeface="Arial"/>
              </a:rPr>
              <a:t>Acceso oportuno a datos, contexto y necesidades de los usuarios para no decidir a ciegas.</a:t>
            </a:r>
            <a:endParaRPr/>
          </a:p>
        </p:txBody>
      </p:sp>
      <p:sp>
        <p:nvSpPr>
          <p:cNvPr id="314" name="Google Shape;314;p20"/>
          <p:cNvSpPr/>
          <p:nvPr/>
        </p:nvSpPr>
        <p:spPr>
          <a:xfrm>
            <a:off x="640080" y="3740277"/>
            <a:ext cx="2712380" cy="1557528"/>
          </a:xfrm>
          <a:prstGeom prst="roundRect">
            <a:avLst>
              <a:gd fmla="val 8219" name="adj"/>
            </a:avLst>
          </a:prstGeom>
          <a:solidFill>
            <a:srgbClr val="F6EB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20"/>
          <p:cNvSpPr/>
          <p:nvPr/>
        </p:nvSpPr>
        <p:spPr>
          <a:xfrm>
            <a:off x="793332" y="3868293"/>
            <a:ext cx="420624" cy="420624"/>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6" name="Google Shape;316;p20"/>
          <p:cNvSpPr/>
          <p:nvPr/>
        </p:nvSpPr>
        <p:spPr>
          <a:xfrm>
            <a:off x="885869" y="3960830"/>
            <a:ext cx="235549" cy="235549"/>
          </a:xfrm>
          <a:custGeom>
            <a:rect b="b" l="l" r="r" t="t"/>
            <a:pathLst>
              <a:path extrusionOk="0" h="256000" w="256000">
                <a:moveTo>
                  <a:pt x="244800" y="150400"/>
                </a:moveTo>
                <a:cubicBezTo>
                  <a:pt x="243677" y="151243"/>
                  <a:pt x="242351" y="151775"/>
                  <a:pt x="240957" y="151943"/>
                </a:cubicBezTo>
                <a:cubicBezTo>
                  <a:pt x="239563" y="152111"/>
                  <a:pt x="238149" y="151909"/>
                  <a:pt x="236857" y="151357"/>
                </a:cubicBezTo>
                <a:cubicBezTo>
                  <a:pt x="235566" y="150805"/>
                  <a:pt x="234443" y="149923"/>
                  <a:pt x="233600" y="148800"/>
                </a:cubicBezTo>
                <a:cubicBezTo>
                  <a:pt x="228778" y="142319"/>
                  <a:pt x="222502" y="137060"/>
                  <a:pt x="215276" y="133447"/>
                </a:cubicBezTo>
                <a:cubicBezTo>
                  <a:pt x="208051" y="129835"/>
                  <a:pt x="200078" y="127969"/>
                  <a:pt x="192000" y="128000"/>
                </a:cubicBezTo>
                <a:cubicBezTo>
                  <a:pt x="190955" y="128000"/>
                  <a:pt x="189921" y="127795"/>
                  <a:pt x="188955" y="127398"/>
                </a:cubicBezTo>
                <a:cubicBezTo>
                  <a:pt x="187989" y="127000"/>
                  <a:pt x="187110" y="126417"/>
                  <a:pt x="186369" y="125681"/>
                </a:cubicBezTo>
                <a:cubicBezTo>
                  <a:pt x="185627" y="124946"/>
                  <a:pt x="185036" y="124072"/>
                  <a:pt x="184630" y="123110"/>
                </a:cubicBezTo>
                <a:cubicBezTo>
                  <a:pt x="184215" y="122126"/>
                  <a:pt x="184001" y="121068"/>
                  <a:pt x="184001" y="120000"/>
                </a:cubicBezTo>
                <a:cubicBezTo>
                  <a:pt x="184001" y="118932"/>
                  <a:pt x="184215" y="117874"/>
                  <a:pt x="184630" y="116890"/>
                </a:cubicBezTo>
                <a:cubicBezTo>
                  <a:pt x="185036" y="115928"/>
                  <a:pt x="185627" y="115054"/>
                  <a:pt x="186369" y="114319"/>
                </a:cubicBezTo>
                <a:cubicBezTo>
                  <a:pt x="187110" y="113583"/>
                  <a:pt x="187989" y="113000"/>
                  <a:pt x="188955" y="112602"/>
                </a:cubicBezTo>
                <a:cubicBezTo>
                  <a:pt x="189921" y="112205"/>
                  <a:pt x="190955" y="112000"/>
                  <a:pt x="192000" y="112000"/>
                </a:cubicBezTo>
                <a:cubicBezTo>
                  <a:pt x="195984" y="112000"/>
                  <a:pt x="199906" y="111007"/>
                  <a:pt x="203411" y="109112"/>
                </a:cubicBezTo>
                <a:cubicBezTo>
                  <a:pt x="206916" y="107218"/>
                  <a:pt x="209895" y="104480"/>
                  <a:pt x="212077" y="101146"/>
                </a:cubicBezTo>
                <a:cubicBezTo>
                  <a:pt x="214260" y="97813"/>
                  <a:pt x="215578" y="93988"/>
                  <a:pt x="215913" y="90018"/>
                </a:cubicBezTo>
                <a:cubicBezTo>
                  <a:pt x="216248" y="86047"/>
                  <a:pt x="215589" y="82056"/>
                  <a:pt x="213996" y="78404"/>
                </a:cubicBezTo>
                <a:cubicBezTo>
                  <a:pt x="212403" y="74752"/>
                  <a:pt x="209925" y="71553"/>
                  <a:pt x="206787" y="69098"/>
                </a:cubicBezTo>
                <a:cubicBezTo>
                  <a:pt x="203649" y="66643"/>
                  <a:pt x="199949" y="65007"/>
                  <a:pt x="196021" y="64340"/>
                </a:cubicBezTo>
                <a:cubicBezTo>
                  <a:pt x="192093" y="63672"/>
                  <a:pt x="188060" y="63992"/>
                  <a:pt x="184287" y="65272"/>
                </a:cubicBezTo>
                <a:cubicBezTo>
                  <a:pt x="180514" y="66553"/>
                  <a:pt x="177118" y="68752"/>
                  <a:pt x="174408" y="71672"/>
                </a:cubicBezTo>
                <a:cubicBezTo>
                  <a:pt x="171697" y="74593"/>
                  <a:pt x="169756" y="78142"/>
                  <a:pt x="168760" y="82000"/>
                </a:cubicBezTo>
                <a:cubicBezTo>
                  <a:pt x="168409" y="83360"/>
                  <a:pt x="167706" y="84605"/>
                  <a:pt x="166722" y="85607"/>
                </a:cubicBezTo>
                <a:cubicBezTo>
                  <a:pt x="165738" y="86610"/>
                  <a:pt x="164507" y="87336"/>
                  <a:pt x="163153" y="87712"/>
                </a:cubicBezTo>
                <a:cubicBezTo>
                  <a:pt x="161799" y="88088"/>
                  <a:pt x="160370" y="88101"/>
                  <a:pt x="159010" y="87750"/>
                </a:cubicBezTo>
                <a:cubicBezTo>
                  <a:pt x="157650" y="87399"/>
                  <a:pt x="156405" y="86696"/>
                  <a:pt x="155403" y="85712"/>
                </a:cubicBezTo>
                <a:cubicBezTo>
                  <a:pt x="154400" y="84728"/>
                  <a:pt x="153674" y="83497"/>
                  <a:pt x="153298" y="82143"/>
                </a:cubicBezTo>
                <a:cubicBezTo>
                  <a:pt x="152922" y="80789"/>
                  <a:pt x="152909" y="79360"/>
                  <a:pt x="153260" y="78000"/>
                </a:cubicBezTo>
                <a:cubicBezTo>
                  <a:pt x="154817" y="71973"/>
                  <a:pt x="157760" y="66393"/>
                  <a:pt x="161854" y="61704"/>
                </a:cubicBezTo>
                <a:cubicBezTo>
                  <a:pt x="165947" y="57014"/>
                  <a:pt x="171079" y="53345"/>
                  <a:pt x="176840" y="50988"/>
                </a:cubicBezTo>
                <a:cubicBezTo>
                  <a:pt x="182602" y="48630"/>
                  <a:pt x="188834" y="47650"/>
                  <a:pt x="195040" y="48125"/>
                </a:cubicBezTo>
                <a:cubicBezTo>
                  <a:pt x="201247" y="48600"/>
                  <a:pt x="207258" y="50518"/>
                  <a:pt x="212593" y="53724"/>
                </a:cubicBezTo>
                <a:cubicBezTo>
                  <a:pt x="217928" y="56931"/>
                  <a:pt x="222442" y="61339"/>
                  <a:pt x="225774" y="66596"/>
                </a:cubicBezTo>
                <a:cubicBezTo>
                  <a:pt x="229106" y="71854"/>
                  <a:pt x="231165" y="77817"/>
                  <a:pt x="231787" y="84011"/>
                </a:cubicBezTo>
                <a:cubicBezTo>
                  <a:pt x="232409" y="90204"/>
                  <a:pt x="231577" y="96458"/>
                  <a:pt x="229358" y="102273"/>
                </a:cubicBezTo>
                <a:cubicBezTo>
                  <a:pt x="227138" y="108089"/>
                  <a:pt x="223591" y="113306"/>
                  <a:pt x="219000" y="117510"/>
                </a:cubicBezTo>
                <a:cubicBezTo>
                  <a:pt x="229877" y="122220"/>
                  <a:pt x="239335" y="129695"/>
                  <a:pt x="246430" y="139190"/>
                </a:cubicBezTo>
                <a:cubicBezTo>
                  <a:pt x="247060" y="140033"/>
                  <a:pt x="247518" y="140991"/>
                  <a:pt x="247777" y="142011"/>
                </a:cubicBezTo>
                <a:cubicBezTo>
                  <a:pt x="248037" y="143031"/>
                  <a:pt x="248092" y="144092"/>
                  <a:pt x="247941" y="145133"/>
                </a:cubicBezTo>
                <a:cubicBezTo>
                  <a:pt x="247789" y="146174"/>
                  <a:pt x="247434" y="147176"/>
                  <a:pt x="246895" y="148079"/>
                </a:cubicBezTo>
                <a:cubicBezTo>
                  <a:pt x="246356" y="148983"/>
                  <a:pt x="245644" y="149772"/>
                  <a:pt x="244800" y="150400"/>
                </a:cubicBezTo>
                <a:close/>
                <a:moveTo>
                  <a:pt x="190920" y="212000"/>
                </a:moveTo>
                <a:cubicBezTo>
                  <a:pt x="191582" y="213042"/>
                  <a:pt x="191994" y="214223"/>
                  <a:pt x="192124" y="215450"/>
                </a:cubicBezTo>
                <a:cubicBezTo>
                  <a:pt x="192254" y="216678"/>
                  <a:pt x="192098" y="217919"/>
                  <a:pt x="191669" y="219076"/>
                </a:cubicBezTo>
                <a:cubicBezTo>
                  <a:pt x="191239" y="220233"/>
                  <a:pt x="190548" y="221275"/>
                  <a:pt x="189648" y="222121"/>
                </a:cubicBezTo>
                <a:cubicBezTo>
                  <a:pt x="188749" y="222966"/>
                  <a:pt x="187666" y="223592"/>
                  <a:pt x="186485" y="223949"/>
                </a:cubicBezTo>
                <a:cubicBezTo>
                  <a:pt x="185303" y="224307"/>
                  <a:pt x="184055" y="224386"/>
                  <a:pt x="182838" y="224180"/>
                </a:cubicBezTo>
                <a:cubicBezTo>
                  <a:pt x="181621" y="223975"/>
                  <a:pt x="180467" y="223491"/>
                  <a:pt x="179469" y="222765"/>
                </a:cubicBezTo>
                <a:cubicBezTo>
                  <a:pt x="178470" y="222040"/>
                  <a:pt x="177652" y="221094"/>
                  <a:pt x="177080" y="220000"/>
                </a:cubicBezTo>
                <a:cubicBezTo>
                  <a:pt x="172041" y="211467"/>
                  <a:pt x="164863" y="204394"/>
                  <a:pt x="156256" y="199482"/>
                </a:cubicBezTo>
                <a:cubicBezTo>
                  <a:pt x="147650" y="194570"/>
                  <a:pt x="137910" y="191985"/>
                  <a:pt x="128000" y="191985"/>
                </a:cubicBezTo>
                <a:cubicBezTo>
                  <a:pt x="118090" y="191985"/>
                  <a:pt x="108350" y="194570"/>
                  <a:pt x="99744" y="199482"/>
                </a:cubicBezTo>
                <a:cubicBezTo>
                  <a:pt x="91137" y="204394"/>
                  <a:pt x="83959" y="211467"/>
                  <a:pt x="78920" y="220000"/>
                </a:cubicBezTo>
                <a:cubicBezTo>
                  <a:pt x="78348" y="221094"/>
                  <a:pt x="77530" y="222040"/>
                  <a:pt x="76531" y="222765"/>
                </a:cubicBezTo>
                <a:cubicBezTo>
                  <a:pt x="75533" y="223491"/>
                  <a:pt x="74379" y="223975"/>
                  <a:pt x="73162" y="224180"/>
                </a:cubicBezTo>
                <a:cubicBezTo>
                  <a:pt x="71945" y="224386"/>
                  <a:pt x="70697" y="224307"/>
                  <a:pt x="69515" y="223949"/>
                </a:cubicBezTo>
                <a:cubicBezTo>
                  <a:pt x="68334" y="223592"/>
                  <a:pt x="67251" y="222966"/>
                  <a:pt x="66352" y="222121"/>
                </a:cubicBezTo>
                <a:cubicBezTo>
                  <a:pt x="65452" y="221275"/>
                  <a:pt x="64761" y="220233"/>
                  <a:pt x="64331" y="219076"/>
                </a:cubicBezTo>
                <a:cubicBezTo>
                  <a:pt x="63902" y="217919"/>
                  <a:pt x="63746" y="216678"/>
                  <a:pt x="63876" y="215450"/>
                </a:cubicBezTo>
                <a:cubicBezTo>
                  <a:pt x="64006" y="214223"/>
                  <a:pt x="64418" y="213042"/>
                  <a:pt x="65080" y="212000"/>
                </a:cubicBezTo>
                <a:cubicBezTo>
                  <a:pt x="68933" y="205379"/>
                  <a:pt x="73818" y="199415"/>
                  <a:pt x="79549" y="194333"/>
                </a:cubicBezTo>
                <a:cubicBezTo>
                  <a:pt x="85281" y="189250"/>
                  <a:pt x="91786" y="185114"/>
                  <a:pt x="98820" y="182080"/>
                </a:cubicBezTo>
                <a:cubicBezTo>
                  <a:pt x="92466" y="177215"/>
                  <a:pt x="87428" y="170837"/>
                  <a:pt x="84166" y="163529"/>
                </a:cubicBezTo>
                <a:cubicBezTo>
                  <a:pt x="80905" y="156220"/>
                  <a:pt x="79523" y="148211"/>
                  <a:pt x="80146" y="140232"/>
                </a:cubicBezTo>
                <a:cubicBezTo>
                  <a:pt x="80768" y="132254"/>
                  <a:pt x="83377" y="124556"/>
                  <a:pt x="87733" y="117842"/>
                </a:cubicBezTo>
                <a:cubicBezTo>
                  <a:pt x="92089" y="111129"/>
                  <a:pt x="98055" y="105610"/>
                  <a:pt x="105087" y="101790"/>
                </a:cubicBezTo>
                <a:cubicBezTo>
                  <a:pt x="112120" y="97969"/>
                  <a:pt x="119997" y="95968"/>
                  <a:pt x="128000" y="95968"/>
                </a:cubicBezTo>
                <a:cubicBezTo>
                  <a:pt x="136003" y="95968"/>
                  <a:pt x="143880" y="97969"/>
                  <a:pt x="150913" y="101790"/>
                </a:cubicBezTo>
                <a:cubicBezTo>
                  <a:pt x="157945" y="105610"/>
                  <a:pt x="163911" y="111129"/>
                  <a:pt x="168267" y="117842"/>
                </a:cubicBezTo>
                <a:cubicBezTo>
                  <a:pt x="172623" y="124556"/>
                  <a:pt x="175232" y="132254"/>
                  <a:pt x="175854" y="140232"/>
                </a:cubicBezTo>
                <a:cubicBezTo>
                  <a:pt x="176477" y="148211"/>
                  <a:pt x="175095" y="156220"/>
                  <a:pt x="171834" y="163529"/>
                </a:cubicBezTo>
                <a:cubicBezTo>
                  <a:pt x="168572" y="170837"/>
                  <a:pt x="163534" y="177215"/>
                  <a:pt x="157180" y="182080"/>
                </a:cubicBezTo>
                <a:cubicBezTo>
                  <a:pt x="164214" y="185114"/>
                  <a:pt x="170719" y="189250"/>
                  <a:pt x="176451" y="194333"/>
                </a:cubicBezTo>
                <a:cubicBezTo>
                  <a:pt x="182182" y="199415"/>
                  <a:pt x="187067" y="205379"/>
                  <a:pt x="190920" y="212000"/>
                </a:cubicBezTo>
                <a:close/>
                <a:moveTo>
                  <a:pt x="128000" y="176000"/>
                </a:moveTo>
                <a:cubicBezTo>
                  <a:pt x="133617" y="176000"/>
                  <a:pt x="139136" y="174521"/>
                  <a:pt x="144000" y="171713"/>
                </a:cubicBezTo>
                <a:cubicBezTo>
                  <a:pt x="148864" y="168904"/>
                  <a:pt x="152904" y="164864"/>
                  <a:pt x="155713" y="160000"/>
                </a:cubicBezTo>
                <a:cubicBezTo>
                  <a:pt x="158521" y="155136"/>
                  <a:pt x="160000" y="149617"/>
                  <a:pt x="160000" y="144000"/>
                </a:cubicBezTo>
                <a:cubicBezTo>
                  <a:pt x="160000" y="138383"/>
                  <a:pt x="158521" y="132864"/>
                  <a:pt x="155713" y="128000"/>
                </a:cubicBezTo>
                <a:cubicBezTo>
                  <a:pt x="152904" y="123136"/>
                  <a:pt x="148864" y="119096"/>
                  <a:pt x="144000" y="116287"/>
                </a:cubicBezTo>
                <a:cubicBezTo>
                  <a:pt x="139136" y="113479"/>
                  <a:pt x="133617" y="112000"/>
                  <a:pt x="128000" y="112000"/>
                </a:cubicBezTo>
                <a:cubicBezTo>
                  <a:pt x="122383" y="112000"/>
                  <a:pt x="116864" y="113479"/>
                  <a:pt x="112000" y="116287"/>
                </a:cubicBezTo>
                <a:cubicBezTo>
                  <a:pt x="107136" y="119096"/>
                  <a:pt x="103096" y="123136"/>
                  <a:pt x="100287" y="128000"/>
                </a:cubicBezTo>
                <a:cubicBezTo>
                  <a:pt x="97479" y="132864"/>
                  <a:pt x="96000" y="138383"/>
                  <a:pt x="96000" y="144000"/>
                </a:cubicBezTo>
                <a:cubicBezTo>
                  <a:pt x="96000" y="149617"/>
                  <a:pt x="97479" y="155136"/>
                  <a:pt x="100287" y="160000"/>
                </a:cubicBezTo>
                <a:cubicBezTo>
                  <a:pt x="103096" y="164864"/>
                  <a:pt x="107136" y="168904"/>
                  <a:pt x="112000" y="171713"/>
                </a:cubicBezTo>
                <a:cubicBezTo>
                  <a:pt x="116864" y="174521"/>
                  <a:pt x="122383" y="176000"/>
                  <a:pt x="128000" y="176000"/>
                </a:cubicBezTo>
                <a:close/>
                <a:moveTo>
                  <a:pt x="72000" y="120000"/>
                </a:moveTo>
                <a:cubicBezTo>
                  <a:pt x="72000" y="118596"/>
                  <a:pt x="71630" y="117216"/>
                  <a:pt x="70928" y="116000"/>
                </a:cubicBezTo>
                <a:cubicBezTo>
                  <a:pt x="70226" y="114784"/>
                  <a:pt x="69216" y="113774"/>
                  <a:pt x="68000" y="113072"/>
                </a:cubicBezTo>
                <a:cubicBezTo>
                  <a:pt x="66784" y="112370"/>
                  <a:pt x="65404" y="112000"/>
                  <a:pt x="64000" y="112000"/>
                </a:cubicBezTo>
                <a:cubicBezTo>
                  <a:pt x="60016" y="112000"/>
                  <a:pt x="56094" y="111007"/>
                  <a:pt x="52589" y="109112"/>
                </a:cubicBezTo>
                <a:cubicBezTo>
                  <a:pt x="49084" y="107218"/>
                  <a:pt x="46105" y="104480"/>
                  <a:pt x="43923" y="101146"/>
                </a:cubicBezTo>
                <a:cubicBezTo>
                  <a:pt x="41740" y="97813"/>
                  <a:pt x="40422" y="93988"/>
                  <a:pt x="40087" y="90018"/>
                </a:cubicBezTo>
                <a:cubicBezTo>
                  <a:pt x="39752" y="86047"/>
                  <a:pt x="40411" y="82056"/>
                  <a:pt x="42004" y="78404"/>
                </a:cubicBezTo>
                <a:cubicBezTo>
                  <a:pt x="43597" y="74752"/>
                  <a:pt x="46075" y="71553"/>
                  <a:pt x="49213" y="69098"/>
                </a:cubicBezTo>
                <a:cubicBezTo>
                  <a:pt x="52351" y="66643"/>
                  <a:pt x="56051" y="65007"/>
                  <a:pt x="59979" y="64340"/>
                </a:cubicBezTo>
                <a:cubicBezTo>
                  <a:pt x="63907" y="63672"/>
                  <a:pt x="67940" y="63992"/>
                  <a:pt x="71713" y="65272"/>
                </a:cubicBezTo>
                <a:cubicBezTo>
                  <a:pt x="75486" y="66553"/>
                  <a:pt x="78882" y="68752"/>
                  <a:pt x="81592" y="71672"/>
                </a:cubicBezTo>
                <a:cubicBezTo>
                  <a:pt x="84303" y="74593"/>
                  <a:pt x="86244" y="78142"/>
                  <a:pt x="87240" y="82000"/>
                </a:cubicBezTo>
                <a:cubicBezTo>
                  <a:pt x="87591" y="83360"/>
                  <a:pt x="88294" y="84605"/>
                  <a:pt x="89278" y="85607"/>
                </a:cubicBezTo>
                <a:cubicBezTo>
                  <a:pt x="90262" y="86610"/>
                  <a:pt x="91493" y="87336"/>
                  <a:pt x="92847" y="87712"/>
                </a:cubicBezTo>
                <a:cubicBezTo>
                  <a:pt x="94201" y="88088"/>
                  <a:pt x="95630" y="88101"/>
                  <a:pt x="96990" y="87750"/>
                </a:cubicBezTo>
                <a:cubicBezTo>
                  <a:pt x="98350" y="87399"/>
                  <a:pt x="99595" y="86696"/>
                  <a:pt x="100597" y="85712"/>
                </a:cubicBezTo>
                <a:cubicBezTo>
                  <a:pt x="101600" y="84728"/>
                  <a:pt x="102326" y="83497"/>
                  <a:pt x="102702" y="82143"/>
                </a:cubicBezTo>
                <a:cubicBezTo>
                  <a:pt x="103078" y="80789"/>
                  <a:pt x="103091" y="79360"/>
                  <a:pt x="102740" y="78000"/>
                </a:cubicBezTo>
                <a:cubicBezTo>
                  <a:pt x="101183" y="71973"/>
                  <a:pt x="98240" y="66393"/>
                  <a:pt x="94146" y="61704"/>
                </a:cubicBezTo>
                <a:cubicBezTo>
                  <a:pt x="90053" y="57014"/>
                  <a:pt x="84921" y="53345"/>
                  <a:pt x="79160" y="50988"/>
                </a:cubicBezTo>
                <a:cubicBezTo>
                  <a:pt x="73398" y="48630"/>
                  <a:pt x="67166" y="47650"/>
                  <a:pt x="60960" y="48125"/>
                </a:cubicBezTo>
                <a:cubicBezTo>
                  <a:pt x="54753" y="48600"/>
                  <a:pt x="48742" y="50518"/>
                  <a:pt x="43407" y="53724"/>
                </a:cubicBezTo>
                <a:cubicBezTo>
                  <a:pt x="38072" y="56931"/>
                  <a:pt x="33558" y="61339"/>
                  <a:pt x="30226" y="66596"/>
                </a:cubicBezTo>
                <a:cubicBezTo>
                  <a:pt x="26894" y="71854"/>
                  <a:pt x="24835" y="77817"/>
                  <a:pt x="24213" y="84011"/>
                </a:cubicBezTo>
                <a:cubicBezTo>
                  <a:pt x="23591" y="90204"/>
                  <a:pt x="24423" y="96458"/>
                  <a:pt x="26642" y="102273"/>
                </a:cubicBezTo>
                <a:cubicBezTo>
                  <a:pt x="28862" y="108089"/>
                  <a:pt x="32409" y="113306"/>
                  <a:pt x="37000" y="117510"/>
                </a:cubicBezTo>
                <a:cubicBezTo>
                  <a:pt x="26134" y="122224"/>
                  <a:pt x="16687" y="129699"/>
                  <a:pt x="9600" y="139190"/>
                </a:cubicBezTo>
                <a:cubicBezTo>
                  <a:pt x="8757" y="140313"/>
                  <a:pt x="8224" y="141639"/>
                  <a:pt x="8055" y="143034"/>
                </a:cubicBezTo>
                <a:cubicBezTo>
                  <a:pt x="7886" y="144428"/>
                  <a:pt x="8088" y="145843"/>
                  <a:pt x="8639" y="147135"/>
                </a:cubicBezTo>
                <a:cubicBezTo>
                  <a:pt x="9190" y="148427"/>
                  <a:pt x="10072" y="149552"/>
                  <a:pt x="11195" y="150395"/>
                </a:cubicBezTo>
                <a:cubicBezTo>
                  <a:pt x="12318" y="151238"/>
                  <a:pt x="13644" y="151771"/>
                  <a:pt x="15039" y="151940"/>
                </a:cubicBezTo>
                <a:cubicBezTo>
                  <a:pt x="16433" y="152109"/>
                  <a:pt x="17848" y="151907"/>
                  <a:pt x="19140" y="151356"/>
                </a:cubicBezTo>
                <a:cubicBezTo>
                  <a:pt x="20432" y="150805"/>
                  <a:pt x="21557" y="149923"/>
                  <a:pt x="22400" y="148800"/>
                </a:cubicBezTo>
                <a:cubicBezTo>
                  <a:pt x="27222" y="142319"/>
                  <a:pt x="33498" y="137060"/>
                  <a:pt x="40724" y="133447"/>
                </a:cubicBezTo>
                <a:cubicBezTo>
                  <a:pt x="47949" y="129835"/>
                  <a:pt x="55922" y="127969"/>
                  <a:pt x="64000" y="128000"/>
                </a:cubicBezTo>
                <a:cubicBezTo>
                  <a:pt x="65404" y="128000"/>
                  <a:pt x="66784" y="127630"/>
                  <a:pt x="68000" y="126928"/>
                </a:cubicBezTo>
                <a:cubicBezTo>
                  <a:pt x="69216" y="126226"/>
                  <a:pt x="70226" y="125216"/>
                  <a:pt x="70928" y="124000"/>
                </a:cubicBezTo>
                <a:cubicBezTo>
                  <a:pt x="71630" y="122784"/>
                  <a:pt x="72000" y="121404"/>
                  <a:pt x="72000" y="120000"/>
                </a:cubicBezTo>
                <a:close/>
              </a:path>
            </a:pathLst>
          </a:custGeom>
          <a:solidFill>
            <a:srgbClr val="A7198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7" name="Google Shape;317;p20"/>
          <p:cNvSpPr/>
          <p:nvPr/>
        </p:nvSpPr>
        <p:spPr>
          <a:xfrm>
            <a:off x="2928699" y="3868293"/>
            <a:ext cx="292608" cy="292608"/>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20"/>
          <p:cNvSpPr txBox="1"/>
          <p:nvPr/>
        </p:nvSpPr>
        <p:spPr>
          <a:xfrm>
            <a:off x="2928699" y="3868293"/>
            <a:ext cx="292608" cy="292608"/>
          </a:xfrm>
          <a:prstGeom prst="rect">
            <a:avLst/>
          </a:prstGeom>
          <a:noFill/>
          <a:ln>
            <a:noFill/>
          </a:ln>
        </p:spPr>
        <p:txBody>
          <a:bodyPr anchorCtr="0" anchor="ctr" bIns="0" lIns="0" spcFirstLastPara="1" rIns="0" wrap="square" tIns="0">
            <a:spAutoFit/>
          </a:bodyPr>
          <a:lstStyle/>
          <a:p>
            <a:pPr indent="0" lvl="0" marL="0" marR="0" rtl="0" algn="ctr">
              <a:lnSpc>
                <a:spcPct val="112000"/>
              </a:lnSpc>
              <a:spcBef>
                <a:spcPts val="0"/>
              </a:spcBef>
              <a:spcAft>
                <a:spcPts val="0"/>
              </a:spcAft>
              <a:buNone/>
            </a:pPr>
            <a:r>
              <a:rPr b="1" i="0" lang="es-MX" sz="1100" u="none" cap="none" strike="noStrike">
                <a:solidFill>
                  <a:srgbClr val="0B2E6B"/>
                </a:solidFill>
                <a:latin typeface="Arial"/>
                <a:ea typeface="Arial"/>
                <a:cs typeface="Arial"/>
                <a:sym typeface="Arial"/>
              </a:rPr>
              <a:t>3</a:t>
            </a:r>
            <a:endParaRPr/>
          </a:p>
        </p:txBody>
      </p:sp>
      <p:sp>
        <p:nvSpPr>
          <p:cNvPr id="319" name="Google Shape;319;p20"/>
          <p:cNvSpPr txBox="1"/>
          <p:nvPr/>
        </p:nvSpPr>
        <p:spPr>
          <a:xfrm>
            <a:off x="783592" y="4362069"/>
            <a:ext cx="2425355" cy="871728"/>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s-MX" sz="1050" u="none" cap="none" strike="noStrike">
                <a:solidFill>
                  <a:srgbClr val="A71989"/>
                </a:solidFill>
                <a:latin typeface="Arial"/>
                <a:ea typeface="Arial"/>
                <a:cs typeface="Arial"/>
                <a:sym typeface="Arial"/>
              </a:rPr>
              <a:t>Responsabilidades claras</a:t>
            </a:r>
            <a:endParaRPr/>
          </a:p>
          <a:p>
            <a:pPr indent="0" lvl="0" marL="0" marR="0" rtl="0" algn="l">
              <a:lnSpc>
                <a:spcPct val="118000"/>
              </a:lnSpc>
              <a:spcBef>
                <a:spcPts val="300"/>
              </a:spcBef>
              <a:spcAft>
                <a:spcPts val="0"/>
              </a:spcAft>
              <a:buNone/>
            </a:pPr>
            <a:r>
              <a:rPr b="0" i="0" lang="es-MX" sz="950" u="none" cap="none" strike="noStrike">
                <a:solidFill>
                  <a:srgbClr val="3A3A48"/>
                </a:solidFill>
                <a:latin typeface="Arial"/>
                <a:ea typeface="Arial"/>
                <a:cs typeface="Arial"/>
                <a:sym typeface="Arial"/>
              </a:rPr>
              <a:t>Delimitación nítida de los márgenes y niveles de atribución de cada rol.</a:t>
            </a:r>
            <a:endParaRPr/>
          </a:p>
        </p:txBody>
      </p:sp>
      <p:sp>
        <p:nvSpPr>
          <p:cNvPr id="320" name="Google Shape;320;p20"/>
          <p:cNvSpPr/>
          <p:nvPr/>
        </p:nvSpPr>
        <p:spPr>
          <a:xfrm>
            <a:off x="3505539" y="3740277"/>
            <a:ext cx="2712380" cy="1557528"/>
          </a:xfrm>
          <a:prstGeom prst="roundRect">
            <a:avLst>
              <a:gd fmla="val 8219" name="adj"/>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1" name="Google Shape;321;p20"/>
          <p:cNvSpPr/>
          <p:nvPr/>
        </p:nvSpPr>
        <p:spPr>
          <a:xfrm>
            <a:off x="3658792" y="3868293"/>
            <a:ext cx="420624" cy="420624"/>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20"/>
          <p:cNvSpPr/>
          <p:nvPr/>
        </p:nvSpPr>
        <p:spPr>
          <a:xfrm>
            <a:off x="3751328" y="3960830"/>
            <a:ext cx="235549" cy="235549"/>
          </a:xfrm>
          <a:custGeom>
            <a:rect b="b" l="l" r="r" t="t"/>
            <a:pathLst>
              <a:path extrusionOk="0" h="256000" w="256000">
                <a:moveTo>
                  <a:pt x="254300" y="107910"/>
                </a:moveTo>
                <a:lnTo>
                  <a:pt x="228780" y="56850"/>
                </a:lnTo>
                <a:cubicBezTo>
                  <a:pt x="227840" y="54971"/>
                  <a:pt x="226539" y="53295"/>
                  <a:pt x="224951" y="51918"/>
                </a:cubicBezTo>
                <a:cubicBezTo>
                  <a:pt x="223363" y="50542"/>
                  <a:pt x="221520" y="49492"/>
                  <a:pt x="219526" y="48828"/>
                </a:cubicBezTo>
                <a:cubicBezTo>
                  <a:pt x="217532" y="48164"/>
                  <a:pt x="215427" y="47899"/>
                  <a:pt x="213331" y="48049"/>
                </a:cubicBezTo>
                <a:cubicBezTo>
                  <a:pt x="211235" y="48198"/>
                  <a:pt x="209189" y="48760"/>
                  <a:pt x="207310" y="49700"/>
                </a:cubicBezTo>
                <a:lnTo>
                  <a:pt x="182440" y="62130"/>
                </a:lnTo>
                <a:lnTo>
                  <a:pt x="130050" y="48270"/>
                </a:lnTo>
                <a:cubicBezTo>
                  <a:pt x="128706" y="47920"/>
                  <a:pt x="127294" y="47920"/>
                  <a:pt x="125950" y="48270"/>
                </a:cubicBezTo>
                <a:lnTo>
                  <a:pt x="73560" y="62130"/>
                </a:lnTo>
                <a:lnTo>
                  <a:pt x="48690" y="49700"/>
                </a:lnTo>
                <a:cubicBezTo>
                  <a:pt x="46811" y="48760"/>
                  <a:pt x="44765" y="48198"/>
                  <a:pt x="42669" y="48049"/>
                </a:cubicBezTo>
                <a:cubicBezTo>
                  <a:pt x="40573" y="47899"/>
                  <a:pt x="38468" y="48164"/>
                  <a:pt x="36474" y="48828"/>
                </a:cubicBezTo>
                <a:cubicBezTo>
                  <a:pt x="34480" y="49492"/>
                  <a:pt x="32637" y="50542"/>
                  <a:pt x="31049" y="51918"/>
                </a:cubicBezTo>
                <a:cubicBezTo>
                  <a:pt x="29461" y="53295"/>
                  <a:pt x="28160" y="54971"/>
                  <a:pt x="27220" y="56850"/>
                </a:cubicBezTo>
                <a:lnTo>
                  <a:pt x="1700" y="107900"/>
                </a:lnTo>
                <a:cubicBezTo>
                  <a:pt x="760" y="109779"/>
                  <a:pt x="198" y="111825"/>
                  <a:pt x="49" y="113921"/>
                </a:cubicBezTo>
                <a:cubicBezTo>
                  <a:pt x="-101" y="116017"/>
                  <a:pt x="164" y="118122"/>
                  <a:pt x="828" y="120116"/>
                </a:cubicBezTo>
                <a:cubicBezTo>
                  <a:pt x="1492" y="122110"/>
                  <a:pt x="2542" y="123953"/>
                  <a:pt x="3918" y="125541"/>
                </a:cubicBezTo>
                <a:cubicBezTo>
                  <a:pt x="5295" y="127129"/>
                  <a:pt x="6971" y="128430"/>
                  <a:pt x="8850" y="129370"/>
                </a:cubicBezTo>
                <a:lnTo>
                  <a:pt x="35850" y="142880"/>
                </a:lnTo>
                <a:lnTo>
                  <a:pt x="91340" y="182510"/>
                </a:lnTo>
                <a:cubicBezTo>
                  <a:pt x="92158" y="183092"/>
                  <a:pt x="93077" y="183516"/>
                  <a:pt x="94050" y="183760"/>
                </a:cubicBezTo>
                <a:lnTo>
                  <a:pt x="158050" y="199760"/>
                </a:lnTo>
                <a:cubicBezTo>
                  <a:pt x="159390" y="200096"/>
                  <a:pt x="160795" y="200079"/>
                  <a:pt x="162127" y="199711"/>
                </a:cubicBezTo>
                <a:cubicBezTo>
                  <a:pt x="163458" y="199343"/>
                  <a:pt x="164672" y="198637"/>
                  <a:pt x="165650" y="197660"/>
                </a:cubicBezTo>
                <a:lnTo>
                  <a:pt x="220720" y="142580"/>
                </a:lnTo>
                <a:lnTo>
                  <a:pt x="247140" y="129370"/>
                </a:lnTo>
                <a:cubicBezTo>
                  <a:pt x="249650" y="128113"/>
                  <a:pt x="251786" y="126218"/>
                  <a:pt x="253332" y="123875"/>
                </a:cubicBezTo>
                <a:cubicBezTo>
                  <a:pt x="254878" y="121532"/>
                  <a:pt x="255781" y="118823"/>
                  <a:pt x="255949" y="116021"/>
                </a:cubicBezTo>
                <a:cubicBezTo>
                  <a:pt x="256117" y="113219"/>
                  <a:pt x="255545" y="110421"/>
                  <a:pt x="254290" y="107910"/>
                </a:cubicBezTo>
                <a:close/>
                <a:moveTo>
                  <a:pt x="199410" y="141280"/>
                </a:moveTo>
                <a:lnTo>
                  <a:pt x="165000" y="113720"/>
                </a:lnTo>
                <a:cubicBezTo>
                  <a:pt x="163979" y="112902"/>
                  <a:pt x="162772" y="112347"/>
                  <a:pt x="161487" y="112104"/>
                </a:cubicBezTo>
                <a:cubicBezTo>
                  <a:pt x="160201" y="111861"/>
                  <a:pt x="158876" y="111936"/>
                  <a:pt x="157626" y="112324"/>
                </a:cubicBezTo>
                <a:cubicBezTo>
                  <a:pt x="156377" y="112713"/>
                  <a:pt x="155241" y="113401"/>
                  <a:pt x="154320" y="114330"/>
                </a:cubicBezTo>
                <a:cubicBezTo>
                  <a:pt x="136510" y="132270"/>
                  <a:pt x="116660" y="130000"/>
                  <a:pt x="104000" y="122000"/>
                </a:cubicBezTo>
                <a:lnTo>
                  <a:pt x="147240" y="80000"/>
                </a:lnTo>
                <a:lnTo>
                  <a:pt x="179050" y="80000"/>
                </a:lnTo>
                <a:lnTo>
                  <a:pt x="206260" y="134410"/>
                </a:lnTo>
                <a:close/>
                <a:moveTo>
                  <a:pt x="41530" y="64000"/>
                </a:moveTo>
                <a:lnTo>
                  <a:pt x="62000" y="74220"/>
                </a:lnTo>
                <a:lnTo>
                  <a:pt x="36430" y="125270"/>
                </a:lnTo>
                <a:lnTo>
                  <a:pt x="16000" y="115060"/>
                </a:lnTo>
                <a:close/>
                <a:moveTo>
                  <a:pt x="157530" y="183130"/>
                </a:moveTo>
                <a:lnTo>
                  <a:pt x="99420" y="168610"/>
                </a:lnTo>
                <a:lnTo>
                  <a:pt x="50220" y="133470"/>
                </a:lnTo>
                <a:lnTo>
                  <a:pt x="78220" y="77470"/>
                </a:lnTo>
                <a:lnTo>
                  <a:pt x="128000" y="64280"/>
                </a:lnTo>
                <a:lnTo>
                  <a:pt x="137800" y="66870"/>
                </a:lnTo>
                <a:lnTo>
                  <a:pt x="92800" y="110550"/>
                </a:lnTo>
                <a:lnTo>
                  <a:pt x="92720" y="110640"/>
                </a:lnTo>
                <a:cubicBezTo>
                  <a:pt x="91026" y="112334"/>
                  <a:pt x="89734" y="114387"/>
                  <a:pt x="88939" y="116647"/>
                </a:cubicBezTo>
                <a:cubicBezTo>
                  <a:pt x="88145" y="118906"/>
                  <a:pt x="87868" y="121316"/>
                  <a:pt x="88129" y="123697"/>
                </a:cubicBezTo>
                <a:cubicBezTo>
                  <a:pt x="88390" y="126079"/>
                  <a:pt x="89183" y="128371"/>
                  <a:pt x="90448" y="130405"/>
                </a:cubicBezTo>
                <a:cubicBezTo>
                  <a:pt x="91713" y="132439"/>
                  <a:pt x="93419" y="134163"/>
                  <a:pt x="95440" y="135450"/>
                </a:cubicBezTo>
                <a:cubicBezTo>
                  <a:pt x="116000" y="148580"/>
                  <a:pt x="140810" y="146450"/>
                  <a:pt x="160350" y="130450"/>
                </a:cubicBezTo>
                <a:lnTo>
                  <a:pt x="188000" y="152660"/>
                </a:lnTo>
                <a:close/>
                <a:moveTo>
                  <a:pt x="219530" y="125260"/>
                </a:moveTo>
                <a:lnTo>
                  <a:pt x="194010" y="74260"/>
                </a:lnTo>
                <a:lnTo>
                  <a:pt x="214470" y="64000"/>
                </a:lnTo>
                <a:lnTo>
                  <a:pt x="240000" y="115060"/>
                </a:lnTo>
                <a:close/>
                <a:moveTo>
                  <a:pt x="131780" y="217930"/>
                </a:moveTo>
                <a:cubicBezTo>
                  <a:pt x="131493" y="219077"/>
                  <a:pt x="130956" y="220146"/>
                  <a:pt x="130207" y="221060"/>
                </a:cubicBezTo>
                <a:cubicBezTo>
                  <a:pt x="129458" y="221975"/>
                  <a:pt x="128515" y="222712"/>
                  <a:pt x="127447" y="223218"/>
                </a:cubicBezTo>
                <a:cubicBezTo>
                  <a:pt x="126379" y="223725"/>
                  <a:pt x="125212" y="223988"/>
                  <a:pt x="124030" y="223990"/>
                </a:cubicBezTo>
                <a:cubicBezTo>
                  <a:pt x="123373" y="223989"/>
                  <a:pt x="122718" y="223909"/>
                  <a:pt x="122080" y="223750"/>
                </a:cubicBezTo>
                <a:lnTo>
                  <a:pt x="80410" y="213330"/>
                </a:lnTo>
                <a:cubicBezTo>
                  <a:pt x="79435" y="213090"/>
                  <a:pt x="78516" y="212665"/>
                  <a:pt x="77700" y="212080"/>
                </a:cubicBezTo>
                <a:lnTo>
                  <a:pt x="51350" y="193260"/>
                </a:lnTo>
                <a:cubicBezTo>
                  <a:pt x="50277" y="192418"/>
                  <a:pt x="49438" y="191315"/>
                  <a:pt x="48911" y="190057"/>
                </a:cubicBezTo>
                <a:cubicBezTo>
                  <a:pt x="48384" y="188799"/>
                  <a:pt x="48188" y="187427"/>
                  <a:pt x="48341" y="186072"/>
                </a:cubicBezTo>
                <a:cubicBezTo>
                  <a:pt x="48494" y="184716"/>
                  <a:pt x="48990" y="183422"/>
                  <a:pt x="49784" y="182313"/>
                </a:cubicBezTo>
                <a:cubicBezTo>
                  <a:pt x="50577" y="181204"/>
                  <a:pt x="51642" y="180316"/>
                  <a:pt x="52875" y="179734"/>
                </a:cubicBezTo>
                <a:cubicBezTo>
                  <a:pt x="54108" y="179151"/>
                  <a:pt x="55470" y="178894"/>
                  <a:pt x="56831" y="178986"/>
                </a:cubicBezTo>
                <a:cubicBezTo>
                  <a:pt x="58192" y="179078"/>
                  <a:pt x="59506" y="179517"/>
                  <a:pt x="60650" y="180260"/>
                </a:cubicBezTo>
                <a:lnTo>
                  <a:pt x="85760" y="198200"/>
                </a:lnTo>
                <a:lnTo>
                  <a:pt x="126000" y="208240"/>
                </a:lnTo>
                <a:cubicBezTo>
                  <a:pt x="127362" y="208581"/>
                  <a:pt x="128611" y="209274"/>
                  <a:pt x="129620" y="210250"/>
                </a:cubicBezTo>
                <a:cubicBezTo>
                  <a:pt x="130629" y="211226"/>
                  <a:pt x="131364" y="212450"/>
                  <a:pt x="131750" y="213800"/>
                </a:cubicBezTo>
                <a:cubicBezTo>
                  <a:pt x="132136" y="215150"/>
                  <a:pt x="132160" y="216578"/>
                  <a:pt x="131820" y="217940"/>
                </a:cubicBezTo>
                <a:close/>
              </a:path>
            </a:pathLst>
          </a:custGeom>
          <a:solidFill>
            <a:srgbClr val="2F6FE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3" name="Google Shape;323;p20"/>
          <p:cNvSpPr/>
          <p:nvPr/>
        </p:nvSpPr>
        <p:spPr>
          <a:xfrm>
            <a:off x="5794159" y="3868293"/>
            <a:ext cx="292608" cy="292608"/>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4" name="Google Shape;324;p20"/>
          <p:cNvSpPr txBox="1"/>
          <p:nvPr/>
        </p:nvSpPr>
        <p:spPr>
          <a:xfrm>
            <a:off x="5794159" y="3868293"/>
            <a:ext cx="292608" cy="292608"/>
          </a:xfrm>
          <a:prstGeom prst="rect">
            <a:avLst/>
          </a:prstGeom>
          <a:noFill/>
          <a:ln>
            <a:noFill/>
          </a:ln>
        </p:spPr>
        <p:txBody>
          <a:bodyPr anchorCtr="0" anchor="ctr" bIns="0" lIns="0" spcFirstLastPara="1" rIns="0" wrap="square" tIns="0">
            <a:spAutoFit/>
          </a:bodyPr>
          <a:lstStyle/>
          <a:p>
            <a:pPr indent="0" lvl="0" marL="0" marR="0" rtl="0" algn="ctr">
              <a:lnSpc>
                <a:spcPct val="112000"/>
              </a:lnSpc>
              <a:spcBef>
                <a:spcPts val="0"/>
              </a:spcBef>
              <a:spcAft>
                <a:spcPts val="0"/>
              </a:spcAft>
              <a:buNone/>
            </a:pPr>
            <a:r>
              <a:rPr b="1" i="0" lang="es-MX" sz="1100" u="none" cap="none" strike="noStrike">
                <a:solidFill>
                  <a:srgbClr val="0B2E6B"/>
                </a:solidFill>
                <a:latin typeface="Arial"/>
                <a:ea typeface="Arial"/>
                <a:cs typeface="Arial"/>
                <a:sym typeface="Arial"/>
              </a:rPr>
              <a:t>4</a:t>
            </a:r>
            <a:endParaRPr/>
          </a:p>
        </p:txBody>
      </p:sp>
      <p:sp>
        <p:nvSpPr>
          <p:cNvPr id="325" name="Google Shape;325;p20"/>
          <p:cNvSpPr txBox="1"/>
          <p:nvPr/>
        </p:nvSpPr>
        <p:spPr>
          <a:xfrm>
            <a:off x="3649052" y="4362069"/>
            <a:ext cx="2425355" cy="871728"/>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s-MX" sz="1050" u="none" cap="none" strike="noStrike">
                <a:solidFill>
                  <a:srgbClr val="0B2E6B"/>
                </a:solidFill>
                <a:latin typeface="Arial"/>
                <a:ea typeface="Arial"/>
                <a:cs typeface="Arial"/>
                <a:sym typeface="Arial"/>
              </a:rPr>
              <a:t>Confianza</a:t>
            </a:r>
            <a:endParaRPr b="1" i="0" sz="1050" u="none" cap="none" strike="noStrike">
              <a:solidFill>
                <a:srgbClr val="FFFFFF"/>
              </a:solidFill>
              <a:latin typeface="Arial"/>
              <a:ea typeface="Arial"/>
              <a:cs typeface="Arial"/>
              <a:sym typeface="Arial"/>
            </a:endParaRPr>
          </a:p>
          <a:p>
            <a:pPr indent="0" lvl="0" marL="0" marR="0" rtl="0" algn="l">
              <a:lnSpc>
                <a:spcPct val="118000"/>
              </a:lnSpc>
              <a:spcBef>
                <a:spcPts val="300"/>
              </a:spcBef>
              <a:spcAft>
                <a:spcPts val="0"/>
              </a:spcAft>
              <a:buNone/>
            </a:pPr>
            <a:r>
              <a:rPr b="0" i="0" lang="es-MX" sz="950" u="none" cap="none" strike="noStrike">
                <a:solidFill>
                  <a:srgbClr val="3A3A48"/>
                </a:solidFill>
                <a:latin typeface="Arial"/>
                <a:ea typeface="Arial"/>
                <a:cs typeface="Arial"/>
                <a:sym typeface="Arial"/>
              </a:rPr>
              <a:t>Seguridad psicológica y respaldo mutuo para experimentar sin castigar el aprendizaje derivado del error.</a:t>
            </a:r>
            <a:endParaRPr/>
          </a:p>
        </p:txBody>
      </p:sp>
      <p:sp>
        <p:nvSpPr>
          <p:cNvPr id="326" name="Google Shape;326;p20"/>
          <p:cNvSpPr/>
          <p:nvPr/>
        </p:nvSpPr>
        <p:spPr>
          <a:xfrm>
            <a:off x="640080" y="5489829"/>
            <a:ext cx="5577840" cy="965835"/>
          </a:xfrm>
          <a:prstGeom prst="roundRect">
            <a:avLst>
              <a:gd fmla="val 9372" name="adj"/>
            </a:avLst>
          </a:prstGeom>
          <a:solidFill>
            <a:srgbClr val="E5E6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7" name="Google Shape;327;p20"/>
          <p:cNvSpPr/>
          <p:nvPr/>
        </p:nvSpPr>
        <p:spPr>
          <a:xfrm>
            <a:off x="823940" y="5721286"/>
            <a:ext cx="502920" cy="50292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20"/>
          <p:cNvSpPr/>
          <p:nvPr/>
        </p:nvSpPr>
        <p:spPr>
          <a:xfrm>
            <a:off x="934582" y="5831929"/>
            <a:ext cx="281635" cy="281635"/>
          </a:xfrm>
          <a:custGeom>
            <a:rect b="b" l="l" r="r" t="t"/>
            <a:pathLst>
              <a:path extrusionOk="0" h="256000" w="256000">
                <a:moveTo>
                  <a:pt x="128000" y="24000"/>
                </a:moveTo>
                <a:cubicBezTo>
                  <a:pt x="109746" y="24000"/>
                  <a:pt x="91809" y="28806"/>
                  <a:pt x="76000" y="37933"/>
                </a:cubicBezTo>
                <a:cubicBezTo>
                  <a:pt x="60191" y="47061"/>
                  <a:pt x="47061" y="60191"/>
                  <a:pt x="37933" y="76000"/>
                </a:cubicBezTo>
                <a:cubicBezTo>
                  <a:pt x="28806" y="91809"/>
                  <a:pt x="24000" y="109746"/>
                  <a:pt x="24000" y="128000"/>
                </a:cubicBezTo>
                <a:cubicBezTo>
                  <a:pt x="24000" y="146254"/>
                  <a:pt x="28806" y="164191"/>
                  <a:pt x="37933" y="180000"/>
                </a:cubicBezTo>
                <a:cubicBezTo>
                  <a:pt x="47061" y="195809"/>
                  <a:pt x="60191" y="208939"/>
                  <a:pt x="76000" y="218067"/>
                </a:cubicBezTo>
                <a:cubicBezTo>
                  <a:pt x="91809" y="227194"/>
                  <a:pt x="109746" y="232000"/>
                  <a:pt x="128000" y="232000"/>
                </a:cubicBezTo>
                <a:cubicBezTo>
                  <a:pt x="146254" y="232000"/>
                  <a:pt x="164191" y="227194"/>
                  <a:pt x="180000" y="218067"/>
                </a:cubicBezTo>
                <a:cubicBezTo>
                  <a:pt x="195809" y="208939"/>
                  <a:pt x="208939" y="195809"/>
                  <a:pt x="218067" y="180000"/>
                </a:cubicBezTo>
                <a:cubicBezTo>
                  <a:pt x="227194" y="164191"/>
                  <a:pt x="232000" y="146254"/>
                  <a:pt x="232000" y="128000"/>
                </a:cubicBezTo>
                <a:cubicBezTo>
                  <a:pt x="231981" y="109751"/>
                  <a:pt x="227164" y="91824"/>
                  <a:pt x="218034" y="76023"/>
                </a:cubicBezTo>
                <a:cubicBezTo>
                  <a:pt x="208904" y="60222"/>
                  <a:pt x="195778" y="47096"/>
                  <a:pt x="179977" y="37966"/>
                </a:cubicBezTo>
                <a:cubicBezTo>
                  <a:pt x="164176" y="28836"/>
                  <a:pt x="146249" y="24019"/>
                  <a:pt x="128000" y="24000"/>
                </a:cubicBezTo>
                <a:close/>
                <a:moveTo>
                  <a:pt x="128000" y="216000"/>
                </a:moveTo>
                <a:cubicBezTo>
                  <a:pt x="112554" y="216000"/>
                  <a:pt x="97377" y="211933"/>
                  <a:pt x="84000" y="204210"/>
                </a:cubicBezTo>
                <a:cubicBezTo>
                  <a:pt x="70623" y="196487"/>
                  <a:pt x="59513" y="185377"/>
                  <a:pt x="51790" y="172000"/>
                </a:cubicBezTo>
                <a:cubicBezTo>
                  <a:pt x="44067" y="158623"/>
                  <a:pt x="40000" y="143446"/>
                  <a:pt x="40000" y="128000"/>
                </a:cubicBezTo>
                <a:cubicBezTo>
                  <a:pt x="40000" y="112554"/>
                  <a:pt x="44067" y="97377"/>
                  <a:pt x="51790" y="84000"/>
                </a:cubicBezTo>
                <a:cubicBezTo>
                  <a:pt x="59513" y="70623"/>
                  <a:pt x="70623" y="59513"/>
                  <a:pt x="84000" y="51790"/>
                </a:cubicBezTo>
                <a:cubicBezTo>
                  <a:pt x="97377" y="44067"/>
                  <a:pt x="112554" y="40000"/>
                  <a:pt x="128000" y="40000"/>
                </a:cubicBezTo>
                <a:cubicBezTo>
                  <a:pt x="143446" y="40000"/>
                  <a:pt x="158623" y="44067"/>
                  <a:pt x="172000" y="51790"/>
                </a:cubicBezTo>
                <a:cubicBezTo>
                  <a:pt x="185377" y="59513"/>
                  <a:pt x="196487" y="70623"/>
                  <a:pt x="204210" y="84000"/>
                </a:cubicBezTo>
                <a:cubicBezTo>
                  <a:pt x="211933" y="97377"/>
                  <a:pt x="216000" y="112554"/>
                  <a:pt x="216000" y="128000"/>
                </a:cubicBezTo>
                <a:cubicBezTo>
                  <a:pt x="215982" y="143441"/>
                  <a:pt x="211906" y="158609"/>
                  <a:pt x="204180" y="171979"/>
                </a:cubicBezTo>
                <a:cubicBezTo>
                  <a:pt x="196455" y="185348"/>
                  <a:pt x="185348" y="196455"/>
                  <a:pt x="171979" y="204180"/>
                </a:cubicBezTo>
                <a:cubicBezTo>
                  <a:pt x="158609" y="211906"/>
                  <a:pt x="143441" y="215982"/>
                  <a:pt x="128000" y="216000"/>
                </a:cubicBezTo>
                <a:close/>
                <a:moveTo>
                  <a:pt x="172420" y="72840"/>
                </a:moveTo>
                <a:lnTo>
                  <a:pt x="108420" y="104840"/>
                </a:lnTo>
                <a:cubicBezTo>
                  <a:pt x="107651" y="105226"/>
                  <a:pt x="106949" y="105733"/>
                  <a:pt x="106341" y="106341"/>
                </a:cubicBezTo>
                <a:cubicBezTo>
                  <a:pt x="105733" y="106949"/>
                  <a:pt x="105226" y="107651"/>
                  <a:pt x="104840" y="108420"/>
                </a:cubicBezTo>
                <a:lnTo>
                  <a:pt x="72840" y="172420"/>
                </a:lnTo>
                <a:cubicBezTo>
                  <a:pt x="72229" y="173640"/>
                  <a:pt x="71941" y="174996"/>
                  <a:pt x="72002" y="176359"/>
                </a:cubicBezTo>
                <a:cubicBezTo>
                  <a:pt x="72064" y="177722"/>
                  <a:pt x="72472" y="179047"/>
                  <a:pt x="73190" y="180207"/>
                </a:cubicBezTo>
                <a:cubicBezTo>
                  <a:pt x="73907" y="181368"/>
                  <a:pt x="74910" y="182325"/>
                  <a:pt x="76102" y="182989"/>
                </a:cubicBezTo>
                <a:cubicBezTo>
                  <a:pt x="77294" y="183653"/>
                  <a:pt x="78636" y="184001"/>
                  <a:pt x="80000" y="184000"/>
                </a:cubicBezTo>
                <a:cubicBezTo>
                  <a:pt x="81242" y="183998"/>
                  <a:pt x="82467" y="183711"/>
                  <a:pt x="83580" y="183160"/>
                </a:cubicBezTo>
                <a:lnTo>
                  <a:pt x="147580" y="151160"/>
                </a:lnTo>
                <a:cubicBezTo>
                  <a:pt x="148349" y="150774"/>
                  <a:pt x="149051" y="150267"/>
                  <a:pt x="149659" y="149659"/>
                </a:cubicBezTo>
                <a:cubicBezTo>
                  <a:pt x="150267" y="149051"/>
                  <a:pt x="150774" y="148349"/>
                  <a:pt x="151160" y="147580"/>
                </a:cubicBezTo>
                <a:lnTo>
                  <a:pt x="183160" y="83580"/>
                </a:lnTo>
                <a:cubicBezTo>
                  <a:pt x="183762" y="82381"/>
                  <a:pt x="184053" y="81051"/>
                  <a:pt x="184007" y="79710"/>
                </a:cubicBezTo>
                <a:cubicBezTo>
                  <a:pt x="183960" y="78370"/>
                  <a:pt x="183577" y="77062"/>
                  <a:pt x="182893" y="75908"/>
                </a:cubicBezTo>
                <a:cubicBezTo>
                  <a:pt x="182209" y="74755"/>
                  <a:pt x="181245" y="73791"/>
                  <a:pt x="180092" y="73107"/>
                </a:cubicBezTo>
                <a:cubicBezTo>
                  <a:pt x="178938" y="72423"/>
                  <a:pt x="177630" y="72040"/>
                  <a:pt x="176290" y="71993"/>
                </a:cubicBezTo>
                <a:cubicBezTo>
                  <a:pt x="174949" y="71947"/>
                  <a:pt x="173619" y="72238"/>
                  <a:pt x="172420" y="72840"/>
                </a:cubicBezTo>
                <a:close/>
                <a:moveTo>
                  <a:pt x="138000" y="138000"/>
                </a:moveTo>
                <a:lnTo>
                  <a:pt x="97890" y="158110"/>
                </a:lnTo>
                <a:lnTo>
                  <a:pt x="118000" y="118000"/>
                </a:lnTo>
                <a:lnTo>
                  <a:pt x="158150" y="97930"/>
                </a:lnTo>
                <a:close/>
              </a:path>
            </a:pathLst>
          </a:custGeom>
          <a:solidFill>
            <a:srgbClr val="0B2E6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9" name="Google Shape;329;p20"/>
          <p:cNvSpPr txBox="1"/>
          <p:nvPr/>
        </p:nvSpPr>
        <p:spPr>
          <a:xfrm>
            <a:off x="1482018" y="5654421"/>
            <a:ext cx="4573254" cy="636651"/>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1" i="0" lang="es-MX" sz="1050" u="none" cap="none" strike="noStrike">
                <a:solidFill>
                  <a:srgbClr val="024791"/>
                </a:solidFill>
                <a:latin typeface="Arial"/>
                <a:ea typeface="Arial"/>
                <a:cs typeface="Arial"/>
                <a:sym typeface="Arial"/>
              </a:rPr>
              <a:t>Resultado: capacidad para tomar decisiones. </a:t>
            </a:r>
            <a:r>
              <a:rPr b="0" i="0" lang="es-MX" sz="1050" u="none" cap="none" strike="noStrike">
                <a:solidFill>
                  <a:srgbClr val="332F37"/>
                </a:solidFill>
                <a:latin typeface="Arial"/>
                <a:ea typeface="Arial"/>
                <a:cs typeface="Arial"/>
                <a:sym typeface="Arial"/>
              </a:rPr>
              <a:t>La autonomía no es independencia aislada; es la facultad de intervenir y resolver con criterio propio dentro de un marco compartido.</a:t>
            </a:r>
            <a:endParaRPr/>
          </a:p>
        </p:txBody>
      </p:sp>
      <p:sp>
        <p:nvSpPr>
          <p:cNvPr id="330" name="Google Shape;330;p20"/>
          <p:cNvSpPr txBox="1"/>
          <p:nvPr/>
        </p:nvSpPr>
        <p:spPr>
          <a:xfrm>
            <a:off x="640080" y="6620256"/>
            <a:ext cx="5577840" cy="726948"/>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s-MX" sz="1100" u="none" cap="none" strike="noStrike">
                <a:solidFill>
                  <a:srgbClr val="56505B"/>
                </a:solidFill>
                <a:latin typeface="Arial"/>
                <a:ea typeface="Arial"/>
                <a:cs typeface="Arial"/>
                <a:sym typeface="Arial"/>
              </a:rPr>
              <a:t>La autonomía tampoco significa trabajar sin coordinación. Implica comprender el propósito compartido, contar con información suficiente y reconocer los márgenes dentro de los cuales podemos tomar decisiones.</a:t>
            </a:r>
            <a:endParaRPr/>
          </a:p>
        </p:txBody>
      </p:sp>
      <p:sp>
        <p:nvSpPr>
          <p:cNvPr id="331" name="Google Shape;331;p20"/>
          <p:cNvSpPr txBox="1"/>
          <p:nvPr/>
        </p:nvSpPr>
        <p:spPr>
          <a:xfrm>
            <a:off x="640080" y="7475220"/>
            <a:ext cx="5577840" cy="201168"/>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1" lang="es-MX" sz="950" u="none" cap="none" strike="noStrike">
                <a:solidFill>
                  <a:srgbClr val="7B7480"/>
                </a:solidFill>
                <a:latin typeface="Arial"/>
                <a:ea typeface="Arial"/>
                <a:cs typeface="Arial"/>
                <a:sym typeface="Arial"/>
              </a:rPr>
              <a:t>Fuente: elaboración propia.</a:t>
            </a:r>
            <a:endParaRPr/>
          </a:p>
        </p:txBody>
      </p:sp>
      <p:cxnSp>
        <p:nvCxnSpPr>
          <p:cNvPr id="332" name="Google Shape;332;p20"/>
          <p:cNvCxnSpPr/>
          <p:nvPr/>
        </p:nvCxnSpPr>
        <p:spPr>
          <a:xfrm>
            <a:off x="748527" y="5489829"/>
            <a:ext cx="1047572" cy="0"/>
          </a:xfrm>
          <a:prstGeom prst="straightConnector1">
            <a:avLst/>
          </a:prstGeom>
          <a:noFill/>
          <a:ln cap="flat" cmpd="sng" w="53975">
            <a:solidFill>
              <a:srgbClr val="73CDEB"/>
            </a:solidFill>
            <a:prstDash val="solid"/>
            <a:round/>
            <a:headEnd len="med" w="med" type="oval"/>
            <a:tailEnd len="med" w="med" type="oval"/>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1"/>
          <p:cNvSpPr/>
          <p:nvPr/>
        </p:nvSpPr>
        <p:spPr>
          <a:xfrm>
            <a:off x="638485" y="723900"/>
            <a:ext cx="4086110"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Agilidad más allá de las herramientas</a:t>
            </a:r>
            <a:endParaRPr b="0" i="0" sz="1400" u="none" cap="none" strike="noStrike">
              <a:solidFill>
                <a:srgbClr val="000000"/>
              </a:solidFill>
              <a:latin typeface="Arial"/>
              <a:ea typeface="Arial"/>
              <a:cs typeface="Arial"/>
              <a:sym typeface="Arial"/>
            </a:endParaRPr>
          </a:p>
        </p:txBody>
      </p:sp>
      <p:sp>
        <p:nvSpPr>
          <p:cNvPr id="338" name="Google Shape;338;p21"/>
          <p:cNvSpPr txBox="1"/>
          <p:nvPr/>
        </p:nvSpPr>
        <p:spPr>
          <a:xfrm>
            <a:off x="640080" y="1234440"/>
            <a:ext cx="5577840" cy="279654"/>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MX" sz="1450" u="none" cap="none" strike="noStrike">
                <a:solidFill>
                  <a:srgbClr val="664092"/>
                </a:solidFill>
                <a:latin typeface="Arial"/>
                <a:ea typeface="Arial"/>
                <a:cs typeface="Arial"/>
                <a:sym typeface="Arial"/>
              </a:rPr>
              <a:t>Cuando seguimos prácticas sin preguntarnos para qué</a:t>
            </a:r>
            <a:endParaRPr b="1" i="0" sz="1450" u="none" cap="none" strike="noStrike">
              <a:solidFill>
                <a:srgbClr val="664092"/>
              </a:solidFill>
              <a:latin typeface="Arial"/>
              <a:ea typeface="Arial"/>
              <a:cs typeface="Arial"/>
              <a:sym typeface="Arial"/>
            </a:endParaRPr>
          </a:p>
        </p:txBody>
      </p:sp>
      <p:sp>
        <p:nvSpPr>
          <p:cNvPr id="339" name="Google Shape;339;p21"/>
          <p:cNvSpPr txBox="1"/>
          <p:nvPr/>
        </p:nvSpPr>
        <p:spPr>
          <a:xfrm>
            <a:off x="640080" y="1623822"/>
            <a:ext cx="5577840" cy="1162812"/>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s-MX" sz="1100" u="none" cap="none" strike="noStrike">
                <a:solidFill>
                  <a:srgbClr val="56505B"/>
                </a:solidFill>
                <a:latin typeface="Arial"/>
                <a:ea typeface="Arial"/>
                <a:cs typeface="Arial"/>
                <a:sym typeface="Arial"/>
              </a:rPr>
              <a:t>También podemos caer en una agilidad de apariencia cuando reproducimos reuniones, roles o herramientas porque forman parte de un determinado enfoque, pero dejamos de preguntarnos qué necesidad ayudan a resolver. Las herramientas deberían estar al servicio del trabajo y no convertirse en el objetivo de la transformación.</a:t>
            </a:r>
            <a:endParaRPr/>
          </a:p>
        </p:txBody>
      </p:sp>
      <p:sp>
        <p:nvSpPr>
          <p:cNvPr id="340" name="Google Shape;340;p21"/>
          <p:cNvSpPr txBox="1"/>
          <p:nvPr/>
        </p:nvSpPr>
        <p:spPr>
          <a:xfrm>
            <a:off x="640080" y="2960370"/>
            <a:ext cx="557784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MX" sz="950" u="none" cap="none" strike="noStrike">
                <a:solidFill>
                  <a:srgbClr val="3560D6"/>
                </a:solidFill>
                <a:latin typeface="Arial"/>
                <a:ea typeface="Arial"/>
                <a:cs typeface="Arial"/>
                <a:sym typeface="Arial"/>
              </a:rPr>
              <a:t>CASO ILUSTRATIVO · CRITERIO DE SELECCIÓN</a:t>
            </a:r>
            <a:endParaRPr/>
          </a:p>
        </p:txBody>
      </p:sp>
      <p:sp>
        <p:nvSpPr>
          <p:cNvPr id="341" name="Google Shape;341;p21"/>
          <p:cNvSpPr txBox="1"/>
          <p:nvPr/>
        </p:nvSpPr>
        <p:spPr>
          <a:xfrm>
            <a:off x="640080" y="3198114"/>
            <a:ext cx="5577840" cy="25450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MX" sz="1300" u="none" cap="none" strike="noStrike">
                <a:solidFill>
                  <a:srgbClr val="664092"/>
                </a:solidFill>
                <a:latin typeface="Arial"/>
                <a:ea typeface="Arial"/>
                <a:cs typeface="Arial"/>
                <a:sym typeface="Arial"/>
              </a:rPr>
              <a:t>¿Adoptar por etiqueta o por necesidad real?</a:t>
            </a:r>
            <a:endParaRPr/>
          </a:p>
        </p:txBody>
      </p:sp>
      <p:sp>
        <p:nvSpPr>
          <p:cNvPr id="342" name="Google Shape;342;p21"/>
          <p:cNvSpPr/>
          <p:nvPr/>
        </p:nvSpPr>
        <p:spPr>
          <a:xfrm>
            <a:off x="640080" y="3544062"/>
            <a:ext cx="5577840" cy="2492502"/>
          </a:xfrm>
          <a:prstGeom prst="roundRect">
            <a:avLst>
              <a:gd fmla="val 5136" name="adj"/>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21"/>
          <p:cNvSpPr/>
          <p:nvPr/>
        </p:nvSpPr>
        <p:spPr>
          <a:xfrm>
            <a:off x="821611" y="3672078"/>
            <a:ext cx="402336" cy="402336"/>
          </a:xfrm>
          <a:prstGeom prst="ellipse">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21"/>
          <p:cNvSpPr/>
          <p:nvPr/>
        </p:nvSpPr>
        <p:spPr>
          <a:xfrm>
            <a:off x="910125" y="3760592"/>
            <a:ext cx="225308" cy="225308"/>
          </a:xfrm>
          <a:custGeom>
            <a:rect b="b" l="l" r="r" t="t"/>
            <a:pathLst>
              <a:path extrusionOk="0" h="256000" w="256000">
                <a:moveTo>
                  <a:pt x="216000" y="48000"/>
                </a:moveTo>
                <a:lnTo>
                  <a:pt x="40000" y="48000"/>
                </a:lnTo>
                <a:cubicBezTo>
                  <a:pt x="38596" y="48000"/>
                  <a:pt x="37216" y="48370"/>
                  <a:pt x="36000" y="49072"/>
                </a:cubicBezTo>
                <a:cubicBezTo>
                  <a:pt x="34784" y="49774"/>
                  <a:pt x="33774" y="50784"/>
                  <a:pt x="33072" y="52000"/>
                </a:cubicBezTo>
                <a:cubicBezTo>
                  <a:pt x="32370" y="53216"/>
                  <a:pt x="32000" y="54596"/>
                  <a:pt x="32000" y="56000"/>
                </a:cubicBezTo>
                <a:lnTo>
                  <a:pt x="32000" y="208000"/>
                </a:lnTo>
                <a:cubicBezTo>
                  <a:pt x="32000" y="210808"/>
                  <a:pt x="32739" y="213568"/>
                  <a:pt x="34144" y="216000"/>
                </a:cubicBezTo>
                <a:cubicBezTo>
                  <a:pt x="35548" y="218432"/>
                  <a:pt x="37568" y="220452"/>
                  <a:pt x="40000" y="221856"/>
                </a:cubicBezTo>
                <a:cubicBezTo>
                  <a:pt x="42432" y="223261"/>
                  <a:pt x="45192" y="224000"/>
                  <a:pt x="48000" y="224000"/>
                </a:cubicBezTo>
                <a:lnTo>
                  <a:pt x="88000" y="224000"/>
                </a:lnTo>
                <a:cubicBezTo>
                  <a:pt x="90808" y="224000"/>
                  <a:pt x="93568" y="223261"/>
                  <a:pt x="96000" y="221856"/>
                </a:cubicBezTo>
                <a:cubicBezTo>
                  <a:pt x="98432" y="220452"/>
                  <a:pt x="100452" y="218432"/>
                  <a:pt x="101856" y="216000"/>
                </a:cubicBezTo>
                <a:cubicBezTo>
                  <a:pt x="103261" y="213568"/>
                  <a:pt x="104000" y="210808"/>
                  <a:pt x="104000" y="208000"/>
                </a:cubicBezTo>
                <a:lnTo>
                  <a:pt x="104000" y="160000"/>
                </a:lnTo>
                <a:lnTo>
                  <a:pt x="152000" y="160000"/>
                </a:lnTo>
                <a:lnTo>
                  <a:pt x="152000" y="176000"/>
                </a:lnTo>
                <a:cubicBezTo>
                  <a:pt x="152000" y="178808"/>
                  <a:pt x="152739" y="181568"/>
                  <a:pt x="154144" y="184000"/>
                </a:cubicBezTo>
                <a:cubicBezTo>
                  <a:pt x="155548" y="186432"/>
                  <a:pt x="157568" y="188452"/>
                  <a:pt x="160000" y="189856"/>
                </a:cubicBezTo>
                <a:cubicBezTo>
                  <a:pt x="162432" y="191261"/>
                  <a:pt x="165192" y="192000"/>
                  <a:pt x="168000" y="192000"/>
                </a:cubicBezTo>
                <a:lnTo>
                  <a:pt x="208000" y="192000"/>
                </a:lnTo>
                <a:cubicBezTo>
                  <a:pt x="210808" y="192000"/>
                  <a:pt x="213568" y="191261"/>
                  <a:pt x="216000" y="189856"/>
                </a:cubicBezTo>
                <a:cubicBezTo>
                  <a:pt x="218432" y="188452"/>
                  <a:pt x="220452" y="186432"/>
                  <a:pt x="221856" y="184000"/>
                </a:cubicBezTo>
                <a:cubicBezTo>
                  <a:pt x="223261" y="181568"/>
                  <a:pt x="224000" y="178808"/>
                  <a:pt x="224000" y="176000"/>
                </a:cubicBezTo>
                <a:lnTo>
                  <a:pt x="224000" y="56000"/>
                </a:lnTo>
                <a:cubicBezTo>
                  <a:pt x="224000" y="54596"/>
                  <a:pt x="223630" y="53216"/>
                  <a:pt x="222928" y="52000"/>
                </a:cubicBezTo>
                <a:cubicBezTo>
                  <a:pt x="222226" y="50784"/>
                  <a:pt x="221216" y="49774"/>
                  <a:pt x="220000" y="49072"/>
                </a:cubicBezTo>
                <a:cubicBezTo>
                  <a:pt x="218784" y="48370"/>
                  <a:pt x="217404" y="48000"/>
                  <a:pt x="216000" y="48000"/>
                </a:cubicBezTo>
                <a:close/>
                <a:moveTo>
                  <a:pt x="88000" y="208000"/>
                </a:moveTo>
                <a:lnTo>
                  <a:pt x="48000" y="208000"/>
                </a:lnTo>
                <a:lnTo>
                  <a:pt x="48000" y="128000"/>
                </a:lnTo>
                <a:lnTo>
                  <a:pt x="88000" y="128000"/>
                </a:lnTo>
                <a:close/>
                <a:moveTo>
                  <a:pt x="88000" y="112000"/>
                </a:moveTo>
                <a:lnTo>
                  <a:pt x="48000" y="112000"/>
                </a:lnTo>
                <a:lnTo>
                  <a:pt x="48000" y="64000"/>
                </a:lnTo>
                <a:lnTo>
                  <a:pt x="88000" y="64000"/>
                </a:lnTo>
                <a:close/>
                <a:moveTo>
                  <a:pt x="152000" y="144000"/>
                </a:moveTo>
                <a:lnTo>
                  <a:pt x="104000" y="144000"/>
                </a:lnTo>
                <a:lnTo>
                  <a:pt x="104000" y="64000"/>
                </a:lnTo>
                <a:lnTo>
                  <a:pt x="152000" y="64000"/>
                </a:lnTo>
                <a:close/>
                <a:moveTo>
                  <a:pt x="208000" y="176000"/>
                </a:moveTo>
                <a:lnTo>
                  <a:pt x="168000" y="176000"/>
                </a:lnTo>
                <a:lnTo>
                  <a:pt x="168000" y="128000"/>
                </a:lnTo>
                <a:lnTo>
                  <a:pt x="208000" y="128000"/>
                </a:lnTo>
                <a:close/>
                <a:moveTo>
                  <a:pt x="208000" y="112000"/>
                </a:moveTo>
                <a:lnTo>
                  <a:pt x="168000" y="112000"/>
                </a:lnTo>
                <a:lnTo>
                  <a:pt x="168000" y="64000"/>
                </a:lnTo>
                <a:lnTo>
                  <a:pt x="208000" y="6400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5" name="Google Shape;345;p21"/>
          <p:cNvSpPr txBox="1"/>
          <p:nvPr/>
        </p:nvSpPr>
        <p:spPr>
          <a:xfrm>
            <a:off x="1357640" y="3653790"/>
            <a:ext cx="4716766" cy="438912"/>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MX" sz="1100" u="none" cap="none" strike="noStrike">
                <a:solidFill>
                  <a:srgbClr val="0B2E6B"/>
                </a:solidFill>
                <a:latin typeface="Arial"/>
                <a:ea typeface="Arial"/>
                <a:cs typeface="Arial"/>
                <a:sym typeface="Arial"/>
              </a:rPr>
              <a:t>El caso de Kanban: tres prácticas de valor</a:t>
            </a:r>
            <a:endParaRPr/>
          </a:p>
        </p:txBody>
      </p:sp>
      <p:sp>
        <p:nvSpPr>
          <p:cNvPr id="346" name="Google Shape;346;p21"/>
          <p:cNvSpPr/>
          <p:nvPr/>
        </p:nvSpPr>
        <p:spPr>
          <a:xfrm>
            <a:off x="1214128" y="4165854"/>
            <a:ext cx="4812441" cy="329184"/>
          </a:xfrm>
          <a:prstGeom prst="roundRect">
            <a:avLst>
              <a:gd fmla="val 27777"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7" name="Google Shape;347;p21"/>
          <p:cNvSpPr/>
          <p:nvPr/>
        </p:nvSpPr>
        <p:spPr>
          <a:xfrm>
            <a:off x="1315732" y="4202430"/>
            <a:ext cx="256032" cy="256032"/>
          </a:xfrm>
          <a:custGeom>
            <a:rect b="b" l="l" r="r" t="t"/>
            <a:pathLst>
              <a:path extrusionOk="0" h="256000" w="256000">
                <a:moveTo>
                  <a:pt x="247310" y="124760"/>
                </a:moveTo>
                <a:cubicBezTo>
                  <a:pt x="246960" y="123970"/>
                  <a:pt x="238490" y="105180"/>
                  <a:pt x="219660" y="86350"/>
                </a:cubicBezTo>
                <a:cubicBezTo>
                  <a:pt x="194570" y="61260"/>
                  <a:pt x="162880" y="48000"/>
                  <a:pt x="128000" y="48000"/>
                </a:cubicBezTo>
                <a:cubicBezTo>
                  <a:pt x="93120" y="48000"/>
                  <a:pt x="61430" y="61260"/>
                  <a:pt x="36340" y="86350"/>
                </a:cubicBezTo>
                <a:cubicBezTo>
                  <a:pt x="17510" y="105180"/>
                  <a:pt x="9000" y="124000"/>
                  <a:pt x="8690" y="124760"/>
                </a:cubicBezTo>
                <a:cubicBezTo>
                  <a:pt x="8235" y="125783"/>
                  <a:pt x="8000" y="126890"/>
                  <a:pt x="8000" y="128010"/>
                </a:cubicBezTo>
                <a:cubicBezTo>
                  <a:pt x="8000" y="129130"/>
                  <a:pt x="8235" y="130237"/>
                  <a:pt x="8690" y="131260"/>
                </a:cubicBezTo>
                <a:cubicBezTo>
                  <a:pt x="9040" y="132050"/>
                  <a:pt x="17510" y="150830"/>
                  <a:pt x="36340" y="169660"/>
                </a:cubicBezTo>
                <a:cubicBezTo>
                  <a:pt x="61430" y="194740"/>
                  <a:pt x="93120" y="208000"/>
                  <a:pt x="128000" y="208000"/>
                </a:cubicBezTo>
                <a:cubicBezTo>
                  <a:pt x="162880" y="208000"/>
                  <a:pt x="194570" y="194740"/>
                  <a:pt x="219660" y="169660"/>
                </a:cubicBezTo>
                <a:cubicBezTo>
                  <a:pt x="238490" y="150830"/>
                  <a:pt x="246960" y="132050"/>
                  <a:pt x="247310" y="131260"/>
                </a:cubicBezTo>
                <a:cubicBezTo>
                  <a:pt x="247765" y="130237"/>
                  <a:pt x="248000" y="129130"/>
                  <a:pt x="248000" y="128010"/>
                </a:cubicBezTo>
                <a:cubicBezTo>
                  <a:pt x="248000" y="126890"/>
                  <a:pt x="247765" y="125783"/>
                  <a:pt x="247310" y="124760"/>
                </a:cubicBezTo>
                <a:close/>
                <a:moveTo>
                  <a:pt x="128000" y="192000"/>
                </a:moveTo>
                <a:cubicBezTo>
                  <a:pt x="97220" y="192000"/>
                  <a:pt x="70330" y="180810"/>
                  <a:pt x="48070" y="158750"/>
                </a:cubicBezTo>
                <a:cubicBezTo>
                  <a:pt x="38937" y="149667"/>
                  <a:pt x="31166" y="139309"/>
                  <a:pt x="25000" y="128000"/>
                </a:cubicBezTo>
                <a:cubicBezTo>
                  <a:pt x="31164" y="116689"/>
                  <a:pt x="38935" y="106332"/>
                  <a:pt x="48070" y="97250"/>
                </a:cubicBezTo>
                <a:cubicBezTo>
                  <a:pt x="70330" y="75190"/>
                  <a:pt x="97220" y="64000"/>
                  <a:pt x="128000" y="64000"/>
                </a:cubicBezTo>
                <a:cubicBezTo>
                  <a:pt x="158780" y="64000"/>
                  <a:pt x="185670" y="75190"/>
                  <a:pt x="207930" y="97250"/>
                </a:cubicBezTo>
                <a:cubicBezTo>
                  <a:pt x="217081" y="106330"/>
                  <a:pt x="224869" y="116687"/>
                  <a:pt x="231050" y="128000"/>
                </a:cubicBezTo>
                <a:cubicBezTo>
                  <a:pt x="223840" y="141460"/>
                  <a:pt x="192430" y="192000"/>
                  <a:pt x="128000" y="192000"/>
                </a:cubicBezTo>
                <a:close/>
                <a:moveTo>
                  <a:pt x="128000" y="80000"/>
                </a:moveTo>
                <a:cubicBezTo>
                  <a:pt x="119575" y="80000"/>
                  <a:pt x="111296" y="82218"/>
                  <a:pt x="104000" y="86431"/>
                </a:cubicBezTo>
                <a:cubicBezTo>
                  <a:pt x="96704" y="90643"/>
                  <a:pt x="90643" y="96704"/>
                  <a:pt x="86431" y="104000"/>
                </a:cubicBezTo>
                <a:cubicBezTo>
                  <a:pt x="82218" y="111296"/>
                  <a:pt x="80000" y="119575"/>
                  <a:pt x="80000" y="128000"/>
                </a:cubicBezTo>
                <a:cubicBezTo>
                  <a:pt x="80000" y="136425"/>
                  <a:pt x="82218" y="144704"/>
                  <a:pt x="86431" y="152000"/>
                </a:cubicBezTo>
                <a:cubicBezTo>
                  <a:pt x="90643" y="159296"/>
                  <a:pt x="96704" y="165357"/>
                  <a:pt x="104000" y="169569"/>
                </a:cubicBezTo>
                <a:cubicBezTo>
                  <a:pt x="111296" y="173782"/>
                  <a:pt x="119575" y="176000"/>
                  <a:pt x="128000" y="176000"/>
                </a:cubicBezTo>
                <a:cubicBezTo>
                  <a:pt x="136425" y="176000"/>
                  <a:pt x="144704" y="173782"/>
                  <a:pt x="152000" y="169569"/>
                </a:cubicBezTo>
                <a:cubicBezTo>
                  <a:pt x="159296" y="165357"/>
                  <a:pt x="165357" y="159296"/>
                  <a:pt x="169569" y="152000"/>
                </a:cubicBezTo>
                <a:cubicBezTo>
                  <a:pt x="173782" y="144704"/>
                  <a:pt x="176000" y="136425"/>
                  <a:pt x="176000" y="128000"/>
                </a:cubicBezTo>
                <a:cubicBezTo>
                  <a:pt x="175991" y="119577"/>
                  <a:pt x="173768" y="111303"/>
                  <a:pt x="169554" y="104011"/>
                </a:cubicBezTo>
                <a:cubicBezTo>
                  <a:pt x="165340" y="96718"/>
                  <a:pt x="159282" y="90660"/>
                  <a:pt x="151989" y="86446"/>
                </a:cubicBezTo>
                <a:cubicBezTo>
                  <a:pt x="144697" y="82232"/>
                  <a:pt x="136423" y="80009"/>
                  <a:pt x="128000" y="80000"/>
                </a:cubicBezTo>
                <a:close/>
                <a:moveTo>
                  <a:pt x="128000" y="160000"/>
                </a:moveTo>
                <a:cubicBezTo>
                  <a:pt x="122383" y="160000"/>
                  <a:pt x="116864" y="158521"/>
                  <a:pt x="112000" y="155713"/>
                </a:cubicBezTo>
                <a:cubicBezTo>
                  <a:pt x="107136" y="152904"/>
                  <a:pt x="103096" y="148864"/>
                  <a:pt x="100287" y="144000"/>
                </a:cubicBezTo>
                <a:cubicBezTo>
                  <a:pt x="97479" y="139136"/>
                  <a:pt x="96000" y="133617"/>
                  <a:pt x="96000" y="128000"/>
                </a:cubicBezTo>
                <a:cubicBezTo>
                  <a:pt x="96000" y="122383"/>
                  <a:pt x="97479" y="116864"/>
                  <a:pt x="100287" y="112000"/>
                </a:cubicBezTo>
                <a:cubicBezTo>
                  <a:pt x="103096" y="107136"/>
                  <a:pt x="107136" y="103096"/>
                  <a:pt x="112000" y="100287"/>
                </a:cubicBezTo>
                <a:cubicBezTo>
                  <a:pt x="116864" y="97479"/>
                  <a:pt x="122383" y="96000"/>
                  <a:pt x="128000" y="96000"/>
                </a:cubicBezTo>
                <a:cubicBezTo>
                  <a:pt x="133617" y="96000"/>
                  <a:pt x="139136" y="97479"/>
                  <a:pt x="144000" y="100287"/>
                </a:cubicBezTo>
                <a:cubicBezTo>
                  <a:pt x="148864" y="103096"/>
                  <a:pt x="152904" y="107136"/>
                  <a:pt x="155713" y="112000"/>
                </a:cubicBezTo>
                <a:cubicBezTo>
                  <a:pt x="158521" y="116864"/>
                  <a:pt x="160000" y="122383"/>
                  <a:pt x="160000" y="128000"/>
                </a:cubicBezTo>
                <a:cubicBezTo>
                  <a:pt x="160000" y="133617"/>
                  <a:pt x="158521" y="139136"/>
                  <a:pt x="155713" y="144000"/>
                </a:cubicBezTo>
                <a:cubicBezTo>
                  <a:pt x="152904" y="148864"/>
                  <a:pt x="148864" y="152904"/>
                  <a:pt x="144000" y="155713"/>
                </a:cubicBezTo>
                <a:cubicBezTo>
                  <a:pt x="139136" y="158521"/>
                  <a:pt x="133617" y="160000"/>
                  <a:pt x="128000" y="160000"/>
                </a:cubicBezTo>
                <a:close/>
              </a:path>
            </a:pathLst>
          </a:custGeom>
          <a:solidFill>
            <a:srgbClr val="02479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21"/>
          <p:cNvSpPr txBox="1"/>
          <p:nvPr/>
        </p:nvSpPr>
        <p:spPr>
          <a:xfrm>
            <a:off x="1673367" y="4165854"/>
            <a:ext cx="4334067" cy="329184"/>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s-MX" sz="950" u="none" cap="none" strike="noStrike">
                <a:solidFill>
                  <a:srgbClr val="0B2E6B"/>
                </a:solidFill>
                <a:latin typeface="Arial"/>
                <a:ea typeface="Arial"/>
                <a:cs typeface="Arial"/>
                <a:sym typeface="Arial"/>
              </a:rPr>
              <a:t>1. Visualizar el flujo.</a:t>
            </a:r>
            <a:endParaRPr/>
          </a:p>
        </p:txBody>
      </p:sp>
      <p:sp>
        <p:nvSpPr>
          <p:cNvPr id="349" name="Google Shape;349;p21"/>
          <p:cNvSpPr/>
          <p:nvPr/>
        </p:nvSpPr>
        <p:spPr>
          <a:xfrm>
            <a:off x="1214128" y="4568190"/>
            <a:ext cx="4812441" cy="329184"/>
          </a:xfrm>
          <a:prstGeom prst="roundRect">
            <a:avLst>
              <a:gd fmla="val 27777"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0" name="Google Shape;350;p21"/>
          <p:cNvSpPr/>
          <p:nvPr/>
        </p:nvSpPr>
        <p:spPr>
          <a:xfrm>
            <a:off x="1315732" y="4604766"/>
            <a:ext cx="256032" cy="256032"/>
          </a:xfrm>
          <a:custGeom>
            <a:rect b="b" l="l" r="r" t="t"/>
            <a:pathLst>
              <a:path extrusionOk="0" h="256000" w="256000">
                <a:moveTo>
                  <a:pt x="230600" y="49530"/>
                </a:moveTo>
                <a:cubicBezTo>
                  <a:pt x="229782" y="47641"/>
                  <a:pt x="228604" y="45930"/>
                  <a:pt x="227130" y="44492"/>
                </a:cubicBezTo>
                <a:cubicBezTo>
                  <a:pt x="225657" y="43055"/>
                  <a:pt x="223917" y="41919"/>
                  <a:pt x="222008" y="41149"/>
                </a:cubicBezTo>
                <a:cubicBezTo>
                  <a:pt x="220099" y="40378"/>
                  <a:pt x="218058" y="39988"/>
                  <a:pt x="216000" y="40000"/>
                </a:cubicBezTo>
                <a:lnTo>
                  <a:pt x="40000" y="40000"/>
                </a:lnTo>
                <a:cubicBezTo>
                  <a:pt x="37529" y="40005"/>
                  <a:pt x="35092" y="40582"/>
                  <a:pt x="32882" y="41686"/>
                </a:cubicBezTo>
                <a:cubicBezTo>
                  <a:pt x="30671" y="42791"/>
                  <a:pt x="28746" y="44392"/>
                  <a:pt x="27258" y="46365"/>
                </a:cubicBezTo>
                <a:cubicBezTo>
                  <a:pt x="25770" y="48337"/>
                  <a:pt x="24759" y="50628"/>
                  <a:pt x="24304" y="53057"/>
                </a:cubicBezTo>
                <a:cubicBezTo>
                  <a:pt x="23850" y="55486"/>
                  <a:pt x="23964" y="57987"/>
                  <a:pt x="24638" y="60365"/>
                </a:cubicBezTo>
                <a:cubicBezTo>
                  <a:pt x="25312" y="62742"/>
                  <a:pt x="26528" y="64931"/>
                  <a:pt x="28190" y="66760"/>
                </a:cubicBezTo>
                <a:lnTo>
                  <a:pt x="28270" y="66850"/>
                </a:lnTo>
                <a:lnTo>
                  <a:pt x="96000" y="139170"/>
                </a:lnTo>
                <a:lnTo>
                  <a:pt x="96000" y="216000"/>
                </a:lnTo>
                <a:cubicBezTo>
                  <a:pt x="95999" y="218311"/>
                  <a:pt x="96500" y="220596"/>
                  <a:pt x="97467" y="222695"/>
                </a:cubicBezTo>
                <a:cubicBezTo>
                  <a:pt x="98433" y="224795"/>
                  <a:pt x="99844" y="226660"/>
                  <a:pt x="101600" y="228163"/>
                </a:cubicBezTo>
                <a:cubicBezTo>
                  <a:pt x="103357" y="229665"/>
                  <a:pt x="105418" y="230769"/>
                  <a:pt x="107642" y="231399"/>
                </a:cubicBezTo>
                <a:cubicBezTo>
                  <a:pt x="109866" y="232028"/>
                  <a:pt x="112201" y="232169"/>
                  <a:pt x="114484" y="231810"/>
                </a:cubicBezTo>
                <a:cubicBezTo>
                  <a:pt x="116767" y="231451"/>
                  <a:pt x="118946" y="230601"/>
                  <a:pt x="120870" y="229320"/>
                </a:cubicBezTo>
                <a:lnTo>
                  <a:pt x="152870" y="207980"/>
                </a:lnTo>
                <a:cubicBezTo>
                  <a:pt x="155064" y="206519"/>
                  <a:pt x="156862" y="204538"/>
                  <a:pt x="158106" y="202215"/>
                </a:cubicBezTo>
                <a:cubicBezTo>
                  <a:pt x="159350" y="199891"/>
                  <a:pt x="160001" y="197296"/>
                  <a:pt x="160000" y="194660"/>
                </a:cubicBezTo>
                <a:lnTo>
                  <a:pt x="160000" y="139170"/>
                </a:lnTo>
                <a:lnTo>
                  <a:pt x="227740" y="66850"/>
                </a:lnTo>
                <a:lnTo>
                  <a:pt x="227820" y="66760"/>
                </a:lnTo>
                <a:cubicBezTo>
                  <a:pt x="229217" y="65245"/>
                  <a:pt x="230305" y="63471"/>
                  <a:pt x="231021" y="61539"/>
                </a:cubicBezTo>
                <a:cubicBezTo>
                  <a:pt x="231738" y="59607"/>
                  <a:pt x="232069" y="57553"/>
                  <a:pt x="231997" y="55493"/>
                </a:cubicBezTo>
                <a:cubicBezTo>
                  <a:pt x="231925" y="53433"/>
                  <a:pt x="231450" y="51407"/>
                  <a:pt x="230600" y="49530"/>
                </a:cubicBezTo>
                <a:close/>
                <a:moveTo>
                  <a:pt x="40000" y="56000"/>
                </a:moveTo>
                <a:lnTo>
                  <a:pt x="40000" y="56000"/>
                </a:lnTo>
                <a:close/>
                <a:moveTo>
                  <a:pt x="146180" y="130580"/>
                </a:moveTo>
                <a:cubicBezTo>
                  <a:pt x="145494" y="131307"/>
                  <a:pt x="144951" y="132156"/>
                  <a:pt x="144578" y="133084"/>
                </a:cubicBezTo>
                <a:cubicBezTo>
                  <a:pt x="144205" y="134011"/>
                  <a:pt x="144009" y="135000"/>
                  <a:pt x="144000" y="136000"/>
                </a:cubicBezTo>
                <a:lnTo>
                  <a:pt x="144000" y="194660"/>
                </a:lnTo>
                <a:lnTo>
                  <a:pt x="112000" y="216000"/>
                </a:lnTo>
                <a:lnTo>
                  <a:pt x="112000" y="136000"/>
                </a:lnTo>
                <a:cubicBezTo>
                  <a:pt x="112000" y="134993"/>
                  <a:pt x="111811" y="133996"/>
                  <a:pt x="111441" y="133059"/>
                </a:cubicBezTo>
                <a:cubicBezTo>
                  <a:pt x="111071" y="132123"/>
                  <a:pt x="110528" y="131265"/>
                  <a:pt x="109840" y="130530"/>
                </a:cubicBezTo>
                <a:lnTo>
                  <a:pt x="40000" y="56000"/>
                </a:lnTo>
                <a:lnTo>
                  <a:pt x="216000" y="56000"/>
                </a:lnTo>
                <a:close/>
              </a:path>
            </a:pathLst>
          </a:custGeom>
          <a:solidFill>
            <a:srgbClr val="02479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1" name="Google Shape;351;p21"/>
          <p:cNvSpPr txBox="1"/>
          <p:nvPr/>
        </p:nvSpPr>
        <p:spPr>
          <a:xfrm>
            <a:off x="1673367" y="4568190"/>
            <a:ext cx="4334067" cy="329184"/>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s-MX" sz="950" u="none" cap="none" strike="noStrike">
                <a:solidFill>
                  <a:srgbClr val="0B2E6B"/>
                </a:solidFill>
                <a:latin typeface="Arial"/>
                <a:ea typeface="Arial"/>
                <a:cs typeface="Arial"/>
                <a:sym typeface="Arial"/>
              </a:rPr>
              <a:t>2. Limitar el trabajo en curso (WIP).</a:t>
            </a:r>
            <a:endParaRPr/>
          </a:p>
        </p:txBody>
      </p:sp>
      <p:sp>
        <p:nvSpPr>
          <p:cNvPr id="352" name="Google Shape;352;p21"/>
          <p:cNvSpPr/>
          <p:nvPr/>
        </p:nvSpPr>
        <p:spPr>
          <a:xfrm>
            <a:off x="1214128" y="4970526"/>
            <a:ext cx="4812441" cy="329184"/>
          </a:xfrm>
          <a:prstGeom prst="roundRect">
            <a:avLst>
              <a:gd fmla="val 27777"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3" name="Google Shape;353;p21"/>
          <p:cNvSpPr/>
          <p:nvPr/>
        </p:nvSpPr>
        <p:spPr>
          <a:xfrm>
            <a:off x="1315732" y="5007102"/>
            <a:ext cx="256032" cy="256032"/>
          </a:xfrm>
          <a:custGeom>
            <a:rect b="b" l="l" r="r" t="t"/>
            <a:pathLst>
              <a:path extrusionOk="0" h="256000" w="256000">
                <a:moveTo>
                  <a:pt x="229660" y="218340"/>
                </a:moveTo>
                <a:lnTo>
                  <a:pt x="179590" y="168280"/>
                </a:lnTo>
                <a:cubicBezTo>
                  <a:pt x="189199" y="156744"/>
                  <a:pt x="195701" y="142942"/>
                  <a:pt x="198478" y="128188"/>
                </a:cubicBezTo>
                <a:cubicBezTo>
                  <a:pt x="201256" y="113434"/>
                  <a:pt x="200216" y="98212"/>
                  <a:pt x="195460" y="83972"/>
                </a:cubicBezTo>
                <a:cubicBezTo>
                  <a:pt x="190703" y="69733"/>
                  <a:pt x="182385" y="56942"/>
                  <a:pt x="171297" y="46820"/>
                </a:cubicBezTo>
                <a:cubicBezTo>
                  <a:pt x="160210" y="36697"/>
                  <a:pt x="146718" y="29574"/>
                  <a:pt x="132105" y="26130"/>
                </a:cubicBezTo>
                <a:cubicBezTo>
                  <a:pt x="117492" y="22685"/>
                  <a:pt x="102239" y="23032"/>
                  <a:pt x="87798" y="27136"/>
                </a:cubicBezTo>
                <a:cubicBezTo>
                  <a:pt x="73357" y="31241"/>
                  <a:pt x="60202" y="38970"/>
                  <a:pt x="49586" y="49586"/>
                </a:cubicBezTo>
                <a:cubicBezTo>
                  <a:pt x="38970" y="60202"/>
                  <a:pt x="31241" y="73357"/>
                  <a:pt x="27136" y="87798"/>
                </a:cubicBezTo>
                <a:cubicBezTo>
                  <a:pt x="23032" y="102239"/>
                  <a:pt x="22685" y="117492"/>
                  <a:pt x="26130" y="132105"/>
                </a:cubicBezTo>
                <a:cubicBezTo>
                  <a:pt x="29574" y="146718"/>
                  <a:pt x="36697" y="160210"/>
                  <a:pt x="46820" y="171297"/>
                </a:cubicBezTo>
                <a:cubicBezTo>
                  <a:pt x="56942" y="182385"/>
                  <a:pt x="69733" y="190703"/>
                  <a:pt x="83972" y="195460"/>
                </a:cubicBezTo>
                <a:cubicBezTo>
                  <a:pt x="98212" y="200216"/>
                  <a:pt x="113434" y="201256"/>
                  <a:pt x="128188" y="198478"/>
                </a:cubicBezTo>
                <a:cubicBezTo>
                  <a:pt x="142942" y="195701"/>
                  <a:pt x="156744" y="189199"/>
                  <a:pt x="168280" y="179590"/>
                </a:cubicBezTo>
                <a:lnTo>
                  <a:pt x="218340" y="229660"/>
                </a:lnTo>
                <a:cubicBezTo>
                  <a:pt x="219333" y="230653"/>
                  <a:pt x="220571" y="231368"/>
                  <a:pt x="221928" y="231732"/>
                </a:cubicBezTo>
                <a:cubicBezTo>
                  <a:pt x="223285" y="232095"/>
                  <a:pt x="224715" y="232095"/>
                  <a:pt x="226072" y="231732"/>
                </a:cubicBezTo>
                <a:cubicBezTo>
                  <a:pt x="227429" y="231368"/>
                  <a:pt x="228667" y="230653"/>
                  <a:pt x="229660" y="229660"/>
                </a:cubicBezTo>
                <a:cubicBezTo>
                  <a:pt x="230653" y="228667"/>
                  <a:pt x="231368" y="227429"/>
                  <a:pt x="231732" y="226072"/>
                </a:cubicBezTo>
                <a:cubicBezTo>
                  <a:pt x="232095" y="224715"/>
                  <a:pt x="232095" y="223285"/>
                  <a:pt x="231732" y="221928"/>
                </a:cubicBezTo>
                <a:cubicBezTo>
                  <a:pt x="231368" y="220571"/>
                  <a:pt x="230653" y="219333"/>
                  <a:pt x="229660" y="218340"/>
                </a:cubicBezTo>
                <a:close/>
                <a:moveTo>
                  <a:pt x="40000" y="112000"/>
                </a:moveTo>
                <a:cubicBezTo>
                  <a:pt x="40000" y="99362"/>
                  <a:pt x="43327" y="86945"/>
                  <a:pt x="49646" y="76000"/>
                </a:cubicBezTo>
                <a:cubicBezTo>
                  <a:pt x="55965" y="65055"/>
                  <a:pt x="65055" y="55965"/>
                  <a:pt x="76000" y="49646"/>
                </a:cubicBezTo>
                <a:cubicBezTo>
                  <a:pt x="86945" y="43327"/>
                  <a:pt x="99362" y="40000"/>
                  <a:pt x="112000" y="40000"/>
                </a:cubicBezTo>
                <a:cubicBezTo>
                  <a:pt x="124638" y="40000"/>
                  <a:pt x="137055" y="43327"/>
                  <a:pt x="148000" y="49646"/>
                </a:cubicBezTo>
                <a:cubicBezTo>
                  <a:pt x="158945" y="55965"/>
                  <a:pt x="168035" y="65055"/>
                  <a:pt x="174354" y="76000"/>
                </a:cubicBezTo>
                <a:cubicBezTo>
                  <a:pt x="180673" y="86945"/>
                  <a:pt x="184000" y="99362"/>
                  <a:pt x="184000" y="112000"/>
                </a:cubicBezTo>
                <a:cubicBezTo>
                  <a:pt x="184000" y="124638"/>
                  <a:pt x="180673" y="137055"/>
                  <a:pt x="174354" y="148000"/>
                </a:cubicBezTo>
                <a:cubicBezTo>
                  <a:pt x="168035" y="158945"/>
                  <a:pt x="158945" y="168035"/>
                  <a:pt x="148000" y="174354"/>
                </a:cubicBezTo>
                <a:cubicBezTo>
                  <a:pt x="137055" y="180673"/>
                  <a:pt x="124638" y="184000"/>
                  <a:pt x="112000" y="184000"/>
                </a:cubicBezTo>
                <a:cubicBezTo>
                  <a:pt x="99366" y="183986"/>
                  <a:pt x="86956" y="180651"/>
                  <a:pt x="76017" y="174330"/>
                </a:cubicBezTo>
                <a:cubicBezTo>
                  <a:pt x="65078" y="168009"/>
                  <a:pt x="55991" y="158922"/>
                  <a:pt x="49670" y="147983"/>
                </a:cubicBezTo>
                <a:cubicBezTo>
                  <a:pt x="43349" y="137044"/>
                  <a:pt x="40014" y="124634"/>
                  <a:pt x="40000" y="112000"/>
                </a:cubicBezTo>
                <a:close/>
              </a:path>
            </a:pathLst>
          </a:custGeom>
          <a:solidFill>
            <a:srgbClr val="02479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4" name="Google Shape;354;p21"/>
          <p:cNvSpPr txBox="1"/>
          <p:nvPr/>
        </p:nvSpPr>
        <p:spPr>
          <a:xfrm>
            <a:off x="1673367" y="4970526"/>
            <a:ext cx="4334067" cy="329184"/>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s-MX" sz="950" u="none" cap="none" strike="noStrike">
                <a:solidFill>
                  <a:srgbClr val="0B2E6B"/>
                </a:solidFill>
                <a:latin typeface="Arial"/>
                <a:ea typeface="Arial"/>
                <a:cs typeface="Arial"/>
                <a:sym typeface="Arial"/>
              </a:rPr>
              <a:t>3. Identificar oportunidades de mejora.</a:t>
            </a:r>
            <a:endParaRPr/>
          </a:p>
        </p:txBody>
      </p:sp>
      <p:sp>
        <p:nvSpPr>
          <p:cNvPr id="355" name="Google Shape;355;p21"/>
          <p:cNvSpPr txBox="1"/>
          <p:nvPr/>
        </p:nvSpPr>
        <p:spPr>
          <a:xfrm>
            <a:off x="879266" y="5446014"/>
            <a:ext cx="5099466" cy="572262"/>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MX" sz="950" u="none" cap="none" strike="noStrike">
                <a:solidFill>
                  <a:srgbClr val="3A3A48"/>
                </a:solidFill>
                <a:latin typeface="Arial"/>
                <a:ea typeface="Arial"/>
                <a:cs typeface="Arial"/>
                <a:sym typeface="Arial"/>
              </a:rPr>
              <a:t>Su propósito real: facilitar una gestión más clara y evolutiva del trabajo (Asana, 2026).</a:t>
            </a:r>
            <a:endParaRPr/>
          </a:p>
        </p:txBody>
      </p:sp>
      <p:sp>
        <p:nvSpPr>
          <p:cNvPr id="356" name="Google Shape;356;p21"/>
          <p:cNvSpPr/>
          <p:nvPr/>
        </p:nvSpPr>
        <p:spPr>
          <a:xfrm>
            <a:off x="640080" y="6201156"/>
            <a:ext cx="2712380" cy="1298448"/>
          </a:xfrm>
          <a:prstGeom prst="roundRect">
            <a:avLst>
              <a:gd fmla="val 8450" name="adj"/>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21"/>
          <p:cNvSpPr/>
          <p:nvPr/>
        </p:nvSpPr>
        <p:spPr>
          <a:xfrm>
            <a:off x="641562" y="6310884"/>
            <a:ext cx="64008" cy="1078992"/>
          </a:xfrm>
          <a:prstGeom prst="rect">
            <a:avLst/>
          </a:prstGeom>
          <a:solidFill>
            <a:srgbClr val="A719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21"/>
          <p:cNvSpPr/>
          <p:nvPr/>
        </p:nvSpPr>
        <p:spPr>
          <a:xfrm>
            <a:off x="839052" y="6347460"/>
            <a:ext cx="329184" cy="329184"/>
          </a:xfrm>
          <a:custGeom>
            <a:rect b="b" l="l" r="r" t="t"/>
            <a:pathLst>
              <a:path extrusionOk="0" h="256000" w="256000">
                <a:moveTo>
                  <a:pt x="128000" y="24000"/>
                </a:moveTo>
                <a:cubicBezTo>
                  <a:pt x="109746" y="24000"/>
                  <a:pt x="91809" y="28806"/>
                  <a:pt x="76000" y="37933"/>
                </a:cubicBezTo>
                <a:cubicBezTo>
                  <a:pt x="60191" y="47061"/>
                  <a:pt x="47061" y="60191"/>
                  <a:pt x="37933" y="76000"/>
                </a:cubicBezTo>
                <a:cubicBezTo>
                  <a:pt x="28806" y="91809"/>
                  <a:pt x="24000" y="109746"/>
                  <a:pt x="24000" y="128000"/>
                </a:cubicBezTo>
                <a:cubicBezTo>
                  <a:pt x="24000" y="146254"/>
                  <a:pt x="28806" y="164191"/>
                  <a:pt x="37933" y="180000"/>
                </a:cubicBezTo>
                <a:cubicBezTo>
                  <a:pt x="47061" y="195809"/>
                  <a:pt x="60191" y="208939"/>
                  <a:pt x="76000" y="218067"/>
                </a:cubicBezTo>
                <a:cubicBezTo>
                  <a:pt x="91809" y="227194"/>
                  <a:pt x="109746" y="232000"/>
                  <a:pt x="128000" y="232000"/>
                </a:cubicBezTo>
                <a:cubicBezTo>
                  <a:pt x="146254" y="232000"/>
                  <a:pt x="164191" y="227194"/>
                  <a:pt x="180000" y="218067"/>
                </a:cubicBezTo>
                <a:cubicBezTo>
                  <a:pt x="195809" y="208939"/>
                  <a:pt x="208939" y="195809"/>
                  <a:pt x="218067" y="180000"/>
                </a:cubicBezTo>
                <a:cubicBezTo>
                  <a:pt x="227194" y="164191"/>
                  <a:pt x="232000" y="146254"/>
                  <a:pt x="232000" y="128000"/>
                </a:cubicBezTo>
                <a:cubicBezTo>
                  <a:pt x="231981" y="109751"/>
                  <a:pt x="227164" y="91824"/>
                  <a:pt x="218034" y="76023"/>
                </a:cubicBezTo>
                <a:cubicBezTo>
                  <a:pt x="208904" y="60222"/>
                  <a:pt x="195778" y="47096"/>
                  <a:pt x="179977" y="37966"/>
                </a:cubicBezTo>
                <a:cubicBezTo>
                  <a:pt x="164176" y="28836"/>
                  <a:pt x="146249" y="24019"/>
                  <a:pt x="128000" y="24000"/>
                </a:cubicBezTo>
                <a:close/>
                <a:moveTo>
                  <a:pt x="165660" y="154340"/>
                </a:moveTo>
                <a:cubicBezTo>
                  <a:pt x="166653" y="155333"/>
                  <a:pt x="167368" y="156571"/>
                  <a:pt x="167732" y="157928"/>
                </a:cubicBezTo>
                <a:cubicBezTo>
                  <a:pt x="168095" y="159285"/>
                  <a:pt x="168095" y="160715"/>
                  <a:pt x="167732" y="162072"/>
                </a:cubicBezTo>
                <a:cubicBezTo>
                  <a:pt x="167368" y="163429"/>
                  <a:pt x="166653" y="164667"/>
                  <a:pt x="165660" y="165660"/>
                </a:cubicBezTo>
                <a:cubicBezTo>
                  <a:pt x="164667" y="166653"/>
                  <a:pt x="163429" y="167368"/>
                  <a:pt x="162072" y="167732"/>
                </a:cubicBezTo>
                <a:cubicBezTo>
                  <a:pt x="160715" y="168095"/>
                  <a:pt x="159285" y="168095"/>
                  <a:pt x="157928" y="167732"/>
                </a:cubicBezTo>
                <a:cubicBezTo>
                  <a:pt x="156571" y="167368"/>
                  <a:pt x="155333" y="166653"/>
                  <a:pt x="154340" y="165660"/>
                </a:cubicBezTo>
                <a:lnTo>
                  <a:pt x="128000" y="139310"/>
                </a:lnTo>
                <a:lnTo>
                  <a:pt x="101660" y="165660"/>
                </a:lnTo>
                <a:cubicBezTo>
                  <a:pt x="100667" y="166653"/>
                  <a:pt x="99429" y="167368"/>
                  <a:pt x="98072" y="167732"/>
                </a:cubicBezTo>
                <a:cubicBezTo>
                  <a:pt x="96715" y="168095"/>
                  <a:pt x="95285" y="168095"/>
                  <a:pt x="93928" y="167732"/>
                </a:cubicBezTo>
                <a:cubicBezTo>
                  <a:pt x="92571" y="167368"/>
                  <a:pt x="91333" y="166653"/>
                  <a:pt x="90340" y="165660"/>
                </a:cubicBezTo>
                <a:cubicBezTo>
                  <a:pt x="89347" y="164667"/>
                  <a:pt x="88632" y="163429"/>
                  <a:pt x="88268" y="162072"/>
                </a:cubicBezTo>
                <a:cubicBezTo>
                  <a:pt x="87905" y="160715"/>
                  <a:pt x="87905" y="159285"/>
                  <a:pt x="88268" y="157928"/>
                </a:cubicBezTo>
                <a:cubicBezTo>
                  <a:pt x="88632" y="156571"/>
                  <a:pt x="89347" y="155333"/>
                  <a:pt x="90340" y="154340"/>
                </a:cubicBezTo>
                <a:lnTo>
                  <a:pt x="116690" y="128000"/>
                </a:lnTo>
                <a:lnTo>
                  <a:pt x="90340" y="101660"/>
                </a:lnTo>
                <a:cubicBezTo>
                  <a:pt x="89347" y="100667"/>
                  <a:pt x="88632" y="99429"/>
                  <a:pt x="88268" y="98072"/>
                </a:cubicBezTo>
                <a:cubicBezTo>
                  <a:pt x="87905" y="96715"/>
                  <a:pt x="87905" y="95285"/>
                  <a:pt x="88268" y="93928"/>
                </a:cubicBezTo>
                <a:cubicBezTo>
                  <a:pt x="88632" y="92571"/>
                  <a:pt x="89347" y="91333"/>
                  <a:pt x="90340" y="90340"/>
                </a:cubicBezTo>
                <a:cubicBezTo>
                  <a:pt x="91333" y="89347"/>
                  <a:pt x="92571" y="88632"/>
                  <a:pt x="93928" y="88268"/>
                </a:cubicBezTo>
                <a:cubicBezTo>
                  <a:pt x="95285" y="87905"/>
                  <a:pt x="96715" y="87905"/>
                  <a:pt x="98072" y="88268"/>
                </a:cubicBezTo>
                <a:cubicBezTo>
                  <a:pt x="99429" y="88632"/>
                  <a:pt x="100667" y="89347"/>
                  <a:pt x="101660" y="90340"/>
                </a:cubicBezTo>
                <a:lnTo>
                  <a:pt x="128000" y="116690"/>
                </a:lnTo>
                <a:lnTo>
                  <a:pt x="154340" y="90340"/>
                </a:lnTo>
                <a:cubicBezTo>
                  <a:pt x="155333" y="89347"/>
                  <a:pt x="156571" y="88632"/>
                  <a:pt x="157928" y="88268"/>
                </a:cubicBezTo>
                <a:cubicBezTo>
                  <a:pt x="159285" y="87905"/>
                  <a:pt x="160715" y="87905"/>
                  <a:pt x="162072" y="88268"/>
                </a:cubicBezTo>
                <a:cubicBezTo>
                  <a:pt x="163429" y="88632"/>
                  <a:pt x="164667" y="89347"/>
                  <a:pt x="165660" y="90340"/>
                </a:cubicBezTo>
                <a:cubicBezTo>
                  <a:pt x="166653" y="91333"/>
                  <a:pt x="167368" y="92571"/>
                  <a:pt x="167732" y="93928"/>
                </a:cubicBezTo>
                <a:cubicBezTo>
                  <a:pt x="168095" y="95285"/>
                  <a:pt x="168095" y="96715"/>
                  <a:pt x="167732" y="98072"/>
                </a:cubicBezTo>
                <a:cubicBezTo>
                  <a:pt x="167368" y="99429"/>
                  <a:pt x="166653" y="100667"/>
                  <a:pt x="165660" y="101660"/>
                </a:cubicBezTo>
                <a:lnTo>
                  <a:pt x="139310" y="128000"/>
                </a:lnTo>
                <a:close/>
              </a:path>
            </a:pathLst>
          </a:custGeom>
          <a:solidFill>
            <a:srgbClr val="A7198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9" name="Google Shape;359;p21"/>
          <p:cNvSpPr txBox="1"/>
          <p:nvPr/>
        </p:nvSpPr>
        <p:spPr>
          <a:xfrm>
            <a:off x="1261966" y="6310884"/>
            <a:ext cx="1994819" cy="111556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s-MX" sz="1050" u="none" cap="none" strike="noStrike">
                <a:solidFill>
                  <a:srgbClr val="A71989"/>
                </a:solidFill>
                <a:latin typeface="Arial"/>
                <a:ea typeface="Arial"/>
                <a:cs typeface="Arial"/>
                <a:sym typeface="Arial"/>
              </a:rPr>
              <a:t>Evitar</a:t>
            </a:r>
            <a:endParaRPr/>
          </a:p>
          <a:p>
            <a:pPr indent="0" lvl="0" marL="0" marR="0" rtl="0" algn="l">
              <a:lnSpc>
                <a:spcPct val="120000"/>
              </a:lnSpc>
              <a:spcBef>
                <a:spcPts val="300"/>
              </a:spcBef>
              <a:spcAft>
                <a:spcPts val="0"/>
              </a:spcAft>
              <a:buNone/>
            </a:pPr>
            <a:r>
              <a:rPr b="0" i="0" lang="es-MX" sz="950" u="none" cap="none" strike="noStrike">
                <a:solidFill>
                  <a:srgbClr val="2E2E3A"/>
                </a:solidFill>
                <a:latin typeface="Arial"/>
                <a:ea typeface="Arial"/>
                <a:cs typeface="Arial"/>
                <a:sym typeface="Arial"/>
              </a:rPr>
              <a:t>Adoptar una práctica solo porque se presenta como «ágil».</a:t>
            </a:r>
            <a:endParaRPr/>
          </a:p>
        </p:txBody>
      </p:sp>
      <p:sp>
        <p:nvSpPr>
          <p:cNvPr id="360" name="Google Shape;360;p21"/>
          <p:cNvSpPr/>
          <p:nvPr/>
        </p:nvSpPr>
        <p:spPr>
          <a:xfrm>
            <a:off x="3505539" y="6201156"/>
            <a:ext cx="2712380" cy="1298448"/>
          </a:xfrm>
          <a:prstGeom prst="roundRect">
            <a:avLst>
              <a:gd fmla="val 8450" name="adj"/>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21"/>
          <p:cNvSpPr/>
          <p:nvPr/>
        </p:nvSpPr>
        <p:spPr>
          <a:xfrm>
            <a:off x="3507022" y="6310884"/>
            <a:ext cx="64008" cy="1078992"/>
          </a:xfrm>
          <a:prstGeom prst="rect">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2" name="Google Shape;362;p21"/>
          <p:cNvSpPr/>
          <p:nvPr/>
        </p:nvSpPr>
        <p:spPr>
          <a:xfrm>
            <a:off x="3704512" y="6347460"/>
            <a:ext cx="329184" cy="329184"/>
          </a:xfrm>
          <a:custGeom>
            <a:rect b="b" l="l" r="r" t="t"/>
            <a:pathLst>
              <a:path extrusionOk="0" h="256000" w="256000">
                <a:moveTo>
                  <a:pt x="128000" y="24000"/>
                </a:moveTo>
                <a:cubicBezTo>
                  <a:pt x="109746" y="24000"/>
                  <a:pt x="91809" y="28806"/>
                  <a:pt x="76000" y="37933"/>
                </a:cubicBezTo>
                <a:cubicBezTo>
                  <a:pt x="60191" y="47061"/>
                  <a:pt x="47061" y="60191"/>
                  <a:pt x="37933" y="76000"/>
                </a:cubicBezTo>
                <a:cubicBezTo>
                  <a:pt x="28806" y="91809"/>
                  <a:pt x="24000" y="109746"/>
                  <a:pt x="24000" y="128000"/>
                </a:cubicBezTo>
                <a:cubicBezTo>
                  <a:pt x="24000" y="146254"/>
                  <a:pt x="28806" y="164191"/>
                  <a:pt x="37933" y="180000"/>
                </a:cubicBezTo>
                <a:cubicBezTo>
                  <a:pt x="47061" y="195809"/>
                  <a:pt x="60191" y="208939"/>
                  <a:pt x="76000" y="218067"/>
                </a:cubicBezTo>
                <a:cubicBezTo>
                  <a:pt x="91809" y="227194"/>
                  <a:pt x="109746" y="232000"/>
                  <a:pt x="128000" y="232000"/>
                </a:cubicBezTo>
                <a:cubicBezTo>
                  <a:pt x="146254" y="232000"/>
                  <a:pt x="164191" y="227194"/>
                  <a:pt x="180000" y="218067"/>
                </a:cubicBezTo>
                <a:cubicBezTo>
                  <a:pt x="195809" y="208939"/>
                  <a:pt x="208939" y="195809"/>
                  <a:pt x="218067" y="180000"/>
                </a:cubicBezTo>
                <a:cubicBezTo>
                  <a:pt x="227194" y="164191"/>
                  <a:pt x="232000" y="146254"/>
                  <a:pt x="232000" y="128000"/>
                </a:cubicBezTo>
                <a:cubicBezTo>
                  <a:pt x="231981" y="109751"/>
                  <a:pt x="227164" y="91824"/>
                  <a:pt x="218034" y="76023"/>
                </a:cubicBezTo>
                <a:cubicBezTo>
                  <a:pt x="208904" y="60222"/>
                  <a:pt x="195778" y="47096"/>
                  <a:pt x="179977" y="37966"/>
                </a:cubicBezTo>
                <a:cubicBezTo>
                  <a:pt x="164176" y="28836"/>
                  <a:pt x="146249" y="24019"/>
                  <a:pt x="128000" y="24000"/>
                </a:cubicBezTo>
                <a:close/>
                <a:moveTo>
                  <a:pt x="173660" y="109660"/>
                </a:moveTo>
                <a:lnTo>
                  <a:pt x="117660" y="165660"/>
                </a:lnTo>
                <a:cubicBezTo>
                  <a:pt x="116917" y="166404"/>
                  <a:pt x="116035" y="166994"/>
                  <a:pt x="115064" y="167396"/>
                </a:cubicBezTo>
                <a:cubicBezTo>
                  <a:pt x="114092" y="167799"/>
                  <a:pt x="113051" y="168006"/>
                  <a:pt x="112000" y="168006"/>
                </a:cubicBezTo>
                <a:cubicBezTo>
                  <a:pt x="110949" y="168006"/>
                  <a:pt x="109908" y="167799"/>
                  <a:pt x="108936" y="167396"/>
                </a:cubicBezTo>
                <a:cubicBezTo>
                  <a:pt x="107965" y="166994"/>
                  <a:pt x="107083" y="166404"/>
                  <a:pt x="106340" y="165660"/>
                </a:cubicBezTo>
                <a:lnTo>
                  <a:pt x="82340" y="141660"/>
                </a:lnTo>
                <a:cubicBezTo>
                  <a:pt x="81347" y="140667"/>
                  <a:pt x="80632" y="139429"/>
                  <a:pt x="80268" y="138072"/>
                </a:cubicBezTo>
                <a:cubicBezTo>
                  <a:pt x="79905" y="136715"/>
                  <a:pt x="79905" y="135285"/>
                  <a:pt x="80268" y="133928"/>
                </a:cubicBezTo>
                <a:cubicBezTo>
                  <a:pt x="80632" y="132571"/>
                  <a:pt x="81347" y="131333"/>
                  <a:pt x="82340" y="130340"/>
                </a:cubicBezTo>
                <a:cubicBezTo>
                  <a:pt x="83333" y="129347"/>
                  <a:pt x="84571" y="128632"/>
                  <a:pt x="85928" y="128268"/>
                </a:cubicBezTo>
                <a:cubicBezTo>
                  <a:pt x="87285" y="127905"/>
                  <a:pt x="88715" y="127905"/>
                  <a:pt x="90072" y="128268"/>
                </a:cubicBezTo>
                <a:cubicBezTo>
                  <a:pt x="91429" y="128632"/>
                  <a:pt x="92667" y="129347"/>
                  <a:pt x="93660" y="130340"/>
                </a:cubicBezTo>
                <a:lnTo>
                  <a:pt x="112000" y="148690"/>
                </a:lnTo>
                <a:lnTo>
                  <a:pt x="162340" y="98340"/>
                </a:lnTo>
                <a:cubicBezTo>
                  <a:pt x="163333" y="97347"/>
                  <a:pt x="164571" y="96632"/>
                  <a:pt x="165928" y="96268"/>
                </a:cubicBezTo>
                <a:cubicBezTo>
                  <a:pt x="167285" y="95905"/>
                  <a:pt x="168715" y="95905"/>
                  <a:pt x="170072" y="96268"/>
                </a:cubicBezTo>
                <a:cubicBezTo>
                  <a:pt x="171429" y="96632"/>
                  <a:pt x="172667" y="97347"/>
                  <a:pt x="173660" y="98340"/>
                </a:cubicBezTo>
                <a:cubicBezTo>
                  <a:pt x="174653" y="99333"/>
                  <a:pt x="175368" y="100571"/>
                  <a:pt x="175732" y="101928"/>
                </a:cubicBezTo>
                <a:cubicBezTo>
                  <a:pt x="176095" y="103285"/>
                  <a:pt x="176095" y="104715"/>
                  <a:pt x="175732" y="106072"/>
                </a:cubicBezTo>
                <a:cubicBezTo>
                  <a:pt x="175368" y="107429"/>
                  <a:pt x="174653" y="108667"/>
                  <a:pt x="173660" y="109660"/>
                </a:cubicBezTo>
                <a:close/>
              </a:path>
            </a:pathLst>
          </a:custGeom>
          <a:solidFill>
            <a:srgbClr val="02479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3" name="Google Shape;363;p21"/>
          <p:cNvSpPr txBox="1"/>
          <p:nvPr/>
        </p:nvSpPr>
        <p:spPr>
          <a:xfrm>
            <a:off x="4127425" y="6310884"/>
            <a:ext cx="1994819" cy="111556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s-MX" sz="1050" u="none" cap="none" strike="noStrike">
                <a:solidFill>
                  <a:srgbClr val="024791"/>
                </a:solidFill>
                <a:latin typeface="Arial"/>
                <a:ea typeface="Arial"/>
                <a:cs typeface="Arial"/>
                <a:sym typeface="Arial"/>
              </a:rPr>
              <a:t>Evaluar antes de elegir</a:t>
            </a:r>
            <a:endParaRPr/>
          </a:p>
          <a:p>
            <a:pPr indent="0" lvl="0" marL="0" marR="0" rtl="0" algn="l">
              <a:lnSpc>
                <a:spcPct val="120000"/>
              </a:lnSpc>
              <a:spcBef>
                <a:spcPts val="300"/>
              </a:spcBef>
              <a:spcAft>
                <a:spcPts val="0"/>
              </a:spcAft>
              <a:buNone/>
            </a:pPr>
            <a:r>
              <a:rPr b="0" i="0" lang="es-MX" sz="950" u="none" cap="none" strike="noStrike">
                <a:solidFill>
                  <a:srgbClr val="2E2E3A"/>
                </a:solidFill>
                <a:latin typeface="Arial"/>
                <a:ea typeface="Arial"/>
                <a:cs typeface="Arial"/>
                <a:sym typeface="Arial"/>
              </a:rPr>
              <a:t>¿Cuáles son las características del proyecto? ¿Qué problema o necesidad específica buscamos gestionar?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2"/>
          <p:cNvSpPr/>
          <p:nvPr/>
        </p:nvSpPr>
        <p:spPr>
          <a:xfrm>
            <a:off x="638485" y="723900"/>
            <a:ext cx="4086110"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Agilidad más allá de las herramientas</a:t>
            </a:r>
            <a:endParaRPr b="0" i="0" sz="1400" u="none" cap="none" strike="noStrike">
              <a:solidFill>
                <a:srgbClr val="000000"/>
              </a:solidFill>
              <a:latin typeface="Arial"/>
              <a:ea typeface="Arial"/>
              <a:cs typeface="Arial"/>
              <a:sym typeface="Arial"/>
            </a:endParaRPr>
          </a:p>
        </p:txBody>
      </p:sp>
      <p:sp>
        <p:nvSpPr>
          <p:cNvPr id="369" name="Google Shape;369;p22"/>
          <p:cNvSpPr txBox="1"/>
          <p:nvPr/>
        </p:nvSpPr>
        <p:spPr>
          <a:xfrm>
            <a:off x="640080" y="1234440"/>
            <a:ext cx="5577840" cy="279654"/>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MX" sz="1450" u="none" cap="none" strike="noStrike">
                <a:solidFill>
                  <a:srgbClr val="664092"/>
                </a:solidFill>
                <a:latin typeface="Arial"/>
                <a:ea typeface="Arial"/>
                <a:cs typeface="Arial"/>
                <a:sym typeface="Arial"/>
              </a:rPr>
              <a:t>Entonces, ¿cómo reconocemos una lógica realmente ágil?</a:t>
            </a:r>
            <a:endParaRPr/>
          </a:p>
        </p:txBody>
      </p:sp>
      <p:sp>
        <p:nvSpPr>
          <p:cNvPr id="370" name="Google Shape;370;p22"/>
          <p:cNvSpPr txBox="1"/>
          <p:nvPr/>
        </p:nvSpPr>
        <p:spPr>
          <a:xfrm>
            <a:off x="640080" y="1623822"/>
            <a:ext cx="5577840" cy="1162812"/>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s-MX" sz="1100" u="none" cap="none" strike="noStrike">
                <a:solidFill>
                  <a:srgbClr val="56505B"/>
                </a:solidFill>
                <a:latin typeface="Arial"/>
                <a:ea typeface="Arial"/>
                <a:cs typeface="Arial"/>
                <a:sym typeface="Arial"/>
              </a:rPr>
              <a:t>Más que preguntarnos cuántas herramientas utilizamos, podemos observar qué sucede cuando aparece nueva información. El Manifiesto Ágil prioriza la respuesta ante el cambio frente al seguimiento rígido de un plan y sus principios incorporan la entrega continua, la colaboración, la reflexión y el ajuste como componentes del trabajo (Beck et al., 2001).</a:t>
            </a:r>
            <a:endParaRPr/>
          </a:p>
        </p:txBody>
      </p:sp>
      <p:sp>
        <p:nvSpPr>
          <p:cNvPr id="371" name="Google Shape;371;p22"/>
          <p:cNvSpPr txBox="1"/>
          <p:nvPr/>
        </p:nvSpPr>
        <p:spPr>
          <a:xfrm>
            <a:off x="640080" y="2914650"/>
            <a:ext cx="5577840" cy="94488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s-MX" sz="1100" u="none" cap="none" strike="noStrike">
                <a:solidFill>
                  <a:srgbClr val="56505B"/>
                </a:solidFill>
                <a:latin typeface="Arial"/>
                <a:ea typeface="Arial"/>
                <a:cs typeface="Arial"/>
                <a:sym typeface="Arial"/>
              </a:rPr>
              <a:t>Si la retroalimentación nos permite revisar prioridades, los resultados parciales generan aprendizaje y el equipo puede adaptar sus decisiones sin perder de vista el valor que buscamos generar, estaremos acercándonos a una lógica realmente ágil.</a:t>
            </a:r>
            <a:endParaRPr/>
          </a:p>
        </p:txBody>
      </p:sp>
      <p:sp>
        <p:nvSpPr>
          <p:cNvPr id="372" name="Google Shape;372;p22"/>
          <p:cNvSpPr txBox="1"/>
          <p:nvPr/>
        </p:nvSpPr>
        <p:spPr>
          <a:xfrm>
            <a:off x="640080" y="3859530"/>
            <a:ext cx="557784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MX" sz="950" u="none" cap="none" strike="noStrike">
                <a:solidFill>
                  <a:srgbClr val="3560D6"/>
                </a:solidFill>
                <a:latin typeface="Arial"/>
                <a:ea typeface="Arial"/>
                <a:cs typeface="Arial"/>
                <a:sym typeface="Arial"/>
              </a:rPr>
              <a:t>FIGURA 5 · ENCUADRE CONCEPTUAL</a:t>
            </a:r>
            <a:endParaRPr/>
          </a:p>
        </p:txBody>
      </p:sp>
      <p:sp>
        <p:nvSpPr>
          <p:cNvPr id="373" name="Google Shape;373;p22"/>
          <p:cNvSpPr txBox="1"/>
          <p:nvPr/>
        </p:nvSpPr>
        <p:spPr>
          <a:xfrm>
            <a:off x="640080" y="4097274"/>
            <a:ext cx="5577840" cy="25450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MX" sz="1300" u="none" cap="none" strike="noStrike">
                <a:solidFill>
                  <a:srgbClr val="664092"/>
                </a:solidFill>
                <a:latin typeface="Arial"/>
                <a:ea typeface="Arial"/>
                <a:cs typeface="Arial"/>
                <a:sym typeface="Arial"/>
              </a:rPr>
              <a:t>Herramientas y lógica ágil</a:t>
            </a:r>
            <a:endParaRPr/>
          </a:p>
        </p:txBody>
      </p:sp>
      <p:sp>
        <p:nvSpPr>
          <p:cNvPr id="374" name="Google Shape;374;p22"/>
          <p:cNvSpPr txBox="1"/>
          <p:nvPr/>
        </p:nvSpPr>
        <p:spPr>
          <a:xfrm>
            <a:off x="640080" y="4388358"/>
            <a:ext cx="5577840" cy="236601"/>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MX" sz="1050" u="none" cap="none" strike="noStrike">
                <a:solidFill>
                  <a:srgbClr val="56505B"/>
                </a:solidFill>
                <a:latin typeface="Arial"/>
                <a:ea typeface="Arial"/>
                <a:cs typeface="Arial"/>
                <a:sym typeface="Arial"/>
              </a:rPr>
              <a:t>Usar herramientas ágiles no es lo mismo que trabajar con lógica ágil.</a:t>
            </a:r>
            <a:endParaRPr/>
          </a:p>
        </p:txBody>
      </p:sp>
      <p:sp>
        <p:nvSpPr>
          <p:cNvPr id="375" name="Google Shape;375;p22"/>
          <p:cNvSpPr/>
          <p:nvPr/>
        </p:nvSpPr>
        <p:spPr>
          <a:xfrm>
            <a:off x="640080" y="4752976"/>
            <a:ext cx="2616705" cy="2324100"/>
          </a:xfrm>
          <a:prstGeom prst="roundRect">
            <a:avLst>
              <a:gd fmla="val 4387" name="adj"/>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6" name="Google Shape;376;p22"/>
          <p:cNvSpPr/>
          <p:nvPr/>
        </p:nvSpPr>
        <p:spPr>
          <a:xfrm>
            <a:off x="640080" y="4752976"/>
            <a:ext cx="2616705" cy="681838"/>
          </a:xfrm>
          <a:prstGeom prst="roundRect">
            <a:avLst>
              <a:gd fmla="val 14516" name="adj"/>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22"/>
          <p:cNvSpPr/>
          <p:nvPr/>
        </p:nvSpPr>
        <p:spPr>
          <a:xfrm>
            <a:off x="763782" y="4900422"/>
            <a:ext cx="384048" cy="384048"/>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8" name="Google Shape;378;p22"/>
          <p:cNvSpPr/>
          <p:nvPr/>
        </p:nvSpPr>
        <p:spPr>
          <a:xfrm>
            <a:off x="848273" y="4986634"/>
            <a:ext cx="215067" cy="215067"/>
          </a:xfrm>
          <a:custGeom>
            <a:rect b="b" l="l" r="r" t="t"/>
            <a:pathLst>
              <a:path extrusionOk="0" h="256000" w="256000">
                <a:moveTo>
                  <a:pt x="226760" y="69000"/>
                </a:moveTo>
                <a:cubicBezTo>
                  <a:pt x="226275" y="67801"/>
                  <a:pt x="225506" y="66737"/>
                  <a:pt x="224519" y="65900"/>
                </a:cubicBezTo>
                <a:cubicBezTo>
                  <a:pt x="223532" y="65063"/>
                  <a:pt x="222357" y="64478"/>
                  <a:pt x="221095" y="64194"/>
                </a:cubicBezTo>
                <a:cubicBezTo>
                  <a:pt x="219832" y="63911"/>
                  <a:pt x="218520" y="63939"/>
                  <a:pt x="217270" y="64274"/>
                </a:cubicBezTo>
                <a:cubicBezTo>
                  <a:pt x="216021" y="64609"/>
                  <a:pt x="214871" y="65243"/>
                  <a:pt x="213920" y="66120"/>
                </a:cubicBezTo>
                <a:lnTo>
                  <a:pt x="173620" y="103310"/>
                </a:lnTo>
                <a:lnTo>
                  <a:pt x="156390" y="99610"/>
                </a:lnTo>
                <a:lnTo>
                  <a:pt x="152690" y="82380"/>
                </a:lnTo>
                <a:lnTo>
                  <a:pt x="189880" y="42080"/>
                </a:lnTo>
                <a:cubicBezTo>
                  <a:pt x="190757" y="41129"/>
                  <a:pt x="191391" y="39979"/>
                  <a:pt x="191726" y="38730"/>
                </a:cubicBezTo>
                <a:cubicBezTo>
                  <a:pt x="192061" y="37480"/>
                  <a:pt x="192089" y="36168"/>
                  <a:pt x="191806" y="34905"/>
                </a:cubicBezTo>
                <a:cubicBezTo>
                  <a:pt x="191522" y="33643"/>
                  <a:pt x="190937" y="32468"/>
                  <a:pt x="190100" y="31481"/>
                </a:cubicBezTo>
                <a:cubicBezTo>
                  <a:pt x="189263" y="30494"/>
                  <a:pt x="188199" y="29725"/>
                  <a:pt x="187000" y="29240"/>
                </a:cubicBezTo>
                <a:cubicBezTo>
                  <a:pt x="176070" y="24819"/>
                  <a:pt x="164219" y="23149"/>
                  <a:pt x="152493" y="24378"/>
                </a:cubicBezTo>
                <a:cubicBezTo>
                  <a:pt x="140767" y="25607"/>
                  <a:pt x="129520" y="29698"/>
                  <a:pt x="119745" y="36291"/>
                </a:cubicBezTo>
                <a:cubicBezTo>
                  <a:pt x="109969" y="42883"/>
                  <a:pt x="101961" y="51776"/>
                  <a:pt x="96426" y="62187"/>
                </a:cubicBezTo>
                <a:cubicBezTo>
                  <a:pt x="90892" y="72597"/>
                  <a:pt x="87998" y="84210"/>
                  <a:pt x="88000" y="96000"/>
                </a:cubicBezTo>
                <a:cubicBezTo>
                  <a:pt x="87987" y="105957"/>
                  <a:pt x="90030" y="115809"/>
                  <a:pt x="94000" y="124940"/>
                </a:cubicBezTo>
                <a:lnTo>
                  <a:pt x="33790" y="177000"/>
                </a:lnTo>
                <a:cubicBezTo>
                  <a:pt x="33640" y="177120"/>
                  <a:pt x="33500" y="177260"/>
                  <a:pt x="33360" y="177390"/>
                </a:cubicBezTo>
                <a:cubicBezTo>
                  <a:pt x="29388" y="181362"/>
                  <a:pt x="26531" y="186311"/>
                  <a:pt x="25077" y="191737"/>
                </a:cubicBezTo>
                <a:cubicBezTo>
                  <a:pt x="23623" y="197163"/>
                  <a:pt x="23623" y="202877"/>
                  <a:pt x="25077" y="208303"/>
                </a:cubicBezTo>
                <a:cubicBezTo>
                  <a:pt x="26531" y="213729"/>
                  <a:pt x="29388" y="218678"/>
                  <a:pt x="33360" y="222650"/>
                </a:cubicBezTo>
                <a:cubicBezTo>
                  <a:pt x="37332" y="226622"/>
                  <a:pt x="42281" y="229479"/>
                  <a:pt x="47707" y="230933"/>
                </a:cubicBezTo>
                <a:cubicBezTo>
                  <a:pt x="53133" y="232387"/>
                  <a:pt x="58847" y="232387"/>
                  <a:pt x="64273" y="230933"/>
                </a:cubicBezTo>
                <a:cubicBezTo>
                  <a:pt x="69699" y="229479"/>
                  <a:pt x="74648" y="226622"/>
                  <a:pt x="78620" y="222650"/>
                </a:cubicBezTo>
                <a:cubicBezTo>
                  <a:pt x="78750" y="222520"/>
                  <a:pt x="78890" y="222370"/>
                  <a:pt x="79010" y="222230"/>
                </a:cubicBezTo>
                <a:lnTo>
                  <a:pt x="131060" y="162000"/>
                </a:lnTo>
                <a:cubicBezTo>
                  <a:pt x="142024" y="166813"/>
                  <a:pt x="154017" y="168815"/>
                  <a:pt x="165949" y="167826"/>
                </a:cubicBezTo>
                <a:cubicBezTo>
                  <a:pt x="177882" y="166837"/>
                  <a:pt x="189381" y="162886"/>
                  <a:pt x="199402" y="156334"/>
                </a:cubicBezTo>
                <a:cubicBezTo>
                  <a:pt x="209424" y="149781"/>
                  <a:pt x="217654" y="140831"/>
                  <a:pt x="223346" y="130297"/>
                </a:cubicBezTo>
                <a:cubicBezTo>
                  <a:pt x="229037" y="119763"/>
                  <a:pt x="232012" y="107973"/>
                  <a:pt x="232000" y="96000"/>
                </a:cubicBezTo>
                <a:cubicBezTo>
                  <a:pt x="232016" y="86746"/>
                  <a:pt x="230236" y="77576"/>
                  <a:pt x="226760" y="69000"/>
                </a:cubicBezTo>
                <a:close/>
                <a:moveTo>
                  <a:pt x="160000" y="152000"/>
                </a:moveTo>
                <a:cubicBezTo>
                  <a:pt x="150531" y="151987"/>
                  <a:pt x="141218" y="149579"/>
                  <a:pt x="132930" y="145000"/>
                </a:cubicBezTo>
                <a:cubicBezTo>
                  <a:pt x="131865" y="144412"/>
                  <a:pt x="130680" y="144074"/>
                  <a:pt x="129466" y="144013"/>
                </a:cubicBezTo>
                <a:cubicBezTo>
                  <a:pt x="128251" y="143951"/>
                  <a:pt x="127038" y="144168"/>
                  <a:pt x="125919" y="144645"/>
                </a:cubicBezTo>
                <a:cubicBezTo>
                  <a:pt x="124801" y="145123"/>
                  <a:pt x="123806" y="145850"/>
                  <a:pt x="123010" y="146770"/>
                </a:cubicBezTo>
                <a:lnTo>
                  <a:pt x="67110" y="211510"/>
                </a:lnTo>
                <a:cubicBezTo>
                  <a:pt x="65108" y="213412"/>
                  <a:pt x="62646" y="214764"/>
                  <a:pt x="59966" y="215434"/>
                </a:cubicBezTo>
                <a:cubicBezTo>
                  <a:pt x="57287" y="216103"/>
                  <a:pt x="54479" y="216067"/>
                  <a:pt x="51817" y="215329"/>
                </a:cubicBezTo>
                <a:cubicBezTo>
                  <a:pt x="49155" y="214592"/>
                  <a:pt x="46729" y="213177"/>
                  <a:pt x="44776" y="211224"/>
                </a:cubicBezTo>
                <a:cubicBezTo>
                  <a:pt x="42823" y="209271"/>
                  <a:pt x="41408" y="206845"/>
                  <a:pt x="40671" y="204183"/>
                </a:cubicBezTo>
                <a:cubicBezTo>
                  <a:pt x="39933" y="201521"/>
                  <a:pt x="39897" y="198713"/>
                  <a:pt x="40566" y="196034"/>
                </a:cubicBezTo>
                <a:cubicBezTo>
                  <a:pt x="41236" y="193354"/>
                  <a:pt x="42588" y="190892"/>
                  <a:pt x="44490" y="188890"/>
                </a:cubicBezTo>
                <a:lnTo>
                  <a:pt x="109180" y="133000"/>
                </a:lnTo>
                <a:cubicBezTo>
                  <a:pt x="110102" y="132204"/>
                  <a:pt x="110830" y="131208"/>
                  <a:pt x="111308" y="130088"/>
                </a:cubicBezTo>
                <a:cubicBezTo>
                  <a:pt x="111786" y="128968"/>
                  <a:pt x="112003" y="127754"/>
                  <a:pt x="111941" y="126538"/>
                </a:cubicBezTo>
                <a:cubicBezTo>
                  <a:pt x="111879" y="125322"/>
                  <a:pt x="111540" y="124135"/>
                  <a:pt x="110950" y="123070"/>
                </a:cubicBezTo>
                <a:cubicBezTo>
                  <a:pt x="106880" y="115709"/>
                  <a:pt x="104520" y="107525"/>
                  <a:pt x="104047" y="99127"/>
                </a:cubicBezTo>
                <a:cubicBezTo>
                  <a:pt x="103573" y="90729"/>
                  <a:pt x="104998" y="82331"/>
                  <a:pt x="108214" y="74559"/>
                </a:cubicBezTo>
                <a:cubicBezTo>
                  <a:pt x="111431" y="66787"/>
                  <a:pt x="116357" y="59839"/>
                  <a:pt x="122627" y="54232"/>
                </a:cubicBezTo>
                <a:cubicBezTo>
                  <a:pt x="128897" y="48624"/>
                  <a:pt x="136350" y="44501"/>
                  <a:pt x="144431" y="42169"/>
                </a:cubicBezTo>
                <a:cubicBezTo>
                  <a:pt x="152513" y="39837"/>
                  <a:pt x="161017" y="39355"/>
                  <a:pt x="169310" y="40760"/>
                </a:cubicBezTo>
                <a:lnTo>
                  <a:pt x="138110" y="74570"/>
                </a:lnTo>
                <a:cubicBezTo>
                  <a:pt x="137242" y="75512"/>
                  <a:pt x="136613" y="76648"/>
                  <a:pt x="136275" y="77884"/>
                </a:cubicBezTo>
                <a:cubicBezTo>
                  <a:pt x="135937" y="79119"/>
                  <a:pt x="135901" y="80418"/>
                  <a:pt x="136170" y="81670"/>
                </a:cubicBezTo>
                <a:lnTo>
                  <a:pt x="141830" y="108000"/>
                </a:lnTo>
                <a:cubicBezTo>
                  <a:pt x="142045" y="109000"/>
                  <a:pt x="142450" y="109950"/>
                  <a:pt x="143022" y="110797"/>
                </a:cubicBezTo>
                <a:cubicBezTo>
                  <a:pt x="143595" y="111645"/>
                  <a:pt x="144325" y="112375"/>
                  <a:pt x="145173" y="112948"/>
                </a:cubicBezTo>
                <a:cubicBezTo>
                  <a:pt x="146020" y="113520"/>
                  <a:pt x="146970" y="113925"/>
                  <a:pt x="147970" y="114140"/>
                </a:cubicBezTo>
                <a:lnTo>
                  <a:pt x="174320" y="119800"/>
                </a:lnTo>
                <a:cubicBezTo>
                  <a:pt x="175572" y="120069"/>
                  <a:pt x="176871" y="120033"/>
                  <a:pt x="178106" y="119695"/>
                </a:cubicBezTo>
                <a:cubicBezTo>
                  <a:pt x="179342" y="119357"/>
                  <a:pt x="180478" y="118728"/>
                  <a:pt x="181420" y="117860"/>
                </a:cubicBezTo>
                <a:lnTo>
                  <a:pt x="215230" y="86660"/>
                </a:lnTo>
                <a:cubicBezTo>
                  <a:pt x="216578" y="94690"/>
                  <a:pt x="216160" y="102918"/>
                  <a:pt x="214006" y="110770"/>
                </a:cubicBezTo>
                <a:cubicBezTo>
                  <a:pt x="211853" y="118622"/>
                  <a:pt x="208014" y="125911"/>
                  <a:pt x="202758" y="132130"/>
                </a:cubicBezTo>
                <a:cubicBezTo>
                  <a:pt x="197501" y="138348"/>
                  <a:pt x="190953" y="143347"/>
                  <a:pt x="183569" y="146778"/>
                </a:cubicBezTo>
                <a:cubicBezTo>
                  <a:pt x="176186" y="150210"/>
                  <a:pt x="168142" y="151992"/>
                  <a:pt x="160000" y="152000"/>
                </a:cubicBezTo>
                <a:close/>
              </a:path>
            </a:pathLst>
          </a:custGeom>
          <a:solidFill>
            <a:srgbClr val="66409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9" name="Google Shape;379;p22"/>
          <p:cNvSpPr txBox="1"/>
          <p:nvPr/>
        </p:nvSpPr>
        <p:spPr>
          <a:xfrm>
            <a:off x="1233263" y="4882134"/>
            <a:ext cx="1946981" cy="38404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s-MX" sz="1000" u="none" cap="none" strike="noStrike">
                <a:solidFill>
                  <a:srgbClr val="FFFFFF"/>
                </a:solidFill>
                <a:latin typeface="Arial"/>
                <a:ea typeface="Arial"/>
                <a:cs typeface="Arial"/>
                <a:sym typeface="Arial"/>
              </a:rPr>
              <a:t>Usar herramientas ágiles: lo que se incorpora</a:t>
            </a:r>
            <a:endParaRPr b="1" i="0" sz="1000" u="none" cap="none" strike="noStrike">
              <a:solidFill>
                <a:srgbClr val="FFFFFF"/>
              </a:solidFill>
              <a:latin typeface="Arial"/>
              <a:ea typeface="Arial"/>
              <a:cs typeface="Arial"/>
              <a:sym typeface="Arial"/>
            </a:endParaRPr>
          </a:p>
        </p:txBody>
      </p:sp>
      <p:sp>
        <p:nvSpPr>
          <p:cNvPr id="380" name="Google Shape;380;p22"/>
          <p:cNvSpPr/>
          <p:nvPr/>
        </p:nvSpPr>
        <p:spPr>
          <a:xfrm>
            <a:off x="754889" y="5577157"/>
            <a:ext cx="2387085" cy="292608"/>
          </a:xfrm>
          <a:prstGeom prst="roundRect">
            <a:avLst>
              <a:gd fmla="val 3125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22"/>
          <p:cNvSpPr/>
          <p:nvPr/>
        </p:nvSpPr>
        <p:spPr>
          <a:xfrm>
            <a:off x="856069" y="5604589"/>
            <a:ext cx="237744" cy="237744"/>
          </a:xfrm>
          <a:custGeom>
            <a:rect b="b" l="l" r="r" t="t"/>
            <a:pathLst>
              <a:path extrusionOk="0" h="256000" w="256000">
                <a:moveTo>
                  <a:pt x="216000" y="48000"/>
                </a:moveTo>
                <a:lnTo>
                  <a:pt x="40000" y="48000"/>
                </a:lnTo>
                <a:cubicBezTo>
                  <a:pt x="38596" y="48000"/>
                  <a:pt x="37216" y="48370"/>
                  <a:pt x="36000" y="49072"/>
                </a:cubicBezTo>
                <a:cubicBezTo>
                  <a:pt x="34784" y="49774"/>
                  <a:pt x="33774" y="50784"/>
                  <a:pt x="33072" y="52000"/>
                </a:cubicBezTo>
                <a:cubicBezTo>
                  <a:pt x="32370" y="53216"/>
                  <a:pt x="32000" y="54596"/>
                  <a:pt x="32000" y="56000"/>
                </a:cubicBezTo>
                <a:lnTo>
                  <a:pt x="32000" y="208000"/>
                </a:lnTo>
                <a:cubicBezTo>
                  <a:pt x="32000" y="210808"/>
                  <a:pt x="32739" y="213568"/>
                  <a:pt x="34144" y="216000"/>
                </a:cubicBezTo>
                <a:cubicBezTo>
                  <a:pt x="35548" y="218432"/>
                  <a:pt x="37568" y="220452"/>
                  <a:pt x="40000" y="221856"/>
                </a:cubicBezTo>
                <a:cubicBezTo>
                  <a:pt x="42432" y="223261"/>
                  <a:pt x="45192" y="224000"/>
                  <a:pt x="48000" y="224000"/>
                </a:cubicBezTo>
                <a:lnTo>
                  <a:pt x="88000" y="224000"/>
                </a:lnTo>
                <a:cubicBezTo>
                  <a:pt x="90808" y="224000"/>
                  <a:pt x="93568" y="223261"/>
                  <a:pt x="96000" y="221856"/>
                </a:cubicBezTo>
                <a:cubicBezTo>
                  <a:pt x="98432" y="220452"/>
                  <a:pt x="100452" y="218432"/>
                  <a:pt x="101856" y="216000"/>
                </a:cubicBezTo>
                <a:cubicBezTo>
                  <a:pt x="103261" y="213568"/>
                  <a:pt x="104000" y="210808"/>
                  <a:pt x="104000" y="208000"/>
                </a:cubicBezTo>
                <a:lnTo>
                  <a:pt x="104000" y="160000"/>
                </a:lnTo>
                <a:lnTo>
                  <a:pt x="152000" y="160000"/>
                </a:lnTo>
                <a:lnTo>
                  <a:pt x="152000" y="176000"/>
                </a:lnTo>
                <a:cubicBezTo>
                  <a:pt x="152000" y="178808"/>
                  <a:pt x="152739" y="181568"/>
                  <a:pt x="154144" y="184000"/>
                </a:cubicBezTo>
                <a:cubicBezTo>
                  <a:pt x="155548" y="186432"/>
                  <a:pt x="157568" y="188452"/>
                  <a:pt x="160000" y="189856"/>
                </a:cubicBezTo>
                <a:cubicBezTo>
                  <a:pt x="162432" y="191261"/>
                  <a:pt x="165192" y="192000"/>
                  <a:pt x="168000" y="192000"/>
                </a:cubicBezTo>
                <a:lnTo>
                  <a:pt x="208000" y="192000"/>
                </a:lnTo>
                <a:cubicBezTo>
                  <a:pt x="210808" y="192000"/>
                  <a:pt x="213568" y="191261"/>
                  <a:pt x="216000" y="189856"/>
                </a:cubicBezTo>
                <a:cubicBezTo>
                  <a:pt x="218432" y="188452"/>
                  <a:pt x="220452" y="186432"/>
                  <a:pt x="221856" y="184000"/>
                </a:cubicBezTo>
                <a:cubicBezTo>
                  <a:pt x="223261" y="181568"/>
                  <a:pt x="224000" y="178808"/>
                  <a:pt x="224000" y="176000"/>
                </a:cubicBezTo>
                <a:lnTo>
                  <a:pt x="224000" y="56000"/>
                </a:lnTo>
                <a:cubicBezTo>
                  <a:pt x="224000" y="54596"/>
                  <a:pt x="223630" y="53216"/>
                  <a:pt x="222928" y="52000"/>
                </a:cubicBezTo>
                <a:cubicBezTo>
                  <a:pt x="222226" y="50784"/>
                  <a:pt x="221216" y="49774"/>
                  <a:pt x="220000" y="49072"/>
                </a:cubicBezTo>
                <a:cubicBezTo>
                  <a:pt x="218784" y="48370"/>
                  <a:pt x="217404" y="48000"/>
                  <a:pt x="216000" y="48000"/>
                </a:cubicBezTo>
                <a:close/>
                <a:moveTo>
                  <a:pt x="88000" y="208000"/>
                </a:moveTo>
                <a:lnTo>
                  <a:pt x="48000" y="208000"/>
                </a:lnTo>
                <a:lnTo>
                  <a:pt x="48000" y="128000"/>
                </a:lnTo>
                <a:lnTo>
                  <a:pt x="88000" y="128000"/>
                </a:lnTo>
                <a:close/>
                <a:moveTo>
                  <a:pt x="88000" y="112000"/>
                </a:moveTo>
                <a:lnTo>
                  <a:pt x="48000" y="112000"/>
                </a:lnTo>
                <a:lnTo>
                  <a:pt x="48000" y="64000"/>
                </a:lnTo>
                <a:lnTo>
                  <a:pt x="88000" y="64000"/>
                </a:lnTo>
                <a:close/>
                <a:moveTo>
                  <a:pt x="152000" y="144000"/>
                </a:moveTo>
                <a:lnTo>
                  <a:pt x="104000" y="144000"/>
                </a:lnTo>
                <a:lnTo>
                  <a:pt x="104000" y="64000"/>
                </a:lnTo>
                <a:lnTo>
                  <a:pt x="152000" y="64000"/>
                </a:lnTo>
                <a:close/>
                <a:moveTo>
                  <a:pt x="208000" y="176000"/>
                </a:moveTo>
                <a:lnTo>
                  <a:pt x="168000" y="176000"/>
                </a:lnTo>
                <a:lnTo>
                  <a:pt x="168000" y="128000"/>
                </a:lnTo>
                <a:lnTo>
                  <a:pt x="208000" y="128000"/>
                </a:lnTo>
                <a:close/>
                <a:moveTo>
                  <a:pt x="208000" y="112000"/>
                </a:moveTo>
                <a:lnTo>
                  <a:pt x="168000" y="112000"/>
                </a:lnTo>
                <a:lnTo>
                  <a:pt x="168000" y="64000"/>
                </a:lnTo>
                <a:lnTo>
                  <a:pt x="208000" y="64000"/>
                </a:lnTo>
                <a:close/>
              </a:path>
            </a:pathLst>
          </a:custGeom>
          <a:solidFill>
            <a:srgbClr val="66409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22"/>
          <p:cNvSpPr txBox="1"/>
          <p:nvPr/>
        </p:nvSpPr>
        <p:spPr>
          <a:xfrm>
            <a:off x="1194993" y="5577157"/>
            <a:ext cx="1899144" cy="292608"/>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0" i="0" lang="es-MX" sz="950" u="none" cap="none" strike="noStrike">
                <a:solidFill>
                  <a:srgbClr val="2E2E3A"/>
                </a:solidFill>
                <a:latin typeface="Arial"/>
                <a:ea typeface="Arial"/>
                <a:cs typeface="Arial"/>
                <a:sym typeface="Arial"/>
              </a:rPr>
              <a:t>Tableros</a:t>
            </a:r>
            <a:endParaRPr/>
          </a:p>
        </p:txBody>
      </p:sp>
      <p:sp>
        <p:nvSpPr>
          <p:cNvPr id="383" name="Google Shape;383;p22"/>
          <p:cNvSpPr/>
          <p:nvPr/>
        </p:nvSpPr>
        <p:spPr>
          <a:xfrm>
            <a:off x="754889" y="5924629"/>
            <a:ext cx="2387085" cy="292608"/>
          </a:xfrm>
          <a:prstGeom prst="roundRect">
            <a:avLst>
              <a:gd fmla="val 3125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4" name="Google Shape;384;p22"/>
          <p:cNvSpPr/>
          <p:nvPr/>
        </p:nvSpPr>
        <p:spPr>
          <a:xfrm>
            <a:off x="856069" y="5952061"/>
            <a:ext cx="237744" cy="237744"/>
          </a:xfrm>
          <a:custGeom>
            <a:rect b="b" l="l" r="r" t="t"/>
            <a:pathLst>
              <a:path extrusionOk="0" h="256000" w="256000">
                <a:moveTo>
                  <a:pt x="224000" y="48000"/>
                </a:moveTo>
                <a:lnTo>
                  <a:pt x="224000" y="96000"/>
                </a:lnTo>
                <a:cubicBezTo>
                  <a:pt x="224000" y="97404"/>
                  <a:pt x="223630" y="98784"/>
                  <a:pt x="222928" y="100000"/>
                </a:cubicBezTo>
                <a:cubicBezTo>
                  <a:pt x="222226" y="101216"/>
                  <a:pt x="221216" y="102226"/>
                  <a:pt x="220000" y="102928"/>
                </a:cubicBezTo>
                <a:cubicBezTo>
                  <a:pt x="218784" y="103630"/>
                  <a:pt x="217404" y="104000"/>
                  <a:pt x="216000" y="104000"/>
                </a:cubicBezTo>
                <a:lnTo>
                  <a:pt x="168000" y="104000"/>
                </a:lnTo>
                <a:cubicBezTo>
                  <a:pt x="166596" y="104000"/>
                  <a:pt x="165216" y="103630"/>
                  <a:pt x="164000" y="102928"/>
                </a:cubicBezTo>
                <a:cubicBezTo>
                  <a:pt x="162784" y="102226"/>
                  <a:pt x="161774" y="101216"/>
                  <a:pt x="161072" y="100000"/>
                </a:cubicBezTo>
                <a:cubicBezTo>
                  <a:pt x="160370" y="98784"/>
                  <a:pt x="160000" y="97404"/>
                  <a:pt x="160000" y="96000"/>
                </a:cubicBezTo>
                <a:cubicBezTo>
                  <a:pt x="160000" y="94596"/>
                  <a:pt x="160370" y="93216"/>
                  <a:pt x="161072" y="92000"/>
                </a:cubicBezTo>
                <a:cubicBezTo>
                  <a:pt x="161774" y="90784"/>
                  <a:pt x="162784" y="89774"/>
                  <a:pt x="164000" y="89072"/>
                </a:cubicBezTo>
                <a:cubicBezTo>
                  <a:pt x="165216" y="88370"/>
                  <a:pt x="166596" y="88000"/>
                  <a:pt x="168000" y="88000"/>
                </a:cubicBezTo>
                <a:lnTo>
                  <a:pt x="196690" y="88000"/>
                </a:lnTo>
                <a:lnTo>
                  <a:pt x="182060" y="73370"/>
                </a:lnTo>
                <a:cubicBezTo>
                  <a:pt x="174698" y="65974"/>
                  <a:pt x="165952" y="60099"/>
                  <a:pt x="156322" y="56079"/>
                </a:cubicBezTo>
                <a:cubicBezTo>
                  <a:pt x="146693" y="52060"/>
                  <a:pt x="136365" y="49973"/>
                  <a:pt x="125930" y="49940"/>
                </a:cubicBezTo>
                <a:lnTo>
                  <a:pt x="125480" y="49940"/>
                </a:lnTo>
                <a:cubicBezTo>
                  <a:pt x="115131" y="49916"/>
                  <a:pt x="104875" y="51912"/>
                  <a:pt x="95291" y="55817"/>
                </a:cubicBezTo>
                <a:cubicBezTo>
                  <a:pt x="85706" y="59722"/>
                  <a:pt x="76976" y="65460"/>
                  <a:pt x="69590" y="72710"/>
                </a:cubicBezTo>
                <a:cubicBezTo>
                  <a:pt x="68579" y="73654"/>
                  <a:pt x="67340" y="74320"/>
                  <a:pt x="65994" y="74642"/>
                </a:cubicBezTo>
                <a:cubicBezTo>
                  <a:pt x="64649" y="74964"/>
                  <a:pt x="63242" y="74932"/>
                  <a:pt x="61913" y="74548"/>
                </a:cubicBezTo>
                <a:cubicBezTo>
                  <a:pt x="60584" y="74165"/>
                  <a:pt x="59376" y="73443"/>
                  <a:pt x="58409" y="72454"/>
                </a:cubicBezTo>
                <a:cubicBezTo>
                  <a:pt x="57442" y="71464"/>
                  <a:pt x="56748" y="70240"/>
                  <a:pt x="56396" y="68903"/>
                </a:cubicBezTo>
                <a:cubicBezTo>
                  <a:pt x="56043" y="67565"/>
                  <a:pt x="56043" y="66158"/>
                  <a:pt x="56396" y="64821"/>
                </a:cubicBezTo>
                <a:cubicBezTo>
                  <a:pt x="56749" y="63483"/>
                  <a:pt x="57443" y="62259"/>
                  <a:pt x="58410" y="61270"/>
                </a:cubicBezTo>
                <a:cubicBezTo>
                  <a:pt x="70374" y="49577"/>
                  <a:pt x="85189" y="41212"/>
                  <a:pt x="101380" y="37007"/>
                </a:cubicBezTo>
                <a:cubicBezTo>
                  <a:pt x="117572" y="32802"/>
                  <a:pt x="134585" y="32902"/>
                  <a:pt x="150727" y="37296"/>
                </a:cubicBezTo>
                <a:cubicBezTo>
                  <a:pt x="166868" y="41690"/>
                  <a:pt x="181584" y="50228"/>
                  <a:pt x="193410" y="62060"/>
                </a:cubicBezTo>
                <a:lnTo>
                  <a:pt x="208000" y="76690"/>
                </a:lnTo>
                <a:lnTo>
                  <a:pt x="208000" y="48000"/>
                </a:lnTo>
                <a:cubicBezTo>
                  <a:pt x="208000" y="46596"/>
                  <a:pt x="208370" y="45216"/>
                  <a:pt x="209072" y="44000"/>
                </a:cubicBezTo>
                <a:cubicBezTo>
                  <a:pt x="209774" y="42784"/>
                  <a:pt x="210784" y="41774"/>
                  <a:pt x="212000" y="41072"/>
                </a:cubicBezTo>
                <a:cubicBezTo>
                  <a:pt x="213216" y="40370"/>
                  <a:pt x="214596" y="40000"/>
                  <a:pt x="216000" y="40000"/>
                </a:cubicBezTo>
                <a:cubicBezTo>
                  <a:pt x="217404" y="40000"/>
                  <a:pt x="218784" y="40370"/>
                  <a:pt x="220000" y="41072"/>
                </a:cubicBezTo>
                <a:cubicBezTo>
                  <a:pt x="221216" y="41774"/>
                  <a:pt x="222226" y="42784"/>
                  <a:pt x="222928" y="44000"/>
                </a:cubicBezTo>
                <a:cubicBezTo>
                  <a:pt x="223630" y="45216"/>
                  <a:pt x="224000" y="46596"/>
                  <a:pt x="224000" y="48000"/>
                </a:cubicBezTo>
                <a:close/>
                <a:moveTo>
                  <a:pt x="186410" y="183290"/>
                </a:moveTo>
                <a:cubicBezTo>
                  <a:pt x="176441" y="193028"/>
                  <a:pt x="164098" y="199994"/>
                  <a:pt x="150609" y="203495"/>
                </a:cubicBezTo>
                <a:cubicBezTo>
                  <a:pt x="137120" y="206997"/>
                  <a:pt x="122948" y="206914"/>
                  <a:pt x="109501" y="203254"/>
                </a:cubicBezTo>
                <a:cubicBezTo>
                  <a:pt x="96054" y="199595"/>
                  <a:pt x="83794" y="192484"/>
                  <a:pt x="73940" y="182630"/>
                </a:cubicBezTo>
                <a:lnTo>
                  <a:pt x="59310" y="168000"/>
                </a:lnTo>
                <a:lnTo>
                  <a:pt x="88000" y="168000"/>
                </a:lnTo>
                <a:cubicBezTo>
                  <a:pt x="89404" y="168000"/>
                  <a:pt x="90784" y="167630"/>
                  <a:pt x="92000" y="166928"/>
                </a:cubicBezTo>
                <a:cubicBezTo>
                  <a:pt x="93216" y="166226"/>
                  <a:pt x="94226" y="165216"/>
                  <a:pt x="94928" y="164000"/>
                </a:cubicBezTo>
                <a:cubicBezTo>
                  <a:pt x="95630" y="162784"/>
                  <a:pt x="96000" y="161404"/>
                  <a:pt x="96000" y="160000"/>
                </a:cubicBezTo>
                <a:cubicBezTo>
                  <a:pt x="96000" y="158596"/>
                  <a:pt x="95630" y="157216"/>
                  <a:pt x="94928" y="156000"/>
                </a:cubicBezTo>
                <a:cubicBezTo>
                  <a:pt x="94226" y="154784"/>
                  <a:pt x="93216" y="153774"/>
                  <a:pt x="92000" y="153072"/>
                </a:cubicBezTo>
                <a:cubicBezTo>
                  <a:pt x="90784" y="152370"/>
                  <a:pt x="89404" y="152000"/>
                  <a:pt x="88000" y="152000"/>
                </a:cubicBezTo>
                <a:lnTo>
                  <a:pt x="40000" y="152000"/>
                </a:lnTo>
                <a:cubicBezTo>
                  <a:pt x="38596" y="152000"/>
                  <a:pt x="37216" y="152370"/>
                  <a:pt x="36000" y="153072"/>
                </a:cubicBezTo>
                <a:cubicBezTo>
                  <a:pt x="34784" y="153774"/>
                  <a:pt x="33774" y="154784"/>
                  <a:pt x="33072" y="156000"/>
                </a:cubicBezTo>
                <a:cubicBezTo>
                  <a:pt x="32370" y="157216"/>
                  <a:pt x="32000" y="158596"/>
                  <a:pt x="32000" y="160000"/>
                </a:cubicBezTo>
                <a:lnTo>
                  <a:pt x="32000" y="208000"/>
                </a:lnTo>
                <a:cubicBezTo>
                  <a:pt x="32000" y="209404"/>
                  <a:pt x="32370" y="210784"/>
                  <a:pt x="33072" y="212000"/>
                </a:cubicBezTo>
                <a:cubicBezTo>
                  <a:pt x="33774" y="213216"/>
                  <a:pt x="34784" y="214226"/>
                  <a:pt x="36000" y="214928"/>
                </a:cubicBezTo>
                <a:cubicBezTo>
                  <a:pt x="37216" y="215630"/>
                  <a:pt x="38596" y="216000"/>
                  <a:pt x="40000" y="216000"/>
                </a:cubicBezTo>
                <a:cubicBezTo>
                  <a:pt x="41404" y="216000"/>
                  <a:pt x="42784" y="215630"/>
                  <a:pt x="44000" y="214928"/>
                </a:cubicBezTo>
                <a:cubicBezTo>
                  <a:pt x="45216" y="214226"/>
                  <a:pt x="46226" y="213216"/>
                  <a:pt x="46928" y="212000"/>
                </a:cubicBezTo>
                <a:cubicBezTo>
                  <a:pt x="47630" y="210784"/>
                  <a:pt x="48000" y="209404"/>
                  <a:pt x="48000" y="208000"/>
                </a:cubicBezTo>
                <a:lnTo>
                  <a:pt x="48000" y="179310"/>
                </a:lnTo>
                <a:lnTo>
                  <a:pt x="62630" y="193940"/>
                </a:lnTo>
                <a:cubicBezTo>
                  <a:pt x="71464" y="202819"/>
                  <a:pt x="81961" y="209872"/>
                  <a:pt x="93520" y="214697"/>
                </a:cubicBezTo>
                <a:cubicBezTo>
                  <a:pt x="105079" y="219521"/>
                  <a:pt x="117475" y="222023"/>
                  <a:pt x="130000" y="222060"/>
                </a:cubicBezTo>
                <a:lnTo>
                  <a:pt x="130530" y="222060"/>
                </a:lnTo>
                <a:cubicBezTo>
                  <a:pt x="142950" y="222092"/>
                  <a:pt x="155258" y="219697"/>
                  <a:pt x="166761" y="215010"/>
                </a:cubicBezTo>
                <a:cubicBezTo>
                  <a:pt x="178263" y="210323"/>
                  <a:pt x="188739" y="203434"/>
                  <a:pt x="197600" y="194730"/>
                </a:cubicBezTo>
                <a:cubicBezTo>
                  <a:pt x="198567" y="193741"/>
                  <a:pt x="199261" y="192517"/>
                  <a:pt x="199614" y="191179"/>
                </a:cubicBezTo>
                <a:cubicBezTo>
                  <a:pt x="199967" y="189842"/>
                  <a:pt x="199967" y="188435"/>
                  <a:pt x="199614" y="187097"/>
                </a:cubicBezTo>
                <a:cubicBezTo>
                  <a:pt x="199262" y="185760"/>
                  <a:pt x="198568" y="184536"/>
                  <a:pt x="197601" y="183546"/>
                </a:cubicBezTo>
                <a:cubicBezTo>
                  <a:pt x="196634" y="182557"/>
                  <a:pt x="195426" y="181835"/>
                  <a:pt x="194097" y="181452"/>
                </a:cubicBezTo>
                <a:cubicBezTo>
                  <a:pt x="192768" y="181068"/>
                  <a:pt x="191361" y="181036"/>
                  <a:pt x="190016" y="181358"/>
                </a:cubicBezTo>
                <a:cubicBezTo>
                  <a:pt x="188670" y="181680"/>
                  <a:pt x="187431" y="182346"/>
                  <a:pt x="186420" y="183290"/>
                </a:cubicBezTo>
                <a:close/>
              </a:path>
            </a:pathLst>
          </a:custGeom>
          <a:solidFill>
            <a:srgbClr val="66409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22"/>
          <p:cNvSpPr txBox="1"/>
          <p:nvPr/>
        </p:nvSpPr>
        <p:spPr>
          <a:xfrm>
            <a:off x="1194993" y="5924629"/>
            <a:ext cx="1899144" cy="292608"/>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0" i="0" lang="es-MX" sz="950" u="none" cap="none" strike="noStrike">
                <a:solidFill>
                  <a:srgbClr val="2E2E3A"/>
                </a:solidFill>
                <a:latin typeface="Arial"/>
                <a:ea typeface="Arial"/>
                <a:cs typeface="Arial"/>
                <a:sym typeface="Arial"/>
              </a:rPr>
              <a:t>Ciclos</a:t>
            </a:r>
            <a:endParaRPr/>
          </a:p>
        </p:txBody>
      </p:sp>
      <p:sp>
        <p:nvSpPr>
          <p:cNvPr id="386" name="Google Shape;386;p22"/>
          <p:cNvSpPr/>
          <p:nvPr/>
        </p:nvSpPr>
        <p:spPr>
          <a:xfrm>
            <a:off x="754889" y="6272101"/>
            <a:ext cx="2387085" cy="292608"/>
          </a:xfrm>
          <a:prstGeom prst="roundRect">
            <a:avLst>
              <a:gd fmla="val 3125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7" name="Google Shape;387;p22"/>
          <p:cNvSpPr/>
          <p:nvPr/>
        </p:nvSpPr>
        <p:spPr>
          <a:xfrm>
            <a:off x="856069" y="6299533"/>
            <a:ext cx="237744" cy="237744"/>
          </a:xfrm>
          <a:custGeom>
            <a:rect b="b" l="l" r="r" t="t"/>
            <a:pathLst>
              <a:path extrusionOk="0" h="256000" w="256000">
                <a:moveTo>
                  <a:pt x="232070" y="186760"/>
                </a:moveTo>
                <a:cubicBezTo>
                  <a:pt x="237597" y="175295"/>
                  <a:pt x="240310" y="162676"/>
                  <a:pt x="239982" y="149952"/>
                </a:cubicBezTo>
                <a:cubicBezTo>
                  <a:pt x="239653" y="137229"/>
                  <a:pt x="236293" y="124766"/>
                  <a:pt x="230182" y="113602"/>
                </a:cubicBezTo>
                <a:cubicBezTo>
                  <a:pt x="224070" y="102437"/>
                  <a:pt x="215381" y="92891"/>
                  <a:pt x="204840" y="85759"/>
                </a:cubicBezTo>
                <a:cubicBezTo>
                  <a:pt x="194299" y="78626"/>
                  <a:pt x="182206" y="74111"/>
                  <a:pt x="169570" y="72590"/>
                </a:cubicBezTo>
                <a:cubicBezTo>
                  <a:pt x="164760" y="61406"/>
                  <a:pt x="157460" y="51467"/>
                  <a:pt x="148227" y="43531"/>
                </a:cubicBezTo>
                <a:cubicBezTo>
                  <a:pt x="138995" y="35595"/>
                  <a:pt x="128071" y="29870"/>
                  <a:pt x="116292" y="26794"/>
                </a:cubicBezTo>
                <a:cubicBezTo>
                  <a:pt x="104513" y="23718"/>
                  <a:pt x="92185" y="23371"/>
                  <a:pt x="80251" y="25780"/>
                </a:cubicBezTo>
                <a:cubicBezTo>
                  <a:pt x="68318" y="28188"/>
                  <a:pt x="57090" y="33290"/>
                  <a:pt x="47426" y="40694"/>
                </a:cubicBezTo>
                <a:cubicBezTo>
                  <a:pt x="37761" y="48098"/>
                  <a:pt x="29914" y="57611"/>
                  <a:pt x="24482" y="68507"/>
                </a:cubicBezTo>
                <a:cubicBezTo>
                  <a:pt x="19051" y="79403"/>
                  <a:pt x="16177" y="91396"/>
                  <a:pt x="16082" y="103570"/>
                </a:cubicBezTo>
                <a:cubicBezTo>
                  <a:pt x="15986" y="115744"/>
                  <a:pt x="18670" y="127780"/>
                  <a:pt x="23930" y="138760"/>
                </a:cubicBezTo>
                <a:lnTo>
                  <a:pt x="16660" y="163470"/>
                </a:lnTo>
                <a:cubicBezTo>
                  <a:pt x="16011" y="165672"/>
                  <a:pt x="15844" y="167988"/>
                  <a:pt x="16169" y="170260"/>
                </a:cubicBezTo>
                <a:cubicBezTo>
                  <a:pt x="16494" y="172533"/>
                  <a:pt x="17305" y="174709"/>
                  <a:pt x="18546" y="176640"/>
                </a:cubicBezTo>
                <a:cubicBezTo>
                  <a:pt x="19787" y="178572"/>
                  <a:pt x="21428" y="180213"/>
                  <a:pt x="23360" y="181454"/>
                </a:cubicBezTo>
                <a:cubicBezTo>
                  <a:pt x="25291" y="182695"/>
                  <a:pt x="27467" y="183506"/>
                  <a:pt x="29740" y="183831"/>
                </a:cubicBezTo>
                <a:cubicBezTo>
                  <a:pt x="32012" y="184156"/>
                  <a:pt x="34328" y="183989"/>
                  <a:pt x="36530" y="183340"/>
                </a:cubicBezTo>
                <a:lnTo>
                  <a:pt x="61240" y="176070"/>
                </a:lnTo>
                <a:cubicBezTo>
                  <a:pt x="69174" y="179882"/>
                  <a:pt x="77681" y="182365"/>
                  <a:pt x="86420" y="183420"/>
                </a:cubicBezTo>
                <a:cubicBezTo>
                  <a:pt x="90666" y="193368"/>
                  <a:pt x="96885" y="202352"/>
                  <a:pt x="104701" y="209828"/>
                </a:cubicBezTo>
                <a:cubicBezTo>
                  <a:pt x="112517" y="217304"/>
                  <a:pt x="121769" y="223118"/>
                  <a:pt x="131895" y="226918"/>
                </a:cubicBezTo>
                <a:cubicBezTo>
                  <a:pt x="142022" y="230718"/>
                  <a:pt x="152815" y="232424"/>
                  <a:pt x="163619" y="231935"/>
                </a:cubicBezTo>
                <a:cubicBezTo>
                  <a:pt x="174424" y="231445"/>
                  <a:pt x="185018" y="228770"/>
                  <a:pt x="194760" y="224070"/>
                </a:cubicBezTo>
                <a:lnTo>
                  <a:pt x="219470" y="231340"/>
                </a:lnTo>
                <a:cubicBezTo>
                  <a:pt x="221671" y="231988"/>
                  <a:pt x="223986" y="232155"/>
                  <a:pt x="226258" y="231830"/>
                </a:cubicBezTo>
                <a:cubicBezTo>
                  <a:pt x="228529" y="231505"/>
                  <a:pt x="230704" y="230694"/>
                  <a:pt x="232635" y="229455"/>
                </a:cubicBezTo>
                <a:cubicBezTo>
                  <a:pt x="234565" y="228215"/>
                  <a:pt x="236207" y="226574"/>
                  <a:pt x="237448" y="224644"/>
                </a:cubicBezTo>
                <a:cubicBezTo>
                  <a:pt x="238689" y="222714"/>
                  <a:pt x="239500" y="220539"/>
                  <a:pt x="239826" y="218268"/>
                </a:cubicBezTo>
                <a:cubicBezTo>
                  <a:pt x="240153" y="215997"/>
                  <a:pt x="239987" y="213681"/>
                  <a:pt x="239340" y="211480"/>
                </a:cubicBezTo>
                <a:close/>
                <a:moveTo>
                  <a:pt x="62000" y="159500"/>
                </a:moveTo>
                <a:cubicBezTo>
                  <a:pt x="61236" y="159502"/>
                  <a:pt x="60475" y="159610"/>
                  <a:pt x="59740" y="159820"/>
                </a:cubicBezTo>
                <a:lnTo>
                  <a:pt x="32000" y="168000"/>
                </a:lnTo>
                <a:lnTo>
                  <a:pt x="40170" y="140240"/>
                </a:lnTo>
                <a:cubicBezTo>
                  <a:pt x="40458" y="139247"/>
                  <a:pt x="40550" y="138207"/>
                  <a:pt x="40442" y="137178"/>
                </a:cubicBezTo>
                <a:cubicBezTo>
                  <a:pt x="40334" y="136150"/>
                  <a:pt x="40028" y="135152"/>
                  <a:pt x="39540" y="134240"/>
                </a:cubicBezTo>
                <a:cubicBezTo>
                  <a:pt x="34304" y="124447"/>
                  <a:pt x="31705" y="113458"/>
                  <a:pt x="32001" y="102357"/>
                </a:cubicBezTo>
                <a:cubicBezTo>
                  <a:pt x="32297" y="91255"/>
                  <a:pt x="35477" y="80420"/>
                  <a:pt x="41228" y="70920"/>
                </a:cubicBezTo>
                <a:cubicBezTo>
                  <a:pt x="46978" y="61420"/>
                  <a:pt x="55104" y="53578"/>
                  <a:pt x="64802" y="48169"/>
                </a:cubicBezTo>
                <a:cubicBezTo>
                  <a:pt x="74501" y="42759"/>
                  <a:pt x="85442" y="39966"/>
                  <a:pt x="96547" y="40064"/>
                </a:cubicBezTo>
                <a:cubicBezTo>
                  <a:pt x="107651" y="40163"/>
                  <a:pt x="118541" y="43150"/>
                  <a:pt x="128142" y="48731"/>
                </a:cubicBezTo>
                <a:cubicBezTo>
                  <a:pt x="137743" y="54312"/>
                  <a:pt x="145728" y="62297"/>
                  <a:pt x="151309" y="71898"/>
                </a:cubicBezTo>
                <a:cubicBezTo>
                  <a:pt x="156890" y="81499"/>
                  <a:pt x="159877" y="92389"/>
                  <a:pt x="159976" y="103493"/>
                </a:cubicBezTo>
                <a:cubicBezTo>
                  <a:pt x="160074" y="114598"/>
                  <a:pt x="157281" y="125539"/>
                  <a:pt x="151871" y="135238"/>
                </a:cubicBezTo>
                <a:cubicBezTo>
                  <a:pt x="146462" y="144936"/>
                  <a:pt x="138620" y="153062"/>
                  <a:pt x="129120" y="158812"/>
                </a:cubicBezTo>
                <a:cubicBezTo>
                  <a:pt x="119620" y="164563"/>
                  <a:pt x="108785" y="167743"/>
                  <a:pt x="97683" y="168039"/>
                </a:cubicBezTo>
                <a:cubicBezTo>
                  <a:pt x="86582" y="168335"/>
                  <a:pt x="75593" y="165736"/>
                  <a:pt x="65800" y="160500"/>
                </a:cubicBezTo>
                <a:cubicBezTo>
                  <a:pt x="64636" y="159856"/>
                  <a:pt x="63330" y="159512"/>
                  <a:pt x="62000" y="159500"/>
                </a:cubicBezTo>
                <a:close/>
                <a:moveTo>
                  <a:pt x="215790" y="188230"/>
                </a:moveTo>
                <a:lnTo>
                  <a:pt x="224000" y="216000"/>
                </a:lnTo>
                <a:lnTo>
                  <a:pt x="196240" y="207830"/>
                </a:lnTo>
                <a:cubicBezTo>
                  <a:pt x="195247" y="207542"/>
                  <a:pt x="194207" y="207450"/>
                  <a:pt x="193178" y="207558"/>
                </a:cubicBezTo>
                <a:cubicBezTo>
                  <a:pt x="192150" y="207666"/>
                  <a:pt x="191152" y="207972"/>
                  <a:pt x="190240" y="208460"/>
                </a:cubicBezTo>
                <a:cubicBezTo>
                  <a:pt x="180488" y="213667"/>
                  <a:pt x="169552" y="216262"/>
                  <a:pt x="158500" y="215991"/>
                </a:cubicBezTo>
                <a:cubicBezTo>
                  <a:pt x="147448" y="215720"/>
                  <a:pt x="136652" y="212592"/>
                  <a:pt x="127168" y="206913"/>
                </a:cubicBezTo>
                <a:cubicBezTo>
                  <a:pt x="117683" y="201233"/>
                  <a:pt x="109828" y="193194"/>
                  <a:pt x="104370" y="183580"/>
                </a:cubicBezTo>
                <a:cubicBezTo>
                  <a:pt x="115323" y="182437"/>
                  <a:pt x="125923" y="179042"/>
                  <a:pt x="135503" y="173609"/>
                </a:cubicBezTo>
                <a:cubicBezTo>
                  <a:pt x="145083" y="168176"/>
                  <a:pt x="153437" y="160822"/>
                  <a:pt x="160040" y="152008"/>
                </a:cubicBezTo>
                <a:cubicBezTo>
                  <a:pt x="166644" y="143195"/>
                  <a:pt x="171355" y="133111"/>
                  <a:pt x="173878" y="122390"/>
                </a:cubicBezTo>
                <a:cubicBezTo>
                  <a:pt x="176400" y="111670"/>
                  <a:pt x="176680" y="100543"/>
                  <a:pt x="174700" y="89710"/>
                </a:cubicBezTo>
                <a:cubicBezTo>
                  <a:pt x="184243" y="91960"/>
                  <a:pt x="193144" y="96372"/>
                  <a:pt x="200711" y="102607"/>
                </a:cubicBezTo>
                <a:cubicBezTo>
                  <a:pt x="208279" y="108842"/>
                  <a:pt x="214313" y="116733"/>
                  <a:pt x="218348" y="125669"/>
                </a:cubicBezTo>
                <a:cubicBezTo>
                  <a:pt x="222382" y="134606"/>
                  <a:pt x="224310" y="144351"/>
                  <a:pt x="223980" y="154151"/>
                </a:cubicBezTo>
                <a:cubicBezTo>
                  <a:pt x="223651" y="163950"/>
                  <a:pt x="221075" y="173544"/>
                  <a:pt x="216450" y="182190"/>
                </a:cubicBezTo>
                <a:cubicBezTo>
                  <a:pt x="215957" y="183107"/>
                  <a:pt x="215648" y="184112"/>
                  <a:pt x="215540" y="185148"/>
                </a:cubicBezTo>
                <a:cubicBezTo>
                  <a:pt x="215432" y="186184"/>
                  <a:pt x="215527" y="187231"/>
                  <a:pt x="215820" y="188230"/>
                </a:cubicBezTo>
                <a:close/>
              </a:path>
            </a:pathLst>
          </a:custGeom>
          <a:solidFill>
            <a:srgbClr val="66409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8" name="Google Shape;388;p22"/>
          <p:cNvSpPr txBox="1"/>
          <p:nvPr/>
        </p:nvSpPr>
        <p:spPr>
          <a:xfrm>
            <a:off x="1194993" y="6272101"/>
            <a:ext cx="1899144" cy="292608"/>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0" i="0" lang="es-MX" sz="950" u="none" cap="none" strike="noStrike">
                <a:solidFill>
                  <a:srgbClr val="2E2E3A"/>
                </a:solidFill>
                <a:latin typeface="Arial"/>
                <a:ea typeface="Arial"/>
                <a:cs typeface="Arial"/>
                <a:sym typeface="Arial"/>
              </a:rPr>
              <a:t>Reuniones</a:t>
            </a:r>
            <a:endParaRPr/>
          </a:p>
        </p:txBody>
      </p:sp>
      <p:sp>
        <p:nvSpPr>
          <p:cNvPr id="389" name="Google Shape;389;p22"/>
          <p:cNvSpPr/>
          <p:nvPr/>
        </p:nvSpPr>
        <p:spPr>
          <a:xfrm>
            <a:off x="754889" y="6619573"/>
            <a:ext cx="2387085" cy="292608"/>
          </a:xfrm>
          <a:prstGeom prst="roundRect">
            <a:avLst>
              <a:gd fmla="val 3125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0" name="Google Shape;390;p22"/>
          <p:cNvSpPr/>
          <p:nvPr/>
        </p:nvSpPr>
        <p:spPr>
          <a:xfrm>
            <a:off x="856069" y="6647005"/>
            <a:ext cx="237744" cy="237744"/>
          </a:xfrm>
          <a:custGeom>
            <a:rect b="b" l="l" r="r" t="t"/>
            <a:pathLst>
              <a:path extrusionOk="0" h="256000" w="256000">
                <a:moveTo>
                  <a:pt x="128000" y="24000"/>
                </a:moveTo>
                <a:cubicBezTo>
                  <a:pt x="109746" y="24000"/>
                  <a:pt x="91809" y="28806"/>
                  <a:pt x="76000" y="37933"/>
                </a:cubicBezTo>
                <a:cubicBezTo>
                  <a:pt x="60191" y="47061"/>
                  <a:pt x="47061" y="60191"/>
                  <a:pt x="37933" y="76000"/>
                </a:cubicBezTo>
                <a:cubicBezTo>
                  <a:pt x="28806" y="91809"/>
                  <a:pt x="24000" y="109746"/>
                  <a:pt x="24000" y="128000"/>
                </a:cubicBezTo>
                <a:cubicBezTo>
                  <a:pt x="24000" y="146254"/>
                  <a:pt x="28806" y="164191"/>
                  <a:pt x="37933" y="180000"/>
                </a:cubicBezTo>
                <a:cubicBezTo>
                  <a:pt x="47061" y="195809"/>
                  <a:pt x="60191" y="208939"/>
                  <a:pt x="76000" y="218067"/>
                </a:cubicBezTo>
                <a:cubicBezTo>
                  <a:pt x="91809" y="227194"/>
                  <a:pt x="109746" y="232000"/>
                  <a:pt x="128000" y="232000"/>
                </a:cubicBezTo>
                <a:cubicBezTo>
                  <a:pt x="146254" y="232000"/>
                  <a:pt x="164191" y="227194"/>
                  <a:pt x="180000" y="218067"/>
                </a:cubicBezTo>
                <a:cubicBezTo>
                  <a:pt x="195809" y="208939"/>
                  <a:pt x="208939" y="195809"/>
                  <a:pt x="218067" y="180000"/>
                </a:cubicBezTo>
                <a:cubicBezTo>
                  <a:pt x="227194" y="164191"/>
                  <a:pt x="232000" y="146254"/>
                  <a:pt x="232000" y="128000"/>
                </a:cubicBezTo>
                <a:cubicBezTo>
                  <a:pt x="231981" y="109751"/>
                  <a:pt x="227164" y="91824"/>
                  <a:pt x="218034" y="76023"/>
                </a:cubicBezTo>
                <a:cubicBezTo>
                  <a:pt x="208904" y="60222"/>
                  <a:pt x="195778" y="47096"/>
                  <a:pt x="179977" y="37966"/>
                </a:cubicBezTo>
                <a:cubicBezTo>
                  <a:pt x="164176" y="28836"/>
                  <a:pt x="146249" y="24019"/>
                  <a:pt x="128000" y="24000"/>
                </a:cubicBezTo>
                <a:close/>
                <a:moveTo>
                  <a:pt x="74080" y="197500"/>
                </a:moveTo>
                <a:cubicBezTo>
                  <a:pt x="79867" y="188449"/>
                  <a:pt x="87841" y="181000"/>
                  <a:pt x="97263" y="175841"/>
                </a:cubicBezTo>
                <a:cubicBezTo>
                  <a:pt x="106686" y="170681"/>
                  <a:pt x="117257" y="167977"/>
                  <a:pt x="128000" y="167977"/>
                </a:cubicBezTo>
                <a:cubicBezTo>
                  <a:pt x="138743" y="167977"/>
                  <a:pt x="149314" y="170681"/>
                  <a:pt x="158737" y="175841"/>
                </a:cubicBezTo>
                <a:cubicBezTo>
                  <a:pt x="168159" y="181000"/>
                  <a:pt x="176133" y="188449"/>
                  <a:pt x="181920" y="197500"/>
                </a:cubicBezTo>
                <a:cubicBezTo>
                  <a:pt x="171695" y="205452"/>
                  <a:pt x="159836" y="211045"/>
                  <a:pt x="147196" y="213876"/>
                </a:cubicBezTo>
                <a:cubicBezTo>
                  <a:pt x="134556" y="216707"/>
                  <a:pt x="121444" y="216707"/>
                  <a:pt x="108804" y="213876"/>
                </a:cubicBezTo>
                <a:cubicBezTo>
                  <a:pt x="96164" y="211045"/>
                  <a:pt x="84305" y="205452"/>
                  <a:pt x="74080" y="197500"/>
                </a:cubicBezTo>
                <a:close/>
                <a:moveTo>
                  <a:pt x="96000" y="120000"/>
                </a:moveTo>
                <a:cubicBezTo>
                  <a:pt x="96000" y="114383"/>
                  <a:pt x="97479" y="108864"/>
                  <a:pt x="100287" y="104000"/>
                </a:cubicBezTo>
                <a:cubicBezTo>
                  <a:pt x="103096" y="99136"/>
                  <a:pt x="107136" y="95096"/>
                  <a:pt x="112000" y="92287"/>
                </a:cubicBezTo>
                <a:cubicBezTo>
                  <a:pt x="116864" y="89479"/>
                  <a:pt x="122383" y="88000"/>
                  <a:pt x="128000" y="88000"/>
                </a:cubicBezTo>
                <a:cubicBezTo>
                  <a:pt x="133617" y="88000"/>
                  <a:pt x="139136" y="89479"/>
                  <a:pt x="144000" y="92287"/>
                </a:cubicBezTo>
                <a:cubicBezTo>
                  <a:pt x="148864" y="95096"/>
                  <a:pt x="152904" y="99136"/>
                  <a:pt x="155713" y="104000"/>
                </a:cubicBezTo>
                <a:cubicBezTo>
                  <a:pt x="158521" y="108864"/>
                  <a:pt x="160000" y="114383"/>
                  <a:pt x="160000" y="120000"/>
                </a:cubicBezTo>
                <a:cubicBezTo>
                  <a:pt x="160000" y="125617"/>
                  <a:pt x="158521" y="131136"/>
                  <a:pt x="155713" y="136000"/>
                </a:cubicBezTo>
                <a:cubicBezTo>
                  <a:pt x="152904" y="140864"/>
                  <a:pt x="148864" y="144904"/>
                  <a:pt x="144000" y="147713"/>
                </a:cubicBezTo>
                <a:cubicBezTo>
                  <a:pt x="139136" y="150521"/>
                  <a:pt x="133617" y="152000"/>
                  <a:pt x="128000" y="152000"/>
                </a:cubicBezTo>
                <a:cubicBezTo>
                  <a:pt x="122383" y="152000"/>
                  <a:pt x="116864" y="150521"/>
                  <a:pt x="112000" y="147713"/>
                </a:cubicBezTo>
                <a:cubicBezTo>
                  <a:pt x="107136" y="144904"/>
                  <a:pt x="103096" y="140864"/>
                  <a:pt x="100287" y="136000"/>
                </a:cubicBezTo>
                <a:cubicBezTo>
                  <a:pt x="97479" y="131136"/>
                  <a:pt x="96000" y="125617"/>
                  <a:pt x="96000" y="120000"/>
                </a:cubicBezTo>
                <a:close/>
                <a:moveTo>
                  <a:pt x="193760" y="186410"/>
                </a:moveTo>
                <a:cubicBezTo>
                  <a:pt x="189323" y="179980"/>
                  <a:pt x="183964" y="174238"/>
                  <a:pt x="177856" y="169368"/>
                </a:cubicBezTo>
                <a:cubicBezTo>
                  <a:pt x="171748" y="164498"/>
                  <a:pt x="164956" y="160553"/>
                  <a:pt x="157700" y="157660"/>
                </a:cubicBezTo>
                <a:cubicBezTo>
                  <a:pt x="163952" y="152736"/>
                  <a:pt x="168882" y="146333"/>
                  <a:pt x="172046" y="139030"/>
                </a:cubicBezTo>
                <a:cubicBezTo>
                  <a:pt x="175209" y="131728"/>
                  <a:pt x="176507" y="123751"/>
                  <a:pt x="175822" y="115823"/>
                </a:cubicBezTo>
                <a:cubicBezTo>
                  <a:pt x="175137" y="107894"/>
                  <a:pt x="172492" y="100258"/>
                  <a:pt x="168123" y="93606"/>
                </a:cubicBezTo>
                <a:cubicBezTo>
                  <a:pt x="163755" y="86953"/>
                  <a:pt x="157800" y="81490"/>
                  <a:pt x="150797" y="77711"/>
                </a:cubicBezTo>
                <a:cubicBezTo>
                  <a:pt x="143793" y="73931"/>
                  <a:pt x="135958" y="71952"/>
                  <a:pt x="128000" y="71952"/>
                </a:cubicBezTo>
                <a:cubicBezTo>
                  <a:pt x="120042" y="71952"/>
                  <a:pt x="112207" y="73931"/>
                  <a:pt x="105203" y="77711"/>
                </a:cubicBezTo>
                <a:cubicBezTo>
                  <a:pt x="98200" y="81490"/>
                  <a:pt x="92245" y="86953"/>
                  <a:pt x="87877" y="93606"/>
                </a:cubicBezTo>
                <a:cubicBezTo>
                  <a:pt x="83508" y="100258"/>
                  <a:pt x="80863" y="107894"/>
                  <a:pt x="80178" y="115823"/>
                </a:cubicBezTo>
                <a:cubicBezTo>
                  <a:pt x="79493" y="123751"/>
                  <a:pt x="80791" y="131728"/>
                  <a:pt x="83954" y="139030"/>
                </a:cubicBezTo>
                <a:cubicBezTo>
                  <a:pt x="87118" y="146333"/>
                  <a:pt x="92048" y="152736"/>
                  <a:pt x="98300" y="157660"/>
                </a:cubicBezTo>
                <a:cubicBezTo>
                  <a:pt x="91044" y="160553"/>
                  <a:pt x="84252" y="164498"/>
                  <a:pt x="78144" y="169368"/>
                </a:cubicBezTo>
                <a:cubicBezTo>
                  <a:pt x="72036" y="174238"/>
                  <a:pt x="66677" y="179980"/>
                  <a:pt x="62240" y="186410"/>
                </a:cubicBezTo>
                <a:cubicBezTo>
                  <a:pt x="52234" y="175157"/>
                  <a:pt x="45281" y="161523"/>
                  <a:pt x="42050" y="146815"/>
                </a:cubicBezTo>
                <a:cubicBezTo>
                  <a:pt x="38819" y="132108"/>
                  <a:pt x="39416" y="116815"/>
                  <a:pt x="43784" y="102404"/>
                </a:cubicBezTo>
                <a:cubicBezTo>
                  <a:pt x="48153" y="87993"/>
                  <a:pt x="56147" y="74942"/>
                  <a:pt x="67001" y="64505"/>
                </a:cubicBezTo>
                <a:cubicBezTo>
                  <a:pt x="77854" y="54067"/>
                  <a:pt x="91207" y="46587"/>
                  <a:pt x="105777" y="42785"/>
                </a:cubicBezTo>
                <a:cubicBezTo>
                  <a:pt x="120347" y="38982"/>
                  <a:pt x="135653" y="38982"/>
                  <a:pt x="150223" y="42785"/>
                </a:cubicBezTo>
                <a:cubicBezTo>
                  <a:pt x="164793" y="46587"/>
                  <a:pt x="178146" y="54067"/>
                  <a:pt x="188999" y="64505"/>
                </a:cubicBezTo>
                <a:cubicBezTo>
                  <a:pt x="199853" y="74942"/>
                  <a:pt x="207847" y="87993"/>
                  <a:pt x="212216" y="102404"/>
                </a:cubicBezTo>
                <a:cubicBezTo>
                  <a:pt x="216584" y="116815"/>
                  <a:pt x="217181" y="132108"/>
                  <a:pt x="213950" y="146815"/>
                </a:cubicBezTo>
                <a:cubicBezTo>
                  <a:pt x="210719" y="161523"/>
                  <a:pt x="203766" y="175157"/>
                  <a:pt x="193760" y="186410"/>
                </a:cubicBezTo>
                <a:close/>
              </a:path>
            </a:pathLst>
          </a:custGeom>
          <a:solidFill>
            <a:srgbClr val="66409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1" name="Google Shape;391;p22"/>
          <p:cNvSpPr txBox="1"/>
          <p:nvPr/>
        </p:nvSpPr>
        <p:spPr>
          <a:xfrm>
            <a:off x="1194993" y="6619573"/>
            <a:ext cx="1899144" cy="292608"/>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0" i="0" lang="es-MX" sz="950" u="none" cap="none" strike="noStrike">
                <a:solidFill>
                  <a:srgbClr val="2E2E3A"/>
                </a:solidFill>
                <a:latin typeface="Arial"/>
                <a:ea typeface="Arial"/>
                <a:cs typeface="Arial"/>
                <a:sym typeface="Arial"/>
              </a:rPr>
              <a:t>Roles</a:t>
            </a:r>
            <a:endParaRPr/>
          </a:p>
        </p:txBody>
      </p:sp>
      <p:sp>
        <p:nvSpPr>
          <p:cNvPr id="392" name="Google Shape;392;p22"/>
          <p:cNvSpPr/>
          <p:nvPr/>
        </p:nvSpPr>
        <p:spPr>
          <a:xfrm>
            <a:off x="3601214" y="4752976"/>
            <a:ext cx="2616705" cy="2324100"/>
          </a:xfrm>
          <a:prstGeom prst="roundRect">
            <a:avLst>
              <a:gd fmla="val 4387" name="adj"/>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3" name="Google Shape;393;p22"/>
          <p:cNvSpPr/>
          <p:nvPr/>
        </p:nvSpPr>
        <p:spPr>
          <a:xfrm>
            <a:off x="3601214" y="4752976"/>
            <a:ext cx="2616705" cy="681838"/>
          </a:xfrm>
          <a:prstGeom prst="roundRect">
            <a:avLst>
              <a:gd fmla="val 14516" name="adj"/>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4" name="Google Shape;394;p22"/>
          <p:cNvSpPr/>
          <p:nvPr/>
        </p:nvSpPr>
        <p:spPr>
          <a:xfrm>
            <a:off x="3724917" y="4900422"/>
            <a:ext cx="384048" cy="384048"/>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5" name="Google Shape;395;p22"/>
          <p:cNvSpPr/>
          <p:nvPr/>
        </p:nvSpPr>
        <p:spPr>
          <a:xfrm>
            <a:off x="3809408" y="4986634"/>
            <a:ext cx="215067" cy="215067"/>
          </a:xfrm>
          <a:custGeom>
            <a:rect b="b" l="l" r="r" t="t"/>
            <a:pathLst>
              <a:path extrusionOk="0" h="256000" w="256000">
                <a:moveTo>
                  <a:pt x="248000" y="124000"/>
                </a:moveTo>
                <a:cubicBezTo>
                  <a:pt x="247993" y="116962"/>
                  <a:pt x="246662" y="109987"/>
                  <a:pt x="244076" y="103441"/>
                </a:cubicBezTo>
                <a:cubicBezTo>
                  <a:pt x="241490" y="96895"/>
                  <a:pt x="237695" y="90894"/>
                  <a:pt x="232890" y="85751"/>
                </a:cubicBezTo>
                <a:cubicBezTo>
                  <a:pt x="228085" y="80608"/>
                  <a:pt x="222355" y="76414"/>
                  <a:pt x="216000" y="73390"/>
                </a:cubicBezTo>
                <a:lnTo>
                  <a:pt x="216000" y="72000"/>
                </a:lnTo>
                <a:cubicBezTo>
                  <a:pt x="215993" y="63780"/>
                  <a:pt x="213874" y="55698"/>
                  <a:pt x="209847" y="48531"/>
                </a:cubicBezTo>
                <a:cubicBezTo>
                  <a:pt x="205821" y="41364"/>
                  <a:pt x="200020" y="35351"/>
                  <a:pt x="193003" y="31069"/>
                </a:cubicBezTo>
                <a:cubicBezTo>
                  <a:pt x="185986" y="26787"/>
                  <a:pt x="177985" y="24379"/>
                  <a:pt x="169771" y="24076"/>
                </a:cubicBezTo>
                <a:cubicBezTo>
                  <a:pt x="161556" y="23772"/>
                  <a:pt x="153399" y="25584"/>
                  <a:pt x="146086" y="29337"/>
                </a:cubicBezTo>
                <a:cubicBezTo>
                  <a:pt x="138772" y="33090"/>
                  <a:pt x="132544" y="38660"/>
                  <a:pt x="128000" y="45510"/>
                </a:cubicBezTo>
                <a:cubicBezTo>
                  <a:pt x="123456" y="38660"/>
                  <a:pt x="117228" y="33090"/>
                  <a:pt x="109914" y="29337"/>
                </a:cubicBezTo>
                <a:cubicBezTo>
                  <a:pt x="102601" y="25584"/>
                  <a:pt x="94444" y="23772"/>
                  <a:pt x="86229" y="24076"/>
                </a:cubicBezTo>
                <a:cubicBezTo>
                  <a:pt x="78015" y="24379"/>
                  <a:pt x="70014" y="26787"/>
                  <a:pt x="62997" y="31069"/>
                </a:cubicBezTo>
                <a:cubicBezTo>
                  <a:pt x="55980" y="35351"/>
                  <a:pt x="50179" y="41364"/>
                  <a:pt x="46153" y="48531"/>
                </a:cubicBezTo>
                <a:cubicBezTo>
                  <a:pt x="42126" y="55698"/>
                  <a:pt x="40007" y="63780"/>
                  <a:pt x="40000" y="72000"/>
                </a:cubicBezTo>
                <a:lnTo>
                  <a:pt x="40000" y="73390"/>
                </a:lnTo>
                <a:cubicBezTo>
                  <a:pt x="32357" y="77014"/>
                  <a:pt x="25634" y="82322"/>
                  <a:pt x="20337" y="88916"/>
                </a:cubicBezTo>
                <a:cubicBezTo>
                  <a:pt x="15039" y="95510"/>
                  <a:pt x="11304" y="103219"/>
                  <a:pt x="9412" y="111463"/>
                </a:cubicBezTo>
                <a:cubicBezTo>
                  <a:pt x="7520" y="119707"/>
                  <a:pt x="7520" y="128273"/>
                  <a:pt x="9412" y="136517"/>
                </a:cubicBezTo>
                <a:cubicBezTo>
                  <a:pt x="11304" y="144761"/>
                  <a:pt x="15039" y="152470"/>
                  <a:pt x="20337" y="159064"/>
                </a:cubicBezTo>
                <a:cubicBezTo>
                  <a:pt x="25634" y="165658"/>
                  <a:pt x="32357" y="170966"/>
                  <a:pt x="40000" y="174590"/>
                </a:cubicBezTo>
                <a:lnTo>
                  <a:pt x="40000" y="176000"/>
                </a:lnTo>
                <a:cubicBezTo>
                  <a:pt x="40007" y="184220"/>
                  <a:pt x="42126" y="192302"/>
                  <a:pt x="46153" y="199469"/>
                </a:cubicBezTo>
                <a:cubicBezTo>
                  <a:pt x="50179" y="206636"/>
                  <a:pt x="55980" y="212649"/>
                  <a:pt x="62997" y="216931"/>
                </a:cubicBezTo>
                <a:cubicBezTo>
                  <a:pt x="70014" y="221213"/>
                  <a:pt x="78015" y="223621"/>
                  <a:pt x="86229" y="223924"/>
                </a:cubicBezTo>
                <a:cubicBezTo>
                  <a:pt x="94444" y="224228"/>
                  <a:pt x="102601" y="222416"/>
                  <a:pt x="109914" y="218663"/>
                </a:cubicBezTo>
                <a:cubicBezTo>
                  <a:pt x="117228" y="214910"/>
                  <a:pt x="123456" y="209340"/>
                  <a:pt x="128000" y="202490"/>
                </a:cubicBezTo>
                <a:cubicBezTo>
                  <a:pt x="132544" y="209340"/>
                  <a:pt x="138772" y="214910"/>
                  <a:pt x="146086" y="218663"/>
                </a:cubicBezTo>
                <a:cubicBezTo>
                  <a:pt x="153399" y="222416"/>
                  <a:pt x="161556" y="224228"/>
                  <a:pt x="169771" y="223924"/>
                </a:cubicBezTo>
                <a:cubicBezTo>
                  <a:pt x="177985" y="223621"/>
                  <a:pt x="185986" y="221213"/>
                  <a:pt x="193003" y="216931"/>
                </a:cubicBezTo>
                <a:cubicBezTo>
                  <a:pt x="200020" y="212649"/>
                  <a:pt x="205821" y="206636"/>
                  <a:pt x="209847" y="199469"/>
                </a:cubicBezTo>
                <a:cubicBezTo>
                  <a:pt x="213874" y="192302"/>
                  <a:pt x="215993" y="184220"/>
                  <a:pt x="216000" y="176000"/>
                </a:cubicBezTo>
                <a:lnTo>
                  <a:pt x="216000" y="174590"/>
                </a:lnTo>
                <a:cubicBezTo>
                  <a:pt x="222354" y="171568"/>
                  <a:pt x="228084" y="167377"/>
                  <a:pt x="232888" y="162236"/>
                </a:cubicBezTo>
                <a:cubicBezTo>
                  <a:pt x="237693" y="157096"/>
                  <a:pt x="241488" y="151097"/>
                  <a:pt x="244074" y="144553"/>
                </a:cubicBezTo>
                <a:cubicBezTo>
                  <a:pt x="246660" y="138009"/>
                  <a:pt x="247992" y="131036"/>
                  <a:pt x="248000" y="124000"/>
                </a:cubicBezTo>
                <a:close/>
                <a:moveTo>
                  <a:pt x="88000" y="208000"/>
                </a:moveTo>
                <a:cubicBezTo>
                  <a:pt x="82773" y="207999"/>
                  <a:pt x="77625" y="206718"/>
                  <a:pt x="73007" y="204268"/>
                </a:cubicBezTo>
                <a:cubicBezTo>
                  <a:pt x="68389" y="201818"/>
                  <a:pt x="64442" y="198274"/>
                  <a:pt x="61510" y="193946"/>
                </a:cubicBezTo>
                <a:cubicBezTo>
                  <a:pt x="58579" y="189618"/>
                  <a:pt x="56752" y="184637"/>
                  <a:pt x="56190" y="179440"/>
                </a:cubicBezTo>
                <a:cubicBezTo>
                  <a:pt x="58777" y="179809"/>
                  <a:pt x="61387" y="179996"/>
                  <a:pt x="64000" y="180000"/>
                </a:cubicBezTo>
                <a:lnTo>
                  <a:pt x="72000" y="180000"/>
                </a:lnTo>
                <a:cubicBezTo>
                  <a:pt x="73404" y="180000"/>
                  <a:pt x="74784" y="179630"/>
                  <a:pt x="76000" y="178928"/>
                </a:cubicBezTo>
                <a:cubicBezTo>
                  <a:pt x="77216" y="178226"/>
                  <a:pt x="78226" y="177216"/>
                  <a:pt x="78928" y="176000"/>
                </a:cubicBezTo>
                <a:cubicBezTo>
                  <a:pt x="79630" y="174784"/>
                  <a:pt x="80000" y="173404"/>
                  <a:pt x="80000" y="172000"/>
                </a:cubicBezTo>
                <a:cubicBezTo>
                  <a:pt x="80000" y="170596"/>
                  <a:pt x="79630" y="169216"/>
                  <a:pt x="78928" y="168000"/>
                </a:cubicBezTo>
                <a:cubicBezTo>
                  <a:pt x="78226" y="166784"/>
                  <a:pt x="77216" y="165774"/>
                  <a:pt x="76000" y="165072"/>
                </a:cubicBezTo>
                <a:cubicBezTo>
                  <a:pt x="74784" y="164370"/>
                  <a:pt x="73404" y="164000"/>
                  <a:pt x="72000" y="164000"/>
                </a:cubicBezTo>
                <a:lnTo>
                  <a:pt x="64000" y="164000"/>
                </a:lnTo>
                <a:cubicBezTo>
                  <a:pt x="57740" y="164007"/>
                  <a:pt x="51565" y="162545"/>
                  <a:pt x="45973" y="159731"/>
                </a:cubicBezTo>
                <a:cubicBezTo>
                  <a:pt x="40381" y="156917"/>
                  <a:pt x="35527" y="152830"/>
                  <a:pt x="31803" y="147798"/>
                </a:cubicBezTo>
                <a:cubicBezTo>
                  <a:pt x="28079" y="142767"/>
                  <a:pt x="25587" y="136931"/>
                  <a:pt x="24529" y="130761"/>
                </a:cubicBezTo>
                <a:cubicBezTo>
                  <a:pt x="23471" y="124591"/>
                  <a:pt x="23876" y="118258"/>
                  <a:pt x="25711" y="112273"/>
                </a:cubicBezTo>
                <a:cubicBezTo>
                  <a:pt x="27546" y="106289"/>
                  <a:pt x="30761" y="100817"/>
                  <a:pt x="35096" y="96301"/>
                </a:cubicBezTo>
                <a:cubicBezTo>
                  <a:pt x="39430" y="91785"/>
                  <a:pt x="44765" y="88349"/>
                  <a:pt x="50670" y="86270"/>
                </a:cubicBezTo>
                <a:cubicBezTo>
                  <a:pt x="51705" y="85904"/>
                  <a:pt x="52653" y="85328"/>
                  <a:pt x="53455" y="84580"/>
                </a:cubicBezTo>
                <a:cubicBezTo>
                  <a:pt x="54258" y="83832"/>
                  <a:pt x="54898" y="82926"/>
                  <a:pt x="55336" y="81920"/>
                </a:cubicBezTo>
                <a:cubicBezTo>
                  <a:pt x="55774" y="80913"/>
                  <a:pt x="56000" y="79827"/>
                  <a:pt x="56000" y="78730"/>
                </a:cubicBezTo>
                <a:lnTo>
                  <a:pt x="56000" y="72000"/>
                </a:lnTo>
                <a:cubicBezTo>
                  <a:pt x="56000" y="66383"/>
                  <a:pt x="57479" y="60864"/>
                  <a:pt x="60287" y="56000"/>
                </a:cubicBezTo>
                <a:cubicBezTo>
                  <a:pt x="63096" y="51136"/>
                  <a:pt x="67136" y="47096"/>
                  <a:pt x="72000" y="44287"/>
                </a:cubicBezTo>
                <a:cubicBezTo>
                  <a:pt x="76864" y="41479"/>
                  <a:pt x="82383" y="40000"/>
                  <a:pt x="88000" y="40000"/>
                </a:cubicBezTo>
                <a:cubicBezTo>
                  <a:pt x="93617" y="40000"/>
                  <a:pt x="99136" y="41479"/>
                  <a:pt x="104000" y="44287"/>
                </a:cubicBezTo>
                <a:cubicBezTo>
                  <a:pt x="108864" y="47096"/>
                  <a:pt x="112904" y="51136"/>
                  <a:pt x="115713" y="56000"/>
                </a:cubicBezTo>
                <a:cubicBezTo>
                  <a:pt x="118521" y="60864"/>
                  <a:pt x="120000" y="66383"/>
                  <a:pt x="120000" y="72000"/>
                </a:cubicBezTo>
                <a:lnTo>
                  <a:pt x="120000" y="140260"/>
                </a:lnTo>
                <a:cubicBezTo>
                  <a:pt x="115645" y="136343"/>
                  <a:pt x="110606" y="133259"/>
                  <a:pt x="105136" y="131164"/>
                </a:cubicBezTo>
                <a:cubicBezTo>
                  <a:pt x="99666" y="129068"/>
                  <a:pt x="93858" y="127996"/>
                  <a:pt x="88000" y="128000"/>
                </a:cubicBezTo>
                <a:cubicBezTo>
                  <a:pt x="86596" y="128000"/>
                  <a:pt x="85216" y="128370"/>
                  <a:pt x="84000" y="129072"/>
                </a:cubicBezTo>
                <a:cubicBezTo>
                  <a:pt x="82784" y="129774"/>
                  <a:pt x="81774" y="130784"/>
                  <a:pt x="81072" y="132000"/>
                </a:cubicBezTo>
                <a:cubicBezTo>
                  <a:pt x="80370" y="133216"/>
                  <a:pt x="80000" y="134596"/>
                  <a:pt x="80000" y="136000"/>
                </a:cubicBezTo>
                <a:cubicBezTo>
                  <a:pt x="80000" y="137404"/>
                  <a:pt x="80370" y="138784"/>
                  <a:pt x="81072" y="140000"/>
                </a:cubicBezTo>
                <a:cubicBezTo>
                  <a:pt x="81774" y="141216"/>
                  <a:pt x="82784" y="142226"/>
                  <a:pt x="84000" y="142928"/>
                </a:cubicBezTo>
                <a:cubicBezTo>
                  <a:pt x="85216" y="143630"/>
                  <a:pt x="86596" y="144000"/>
                  <a:pt x="88000" y="144000"/>
                </a:cubicBezTo>
                <a:cubicBezTo>
                  <a:pt x="93617" y="144000"/>
                  <a:pt x="99136" y="145479"/>
                  <a:pt x="104000" y="148287"/>
                </a:cubicBezTo>
                <a:cubicBezTo>
                  <a:pt x="108864" y="151096"/>
                  <a:pt x="112904" y="155136"/>
                  <a:pt x="115713" y="160000"/>
                </a:cubicBezTo>
                <a:cubicBezTo>
                  <a:pt x="118521" y="164864"/>
                  <a:pt x="120000" y="170383"/>
                  <a:pt x="120000" y="176000"/>
                </a:cubicBezTo>
                <a:cubicBezTo>
                  <a:pt x="120000" y="181617"/>
                  <a:pt x="118521" y="187136"/>
                  <a:pt x="115713" y="192000"/>
                </a:cubicBezTo>
                <a:cubicBezTo>
                  <a:pt x="112904" y="196864"/>
                  <a:pt x="108864" y="200904"/>
                  <a:pt x="104000" y="203713"/>
                </a:cubicBezTo>
                <a:cubicBezTo>
                  <a:pt x="99136" y="206521"/>
                  <a:pt x="93617" y="208000"/>
                  <a:pt x="88000" y="208000"/>
                </a:cubicBezTo>
                <a:close/>
                <a:moveTo>
                  <a:pt x="192000" y="164000"/>
                </a:moveTo>
                <a:lnTo>
                  <a:pt x="184000" y="164000"/>
                </a:lnTo>
                <a:cubicBezTo>
                  <a:pt x="182596" y="164000"/>
                  <a:pt x="181216" y="164370"/>
                  <a:pt x="180000" y="165072"/>
                </a:cubicBezTo>
                <a:cubicBezTo>
                  <a:pt x="178784" y="165774"/>
                  <a:pt x="177774" y="166784"/>
                  <a:pt x="177072" y="168000"/>
                </a:cubicBezTo>
                <a:cubicBezTo>
                  <a:pt x="176370" y="169216"/>
                  <a:pt x="176000" y="170596"/>
                  <a:pt x="176000" y="172000"/>
                </a:cubicBezTo>
                <a:cubicBezTo>
                  <a:pt x="176000" y="173404"/>
                  <a:pt x="176370" y="174784"/>
                  <a:pt x="177072" y="176000"/>
                </a:cubicBezTo>
                <a:cubicBezTo>
                  <a:pt x="177774" y="177216"/>
                  <a:pt x="178784" y="178226"/>
                  <a:pt x="180000" y="178928"/>
                </a:cubicBezTo>
                <a:cubicBezTo>
                  <a:pt x="181216" y="179630"/>
                  <a:pt x="182596" y="180000"/>
                  <a:pt x="184000" y="180000"/>
                </a:cubicBezTo>
                <a:lnTo>
                  <a:pt x="192000" y="180000"/>
                </a:lnTo>
                <a:cubicBezTo>
                  <a:pt x="194613" y="179996"/>
                  <a:pt x="197223" y="179809"/>
                  <a:pt x="199810" y="179440"/>
                </a:cubicBezTo>
                <a:cubicBezTo>
                  <a:pt x="199220" y="184895"/>
                  <a:pt x="197237" y="190108"/>
                  <a:pt x="194052" y="194576"/>
                </a:cubicBezTo>
                <a:cubicBezTo>
                  <a:pt x="190866" y="199044"/>
                  <a:pt x="186585" y="202619"/>
                  <a:pt x="181620" y="204955"/>
                </a:cubicBezTo>
                <a:cubicBezTo>
                  <a:pt x="176655" y="207291"/>
                  <a:pt x="171171" y="208311"/>
                  <a:pt x="165698" y="207917"/>
                </a:cubicBezTo>
                <a:cubicBezTo>
                  <a:pt x="160225" y="207524"/>
                  <a:pt x="154944" y="205728"/>
                  <a:pt x="150365" y="202705"/>
                </a:cubicBezTo>
                <a:cubicBezTo>
                  <a:pt x="145786" y="199682"/>
                  <a:pt x="142060" y="195531"/>
                  <a:pt x="139548" y="190653"/>
                </a:cubicBezTo>
                <a:cubicBezTo>
                  <a:pt x="137035" y="185775"/>
                  <a:pt x="135819" y="180332"/>
                  <a:pt x="136016" y="174848"/>
                </a:cubicBezTo>
                <a:cubicBezTo>
                  <a:pt x="136214" y="169365"/>
                  <a:pt x="137818" y="164023"/>
                  <a:pt x="140675" y="159338"/>
                </a:cubicBezTo>
                <a:cubicBezTo>
                  <a:pt x="143532" y="154654"/>
                  <a:pt x="147547" y="150782"/>
                  <a:pt x="152332" y="148096"/>
                </a:cubicBezTo>
                <a:cubicBezTo>
                  <a:pt x="157117" y="145410"/>
                  <a:pt x="162513" y="143999"/>
                  <a:pt x="168000" y="144000"/>
                </a:cubicBezTo>
                <a:cubicBezTo>
                  <a:pt x="169404" y="144000"/>
                  <a:pt x="170784" y="143630"/>
                  <a:pt x="172000" y="142928"/>
                </a:cubicBezTo>
                <a:cubicBezTo>
                  <a:pt x="173216" y="142226"/>
                  <a:pt x="174226" y="141216"/>
                  <a:pt x="174928" y="140000"/>
                </a:cubicBezTo>
                <a:cubicBezTo>
                  <a:pt x="175630" y="138784"/>
                  <a:pt x="176000" y="137404"/>
                  <a:pt x="176000" y="136000"/>
                </a:cubicBezTo>
                <a:cubicBezTo>
                  <a:pt x="176000" y="134596"/>
                  <a:pt x="175630" y="133216"/>
                  <a:pt x="174928" y="132000"/>
                </a:cubicBezTo>
                <a:cubicBezTo>
                  <a:pt x="174226" y="130784"/>
                  <a:pt x="173216" y="129774"/>
                  <a:pt x="172000" y="129072"/>
                </a:cubicBezTo>
                <a:cubicBezTo>
                  <a:pt x="170784" y="128370"/>
                  <a:pt x="169404" y="128000"/>
                  <a:pt x="168000" y="128000"/>
                </a:cubicBezTo>
                <a:cubicBezTo>
                  <a:pt x="162142" y="127996"/>
                  <a:pt x="156334" y="129068"/>
                  <a:pt x="150864" y="131164"/>
                </a:cubicBezTo>
                <a:cubicBezTo>
                  <a:pt x="145394" y="133259"/>
                  <a:pt x="140355" y="136343"/>
                  <a:pt x="136000" y="140260"/>
                </a:cubicBezTo>
                <a:lnTo>
                  <a:pt x="136000" y="72000"/>
                </a:lnTo>
                <a:cubicBezTo>
                  <a:pt x="136000" y="66383"/>
                  <a:pt x="137479" y="60864"/>
                  <a:pt x="140287" y="56000"/>
                </a:cubicBezTo>
                <a:cubicBezTo>
                  <a:pt x="143096" y="51136"/>
                  <a:pt x="147136" y="47096"/>
                  <a:pt x="152000" y="44287"/>
                </a:cubicBezTo>
                <a:cubicBezTo>
                  <a:pt x="156864" y="41479"/>
                  <a:pt x="162383" y="40000"/>
                  <a:pt x="168000" y="40000"/>
                </a:cubicBezTo>
                <a:cubicBezTo>
                  <a:pt x="173617" y="40000"/>
                  <a:pt x="179136" y="41479"/>
                  <a:pt x="184000" y="44287"/>
                </a:cubicBezTo>
                <a:cubicBezTo>
                  <a:pt x="188864" y="47096"/>
                  <a:pt x="192904" y="51136"/>
                  <a:pt x="195713" y="56000"/>
                </a:cubicBezTo>
                <a:cubicBezTo>
                  <a:pt x="198521" y="60864"/>
                  <a:pt x="200000" y="66383"/>
                  <a:pt x="200000" y="72000"/>
                </a:cubicBezTo>
                <a:lnTo>
                  <a:pt x="200000" y="78730"/>
                </a:lnTo>
                <a:cubicBezTo>
                  <a:pt x="200000" y="79827"/>
                  <a:pt x="200226" y="80913"/>
                  <a:pt x="200664" y="81920"/>
                </a:cubicBezTo>
                <a:cubicBezTo>
                  <a:pt x="201102" y="82926"/>
                  <a:pt x="201742" y="83832"/>
                  <a:pt x="202545" y="84580"/>
                </a:cubicBezTo>
                <a:cubicBezTo>
                  <a:pt x="203347" y="85328"/>
                  <a:pt x="204295" y="85904"/>
                  <a:pt x="205330" y="86270"/>
                </a:cubicBezTo>
                <a:cubicBezTo>
                  <a:pt x="211235" y="88349"/>
                  <a:pt x="216570" y="91785"/>
                  <a:pt x="220904" y="96301"/>
                </a:cubicBezTo>
                <a:cubicBezTo>
                  <a:pt x="225239" y="100817"/>
                  <a:pt x="228454" y="106289"/>
                  <a:pt x="230289" y="112273"/>
                </a:cubicBezTo>
                <a:cubicBezTo>
                  <a:pt x="232124" y="118258"/>
                  <a:pt x="232529" y="124591"/>
                  <a:pt x="231471" y="130761"/>
                </a:cubicBezTo>
                <a:cubicBezTo>
                  <a:pt x="230413" y="136931"/>
                  <a:pt x="227921" y="142767"/>
                  <a:pt x="224197" y="147798"/>
                </a:cubicBezTo>
                <a:cubicBezTo>
                  <a:pt x="220473" y="152830"/>
                  <a:pt x="215619" y="156917"/>
                  <a:pt x="210027" y="159731"/>
                </a:cubicBezTo>
                <a:cubicBezTo>
                  <a:pt x="204435" y="162545"/>
                  <a:pt x="198260" y="164007"/>
                  <a:pt x="192000" y="164000"/>
                </a:cubicBezTo>
                <a:close/>
                <a:moveTo>
                  <a:pt x="208000" y="112000"/>
                </a:moveTo>
                <a:cubicBezTo>
                  <a:pt x="208000" y="113404"/>
                  <a:pt x="207630" y="114784"/>
                  <a:pt x="206928" y="116000"/>
                </a:cubicBezTo>
                <a:cubicBezTo>
                  <a:pt x="206226" y="117216"/>
                  <a:pt x="205216" y="118226"/>
                  <a:pt x="204000" y="118928"/>
                </a:cubicBezTo>
                <a:cubicBezTo>
                  <a:pt x="202784" y="119630"/>
                  <a:pt x="201404" y="120000"/>
                  <a:pt x="200000" y="120000"/>
                </a:cubicBezTo>
                <a:lnTo>
                  <a:pt x="196000" y="120000"/>
                </a:lnTo>
                <a:cubicBezTo>
                  <a:pt x="189681" y="120000"/>
                  <a:pt x="183472" y="118336"/>
                  <a:pt x="178000" y="115177"/>
                </a:cubicBezTo>
                <a:cubicBezTo>
                  <a:pt x="172528" y="112017"/>
                  <a:pt x="167983" y="107472"/>
                  <a:pt x="164823" y="102000"/>
                </a:cubicBezTo>
                <a:cubicBezTo>
                  <a:pt x="161664" y="96528"/>
                  <a:pt x="160000" y="90319"/>
                  <a:pt x="160000" y="84000"/>
                </a:cubicBezTo>
                <a:lnTo>
                  <a:pt x="160000" y="80000"/>
                </a:lnTo>
                <a:cubicBezTo>
                  <a:pt x="160000" y="78596"/>
                  <a:pt x="160370" y="77216"/>
                  <a:pt x="161072" y="76000"/>
                </a:cubicBezTo>
                <a:cubicBezTo>
                  <a:pt x="161774" y="74784"/>
                  <a:pt x="162784" y="73774"/>
                  <a:pt x="164000" y="73072"/>
                </a:cubicBezTo>
                <a:cubicBezTo>
                  <a:pt x="165216" y="72370"/>
                  <a:pt x="166596" y="72000"/>
                  <a:pt x="168000" y="72000"/>
                </a:cubicBezTo>
                <a:cubicBezTo>
                  <a:pt x="169404" y="72000"/>
                  <a:pt x="170784" y="72370"/>
                  <a:pt x="172000" y="73072"/>
                </a:cubicBezTo>
                <a:cubicBezTo>
                  <a:pt x="173216" y="73774"/>
                  <a:pt x="174226" y="74784"/>
                  <a:pt x="174928" y="76000"/>
                </a:cubicBezTo>
                <a:cubicBezTo>
                  <a:pt x="175630" y="77216"/>
                  <a:pt x="176000" y="78596"/>
                  <a:pt x="176000" y="80000"/>
                </a:cubicBezTo>
                <a:lnTo>
                  <a:pt x="176000" y="84000"/>
                </a:lnTo>
                <a:cubicBezTo>
                  <a:pt x="176000" y="87510"/>
                  <a:pt x="176924" y="90960"/>
                  <a:pt x="178679" y="94000"/>
                </a:cubicBezTo>
                <a:cubicBezTo>
                  <a:pt x="180435" y="97040"/>
                  <a:pt x="182960" y="99565"/>
                  <a:pt x="186000" y="101321"/>
                </a:cubicBezTo>
                <a:cubicBezTo>
                  <a:pt x="189040" y="103076"/>
                  <a:pt x="192490" y="104000"/>
                  <a:pt x="196000" y="104000"/>
                </a:cubicBezTo>
                <a:lnTo>
                  <a:pt x="200000" y="104000"/>
                </a:lnTo>
                <a:cubicBezTo>
                  <a:pt x="201404" y="104000"/>
                  <a:pt x="202784" y="104370"/>
                  <a:pt x="204000" y="105072"/>
                </a:cubicBezTo>
                <a:cubicBezTo>
                  <a:pt x="205216" y="105774"/>
                  <a:pt x="206226" y="106784"/>
                  <a:pt x="206928" y="108000"/>
                </a:cubicBezTo>
                <a:cubicBezTo>
                  <a:pt x="207630" y="109216"/>
                  <a:pt x="208000" y="110596"/>
                  <a:pt x="208000" y="112000"/>
                </a:cubicBezTo>
                <a:close/>
                <a:moveTo>
                  <a:pt x="60000" y="120000"/>
                </a:moveTo>
                <a:lnTo>
                  <a:pt x="56000" y="120000"/>
                </a:lnTo>
                <a:cubicBezTo>
                  <a:pt x="54596" y="120000"/>
                  <a:pt x="53216" y="119630"/>
                  <a:pt x="52000" y="118928"/>
                </a:cubicBezTo>
                <a:cubicBezTo>
                  <a:pt x="50784" y="118226"/>
                  <a:pt x="49774" y="117216"/>
                  <a:pt x="49072" y="116000"/>
                </a:cubicBezTo>
                <a:cubicBezTo>
                  <a:pt x="48370" y="114784"/>
                  <a:pt x="48000" y="113404"/>
                  <a:pt x="48000" y="112000"/>
                </a:cubicBezTo>
                <a:cubicBezTo>
                  <a:pt x="48000" y="110596"/>
                  <a:pt x="48370" y="109216"/>
                  <a:pt x="49072" y="108000"/>
                </a:cubicBezTo>
                <a:cubicBezTo>
                  <a:pt x="49774" y="106784"/>
                  <a:pt x="50784" y="105774"/>
                  <a:pt x="52000" y="105072"/>
                </a:cubicBezTo>
                <a:cubicBezTo>
                  <a:pt x="53216" y="104370"/>
                  <a:pt x="54596" y="104000"/>
                  <a:pt x="56000" y="104000"/>
                </a:cubicBezTo>
                <a:lnTo>
                  <a:pt x="60000" y="104000"/>
                </a:lnTo>
                <a:cubicBezTo>
                  <a:pt x="63510" y="104000"/>
                  <a:pt x="66960" y="103076"/>
                  <a:pt x="70000" y="101321"/>
                </a:cubicBezTo>
                <a:cubicBezTo>
                  <a:pt x="73040" y="99565"/>
                  <a:pt x="75565" y="97040"/>
                  <a:pt x="77321" y="94000"/>
                </a:cubicBezTo>
                <a:cubicBezTo>
                  <a:pt x="79076" y="90960"/>
                  <a:pt x="80000" y="87510"/>
                  <a:pt x="80000" y="84000"/>
                </a:cubicBezTo>
                <a:lnTo>
                  <a:pt x="80000" y="80000"/>
                </a:lnTo>
                <a:cubicBezTo>
                  <a:pt x="80000" y="78596"/>
                  <a:pt x="80370" y="77216"/>
                  <a:pt x="81072" y="76000"/>
                </a:cubicBezTo>
                <a:cubicBezTo>
                  <a:pt x="81774" y="74784"/>
                  <a:pt x="82784" y="73774"/>
                  <a:pt x="84000" y="73072"/>
                </a:cubicBezTo>
                <a:cubicBezTo>
                  <a:pt x="85216" y="72370"/>
                  <a:pt x="86596" y="72000"/>
                  <a:pt x="88000" y="72000"/>
                </a:cubicBezTo>
                <a:cubicBezTo>
                  <a:pt x="89404" y="72000"/>
                  <a:pt x="90784" y="72370"/>
                  <a:pt x="92000" y="73072"/>
                </a:cubicBezTo>
                <a:cubicBezTo>
                  <a:pt x="93216" y="73774"/>
                  <a:pt x="94226" y="74784"/>
                  <a:pt x="94928" y="76000"/>
                </a:cubicBezTo>
                <a:cubicBezTo>
                  <a:pt x="95630" y="77216"/>
                  <a:pt x="96000" y="78596"/>
                  <a:pt x="96000" y="80000"/>
                </a:cubicBezTo>
                <a:lnTo>
                  <a:pt x="96000" y="84000"/>
                </a:lnTo>
                <a:cubicBezTo>
                  <a:pt x="96000" y="90319"/>
                  <a:pt x="94336" y="96528"/>
                  <a:pt x="91177" y="102000"/>
                </a:cubicBezTo>
                <a:cubicBezTo>
                  <a:pt x="88017" y="107472"/>
                  <a:pt x="83472" y="112017"/>
                  <a:pt x="78000" y="115177"/>
                </a:cubicBezTo>
                <a:cubicBezTo>
                  <a:pt x="72528" y="118336"/>
                  <a:pt x="66319" y="120000"/>
                  <a:pt x="60000" y="120000"/>
                </a:cubicBezTo>
                <a:close/>
              </a:path>
            </a:pathLst>
          </a:custGeom>
          <a:solidFill>
            <a:srgbClr val="02479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6" name="Google Shape;396;p22"/>
          <p:cNvSpPr txBox="1"/>
          <p:nvPr/>
        </p:nvSpPr>
        <p:spPr>
          <a:xfrm>
            <a:off x="4194398" y="4900422"/>
            <a:ext cx="1946981" cy="38404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s-MX" sz="1000" u="none" cap="none" strike="noStrike">
                <a:solidFill>
                  <a:srgbClr val="FFFFFF"/>
                </a:solidFill>
                <a:latin typeface="Arial"/>
                <a:ea typeface="Arial"/>
                <a:cs typeface="Arial"/>
                <a:sym typeface="Arial"/>
              </a:rPr>
              <a:t>Trabajar con lógica ágil: lo que transforma el trabajo</a:t>
            </a:r>
            <a:endParaRPr b="1" i="0" sz="1000" u="none" cap="none" strike="noStrike">
              <a:solidFill>
                <a:srgbClr val="FFFFFF"/>
              </a:solidFill>
              <a:latin typeface="Arial"/>
              <a:ea typeface="Arial"/>
              <a:cs typeface="Arial"/>
              <a:sym typeface="Arial"/>
            </a:endParaRPr>
          </a:p>
        </p:txBody>
      </p:sp>
      <p:sp>
        <p:nvSpPr>
          <p:cNvPr id="397" name="Google Shape;397;p22"/>
          <p:cNvSpPr/>
          <p:nvPr/>
        </p:nvSpPr>
        <p:spPr>
          <a:xfrm>
            <a:off x="3716024" y="5577157"/>
            <a:ext cx="2387085" cy="292608"/>
          </a:xfrm>
          <a:prstGeom prst="roundRect">
            <a:avLst>
              <a:gd fmla="val 3125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8" name="Google Shape;398;p22"/>
          <p:cNvSpPr/>
          <p:nvPr/>
        </p:nvSpPr>
        <p:spPr>
          <a:xfrm>
            <a:off x="3817204" y="5604589"/>
            <a:ext cx="237744" cy="237744"/>
          </a:xfrm>
          <a:custGeom>
            <a:rect b="b" l="l" r="r" t="t"/>
            <a:pathLst>
              <a:path extrusionOk="0" h="256000" w="256000">
                <a:moveTo>
                  <a:pt x="176000" y="232000"/>
                </a:moveTo>
                <a:cubicBezTo>
                  <a:pt x="176000" y="233404"/>
                  <a:pt x="175630" y="234784"/>
                  <a:pt x="174928" y="236000"/>
                </a:cubicBezTo>
                <a:cubicBezTo>
                  <a:pt x="174226" y="237216"/>
                  <a:pt x="173216" y="238226"/>
                  <a:pt x="172000" y="238928"/>
                </a:cubicBezTo>
                <a:cubicBezTo>
                  <a:pt x="170784" y="239630"/>
                  <a:pt x="169404" y="240000"/>
                  <a:pt x="168000" y="240000"/>
                </a:cubicBezTo>
                <a:lnTo>
                  <a:pt x="88000" y="240000"/>
                </a:lnTo>
                <a:cubicBezTo>
                  <a:pt x="86596" y="240000"/>
                  <a:pt x="85216" y="239630"/>
                  <a:pt x="84000" y="238928"/>
                </a:cubicBezTo>
                <a:cubicBezTo>
                  <a:pt x="82784" y="238226"/>
                  <a:pt x="81774" y="237216"/>
                  <a:pt x="81072" y="236000"/>
                </a:cubicBezTo>
                <a:cubicBezTo>
                  <a:pt x="80370" y="234784"/>
                  <a:pt x="80000" y="233404"/>
                  <a:pt x="80000" y="232000"/>
                </a:cubicBezTo>
                <a:cubicBezTo>
                  <a:pt x="80000" y="230596"/>
                  <a:pt x="80370" y="229216"/>
                  <a:pt x="81072" y="228000"/>
                </a:cubicBezTo>
                <a:cubicBezTo>
                  <a:pt x="81774" y="226784"/>
                  <a:pt x="82784" y="225774"/>
                  <a:pt x="84000" y="225072"/>
                </a:cubicBezTo>
                <a:cubicBezTo>
                  <a:pt x="85216" y="224370"/>
                  <a:pt x="86596" y="224000"/>
                  <a:pt x="88000" y="224000"/>
                </a:cubicBezTo>
                <a:lnTo>
                  <a:pt x="168000" y="224000"/>
                </a:lnTo>
                <a:cubicBezTo>
                  <a:pt x="169404" y="224000"/>
                  <a:pt x="170784" y="224370"/>
                  <a:pt x="172000" y="225072"/>
                </a:cubicBezTo>
                <a:cubicBezTo>
                  <a:pt x="173216" y="225774"/>
                  <a:pt x="174226" y="226784"/>
                  <a:pt x="174928" y="228000"/>
                </a:cubicBezTo>
                <a:cubicBezTo>
                  <a:pt x="175630" y="229216"/>
                  <a:pt x="176000" y="230596"/>
                  <a:pt x="176000" y="232000"/>
                </a:cubicBezTo>
                <a:close/>
                <a:moveTo>
                  <a:pt x="216000" y="104000"/>
                </a:moveTo>
                <a:cubicBezTo>
                  <a:pt x="216034" y="117336"/>
                  <a:pt x="213021" y="130505"/>
                  <a:pt x="207192" y="142499"/>
                </a:cubicBezTo>
                <a:cubicBezTo>
                  <a:pt x="201362" y="154493"/>
                  <a:pt x="192868" y="164998"/>
                  <a:pt x="182360" y="173210"/>
                </a:cubicBezTo>
                <a:cubicBezTo>
                  <a:pt x="180395" y="174716"/>
                  <a:pt x="178801" y="176652"/>
                  <a:pt x="177698" y="178868"/>
                </a:cubicBezTo>
                <a:cubicBezTo>
                  <a:pt x="176596" y="181085"/>
                  <a:pt x="176015" y="183524"/>
                  <a:pt x="176000" y="186000"/>
                </a:cubicBezTo>
                <a:lnTo>
                  <a:pt x="176000" y="192000"/>
                </a:lnTo>
                <a:cubicBezTo>
                  <a:pt x="176000" y="194808"/>
                  <a:pt x="175261" y="197568"/>
                  <a:pt x="173856" y="200000"/>
                </a:cubicBezTo>
                <a:cubicBezTo>
                  <a:pt x="172452" y="202432"/>
                  <a:pt x="170432" y="204452"/>
                  <a:pt x="168000" y="205856"/>
                </a:cubicBezTo>
                <a:cubicBezTo>
                  <a:pt x="165568" y="207261"/>
                  <a:pt x="162808" y="208000"/>
                  <a:pt x="160000" y="208000"/>
                </a:cubicBezTo>
                <a:lnTo>
                  <a:pt x="96000" y="208000"/>
                </a:lnTo>
                <a:cubicBezTo>
                  <a:pt x="93192" y="208000"/>
                  <a:pt x="90432" y="207261"/>
                  <a:pt x="88000" y="205856"/>
                </a:cubicBezTo>
                <a:cubicBezTo>
                  <a:pt x="85568" y="204452"/>
                  <a:pt x="83548" y="202432"/>
                  <a:pt x="82144" y="200000"/>
                </a:cubicBezTo>
                <a:cubicBezTo>
                  <a:pt x="80739" y="197568"/>
                  <a:pt x="80000" y="194808"/>
                  <a:pt x="80000" y="192000"/>
                </a:cubicBezTo>
                <a:lnTo>
                  <a:pt x="80000" y="186000"/>
                </a:lnTo>
                <a:cubicBezTo>
                  <a:pt x="79998" y="183554"/>
                  <a:pt x="79436" y="181141"/>
                  <a:pt x="78356" y="178946"/>
                </a:cubicBezTo>
                <a:cubicBezTo>
                  <a:pt x="77276" y="176752"/>
                  <a:pt x="75707" y="174834"/>
                  <a:pt x="73770" y="173340"/>
                </a:cubicBezTo>
                <a:cubicBezTo>
                  <a:pt x="63288" y="165177"/>
                  <a:pt x="54800" y="154735"/>
                  <a:pt x="48950" y="142807"/>
                </a:cubicBezTo>
                <a:cubicBezTo>
                  <a:pt x="43099" y="130879"/>
                  <a:pt x="40039" y="117775"/>
                  <a:pt x="40000" y="104490"/>
                </a:cubicBezTo>
                <a:cubicBezTo>
                  <a:pt x="39740" y="56830"/>
                  <a:pt x="78260" y="17140"/>
                  <a:pt x="125880" y="16000"/>
                </a:cubicBezTo>
                <a:cubicBezTo>
                  <a:pt x="137613" y="15717"/>
                  <a:pt x="149285" y="17785"/>
                  <a:pt x="160208" y="22080"/>
                </a:cubicBezTo>
                <a:cubicBezTo>
                  <a:pt x="171130" y="26376"/>
                  <a:pt x="181083" y="32813"/>
                  <a:pt x="189480" y="41013"/>
                </a:cubicBezTo>
                <a:cubicBezTo>
                  <a:pt x="197878" y="49213"/>
                  <a:pt x="204550" y="59010"/>
                  <a:pt x="209105" y="69827"/>
                </a:cubicBezTo>
                <a:cubicBezTo>
                  <a:pt x="213659" y="80644"/>
                  <a:pt x="216003" y="92263"/>
                  <a:pt x="216000" y="104000"/>
                </a:cubicBezTo>
                <a:close/>
                <a:moveTo>
                  <a:pt x="200000" y="104000"/>
                </a:moveTo>
                <a:cubicBezTo>
                  <a:pt x="200003" y="94397"/>
                  <a:pt x="198084" y="84889"/>
                  <a:pt x="194358" y="76039"/>
                </a:cubicBezTo>
                <a:cubicBezTo>
                  <a:pt x="190631" y="67188"/>
                  <a:pt x="185171" y="59172"/>
                  <a:pt x="178300" y="52463"/>
                </a:cubicBezTo>
                <a:cubicBezTo>
                  <a:pt x="171429" y="45754"/>
                  <a:pt x="163285" y="40487"/>
                  <a:pt x="154348" y="36973"/>
                </a:cubicBezTo>
                <a:cubicBezTo>
                  <a:pt x="145411" y="33459"/>
                  <a:pt x="135860" y="31768"/>
                  <a:pt x="126260" y="32000"/>
                </a:cubicBezTo>
                <a:cubicBezTo>
                  <a:pt x="87260" y="32920"/>
                  <a:pt x="55790" y="65390"/>
                  <a:pt x="56000" y="104390"/>
                </a:cubicBezTo>
                <a:cubicBezTo>
                  <a:pt x="56037" y="115255"/>
                  <a:pt x="58544" y="125972"/>
                  <a:pt x="63333" y="135725"/>
                </a:cubicBezTo>
                <a:cubicBezTo>
                  <a:pt x="68121" y="145478"/>
                  <a:pt x="75066" y="154016"/>
                  <a:pt x="83640" y="160690"/>
                </a:cubicBezTo>
                <a:cubicBezTo>
                  <a:pt x="87494" y="163686"/>
                  <a:pt x="90612" y="167525"/>
                  <a:pt x="92755" y="171912"/>
                </a:cubicBezTo>
                <a:cubicBezTo>
                  <a:pt x="94897" y="176299"/>
                  <a:pt x="96007" y="181118"/>
                  <a:pt x="96000" y="186000"/>
                </a:cubicBezTo>
                <a:lnTo>
                  <a:pt x="96000" y="192000"/>
                </a:lnTo>
                <a:lnTo>
                  <a:pt x="160000" y="192000"/>
                </a:lnTo>
                <a:lnTo>
                  <a:pt x="160000" y="186000"/>
                </a:lnTo>
                <a:cubicBezTo>
                  <a:pt x="160011" y="181104"/>
                  <a:pt x="161140" y="176275"/>
                  <a:pt x="163301" y="171882"/>
                </a:cubicBezTo>
                <a:cubicBezTo>
                  <a:pt x="165462" y="167489"/>
                  <a:pt x="168599" y="163647"/>
                  <a:pt x="172470" y="160650"/>
                </a:cubicBezTo>
                <a:cubicBezTo>
                  <a:pt x="181071" y="153929"/>
                  <a:pt x="188023" y="145330"/>
                  <a:pt x="192794" y="135512"/>
                </a:cubicBezTo>
                <a:cubicBezTo>
                  <a:pt x="197565" y="125695"/>
                  <a:pt x="200030" y="114915"/>
                  <a:pt x="200000" y="104000"/>
                </a:cubicBezTo>
                <a:close/>
                <a:moveTo>
                  <a:pt x="183890" y="94660"/>
                </a:moveTo>
                <a:cubicBezTo>
                  <a:pt x="182513" y="86969"/>
                  <a:pt x="179585" y="79638"/>
                  <a:pt x="175286" y="73114"/>
                </a:cubicBezTo>
                <a:cubicBezTo>
                  <a:pt x="170986" y="66590"/>
                  <a:pt x="165403" y="61008"/>
                  <a:pt x="158878" y="56710"/>
                </a:cubicBezTo>
                <a:cubicBezTo>
                  <a:pt x="152353" y="52411"/>
                  <a:pt x="145022" y="49485"/>
                  <a:pt x="137330" y="48110"/>
                </a:cubicBezTo>
                <a:cubicBezTo>
                  <a:pt x="135945" y="47877"/>
                  <a:pt x="134523" y="48012"/>
                  <a:pt x="133207" y="48502"/>
                </a:cubicBezTo>
                <a:cubicBezTo>
                  <a:pt x="131891" y="48992"/>
                  <a:pt x="130727" y="49821"/>
                  <a:pt x="129832" y="50903"/>
                </a:cubicBezTo>
                <a:cubicBezTo>
                  <a:pt x="128937" y="51986"/>
                  <a:pt x="128343" y="53285"/>
                  <a:pt x="128110" y="54670"/>
                </a:cubicBezTo>
                <a:cubicBezTo>
                  <a:pt x="127877" y="56055"/>
                  <a:pt x="128012" y="57477"/>
                  <a:pt x="128502" y="58793"/>
                </a:cubicBezTo>
                <a:cubicBezTo>
                  <a:pt x="128992" y="60109"/>
                  <a:pt x="129821" y="61273"/>
                  <a:pt x="130903" y="62168"/>
                </a:cubicBezTo>
                <a:cubicBezTo>
                  <a:pt x="131986" y="63063"/>
                  <a:pt x="133285" y="63657"/>
                  <a:pt x="134670" y="63890"/>
                </a:cubicBezTo>
                <a:cubicBezTo>
                  <a:pt x="151240" y="66680"/>
                  <a:pt x="165300" y="80740"/>
                  <a:pt x="168110" y="97340"/>
                </a:cubicBezTo>
                <a:cubicBezTo>
                  <a:pt x="168320" y="98575"/>
                  <a:pt x="168817" y="99744"/>
                  <a:pt x="169561" y="100751"/>
                </a:cubicBezTo>
                <a:cubicBezTo>
                  <a:pt x="170305" y="101759"/>
                  <a:pt x="171275" y="102578"/>
                  <a:pt x="172394" y="103142"/>
                </a:cubicBezTo>
                <a:cubicBezTo>
                  <a:pt x="173512" y="103707"/>
                  <a:pt x="174747" y="104000"/>
                  <a:pt x="176000" y="104000"/>
                </a:cubicBezTo>
                <a:cubicBezTo>
                  <a:pt x="176452" y="103997"/>
                  <a:pt x="176903" y="103961"/>
                  <a:pt x="177350" y="103890"/>
                </a:cubicBezTo>
                <a:cubicBezTo>
                  <a:pt x="178734" y="103654"/>
                  <a:pt x="180032" y="103057"/>
                  <a:pt x="181112" y="102161"/>
                </a:cubicBezTo>
                <a:cubicBezTo>
                  <a:pt x="182192" y="101264"/>
                  <a:pt x="183018" y="100099"/>
                  <a:pt x="183506" y="98783"/>
                </a:cubicBezTo>
                <a:cubicBezTo>
                  <a:pt x="183993" y="97466"/>
                  <a:pt x="184126" y="96044"/>
                  <a:pt x="183890" y="94660"/>
                </a:cubicBezTo>
                <a:close/>
              </a:path>
            </a:pathLst>
          </a:custGeom>
          <a:solidFill>
            <a:srgbClr val="02479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9" name="Google Shape;399;p22"/>
          <p:cNvSpPr txBox="1"/>
          <p:nvPr/>
        </p:nvSpPr>
        <p:spPr>
          <a:xfrm>
            <a:off x="4156128" y="5577157"/>
            <a:ext cx="1899144" cy="292608"/>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0" i="0" lang="es-MX" sz="950" u="none" cap="none" strike="noStrike">
                <a:solidFill>
                  <a:srgbClr val="2E2E3A"/>
                </a:solidFill>
                <a:latin typeface="Arial"/>
                <a:ea typeface="Arial"/>
                <a:cs typeface="Arial"/>
                <a:sym typeface="Arial"/>
              </a:rPr>
              <a:t>Aprender</a:t>
            </a:r>
            <a:endParaRPr/>
          </a:p>
        </p:txBody>
      </p:sp>
      <p:sp>
        <p:nvSpPr>
          <p:cNvPr id="400" name="Google Shape;400;p22"/>
          <p:cNvSpPr/>
          <p:nvPr/>
        </p:nvSpPr>
        <p:spPr>
          <a:xfrm>
            <a:off x="3716024" y="5924629"/>
            <a:ext cx="2387085" cy="292608"/>
          </a:xfrm>
          <a:prstGeom prst="roundRect">
            <a:avLst>
              <a:gd fmla="val 3125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22"/>
          <p:cNvSpPr/>
          <p:nvPr/>
        </p:nvSpPr>
        <p:spPr>
          <a:xfrm>
            <a:off x="3817204" y="5952061"/>
            <a:ext cx="237744" cy="237744"/>
          </a:xfrm>
          <a:custGeom>
            <a:rect b="b" l="l" r="r" t="t"/>
            <a:pathLst>
              <a:path extrusionOk="0" h="256000" w="256000">
                <a:moveTo>
                  <a:pt x="128000" y="24000"/>
                </a:moveTo>
                <a:cubicBezTo>
                  <a:pt x="109746" y="24000"/>
                  <a:pt x="91809" y="28806"/>
                  <a:pt x="76000" y="37933"/>
                </a:cubicBezTo>
                <a:cubicBezTo>
                  <a:pt x="60191" y="47061"/>
                  <a:pt x="47061" y="60191"/>
                  <a:pt x="37933" y="76000"/>
                </a:cubicBezTo>
                <a:cubicBezTo>
                  <a:pt x="28806" y="91809"/>
                  <a:pt x="24000" y="109746"/>
                  <a:pt x="24000" y="128000"/>
                </a:cubicBezTo>
                <a:cubicBezTo>
                  <a:pt x="24000" y="146254"/>
                  <a:pt x="28806" y="164191"/>
                  <a:pt x="37933" y="180000"/>
                </a:cubicBezTo>
                <a:cubicBezTo>
                  <a:pt x="47061" y="195809"/>
                  <a:pt x="60191" y="208939"/>
                  <a:pt x="76000" y="218067"/>
                </a:cubicBezTo>
                <a:cubicBezTo>
                  <a:pt x="91809" y="227194"/>
                  <a:pt x="109746" y="232000"/>
                  <a:pt x="128000" y="232000"/>
                </a:cubicBezTo>
                <a:cubicBezTo>
                  <a:pt x="146254" y="232000"/>
                  <a:pt x="164191" y="227194"/>
                  <a:pt x="180000" y="218067"/>
                </a:cubicBezTo>
                <a:cubicBezTo>
                  <a:pt x="195809" y="208939"/>
                  <a:pt x="208939" y="195809"/>
                  <a:pt x="218067" y="180000"/>
                </a:cubicBezTo>
                <a:cubicBezTo>
                  <a:pt x="227194" y="164191"/>
                  <a:pt x="232000" y="146254"/>
                  <a:pt x="232000" y="128000"/>
                </a:cubicBezTo>
                <a:cubicBezTo>
                  <a:pt x="231981" y="109751"/>
                  <a:pt x="227164" y="91824"/>
                  <a:pt x="218034" y="76023"/>
                </a:cubicBezTo>
                <a:cubicBezTo>
                  <a:pt x="208904" y="60222"/>
                  <a:pt x="195778" y="47096"/>
                  <a:pt x="179977" y="37966"/>
                </a:cubicBezTo>
                <a:cubicBezTo>
                  <a:pt x="164176" y="28836"/>
                  <a:pt x="146249" y="24019"/>
                  <a:pt x="128000" y="24000"/>
                </a:cubicBezTo>
                <a:close/>
                <a:moveTo>
                  <a:pt x="128000" y="216000"/>
                </a:moveTo>
                <a:cubicBezTo>
                  <a:pt x="112554" y="216000"/>
                  <a:pt x="97377" y="211933"/>
                  <a:pt x="84000" y="204210"/>
                </a:cubicBezTo>
                <a:cubicBezTo>
                  <a:pt x="70623" y="196487"/>
                  <a:pt x="59513" y="185377"/>
                  <a:pt x="51790" y="172000"/>
                </a:cubicBezTo>
                <a:cubicBezTo>
                  <a:pt x="44067" y="158623"/>
                  <a:pt x="40000" y="143446"/>
                  <a:pt x="40000" y="128000"/>
                </a:cubicBezTo>
                <a:cubicBezTo>
                  <a:pt x="40000" y="112554"/>
                  <a:pt x="44067" y="97377"/>
                  <a:pt x="51790" y="84000"/>
                </a:cubicBezTo>
                <a:cubicBezTo>
                  <a:pt x="59513" y="70623"/>
                  <a:pt x="70623" y="59513"/>
                  <a:pt x="84000" y="51790"/>
                </a:cubicBezTo>
                <a:cubicBezTo>
                  <a:pt x="97377" y="44067"/>
                  <a:pt x="112554" y="40000"/>
                  <a:pt x="128000" y="40000"/>
                </a:cubicBezTo>
                <a:cubicBezTo>
                  <a:pt x="143446" y="40000"/>
                  <a:pt x="158623" y="44067"/>
                  <a:pt x="172000" y="51790"/>
                </a:cubicBezTo>
                <a:cubicBezTo>
                  <a:pt x="185377" y="59513"/>
                  <a:pt x="196487" y="70623"/>
                  <a:pt x="204210" y="84000"/>
                </a:cubicBezTo>
                <a:cubicBezTo>
                  <a:pt x="211933" y="97377"/>
                  <a:pt x="216000" y="112554"/>
                  <a:pt x="216000" y="128000"/>
                </a:cubicBezTo>
                <a:cubicBezTo>
                  <a:pt x="215982" y="143441"/>
                  <a:pt x="211906" y="158609"/>
                  <a:pt x="204180" y="171979"/>
                </a:cubicBezTo>
                <a:cubicBezTo>
                  <a:pt x="196455" y="185348"/>
                  <a:pt x="185348" y="196455"/>
                  <a:pt x="171979" y="204180"/>
                </a:cubicBezTo>
                <a:cubicBezTo>
                  <a:pt x="158609" y="211906"/>
                  <a:pt x="143441" y="215982"/>
                  <a:pt x="128000" y="216000"/>
                </a:cubicBezTo>
                <a:close/>
                <a:moveTo>
                  <a:pt x="172420" y="72840"/>
                </a:moveTo>
                <a:lnTo>
                  <a:pt x="108420" y="104840"/>
                </a:lnTo>
                <a:cubicBezTo>
                  <a:pt x="107651" y="105226"/>
                  <a:pt x="106949" y="105733"/>
                  <a:pt x="106341" y="106341"/>
                </a:cubicBezTo>
                <a:cubicBezTo>
                  <a:pt x="105733" y="106949"/>
                  <a:pt x="105226" y="107651"/>
                  <a:pt x="104840" y="108420"/>
                </a:cubicBezTo>
                <a:lnTo>
                  <a:pt x="72840" y="172420"/>
                </a:lnTo>
                <a:cubicBezTo>
                  <a:pt x="72229" y="173640"/>
                  <a:pt x="71941" y="174996"/>
                  <a:pt x="72002" y="176359"/>
                </a:cubicBezTo>
                <a:cubicBezTo>
                  <a:pt x="72064" y="177722"/>
                  <a:pt x="72472" y="179047"/>
                  <a:pt x="73190" y="180207"/>
                </a:cubicBezTo>
                <a:cubicBezTo>
                  <a:pt x="73907" y="181368"/>
                  <a:pt x="74910" y="182325"/>
                  <a:pt x="76102" y="182989"/>
                </a:cubicBezTo>
                <a:cubicBezTo>
                  <a:pt x="77294" y="183653"/>
                  <a:pt x="78636" y="184001"/>
                  <a:pt x="80000" y="184000"/>
                </a:cubicBezTo>
                <a:cubicBezTo>
                  <a:pt x="81242" y="183998"/>
                  <a:pt x="82467" y="183711"/>
                  <a:pt x="83580" y="183160"/>
                </a:cubicBezTo>
                <a:lnTo>
                  <a:pt x="147580" y="151160"/>
                </a:lnTo>
                <a:cubicBezTo>
                  <a:pt x="148349" y="150774"/>
                  <a:pt x="149051" y="150267"/>
                  <a:pt x="149659" y="149659"/>
                </a:cubicBezTo>
                <a:cubicBezTo>
                  <a:pt x="150267" y="149051"/>
                  <a:pt x="150774" y="148349"/>
                  <a:pt x="151160" y="147580"/>
                </a:cubicBezTo>
                <a:lnTo>
                  <a:pt x="183160" y="83580"/>
                </a:lnTo>
                <a:cubicBezTo>
                  <a:pt x="183762" y="82381"/>
                  <a:pt x="184053" y="81051"/>
                  <a:pt x="184007" y="79710"/>
                </a:cubicBezTo>
                <a:cubicBezTo>
                  <a:pt x="183960" y="78370"/>
                  <a:pt x="183577" y="77062"/>
                  <a:pt x="182893" y="75908"/>
                </a:cubicBezTo>
                <a:cubicBezTo>
                  <a:pt x="182209" y="74755"/>
                  <a:pt x="181245" y="73791"/>
                  <a:pt x="180092" y="73107"/>
                </a:cubicBezTo>
                <a:cubicBezTo>
                  <a:pt x="178938" y="72423"/>
                  <a:pt x="177630" y="72040"/>
                  <a:pt x="176290" y="71993"/>
                </a:cubicBezTo>
                <a:cubicBezTo>
                  <a:pt x="174949" y="71947"/>
                  <a:pt x="173619" y="72238"/>
                  <a:pt x="172420" y="72840"/>
                </a:cubicBezTo>
                <a:close/>
                <a:moveTo>
                  <a:pt x="138000" y="138000"/>
                </a:moveTo>
                <a:lnTo>
                  <a:pt x="97890" y="158110"/>
                </a:lnTo>
                <a:lnTo>
                  <a:pt x="118000" y="118000"/>
                </a:lnTo>
                <a:lnTo>
                  <a:pt x="158150" y="97930"/>
                </a:lnTo>
                <a:close/>
              </a:path>
            </a:pathLst>
          </a:custGeom>
          <a:solidFill>
            <a:srgbClr val="02479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2" name="Google Shape;402;p22"/>
          <p:cNvSpPr txBox="1"/>
          <p:nvPr/>
        </p:nvSpPr>
        <p:spPr>
          <a:xfrm>
            <a:off x="4156128" y="5924629"/>
            <a:ext cx="1899144" cy="292608"/>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0" i="0" lang="es-MX" sz="950" u="none" cap="none" strike="noStrike">
                <a:solidFill>
                  <a:srgbClr val="2E2E3A"/>
                </a:solidFill>
                <a:latin typeface="Arial"/>
                <a:ea typeface="Arial"/>
                <a:cs typeface="Arial"/>
                <a:sym typeface="Arial"/>
              </a:rPr>
              <a:t>Decidir</a:t>
            </a:r>
            <a:endParaRPr/>
          </a:p>
        </p:txBody>
      </p:sp>
      <p:sp>
        <p:nvSpPr>
          <p:cNvPr id="403" name="Google Shape;403;p22"/>
          <p:cNvSpPr/>
          <p:nvPr/>
        </p:nvSpPr>
        <p:spPr>
          <a:xfrm>
            <a:off x="3716024" y="6272101"/>
            <a:ext cx="2387085" cy="292608"/>
          </a:xfrm>
          <a:prstGeom prst="roundRect">
            <a:avLst>
              <a:gd fmla="val 3125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4" name="Google Shape;404;p22"/>
          <p:cNvSpPr/>
          <p:nvPr/>
        </p:nvSpPr>
        <p:spPr>
          <a:xfrm>
            <a:off x="3817204" y="6299533"/>
            <a:ext cx="237744" cy="237744"/>
          </a:xfrm>
          <a:custGeom>
            <a:rect b="b" l="l" r="r" t="t"/>
            <a:pathLst>
              <a:path extrusionOk="0" h="256000" w="256000">
                <a:moveTo>
                  <a:pt x="232000" y="208000"/>
                </a:moveTo>
                <a:cubicBezTo>
                  <a:pt x="232000" y="209404"/>
                  <a:pt x="231630" y="210784"/>
                  <a:pt x="230928" y="212000"/>
                </a:cubicBezTo>
                <a:cubicBezTo>
                  <a:pt x="230226" y="213216"/>
                  <a:pt x="229216" y="214226"/>
                  <a:pt x="228000" y="214928"/>
                </a:cubicBezTo>
                <a:cubicBezTo>
                  <a:pt x="226784" y="215630"/>
                  <a:pt x="225404" y="216000"/>
                  <a:pt x="224000" y="216000"/>
                </a:cubicBezTo>
                <a:lnTo>
                  <a:pt x="32000" y="216000"/>
                </a:lnTo>
                <a:cubicBezTo>
                  <a:pt x="30596" y="216000"/>
                  <a:pt x="29216" y="215630"/>
                  <a:pt x="28000" y="214928"/>
                </a:cubicBezTo>
                <a:cubicBezTo>
                  <a:pt x="26784" y="214226"/>
                  <a:pt x="25774" y="213216"/>
                  <a:pt x="25072" y="212000"/>
                </a:cubicBezTo>
                <a:cubicBezTo>
                  <a:pt x="24370" y="210784"/>
                  <a:pt x="24000" y="209404"/>
                  <a:pt x="24000" y="208000"/>
                </a:cubicBezTo>
                <a:lnTo>
                  <a:pt x="24000" y="48000"/>
                </a:lnTo>
                <a:cubicBezTo>
                  <a:pt x="24000" y="46596"/>
                  <a:pt x="24370" y="45216"/>
                  <a:pt x="25072" y="44000"/>
                </a:cubicBezTo>
                <a:cubicBezTo>
                  <a:pt x="25774" y="42784"/>
                  <a:pt x="26784" y="41774"/>
                  <a:pt x="28000" y="41072"/>
                </a:cubicBezTo>
                <a:cubicBezTo>
                  <a:pt x="29216" y="40370"/>
                  <a:pt x="30596" y="40000"/>
                  <a:pt x="32000" y="40000"/>
                </a:cubicBezTo>
                <a:cubicBezTo>
                  <a:pt x="33404" y="40000"/>
                  <a:pt x="34784" y="40370"/>
                  <a:pt x="36000" y="41072"/>
                </a:cubicBezTo>
                <a:cubicBezTo>
                  <a:pt x="37216" y="41774"/>
                  <a:pt x="38226" y="42784"/>
                  <a:pt x="38928" y="44000"/>
                </a:cubicBezTo>
                <a:cubicBezTo>
                  <a:pt x="39630" y="45216"/>
                  <a:pt x="40000" y="46596"/>
                  <a:pt x="40000" y="48000"/>
                </a:cubicBezTo>
                <a:lnTo>
                  <a:pt x="40000" y="156690"/>
                </a:lnTo>
                <a:lnTo>
                  <a:pt x="90340" y="106340"/>
                </a:lnTo>
                <a:cubicBezTo>
                  <a:pt x="91083" y="105596"/>
                  <a:pt x="91965" y="105006"/>
                  <a:pt x="92936" y="104604"/>
                </a:cubicBezTo>
                <a:cubicBezTo>
                  <a:pt x="93908" y="104201"/>
                  <a:pt x="94949" y="103994"/>
                  <a:pt x="96000" y="103994"/>
                </a:cubicBezTo>
                <a:cubicBezTo>
                  <a:pt x="97051" y="103994"/>
                  <a:pt x="98092" y="104201"/>
                  <a:pt x="99064" y="104604"/>
                </a:cubicBezTo>
                <a:cubicBezTo>
                  <a:pt x="100035" y="105006"/>
                  <a:pt x="100917" y="105596"/>
                  <a:pt x="101660" y="106340"/>
                </a:cubicBezTo>
                <a:lnTo>
                  <a:pt x="128000" y="132690"/>
                </a:lnTo>
                <a:lnTo>
                  <a:pt x="180690" y="80000"/>
                </a:lnTo>
                <a:lnTo>
                  <a:pt x="160000" y="80000"/>
                </a:lnTo>
                <a:cubicBezTo>
                  <a:pt x="158596" y="80000"/>
                  <a:pt x="157216" y="79630"/>
                  <a:pt x="156000" y="78928"/>
                </a:cubicBezTo>
                <a:cubicBezTo>
                  <a:pt x="154784" y="78226"/>
                  <a:pt x="153774" y="77216"/>
                  <a:pt x="153072" y="76000"/>
                </a:cubicBezTo>
                <a:cubicBezTo>
                  <a:pt x="152370" y="74784"/>
                  <a:pt x="152000" y="73404"/>
                  <a:pt x="152000" y="72000"/>
                </a:cubicBezTo>
                <a:cubicBezTo>
                  <a:pt x="152000" y="70596"/>
                  <a:pt x="152370" y="69216"/>
                  <a:pt x="153072" y="68000"/>
                </a:cubicBezTo>
                <a:cubicBezTo>
                  <a:pt x="153774" y="66784"/>
                  <a:pt x="154784" y="65774"/>
                  <a:pt x="156000" y="65072"/>
                </a:cubicBezTo>
                <a:cubicBezTo>
                  <a:pt x="157216" y="64370"/>
                  <a:pt x="158596" y="64000"/>
                  <a:pt x="160000" y="64000"/>
                </a:cubicBezTo>
                <a:lnTo>
                  <a:pt x="200000" y="64000"/>
                </a:lnTo>
                <a:cubicBezTo>
                  <a:pt x="201404" y="64000"/>
                  <a:pt x="202784" y="64370"/>
                  <a:pt x="204000" y="65072"/>
                </a:cubicBezTo>
                <a:cubicBezTo>
                  <a:pt x="205216" y="65774"/>
                  <a:pt x="206226" y="66784"/>
                  <a:pt x="206928" y="68000"/>
                </a:cubicBezTo>
                <a:cubicBezTo>
                  <a:pt x="207630" y="69216"/>
                  <a:pt x="208000" y="70596"/>
                  <a:pt x="208000" y="72000"/>
                </a:cubicBezTo>
                <a:lnTo>
                  <a:pt x="208000" y="112000"/>
                </a:lnTo>
                <a:cubicBezTo>
                  <a:pt x="208000" y="113404"/>
                  <a:pt x="207630" y="114784"/>
                  <a:pt x="206928" y="116000"/>
                </a:cubicBezTo>
                <a:cubicBezTo>
                  <a:pt x="206226" y="117216"/>
                  <a:pt x="205216" y="118226"/>
                  <a:pt x="204000" y="118928"/>
                </a:cubicBezTo>
                <a:cubicBezTo>
                  <a:pt x="202784" y="119630"/>
                  <a:pt x="201404" y="120000"/>
                  <a:pt x="200000" y="120000"/>
                </a:cubicBezTo>
                <a:cubicBezTo>
                  <a:pt x="198596" y="120000"/>
                  <a:pt x="197216" y="119630"/>
                  <a:pt x="196000" y="118928"/>
                </a:cubicBezTo>
                <a:cubicBezTo>
                  <a:pt x="194784" y="118226"/>
                  <a:pt x="193774" y="117216"/>
                  <a:pt x="193072" y="116000"/>
                </a:cubicBezTo>
                <a:cubicBezTo>
                  <a:pt x="192370" y="114784"/>
                  <a:pt x="192000" y="113404"/>
                  <a:pt x="192000" y="112000"/>
                </a:cubicBezTo>
                <a:lnTo>
                  <a:pt x="192000" y="91310"/>
                </a:lnTo>
                <a:lnTo>
                  <a:pt x="133660" y="149660"/>
                </a:lnTo>
                <a:cubicBezTo>
                  <a:pt x="132917" y="150404"/>
                  <a:pt x="132035" y="150994"/>
                  <a:pt x="131064" y="151396"/>
                </a:cubicBezTo>
                <a:cubicBezTo>
                  <a:pt x="130092" y="151799"/>
                  <a:pt x="129051" y="152006"/>
                  <a:pt x="128000" y="152006"/>
                </a:cubicBezTo>
                <a:cubicBezTo>
                  <a:pt x="126949" y="152006"/>
                  <a:pt x="125908" y="151799"/>
                  <a:pt x="124936" y="151396"/>
                </a:cubicBezTo>
                <a:cubicBezTo>
                  <a:pt x="123965" y="150994"/>
                  <a:pt x="123083" y="150404"/>
                  <a:pt x="122340" y="149660"/>
                </a:cubicBezTo>
                <a:lnTo>
                  <a:pt x="96000" y="123310"/>
                </a:lnTo>
                <a:lnTo>
                  <a:pt x="40000" y="179310"/>
                </a:lnTo>
                <a:lnTo>
                  <a:pt x="40000" y="200000"/>
                </a:lnTo>
                <a:lnTo>
                  <a:pt x="224000" y="200000"/>
                </a:lnTo>
                <a:cubicBezTo>
                  <a:pt x="225404" y="200000"/>
                  <a:pt x="226784" y="200370"/>
                  <a:pt x="228000" y="201072"/>
                </a:cubicBezTo>
                <a:cubicBezTo>
                  <a:pt x="229216" y="201774"/>
                  <a:pt x="230226" y="202784"/>
                  <a:pt x="230928" y="204000"/>
                </a:cubicBezTo>
                <a:cubicBezTo>
                  <a:pt x="231630" y="205216"/>
                  <a:pt x="232000" y="206596"/>
                  <a:pt x="232000" y="208000"/>
                </a:cubicBezTo>
                <a:close/>
              </a:path>
            </a:pathLst>
          </a:custGeom>
          <a:solidFill>
            <a:srgbClr val="02479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5" name="Google Shape;405;p22"/>
          <p:cNvSpPr txBox="1"/>
          <p:nvPr/>
        </p:nvSpPr>
        <p:spPr>
          <a:xfrm>
            <a:off x="4156128" y="6272101"/>
            <a:ext cx="1899144" cy="292608"/>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0" i="0" lang="es-MX" sz="950" u="none" cap="none" strike="noStrike">
                <a:solidFill>
                  <a:srgbClr val="2E2E3A"/>
                </a:solidFill>
                <a:latin typeface="Arial"/>
                <a:ea typeface="Arial"/>
                <a:cs typeface="Arial"/>
                <a:sym typeface="Arial"/>
              </a:rPr>
              <a:t>Generar valor</a:t>
            </a:r>
            <a:endParaRPr/>
          </a:p>
        </p:txBody>
      </p:sp>
      <p:sp>
        <p:nvSpPr>
          <p:cNvPr id="406" name="Google Shape;406;p22"/>
          <p:cNvSpPr/>
          <p:nvPr/>
        </p:nvSpPr>
        <p:spPr>
          <a:xfrm>
            <a:off x="3716024" y="6619573"/>
            <a:ext cx="2387085" cy="292608"/>
          </a:xfrm>
          <a:prstGeom prst="roundRect">
            <a:avLst>
              <a:gd fmla="val 3125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7" name="Google Shape;407;p22"/>
          <p:cNvSpPr/>
          <p:nvPr/>
        </p:nvSpPr>
        <p:spPr>
          <a:xfrm>
            <a:off x="3817204" y="6647005"/>
            <a:ext cx="237744" cy="237744"/>
          </a:xfrm>
          <a:custGeom>
            <a:rect b="b" l="l" r="r" t="t"/>
            <a:pathLst>
              <a:path extrusionOk="0" h="256000" w="256000">
                <a:moveTo>
                  <a:pt x="229660" y="189660"/>
                </a:moveTo>
                <a:lnTo>
                  <a:pt x="197660" y="221660"/>
                </a:lnTo>
                <a:cubicBezTo>
                  <a:pt x="196917" y="222404"/>
                  <a:pt x="196035" y="222994"/>
                  <a:pt x="195064" y="223396"/>
                </a:cubicBezTo>
                <a:cubicBezTo>
                  <a:pt x="194092" y="223799"/>
                  <a:pt x="193051" y="224006"/>
                  <a:pt x="192000" y="224006"/>
                </a:cubicBezTo>
                <a:cubicBezTo>
                  <a:pt x="190949" y="224006"/>
                  <a:pt x="189908" y="223799"/>
                  <a:pt x="188936" y="223396"/>
                </a:cubicBezTo>
                <a:cubicBezTo>
                  <a:pt x="187965" y="222994"/>
                  <a:pt x="187083" y="222404"/>
                  <a:pt x="186340" y="221660"/>
                </a:cubicBezTo>
                <a:lnTo>
                  <a:pt x="154340" y="189660"/>
                </a:lnTo>
                <a:cubicBezTo>
                  <a:pt x="153347" y="188667"/>
                  <a:pt x="152632" y="187429"/>
                  <a:pt x="152268" y="186072"/>
                </a:cubicBezTo>
                <a:cubicBezTo>
                  <a:pt x="151905" y="184715"/>
                  <a:pt x="151905" y="183285"/>
                  <a:pt x="152268" y="181928"/>
                </a:cubicBezTo>
                <a:cubicBezTo>
                  <a:pt x="152632" y="180571"/>
                  <a:pt x="153347" y="179333"/>
                  <a:pt x="154340" y="178340"/>
                </a:cubicBezTo>
                <a:cubicBezTo>
                  <a:pt x="155333" y="177347"/>
                  <a:pt x="156571" y="176632"/>
                  <a:pt x="157928" y="176268"/>
                </a:cubicBezTo>
                <a:cubicBezTo>
                  <a:pt x="159285" y="175905"/>
                  <a:pt x="160715" y="175905"/>
                  <a:pt x="162072" y="176268"/>
                </a:cubicBezTo>
                <a:cubicBezTo>
                  <a:pt x="163429" y="176632"/>
                  <a:pt x="164667" y="177347"/>
                  <a:pt x="165660" y="178340"/>
                </a:cubicBezTo>
                <a:lnTo>
                  <a:pt x="184000" y="196690"/>
                </a:lnTo>
                <a:lnTo>
                  <a:pt x="184000" y="139310"/>
                </a:lnTo>
                <a:lnTo>
                  <a:pt x="128000" y="83310"/>
                </a:lnTo>
                <a:lnTo>
                  <a:pt x="72000" y="139310"/>
                </a:lnTo>
                <a:lnTo>
                  <a:pt x="72000" y="196690"/>
                </a:lnTo>
                <a:lnTo>
                  <a:pt x="90340" y="178340"/>
                </a:lnTo>
                <a:cubicBezTo>
                  <a:pt x="91333" y="177347"/>
                  <a:pt x="92571" y="176632"/>
                  <a:pt x="93928" y="176268"/>
                </a:cubicBezTo>
                <a:cubicBezTo>
                  <a:pt x="95285" y="175905"/>
                  <a:pt x="96715" y="175905"/>
                  <a:pt x="98072" y="176268"/>
                </a:cubicBezTo>
                <a:cubicBezTo>
                  <a:pt x="99429" y="176632"/>
                  <a:pt x="100667" y="177347"/>
                  <a:pt x="101660" y="178340"/>
                </a:cubicBezTo>
                <a:cubicBezTo>
                  <a:pt x="102653" y="179333"/>
                  <a:pt x="103368" y="180571"/>
                  <a:pt x="103732" y="181928"/>
                </a:cubicBezTo>
                <a:cubicBezTo>
                  <a:pt x="104095" y="183285"/>
                  <a:pt x="104095" y="184715"/>
                  <a:pt x="103732" y="186072"/>
                </a:cubicBezTo>
                <a:cubicBezTo>
                  <a:pt x="103368" y="187429"/>
                  <a:pt x="102653" y="188667"/>
                  <a:pt x="101660" y="189660"/>
                </a:cubicBezTo>
                <a:lnTo>
                  <a:pt x="69660" y="221660"/>
                </a:lnTo>
                <a:cubicBezTo>
                  <a:pt x="68917" y="222404"/>
                  <a:pt x="68035" y="222994"/>
                  <a:pt x="67064" y="223396"/>
                </a:cubicBezTo>
                <a:cubicBezTo>
                  <a:pt x="66092" y="223799"/>
                  <a:pt x="65051" y="224006"/>
                  <a:pt x="64000" y="224006"/>
                </a:cubicBezTo>
                <a:cubicBezTo>
                  <a:pt x="62949" y="224006"/>
                  <a:pt x="61908" y="223799"/>
                  <a:pt x="60936" y="223396"/>
                </a:cubicBezTo>
                <a:cubicBezTo>
                  <a:pt x="59965" y="222994"/>
                  <a:pt x="59083" y="222404"/>
                  <a:pt x="58340" y="221660"/>
                </a:cubicBezTo>
                <a:lnTo>
                  <a:pt x="26340" y="189660"/>
                </a:lnTo>
                <a:cubicBezTo>
                  <a:pt x="25347" y="188667"/>
                  <a:pt x="24632" y="187429"/>
                  <a:pt x="24268" y="186072"/>
                </a:cubicBezTo>
                <a:cubicBezTo>
                  <a:pt x="23905" y="184715"/>
                  <a:pt x="23905" y="183285"/>
                  <a:pt x="24268" y="181928"/>
                </a:cubicBezTo>
                <a:cubicBezTo>
                  <a:pt x="24632" y="180571"/>
                  <a:pt x="25347" y="179333"/>
                  <a:pt x="26340" y="178340"/>
                </a:cubicBezTo>
                <a:cubicBezTo>
                  <a:pt x="27333" y="177347"/>
                  <a:pt x="28571" y="176632"/>
                  <a:pt x="29928" y="176268"/>
                </a:cubicBezTo>
                <a:cubicBezTo>
                  <a:pt x="31285" y="175905"/>
                  <a:pt x="32715" y="175905"/>
                  <a:pt x="34072" y="176268"/>
                </a:cubicBezTo>
                <a:cubicBezTo>
                  <a:pt x="35429" y="176632"/>
                  <a:pt x="36667" y="177347"/>
                  <a:pt x="37660" y="178340"/>
                </a:cubicBezTo>
                <a:lnTo>
                  <a:pt x="56000" y="196690"/>
                </a:lnTo>
                <a:lnTo>
                  <a:pt x="56000" y="136000"/>
                </a:lnTo>
                <a:cubicBezTo>
                  <a:pt x="55999" y="134949"/>
                  <a:pt x="56205" y="133908"/>
                  <a:pt x="56607" y="132937"/>
                </a:cubicBezTo>
                <a:cubicBezTo>
                  <a:pt x="57008" y="131966"/>
                  <a:pt x="57597" y="131083"/>
                  <a:pt x="58340" y="130340"/>
                </a:cubicBezTo>
                <a:lnTo>
                  <a:pt x="120000" y="68690"/>
                </a:lnTo>
                <a:lnTo>
                  <a:pt x="120000" y="24000"/>
                </a:lnTo>
                <a:cubicBezTo>
                  <a:pt x="120000" y="22596"/>
                  <a:pt x="120370" y="21216"/>
                  <a:pt x="121072" y="20000"/>
                </a:cubicBezTo>
                <a:cubicBezTo>
                  <a:pt x="121774" y="18784"/>
                  <a:pt x="122784" y="17774"/>
                  <a:pt x="124000" y="17072"/>
                </a:cubicBezTo>
                <a:cubicBezTo>
                  <a:pt x="125216" y="16370"/>
                  <a:pt x="126596" y="16000"/>
                  <a:pt x="128000" y="16000"/>
                </a:cubicBezTo>
                <a:cubicBezTo>
                  <a:pt x="129404" y="16000"/>
                  <a:pt x="130784" y="16370"/>
                  <a:pt x="132000" y="17072"/>
                </a:cubicBezTo>
                <a:cubicBezTo>
                  <a:pt x="133216" y="17774"/>
                  <a:pt x="134226" y="18784"/>
                  <a:pt x="134928" y="20000"/>
                </a:cubicBezTo>
                <a:cubicBezTo>
                  <a:pt x="135630" y="21216"/>
                  <a:pt x="136000" y="22596"/>
                  <a:pt x="136000" y="24000"/>
                </a:cubicBezTo>
                <a:lnTo>
                  <a:pt x="136000" y="68690"/>
                </a:lnTo>
                <a:lnTo>
                  <a:pt x="197660" y="130340"/>
                </a:lnTo>
                <a:cubicBezTo>
                  <a:pt x="198403" y="131083"/>
                  <a:pt x="198992" y="131966"/>
                  <a:pt x="199393" y="132937"/>
                </a:cubicBezTo>
                <a:cubicBezTo>
                  <a:pt x="199795" y="133908"/>
                  <a:pt x="200001" y="134949"/>
                  <a:pt x="200000" y="136000"/>
                </a:cubicBezTo>
                <a:lnTo>
                  <a:pt x="200000" y="196690"/>
                </a:lnTo>
                <a:lnTo>
                  <a:pt x="218340" y="178340"/>
                </a:lnTo>
                <a:cubicBezTo>
                  <a:pt x="219333" y="177347"/>
                  <a:pt x="220571" y="176632"/>
                  <a:pt x="221928" y="176268"/>
                </a:cubicBezTo>
                <a:cubicBezTo>
                  <a:pt x="223285" y="175905"/>
                  <a:pt x="224715" y="175905"/>
                  <a:pt x="226072" y="176268"/>
                </a:cubicBezTo>
                <a:cubicBezTo>
                  <a:pt x="227429" y="176632"/>
                  <a:pt x="228667" y="177347"/>
                  <a:pt x="229660" y="178340"/>
                </a:cubicBezTo>
                <a:cubicBezTo>
                  <a:pt x="230653" y="179333"/>
                  <a:pt x="231368" y="180571"/>
                  <a:pt x="231732" y="181928"/>
                </a:cubicBezTo>
                <a:cubicBezTo>
                  <a:pt x="232095" y="183285"/>
                  <a:pt x="232095" y="184715"/>
                  <a:pt x="231732" y="186072"/>
                </a:cubicBezTo>
                <a:cubicBezTo>
                  <a:pt x="231368" y="187429"/>
                  <a:pt x="230653" y="188667"/>
                  <a:pt x="229660" y="189660"/>
                </a:cubicBezTo>
                <a:close/>
              </a:path>
            </a:pathLst>
          </a:custGeom>
          <a:solidFill>
            <a:srgbClr val="02479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8" name="Google Shape;408;p22"/>
          <p:cNvSpPr txBox="1"/>
          <p:nvPr/>
        </p:nvSpPr>
        <p:spPr>
          <a:xfrm>
            <a:off x="4156128" y="6619573"/>
            <a:ext cx="1899144" cy="292608"/>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0" i="0" lang="es-MX" sz="950" u="none" cap="none" strike="noStrike">
                <a:solidFill>
                  <a:srgbClr val="2E2E3A"/>
                </a:solidFill>
                <a:latin typeface="Arial"/>
                <a:ea typeface="Arial"/>
                <a:cs typeface="Arial"/>
                <a:sym typeface="Arial"/>
              </a:rPr>
              <a:t>Adaptar</a:t>
            </a:r>
            <a:endParaRPr/>
          </a:p>
        </p:txBody>
      </p:sp>
      <p:sp>
        <p:nvSpPr>
          <p:cNvPr id="409" name="Google Shape;409;p22"/>
          <p:cNvSpPr/>
          <p:nvPr/>
        </p:nvSpPr>
        <p:spPr>
          <a:xfrm>
            <a:off x="3227832" y="6041493"/>
            <a:ext cx="402336" cy="402336"/>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0" name="Google Shape;410;p22"/>
          <p:cNvSpPr txBox="1"/>
          <p:nvPr/>
        </p:nvSpPr>
        <p:spPr>
          <a:xfrm>
            <a:off x="3227832" y="6041493"/>
            <a:ext cx="402336" cy="402336"/>
          </a:xfrm>
          <a:prstGeom prst="rect">
            <a:avLst/>
          </a:prstGeom>
          <a:noFill/>
          <a:ln>
            <a:noFill/>
          </a:ln>
        </p:spPr>
        <p:txBody>
          <a:bodyPr anchorCtr="0" anchor="ctr" bIns="0" lIns="0" spcFirstLastPara="1" rIns="0" wrap="square" tIns="0">
            <a:spAutoFit/>
          </a:bodyPr>
          <a:lstStyle/>
          <a:p>
            <a:pPr indent="0" lvl="0" marL="0" marR="0" rtl="0" algn="ctr">
              <a:lnSpc>
                <a:spcPct val="112000"/>
              </a:lnSpc>
              <a:spcBef>
                <a:spcPts val="0"/>
              </a:spcBef>
              <a:spcAft>
                <a:spcPts val="0"/>
              </a:spcAft>
              <a:buNone/>
            </a:pPr>
            <a:r>
              <a:rPr b="1" i="0" lang="es-MX" sz="1600" u="none" cap="none" strike="noStrike">
                <a:solidFill>
                  <a:srgbClr val="0B2E6B"/>
                </a:solidFill>
                <a:latin typeface="Arial"/>
                <a:ea typeface="Arial"/>
                <a:cs typeface="Arial"/>
                <a:sym typeface="Arial"/>
              </a:rPr>
              <a:t>≠</a:t>
            </a:r>
            <a:endParaRPr/>
          </a:p>
        </p:txBody>
      </p:sp>
      <p:sp>
        <p:nvSpPr>
          <p:cNvPr id="411" name="Google Shape;411;p22"/>
          <p:cNvSpPr/>
          <p:nvPr/>
        </p:nvSpPr>
        <p:spPr>
          <a:xfrm>
            <a:off x="640080" y="7292530"/>
            <a:ext cx="5577840" cy="965835"/>
          </a:xfrm>
          <a:prstGeom prst="roundRect">
            <a:avLst>
              <a:gd fmla="val 9372" name="adj"/>
            </a:avLst>
          </a:prstGeom>
          <a:solidFill>
            <a:srgbClr val="E5E6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2" name="Google Shape;412;p22"/>
          <p:cNvSpPr/>
          <p:nvPr/>
        </p:nvSpPr>
        <p:spPr>
          <a:xfrm>
            <a:off x="823940" y="7523987"/>
            <a:ext cx="502920" cy="50292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3" name="Google Shape;413;p22"/>
          <p:cNvSpPr/>
          <p:nvPr/>
        </p:nvSpPr>
        <p:spPr>
          <a:xfrm>
            <a:off x="934582" y="7634630"/>
            <a:ext cx="281635" cy="281635"/>
          </a:xfrm>
          <a:custGeom>
            <a:rect b="b" l="l" r="r" t="t"/>
            <a:pathLst>
              <a:path extrusionOk="0" h="256000" w="256000">
                <a:moveTo>
                  <a:pt x="216570" y="39430"/>
                </a:moveTo>
                <a:cubicBezTo>
                  <a:pt x="208143" y="30991"/>
                  <a:pt x="197934" y="24543"/>
                  <a:pt x="186694" y="20558"/>
                </a:cubicBezTo>
                <a:cubicBezTo>
                  <a:pt x="175453" y="16572"/>
                  <a:pt x="163463" y="15151"/>
                  <a:pt x="151602" y="16397"/>
                </a:cubicBezTo>
                <a:cubicBezTo>
                  <a:pt x="139741" y="17643"/>
                  <a:pt x="128308" y="21526"/>
                  <a:pt x="118141" y="27761"/>
                </a:cubicBezTo>
                <a:cubicBezTo>
                  <a:pt x="107975" y="33995"/>
                  <a:pt x="99330" y="42425"/>
                  <a:pt x="92841" y="52431"/>
                </a:cubicBezTo>
                <a:cubicBezTo>
                  <a:pt x="86352" y="62437"/>
                  <a:pt x="82182" y="73769"/>
                  <a:pt x="80636" y="85594"/>
                </a:cubicBezTo>
                <a:cubicBezTo>
                  <a:pt x="79091" y="97420"/>
                  <a:pt x="80210" y="109443"/>
                  <a:pt x="83910" y="120780"/>
                </a:cubicBezTo>
                <a:lnTo>
                  <a:pt x="28690" y="176000"/>
                </a:lnTo>
                <a:cubicBezTo>
                  <a:pt x="27198" y="177480"/>
                  <a:pt x="26015" y="179243"/>
                  <a:pt x="25210" y="181184"/>
                </a:cubicBezTo>
                <a:cubicBezTo>
                  <a:pt x="24404" y="183126"/>
                  <a:pt x="23993" y="185208"/>
                  <a:pt x="24000" y="187310"/>
                </a:cubicBezTo>
                <a:lnTo>
                  <a:pt x="24000" y="216000"/>
                </a:lnTo>
                <a:cubicBezTo>
                  <a:pt x="24000" y="218808"/>
                  <a:pt x="24739" y="221568"/>
                  <a:pt x="26144" y="224000"/>
                </a:cubicBezTo>
                <a:cubicBezTo>
                  <a:pt x="27548" y="226432"/>
                  <a:pt x="29568" y="228452"/>
                  <a:pt x="32000" y="229856"/>
                </a:cubicBezTo>
                <a:cubicBezTo>
                  <a:pt x="34432" y="231261"/>
                  <a:pt x="37192" y="232000"/>
                  <a:pt x="40000" y="232000"/>
                </a:cubicBezTo>
                <a:lnTo>
                  <a:pt x="72000" y="232000"/>
                </a:lnTo>
                <a:cubicBezTo>
                  <a:pt x="73404" y="232000"/>
                  <a:pt x="74784" y="231630"/>
                  <a:pt x="76000" y="230928"/>
                </a:cubicBezTo>
                <a:cubicBezTo>
                  <a:pt x="77216" y="230226"/>
                  <a:pt x="78226" y="229216"/>
                  <a:pt x="78928" y="228000"/>
                </a:cubicBezTo>
                <a:cubicBezTo>
                  <a:pt x="79630" y="226784"/>
                  <a:pt x="80000" y="225404"/>
                  <a:pt x="80000" y="224000"/>
                </a:cubicBezTo>
                <a:lnTo>
                  <a:pt x="80000" y="208000"/>
                </a:lnTo>
                <a:lnTo>
                  <a:pt x="96000" y="208000"/>
                </a:lnTo>
                <a:cubicBezTo>
                  <a:pt x="97404" y="208000"/>
                  <a:pt x="98784" y="207630"/>
                  <a:pt x="100000" y="206928"/>
                </a:cubicBezTo>
                <a:cubicBezTo>
                  <a:pt x="101216" y="206226"/>
                  <a:pt x="102226" y="205216"/>
                  <a:pt x="102928" y="204000"/>
                </a:cubicBezTo>
                <a:cubicBezTo>
                  <a:pt x="103630" y="202784"/>
                  <a:pt x="104000" y="201404"/>
                  <a:pt x="104000" y="200000"/>
                </a:cubicBezTo>
                <a:lnTo>
                  <a:pt x="104000" y="184000"/>
                </a:lnTo>
                <a:lnTo>
                  <a:pt x="120000" y="184000"/>
                </a:lnTo>
                <a:cubicBezTo>
                  <a:pt x="121051" y="184001"/>
                  <a:pt x="122092" y="183795"/>
                  <a:pt x="123063" y="183393"/>
                </a:cubicBezTo>
                <a:cubicBezTo>
                  <a:pt x="124034" y="182992"/>
                  <a:pt x="124917" y="182403"/>
                  <a:pt x="125660" y="181660"/>
                </a:cubicBezTo>
                <a:lnTo>
                  <a:pt x="135220" y="172090"/>
                </a:lnTo>
                <a:cubicBezTo>
                  <a:pt x="143222" y="174693"/>
                  <a:pt x="151586" y="176012"/>
                  <a:pt x="160000" y="176000"/>
                </a:cubicBezTo>
                <a:lnTo>
                  <a:pt x="160100" y="176000"/>
                </a:lnTo>
                <a:cubicBezTo>
                  <a:pt x="172718" y="175985"/>
                  <a:pt x="185155" y="172984"/>
                  <a:pt x="196392" y="167245"/>
                </a:cubicBezTo>
                <a:cubicBezTo>
                  <a:pt x="207629" y="161506"/>
                  <a:pt x="217350" y="153189"/>
                  <a:pt x="224759" y="142975"/>
                </a:cubicBezTo>
                <a:cubicBezTo>
                  <a:pt x="232168" y="132762"/>
                  <a:pt x="237057" y="120939"/>
                  <a:pt x="239024" y="108475"/>
                </a:cubicBezTo>
                <a:cubicBezTo>
                  <a:pt x="240992" y="96012"/>
                  <a:pt x="239983" y="83258"/>
                  <a:pt x="236081" y="71259"/>
                </a:cubicBezTo>
                <a:cubicBezTo>
                  <a:pt x="232179" y="59259"/>
                  <a:pt x="225492" y="48352"/>
                  <a:pt x="216570" y="39430"/>
                </a:cubicBezTo>
                <a:close/>
                <a:moveTo>
                  <a:pt x="224000" y="98100"/>
                </a:moveTo>
                <a:cubicBezTo>
                  <a:pt x="222910" y="132190"/>
                  <a:pt x="194250" y="159960"/>
                  <a:pt x="160110" y="160000"/>
                </a:cubicBezTo>
                <a:lnTo>
                  <a:pt x="160000" y="160000"/>
                </a:lnTo>
                <a:cubicBezTo>
                  <a:pt x="151902" y="160014"/>
                  <a:pt x="143875" y="158483"/>
                  <a:pt x="136350" y="155490"/>
                </a:cubicBezTo>
                <a:cubicBezTo>
                  <a:pt x="135373" y="155066"/>
                  <a:pt x="134321" y="154841"/>
                  <a:pt x="133255" y="154829"/>
                </a:cubicBezTo>
                <a:cubicBezTo>
                  <a:pt x="132190" y="154817"/>
                  <a:pt x="131133" y="155018"/>
                  <a:pt x="130147" y="155420"/>
                </a:cubicBezTo>
                <a:cubicBezTo>
                  <a:pt x="129160" y="155822"/>
                  <a:pt x="128264" y="156417"/>
                  <a:pt x="127510" y="157170"/>
                </a:cubicBezTo>
                <a:lnTo>
                  <a:pt x="116690" y="168000"/>
                </a:lnTo>
                <a:lnTo>
                  <a:pt x="96000" y="168000"/>
                </a:lnTo>
                <a:cubicBezTo>
                  <a:pt x="94596" y="168000"/>
                  <a:pt x="93216" y="168370"/>
                  <a:pt x="92000" y="169072"/>
                </a:cubicBezTo>
                <a:cubicBezTo>
                  <a:pt x="90784" y="169774"/>
                  <a:pt x="89774" y="170784"/>
                  <a:pt x="89072" y="172000"/>
                </a:cubicBezTo>
                <a:cubicBezTo>
                  <a:pt x="88370" y="173216"/>
                  <a:pt x="88000" y="174596"/>
                  <a:pt x="88000" y="176000"/>
                </a:cubicBezTo>
                <a:lnTo>
                  <a:pt x="88000" y="192000"/>
                </a:lnTo>
                <a:lnTo>
                  <a:pt x="72000" y="192000"/>
                </a:lnTo>
                <a:cubicBezTo>
                  <a:pt x="70596" y="192000"/>
                  <a:pt x="69216" y="192370"/>
                  <a:pt x="68000" y="193072"/>
                </a:cubicBezTo>
                <a:cubicBezTo>
                  <a:pt x="66784" y="193774"/>
                  <a:pt x="65774" y="194784"/>
                  <a:pt x="65072" y="196000"/>
                </a:cubicBezTo>
                <a:cubicBezTo>
                  <a:pt x="64370" y="197216"/>
                  <a:pt x="64000" y="198596"/>
                  <a:pt x="64000" y="200000"/>
                </a:cubicBezTo>
                <a:lnTo>
                  <a:pt x="64000" y="216000"/>
                </a:lnTo>
                <a:lnTo>
                  <a:pt x="40000" y="216000"/>
                </a:lnTo>
                <a:lnTo>
                  <a:pt x="40000" y="187310"/>
                </a:lnTo>
                <a:lnTo>
                  <a:pt x="98830" y="128490"/>
                </a:lnTo>
                <a:cubicBezTo>
                  <a:pt x="99583" y="127736"/>
                  <a:pt x="100178" y="126840"/>
                  <a:pt x="100580" y="125853"/>
                </a:cubicBezTo>
                <a:cubicBezTo>
                  <a:pt x="100982" y="124867"/>
                  <a:pt x="101183" y="123810"/>
                  <a:pt x="101171" y="122745"/>
                </a:cubicBezTo>
                <a:cubicBezTo>
                  <a:pt x="101159" y="121679"/>
                  <a:pt x="100934" y="120627"/>
                  <a:pt x="100510" y="119650"/>
                </a:cubicBezTo>
                <a:cubicBezTo>
                  <a:pt x="97508" y="112100"/>
                  <a:pt x="95977" y="104045"/>
                  <a:pt x="96000" y="95920"/>
                </a:cubicBezTo>
                <a:cubicBezTo>
                  <a:pt x="96000" y="61780"/>
                  <a:pt x="123810" y="33120"/>
                  <a:pt x="157900" y="32030"/>
                </a:cubicBezTo>
                <a:cubicBezTo>
                  <a:pt x="166656" y="31738"/>
                  <a:pt x="175380" y="33247"/>
                  <a:pt x="183530" y="36463"/>
                </a:cubicBezTo>
                <a:cubicBezTo>
                  <a:pt x="191680" y="39680"/>
                  <a:pt x="199083" y="44535"/>
                  <a:pt x="205279" y="50729"/>
                </a:cubicBezTo>
                <a:cubicBezTo>
                  <a:pt x="211476" y="56923"/>
                  <a:pt x="216335" y="64324"/>
                  <a:pt x="219555" y="72472"/>
                </a:cubicBezTo>
                <a:cubicBezTo>
                  <a:pt x="222775" y="80620"/>
                  <a:pt x="224288" y="89343"/>
                  <a:pt x="224000" y="98100"/>
                </a:cubicBezTo>
                <a:close/>
                <a:moveTo>
                  <a:pt x="192000" y="76000"/>
                </a:moveTo>
                <a:cubicBezTo>
                  <a:pt x="192000" y="78106"/>
                  <a:pt x="191445" y="80176"/>
                  <a:pt x="190392" y="82000"/>
                </a:cubicBezTo>
                <a:cubicBezTo>
                  <a:pt x="189339" y="83824"/>
                  <a:pt x="187824" y="85339"/>
                  <a:pt x="186000" y="86392"/>
                </a:cubicBezTo>
                <a:cubicBezTo>
                  <a:pt x="184176" y="87445"/>
                  <a:pt x="182106" y="88000"/>
                  <a:pt x="180000" y="88000"/>
                </a:cubicBezTo>
                <a:cubicBezTo>
                  <a:pt x="177894" y="88000"/>
                  <a:pt x="175824" y="87445"/>
                  <a:pt x="174000" y="86392"/>
                </a:cubicBezTo>
                <a:cubicBezTo>
                  <a:pt x="172176" y="85339"/>
                  <a:pt x="170661" y="83824"/>
                  <a:pt x="169608" y="82000"/>
                </a:cubicBezTo>
                <a:cubicBezTo>
                  <a:pt x="168555" y="80176"/>
                  <a:pt x="168000" y="78106"/>
                  <a:pt x="168000" y="76000"/>
                </a:cubicBezTo>
                <a:cubicBezTo>
                  <a:pt x="168000" y="73894"/>
                  <a:pt x="168555" y="71824"/>
                  <a:pt x="169608" y="70000"/>
                </a:cubicBezTo>
                <a:cubicBezTo>
                  <a:pt x="170661" y="68176"/>
                  <a:pt x="172176" y="66661"/>
                  <a:pt x="174000" y="65608"/>
                </a:cubicBezTo>
                <a:cubicBezTo>
                  <a:pt x="175824" y="64555"/>
                  <a:pt x="177894" y="64000"/>
                  <a:pt x="180000" y="64000"/>
                </a:cubicBezTo>
                <a:cubicBezTo>
                  <a:pt x="182106" y="64000"/>
                  <a:pt x="184176" y="64555"/>
                  <a:pt x="186000" y="65608"/>
                </a:cubicBezTo>
                <a:cubicBezTo>
                  <a:pt x="187824" y="66661"/>
                  <a:pt x="189339" y="68176"/>
                  <a:pt x="190392" y="70000"/>
                </a:cubicBezTo>
                <a:cubicBezTo>
                  <a:pt x="191445" y="71824"/>
                  <a:pt x="192000" y="73894"/>
                  <a:pt x="192000" y="76000"/>
                </a:cubicBezTo>
                <a:close/>
              </a:path>
            </a:pathLst>
          </a:custGeom>
          <a:solidFill>
            <a:srgbClr val="0B2E6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4" name="Google Shape;414;p22"/>
          <p:cNvSpPr txBox="1"/>
          <p:nvPr/>
        </p:nvSpPr>
        <p:spPr>
          <a:xfrm>
            <a:off x="1482018" y="7457122"/>
            <a:ext cx="4573254" cy="636651"/>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1" i="0" lang="es-MX" sz="1050" u="none" cap="none" strike="noStrike">
                <a:solidFill>
                  <a:srgbClr val="024791"/>
                </a:solidFill>
                <a:latin typeface="Arial"/>
                <a:ea typeface="Arial"/>
                <a:cs typeface="Arial"/>
                <a:sym typeface="Arial"/>
              </a:rPr>
              <a:t>Clave: </a:t>
            </a:r>
            <a:r>
              <a:rPr b="0" i="0" lang="es-MX" sz="1050" u="none" cap="none" strike="noStrike">
                <a:solidFill>
                  <a:srgbClr val="332F37"/>
                </a:solidFill>
                <a:latin typeface="Arial"/>
                <a:ea typeface="Arial"/>
                <a:cs typeface="Arial"/>
                <a:sym typeface="Arial"/>
              </a:rPr>
              <a:t>las herramientas adquieren sentido cuando están al servicio del aprendizaje, la adaptación y la generación de valor.</a:t>
            </a:r>
            <a:endParaRPr/>
          </a:p>
        </p:txBody>
      </p:sp>
      <p:sp>
        <p:nvSpPr>
          <p:cNvPr id="415" name="Google Shape;415;p22"/>
          <p:cNvSpPr txBox="1"/>
          <p:nvPr/>
        </p:nvSpPr>
        <p:spPr>
          <a:xfrm>
            <a:off x="640080" y="8422957"/>
            <a:ext cx="5577840" cy="201168"/>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1" lang="es-MX" sz="950" u="none" cap="none" strike="noStrike">
                <a:solidFill>
                  <a:srgbClr val="7B7480"/>
                </a:solidFill>
                <a:latin typeface="Arial"/>
                <a:ea typeface="Arial"/>
                <a:cs typeface="Arial"/>
                <a:sym typeface="Arial"/>
              </a:rPr>
              <a:t>Fuente: elaboración propia.</a:t>
            </a:r>
            <a:endParaRPr/>
          </a:p>
        </p:txBody>
      </p:sp>
      <p:cxnSp>
        <p:nvCxnSpPr>
          <p:cNvPr id="416" name="Google Shape;416;p22"/>
          <p:cNvCxnSpPr/>
          <p:nvPr/>
        </p:nvCxnSpPr>
        <p:spPr>
          <a:xfrm>
            <a:off x="748527" y="7292530"/>
            <a:ext cx="1047572" cy="0"/>
          </a:xfrm>
          <a:prstGeom prst="straightConnector1">
            <a:avLst/>
          </a:prstGeom>
          <a:noFill/>
          <a:ln cap="flat" cmpd="sng" w="53975">
            <a:solidFill>
              <a:srgbClr val="73CDEB"/>
            </a:solidFill>
            <a:prstDash val="solid"/>
            <a:round/>
            <a:headEnd len="med" w="med" type="oval"/>
            <a:tailEnd len="med" w="med" type="oval"/>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23"/>
          <p:cNvSpPr/>
          <p:nvPr/>
        </p:nvSpPr>
        <p:spPr>
          <a:xfrm>
            <a:off x="638485" y="723900"/>
            <a:ext cx="4086110"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Agilidad más allá de las herramientas</a:t>
            </a:r>
            <a:endParaRPr b="0" i="0" sz="1400" u="none" cap="none" strike="noStrike">
              <a:solidFill>
                <a:srgbClr val="000000"/>
              </a:solidFill>
              <a:latin typeface="Arial"/>
              <a:ea typeface="Arial"/>
              <a:cs typeface="Arial"/>
              <a:sym typeface="Arial"/>
            </a:endParaRPr>
          </a:p>
        </p:txBody>
      </p:sp>
      <p:sp>
        <p:nvSpPr>
          <p:cNvPr id="422" name="Google Shape;422;p23"/>
          <p:cNvSpPr txBox="1"/>
          <p:nvPr/>
        </p:nvSpPr>
        <p:spPr>
          <a:xfrm>
            <a:off x="640080" y="1234440"/>
            <a:ext cx="5577840" cy="279654"/>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MX" sz="1450" u="none" cap="none" strike="noStrike">
                <a:solidFill>
                  <a:srgbClr val="664092"/>
                </a:solidFill>
                <a:latin typeface="Arial"/>
                <a:ea typeface="Arial"/>
                <a:cs typeface="Arial"/>
                <a:sym typeface="Arial"/>
              </a:rPr>
              <a:t>De la práctica a la agilidad</a:t>
            </a:r>
            <a:endParaRPr/>
          </a:p>
        </p:txBody>
      </p:sp>
      <p:sp>
        <p:nvSpPr>
          <p:cNvPr id="423" name="Google Shape;423;p23"/>
          <p:cNvSpPr txBox="1"/>
          <p:nvPr/>
        </p:nvSpPr>
        <p:spPr>
          <a:xfrm>
            <a:off x="640080" y="1669542"/>
            <a:ext cx="557784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MX" sz="950" u="none" cap="none" strike="noStrike">
                <a:solidFill>
                  <a:srgbClr val="3560D6"/>
                </a:solidFill>
                <a:latin typeface="Arial"/>
                <a:ea typeface="Arial"/>
                <a:cs typeface="Arial"/>
                <a:sym typeface="Arial"/>
              </a:rPr>
              <a:t>INFOGRAFÍA · DE LA PRÁCTICA A LA AGILIDAD</a:t>
            </a:r>
            <a:endParaRPr/>
          </a:p>
        </p:txBody>
      </p:sp>
      <p:sp>
        <p:nvSpPr>
          <p:cNvPr id="424" name="Google Shape;424;p23"/>
          <p:cNvSpPr txBox="1"/>
          <p:nvPr/>
        </p:nvSpPr>
        <p:spPr>
          <a:xfrm>
            <a:off x="640080" y="1907286"/>
            <a:ext cx="5577840" cy="4724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MX" sz="1300" u="none" cap="none" strike="noStrike">
                <a:solidFill>
                  <a:srgbClr val="664092"/>
                </a:solidFill>
                <a:latin typeface="Arial"/>
                <a:ea typeface="Arial"/>
                <a:cs typeface="Arial"/>
                <a:sym typeface="Arial"/>
              </a:rPr>
              <a:t>¿Qué convierte una forma de trabajo en una lógica realmente ágil?</a:t>
            </a:r>
            <a:endParaRPr/>
          </a:p>
        </p:txBody>
      </p:sp>
      <p:sp>
        <p:nvSpPr>
          <p:cNvPr id="425" name="Google Shape;425;p23"/>
          <p:cNvSpPr txBox="1"/>
          <p:nvPr/>
        </p:nvSpPr>
        <p:spPr>
          <a:xfrm>
            <a:off x="640080" y="2205990"/>
            <a:ext cx="5577840" cy="73174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s-MX" sz="1050" u="none" cap="none" strike="noStrike">
                <a:solidFill>
                  <a:srgbClr val="56505B"/>
                </a:solidFill>
                <a:latin typeface="Arial"/>
                <a:ea typeface="Arial"/>
                <a:cs typeface="Arial"/>
                <a:sym typeface="Arial"/>
              </a:rPr>
              <a:t>La agilidad no depende únicamente de las prácticas que incorporamos, sino de nuestra capacidad para transformar información y resultados en aprendizaje, decisiones y adaptación. Más que herramientas, la agilidad es una forma de pensar, decidir y actuar.</a:t>
            </a:r>
            <a:endParaRPr/>
          </a:p>
        </p:txBody>
      </p:sp>
      <p:sp>
        <p:nvSpPr>
          <p:cNvPr id="426" name="Google Shape;426;p23"/>
          <p:cNvSpPr txBox="1"/>
          <p:nvPr/>
        </p:nvSpPr>
        <p:spPr>
          <a:xfrm>
            <a:off x="640080" y="2937738"/>
            <a:ext cx="5577840" cy="24612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MX" sz="1250" u="none" cap="none" strike="noStrike">
                <a:solidFill>
                  <a:srgbClr val="664092"/>
                </a:solidFill>
                <a:latin typeface="Arial"/>
                <a:ea typeface="Arial"/>
                <a:cs typeface="Arial"/>
                <a:sym typeface="Arial"/>
              </a:rPr>
              <a:t>1. La cadena de valor de una lógica ágil</a:t>
            </a:r>
            <a:endParaRPr/>
          </a:p>
        </p:txBody>
      </p:sp>
      <p:sp>
        <p:nvSpPr>
          <p:cNvPr id="427" name="Google Shape;427;p23"/>
          <p:cNvSpPr txBox="1"/>
          <p:nvPr/>
        </p:nvSpPr>
        <p:spPr>
          <a:xfrm>
            <a:off x="640080" y="3257016"/>
            <a:ext cx="5577840" cy="528828"/>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s-MX" sz="1150" u="none" cap="none" strike="noStrike">
                <a:solidFill>
                  <a:srgbClr val="56505B"/>
                </a:solidFill>
                <a:latin typeface="Arial"/>
                <a:ea typeface="Arial"/>
                <a:cs typeface="Arial"/>
                <a:sym typeface="Arial"/>
              </a:rPr>
              <a:t>Un flujo continuo que convierte la observación en decisiones y genera valor.</a:t>
            </a:r>
            <a:endParaRPr/>
          </a:p>
        </p:txBody>
      </p:sp>
      <p:sp>
        <p:nvSpPr>
          <p:cNvPr id="428" name="Google Shape;428;p23"/>
          <p:cNvSpPr/>
          <p:nvPr/>
        </p:nvSpPr>
        <p:spPr>
          <a:xfrm>
            <a:off x="640080" y="3591131"/>
            <a:ext cx="5577840" cy="976427"/>
          </a:xfrm>
          <a:prstGeom prst="roundRect">
            <a:avLst>
              <a:gd fmla="val 11237" name="adj"/>
            </a:avLst>
          </a:prstGeom>
          <a:solidFill>
            <a:srgbClr val="FFFFFF"/>
          </a:solidFill>
          <a:ln cap="flat" cmpd="sng" w="12700">
            <a:solidFill>
              <a:srgbClr val="DCDD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9" name="Google Shape;429;p23"/>
          <p:cNvSpPr/>
          <p:nvPr/>
        </p:nvSpPr>
        <p:spPr>
          <a:xfrm>
            <a:off x="641562" y="3700859"/>
            <a:ext cx="64008" cy="756971"/>
          </a:xfrm>
          <a:prstGeom prst="rect">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0" name="Google Shape;430;p23"/>
          <p:cNvSpPr/>
          <p:nvPr/>
        </p:nvSpPr>
        <p:spPr>
          <a:xfrm>
            <a:off x="863692" y="3795880"/>
            <a:ext cx="566928" cy="566928"/>
          </a:xfrm>
          <a:prstGeom prst="ellipse">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1" name="Google Shape;431;p23"/>
          <p:cNvSpPr/>
          <p:nvPr/>
        </p:nvSpPr>
        <p:spPr>
          <a:xfrm>
            <a:off x="988416" y="3920605"/>
            <a:ext cx="317480" cy="317480"/>
          </a:xfrm>
          <a:custGeom>
            <a:rect b="b" l="l" r="r" t="t"/>
            <a:pathLst>
              <a:path extrusionOk="0" h="256000" w="256000">
                <a:moveTo>
                  <a:pt x="247310" y="124760"/>
                </a:moveTo>
                <a:cubicBezTo>
                  <a:pt x="246960" y="123970"/>
                  <a:pt x="238490" y="105180"/>
                  <a:pt x="219660" y="86350"/>
                </a:cubicBezTo>
                <a:cubicBezTo>
                  <a:pt x="194570" y="61260"/>
                  <a:pt x="162880" y="48000"/>
                  <a:pt x="128000" y="48000"/>
                </a:cubicBezTo>
                <a:cubicBezTo>
                  <a:pt x="93120" y="48000"/>
                  <a:pt x="61430" y="61260"/>
                  <a:pt x="36340" y="86350"/>
                </a:cubicBezTo>
                <a:cubicBezTo>
                  <a:pt x="17510" y="105180"/>
                  <a:pt x="9000" y="124000"/>
                  <a:pt x="8690" y="124760"/>
                </a:cubicBezTo>
                <a:cubicBezTo>
                  <a:pt x="8235" y="125783"/>
                  <a:pt x="8000" y="126890"/>
                  <a:pt x="8000" y="128010"/>
                </a:cubicBezTo>
                <a:cubicBezTo>
                  <a:pt x="8000" y="129130"/>
                  <a:pt x="8235" y="130237"/>
                  <a:pt x="8690" y="131260"/>
                </a:cubicBezTo>
                <a:cubicBezTo>
                  <a:pt x="9040" y="132050"/>
                  <a:pt x="17510" y="150830"/>
                  <a:pt x="36340" y="169660"/>
                </a:cubicBezTo>
                <a:cubicBezTo>
                  <a:pt x="61430" y="194740"/>
                  <a:pt x="93120" y="208000"/>
                  <a:pt x="128000" y="208000"/>
                </a:cubicBezTo>
                <a:cubicBezTo>
                  <a:pt x="162880" y="208000"/>
                  <a:pt x="194570" y="194740"/>
                  <a:pt x="219660" y="169660"/>
                </a:cubicBezTo>
                <a:cubicBezTo>
                  <a:pt x="238490" y="150830"/>
                  <a:pt x="246960" y="132050"/>
                  <a:pt x="247310" y="131260"/>
                </a:cubicBezTo>
                <a:cubicBezTo>
                  <a:pt x="247765" y="130237"/>
                  <a:pt x="248000" y="129130"/>
                  <a:pt x="248000" y="128010"/>
                </a:cubicBezTo>
                <a:cubicBezTo>
                  <a:pt x="248000" y="126890"/>
                  <a:pt x="247765" y="125783"/>
                  <a:pt x="247310" y="124760"/>
                </a:cubicBezTo>
                <a:close/>
                <a:moveTo>
                  <a:pt x="128000" y="192000"/>
                </a:moveTo>
                <a:cubicBezTo>
                  <a:pt x="97220" y="192000"/>
                  <a:pt x="70330" y="180810"/>
                  <a:pt x="48070" y="158750"/>
                </a:cubicBezTo>
                <a:cubicBezTo>
                  <a:pt x="38937" y="149667"/>
                  <a:pt x="31166" y="139309"/>
                  <a:pt x="25000" y="128000"/>
                </a:cubicBezTo>
                <a:cubicBezTo>
                  <a:pt x="31164" y="116689"/>
                  <a:pt x="38935" y="106332"/>
                  <a:pt x="48070" y="97250"/>
                </a:cubicBezTo>
                <a:cubicBezTo>
                  <a:pt x="70330" y="75190"/>
                  <a:pt x="97220" y="64000"/>
                  <a:pt x="128000" y="64000"/>
                </a:cubicBezTo>
                <a:cubicBezTo>
                  <a:pt x="158780" y="64000"/>
                  <a:pt x="185670" y="75190"/>
                  <a:pt x="207930" y="97250"/>
                </a:cubicBezTo>
                <a:cubicBezTo>
                  <a:pt x="217081" y="106330"/>
                  <a:pt x="224869" y="116687"/>
                  <a:pt x="231050" y="128000"/>
                </a:cubicBezTo>
                <a:cubicBezTo>
                  <a:pt x="223840" y="141460"/>
                  <a:pt x="192430" y="192000"/>
                  <a:pt x="128000" y="192000"/>
                </a:cubicBezTo>
                <a:close/>
                <a:moveTo>
                  <a:pt x="128000" y="80000"/>
                </a:moveTo>
                <a:cubicBezTo>
                  <a:pt x="119575" y="80000"/>
                  <a:pt x="111296" y="82218"/>
                  <a:pt x="104000" y="86431"/>
                </a:cubicBezTo>
                <a:cubicBezTo>
                  <a:pt x="96704" y="90643"/>
                  <a:pt x="90643" y="96704"/>
                  <a:pt x="86431" y="104000"/>
                </a:cubicBezTo>
                <a:cubicBezTo>
                  <a:pt x="82218" y="111296"/>
                  <a:pt x="80000" y="119575"/>
                  <a:pt x="80000" y="128000"/>
                </a:cubicBezTo>
                <a:cubicBezTo>
                  <a:pt x="80000" y="136425"/>
                  <a:pt x="82218" y="144704"/>
                  <a:pt x="86431" y="152000"/>
                </a:cubicBezTo>
                <a:cubicBezTo>
                  <a:pt x="90643" y="159296"/>
                  <a:pt x="96704" y="165357"/>
                  <a:pt x="104000" y="169569"/>
                </a:cubicBezTo>
                <a:cubicBezTo>
                  <a:pt x="111296" y="173782"/>
                  <a:pt x="119575" y="176000"/>
                  <a:pt x="128000" y="176000"/>
                </a:cubicBezTo>
                <a:cubicBezTo>
                  <a:pt x="136425" y="176000"/>
                  <a:pt x="144704" y="173782"/>
                  <a:pt x="152000" y="169569"/>
                </a:cubicBezTo>
                <a:cubicBezTo>
                  <a:pt x="159296" y="165357"/>
                  <a:pt x="165357" y="159296"/>
                  <a:pt x="169569" y="152000"/>
                </a:cubicBezTo>
                <a:cubicBezTo>
                  <a:pt x="173782" y="144704"/>
                  <a:pt x="176000" y="136425"/>
                  <a:pt x="176000" y="128000"/>
                </a:cubicBezTo>
                <a:cubicBezTo>
                  <a:pt x="175991" y="119577"/>
                  <a:pt x="173768" y="111303"/>
                  <a:pt x="169554" y="104011"/>
                </a:cubicBezTo>
                <a:cubicBezTo>
                  <a:pt x="165340" y="96718"/>
                  <a:pt x="159282" y="90660"/>
                  <a:pt x="151989" y="86446"/>
                </a:cubicBezTo>
                <a:cubicBezTo>
                  <a:pt x="144697" y="82232"/>
                  <a:pt x="136423" y="80009"/>
                  <a:pt x="128000" y="80000"/>
                </a:cubicBezTo>
                <a:close/>
                <a:moveTo>
                  <a:pt x="128000" y="160000"/>
                </a:moveTo>
                <a:cubicBezTo>
                  <a:pt x="122383" y="160000"/>
                  <a:pt x="116864" y="158521"/>
                  <a:pt x="112000" y="155713"/>
                </a:cubicBezTo>
                <a:cubicBezTo>
                  <a:pt x="107136" y="152904"/>
                  <a:pt x="103096" y="148864"/>
                  <a:pt x="100287" y="144000"/>
                </a:cubicBezTo>
                <a:cubicBezTo>
                  <a:pt x="97479" y="139136"/>
                  <a:pt x="96000" y="133617"/>
                  <a:pt x="96000" y="128000"/>
                </a:cubicBezTo>
                <a:cubicBezTo>
                  <a:pt x="96000" y="122383"/>
                  <a:pt x="97479" y="116864"/>
                  <a:pt x="100287" y="112000"/>
                </a:cubicBezTo>
                <a:cubicBezTo>
                  <a:pt x="103096" y="107136"/>
                  <a:pt x="107136" y="103096"/>
                  <a:pt x="112000" y="100287"/>
                </a:cubicBezTo>
                <a:cubicBezTo>
                  <a:pt x="116864" y="97479"/>
                  <a:pt x="122383" y="96000"/>
                  <a:pt x="128000" y="96000"/>
                </a:cubicBezTo>
                <a:cubicBezTo>
                  <a:pt x="133617" y="96000"/>
                  <a:pt x="139136" y="97479"/>
                  <a:pt x="144000" y="100287"/>
                </a:cubicBezTo>
                <a:cubicBezTo>
                  <a:pt x="148864" y="103096"/>
                  <a:pt x="152904" y="107136"/>
                  <a:pt x="155713" y="112000"/>
                </a:cubicBezTo>
                <a:cubicBezTo>
                  <a:pt x="158521" y="116864"/>
                  <a:pt x="160000" y="122383"/>
                  <a:pt x="160000" y="128000"/>
                </a:cubicBezTo>
                <a:cubicBezTo>
                  <a:pt x="160000" y="133617"/>
                  <a:pt x="158521" y="139136"/>
                  <a:pt x="155713" y="144000"/>
                </a:cubicBezTo>
                <a:cubicBezTo>
                  <a:pt x="152904" y="148864"/>
                  <a:pt x="148864" y="152904"/>
                  <a:pt x="144000" y="155713"/>
                </a:cubicBezTo>
                <a:cubicBezTo>
                  <a:pt x="139136" y="158521"/>
                  <a:pt x="133617" y="160000"/>
                  <a:pt x="128000" y="16000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2" name="Google Shape;432;p23"/>
          <p:cNvSpPr/>
          <p:nvPr/>
        </p:nvSpPr>
        <p:spPr>
          <a:xfrm>
            <a:off x="1258750" y="3741016"/>
            <a:ext cx="274320" cy="27432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23"/>
          <p:cNvSpPr txBox="1"/>
          <p:nvPr/>
        </p:nvSpPr>
        <p:spPr>
          <a:xfrm>
            <a:off x="1711637" y="3719147"/>
            <a:ext cx="4381905" cy="775259"/>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1" i="0" lang="es-MX" sz="950" u="none" cap="none" strike="noStrike">
                <a:solidFill>
                  <a:srgbClr val="024791"/>
                </a:solidFill>
                <a:latin typeface="Arial"/>
                <a:ea typeface="Arial"/>
                <a:cs typeface="Arial"/>
                <a:sym typeface="Arial"/>
              </a:rPr>
              <a:t>01. </a:t>
            </a:r>
            <a:r>
              <a:rPr b="1" i="0" lang="es-MX" sz="1100" u="none" cap="none" strike="noStrike">
                <a:solidFill>
                  <a:srgbClr val="0B2E6B"/>
                </a:solidFill>
                <a:latin typeface="Arial"/>
                <a:ea typeface="Arial"/>
                <a:cs typeface="Arial"/>
                <a:sym typeface="Arial"/>
              </a:rPr>
              <a:t>Observamos</a:t>
            </a:r>
            <a:r>
              <a:rPr b="1" i="0" lang="es-MX" sz="900" u="none" cap="none" strike="noStrike">
                <a:solidFill>
                  <a:srgbClr val="024791"/>
                </a:solidFill>
                <a:latin typeface="Arial"/>
                <a:ea typeface="Arial"/>
                <a:cs typeface="Arial"/>
                <a:sym typeface="Arial"/>
              </a:rPr>
              <a:t>   ¿Qué está ocurriendo?</a:t>
            </a:r>
            <a:endParaRPr/>
          </a:p>
          <a:p>
            <a:pPr indent="0" lvl="0" marL="0" marR="0" rtl="0" algn="l">
              <a:lnSpc>
                <a:spcPct val="118000"/>
              </a:lnSpc>
              <a:spcBef>
                <a:spcPts val="200"/>
              </a:spcBef>
              <a:spcAft>
                <a:spcPts val="0"/>
              </a:spcAft>
              <a:buNone/>
            </a:pPr>
            <a:r>
              <a:rPr b="0" i="0" lang="es-MX" sz="950" u="none" cap="none" strike="noStrike">
                <a:solidFill>
                  <a:srgbClr val="3A3A48"/>
                </a:solidFill>
                <a:latin typeface="Arial"/>
                <a:ea typeface="Arial"/>
                <a:cs typeface="Arial"/>
                <a:sym typeface="Arial"/>
              </a:rPr>
              <a:t>Hacemos visible el trabajo, los resultados, las necesidades de los usuarios y los cambios del entorno.</a:t>
            </a:r>
            <a:endParaRPr/>
          </a:p>
          <a:p>
            <a:pPr indent="0" lvl="0" marL="0" marR="0" rtl="0" algn="l">
              <a:lnSpc>
                <a:spcPct val="118000"/>
              </a:lnSpc>
              <a:spcBef>
                <a:spcPts val="200"/>
              </a:spcBef>
              <a:spcAft>
                <a:spcPts val="0"/>
              </a:spcAft>
              <a:buNone/>
            </a:pPr>
            <a:r>
              <a:rPr b="0" i="1" lang="es-MX" sz="900" u="none" cap="none" strike="noStrike">
                <a:solidFill>
                  <a:srgbClr val="664092"/>
                </a:solidFill>
                <a:latin typeface="Arial"/>
                <a:ea typeface="Arial"/>
                <a:cs typeface="Arial"/>
                <a:sym typeface="Arial"/>
              </a:rPr>
              <a:t>Produce: información.</a:t>
            </a:r>
            <a:endParaRPr/>
          </a:p>
        </p:txBody>
      </p:sp>
      <p:sp>
        <p:nvSpPr>
          <p:cNvPr id="434" name="Google Shape;434;p23"/>
          <p:cNvSpPr/>
          <p:nvPr/>
        </p:nvSpPr>
        <p:spPr>
          <a:xfrm>
            <a:off x="1055716" y="4576702"/>
            <a:ext cx="182880" cy="109728"/>
          </a:xfrm>
          <a:prstGeom prst="downArrow">
            <a:avLst>
              <a:gd fmla="val 50000" name="adj1"/>
              <a:gd fmla="val 50000" name="adj2"/>
            </a:avLst>
          </a:prstGeom>
          <a:solidFill>
            <a:srgbClr val="B9C3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5" name="Google Shape;435;p23"/>
          <p:cNvSpPr/>
          <p:nvPr/>
        </p:nvSpPr>
        <p:spPr>
          <a:xfrm>
            <a:off x="640080" y="4686430"/>
            <a:ext cx="5577840" cy="805586"/>
          </a:xfrm>
          <a:prstGeom prst="roundRect">
            <a:avLst>
              <a:gd fmla="val 13620" name="adj"/>
            </a:avLst>
          </a:prstGeom>
          <a:solidFill>
            <a:srgbClr val="FFFFFF"/>
          </a:solidFill>
          <a:ln cap="flat" cmpd="sng" w="12700">
            <a:solidFill>
              <a:srgbClr val="DCDD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23"/>
          <p:cNvSpPr/>
          <p:nvPr/>
        </p:nvSpPr>
        <p:spPr>
          <a:xfrm>
            <a:off x="641562" y="4796158"/>
            <a:ext cx="64008" cy="586130"/>
          </a:xfrm>
          <a:prstGeom prst="rect">
            <a:avLst/>
          </a:prstGeom>
          <a:solidFill>
            <a:srgbClr val="2F6F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7" name="Google Shape;437;p23"/>
          <p:cNvSpPr/>
          <p:nvPr/>
        </p:nvSpPr>
        <p:spPr>
          <a:xfrm>
            <a:off x="863692" y="4805759"/>
            <a:ext cx="566928" cy="566928"/>
          </a:xfrm>
          <a:prstGeom prst="ellipse">
            <a:avLst/>
          </a:prstGeom>
          <a:solidFill>
            <a:srgbClr val="2F6F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8" name="Google Shape;438;p23"/>
          <p:cNvSpPr/>
          <p:nvPr/>
        </p:nvSpPr>
        <p:spPr>
          <a:xfrm>
            <a:off x="988416" y="4930483"/>
            <a:ext cx="317480" cy="317480"/>
          </a:xfrm>
          <a:custGeom>
            <a:rect b="b" l="l" r="r" t="t"/>
            <a:pathLst>
              <a:path extrusionOk="0" h="256000" w="256000">
                <a:moveTo>
                  <a:pt x="229660" y="218340"/>
                </a:moveTo>
                <a:lnTo>
                  <a:pt x="179590" y="168280"/>
                </a:lnTo>
                <a:cubicBezTo>
                  <a:pt x="189199" y="156744"/>
                  <a:pt x="195701" y="142942"/>
                  <a:pt x="198478" y="128188"/>
                </a:cubicBezTo>
                <a:cubicBezTo>
                  <a:pt x="201256" y="113434"/>
                  <a:pt x="200216" y="98212"/>
                  <a:pt x="195460" y="83972"/>
                </a:cubicBezTo>
                <a:cubicBezTo>
                  <a:pt x="190703" y="69733"/>
                  <a:pt x="182385" y="56942"/>
                  <a:pt x="171297" y="46820"/>
                </a:cubicBezTo>
                <a:cubicBezTo>
                  <a:pt x="160210" y="36697"/>
                  <a:pt x="146718" y="29574"/>
                  <a:pt x="132105" y="26130"/>
                </a:cubicBezTo>
                <a:cubicBezTo>
                  <a:pt x="117492" y="22685"/>
                  <a:pt x="102239" y="23032"/>
                  <a:pt x="87798" y="27136"/>
                </a:cubicBezTo>
                <a:cubicBezTo>
                  <a:pt x="73357" y="31241"/>
                  <a:pt x="60202" y="38970"/>
                  <a:pt x="49586" y="49586"/>
                </a:cubicBezTo>
                <a:cubicBezTo>
                  <a:pt x="38970" y="60202"/>
                  <a:pt x="31241" y="73357"/>
                  <a:pt x="27136" y="87798"/>
                </a:cubicBezTo>
                <a:cubicBezTo>
                  <a:pt x="23032" y="102239"/>
                  <a:pt x="22685" y="117492"/>
                  <a:pt x="26130" y="132105"/>
                </a:cubicBezTo>
                <a:cubicBezTo>
                  <a:pt x="29574" y="146718"/>
                  <a:pt x="36697" y="160210"/>
                  <a:pt x="46820" y="171297"/>
                </a:cubicBezTo>
                <a:cubicBezTo>
                  <a:pt x="56942" y="182385"/>
                  <a:pt x="69733" y="190703"/>
                  <a:pt x="83972" y="195460"/>
                </a:cubicBezTo>
                <a:cubicBezTo>
                  <a:pt x="98212" y="200216"/>
                  <a:pt x="113434" y="201256"/>
                  <a:pt x="128188" y="198478"/>
                </a:cubicBezTo>
                <a:cubicBezTo>
                  <a:pt x="142942" y="195701"/>
                  <a:pt x="156744" y="189199"/>
                  <a:pt x="168280" y="179590"/>
                </a:cubicBezTo>
                <a:lnTo>
                  <a:pt x="218340" y="229660"/>
                </a:lnTo>
                <a:cubicBezTo>
                  <a:pt x="219333" y="230653"/>
                  <a:pt x="220571" y="231368"/>
                  <a:pt x="221928" y="231732"/>
                </a:cubicBezTo>
                <a:cubicBezTo>
                  <a:pt x="223285" y="232095"/>
                  <a:pt x="224715" y="232095"/>
                  <a:pt x="226072" y="231732"/>
                </a:cubicBezTo>
                <a:cubicBezTo>
                  <a:pt x="227429" y="231368"/>
                  <a:pt x="228667" y="230653"/>
                  <a:pt x="229660" y="229660"/>
                </a:cubicBezTo>
                <a:cubicBezTo>
                  <a:pt x="230653" y="228667"/>
                  <a:pt x="231368" y="227429"/>
                  <a:pt x="231732" y="226072"/>
                </a:cubicBezTo>
                <a:cubicBezTo>
                  <a:pt x="232095" y="224715"/>
                  <a:pt x="232095" y="223285"/>
                  <a:pt x="231732" y="221928"/>
                </a:cubicBezTo>
                <a:cubicBezTo>
                  <a:pt x="231368" y="220571"/>
                  <a:pt x="230653" y="219333"/>
                  <a:pt x="229660" y="218340"/>
                </a:cubicBezTo>
                <a:close/>
                <a:moveTo>
                  <a:pt x="40000" y="112000"/>
                </a:moveTo>
                <a:cubicBezTo>
                  <a:pt x="40000" y="99362"/>
                  <a:pt x="43327" y="86945"/>
                  <a:pt x="49646" y="76000"/>
                </a:cubicBezTo>
                <a:cubicBezTo>
                  <a:pt x="55965" y="65055"/>
                  <a:pt x="65055" y="55965"/>
                  <a:pt x="76000" y="49646"/>
                </a:cubicBezTo>
                <a:cubicBezTo>
                  <a:pt x="86945" y="43327"/>
                  <a:pt x="99362" y="40000"/>
                  <a:pt x="112000" y="40000"/>
                </a:cubicBezTo>
                <a:cubicBezTo>
                  <a:pt x="124638" y="40000"/>
                  <a:pt x="137055" y="43327"/>
                  <a:pt x="148000" y="49646"/>
                </a:cubicBezTo>
                <a:cubicBezTo>
                  <a:pt x="158945" y="55965"/>
                  <a:pt x="168035" y="65055"/>
                  <a:pt x="174354" y="76000"/>
                </a:cubicBezTo>
                <a:cubicBezTo>
                  <a:pt x="180673" y="86945"/>
                  <a:pt x="184000" y="99362"/>
                  <a:pt x="184000" y="112000"/>
                </a:cubicBezTo>
                <a:cubicBezTo>
                  <a:pt x="184000" y="124638"/>
                  <a:pt x="180673" y="137055"/>
                  <a:pt x="174354" y="148000"/>
                </a:cubicBezTo>
                <a:cubicBezTo>
                  <a:pt x="168035" y="158945"/>
                  <a:pt x="158945" y="168035"/>
                  <a:pt x="148000" y="174354"/>
                </a:cubicBezTo>
                <a:cubicBezTo>
                  <a:pt x="137055" y="180673"/>
                  <a:pt x="124638" y="184000"/>
                  <a:pt x="112000" y="184000"/>
                </a:cubicBezTo>
                <a:cubicBezTo>
                  <a:pt x="99366" y="183986"/>
                  <a:pt x="86956" y="180651"/>
                  <a:pt x="76017" y="174330"/>
                </a:cubicBezTo>
                <a:cubicBezTo>
                  <a:pt x="65078" y="168009"/>
                  <a:pt x="55991" y="158922"/>
                  <a:pt x="49670" y="147983"/>
                </a:cubicBezTo>
                <a:cubicBezTo>
                  <a:pt x="43349" y="137044"/>
                  <a:pt x="40014" y="124634"/>
                  <a:pt x="40000" y="11200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23"/>
          <p:cNvSpPr/>
          <p:nvPr/>
        </p:nvSpPr>
        <p:spPr>
          <a:xfrm>
            <a:off x="1258750" y="4750895"/>
            <a:ext cx="274320" cy="27432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0" name="Google Shape;440;p23"/>
          <p:cNvSpPr txBox="1"/>
          <p:nvPr/>
        </p:nvSpPr>
        <p:spPr>
          <a:xfrm>
            <a:off x="1711637" y="4814446"/>
            <a:ext cx="4381905" cy="604418"/>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1" i="0" lang="es-MX" sz="950" u="none" cap="none" strike="noStrike">
                <a:solidFill>
                  <a:srgbClr val="2F6FED"/>
                </a:solidFill>
                <a:latin typeface="Arial"/>
                <a:ea typeface="Arial"/>
                <a:cs typeface="Arial"/>
                <a:sym typeface="Arial"/>
              </a:rPr>
              <a:t>02. </a:t>
            </a:r>
            <a:r>
              <a:rPr b="1" i="0" lang="es-MX" sz="1100" u="none" cap="none" strike="noStrike">
                <a:solidFill>
                  <a:srgbClr val="0B2E6B"/>
                </a:solidFill>
                <a:latin typeface="Arial"/>
                <a:ea typeface="Arial"/>
                <a:cs typeface="Arial"/>
                <a:sym typeface="Arial"/>
              </a:rPr>
              <a:t>Interpretamos</a:t>
            </a:r>
            <a:r>
              <a:rPr b="1" i="0" lang="es-MX" sz="900" u="none" cap="none" strike="noStrike">
                <a:solidFill>
                  <a:srgbClr val="2F6FED"/>
                </a:solidFill>
                <a:latin typeface="Arial"/>
                <a:ea typeface="Arial"/>
                <a:cs typeface="Arial"/>
                <a:sym typeface="Arial"/>
              </a:rPr>
              <a:t>   ¿Qué podemos aprender?</a:t>
            </a:r>
            <a:endParaRPr/>
          </a:p>
          <a:p>
            <a:pPr indent="0" lvl="0" marL="0" marR="0" rtl="0" algn="l">
              <a:lnSpc>
                <a:spcPct val="118000"/>
              </a:lnSpc>
              <a:spcBef>
                <a:spcPts val="200"/>
              </a:spcBef>
              <a:spcAft>
                <a:spcPts val="0"/>
              </a:spcAft>
              <a:buNone/>
            </a:pPr>
            <a:r>
              <a:rPr b="0" i="0" lang="es-MX" sz="950" u="none" cap="none" strike="noStrike">
                <a:solidFill>
                  <a:srgbClr val="3A3A48"/>
                </a:solidFill>
                <a:latin typeface="Arial"/>
                <a:ea typeface="Arial"/>
                <a:cs typeface="Arial"/>
                <a:sym typeface="Arial"/>
              </a:rPr>
              <a:t>Analizamos patrones, identificamos bloqueos y comprendemos el contexto.</a:t>
            </a:r>
            <a:endParaRPr/>
          </a:p>
          <a:p>
            <a:pPr indent="0" lvl="0" marL="0" marR="0" rtl="0" algn="l">
              <a:lnSpc>
                <a:spcPct val="118000"/>
              </a:lnSpc>
              <a:spcBef>
                <a:spcPts val="200"/>
              </a:spcBef>
              <a:spcAft>
                <a:spcPts val="0"/>
              </a:spcAft>
              <a:buNone/>
            </a:pPr>
            <a:r>
              <a:rPr b="0" i="1" lang="es-MX" sz="900" u="none" cap="none" strike="noStrike">
                <a:solidFill>
                  <a:srgbClr val="664092"/>
                </a:solidFill>
                <a:latin typeface="Arial"/>
                <a:ea typeface="Arial"/>
                <a:cs typeface="Arial"/>
                <a:sym typeface="Arial"/>
              </a:rPr>
              <a:t>Produce: aprendizaje.</a:t>
            </a:r>
            <a:endParaRPr/>
          </a:p>
        </p:txBody>
      </p:sp>
      <p:sp>
        <p:nvSpPr>
          <p:cNvPr id="441" name="Google Shape;441;p23"/>
          <p:cNvSpPr/>
          <p:nvPr/>
        </p:nvSpPr>
        <p:spPr>
          <a:xfrm>
            <a:off x="1055716" y="5501160"/>
            <a:ext cx="182880" cy="109728"/>
          </a:xfrm>
          <a:prstGeom prst="downArrow">
            <a:avLst>
              <a:gd fmla="val 50000" name="adj1"/>
              <a:gd fmla="val 50000" name="adj2"/>
            </a:avLst>
          </a:prstGeom>
          <a:solidFill>
            <a:srgbClr val="B9C3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2" name="Google Shape;442;p23"/>
          <p:cNvSpPr/>
          <p:nvPr/>
        </p:nvSpPr>
        <p:spPr>
          <a:xfrm>
            <a:off x="640080" y="5610888"/>
            <a:ext cx="5577840" cy="805586"/>
          </a:xfrm>
          <a:prstGeom prst="roundRect">
            <a:avLst>
              <a:gd fmla="val 13620" name="adj"/>
            </a:avLst>
          </a:prstGeom>
          <a:solidFill>
            <a:srgbClr val="FFFFFF"/>
          </a:solidFill>
          <a:ln cap="flat" cmpd="sng" w="12700">
            <a:solidFill>
              <a:srgbClr val="DCDD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3" name="Google Shape;443;p23"/>
          <p:cNvSpPr/>
          <p:nvPr/>
        </p:nvSpPr>
        <p:spPr>
          <a:xfrm>
            <a:off x="641562" y="5720616"/>
            <a:ext cx="64008" cy="586130"/>
          </a:xfrm>
          <a:prstGeom prst="rect">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4" name="Google Shape;444;p23"/>
          <p:cNvSpPr/>
          <p:nvPr/>
        </p:nvSpPr>
        <p:spPr>
          <a:xfrm>
            <a:off x="863692" y="5730217"/>
            <a:ext cx="566928" cy="566928"/>
          </a:xfrm>
          <a:prstGeom prst="ellipse">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5" name="Google Shape;445;p23"/>
          <p:cNvSpPr/>
          <p:nvPr/>
        </p:nvSpPr>
        <p:spPr>
          <a:xfrm>
            <a:off x="988416" y="5854942"/>
            <a:ext cx="317480" cy="317480"/>
          </a:xfrm>
          <a:custGeom>
            <a:rect b="b" l="l" r="r" t="t"/>
            <a:pathLst>
              <a:path extrusionOk="0" h="256000" w="256000">
                <a:moveTo>
                  <a:pt x="128000" y="24000"/>
                </a:moveTo>
                <a:cubicBezTo>
                  <a:pt x="109746" y="24000"/>
                  <a:pt x="91809" y="28806"/>
                  <a:pt x="76000" y="37933"/>
                </a:cubicBezTo>
                <a:cubicBezTo>
                  <a:pt x="60191" y="47061"/>
                  <a:pt x="47061" y="60191"/>
                  <a:pt x="37933" y="76000"/>
                </a:cubicBezTo>
                <a:cubicBezTo>
                  <a:pt x="28806" y="91809"/>
                  <a:pt x="24000" y="109746"/>
                  <a:pt x="24000" y="128000"/>
                </a:cubicBezTo>
                <a:cubicBezTo>
                  <a:pt x="24000" y="146254"/>
                  <a:pt x="28806" y="164191"/>
                  <a:pt x="37933" y="180000"/>
                </a:cubicBezTo>
                <a:cubicBezTo>
                  <a:pt x="47061" y="195809"/>
                  <a:pt x="60191" y="208939"/>
                  <a:pt x="76000" y="218067"/>
                </a:cubicBezTo>
                <a:cubicBezTo>
                  <a:pt x="91809" y="227194"/>
                  <a:pt x="109746" y="232000"/>
                  <a:pt x="128000" y="232000"/>
                </a:cubicBezTo>
                <a:cubicBezTo>
                  <a:pt x="146254" y="232000"/>
                  <a:pt x="164191" y="227194"/>
                  <a:pt x="180000" y="218067"/>
                </a:cubicBezTo>
                <a:cubicBezTo>
                  <a:pt x="195809" y="208939"/>
                  <a:pt x="208939" y="195809"/>
                  <a:pt x="218067" y="180000"/>
                </a:cubicBezTo>
                <a:cubicBezTo>
                  <a:pt x="227194" y="164191"/>
                  <a:pt x="232000" y="146254"/>
                  <a:pt x="232000" y="128000"/>
                </a:cubicBezTo>
                <a:cubicBezTo>
                  <a:pt x="231981" y="109751"/>
                  <a:pt x="227164" y="91824"/>
                  <a:pt x="218034" y="76023"/>
                </a:cubicBezTo>
                <a:cubicBezTo>
                  <a:pt x="208904" y="60222"/>
                  <a:pt x="195778" y="47096"/>
                  <a:pt x="179977" y="37966"/>
                </a:cubicBezTo>
                <a:cubicBezTo>
                  <a:pt x="164176" y="28836"/>
                  <a:pt x="146249" y="24019"/>
                  <a:pt x="128000" y="24000"/>
                </a:cubicBezTo>
                <a:close/>
                <a:moveTo>
                  <a:pt x="128000" y="216000"/>
                </a:moveTo>
                <a:cubicBezTo>
                  <a:pt x="112554" y="216000"/>
                  <a:pt x="97377" y="211933"/>
                  <a:pt x="84000" y="204210"/>
                </a:cubicBezTo>
                <a:cubicBezTo>
                  <a:pt x="70623" y="196487"/>
                  <a:pt x="59513" y="185377"/>
                  <a:pt x="51790" y="172000"/>
                </a:cubicBezTo>
                <a:cubicBezTo>
                  <a:pt x="44067" y="158623"/>
                  <a:pt x="40000" y="143446"/>
                  <a:pt x="40000" y="128000"/>
                </a:cubicBezTo>
                <a:cubicBezTo>
                  <a:pt x="40000" y="112554"/>
                  <a:pt x="44067" y="97377"/>
                  <a:pt x="51790" y="84000"/>
                </a:cubicBezTo>
                <a:cubicBezTo>
                  <a:pt x="59513" y="70623"/>
                  <a:pt x="70623" y="59513"/>
                  <a:pt x="84000" y="51790"/>
                </a:cubicBezTo>
                <a:cubicBezTo>
                  <a:pt x="97377" y="44067"/>
                  <a:pt x="112554" y="40000"/>
                  <a:pt x="128000" y="40000"/>
                </a:cubicBezTo>
                <a:cubicBezTo>
                  <a:pt x="143446" y="40000"/>
                  <a:pt x="158623" y="44067"/>
                  <a:pt x="172000" y="51790"/>
                </a:cubicBezTo>
                <a:cubicBezTo>
                  <a:pt x="185377" y="59513"/>
                  <a:pt x="196487" y="70623"/>
                  <a:pt x="204210" y="84000"/>
                </a:cubicBezTo>
                <a:cubicBezTo>
                  <a:pt x="211933" y="97377"/>
                  <a:pt x="216000" y="112554"/>
                  <a:pt x="216000" y="128000"/>
                </a:cubicBezTo>
                <a:cubicBezTo>
                  <a:pt x="215982" y="143441"/>
                  <a:pt x="211906" y="158609"/>
                  <a:pt x="204180" y="171979"/>
                </a:cubicBezTo>
                <a:cubicBezTo>
                  <a:pt x="196455" y="185348"/>
                  <a:pt x="185348" y="196455"/>
                  <a:pt x="171979" y="204180"/>
                </a:cubicBezTo>
                <a:cubicBezTo>
                  <a:pt x="158609" y="211906"/>
                  <a:pt x="143441" y="215982"/>
                  <a:pt x="128000" y="216000"/>
                </a:cubicBezTo>
                <a:close/>
                <a:moveTo>
                  <a:pt x="172420" y="72840"/>
                </a:moveTo>
                <a:lnTo>
                  <a:pt x="108420" y="104840"/>
                </a:lnTo>
                <a:cubicBezTo>
                  <a:pt x="107651" y="105226"/>
                  <a:pt x="106949" y="105733"/>
                  <a:pt x="106341" y="106341"/>
                </a:cubicBezTo>
                <a:cubicBezTo>
                  <a:pt x="105733" y="106949"/>
                  <a:pt x="105226" y="107651"/>
                  <a:pt x="104840" y="108420"/>
                </a:cubicBezTo>
                <a:lnTo>
                  <a:pt x="72840" y="172420"/>
                </a:lnTo>
                <a:cubicBezTo>
                  <a:pt x="72229" y="173640"/>
                  <a:pt x="71941" y="174996"/>
                  <a:pt x="72002" y="176359"/>
                </a:cubicBezTo>
                <a:cubicBezTo>
                  <a:pt x="72064" y="177722"/>
                  <a:pt x="72472" y="179047"/>
                  <a:pt x="73190" y="180207"/>
                </a:cubicBezTo>
                <a:cubicBezTo>
                  <a:pt x="73907" y="181368"/>
                  <a:pt x="74910" y="182325"/>
                  <a:pt x="76102" y="182989"/>
                </a:cubicBezTo>
                <a:cubicBezTo>
                  <a:pt x="77294" y="183653"/>
                  <a:pt x="78636" y="184001"/>
                  <a:pt x="80000" y="184000"/>
                </a:cubicBezTo>
                <a:cubicBezTo>
                  <a:pt x="81242" y="183998"/>
                  <a:pt x="82467" y="183711"/>
                  <a:pt x="83580" y="183160"/>
                </a:cubicBezTo>
                <a:lnTo>
                  <a:pt x="147580" y="151160"/>
                </a:lnTo>
                <a:cubicBezTo>
                  <a:pt x="148349" y="150774"/>
                  <a:pt x="149051" y="150267"/>
                  <a:pt x="149659" y="149659"/>
                </a:cubicBezTo>
                <a:cubicBezTo>
                  <a:pt x="150267" y="149051"/>
                  <a:pt x="150774" y="148349"/>
                  <a:pt x="151160" y="147580"/>
                </a:cubicBezTo>
                <a:lnTo>
                  <a:pt x="183160" y="83580"/>
                </a:lnTo>
                <a:cubicBezTo>
                  <a:pt x="183762" y="82381"/>
                  <a:pt x="184053" y="81051"/>
                  <a:pt x="184007" y="79710"/>
                </a:cubicBezTo>
                <a:cubicBezTo>
                  <a:pt x="183960" y="78370"/>
                  <a:pt x="183577" y="77062"/>
                  <a:pt x="182893" y="75908"/>
                </a:cubicBezTo>
                <a:cubicBezTo>
                  <a:pt x="182209" y="74755"/>
                  <a:pt x="181245" y="73791"/>
                  <a:pt x="180092" y="73107"/>
                </a:cubicBezTo>
                <a:cubicBezTo>
                  <a:pt x="178938" y="72423"/>
                  <a:pt x="177630" y="72040"/>
                  <a:pt x="176290" y="71993"/>
                </a:cubicBezTo>
                <a:cubicBezTo>
                  <a:pt x="174949" y="71947"/>
                  <a:pt x="173619" y="72238"/>
                  <a:pt x="172420" y="72840"/>
                </a:cubicBezTo>
                <a:close/>
                <a:moveTo>
                  <a:pt x="138000" y="138000"/>
                </a:moveTo>
                <a:lnTo>
                  <a:pt x="97890" y="158110"/>
                </a:lnTo>
                <a:lnTo>
                  <a:pt x="118000" y="118000"/>
                </a:lnTo>
                <a:lnTo>
                  <a:pt x="158150" y="9793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6" name="Google Shape;446;p23"/>
          <p:cNvSpPr/>
          <p:nvPr/>
        </p:nvSpPr>
        <p:spPr>
          <a:xfrm>
            <a:off x="1258750" y="5675353"/>
            <a:ext cx="274320" cy="27432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7" name="Google Shape;447;p23"/>
          <p:cNvSpPr txBox="1"/>
          <p:nvPr/>
        </p:nvSpPr>
        <p:spPr>
          <a:xfrm>
            <a:off x="1711637" y="5738904"/>
            <a:ext cx="4381905" cy="604418"/>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1" i="0" lang="es-MX" sz="950" u="none" cap="none" strike="noStrike">
                <a:solidFill>
                  <a:srgbClr val="664092"/>
                </a:solidFill>
                <a:latin typeface="Arial"/>
                <a:ea typeface="Arial"/>
                <a:cs typeface="Arial"/>
                <a:sym typeface="Arial"/>
              </a:rPr>
              <a:t>03. </a:t>
            </a:r>
            <a:r>
              <a:rPr b="1" i="0" lang="es-MX" sz="1100" u="none" cap="none" strike="noStrike">
                <a:solidFill>
                  <a:srgbClr val="0B2E6B"/>
                </a:solidFill>
                <a:latin typeface="Arial"/>
                <a:ea typeface="Arial"/>
                <a:cs typeface="Arial"/>
                <a:sym typeface="Arial"/>
              </a:rPr>
              <a:t>Decidimos</a:t>
            </a:r>
            <a:r>
              <a:rPr b="1" i="0" lang="es-MX" sz="900" u="none" cap="none" strike="noStrike">
                <a:solidFill>
                  <a:srgbClr val="664092"/>
                </a:solidFill>
                <a:latin typeface="Arial"/>
                <a:ea typeface="Arial"/>
                <a:cs typeface="Arial"/>
                <a:sym typeface="Arial"/>
              </a:rPr>
              <a:t>   ¿Qué haremos?</a:t>
            </a:r>
            <a:endParaRPr/>
          </a:p>
          <a:p>
            <a:pPr indent="0" lvl="0" marL="0" marR="0" rtl="0" algn="l">
              <a:lnSpc>
                <a:spcPct val="118000"/>
              </a:lnSpc>
              <a:spcBef>
                <a:spcPts val="200"/>
              </a:spcBef>
              <a:spcAft>
                <a:spcPts val="0"/>
              </a:spcAft>
              <a:buNone/>
            </a:pPr>
            <a:r>
              <a:rPr b="0" i="0" lang="es-MX" sz="950" u="none" cap="none" strike="noStrike">
                <a:solidFill>
                  <a:srgbClr val="3A3A48"/>
                </a:solidFill>
                <a:latin typeface="Arial"/>
                <a:ea typeface="Arial"/>
                <a:cs typeface="Arial"/>
                <a:sym typeface="Arial"/>
              </a:rPr>
              <a:t>Priorizamos con base en la evidencia y definimos las acciones más valiosas.</a:t>
            </a:r>
            <a:endParaRPr/>
          </a:p>
          <a:p>
            <a:pPr indent="0" lvl="0" marL="0" marR="0" rtl="0" algn="l">
              <a:lnSpc>
                <a:spcPct val="118000"/>
              </a:lnSpc>
              <a:spcBef>
                <a:spcPts val="200"/>
              </a:spcBef>
              <a:spcAft>
                <a:spcPts val="0"/>
              </a:spcAft>
              <a:buNone/>
            </a:pPr>
            <a:r>
              <a:rPr b="0" i="1" lang="es-MX" sz="900" u="none" cap="none" strike="noStrike">
                <a:solidFill>
                  <a:srgbClr val="664092"/>
                </a:solidFill>
                <a:latin typeface="Arial"/>
                <a:ea typeface="Arial"/>
                <a:cs typeface="Arial"/>
                <a:sym typeface="Arial"/>
              </a:rPr>
              <a:t>Produce: criterio.</a:t>
            </a:r>
            <a:endParaRPr/>
          </a:p>
        </p:txBody>
      </p:sp>
      <p:sp>
        <p:nvSpPr>
          <p:cNvPr id="448" name="Google Shape;448;p23"/>
          <p:cNvSpPr/>
          <p:nvPr/>
        </p:nvSpPr>
        <p:spPr>
          <a:xfrm>
            <a:off x="1055716" y="6425619"/>
            <a:ext cx="182880" cy="109728"/>
          </a:xfrm>
          <a:prstGeom prst="downArrow">
            <a:avLst>
              <a:gd fmla="val 50000" name="adj1"/>
              <a:gd fmla="val 50000" name="adj2"/>
            </a:avLst>
          </a:prstGeom>
          <a:solidFill>
            <a:srgbClr val="B9C3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9" name="Google Shape;449;p23"/>
          <p:cNvSpPr/>
          <p:nvPr/>
        </p:nvSpPr>
        <p:spPr>
          <a:xfrm>
            <a:off x="640080" y="6535347"/>
            <a:ext cx="5577840" cy="805586"/>
          </a:xfrm>
          <a:prstGeom prst="roundRect">
            <a:avLst>
              <a:gd fmla="val 13620" name="adj"/>
            </a:avLst>
          </a:prstGeom>
          <a:solidFill>
            <a:srgbClr val="FFFFFF"/>
          </a:solidFill>
          <a:ln cap="flat" cmpd="sng" w="12700">
            <a:solidFill>
              <a:srgbClr val="DCDD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0" name="Google Shape;450;p23"/>
          <p:cNvSpPr/>
          <p:nvPr/>
        </p:nvSpPr>
        <p:spPr>
          <a:xfrm>
            <a:off x="641562" y="6645075"/>
            <a:ext cx="64008" cy="586130"/>
          </a:xfrm>
          <a:prstGeom prst="rect">
            <a:avLst/>
          </a:prstGeom>
          <a:solidFill>
            <a:srgbClr val="A719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1" name="Google Shape;451;p23"/>
          <p:cNvSpPr/>
          <p:nvPr/>
        </p:nvSpPr>
        <p:spPr>
          <a:xfrm>
            <a:off x="863692" y="6654676"/>
            <a:ext cx="566928" cy="566928"/>
          </a:xfrm>
          <a:prstGeom prst="ellipse">
            <a:avLst/>
          </a:prstGeom>
          <a:solidFill>
            <a:srgbClr val="A719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2" name="Google Shape;452;p23"/>
          <p:cNvSpPr/>
          <p:nvPr/>
        </p:nvSpPr>
        <p:spPr>
          <a:xfrm>
            <a:off x="988416" y="6779400"/>
            <a:ext cx="317480" cy="317480"/>
          </a:xfrm>
          <a:custGeom>
            <a:rect b="b" l="l" r="r" t="t"/>
            <a:pathLst>
              <a:path extrusionOk="0" h="256000" w="256000">
                <a:moveTo>
                  <a:pt x="223850" y="47120"/>
                </a:moveTo>
                <a:cubicBezTo>
                  <a:pt x="223693" y="44536"/>
                  <a:pt x="222911" y="42028"/>
                  <a:pt x="221571" y="39812"/>
                </a:cubicBezTo>
                <a:cubicBezTo>
                  <a:pt x="220231" y="37596"/>
                  <a:pt x="218374" y="35739"/>
                  <a:pt x="216158" y="34399"/>
                </a:cubicBezTo>
                <a:cubicBezTo>
                  <a:pt x="213942" y="33059"/>
                  <a:pt x="211434" y="32277"/>
                  <a:pt x="208850" y="32120"/>
                </a:cubicBezTo>
                <a:cubicBezTo>
                  <a:pt x="196270" y="31370"/>
                  <a:pt x="164120" y="32520"/>
                  <a:pt x="137440" y="59190"/>
                </a:cubicBezTo>
                <a:lnTo>
                  <a:pt x="132690" y="64000"/>
                </a:lnTo>
                <a:lnTo>
                  <a:pt x="74360" y="64000"/>
                </a:lnTo>
                <a:cubicBezTo>
                  <a:pt x="72251" y="63988"/>
                  <a:pt x="70160" y="64396"/>
                  <a:pt x="68210" y="65199"/>
                </a:cubicBezTo>
                <a:cubicBezTo>
                  <a:pt x="66260" y="66003"/>
                  <a:pt x="64489" y="67186"/>
                  <a:pt x="63000" y="68680"/>
                </a:cubicBezTo>
                <a:lnTo>
                  <a:pt x="28700" y="103000"/>
                </a:lnTo>
                <a:cubicBezTo>
                  <a:pt x="27021" y="104678"/>
                  <a:pt x="25736" y="106708"/>
                  <a:pt x="24939" y="108944"/>
                </a:cubicBezTo>
                <a:cubicBezTo>
                  <a:pt x="24142" y="111179"/>
                  <a:pt x="23852" y="113565"/>
                  <a:pt x="24091" y="115926"/>
                </a:cubicBezTo>
                <a:cubicBezTo>
                  <a:pt x="24329" y="118287"/>
                  <a:pt x="25091" y="120566"/>
                  <a:pt x="26319" y="122597"/>
                </a:cubicBezTo>
                <a:cubicBezTo>
                  <a:pt x="27547" y="124628"/>
                  <a:pt x="29212" y="126361"/>
                  <a:pt x="31192" y="127669"/>
                </a:cubicBezTo>
                <a:cubicBezTo>
                  <a:pt x="33173" y="128977"/>
                  <a:pt x="35420" y="129828"/>
                  <a:pt x="37770" y="130160"/>
                </a:cubicBezTo>
                <a:lnTo>
                  <a:pt x="76240" y="135530"/>
                </a:lnTo>
                <a:lnTo>
                  <a:pt x="120450" y="179740"/>
                </a:lnTo>
                <a:lnTo>
                  <a:pt x="125820" y="218230"/>
                </a:lnTo>
                <a:cubicBezTo>
                  <a:pt x="126094" y="220186"/>
                  <a:pt x="126730" y="222074"/>
                  <a:pt x="127694" y="223798"/>
                </a:cubicBezTo>
                <a:cubicBezTo>
                  <a:pt x="128658" y="225522"/>
                  <a:pt x="129935" y="227051"/>
                  <a:pt x="131458" y="228309"/>
                </a:cubicBezTo>
                <a:cubicBezTo>
                  <a:pt x="132981" y="229566"/>
                  <a:pt x="134725" y="230530"/>
                  <a:pt x="136600" y="231150"/>
                </a:cubicBezTo>
                <a:cubicBezTo>
                  <a:pt x="138244" y="231699"/>
                  <a:pt x="139966" y="231980"/>
                  <a:pt x="141700" y="231980"/>
                </a:cubicBezTo>
                <a:cubicBezTo>
                  <a:pt x="143799" y="231984"/>
                  <a:pt x="145878" y="231572"/>
                  <a:pt x="147818" y="230769"/>
                </a:cubicBezTo>
                <a:cubicBezTo>
                  <a:pt x="149757" y="229966"/>
                  <a:pt x="151518" y="228787"/>
                  <a:pt x="153000" y="227300"/>
                </a:cubicBezTo>
                <a:lnTo>
                  <a:pt x="187320" y="193000"/>
                </a:lnTo>
                <a:cubicBezTo>
                  <a:pt x="188814" y="191511"/>
                  <a:pt x="189997" y="189740"/>
                  <a:pt x="190801" y="187790"/>
                </a:cubicBezTo>
                <a:cubicBezTo>
                  <a:pt x="191604" y="185840"/>
                  <a:pt x="192012" y="183749"/>
                  <a:pt x="192000" y="181640"/>
                </a:cubicBezTo>
                <a:lnTo>
                  <a:pt x="192000" y="123310"/>
                </a:lnTo>
                <a:lnTo>
                  <a:pt x="196770" y="118540"/>
                </a:lnTo>
                <a:cubicBezTo>
                  <a:pt x="223450" y="91860"/>
                  <a:pt x="224600" y="59710"/>
                  <a:pt x="223850" y="47120"/>
                </a:cubicBezTo>
                <a:close/>
                <a:moveTo>
                  <a:pt x="74360" y="80000"/>
                </a:moveTo>
                <a:lnTo>
                  <a:pt x="116690" y="80000"/>
                </a:lnTo>
                <a:lnTo>
                  <a:pt x="77160" y="119520"/>
                </a:lnTo>
                <a:lnTo>
                  <a:pt x="40000" y="114340"/>
                </a:lnTo>
                <a:close/>
                <a:moveTo>
                  <a:pt x="148770" y="70550"/>
                </a:moveTo>
                <a:cubicBezTo>
                  <a:pt x="156457" y="62816"/>
                  <a:pt x="165707" y="56810"/>
                  <a:pt x="175900" y="52935"/>
                </a:cubicBezTo>
                <a:cubicBezTo>
                  <a:pt x="186093" y="49060"/>
                  <a:pt x="196996" y="47405"/>
                  <a:pt x="207880" y="48080"/>
                </a:cubicBezTo>
                <a:cubicBezTo>
                  <a:pt x="208581" y="58969"/>
                  <a:pt x="206943" y="69884"/>
                  <a:pt x="203076" y="80088"/>
                </a:cubicBezTo>
                <a:cubicBezTo>
                  <a:pt x="199209" y="90291"/>
                  <a:pt x="193202" y="99550"/>
                  <a:pt x="185460" y="107240"/>
                </a:cubicBezTo>
                <a:lnTo>
                  <a:pt x="128000" y="164680"/>
                </a:lnTo>
                <a:lnTo>
                  <a:pt x="91320" y="128000"/>
                </a:lnTo>
                <a:close/>
                <a:moveTo>
                  <a:pt x="176000" y="181640"/>
                </a:moveTo>
                <a:lnTo>
                  <a:pt x="141670" y="216000"/>
                </a:lnTo>
                <a:lnTo>
                  <a:pt x="136480" y="178830"/>
                </a:lnTo>
                <a:lnTo>
                  <a:pt x="176000" y="139310"/>
                </a:lnTo>
                <a:close/>
                <a:moveTo>
                  <a:pt x="101840" y="191140"/>
                </a:moveTo>
                <a:cubicBezTo>
                  <a:pt x="97340" y="201000"/>
                  <a:pt x="82290" y="224000"/>
                  <a:pt x="40000" y="224000"/>
                </a:cubicBezTo>
                <a:cubicBezTo>
                  <a:pt x="38596" y="224000"/>
                  <a:pt x="37216" y="223630"/>
                  <a:pt x="36000" y="222928"/>
                </a:cubicBezTo>
                <a:cubicBezTo>
                  <a:pt x="34784" y="222226"/>
                  <a:pt x="33774" y="221216"/>
                  <a:pt x="33072" y="220000"/>
                </a:cubicBezTo>
                <a:cubicBezTo>
                  <a:pt x="32370" y="218784"/>
                  <a:pt x="32000" y="217404"/>
                  <a:pt x="32000" y="216000"/>
                </a:cubicBezTo>
                <a:cubicBezTo>
                  <a:pt x="32000" y="173710"/>
                  <a:pt x="55000" y="158660"/>
                  <a:pt x="64860" y="154150"/>
                </a:cubicBezTo>
                <a:cubicBezTo>
                  <a:pt x="66138" y="153567"/>
                  <a:pt x="67547" y="153331"/>
                  <a:pt x="68945" y="153465"/>
                </a:cubicBezTo>
                <a:cubicBezTo>
                  <a:pt x="70343" y="153600"/>
                  <a:pt x="71681" y="154100"/>
                  <a:pt x="72825" y="154915"/>
                </a:cubicBezTo>
                <a:cubicBezTo>
                  <a:pt x="73968" y="155730"/>
                  <a:pt x="74877" y="156832"/>
                  <a:pt x="75460" y="158110"/>
                </a:cubicBezTo>
                <a:cubicBezTo>
                  <a:pt x="76043" y="159388"/>
                  <a:pt x="76279" y="160797"/>
                  <a:pt x="76145" y="162195"/>
                </a:cubicBezTo>
                <a:cubicBezTo>
                  <a:pt x="76010" y="163593"/>
                  <a:pt x="75510" y="164931"/>
                  <a:pt x="74695" y="166075"/>
                </a:cubicBezTo>
                <a:cubicBezTo>
                  <a:pt x="73880" y="167218"/>
                  <a:pt x="72778" y="168127"/>
                  <a:pt x="71500" y="168710"/>
                </a:cubicBezTo>
                <a:cubicBezTo>
                  <a:pt x="65070" y="171640"/>
                  <a:pt x="50880" y="181070"/>
                  <a:pt x="48380" y="207620"/>
                </a:cubicBezTo>
                <a:cubicBezTo>
                  <a:pt x="74930" y="205120"/>
                  <a:pt x="84380" y="190930"/>
                  <a:pt x="87290" y="184500"/>
                </a:cubicBezTo>
                <a:cubicBezTo>
                  <a:pt x="87789" y="183406"/>
                  <a:pt x="88528" y="182439"/>
                  <a:pt x="89451" y="181670"/>
                </a:cubicBezTo>
                <a:cubicBezTo>
                  <a:pt x="90375" y="180901"/>
                  <a:pt x="91461" y="180350"/>
                  <a:pt x="92627" y="180058"/>
                </a:cubicBezTo>
                <a:cubicBezTo>
                  <a:pt x="93793" y="179766"/>
                  <a:pt x="95010" y="179741"/>
                  <a:pt x="96187" y="179984"/>
                </a:cubicBezTo>
                <a:cubicBezTo>
                  <a:pt x="97364" y="180227"/>
                  <a:pt x="98471" y="180732"/>
                  <a:pt x="99427" y="181461"/>
                </a:cubicBezTo>
                <a:cubicBezTo>
                  <a:pt x="100382" y="182191"/>
                  <a:pt x="101161" y="183126"/>
                  <a:pt x="101705" y="184198"/>
                </a:cubicBezTo>
                <a:cubicBezTo>
                  <a:pt x="102249" y="185270"/>
                  <a:pt x="102544" y="186451"/>
                  <a:pt x="102570" y="187653"/>
                </a:cubicBezTo>
                <a:cubicBezTo>
                  <a:pt x="102595" y="188854"/>
                  <a:pt x="102349" y="190046"/>
                  <a:pt x="101850" y="19114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3" name="Google Shape;453;p23"/>
          <p:cNvSpPr/>
          <p:nvPr/>
        </p:nvSpPr>
        <p:spPr>
          <a:xfrm>
            <a:off x="1258750" y="6599812"/>
            <a:ext cx="274320" cy="27432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4" name="Google Shape;454;p23"/>
          <p:cNvSpPr txBox="1"/>
          <p:nvPr/>
        </p:nvSpPr>
        <p:spPr>
          <a:xfrm>
            <a:off x="1711637" y="6663363"/>
            <a:ext cx="4381905" cy="604418"/>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1" i="0" lang="es-MX" sz="950" u="none" cap="none" strike="noStrike">
                <a:solidFill>
                  <a:srgbClr val="A71989"/>
                </a:solidFill>
                <a:latin typeface="Arial"/>
                <a:ea typeface="Arial"/>
                <a:cs typeface="Arial"/>
                <a:sym typeface="Arial"/>
              </a:rPr>
              <a:t>04. </a:t>
            </a:r>
            <a:r>
              <a:rPr b="1" i="0" lang="es-MX" sz="1100" u="none" cap="none" strike="noStrike">
                <a:solidFill>
                  <a:srgbClr val="0B2E6B"/>
                </a:solidFill>
                <a:latin typeface="Arial"/>
                <a:ea typeface="Arial"/>
                <a:cs typeface="Arial"/>
                <a:sym typeface="Arial"/>
              </a:rPr>
              <a:t>Actuamos</a:t>
            </a:r>
            <a:r>
              <a:rPr b="1" i="0" lang="es-MX" sz="900" u="none" cap="none" strike="noStrike">
                <a:solidFill>
                  <a:srgbClr val="A71989"/>
                </a:solidFill>
                <a:latin typeface="Arial"/>
                <a:ea typeface="Arial"/>
                <a:cs typeface="Arial"/>
                <a:sym typeface="Arial"/>
              </a:rPr>
              <a:t>   ¿Cómo lo implementamos?</a:t>
            </a:r>
            <a:endParaRPr/>
          </a:p>
          <a:p>
            <a:pPr indent="0" lvl="0" marL="0" marR="0" rtl="0" algn="l">
              <a:lnSpc>
                <a:spcPct val="118000"/>
              </a:lnSpc>
              <a:spcBef>
                <a:spcPts val="200"/>
              </a:spcBef>
              <a:spcAft>
                <a:spcPts val="0"/>
              </a:spcAft>
              <a:buNone/>
            </a:pPr>
            <a:r>
              <a:rPr b="0" i="0" lang="es-MX" sz="950" u="none" cap="none" strike="noStrike">
                <a:solidFill>
                  <a:srgbClr val="3A3A48"/>
                </a:solidFill>
                <a:latin typeface="Arial"/>
                <a:ea typeface="Arial"/>
                <a:cs typeface="Arial"/>
                <a:sym typeface="Arial"/>
              </a:rPr>
              <a:t>Ejecutamos las acciones de forma colaborativa y con foco en el valor.</a:t>
            </a:r>
            <a:endParaRPr/>
          </a:p>
          <a:p>
            <a:pPr indent="0" lvl="0" marL="0" marR="0" rtl="0" algn="l">
              <a:lnSpc>
                <a:spcPct val="118000"/>
              </a:lnSpc>
              <a:spcBef>
                <a:spcPts val="200"/>
              </a:spcBef>
              <a:spcAft>
                <a:spcPts val="0"/>
              </a:spcAft>
              <a:buNone/>
            </a:pPr>
            <a:r>
              <a:rPr b="0" i="1" lang="es-MX" sz="900" u="none" cap="none" strike="noStrike">
                <a:solidFill>
                  <a:srgbClr val="664092"/>
                </a:solidFill>
                <a:latin typeface="Arial"/>
                <a:ea typeface="Arial"/>
                <a:cs typeface="Arial"/>
                <a:sym typeface="Arial"/>
              </a:rPr>
              <a:t>Produce: valor.</a:t>
            </a:r>
            <a:endParaRPr/>
          </a:p>
        </p:txBody>
      </p:sp>
      <p:sp>
        <p:nvSpPr>
          <p:cNvPr id="455" name="Google Shape;455;p23"/>
          <p:cNvSpPr/>
          <p:nvPr/>
        </p:nvSpPr>
        <p:spPr>
          <a:xfrm>
            <a:off x="1055716" y="7350077"/>
            <a:ext cx="182880" cy="109728"/>
          </a:xfrm>
          <a:prstGeom prst="downArrow">
            <a:avLst>
              <a:gd fmla="val 50000" name="adj1"/>
              <a:gd fmla="val 50000" name="adj2"/>
            </a:avLst>
          </a:prstGeom>
          <a:solidFill>
            <a:srgbClr val="B9C3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6" name="Google Shape;456;p23"/>
          <p:cNvSpPr/>
          <p:nvPr/>
        </p:nvSpPr>
        <p:spPr>
          <a:xfrm>
            <a:off x="640080" y="7457116"/>
            <a:ext cx="5577840" cy="976427"/>
          </a:xfrm>
          <a:prstGeom prst="roundRect">
            <a:avLst>
              <a:gd fmla="val 11237" name="adj"/>
            </a:avLst>
          </a:prstGeom>
          <a:solidFill>
            <a:srgbClr val="FFFFFF"/>
          </a:solidFill>
          <a:ln cap="flat" cmpd="sng" w="12700">
            <a:solidFill>
              <a:srgbClr val="DCDD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23"/>
          <p:cNvSpPr/>
          <p:nvPr/>
        </p:nvSpPr>
        <p:spPr>
          <a:xfrm>
            <a:off x="641562" y="7566844"/>
            <a:ext cx="64008" cy="756971"/>
          </a:xfrm>
          <a:prstGeom prst="rect">
            <a:avLst/>
          </a:prstGeom>
          <a:solidFill>
            <a:srgbClr val="0B2E6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8" name="Google Shape;458;p23"/>
          <p:cNvSpPr/>
          <p:nvPr/>
        </p:nvSpPr>
        <p:spPr>
          <a:xfrm>
            <a:off x="863692" y="7661865"/>
            <a:ext cx="566928" cy="566928"/>
          </a:xfrm>
          <a:prstGeom prst="ellipse">
            <a:avLst/>
          </a:prstGeom>
          <a:solidFill>
            <a:srgbClr val="0B2E6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9" name="Google Shape;459;p23"/>
          <p:cNvSpPr/>
          <p:nvPr/>
        </p:nvSpPr>
        <p:spPr>
          <a:xfrm>
            <a:off x="988416" y="7786590"/>
            <a:ext cx="317480" cy="317480"/>
          </a:xfrm>
          <a:custGeom>
            <a:rect b="b" l="l" r="r" t="t"/>
            <a:pathLst>
              <a:path extrusionOk="0" h="256000" w="256000">
                <a:moveTo>
                  <a:pt x="224000" y="48000"/>
                </a:moveTo>
                <a:lnTo>
                  <a:pt x="224000" y="96000"/>
                </a:lnTo>
                <a:cubicBezTo>
                  <a:pt x="224000" y="97404"/>
                  <a:pt x="223630" y="98784"/>
                  <a:pt x="222928" y="100000"/>
                </a:cubicBezTo>
                <a:cubicBezTo>
                  <a:pt x="222226" y="101216"/>
                  <a:pt x="221216" y="102226"/>
                  <a:pt x="220000" y="102928"/>
                </a:cubicBezTo>
                <a:cubicBezTo>
                  <a:pt x="218784" y="103630"/>
                  <a:pt x="217404" y="104000"/>
                  <a:pt x="216000" y="104000"/>
                </a:cubicBezTo>
                <a:lnTo>
                  <a:pt x="168000" y="104000"/>
                </a:lnTo>
                <a:cubicBezTo>
                  <a:pt x="166596" y="104000"/>
                  <a:pt x="165216" y="103630"/>
                  <a:pt x="164000" y="102928"/>
                </a:cubicBezTo>
                <a:cubicBezTo>
                  <a:pt x="162784" y="102226"/>
                  <a:pt x="161774" y="101216"/>
                  <a:pt x="161072" y="100000"/>
                </a:cubicBezTo>
                <a:cubicBezTo>
                  <a:pt x="160370" y="98784"/>
                  <a:pt x="160000" y="97404"/>
                  <a:pt x="160000" y="96000"/>
                </a:cubicBezTo>
                <a:cubicBezTo>
                  <a:pt x="160000" y="94596"/>
                  <a:pt x="160370" y="93216"/>
                  <a:pt x="161072" y="92000"/>
                </a:cubicBezTo>
                <a:cubicBezTo>
                  <a:pt x="161774" y="90784"/>
                  <a:pt x="162784" y="89774"/>
                  <a:pt x="164000" y="89072"/>
                </a:cubicBezTo>
                <a:cubicBezTo>
                  <a:pt x="165216" y="88370"/>
                  <a:pt x="166596" y="88000"/>
                  <a:pt x="168000" y="88000"/>
                </a:cubicBezTo>
                <a:lnTo>
                  <a:pt x="196690" y="88000"/>
                </a:lnTo>
                <a:lnTo>
                  <a:pt x="182060" y="73370"/>
                </a:lnTo>
                <a:cubicBezTo>
                  <a:pt x="174698" y="65974"/>
                  <a:pt x="165952" y="60099"/>
                  <a:pt x="156322" y="56079"/>
                </a:cubicBezTo>
                <a:cubicBezTo>
                  <a:pt x="146693" y="52060"/>
                  <a:pt x="136365" y="49973"/>
                  <a:pt x="125930" y="49940"/>
                </a:cubicBezTo>
                <a:lnTo>
                  <a:pt x="125480" y="49940"/>
                </a:lnTo>
                <a:cubicBezTo>
                  <a:pt x="115131" y="49916"/>
                  <a:pt x="104875" y="51912"/>
                  <a:pt x="95291" y="55817"/>
                </a:cubicBezTo>
                <a:cubicBezTo>
                  <a:pt x="85706" y="59722"/>
                  <a:pt x="76976" y="65460"/>
                  <a:pt x="69590" y="72710"/>
                </a:cubicBezTo>
                <a:cubicBezTo>
                  <a:pt x="68579" y="73654"/>
                  <a:pt x="67340" y="74320"/>
                  <a:pt x="65994" y="74642"/>
                </a:cubicBezTo>
                <a:cubicBezTo>
                  <a:pt x="64649" y="74964"/>
                  <a:pt x="63242" y="74932"/>
                  <a:pt x="61913" y="74548"/>
                </a:cubicBezTo>
                <a:cubicBezTo>
                  <a:pt x="60584" y="74165"/>
                  <a:pt x="59376" y="73443"/>
                  <a:pt x="58409" y="72454"/>
                </a:cubicBezTo>
                <a:cubicBezTo>
                  <a:pt x="57442" y="71464"/>
                  <a:pt x="56748" y="70240"/>
                  <a:pt x="56396" y="68903"/>
                </a:cubicBezTo>
                <a:cubicBezTo>
                  <a:pt x="56043" y="67565"/>
                  <a:pt x="56043" y="66158"/>
                  <a:pt x="56396" y="64821"/>
                </a:cubicBezTo>
                <a:cubicBezTo>
                  <a:pt x="56749" y="63483"/>
                  <a:pt x="57443" y="62259"/>
                  <a:pt x="58410" y="61270"/>
                </a:cubicBezTo>
                <a:cubicBezTo>
                  <a:pt x="70374" y="49577"/>
                  <a:pt x="85189" y="41212"/>
                  <a:pt x="101380" y="37007"/>
                </a:cubicBezTo>
                <a:cubicBezTo>
                  <a:pt x="117572" y="32802"/>
                  <a:pt x="134585" y="32902"/>
                  <a:pt x="150727" y="37296"/>
                </a:cubicBezTo>
                <a:cubicBezTo>
                  <a:pt x="166868" y="41690"/>
                  <a:pt x="181584" y="50228"/>
                  <a:pt x="193410" y="62060"/>
                </a:cubicBezTo>
                <a:lnTo>
                  <a:pt x="208000" y="76690"/>
                </a:lnTo>
                <a:lnTo>
                  <a:pt x="208000" y="48000"/>
                </a:lnTo>
                <a:cubicBezTo>
                  <a:pt x="208000" y="46596"/>
                  <a:pt x="208370" y="45216"/>
                  <a:pt x="209072" y="44000"/>
                </a:cubicBezTo>
                <a:cubicBezTo>
                  <a:pt x="209774" y="42784"/>
                  <a:pt x="210784" y="41774"/>
                  <a:pt x="212000" y="41072"/>
                </a:cubicBezTo>
                <a:cubicBezTo>
                  <a:pt x="213216" y="40370"/>
                  <a:pt x="214596" y="40000"/>
                  <a:pt x="216000" y="40000"/>
                </a:cubicBezTo>
                <a:cubicBezTo>
                  <a:pt x="217404" y="40000"/>
                  <a:pt x="218784" y="40370"/>
                  <a:pt x="220000" y="41072"/>
                </a:cubicBezTo>
                <a:cubicBezTo>
                  <a:pt x="221216" y="41774"/>
                  <a:pt x="222226" y="42784"/>
                  <a:pt x="222928" y="44000"/>
                </a:cubicBezTo>
                <a:cubicBezTo>
                  <a:pt x="223630" y="45216"/>
                  <a:pt x="224000" y="46596"/>
                  <a:pt x="224000" y="48000"/>
                </a:cubicBezTo>
                <a:close/>
                <a:moveTo>
                  <a:pt x="186410" y="183290"/>
                </a:moveTo>
                <a:cubicBezTo>
                  <a:pt x="176441" y="193028"/>
                  <a:pt x="164098" y="199994"/>
                  <a:pt x="150609" y="203495"/>
                </a:cubicBezTo>
                <a:cubicBezTo>
                  <a:pt x="137120" y="206997"/>
                  <a:pt x="122948" y="206914"/>
                  <a:pt x="109501" y="203254"/>
                </a:cubicBezTo>
                <a:cubicBezTo>
                  <a:pt x="96054" y="199595"/>
                  <a:pt x="83794" y="192484"/>
                  <a:pt x="73940" y="182630"/>
                </a:cubicBezTo>
                <a:lnTo>
                  <a:pt x="59310" y="168000"/>
                </a:lnTo>
                <a:lnTo>
                  <a:pt x="88000" y="168000"/>
                </a:lnTo>
                <a:cubicBezTo>
                  <a:pt x="89404" y="168000"/>
                  <a:pt x="90784" y="167630"/>
                  <a:pt x="92000" y="166928"/>
                </a:cubicBezTo>
                <a:cubicBezTo>
                  <a:pt x="93216" y="166226"/>
                  <a:pt x="94226" y="165216"/>
                  <a:pt x="94928" y="164000"/>
                </a:cubicBezTo>
                <a:cubicBezTo>
                  <a:pt x="95630" y="162784"/>
                  <a:pt x="96000" y="161404"/>
                  <a:pt x="96000" y="160000"/>
                </a:cubicBezTo>
                <a:cubicBezTo>
                  <a:pt x="96000" y="158596"/>
                  <a:pt x="95630" y="157216"/>
                  <a:pt x="94928" y="156000"/>
                </a:cubicBezTo>
                <a:cubicBezTo>
                  <a:pt x="94226" y="154784"/>
                  <a:pt x="93216" y="153774"/>
                  <a:pt x="92000" y="153072"/>
                </a:cubicBezTo>
                <a:cubicBezTo>
                  <a:pt x="90784" y="152370"/>
                  <a:pt x="89404" y="152000"/>
                  <a:pt x="88000" y="152000"/>
                </a:cubicBezTo>
                <a:lnTo>
                  <a:pt x="40000" y="152000"/>
                </a:lnTo>
                <a:cubicBezTo>
                  <a:pt x="38596" y="152000"/>
                  <a:pt x="37216" y="152370"/>
                  <a:pt x="36000" y="153072"/>
                </a:cubicBezTo>
                <a:cubicBezTo>
                  <a:pt x="34784" y="153774"/>
                  <a:pt x="33774" y="154784"/>
                  <a:pt x="33072" y="156000"/>
                </a:cubicBezTo>
                <a:cubicBezTo>
                  <a:pt x="32370" y="157216"/>
                  <a:pt x="32000" y="158596"/>
                  <a:pt x="32000" y="160000"/>
                </a:cubicBezTo>
                <a:lnTo>
                  <a:pt x="32000" y="208000"/>
                </a:lnTo>
                <a:cubicBezTo>
                  <a:pt x="32000" y="209404"/>
                  <a:pt x="32370" y="210784"/>
                  <a:pt x="33072" y="212000"/>
                </a:cubicBezTo>
                <a:cubicBezTo>
                  <a:pt x="33774" y="213216"/>
                  <a:pt x="34784" y="214226"/>
                  <a:pt x="36000" y="214928"/>
                </a:cubicBezTo>
                <a:cubicBezTo>
                  <a:pt x="37216" y="215630"/>
                  <a:pt x="38596" y="216000"/>
                  <a:pt x="40000" y="216000"/>
                </a:cubicBezTo>
                <a:cubicBezTo>
                  <a:pt x="41404" y="216000"/>
                  <a:pt x="42784" y="215630"/>
                  <a:pt x="44000" y="214928"/>
                </a:cubicBezTo>
                <a:cubicBezTo>
                  <a:pt x="45216" y="214226"/>
                  <a:pt x="46226" y="213216"/>
                  <a:pt x="46928" y="212000"/>
                </a:cubicBezTo>
                <a:cubicBezTo>
                  <a:pt x="47630" y="210784"/>
                  <a:pt x="48000" y="209404"/>
                  <a:pt x="48000" y="208000"/>
                </a:cubicBezTo>
                <a:lnTo>
                  <a:pt x="48000" y="179310"/>
                </a:lnTo>
                <a:lnTo>
                  <a:pt x="62630" y="193940"/>
                </a:lnTo>
                <a:cubicBezTo>
                  <a:pt x="71464" y="202819"/>
                  <a:pt x="81961" y="209872"/>
                  <a:pt x="93520" y="214697"/>
                </a:cubicBezTo>
                <a:cubicBezTo>
                  <a:pt x="105079" y="219521"/>
                  <a:pt x="117475" y="222023"/>
                  <a:pt x="130000" y="222060"/>
                </a:cubicBezTo>
                <a:lnTo>
                  <a:pt x="130530" y="222060"/>
                </a:lnTo>
                <a:cubicBezTo>
                  <a:pt x="142950" y="222092"/>
                  <a:pt x="155258" y="219697"/>
                  <a:pt x="166761" y="215010"/>
                </a:cubicBezTo>
                <a:cubicBezTo>
                  <a:pt x="178263" y="210323"/>
                  <a:pt x="188739" y="203434"/>
                  <a:pt x="197600" y="194730"/>
                </a:cubicBezTo>
                <a:cubicBezTo>
                  <a:pt x="198567" y="193741"/>
                  <a:pt x="199261" y="192517"/>
                  <a:pt x="199614" y="191179"/>
                </a:cubicBezTo>
                <a:cubicBezTo>
                  <a:pt x="199967" y="189842"/>
                  <a:pt x="199967" y="188435"/>
                  <a:pt x="199614" y="187097"/>
                </a:cubicBezTo>
                <a:cubicBezTo>
                  <a:pt x="199262" y="185760"/>
                  <a:pt x="198568" y="184536"/>
                  <a:pt x="197601" y="183546"/>
                </a:cubicBezTo>
                <a:cubicBezTo>
                  <a:pt x="196634" y="182557"/>
                  <a:pt x="195426" y="181835"/>
                  <a:pt x="194097" y="181452"/>
                </a:cubicBezTo>
                <a:cubicBezTo>
                  <a:pt x="192768" y="181068"/>
                  <a:pt x="191361" y="181036"/>
                  <a:pt x="190016" y="181358"/>
                </a:cubicBezTo>
                <a:cubicBezTo>
                  <a:pt x="188670" y="181680"/>
                  <a:pt x="187431" y="182346"/>
                  <a:pt x="186420" y="18329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0" name="Google Shape;460;p23"/>
          <p:cNvSpPr/>
          <p:nvPr/>
        </p:nvSpPr>
        <p:spPr>
          <a:xfrm>
            <a:off x="1258750" y="7607001"/>
            <a:ext cx="274320" cy="27432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1" name="Google Shape;461;p23"/>
          <p:cNvSpPr txBox="1"/>
          <p:nvPr/>
        </p:nvSpPr>
        <p:spPr>
          <a:xfrm>
            <a:off x="1711637" y="7585132"/>
            <a:ext cx="4381905" cy="775259"/>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1" i="0" lang="es-MX" sz="950" u="none" cap="none" strike="noStrike">
                <a:solidFill>
                  <a:srgbClr val="0B2E6B"/>
                </a:solidFill>
                <a:latin typeface="Arial"/>
                <a:ea typeface="Arial"/>
                <a:cs typeface="Arial"/>
                <a:sym typeface="Arial"/>
              </a:rPr>
              <a:t>05. </a:t>
            </a:r>
            <a:r>
              <a:rPr b="1" i="0" lang="es-MX" sz="1100" u="none" cap="none" strike="noStrike">
                <a:solidFill>
                  <a:srgbClr val="0B2E6B"/>
                </a:solidFill>
                <a:latin typeface="Arial"/>
                <a:ea typeface="Arial"/>
                <a:cs typeface="Arial"/>
                <a:sym typeface="Arial"/>
              </a:rPr>
              <a:t>Ajustamos</a:t>
            </a:r>
            <a:r>
              <a:rPr b="1" i="0" lang="es-MX" sz="900" u="none" cap="none" strike="noStrike">
                <a:solidFill>
                  <a:srgbClr val="0B2E6B"/>
                </a:solidFill>
                <a:latin typeface="Arial"/>
                <a:ea typeface="Arial"/>
                <a:cs typeface="Arial"/>
                <a:sym typeface="Arial"/>
              </a:rPr>
              <a:t>   ¿Qué mejoramos?</a:t>
            </a:r>
            <a:endParaRPr/>
          </a:p>
          <a:p>
            <a:pPr indent="0" lvl="0" marL="0" marR="0" rtl="0" algn="l">
              <a:lnSpc>
                <a:spcPct val="118000"/>
              </a:lnSpc>
              <a:spcBef>
                <a:spcPts val="200"/>
              </a:spcBef>
              <a:spcAft>
                <a:spcPts val="0"/>
              </a:spcAft>
              <a:buNone/>
            </a:pPr>
            <a:r>
              <a:rPr b="0" i="0" lang="es-MX" sz="950" u="none" cap="none" strike="noStrike">
                <a:solidFill>
                  <a:srgbClr val="3A3A48"/>
                </a:solidFill>
                <a:latin typeface="Arial"/>
                <a:ea typeface="Arial"/>
                <a:cs typeface="Arial"/>
                <a:sym typeface="Arial"/>
              </a:rPr>
              <a:t>Revisamos resultados, incorporamos aprendizajes y adaptamos el plan de forma continua.</a:t>
            </a:r>
            <a:endParaRPr/>
          </a:p>
          <a:p>
            <a:pPr indent="0" lvl="0" marL="0" marR="0" rtl="0" algn="l">
              <a:lnSpc>
                <a:spcPct val="118000"/>
              </a:lnSpc>
              <a:spcBef>
                <a:spcPts val="200"/>
              </a:spcBef>
              <a:spcAft>
                <a:spcPts val="0"/>
              </a:spcAft>
              <a:buNone/>
            </a:pPr>
            <a:r>
              <a:rPr b="0" i="1" lang="es-MX" sz="900" u="none" cap="none" strike="noStrike">
                <a:solidFill>
                  <a:srgbClr val="664092"/>
                </a:solidFill>
                <a:latin typeface="Arial"/>
                <a:ea typeface="Arial"/>
                <a:cs typeface="Arial"/>
                <a:sym typeface="Arial"/>
              </a:rPr>
              <a:t>Produce: adaptación.</a:t>
            </a:r>
            <a:endParaRPr/>
          </a:p>
        </p:txBody>
      </p:sp>
      <p:sp>
        <p:nvSpPr>
          <p:cNvPr id="462" name="Google Shape;462;p23"/>
          <p:cNvSpPr/>
          <p:nvPr/>
        </p:nvSpPr>
        <p:spPr>
          <a:xfrm>
            <a:off x="1321593" y="8581650"/>
            <a:ext cx="4214813" cy="329107"/>
          </a:xfrm>
          <a:prstGeom prst="roundRect">
            <a:avLst>
              <a:gd fmla="val 50000" name="adj"/>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3" name="Google Shape;463;p23"/>
          <p:cNvSpPr/>
          <p:nvPr/>
        </p:nvSpPr>
        <p:spPr>
          <a:xfrm>
            <a:off x="1502914" y="8650231"/>
            <a:ext cx="199651" cy="199651"/>
          </a:xfrm>
          <a:custGeom>
            <a:rect b="b" l="l" r="r" t="t"/>
            <a:pathLst>
              <a:path extrusionOk="0" h="256000" w="256000">
                <a:moveTo>
                  <a:pt x="228000" y="48000"/>
                </a:moveTo>
                <a:lnTo>
                  <a:pt x="228000" y="96000"/>
                </a:lnTo>
                <a:cubicBezTo>
                  <a:pt x="228000" y="98106"/>
                  <a:pt x="227445" y="100176"/>
                  <a:pt x="226392" y="102000"/>
                </a:cubicBezTo>
                <a:cubicBezTo>
                  <a:pt x="225339" y="103824"/>
                  <a:pt x="223824" y="105339"/>
                  <a:pt x="222000" y="106392"/>
                </a:cubicBezTo>
                <a:cubicBezTo>
                  <a:pt x="220176" y="107445"/>
                  <a:pt x="218106" y="108000"/>
                  <a:pt x="216000" y="108000"/>
                </a:cubicBezTo>
                <a:lnTo>
                  <a:pt x="168000" y="108000"/>
                </a:lnTo>
                <a:cubicBezTo>
                  <a:pt x="165894" y="108000"/>
                  <a:pt x="163824" y="107445"/>
                  <a:pt x="162000" y="106392"/>
                </a:cubicBezTo>
                <a:cubicBezTo>
                  <a:pt x="160176" y="105339"/>
                  <a:pt x="158661" y="103824"/>
                  <a:pt x="157608" y="102000"/>
                </a:cubicBezTo>
                <a:cubicBezTo>
                  <a:pt x="156555" y="100176"/>
                  <a:pt x="156000" y="98106"/>
                  <a:pt x="156000" y="96000"/>
                </a:cubicBezTo>
                <a:cubicBezTo>
                  <a:pt x="156000" y="93894"/>
                  <a:pt x="156555" y="91824"/>
                  <a:pt x="157608" y="90000"/>
                </a:cubicBezTo>
                <a:cubicBezTo>
                  <a:pt x="158661" y="88176"/>
                  <a:pt x="160176" y="86661"/>
                  <a:pt x="162000" y="85608"/>
                </a:cubicBezTo>
                <a:cubicBezTo>
                  <a:pt x="163824" y="84555"/>
                  <a:pt x="165894" y="84000"/>
                  <a:pt x="168000" y="84000"/>
                </a:cubicBezTo>
                <a:lnTo>
                  <a:pt x="187000" y="84000"/>
                </a:lnTo>
                <a:lnTo>
                  <a:pt x="179200" y="76200"/>
                </a:lnTo>
                <a:cubicBezTo>
                  <a:pt x="172208" y="69173"/>
                  <a:pt x="163900" y="63590"/>
                  <a:pt x="154752" y="59771"/>
                </a:cubicBezTo>
                <a:cubicBezTo>
                  <a:pt x="145604" y="55952"/>
                  <a:pt x="135793" y="53971"/>
                  <a:pt x="125880" y="53940"/>
                </a:cubicBezTo>
                <a:lnTo>
                  <a:pt x="125450" y="53940"/>
                </a:lnTo>
                <a:cubicBezTo>
                  <a:pt x="115624" y="53918"/>
                  <a:pt x="105887" y="55816"/>
                  <a:pt x="96788" y="59525"/>
                </a:cubicBezTo>
                <a:cubicBezTo>
                  <a:pt x="87689" y="63234"/>
                  <a:pt x="79401" y="68685"/>
                  <a:pt x="72390" y="75570"/>
                </a:cubicBezTo>
                <a:cubicBezTo>
                  <a:pt x="71101" y="76830"/>
                  <a:pt x="69545" y="77784"/>
                  <a:pt x="67836" y="78361"/>
                </a:cubicBezTo>
                <a:cubicBezTo>
                  <a:pt x="66128" y="78937"/>
                  <a:pt x="64312" y="79121"/>
                  <a:pt x="62523" y="78899"/>
                </a:cubicBezTo>
                <a:cubicBezTo>
                  <a:pt x="60734" y="78677"/>
                  <a:pt x="59018" y="78055"/>
                  <a:pt x="57502" y="77079"/>
                </a:cubicBezTo>
                <a:cubicBezTo>
                  <a:pt x="55986" y="76103"/>
                  <a:pt x="54710" y="74797"/>
                  <a:pt x="53768" y="73260"/>
                </a:cubicBezTo>
                <a:cubicBezTo>
                  <a:pt x="52826" y="71723"/>
                  <a:pt x="52243" y="69994"/>
                  <a:pt x="52061" y="68200"/>
                </a:cubicBezTo>
                <a:cubicBezTo>
                  <a:pt x="51879" y="66406"/>
                  <a:pt x="52104" y="64595"/>
                  <a:pt x="52718" y="62900"/>
                </a:cubicBezTo>
                <a:cubicBezTo>
                  <a:pt x="53333" y="61205"/>
                  <a:pt x="54321" y="59670"/>
                  <a:pt x="55610" y="58410"/>
                </a:cubicBezTo>
                <a:cubicBezTo>
                  <a:pt x="64842" y="49345"/>
                  <a:pt x="75756" y="42169"/>
                  <a:pt x="87738" y="37287"/>
                </a:cubicBezTo>
                <a:cubicBezTo>
                  <a:pt x="99720" y="32404"/>
                  <a:pt x="112541" y="29909"/>
                  <a:pt x="125480" y="29940"/>
                </a:cubicBezTo>
                <a:lnTo>
                  <a:pt x="126000" y="29940"/>
                </a:lnTo>
                <a:cubicBezTo>
                  <a:pt x="139051" y="29976"/>
                  <a:pt x="151968" y="32581"/>
                  <a:pt x="164012" y="37606"/>
                </a:cubicBezTo>
                <a:cubicBezTo>
                  <a:pt x="176056" y="42631"/>
                  <a:pt x="186994" y="49979"/>
                  <a:pt x="196200" y="59230"/>
                </a:cubicBezTo>
                <a:lnTo>
                  <a:pt x="204000" y="67000"/>
                </a:lnTo>
                <a:lnTo>
                  <a:pt x="204000" y="48000"/>
                </a:lnTo>
                <a:cubicBezTo>
                  <a:pt x="204000" y="45894"/>
                  <a:pt x="204555" y="43824"/>
                  <a:pt x="205608" y="42000"/>
                </a:cubicBezTo>
                <a:cubicBezTo>
                  <a:pt x="206661" y="40176"/>
                  <a:pt x="208176" y="38661"/>
                  <a:pt x="210000" y="37608"/>
                </a:cubicBezTo>
                <a:cubicBezTo>
                  <a:pt x="211824" y="36555"/>
                  <a:pt x="213894" y="36000"/>
                  <a:pt x="216000" y="36000"/>
                </a:cubicBezTo>
                <a:cubicBezTo>
                  <a:pt x="218106" y="36000"/>
                  <a:pt x="220176" y="36555"/>
                  <a:pt x="222000" y="37608"/>
                </a:cubicBezTo>
                <a:cubicBezTo>
                  <a:pt x="223824" y="38661"/>
                  <a:pt x="225339" y="40176"/>
                  <a:pt x="226392" y="42000"/>
                </a:cubicBezTo>
                <a:cubicBezTo>
                  <a:pt x="227445" y="43824"/>
                  <a:pt x="228000" y="45894"/>
                  <a:pt x="228000" y="48000"/>
                </a:cubicBezTo>
                <a:close/>
                <a:moveTo>
                  <a:pt x="183610" y="180430"/>
                </a:moveTo>
                <a:cubicBezTo>
                  <a:pt x="176596" y="187319"/>
                  <a:pt x="168303" y="192771"/>
                  <a:pt x="159198" y="196481"/>
                </a:cubicBezTo>
                <a:cubicBezTo>
                  <a:pt x="150093" y="200190"/>
                  <a:pt x="140351" y="202085"/>
                  <a:pt x="130520" y="202060"/>
                </a:cubicBezTo>
                <a:lnTo>
                  <a:pt x="130090" y="202060"/>
                </a:lnTo>
                <a:cubicBezTo>
                  <a:pt x="120177" y="202029"/>
                  <a:pt x="110366" y="200048"/>
                  <a:pt x="101218" y="196229"/>
                </a:cubicBezTo>
                <a:cubicBezTo>
                  <a:pt x="92070" y="192410"/>
                  <a:pt x="83762" y="186827"/>
                  <a:pt x="76770" y="179800"/>
                </a:cubicBezTo>
                <a:lnTo>
                  <a:pt x="69000" y="172000"/>
                </a:lnTo>
                <a:lnTo>
                  <a:pt x="88000" y="172000"/>
                </a:lnTo>
                <a:cubicBezTo>
                  <a:pt x="90106" y="172000"/>
                  <a:pt x="92176" y="171445"/>
                  <a:pt x="94000" y="170392"/>
                </a:cubicBezTo>
                <a:cubicBezTo>
                  <a:pt x="95824" y="169339"/>
                  <a:pt x="97339" y="167824"/>
                  <a:pt x="98392" y="166000"/>
                </a:cubicBezTo>
                <a:cubicBezTo>
                  <a:pt x="99445" y="164176"/>
                  <a:pt x="100000" y="162106"/>
                  <a:pt x="100000" y="160000"/>
                </a:cubicBezTo>
                <a:cubicBezTo>
                  <a:pt x="100000" y="157894"/>
                  <a:pt x="99445" y="155824"/>
                  <a:pt x="98392" y="154000"/>
                </a:cubicBezTo>
                <a:cubicBezTo>
                  <a:pt x="97339" y="152176"/>
                  <a:pt x="95824" y="150661"/>
                  <a:pt x="94000" y="149608"/>
                </a:cubicBezTo>
                <a:cubicBezTo>
                  <a:pt x="92176" y="148555"/>
                  <a:pt x="90106" y="148000"/>
                  <a:pt x="88000" y="148000"/>
                </a:cubicBezTo>
                <a:lnTo>
                  <a:pt x="40000" y="148000"/>
                </a:lnTo>
                <a:cubicBezTo>
                  <a:pt x="37894" y="148000"/>
                  <a:pt x="35824" y="148555"/>
                  <a:pt x="34000" y="149608"/>
                </a:cubicBezTo>
                <a:cubicBezTo>
                  <a:pt x="32176" y="150661"/>
                  <a:pt x="30661" y="152176"/>
                  <a:pt x="29608" y="154000"/>
                </a:cubicBezTo>
                <a:cubicBezTo>
                  <a:pt x="28555" y="155824"/>
                  <a:pt x="28000" y="157894"/>
                  <a:pt x="28000" y="160000"/>
                </a:cubicBezTo>
                <a:lnTo>
                  <a:pt x="28000" y="208000"/>
                </a:lnTo>
                <a:cubicBezTo>
                  <a:pt x="28000" y="210106"/>
                  <a:pt x="28555" y="212176"/>
                  <a:pt x="29608" y="214000"/>
                </a:cubicBezTo>
                <a:cubicBezTo>
                  <a:pt x="30661" y="215824"/>
                  <a:pt x="32176" y="217339"/>
                  <a:pt x="34000" y="218392"/>
                </a:cubicBezTo>
                <a:cubicBezTo>
                  <a:pt x="35824" y="219445"/>
                  <a:pt x="37894" y="220000"/>
                  <a:pt x="40000" y="220000"/>
                </a:cubicBezTo>
                <a:cubicBezTo>
                  <a:pt x="42106" y="220000"/>
                  <a:pt x="44176" y="219445"/>
                  <a:pt x="46000" y="218392"/>
                </a:cubicBezTo>
                <a:cubicBezTo>
                  <a:pt x="47824" y="217339"/>
                  <a:pt x="49339" y="215824"/>
                  <a:pt x="50392" y="214000"/>
                </a:cubicBezTo>
                <a:cubicBezTo>
                  <a:pt x="51445" y="212176"/>
                  <a:pt x="52000" y="210106"/>
                  <a:pt x="52000" y="208000"/>
                </a:cubicBezTo>
                <a:lnTo>
                  <a:pt x="52000" y="189000"/>
                </a:lnTo>
                <a:lnTo>
                  <a:pt x="59800" y="196800"/>
                </a:lnTo>
                <a:cubicBezTo>
                  <a:pt x="69008" y="206045"/>
                  <a:pt x="79947" y="213388"/>
                  <a:pt x="91992" y="218408"/>
                </a:cubicBezTo>
                <a:cubicBezTo>
                  <a:pt x="104036" y="223428"/>
                  <a:pt x="116951" y="226028"/>
                  <a:pt x="130000" y="226060"/>
                </a:cubicBezTo>
                <a:lnTo>
                  <a:pt x="130560" y="226060"/>
                </a:lnTo>
                <a:cubicBezTo>
                  <a:pt x="143499" y="226091"/>
                  <a:pt x="156320" y="223596"/>
                  <a:pt x="168302" y="218713"/>
                </a:cubicBezTo>
                <a:cubicBezTo>
                  <a:pt x="180284" y="213831"/>
                  <a:pt x="191198" y="206655"/>
                  <a:pt x="200430" y="197590"/>
                </a:cubicBezTo>
                <a:cubicBezTo>
                  <a:pt x="201936" y="196117"/>
                  <a:pt x="203028" y="194274"/>
                  <a:pt x="203596" y="192245"/>
                </a:cubicBezTo>
                <a:cubicBezTo>
                  <a:pt x="204164" y="190217"/>
                  <a:pt x="204188" y="188075"/>
                  <a:pt x="203665" y="186034"/>
                </a:cubicBezTo>
                <a:cubicBezTo>
                  <a:pt x="203143" y="183993"/>
                  <a:pt x="202093" y="182126"/>
                  <a:pt x="200620" y="180620"/>
                </a:cubicBezTo>
                <a:cubicBezTo>
                  <a:pt x="199147" y="179114"/>
                  <a:pt x="197304" y="178022"/>
                  <a:pt x="195275" y="177454"/>
                </a:cubicBezTo>
                <a:cubicBezTo>
                  <a:pt x="193247" y="176886"/>
                  <a:pt x="191105" y="176862"/>
                  <a:pt x="189064" y="177385"/>
                </a:cubicBezTo>
                <a:cubicBezTo>
                  <a:pt x="187023" y="177907"/>
                  <a:pt x="185156" y="178957"/>
                  <a:pt x="183650" y="180430"/>
                </a:cubicBezTo>
                <a:close/>
              </a:path>
            </a:pathLst>
          </a:custGeom>
          <a:solidFill>
            <a:srgbClr val="66409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4" name="Google Shape;464;p23"/>
          <p:cNvSpPr txBox="1"/>
          <p:nvPr/>
        </p:nvSpPr>
        <p:spPr>
          <a:xfrm>
            <a:off x="1702565" y="8678755"/>
            <a:ext cx="3652521" cy="142603"/>
          </a:xfrm>
          <a:prstGeom prst="rect">
            <a:avLst/>
          </a:prstGeom>
          <a:noFill/>
          <a:ln>
            <a:noFill/>
          </a:ln>
        </p:spPr>
        <p:txBody>
          <a:bodyPr anchorCtr="0" anchor="ctr" bIns="0" lIns="0" spcFirstLastPara="1" rIns="0" wrap="square" tIns="0">
            <a:spAutoFit/>
          </a:bodyPr>
          <a:lstStyle/>
          <a:p>
            <a:pPr indent="0" lvl="0" marL="0" marR="0" rtl="0" algn="ctr">
              <a:lnSpc>
                <a:spcPct val="112000"/>
              </a:lnSpc>
              <a:spcBef>
                <a:spcPts val="0"/>
              </a:spcBef>
              <a:spcAft>
                <a:spcPts val="0"/>
              </a:spcAft>
              <a:buNone/>
            </a:pPr>
            <a:r>
              <a:rPr b="1" i="0" lang="es-MX" sz="900" u="none" cap="none" strike="noStrike">
                <a:solidFill>
                  <a:srgbClr val="664092"/>
                </a:solidFill>
                <a:latin typeface="Arial"/>
                <a:ea typeface="Arial"/>
                <a:cs typeface="Arial"/>
                <a:sym typeface="Arial"/>
              </a:rPr>
              <a:t>Mejora continua: aprender para decidir, decidir para generar valor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24"/>
          <p:cNvSpPr/>
          <p:nvPr/>
        </p:nvSpPr>
        <p:spPr>
          <a:xfrm>
            <a:off x="638485" y="723900"/>
            <a:ext cx="4086110"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Agilidad más allá de las herramientas</a:t>
            </a:r>
            <a:endParaRPr b="0" i="0" sz="1400" u="none" cap="none" strike="noStrike">
              <a:solidFill>
                <a:srgbClr val="000000"/>
              </a:solidFill>
              <a:latin typeface="Arial"/>
              <a:ea typeface="Arial"/>
              <a:cs typeface="Arial"/>
              <a:sym typeface="Arial"/>
            </a:endParaRPr>
          </a:p>
        </p:txBody>
      </p:sp>
      <p:sp>
        <p:nvSpPr>
          <p:cNvPr id="470" name="Google Shape;470;p24"/>
          <p:cNvSpPr txBox="1"/>
          <p:nvPr/>
        </p:nvSpPr>
        <p:spPr>
          <a:xfrm>
            <a:off x="640080" y="1234440"/>
            <a:ext cx="5577840" cy="24612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MX" sz="1250" u="none" cap="none" strike="noStrike">
                <a:solidFill>
                  <a:srgbClr val="664092"/>
                </a:solidFill>
                <a:latin typeface="Arial"/>
                <a:ea typeface="Arial"/>
                <a:cs typeface="Arial"/>
                <a:sym typeface="Arial"/>
              </a:rPr>
              <a:t>2. Herramientas vs. lógica ágil</a:t>
            </a:r>
            <a:endParaRPr/>
          </a:p>
        </p:txBody>
      </p:sp>
      <p:sp>
        <p:nvSpPr>
          <p:cNvPr id="471" name="Google Shape;471;p24"/>
          <p:cNvSpPr/>
          <p:nvPr/>
        </p:nvSpPr>
        <p:spPr>
          <a:xfrm>
            <a:off x="640080" y="1553718"/>
            <a:ext cx="2616705" cy="2121713"/>
          </a:xfrm>
          <a:prstGeom prst="roundRect">
            <a:avLst>
              <a:gd fmla="val 4620" name="adj"/>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2" name="Google Shape;472;p24"/>
          <p:cNvSpPr/>
          <p:nvPr/>
        </p:nvSpPr>
        <p:spPr>
          <a:xfrm>
            <a:off x="640080" y="1553718"/>
            <a:ext cx="2616705" cy="618744"/>
          </a:xfrm>
          <a:prstGeom prst="roundRect">
            <a:avLst>
              <a:gd fmla="val 14516" name="adj"/>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3" name="Google Shape;473;p24"/>
          <p:cNvSpPr/>
          <p:nvPr/>
        </p:nvSpPr>
        <p:spPr>
          <a:xfrm>
            <a:off x="763782" y="1645158"/>
            <a:ext cx="384048" cy="384048"/>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4" name="Google Shape;474;p24"/>
          <p:cNvSpPr/>
          <p:nvPr/>
        </p:nvSpPr>
        <p:spPr>
          <a:xfrm>
            <a:off x="848273" y="1729648"/>
            <a:ext cx="215067" cy="215067"/>
          </a:xfrm>
          <a:custGeom>
            <a:rect b="b" l="l" r="r" t="t"/>
            <a:pathLst>
              <a:path extrusionOk="0" h="256000" w="256000">
                <a:moveTo>
                  <a:pt x="226760" y="69000"/>
                </a:moveTo>
                <a:cubicBezTo>
                  <a:pt x="226275" y="67801"/>
                  <a:pt x="225506" y="66737"/>
                  <a:pt x="224519" y="65900"/>
                </a:cubicBezTo>
                <a:cubicBezTo>
                  <a:pt x="223532" y="65063"/>
                  <a:pt x="222357" y="64478"/>
                  <a:pt x="221095" y="64194"/>
                </a:cubicBezTo>
                <a:cubicBezTo>
                  <a:pt x="219832" y="63911"/>
                  <a:pt x="218520" y="63939"/>
                  <a:pt x="217270" y="64274"/>
                </a:cubicBezTo>
                <a:cubicBezTo>
                  <a:pt x="216021" y="64609"/>
                  <a:pt x="214871" y="65243"/>
                  <a:pt x="213920" y="66120"/>
                </a:cubicBezTo>
                <a:lnTo>
                  <a:pt x="173620" y="103310"/>
                </a:lnTo>
                <a:lnTo>
                  <a:pt x="156390" y="99610"/>
                </a:lnTo>
                <a:lnTo>
                  <a:pt x="152690" y="82380"/>
                </a:lnTo>
                <a:lnTo>
                  <a:pt x="189880" y="42080"/>
                </a:lnTo>
                <a:cubicBezTo>
                  <a:pt x="190757" y="41129"/>
                  <a:pt x="191391" y="39979"/>
                  <a:pt x="191726" y="38730"/>
                </a:cubicBezTo>
                <a:cubicBezTo>
                  <a:pt x="192061" y="37480"/>
                  <a:pt x="192089" y="36168"/>
                  <a:pt x="191806" y="34905"/>
                </a:cubicBezTo>
                <a:cubicBezTo>
                  <a:pt x="191522" y="33643"/>
                  <a:pt x="190937" y="32468"/>
                  <a:pt x="190100" y="31481"/>
                </a:cubicBezTo>
                <a:cubicBezTo>
                  <a:pt x="189263" y="30494"/>
                  <a:pt x="188199" y="29725"/>
                  <a:pt x="187000" y="29240"/>
                </a:cubicBezTo>
                <a:cubicBezTo>
                  <a:pt x="176070" y="24819"/>
                  <a:pt x="164219" y="23149"/>
                  <a:pt x="152493" y="24378"/>
                </a:cubicBezTo>
                <a:cubicBezTo>
                  <a:pt x="140767" y="25607"/>
                  <a:pt x="129520" y="29698"/>
                  <a:pt x="119745" y="36291"/>
                </a:cubicBezTo>
                <a:cubicBezTo>
                  <a:pt x="109969" y="42883"/>
                  <a:pt x="101961" y="51776"/>
                  <a:pt x="96426" y="62187"/>
                </a:cubicBezTo>
                <a:cubicBezTo>
                  <a:pt x="90892" y="72597"/>
                  <a:pt x="87998" y="84210"/>
                  <a:pt x="88000" y="96000"/>
                </a:cubicBezTo>
                <a:cubicBezTo>
                  <a:pt x="87987" y="105957"/>
                  <a:pt x="90030" y="115809"/>
                  <a:pt x="94000" y="124940"/>
                </a:cubicBezTo>
                <a:lnTo>
                  <a:pt x="33790" y="177000"/>
                </a:lnTo>
                <a:cubicBezTo>
                  <a:pt x="33640" y="177120"/>
                  <a:pt x="33500" y="177260"/>
                  <a:pt x="33360" y="177390"/>
                </a:cubicBezTo>
                <a:cubicBezTo>
                  <a:pt x="29388" y="181362"/>
                  <a:pt x="26531" y="186311"/>
                  <a:pt x="25077" y="191737"/>
                </a:cubicBezTo>
                <a:cubicBezTo>
                  <a:pt x="23623" y="197163"/>
                  <a:pt x="23623" y="202877"/>
                  <a:pt x="25077" y="208303"/>
                </a:cubicBezTo>
                <a:cubicBezTo>
                  <a:pt x="26531" y="213729"/>
                  <a:pt x="29388" y="218678"/>
                  <a:pt x="33360" y="222650"/>
                </a:cubicBezTo>
                <a:cubicBezTo>
                  <a:pt x="37332" y="226622"/>
                  <a:pt x="42281" y="229479"/>
                  <a:pt x="47707" y="230933"/>
                </a:cubicBezTo>
                <a:cubicBezTo>
                  <a:pt x="53133" y="232387"/>
                  <a:pt x="58847" y="232387"/>
                  <a:pt x="64273" y="230933"/>
                </a:cubicBezTo>
                <a:cubicBezTo>
                  <a:pt x="69699" y="229479"/>
                  <a:pt x="74648" y="226622"/>
                  <a:pt x="78620" y="222650"/>
                </a:cubicBezTo>
                <a:cubicBezTo>
                  <a:pt x="78750" y="222520"/>
                  <a:pt x="78890" y="222370"/>
                  <a:pt x="79010" y="222230"/>
                </a:cubicBezTo>
                <a:lnTo>
                  <a:pt x="131060" y="162000"/>
                </a:lnTo>
                <a:cubicBezTo>
                  <a:pt x="142024" y="166813"/>
                  <a:pt x="154017" y="168815"/>
                  <a:pt x="165949" y="167826"/>
                </a:cubicBezTo>
                <a:cubicBezTo>
                  <a:pt x="177882" y="166837"/>
                  <a:pt x="189381" y="162886"/>
                  <a:pt x="199402" y="156334"/>
                </a:cubicBezTo>
                <a:cubicBezTo>
                  <a:pt x="209424" y="149781"/>
                  <a:pt x="217654" y="140831"/>
                  <a:pt x="223346" y="130297"/>
                </a:cubicBezTo>
                <a:cubicBezTo>
                  <a:pt x="229037" y="119763"/>
                  <a:pt x="232012" y="107973"/>
                  <a:pt x="232000" y="96000"/>
                </a:cubicBezTo>
                <a:cubicBezTo>
                  <a:pt x="232016" y="86746"/>
                  <a:pt x="230236" y="77576"/>
                  <a:pt x="226760" y="69000"/>
                </a:cubicBezTo>
                <a:close/>
                <a:moveTo>
                  <a:pt x="160000" y="152000"/>
                </a:moveTo>
                <a:cubicBezTo>
                  <a:pt x="150531" y="151987"/>
                  <a:pt x="141218" y="149579"/>
                  <a:pt x="132930" y="145000"/>
                </a:cubicBezTo>
                <a:cubicBezTo>
                  <a:pt x="131865" y="144412"/>
                  <a:pt x="130680" y="144074"/>
                  <a:pt x="129466" y="144013"/>
                </a:cubicBezTo>
                <a:cubicBezTo>
                  <a:pt x="128251" y="143951"/>
                  <a:pt x="127038" y="144168"/>
                  <a:pt x="125919" y="144645"/>
                </a:cubicBezTo>
                <a:cubicBezTo>
                  <a:pt x="124801" y="145123"/>
                  <a:pt x="123806" y="145850"/>
                  <a:pt x="123010" y="146770"/>
                </a:cubicBezTo>
                <a:lnTo>
                  <a:pt x="67110" y="211510"/>
                </a:lnTo>
                <a:cubicBezTo>
                  <a:pt x="65108" y="213412"/>
                  <a:pt x="62646" y="214764"/>
                  <a:pt x="59966" y="215434"/>
                </a:cubicBezTo>
                <a:cubicBezTo>
                  <a:pt x="57287" y="216103"/>
                  <a:pt x="54479" y="216067"/>
                  <a:pt x="51817" y="215329"/>
                </a:cubicBezTo>
                <a:cubicBezTo>
                  <a:pt x="49155" y="214592"/>
                  <a:pt x="46729" y="213177"/>
                  <a:pt x="44776" y="211224"/>
                </a:cubicBezTo>
                <a:cubicBezTo>
                  <a:pt x="42823" y="209271"/>
                  <a:pt x="41408" y="206845"/>
                  <a:pt x="40671" y="204183"/>
                </a:cubicBezTo>
                <a:cubicBezTo>
                  <a:pt x="39933" y="201521"/>
                  <a:pt x="39897" y="198713"/>
                  <a:pt x="40566" y="196034"/>
                </a:cubicBezTo>
                <a:cubicBezTo>
                  <a:pt x="41236" y="193354"/>
                  <a:pt x="42588" y="190892"/>
                  <a:pt x="44490" y="188890"/>
                </a:cubicBezTo>
                <a:lnTo>
                  <a:pt x="109180" y="133000"/>
                </a:lnTo>
                <a:cubicBezTo>
                  <a:pt x="110102" y="132204"/>
                  <a:pt x="110830" y="131208"/>
                  <a:pt x="111308" y="130088"/>
                </a:cubicBezTo>
                <a:cubicBezTo>
                  <a:pt x="111786" y="128968"/>
                  <a:pt x="112003" y="127754"/>
                  <a:pt x="111941" y="126538"/>
                </a:cubicBezTo>
                <a:cubicBezTo>
                  <a:pt x="111879" y="125322"/>
                  <a:pt x="111540" y="124135"/>
                  <a:pt x="110950" y="123070"/>
                </a:cubicBezTo>
                <a:cubicBezTo>
                  <a:pt x="106880" y="115709"/>
                  <a:pt x="104520" y="107525"/>
                  <a:pt x="104047" y="99127"/>
                </a:cubicBezTo>
                <a:cubicBezTo>
                  <a:pt x="103573" y="90729"/>
                  <a:pt x="104998" y="82331"/>
                  <a:pt x="108214" y="74559"/>
                </a:cubicBezTo>
                <a:cubicBezTo>
                  <a:pt x="111431" y="66787"/>
                  <a:pt x="116357" y="59839"/>
                  <a:pt x="122627" y="54232"/>
                </a:cubicBezTo>
                <a:cubicBezTo>
                  <a:pt x="128897" y="48624"/>
                  <a:pt x="136350" y="44501"/>
                  <a:pt x="144431" y="42169"/>
                </a:cubicBezTo>
                <a:cubicBezTo>
                  <a:pt x="152513" y="39837"/>
                  <a:pt x="161017" y="39355"/>
                  <a:pt x="169310" y="40760"/>
                </a:cubicBezTo>
                <a:lnTo>
                  <a:pt x="138110" y="74570"/>
                </a:lnTo>
                <a:cubicBezTo>
                  <a:pt x="137242" y="75512"/>
                  <a:pt x="136613" y="76648"/>
                  <a:pt x="136275" y="77884"/>
                </a:cubicBezTo>
                <a:cubicBezTo>
                  <a:pt x="135937" y="79119"/>
                  <a:pt x="135901" y="80418"/>
                  <a:pt x="136170" y="81670"/>
                </a:cubicBezTo>
                <a:lnTo>
                  <a:pt x="141830" y="108000"/>
                </a:lnTo>
                <a:cubicBezTo>
                  <a:pt x="142045" y="109000"/>
                  <a:pt x="142450" y="109950"/>
                  <a:pt x="143022" y="110797"/>
                </a:cubicBezTo>
                <a:cubicBezTo>
                  <a:pt x="143595" y="111645"/>
                  <a:pt x="144325" y="112375"/>
                  <a:pt x="145173" y="112948"/>
                </a:cubicBezTo>
                <a:cubicBezTo>
                  <a:pt x="146020" y="113520"/>
                  <a:pt x="146970" y="113925"/>
                  <a:pt x="147970" y="114140"/>
                </a:cubicBezTo>
                <a:lnTo>
                  <a:pt x="174320" y="119800"/>
                </a:lnTo>
                <a:cubicBezTo>
                  <a:pt x="175572" y="120069"/>
                  <a:pt x="176871" y="120033"/>
                  <a:pt x="178106" y="119695"/>
                </a:cubicBezTo>
                <a:cubicBezTo>
                  <a:pt x="179342" y="119357"/>
                  <a:pt x="180478" y="118728"/>
                  <a:pt x="181420" y="117860"/>
                </a:cubicBezTo>
                <a:lnTo>
                  <a:pt x="215230" y="86660"/>
                </a:lnTo>
                <a:cubicBezTo>
                  <a:pt x="216578" y="94690"/>
                  <a:pt x="216160" y="102918"/>
                  <a:pt x="214006" y="110770"/>
                </a:cubicBezTo>
                <a:cubicBezTo>
                  <a:pt x="211853" y="118622"/>
                  <a:pt x="208014" y="125911"/>
                  <a:pt x="202758" y="132130"/>
                </a:cubicBezTo>
                <a:cubicBezTo>
                  <a:pt x="197501" y="138348"/>
                  <a:pt x="190953" y="143347"/>
                  <a:pt x="183569" y="146778"/>
                </a:cubicBezTo>
                <a:cubicBezTo>
                  <a:pt x="176186" y="150210"/>
                  <a:pt x="168142" y="151992"/>
                  <a:pt x="160000" y="152000"/>
                </a:cubicBezTo>
                <a:close/>
              </a:path>
            </a:pathLst>
          </a:custGeom>
          <a:solidFill>
            <a:srgbClr val="66409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24"/>
          <p:cNvSpPr txBox="1"/>
          <p:nvPr/>
        </p:nvSpPr>
        <p:spPr>
          <a:xfrm>
            <a:off x="1233263" y="1626870"/>
            <a:ext cx="1946981" cy="420624"/>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MX" sz="1000" u="none" cap="none" strike="noStrike">
                <a:solidFill>
                  <a:srgbClr val="FFFFFF"/>
                </a:solidFill>
                <a:latin typeface="Arial"/>
                <a:ea typeface="Arial"/>
                <a:cs typeface="Arial"/>
                <a:sym typeface="Arial"/>
              </a:rPr>
              <a:t>Usar herramientas ágiles: la forma, lo instrumental</a:t>
            </a:r>
            <a:endParaRPr/>
          </a:p>
        </p:txBody>
      </p:sp>
      <p:sp>
        <p:nvSpPr>
          <p:cNvPr id="476" name="Google Shape;476;p24"/>
          <p:cNvSpPr/>
          <p:nvPr/>
        </p:nvSpPr>
        <p:spPr>
          <a:xfrm>
            <a:off x="754889" y="2318766"/>
            <a:ext cx="2387085" cy="391668"/>
          </a:xfrm>
          <a:prstGeom prst="roundRect">
            <a:avLst>
              <a:gd fmla="val 23346"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7" name="Google Shape;477;p24"/>
          <p:cNvSpPr/>
          <p:nvPr/>
        </p:nvSpPr>
        <p:spPr>
          <a:xfrm>
            <a:off x="856069" y="2395728"/>
            <a:ext cx="237744" cy="237744"/>
          </a:xfrm>
          <a:custGeom>
            <a:rect b="b" l="l" r="r" t="t"/>
            <a:pathLst>
              <a:path extrusionOk="0" h="256000" w="256000">
                <a:moveTo>
                  <a:pt x="216000" y="48000"/>
                </a:moveTo>
                <a:lnTo>
                  <a:pt x="40000" y="48000"/>
                </a:lnTo>
                <a:cubicBezTo>
                  <a:pt x="38596" y="48000"/>
                  <a:pt x="37216" y="48370"/>
                  <a:pt x="36000" y="49072"/>
                </a:cubicBezTo>
                <a:cubicBezTo>
                  <a:pt x="34784" y="49774"/>
                  <a:pt x="33774" y="50784"/>
                  <a:pt x="33072" y="52000"/>
                </a:cubicBezTo>
                <a:cubicBezTo>
                  <a:pt x="32370" y="53216"/>
                  <a:pt x="32000" y="54596"/>
                  <a:pt x="32000" y="56000"/>
                </a:cubicBezTo>
                <a:lnTo>
                  <a:pt x="32000" y="208000"/>
                </a:lnTo>
                <a:cubicBezTo>
                  <a:pt x="32000" y="210808"/>
                  <a:pt x="32739" y="213568"/>
                  <a:pt x="34144" y="216000"/>
                </a:cubicBezTo>
                <a:cubicBezTo>
                  <a:pt x="35548" y="218432"/>
                  <a:pt x="37568" y="220452"/>
                  <a:pt x="40000" y="221856"/>
                </a:cubicBezTo>
                <a:cubicBezTo>
                  <a:pt x="42432" y="223261"/>
                  <a:pt x="45192" y="224000"/>
                  <a:pt x="48000" y="224000"/>
                </a:cubicBezTo>
                <a:lnTo>
                  <a:pt x="88000" y="224000"/>
                </a:lnTo>
                <a:cubicBezTo>
                  <a:pt x="90808" y="224000"/>
                  <a:pt x="93568" y="223261"/>
                  <a:pt x="96000" y="221856"/>
                </a:cubicBezTo>
                <a:cubicBezTo>
                  <a:pt x="98432" y="220452"/>
                  <a:pt x="100452" y="218432"/>
                  <a:pt x="101856" y="216000"/>
                </a:cubicBezTo>
                <a:cubicBezTo>
                  <a:pt x="103261" y="213568"/>
                  <a:pt x="104000" y="210808"/>
                  <a:pt x="104000" y="208000"/>
                </a:cubicBezTo>
                <a:lnTo>
                  <a:pt x="104000" y="160000"/>
                </a:lnTo>
                <a:lnTo>
                  <a:pt x="152000" y="160000"/>
                </a:lnTo>
                <a:lnTo>
                  <a:pt x="152000" y="176000"/>
                </a:lnTo>
                <a:cubicBezTo>
                  <a:pt x="152000" y="178808"/>
                  <a:pt x="152739" y="181568"/>
                  <a:pt x="154144" y="184000"/>
                </a:cubicBezTo>
                <a:cubicBezTo>
                  <a:pt x="155548" y="186432"/>
                  <a:pt x="157568" y="188452"/>
                  <a:pt x="160000" y="189856"/>
                </a:cubicBezTo>
                <a:cubicBezTo>
                  <a:pt x="162432" y="191261"/>
                  <a:pt x="165192" y="192000"/>
                  <a:pt x="168000" y="192000"/>
                </a:cubicBezTo>
                <a:lnTo>
                  <a:pt x="208000" y="192000"/>
                </a:lnTo>
                <a:cubicBezTo>
                  <a:pt x="210808" y="192000"/>
                  <a:pt x="213568" y="191261"/>
                  <a:pt x="216000" y="189856"/>
                </a:cubicBezTo>
                <a:cubicBezTo>
                  <a:pt x="218432" y="188452"/>
                  <a:pt x="220452" y="186432"/>
                  <a:pt x="221856" y="184000"/>
                </a:cubicBezTo>
                <a:cubicBezTo>
                  <a:pt x="223261" y="181568"/>
                  <a:pt x="224000" y="178808"/>
                  <a:pt x="224000" y="176000"/>
                </a:cubicBezTo>
                <a:lnTo>
                  <a:pt x="224000" y="56000"/>
                </a:lnTo>
                <a:cubicBezTo>
                  <a:pt x="224000" y="54596"/>
                  <a:pt x="223630" y="53216"/>
                  <a:pt x="222928" y="52000"/>
                </a:cubicBezTo>
                <a:cubicBezTo>
                  <a:pt x="222226" y="50784"/>
                  <a:pt x="221216" y="49774"/>
                  <a:pt x="220000" y="49072"/>
                </a:cubicBezTo>
                <a:cubicBezTo>
                  <a:pt x="218784" y="48370"/>
                  <a:pt x="217404" y="48000"/>
                  <a:pt x="216000" y="48000"/>
                </a:cubicBezTo>
                <a:close/>
                <a:moveTo>
                  <a:pt x="88000" y="208000"/>
                </a:moveTo>
                <a:lnTo>
                  <a:pt x="48000" y="208000"/>
                </a:lnTo>
                <a:lnTo>
                  <a:pt x="48000" y="128000"/>
                </a:lnTo>
                <a:lnTo>
                  <a:pt x="88000" y="128000"/>
                </a:lnTo>
                <a:close/>
                <a:moveTo>
                  <a:pt x="88000" y="112000"/>
                </a:moveTo>
                <a:lnTo>
                  <a:pt x="48000" y="112000"/>
                </a:lnTo>
                <a:lnTo>
                  <a:pt x="48000" y="64000"/>
                </a:lnTo>
                <a:lnTo>
                  <a:pt x="88000" y="64000"/>
                </a:lnTo>
                <a:close/>
                <a:moveTo>
                  <a:pt x="152000" y="144000"/>
                </a:moveTo>
                <a:lnTo>
                  <a:pt x="104000" y="144000"/>
                </a:lnTo>
                <a:lnTo>
                  <a:pt x="104000" y="64000"/>
                </a:lnTo>
                <a:lnTo>
                  <a:pt x="152000" y="64000"/>
                </a:lnTo>
                <a:close/>
                <a:moveTo>
                  <a:pt x="208000" y="176000"/>
                </a:moveTo>
                <a:lnTo>
                  <a:pt x="168000" y="176000"/>
                </a:lnTo>
                <a:lnTo>
                  <a:pt x="168000" y="128000"/>
                </a:lnTo>
                <a:lnTo>
                  <a:pt x="208000" y="128000"/>
                </a:lnTo>
                <a:close/>
                <a:moveTo>
                  <a:pt x="208000" y="112000"/>
                </a:moveTo>
                <a:lnTo>
                  <a:pt x="168000" y="112000"/>
                </a:lnTo>
                <a:lnTo>
                  <a:pt x="168000" y="64000"/>
                </a:lnTo>
                <a:lnTo>
                  <a:pt x="208000" y="64000"/>
                </a:lnTo>
                <a:close/>
              </a:path>
            </a:pathLst>
          </a:custGeom>
          <a:solidFill>
            <a:srgbClr val="66409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8" name="Google Shape;478;p24"/>
          <p:cNvSpPr txBox="1"/>
          <p:nvPr/>
        </p:nvSpPr>
        <p:spPr>
          <a:xfrm>
            <a:off x="1194993" y="2318766"/>
            <a:ext cx="1899144" cy="391668"/>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0" i="0" lang="es-MX" sz="950" u="none" cap="none" strike="noStrike">
                <a:solidFill>
                  <a:srgbClr val="2E2E3A"/>
                </a:solidFill>
                <a:latin typeface="Arial"/>
                <a:ea typeface="Arial"/>
                <a:cs typeface="Arial"/>
                <a:sym typeface="Arial"/>
              </a:rPr>
              <a:t>Tableros, ciclos, reuniones y roles.</a:t>
            </a:r>
            <a:endParaRPr/>
          </a:p>
        </p:txBody>
      </p:sp>
      <p:sp>
        <p:nvSpPr>
          <p:cNvPr id="479" name="Google Shape;479;p24"/>
          <p:cNvSpPr txBox="1"/>
          <p:nvPr/>
        </p:nvSpPr>
        <p:spPr>
          <a:xfrm>
            <a:off x="879266" y="2811018"/>
            <a:ext cx="2329681" cy="786384"/>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1" lang="es-MX" sz="950" u="none" cap="none" strike="noStrike">
                <a:solidFill>
                  <a:srgbClr val="664092"/>
                </a:solidFill>
                <a:latin typeface="Arial"/>
                <a:ea typeface="Arial"/>
                <a:cs typeface="Arial"/>
                <a:sym typeface="Arial"/>
              </a:rPr>
              <a:t>Son prácticas que apoyan la organización del trabajo, pero no garantizan por sí solas la agilidad.</a:t>
            </a:r>
            <a:endParaRPr/>
          </a:p>
        </p:txBody>
      </p:sp>
      <p:sp>
        <p:nvSpPr>
          <p:cNvPr id="480" name="Google Shape;480;p24"/>
          <p:cNvSpPr/>
          <p:nvPr/>
        </p:nvSpPr>
        <p:spPr>
          <a:xfrm>
            <a:off x="3601214" y="1553718"/>
            <a:ext cx="2616705" cy="2121713"/>
          </a:xfrm>
          <a:prstGeom prst="roundRect">
            <a:avLst>
              <a:gd fmla="val 4620" name="adj"/>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1" name="Google Shape;481;p24"/>
          <p:cNvSpPr/>
          <p:nvPr/>
        </p:nvSpPr>
        <p:spPr>
          <a:xfrm>
            <a:off x="3601214" y="1553718"/>
            <a:ext cx="2616705" cy="618744"/>
          </a:xfrm>
          <a:prstGeom prst="roundRect">
            <a:avLst>
              <a:gd fmla="val 14516" name="adj"/>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2" name="Google Shape;482;p24"/>
          <p:cNvSpPr/>
          <p:nvPr/>
        </p:nvSpPr>
        <p:spPr>
          <a:xfrm>
            <a:off x="3724917" y="1645158"/>
            <a:ext cx="384048" cy="384048"/>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3" name="Google Shape;483;p24"/>
          <p:cNvSpPr/>
          <p:nvPr/>
        </p:nvSpPr>
        <p:spPr>
          <a:xfrm>
            <a:off x="3809408" y="1729648"/>
            <a:ext cx="215067" cy="215067"/>
          </a:xfrm>
          <a:custGeom>
            <a:rect b="b" l="l" r="r" t="t"/>
            <a:pathLst>
              <a:path extrusionOk="0" h="256000" w="256000">
                <a:moveTo>
                  <a:pt x="248000" y="124000"/>
                </a:moveTo>
                <a:cubicBezTo>
                  <a:pt x="247993" y="116962"/>
                  <a:pt x="246662" y="109987"/>
                  <a:pt x="244076" y="103441"/>
                </a:cubicBezTo>
                <a:cubicBezTo>
                  <a:pt x="241490" y="96895"/>
                  <a:pt x="237695" y="90894"/>
                  <a:pt x="232890" y="85751"/>
                </a:cubicBezTo>
                <a:cubicBezTo>
                  <a:pt x="228085" y="80608"/>
                  <a:pt x="222355" y="76414"/>
                  <a:pt x="216000" y="73390"/>
                </a:cubicBezTo>
                <a:lnTo>
                  <a:pt x="216000" y="72000"/>
                </a:lnTo>
                <a:cubicBezTo>
                  <a:pt x="215993" y="63780"/>
                  <a:pt x="213874" y="55698"/>
                  <a:pt x="209847" y="48531"/>
                </a:cubicBezTo>
                <a:cubicBezTo>
                  <a:pt x="205821" y="41364"/>
                  <a:pt x="200020" y="35351"/>
                  <a:pt x="193003" y="31069"/>
                </a:cubicBezTo>
                <a:cubicBezTo>
                  <a:pt x="185986" y="26787"/>
                  <a:pt x="177985" y="24379"/>
                  <a:pt x="169771" y="24076"/>
                </a:cubicBezTo>
                <a:cubicBezTo>
                  <a:pt x="161556" y="23772"/>
                  <a:pt x="153399" y="25584"/>
                  <a:pt x="146086" y="29337"/>
                </a:cubicBezTo>
                <a:cubicBezTo>
                  <a:pt x="138772" y="33090"/>
                  <a:pt x="132544" y="38660"/>
                  <a:pt x="128000" y="45510"/>
                </a:cubicBezTo>
                <a:cubicBezTo>
                  <a:pt x="123456" y="38660"/>
                  <a:pt x="117228" y="33090"/>
                  <a:pt x="109914" y="29337"/>
                </a:cubicBezTo>
                <a:cubicBezTo>
                  <a:pt x="102601" y="25584"/>
                  <a:pt x="94444" y="23772"/>
                  <a:pt x="86229" y="24076"/>
                </a:cubicBezTo>
                <a:cubicBezTo>
                  <a:pt x="78015" y="24379"/>
                  <a:pt x="70014" y="26787"/>
                  <a:pt x="62997" y="31069"/>
                </a:cubicBezTo>
                <a:cubicBezTo>
                  <a:pt x="55980" y="35351"/>
                  <a:pt x="50179" y="41364"/>
                  <a:pt x="46153" y="48531"/>
                </a:cubicBezTo>
                <a:cubicBezTo>
                  <a:pt x="42126" y="55698"/>
                  <a:pt x="40007" y="63780"/>
                  <a:pt x="40000" y="72000"/>
                </a:cubicBezTo>
                <a:lnTo>
                  <a:pt x="40000" y="73390"/>
                </a:lnTo>
                <a:cubicBezTo>
                  <a:pt x="32357" y="77014"/>
                  <a:pt x="25634" y="82322"/>
                  <a:pt x="20337" y="88916"/>
                </a:cubicBezTo>
                <a:cubicBezTo>
                  <a:pt x="15039" y="95510"/>
                  <a:pt x="11304" y="103219"/>
                  <a:pt x="9412" y="111463"/>
                </a:cubicBezTo>
                <a:cubicBezTo>
                  <a:pt x="7520" y="119707"/>
                  <a:pt x="7520" y="128273"/>
                  <a:pt x="9412" y="136517"/>
                </a:cubicBezTo>
                <a:cubicBezTo>
                  <a:pt x="11304" y="144761"/>
                  <a:pt x="15039" y="152470"/>
                  <a:pt x="20337" y="159064"/>
                </a:cubicBezTo>
                <a:cubicBezTo>
                  <a:pt x="25634" y="165658"/>
                  <a:pt x="32357" y="170966"/>
                  <a:pt x="40000" y="174590"/>
                </a:cubicBezTo>
                <a:lnTo>
                  <a:pt x="40000" y="176000"/>
                </a:lnTo>
                <a:cubicBezTo>
                  <a:pt x="40007" y="184220"/>
                  <a:pt x="42126" y="192302"/>
                  <a:pt x="46153" y="199469"/>
                </a:cubicBezTo>
                <a:cubicBezTo>
                  <a:pt x="50179" y="206636"/>
                  <a:pt x="55980" y="212649"/>
                  <a:pt x="62997" y="216931"/>
                </a:cubicBezTo>
                <a:cubicBezTo>
                  <a:pt x="70014" y="221213"/>
                  <a:pt x="78015" y="223621"/>
                  <a:pt x="86229" y="223924"/>
                </a:cubicBezTo>
                <a:cubicBezTo>
                  <a:pt x="94444" y="224228"/>
                  <a:pt x="102601" y="222416"/>
                  <a:pt x="109914" y="218663"/>
                </a:cubicBezTo>
                <a:cubicBezTo>
                  <a:pt x="117228" y="214910"/>
                  <a:pt x="123456" y="209340"/>
                  <a:pt x="128000" y="202490"/>
                </a:cubicBezTo>
                <a:cubicBezTo>
                  <a:pt x="132544" y="209340"/>
                  <a:pt x="138772" y="214910"/>
                  <a:pt x="146086" y="218663"/>
                </a:cubicBezTo>
                <a:cubicBezTo>
                  <a:pt x="153399" y="222416"/>
                  <a:pt x="161556" y="224228"/>
                  <a:pt x="169771" y="223924"/>
                </a:cubicBezTo>
                <a:cubicBezTo>
                  <a:pt x="177985" y="223621"/>
                  <a:pt x="185986" y="221213"/>
                  <a:pt x="193003" y="216931"/>
                </a:cubicBezTo>
                <a:cubicBezTo>
                  <a:pt x="200020" y="212649"/>
                  <a:pt x="205821" y="206636"/>
                  <a:pt x="209847" y="199469"/>
                </a:cubicBezTo>
                <a:cubicBezTo>
                  <a:pt x="213874" y="192302"/>
                  <a:pt x="215993" y="184220"/>
                  <a:pt x="216000" y="176000"/>
                </a:cubicBezTo>
                <a:lnTo>
                  <a:pt x="216000" y="174590"/>
                </a:lnTo>
                <a:cubicBezTo>
                  <a:pt x="222354" y="171568"/>
                  <a:pt x="228084" y="167377"/>
                  <a:pt x="232888" y="162236"/>
                </a:cubicBezTo>
                <a:cubicBezTo>
                  <a:pt x="237693" y="157096"/>
                  <a:pt x="241488" y="151097"/>
                  <a:pt x="244074" y="144553"/>
                </a:cubicBezTo>
                <a:cubicBezTo>
                  <a:pt x="246660" y="138009"/>
                  <a:pt x="247992" y="131036"/>
                  <a:pt x="248000" y="124000"/>
                </a:cubicBezTo>
                <a:close/>
                <a:moveTo>
                  <a:pt x="88000" y="208000"/>
                </a:moveTo>
                <a:cubicBezTo>
                  <a:pt x="82773" y="207999"/>
                  <a:pt x="77625" y="206718"/>
                  <a:pt x="73007" y="204268"/>
                </a:cubicBezTo>
                <a:cubicBezTo>
                  <a:pt x="68389" y="201818"/>
                  <a:pt x="64442" y="198274"/>
                  <a:pt x="61510" y="193946"/>
                </a:cubicBezTo>
                <a:cubicBezTo>
                  <a:pt x="58579" y="189618"/>
                  <a:pt x="56752" y="184637"/>
                  <a:pt x="56190" y="179440"/>
                </a:cubicBezTo>
                <a:cubicBezTo>
                  <a:pt x="58777" y="179809"/>
                  <a:pt x="61387" y="179996"/>
                  <a:pt x="64000" y="180000"/>
                </a:cubicBezTo>
                <a:lnTo>
                  <a:pt x="72000" y="180000"/>
                </a:lnTo>
                <a:cubicBezTo>
                  <a:pt x="73404" y="180000"/>
                  <a:pt x="74784" y="179630"/>
                  <a:pt x="76000" y="178928"/>
                </a:cubicBezTo>
                <a:cubicBezTo>
                  <a:pt x="77216" y="178226"/>
                  <a:pt x="78226" y="177216"/>
                  <a:pt x="78928" y="176000"/>
                </a:cubicBezTo>
                <a:cubicBezTo>
                  <a:pt x="79630" y="174784"/>
                  <a:pt x="80000" y="173404"/>
                  <a:pt x="80000" y="172000"/>
                </a:cubicBezTo>
                <a:cubicBezTo>
                  <a:pt x="80000" y="170596"/>
                  <a:pt x="79630" y="169216"/>
                  <a:pt x="78928" y="168000"/>
                </a:cubicBezTo>
                <a:cubicBezTo>
                  <a:pt x="78226" y="166784"/>
                  <a:pt x="77216" y="165774"/>
                  <a:pt x="76000" y="165072"/>
                </a:cubicBezTo>
                <a:cubicBezTo>
                  <a:pt x="74784" y="164370"/>
                  <a:pt x="73404" y="164000"/>
                  <a:pt x="72000" y="164000"/>
                </a:cubicBezTo>
                <a:lnTo>
                  <a:pt x="64000" y="164000"/>
                </a:lnTo>
                <a:cubicBezTo>
                  <a:pt x="57740" y="164007"/>
                  <a:pt x="51565" y="162545"/>
                  <a:pt x="45973" y="159731"/>
                </a:cubicBezTo>
                <a:cubicBezTo>
                  <a:pt x="40381" y="156917"/>
                  <a:pt x="35527" y="152830"/>
                  <a:pt x="31803" y="147798"/>
                </a:cubicBezTo>
                <a:cubicBezTo>
                  <a:pt x="28079" y="142767"/>
                  <a:pt x="25587" y="136931"/>
                  <a:pt x="24529" y="130761"/>
                </a:cubicBezTo>
                <a:cubicBezTo>
                  <a:pt x="23471" y="124591"/>
                  <a:pt x="23876" y="118258"/>
                  <a:pt x="25711" y="112273"/>
                </a:cubicBezTo>
                <a:cubicBezTo>
                  <a:pt x="27546" y="106289"/>
                  <a:pt x="30761" y="100817"/>
                  <a:pt x="35096" y="96301"/>
                </a:cubicBezTo>
                <a:cubicBezTo>
                  <a:pt x="39430" y="91785"/>
                  <a:pt x="44765" y="88349"/>
                  <a:pt x="50670" y="86270"/>
                </a:cubicBezTo>
                <a:cubicBezTo>
                  <a:pt x="51705" y="85904"/>
                  <a:pt x="52653" y="85328"/>
                  <a:pt x="53455" y="84580"/>
                </a:cubicBezTo>
                <a:cubicBezTo>
                  <a:pt x="54258" y="83832"/>
                  <a:pt x="54898" y="82926"/>
                  <a:pt x="55336" y="81920"/>
                </a:cubicBezTo>
                <a:cubicBezTo>
                  <a:pt x="55774" y="80913"/>
                  <a:pt x="56000" y="79827"/>
                  <a:pt x="56000" y="78730"/>
                </a:cubicBezTo>
                <a:lnTo>
                  <a:pt x="56000" y="72000"/>
                </a:lnTo>
                <a:cubicBezTo>
                  <a:pt x="56000" y="66383"/>
                  <a:pt x="57479" y="60864"/>
                  <a:pt x="60287" y="56000"/>
                </a:cubicBezTo>
                <a:cubicBezTo>
                  <a:pt x="63096" y="51136"/>
                  <a:pt x="67136" y="47096"/>
                  <a:pt x="72000" y="44287"/>
                </a:cubicBezTo>
                <a:cubicBezTo>
                  <a:pt x="76864" y="41479"/>
                  <a:pt x="82383" y="40000"/>
                  <a:pt x="88000" y="40000"/>
                </a:cubicBezTo>
                <a:cubicBezTo>
                  <a:pt x="93617" y="40000"/>
                  <a:pt x="99136" y="41479"/>
                  <a:pt x="104000" y="44287"/>
                </a:cubicBezTo>
                <a:cubicBezTo>
                  <a:pt x="108864" y="47096"/>
                  <a:pt x="112904" y="51136"/>
                  <a:pt x="115713" y="56000"/>
                </a:cubicBezTo>
                <a:cubicBezTo>
                  <a:pt x="118521" y="60864"/>
                  <a:pt x="120000" y="66383"/>
                  <a:pt x="120000" y="72000"/>
                </a:cubicBezTo>
                <a:lnTo>
                  <a:pt x="120000" y="140260"/>
                </a:lnTo>
                <a:cubicBezTo>
                  <a:pt x="115645" y="136343"/>
                  <a:pt x="110606" y="133259"/>
                  <a:pt x="105136" y="131164"/>
                </a:cubicBezTo>
                <a:cubicBezTo>
                  <a:pt x="99666" y="129068"/>
                  <a:pt x="93858" y="127996"/>
                  <a:pt x="88000" y="128000"/>
                </a:cubicBezTo>
                <a:cubicBezTo>
                  <a:pt x="86596" y="128000"/>
                  <a:pt x="85216" y="128370"/>
                  <a:pt x="84000" y="129072"/>
                </a:cubicBezTo>
                <a:cubicBezTo>
                  <a:pt x="82784" y="129774"/>
                  <a:pt x="81774" y="130784"/>
                  <a:pt x="81072" y="132000"/>
                </a:cubicBezTo>
                <a:cubicBezTo>
                  <a:pt x="80370" y="133216"/>
                  <a:pt x="80000" y="134596"/>
                  <a:pt x="80000" y="136000"/>
                </a:cubicBezTo>
                <a:cubicBezTo>
                  <a:pt x="80000" y="137404"/>
                  <a:pt x="80370" y="138784"/>
                  <a:pt x="81072" y="140000"/>
                </a:cubicBezTo>
                <a:cubicBezTo>
                  <a:pt x="81774" y="141216"/>
                  <a:pt x="82784" y="142226"/>
                  <a:pt x="84000" y="142928"/>
                </a:cubicBezTo>
                <a:cubicBezTo>
                  <a:pt x="85216" y="143630"/>
                  <a:pt x="86596" y="144000"/>
                  <a:pt x="88000" y="144000"/>
                </a:cubicBezTo>
                <a:cubicBezTo>
                  <a:pt x="93617" y="144000"/>
                  <a:pt x="99136" y="145479"/>
                  <a:pt x="104000" y="148287"/>
                </a:cubicBezTo>
                <a:cubicBezTo>
                  <a:pt x="108864" y="151096"/>
                  <a:pt x="112904" y="155136"/>
                  <a:pt x="115713" y="160000"/>
                </a:cubicBezTo>
                <a:cubicBezTo>
                  <a:pt x="118521" y="164864"/>
                  <a:pt x="120000" y="170383"/>
                  <a:pt x="120000" y="176000"/>
                </a:cubicBezTo>
                <a:cubicBezTo>
                  <a:pt x="120000" y="181617"/>
                  <a:pt x="118521" y="187136"/>
                  <a:pt x="115713" y="192000"/>
                </a:cubicBezTo>
                <a:cubicBezTo>
                  <a:pt x="112904" y="196864"/>
                  <a:pt x="108864" y="200904"/>
                  <a:pt x="104000" y="203713"/>
                </a:cubicBezTo>
                <a:cubicBezTo>
                  <a:pt x="99136" y="206521"/>
                  <a:pt x="93617" y="208000"/>
                  <a:pt x="88000" y="208000"/>
                </a:cubicBezTo>
                <a:close/>
                <a:moveTo>
                  <a:pt x="192000" y="164000"/>
                </a:moveTo>
                <a:lnTo>
                  <a:pt x="184000" y="164000"/>
                </a:lnTo>
                <a:cubicBezTo>
                  <a:pt x="182596" y="164000"/>
                  <a:pt x="181216" y="164370"/>
                  <a:pt x="180000" y="165072"/>
                </a:cubicBezTo>
                <a:cubicBezTo>
                  <a:pt x="178784" y="165774"/>
                  <a:pt x="177774" y="166784"/>
                  <a:pt x="177072" y="168000"/>
                </a:cubicBezTo>
                <a:cubicBezTo>
                  <a:pt x="176370" y="169216"/>
                  <a:pt x="176000" y="170596"/>
                  <a:pt x="176000" y="172000"/>
                </a:cubicBezTo>
                <a:cubicBezTo>
                  <a:pt x="176000" y="173404"/>
                  <a:pt x="176370" y="174784"/>
                  <a:pt x="177072" y="176000"/>
                </a:cubicBezTo>
                <a:cubicBezTo>
                  <a:pt x="177774" y="177216"/>
                  <a:pt x="178784" y="178226"/>
                  <a:pt x="180000" y="178928"/>
                </a:cubicBezTo>
                <a:cubicBezTo>
                  <a:pt x="181216" y="179630"/>
                  <a:pt x="182596" y="180000"/>
                  <a:pt x="184000" y="180000"/>
                </a:cubicBezTo>
                <a:lnTo>
                  <a:pt x="192000" y="180000"/>
                </a:lnTo>
                <a:cubicBezTo>
                  <a:pt x="194613" y="179996"/>
                  <a:pt x="197223" y="179809"/>
                  <a:pt x="199810" y="179440"/>
                </a:cubicBezTo>
                <a:cubicBezTo>
                  <a:pt x="199220" y="184895"/>
                  <a:pt x="197237" y="190108"/>
                  <a:pt x="194052" y="194576"/>
                </a:cubicBezTo>
                <a:cubicBezTo>
                  <a:pt x="190866" y="199044"/>
                  <a:pt x="186585" y="202619"/>
                  <a:pt x="181620" y="204955"/>
                </a:cubicBezTo>
                <a:cubicBezTo>
                  <a:pt x="176655" y="207291"/>
                  <a:pt x="171171" y="208311"/>
                  <a:pt x="165698" y="207917"/>
                </a:cubicBezTo>
                <a:cubicBezTo>
                  <a:pt x="160225" y="207524"/>
                  <a:pt x="154944" y="205728"/>
                  <a:pt x="150365" y="202705"/>
                </a:cubicBezTo>
                <a:cubicBezTo>
                  <a:pt x="145786" y="199682"/>
                  <a:pt x="142060" y="195531"/>
                  <a:pt x="139548" y="190653"/>
                </a:cubicBezTo>
                <a:cubicBezTo>
                  <a:pt x="137035" y="185775"/>
                  <a:pt x="135819" y="180332"/>
                  <a:pt x="136016" y="174848"/>
                </a:cubicBezTo>
                <a:cubicBezTo>
                  <a:pt x="136214" y="169365"/>
                  <a:pt x="137818" y="164023"/>
                  <a:pt x="140675" y="159338"/>
                </a:cubicBezTo>
                <a:cubicBezTo>
                  <a:pt x="143532" y="154654"/>
                  <a:pt x="147547" y="150782"/>
                  <a:pt x="152332" y="148096"/>
                </a:cubicBezTo>
                <a:cubicBezTo>
                  <a:pt x="157117" y="145410"/>
                  <a:pt x="162513" y="143999"/>
                  <a:pt x="168000" y="144000"/>
                </a:cubicBezTo>
                <a:cubicBezTo>
                  <a:pt x="169404" y="144000"/>
                  <a:pt x="170784" y="143630"/>
                  <a:pt x="172000" y="142928"/>
                </a:cubicBezTo>
                <a:cubicBezTo>
                  <a:pt x="173216" y="142226"/>
                  <a:pt x="174226" y="141216"/>
                  <a:pt x="174928" y="140000"/>
                </a:cubicBezTo>
                <a:cubicBezTo>
                  <a:pt x="175630" y="138784"/>
                  <a:pt x="176000" y="137404"/>
                  <a:pt x="176000" y="136000"/>
                </a:cubicBezTo>
                <a:cubicBezTo>
                  <a:pt x="176000" y="134596"/>
                  <a:pt x="175630" y="133216"/>
                  <a:pt x="174928" y="132000"/>
                </a:cubicBezTo>
                <a:cubicBezTo>
                  <a:pt x="174226" y="130784"/>
                  <a:pt x="173216" y="129774"/>
                  <a:pt x="172000" y="129072"/>
                </a:cubicBezTo>
                <a:cubicBezTo>
                  <a:pt x="170784" y="128370"/>
                  <a:pt x="169404" y="128000"/>
                  <a:pt x="168000" y="128000"/>
                </a:cubicBezTo>
                <a:cubicBezTo>
                  <a:pt x="162142" y="127996"/>
                  <a:pt x="156334" y="129068"/>
                  <a:pt x="150864" y="131164"/>
                </a:cubicBezTo>
                <a:cubicBezTo>
                  <a:pt x="145394" y="133259"/>
                  <a:pt x="140355" y="136343"/>
                  <a:pt x="136000" y="140260"/>
                </a:cubicBezTo>
                <a:lnTo>
                  <a:pt x="136000" y="72000"/>
                </a:lnTo>
                <a:cubicBezTo>
                  <a:pt x="136000" y="66383"/>
                  <a:pt x="137479" y="60864"/>
                  <a:pt x="140287" y="56000"/>
                </a:cubicBezTo>
                <a:cubicBezTo>
                  <a:pt x="143096" y="51136"/>
                  <a:pt x="147136" y="47096"/>
                  <a:pt x="152000" y="44287"/>
                </a:cubicBezTo>
                <a:cubicBezTo>
                  <a:pt x="156864" y="41479"/>
                  <a:pt x="162383" y="40000"/>
                  <a:pt x="168000" y="40000"/>
                </a:cubicBezTo>
                <a:cubicBezTo>
                  <a:pt x="173617" y="40000"/>
                  <a:pt x="179136" y="41479"/>
                  <a:pt x="184000" y="44287"/>
                </a:cubicBezTo>
                <a:cubicBezTo>
                  <a:pt x="188864" y="47096"/>
                  <a:pt x="192904" y="51136"/>
                  <a:pt x="195713" y="56000"/>
                </a:cubicBezTo>
                <a:cubicBezTo>
                  <a:pt x="198521" y="60864"/>
                  <a:pt x="200000" y="66383"/>
                  <a:pt x="200000" y="72000"/>
                </a:cubicBezTo>
                <a:lnTo>
                  <a:pt x="200000" y="78730"/>
                </a:lnTo>
                <a:cubicBezTo>
                  <a:pt x="200000" y="79827"/>
                  <a:pt x="200226" y="80913"/>
                  <a:pt x="200664" y="81920"/>
                </a:cubicBezTo>
                <a:cubicBezTo>
                  <a:pt x="201102" y="82926"/>
                  <a:pt x="201742" y="83832"/>
                  <a:pt x="202545" y="84580"/>
                </a:cubicBezTo>
                <a:cubicBezTo>
                  <a:pt x="203347" y="85328"/>
                  <a:pt x="204295" y="85904"/>
                  <a:pt x="205330" y="86270"/>
                </a:cubicBezTo>
                <a:cubicBezTo>
                  <a:pt x="211235" y="88349"/>
                  <a:pt x="216570" y="91785"/>
                  <a:pt x="220904" y="96301"/>
                </a:cubicBezTo>
                <a:cubicBezTo>
                  <a:pt x="225239" y="100817"/>
                  <a:pt x="228454" y="106289"/>
                  <a:pt x="230289" y="112273"/>
                </a:cubicBezTo>
                <a:cubicBezTo>
                  <a:pt x="232124" y="118258"/>
                  <a:pt x="232529" y="124591"/>
                  <a:pt x="231471" y="130761"/>
                </a:cubicBezTo>
                <a:cubicBezTo>
                  <a:pt x="230413" y="136931"/>
                  <a:pt x="227921" y="142767"/>
                  <a:pt x="224197" y="147798"/>
                </a:cubicBezTo>
                <a:cubicBezTo>
                  <a:pt x="220473" y="152830"/>
                  <a:pt x="215619" y="156917"/>
                  <a:pt x="210027" y="159731"/>
                </a:cubicBezTo>
                <a:cubicBezTo>
                  <a:pt x="204435" y="162545"/>
                  <a:pt x="198260" y="164007"/>
                  <a:pt x="192000" y="164000"/>
                </a:cubicBezTo>
                <a:close/>
                <a:moveTo>
                  <a:pt x="208000" y="112000"/>
                </a:moveTo>
                <a:cubicBezTo>
                  <a:pt x="208000" y="113404"/>
                  <a:pt x="207630" y="114784"/>
                  <a:pt x="206928" y="116000"/>
                </a:cubicBezTo>
                <a:cubicBezTo>
                  <a:pt x="206226" y="117216"/>
                  <a:pt x="205216" y="118226"/>
                  <a:pt x="204000" y="118928"/>
                </a:cubicBezTo>
                <a:cubicBezTo>
                  <a:pt x="202784" y="119630"/>
                  <a:pt x="201404" y="120000"/>
                  <a:pt x="200000" y="120000"/>
                </a:cubicBezTo>
                <a:lnTo>
                  <a:pt x="196000" y="120000"/>
                </a:lnTo>
                <a:cubicBezTo>
                  <a:pt x="189681" y="120000"/>
                  <a:pt x="183472" y="118336"/>
                  <a:pt x="178000" y="115177"/>
                </a:cubicBezTo>
                <a:cubicBezTo>
                  <a:pt x="172528" y="112017"/>
                  <a:pt x="167983" y="107472"/>
                  <a:pt x="164823" y="102000"/>
                </a:cubicBezTo>
                <a:cubicBezTo>
                  <a:pt x="161664" y="96528"/>
                  <a:pt x="160000" y="90319"/>
                  <a:pt x="160000" y="84000"/>
                </a:cubicBezTo>
                <a:lnTo>
                  <a:pt x="160000" y="80000"/>
                </a:lnTo>
                <a:cubicBezTo>
                  <a:pt x="160000" y="78596"/>
                  <a:pt x="160370" y="77216"/>
                  <a:pt x="161072" y="76000"/>
                </a:cubicBezTo>
                <a:cubicBezTo>
                  <a:pt x="161774" y="74784"/>
                  <a:pt x="162784" y="73774"/>
                  <a:pt x="164000" y="73072"/>
                </a:cubicBezTo>
                <a:cubicBezTo>
                  <a:pt x="165216" y="72370"/>
                  <a:pt x="166596" y="72000"/>
                  <a:pt x="168000" y="72000"/>
                </a:cubicBezTo>
                <a:cubicBezTo>
                  <a:pt x="169404" y="72000"/>
                  <a:pt x="170784" y="72370"/>
                  <a:pt x="172000" y="73072"/>
                </a:cubicBezTo>
                <a:cubicBezTo>
                  <a:pt x="173216" y="73774"/>
                  <a:pt x="174226" y="74784"/>
                  <a:pt x="174928" y="76000"/>
                </a:cubicBezTo>
                <a:cubicBezTo>
                  <a:pt x="175630" y="77216"/>
                  <a:pt x="176000" y="78596"/>
                  <a:pt x="176000" y="80000"/>
                </a:cubicBezTo>
                <a:lnTo>
                  <a:pt x="176000" y="84000"/>
                </a:lnTo>
                <a:cubicBezTo>
                  <a:pt x="176000" y="87510"/>
                  <a:pt x="176924" y="90960"/>
                  <a:pt x="178679" y="94000"/>
                </a:cubicBezTo>
                <a:cubicBezTo>
                  <a:pt x="180435" y="97040"/>
                  <a:pt x="182960" y="99565"/>
                  <a:pt x="186000" y="101321"/>
                </a:cubicBezTo>
                <a:cubicBezTo>
                  <a:pt x="189040" y="103076"/>
                  <a:pt x="192490" y="104000"/>
                  <a:pt x="196000" y="104000"/>
                </a:cubicBezTo>
                <a:lnTo>
                  <a:pt x="200000" y="104000"/>
                </a:lnTo>
                <a:cubicBezTo>
                  <a:pt x="201404" y="104000"/>
                  <a:pt x="202784" y="104370"/>
                  <a:pt x="204000" y="105072"/>
                </a:cubicBezTo>
                <a:cubicBezTo>
                  <a:pt x="205216" y="105774"/>
                  <a:pt x="206226" y="106784"/>
                  <a:pt x="206928" y="108000"/>
                </a:cubicBezTo>
                <a:cubicBezTo>
                  <a:pt x="207630" y="109216"/>
                  <a:pt x="208000" y="110596"/>
                  <a:pt x="208000" y="112000"/>
                </a:cubicBezTo>
                <a:close/>
                <a:moveTo>
                  <a:pt x="60000" y="120000"/>
                </a:moveTo>
                <a:lnTo>
                  <a:pt x="56000" y="120000"/>
                </a:lnTo>
                <a:cubicBezTo>
                  <a:pt x="54596" y="120000"/>
                  <a:pt x="53216" y="119630"/>
                  <a:pt x="52000" y="118928"/>
                </a:cubicBezTo>
                <a:cubicBezTo>
                  <a:pt x="50784" y="118226"/>
                  <a:pt x="49774" y="117216"/>
                  <a:pt x="49072" y="116000"/>
                </a:cubicBezTo>
                <a:cubicBezTo>
                  <a:pt x="48370" y="114784"/>
                  <a:pt x="48000" y="113404"/>
                  <a:pt x="48000" y="112000"/>
                </a:cubicBezTo>
                <a:cubicBezTo>
                  <a:pt x="48000" y="110596"/>
                  <a:pt x="48370" y="109216"/>
                  <a:pt x="49072" y="108000"/>
                </a:cubicBezTo>
                <a:cubicBezTo>
                  <a:pt x="49774" y="106784"/>
                  <a:pt x="50784" y="105774"/>
                  <a:pt x="52000" y="105072"/>
                </a:cubicBezTo>
                <a:cubicBezTo>
                  <a:pt x="53216" y="104370"/>
                  <a:pt x="54596" y="104000"/>
                  <a:pt x="56000" y="104000"/>
                </a:cubicBezTo>
                <a:lnTo>
                  <a:pt x="60000" y="104000"/>
                </a:lnTo>
                <a:cubicBezTo>
                  <a:pt x="63510" y="104000"/>
                  <a:pt x="66960" y="103076"/>
                  <a:pt x="70000" y="101321"/>
                </a:cubicBezTo>
                <a:cubicBezTo>
                  <a:pt x="73040" y="99565"/>
                  <a:pt x="75565" y="97040"/>
                  <a:pt x="77321" y="94000"/>
                </a:cubicBezTo>
                <a:cubicBezTo>
                  <a:pt x="79076" y="90960"/>
                  <a:pt x="80000" y="87510"/>
                  <a:pt x="80000" y="84000"/>
                </a:cubicBezTo>
                <a:lnTo>
                  <a:pt x="80000" y="80000"/>
                </a:lnTo>
                <a:cubicBezTo>
                  <a:pt x="80000" y="78596"/>
                  <a:pt x="80370" y="77216"/>
                  <a:pt x="81072" y="76000"/>
                </a:cubicBezTo>
                <a:cubicBezTo>
                  <a:pt x="81774" y="74784"/>
                  <a:pt x="82784" y="73774"/>
                  <a:pt x="84000" y="73072"/>
                </a:cubicBezTo>
                <a:cubicBezTo>
                  <a:pt x="85216" y="72370"/>
                  <a:pt x="86596" y="72000"/>
                  <a:pt x="88000" y="72000"/>
                </a:cubicBezTo>
                <a:cubicBezTo>
                  <a:pt x="89404" y="72000"/>
                  <a:pt x="90784" y="72370"/>
                  <a:pt x="92000" y="73072"/>
                </a:cubicBezTo>
                <a:cubicBezTo>
                  <a:pt x="93216" y="73774"/>
                  <a:pt x="94226" y="74784"/>
                  <a:pt x="94928" y="76000"/>
                </a:cubicBezTo>
                <a:cubicBezTo>
                  <a:pt x="95630" y="77216"/>
                  <a:pt x="96000" y="78596"/>
                  <a:pt x="96000" y="80000"/>
                </a:cubicBezTo>
                <a:lnTo>
                  <a:pt x="96000" y="84000"/>
                </a:lnTo>
                <a:cubicBezTo>
                  <a:pt x="96000" y="90319"/>
                  <a:pt x="94336" y="96528"/>
                  <a:pt x="91177" y="102000"/>
                </a:cubicBezTo>
                <a:cubicBezTo>
                  <a:pt x="88017" y="107472"/>
                  <a:pt x="83472" y="112017"/>
                  <a:pt x="78000" y="115177"/>
                </a:cubicBezTo>
                <a:cubicBezTo>
                  <a:pt x="72528" y="118336"/>
                  <a:pt x="66319" y="120000"/>
                  <a:pt x="60000" y="120000"/>
                </a:cubicBezTo>
                <a:close/>
              </a:path>
            </a:pathLst>
          </a:custGeom>
          <a:solidFill>
            <a:srgbClr val="02479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4" name="Google Shape;484;p24"/>
          <p:cNvSpPr txBox="1"/>
          <p:nvPr/>
        </p:nvSpPr>
        <p:spPr>
          <a:xfrm>
            <a:off x="4194398" y="1626870"/>
            <a:ext cx="1946981" cy="420624"/>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MX" sz="1000" u="none" cap="none" strike="noStrike">
                <a:solidFill>
                  <a:srgbClr val="FFFFFF"/>
                </a:solidFill>
                <a:latin typeface="Arial"/>
                <a:ea typeface="Arial"/>
                <a:cs typeface="Arial"/>
                <a:sym typeface="Arial"/>
              </a:rPr>
              <a:t>Trabajar con lógica ágil: el sentido, la capacidad</a:t>
            </a:r>
            <a:endParaRPr/>
          </a:p>
        </p:txBody>
      </p:sp>
      <p:sp>
        <p:nvSpPr>
          <p:cNvPr id="485" name="Google Shape;485;p24"/>
          <p:cNvSpPr/>
          <p:nvPr/>
        </p:nvSpPr>
        <p:spPr>
          <a:xfrm>
            <a:off x="3716024" y="2318766"/>
            <a:ext cx="2387085" cy="391668"/>
          </a:xfrm>
          <a:prstGeom prst="roundRect">
            <a:avLst>
              <a:gd fmla="val 23346"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24"/>
          <p:cNvSpPr/>
          <p:nvPr/>
        </p:nvSpPr>
        <p:spPr>
          <a:xfrm>
            <a:off x="3817204" y="2395728"/>
            <a:ext cx="237744" cy="237744"/>
          </a:xfrm>
          <a:custGeom>
            <a:rect b="b" l="l" r="r" t="t"/>
            <a:pathLst>
              <a:path extrusionOk="0" h="256000" w="256000">
                <a:moveTo>
                  <a:pt x="176000" y="232000"/>
                </a:moveTo>
                <a:cubicBezTo>
                  <a:pt x="176000" y="233404"/>
                  <a:pt x="175630" y="234784"/>
                  <a:pt x="174928" y="236000"/>
                </a:cubicBezTo>
                <a:cubicBezTo>
                  <a:pt x="174226" y="237216"/>
                  <a:pt x="173216" y="238226"/>
                  <a:pt x="172000" y="238928"/>
                </a:cubicBezTo>
                <a:cubicBezTo>
                  <a:pt x="170784" y="239630"/>
                  <a:pt x="169404" y="240000"/>
                  <a:pt x="168000" y="240000"/>
                </a:cubicBezTo>
                <a:lnTo>
                  <a:pt x="88000" y="240000"/>
                </a:lnTo>
                <a:cubicBezTo>
                  <a:pt x="86596" y="240000"/>
                  <a:pt x="85216" y="239630"/>
                  <a:pt x="84000" y="238928"/>
                </a:cubicBezTo>
                <a:cubicBezTo>
                  <a:pt x="82784" y="238226"/>
                  <a:pt x="81774" y="237216"/>
                  <a:pt x="81072" y="236000"/>
                </a:cubicBezTo>
                <a:cubicBezTo>
                  <a:pt x="80370" y="234784"/>
                  <a:pt x="80000" y="233404"/>
                  <a:pt x="80000" y="232000"/>
                </a:cubicBezTo>
                <a:cubicBezTo>
                  <a:pt x="80000" y="230596"/>
                  <a:pt x="80370" y="229216"/>
                  <a:pt x="81072" y="228000"/>
                </a:cubicBezTo>
                <a:cubicBezTo>
                  <a:pt x="81774" y="226784"/>
                  <a:pt x="82784" y="225774"/>
                  <a:pt x="84000" y="225072"/>
                </a:cubicBezTo>
                <a:cubicBezTo>
                  <a:pt x="85216" y="224370"/>
                  <a:pt x="86596" y="224000"/>
                  <a:pt x="88000" y="224000"/>
                </a:cubicBezTo>
                <a:lnTo>
                  <a:pt x="168000" y="224000"/>
                </a:lnTo>
                <a:cubicBezTo>
                  <a:pt x="169404" y="224000"/>
                  <a:pt x="170784" y="224370"/>
                  <a:pt x="172000" y="225072"/>
                </a:cubicBezTo>
                <a:cubicBezTo>
                  <a:pt x="173216" y="225774"/>
                  <a:pt x="174226" y="226784"/>
                  <a:pt x="174928" y="228000"/>
                </a:cubicBezTo>
                <a:cubicBezTo>
                  <a:pt x="175630" y="229216"/>
                  <a:pt x="176000" y="230596"/>
                  <a:pt x="176000" y="232000"/>
                </a:cubicBezTo>
                <a:close/>
                <a:moveTo>
                  <a:pt x="216000" y="104000"/>
                </a:moveTo>
                <a:cubicBezTo>
                  <a:pt x="216034" y="117336"/>
                  <a:pt x="213021" y="130505"/>
                  <a:pt x="207192" y="142499"/>
                </a:cubicBezTo>
                <a:cubicBezTo>
                  <a:pt x="201362" y="154493"/>
                  <a:pt x="192868" y="164998"/>
                  <a:pt x="182360" y="173210"/>
                </a:cubicBezTo>
                <a:cubicBezTo>
                  <a:pt x="180395" y="174716"/>
                  <a:pt x="178801" y="176652"/>
                  <a:pt x="177698" y="178868"/>
                </a:cubicBezTo>
                <a:cubicBezTo>
                  <a:pt x="176596" y="181085"/>
                  <a:pt x="176015" y="183524"/>
                  <a:pt x="176000" y="186000"/>
                </a:cubicBezTo>
                <a:lnTo>
                  <a:pt x="176000" y="192000"/>
                </a:lnTo>
                <a:cubicBezTo>
                  <a:pt x="176000" y="194808"/>
                  <a:pt x="175261" y="197568"/>
                  <a:pt x="173856" y="200000"/>
                </a:cubicBezTo>
                <a:cubicBezTo>
                  <a:pt x="172452" y="202432"/>
                  <a:pt x="170432" y="204452"/>
                  <a:pt x="168000" y="205856"/>
                </a:cubicBezTo>
                <a:cubicBezTo>
                  <a:pt x="165568" y="207261"/>
                  <a:pt x="162808" y="208000"/>
                  <a:pt x="160000" y="208000"/>
                </a:cubicBezTo>
                <a:lnTo>
                  <a:pt x="96000" y="208000"/>
                </a:lnTo>
                <a:cubicBezTo>
                  <a:pt x="93192" y="208000"/>
                  <a:pt x="90432" y="207261"/>
                  <a:pt x="88000" y="205856"/>
                </a:cubicBezTo>
                <a:cubicBezTo>
                  <a:pt x="85568" y="204452"/>
                  <a:pt x="83548" y="202432"/>
                  <a:pt x="82144" y="200000"/>
                </a:cubicBezTo>
                <a:cubicBezTo>
                  <a:pt x="80739" y="197568"/>
                  <a:pt x="80000" y="194808"/>
                  <a:pt x="80000" y="192000"/>
                </a:cubicBezTo>
                <a:lnTo>
                  <a:pt x="80000" y="186000"/>
                </a:lnTo>
                <a:cubicBezTo>
                  <a:pt x="79998" y="183554"/>
                  <a:pt x="79436" y="181141"/>
                  <a:pt x="78356" y="178946"/>
                </a:cubicBezTo>
                <a:cubicBezTo>
                  <a:pt x="77276" y="176752"/>
                  <a:pt x="75707" y="174834"/>
                  <a:pt x="73770" y="173340"/>
                </a:cubicBezTo>
                <a:cubicBezTo>
                  <a:pt x="63288" y="165177"/>
                  <a:pt x="54800" y="154735"/>
                  <a:pt x="48950" y="142807"/>
                </a:cubicBezTo>
                <a:cubicBezTo>
                  <a:pt x="43099" y="130879"/>
                  <a:pt x="40039" y="117775"/>
                  <a:pt x="40000" y="104490"/>
                </a:cubicBezTo>
                <a:cubicBezTo>
                  <a:pt x="39740" y="56830"/>
                  <a:pt x="78260" y="17140"/>
                  <a:pt x="125880" y="16000"/>
                </a:cubicBezTo>
                <a:cubicBezTo>
                  <a:pt x="137613" y="15717"/>
                  <a:pt x="149285" y="17785"/>
                  <a:pt x="160208" y="22080"/>
                </a:cubicBezTo>
                <a:cubicBezTo>
                  <a:pt x="171130" y="26376"/>
                  <a:pt x="181083" y="32813"/>
                  <a:pt x="189480" y="41013"/>
                </a:cubicBezTo>
                <a:cubicBezTo>
                  <a:pt x="197878" y="49213"/>
                  <a:pt x="204550" y="59010"/>
                  <a:pt x="209105" y="69827"/>
                </a:cubicBezTo>
                <a:cubicBezTo>
                  <a:pt x="213659" y="80644"/>
                  <a:pt x="216003" y="92263"/>
                  <a:pt x="216000" y="104000"/>
                </a:cubicBezTo>
                <a:close/>
                <a:moveTo>
                  <a:pt x="200000" y="104000"/>
                </a:moveTo>
                <a:cubicBezTo>
                  <a:pt x="200003" y="94397"/>
                  <a:pt x="198084" y="84889"/>
                  <a:pt x="194358" y="76039"/>
                </a:cubicBezTo>
                <a:cubicBezTo>
                  <a:pt x="190631" y="67188"/>
                  <a:pt x="185171" y="59172"/>
                  <a:pt x="178300" y="52463"/>
                </a:cubicBezTo>
                <a:cubicBezTo>
                  <a:pt x="171429" y="45754"/>
                  <a:pt x="163285" y="40487"/>
                  <a:pt x="154348" y="36973"/>
                </a:cubicBezTo>
                <a:cubicBezTo>
                  <a:pt x="145411" y="33459"/>
                  <a:pt x="135860" y="31768"/>
                  <a:pt x="126260" y="32000"/>
                </a:cubicBezTo>
                <a:cubicBezTo>
                  <a:pt x="87260" y="32920"/>
                  <a:pt x="55790" y="65390"/>
                  <a:pt x="56000" y="104390"/>
                </a:cubicBezTo>
                <a:cubicBezTo>
                  <a:pt x="56037" y="115255"/>
                  <a:pt x="58544" y="125972"/>
                  <a:pt x="63333" y="135725"/>
                </a:cubicBezTo>
                <a:cubicBezTo>
                  <a:pt x="68121" y="145478"/>
                  <a:pt x="75066" y="154016"/>
                  <a:pt x="83640" y="160690"/>
                </a:cubicBezTo>
                <a:cubicBezTo>
                  <a:pt x="87494" y="163686"/>
                  <a:pt x="90612" y="167525"/>
                  <a:pt x="92755" y="171912"/>
                </a:cubicBezTo>
                <a:cubicBezTo>
                  <a:pt x="94897" y="176299"/>
                  <a:pt x="96007" y="181118"/>
                  <a:pt x="96000" y="186000"/>
                </a:cubicBezTo>
                <a:lnTo>
                  <a:pt x="96000" y="192000"/>
                </a:lnTo>
                <a:lnTo>
                  <a:pt x="160000" y="192000"/>
                </a:lnTo>
                <a:lnTo>
                  <a:pt x="160000" y="186000"/>
                </a:lnTo>
                <a:cubicBezTo>
                  <a:pt x="160011" y="181104"/>
                  <a:pt x="161140" y="176275"/>
                  <a:pt x="163301" y="171882"/>
                </a:cubicBezTo>
                <a:cubicBezTo>
                  <a:pt x="165462" y="167489"/>
                  <a:pt x="168599" y="163647"/>
                  <a:pt x="172470" y="160650"/>
                </a:cubicBezTo>
                <a:cubicBezTo>
                  <a:pt x="181071" y="153929"/>
                  <a:pt x="188023" y="145330"/>
                  <a:pt x="192794" y="135512"/>
                </a:cubicBezTo>
                <a:cubicBezTo>
                  <a:pt x="197565" y="125695"/>
                  <a:pt x="200030" y="114915"/>
                  <a:pt x="200000" y="104000"/>
                </a:cubicBezTo>
                <a:close/>
                <a:moveTo>
                  <a:pt x="183890" y="94660"/>
                </a:moveTo>
                <a:cubicBezTo>
                  <a:pt x="182513" y="86969"/>
                  <a:pt x="179585" y="79638"/>
                  <a:pt x="175286" y="73114"/>
                </a:cubicBezTo>
                <a:cubicBezTo>
                  <a:pt x="170986" y="66590"/>
                  <a:pt x="165403" y="61008"/>
                  <a:pt x="158878" y="56710"/>
                </a:cubicBezTo>
                <a:cubicBezTo>
                  <a:pt x="152353" y="52411"/>
                  <a:pt x="145022" y="49485"/>
                  <a:pt x="137330" y="48110"/>
                </a:cubicBezTo>
                <a:cubicBezTo>
                  <a:pt x="135945" y="47877"/>
                  <a:pt x="134523" y="48012"/>
                  <a:pt x="133207" y="48502"/>
                </a:cubicBezTo>
                <a:cubicBezTo>
                  <a:pt x="131891" y="48992"/>
                  <a:pt x="130727" y="49821"/>
                  <a:pt x="129832" y="50903"/>
                </a:cubicBezTo>
                <a:cubicBezTo>
                  <a:pt x="128937" y="51986"/>
                  <a:pt x="128343" y="53285"/>
                  <a:pt x="128110" y="54670"/>
                </a:cubicBezTo>
                <a:cubicBezTo>
                  <a:pt x="127877" y="56055"/>
                  <a:pt x="128012" y="57477"/>
                  <a:pt x="128502" y="58793"/>
                </a:cubicBezTo>
                <a:cubicBezTo>
                  <a:pt x="128992" y="60109"/>
                  <a:pt x="129821" y="61273"/>
                  <a:pt x="130903" y="62168"/>
                </a:cubicBezTo>
                <a:cubicBezTo>
                  <a:pt x="131986" y="63063"/>
                  <a:pt x="133285" y="63657"/>
                  <a:pt x="134670" y="63890"/>
                </a:cubicBezTo>
                <a:cubicBezTo>
                  <a:pt x="151240" y="66680"/>
                  <a:pt x="165300" y="80740"/>
                  <a:pt x="168110" y="97340"/>
                </a:cubicBezTo>
                <a:cubicBezTo>
                  <a:pt x="168320" y="98575"/>
                  <a:pt x="168817" y="99744"/>
                  <a:pt x="169561" y="100751"/>
                </a:cubicBezTo>
                <a:cubicBezTo>
                  <a:pt x="170305" y="101759"/>
                  <a:pt x="171275" y="102578"/>
                  <a:pt x="172394" y="103142"/>
                </a:cubicBezTo>
                <a:cubicBezTo>
                  <a:pt x="173512" y="103707"/>
                  <a:pt x="174747" y="104000"/>
                  <a:pt x="176000" y="104000"/>
                </a:cubicBezTo>
                <a:cubicBezTo>
                  <a:pt x="176452" y="103997"/>
                  <a:pt x="176903" y="103961"/>
                  <a:pt x="177350" y="103890"/>
                </a:cubicBezTo>
                <a:cubicBezTo>
                  <a:pt x="178734" y="103654"/>
                  <a:pt x="180032" y="103057"/>
                  <a:pt x="181112" y="102161"/>
                </a:cubicBezTo>
                <a:cubicBezTo>
                  <a:pt x="182192" y="101264"/>
                  <a:pt x="183018" y="100099"/>
                  <a:pt x="183506" y="98783"/>
                </a:cubicBezTo>
                <a:cubicBezTo>
                  <a:pt x="183993" y="97466"/>
                  <a:pt x="184126" y="96044"/>
                  <a:pt x="183890" y="94660"/>
                </a:cubicBezTo>
                <a:close/>
              </a:path>
            </a:pathLst>
          </a:custGeom>
          <a:solidFill>
            <a:srgbClr val="02479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7" name="Google Shape;487;p24"/>
          <p:cNvSpPr txBox="1"/>
          <p:nvPr/>
        </p:nvSpPr>
        <p:spPr>
          <a:xfrm>
            <a:off x="4156128" y="2318766"/>
            <a:ext cx="1899144" cy="391668"/>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0" i="0" lang="es-MX" sz="950" u="none" cap="none" strike="noStrike">
                <a:solidFill>
                  <a:srgbClr val="2E2E3A"/>
                </a:solidFill>
                <a:latin typeface="Arial"/>
                <a:ea typeface="Arial"/>
                <a:cs typeface="Arial"/>
                <a:sym typeface="Arial"/>
              </a:rPr>
              <a:t>Aprender, decidir, generar valor y adaptar.</a:t>
            </a:r>
            <a:endParaRPr/>
          </a:p>
        </p:txBody>
      </p:sp>
      <p:sp>
        <p:nvSpPr>
          <p:cNvPr id="488" name="Google Shape;488;p24"/>
          <p:cNvSpPr txBox="1"/>
          <p:nvPr/>
        </p:nvSpPr>
        <p:spPr>
          <a:xfrm>
            <a:off x="3840401" y="2811018"/>
            <a:ext cx="2262708" cy="510204"/>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1" lang="es-MX" sz="950" u="none" cap="none" strike="noStrike">
                <a:solidFill>
                  <a:srgbClr val="024791"/>
                </a:solidFill>
                <a:latin typeface="Arial"/>
                <a:ea typeface="Arial"/>
                <a:cs typeface="Arial"/>
                <a:sym typeface="Arial"/>
              </a:rPr>
              <a:t>Implica una mentalidad, comportamientos y decisiones orientadas al aprendizaje y al valor.</a:t>
            </a:r>
            <a:endParaRPr/>
          </a:p>
        </p:txBody>
      </p:sp>
      <p:sp>
        <p:nvSpPr>
          <p:cNvPr id="489" name="Google Shape;489;p24"/>
          <p:cNvSpPr/>
          <p:nvPr/>
        </p:nvSpPr>
        <p:spPr>
          <a:xfrm>
            <a:off x="3227832" y="2539898"/>
            <a:ext cx="402336" cy="402336"/>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0" name="Google Shape;490;p24"/>
          <p:cNvSpPr txBox="1"/>
          <p:nvPr/>
        </p:nvSpPr>
        <p:spPr>
          <a:xfrm>
            <a:off x="3227832" y="2539898"/>
            <a:ext cx="402336" cy="402336"/>
          </a:xfrm>
          <a:prstGeom prst="rect">
            <a:avLst/>
          </a:prstGeom>
          <a:noFill/>
          <a:ln>
            <a:noFill/>
          </a:ln>
        </p:spPr>
        <p:txBody>
          <a:bodyPr anchorCtr="0" anchor="ctr" bIns="0" lIns="0" spcFirstLastPara="1" rIns="0" wrap="square" tIns="0">
            <a:spAutoFit/>
          </a:bodyPr>
          <a:lstStyle/>
          <a:p>
            <a:pPr indent="0" lvl="0" marL="0" marR="0" rtl="0" algn="ctr">
              <a:lnSpc>
                <a:spcPct val="112000"/>
              </a:lnSpc>
              <a:spcBef>
                <a:spcPts val="0"/>
              </a:spcBef>
              <a:spcAft>
                <a:spcPts val="0"/>
              </a:spcAft>
              <a:buNone/>
            </a:pPr>
            <a:r>
              <a:rPr b="1" i="0" lang="es-MX" sz="1600" u="none" cap="none" strike="noStrike">
                <a:solidFill>
                  <a:srgbClr val="0B2E6B"/>
                </a:solidFill>
                <a:latin typeface="Arial"/>
                <a:ea typeface="Arial"/>
                <a:cs typeface="Arial"/>
                <a:sym typeface="Arial"/>
              </a:rPr>
              <a:t>≠</a:t>
            </a:r>
            <a:endParaRPr/>
          </a:p>
        </p:txBody>
      </p:sp>
      <p:sp>
        <p:nvSpPr>
          <p:cNvPr id="491" name="Google Shape;491;p24"/>
          <p:cNvSpPr txBox="1"/>
          <p:nvPr/>
        </p:nvSpPr>
        <p:spPr>
          <a:xfrm>
            <a:off x="640080" y="3878503"/>
            <a:ext cx="5577840" cy="24612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MX" sz="1250" u="none" cap="none" strike="noStrike">
                <a:solidFill>
                  <a:srgbClr val="664092"/>
                </a:solidFill>
                <a:latin typeface="Arial"/>
                <a:ea typeface="Arial"/>
                <a:cs typeface="Arial"/>
                <a:sym typeface="Arial"/>
              </a:rPr>
              <a:t>3. La prueba de la agilidad</a:t>
            </a:r>
            <a:endParaRPr/>
          </a:p>
        </p:txBody>
      </p:sp>
      <p:sp>
        <p:nvSpPr>
          <p:cNvPr id="492" name="Google Shape;492;p24"/>
          <p:cNvSpPr/>
          <p:nvPr/>
        </p:nvSpPr>
        <p:spPr>
          <a:xfrm>
            <a:off x="640080" y="4197781"/>
            <a:ext cx="5577840" cy="2431619"/>
          </a:xfrm>
          <a:prstGeom prst="roundRect">
            <a:avLst>
              <a:gd fmla="val 4946" name="adj"/>
            </a:avLst>
          </a:prstGeom>
          <a:solidFill>
            <a:srgbClr val="F6EB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3" name="Google Shape;493;p24"/>
          <p:cNvSpPr/>
          <p:nvPr/>
        </p:nvSpPr>
        <p:spPr>
          <a:xfrm>
            <a:off x="821611" y="4325797"/>
            <a:ext cx="402336" cy="402336"/>
          </a:xfrm>
          <a:prstGeom prst="ellipse">
            <a:avLst/>
          </a:prstGeom>
          <a:solidFill>
            <a:srgbClr val="A719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4" name="Google Shape;494;p24"/>
          <p:cNvSpPr/>
          <p:nvPr/>
        </p:nvSpPr>
        <p:spPr>
          <a:xfrm>
            <a:off x="910125" y="4414311"/>
            <a:ext cx="225308" cy="225308"/>
          </a:xfrm>
          <a:custGeom>
            <a:rect b="b" l="l" r="r" t="t"/>
            <a:pathLst>
              <a:path extrusionOk="0" h="256000" w="256000">
                <a:moveTo>
                  <a:pt x="140000" y="180000"/>
                </a:moveTo>
                <a:cubicBezTo>
                  <a:pt x="140000" y="182106"/>
                  <a:pt x="139445" y="184176"/>
                  <a:pt x="138392" y="186000"/>
                </a:cubicBezTo>
                <a:cubicBezTo>
                  <a:pt x="137339" y="187824"/>
                  <a:pt x="135824" y="189339"/>
                  <a:pt x="134000" y="190392"/>
                </a:cubicBezTo>
                <a:cubicBezTo>
                  <a:pt x="132176" y="191445"/>
                  <a:pt x="130106" y="192000"/>
                  <a:pt x="128000" y="192000"/>
                </a:cubicBezTo>
                <a:cubicBezTo>
                  <a:pt x="125894" y="192000"/>
                  <a:pt x="123824" y="191445"/>
                  <a:pt x="122000" y="190392"/>
                </a:cubicBezTo>
                <a:cubicBezTo>
                  <a:pt x="120176" y="189339"/>
                  <a:pt x="118661" y="187824"/>
                  <a:pt x="117608" y="186000"/>
                </a:cubicBezTo>
                <a:cubicBezTo>
                  <a:pt x="116555" y="184176"/>
                  <a:pt x="116000" y="182106"/>
                  <a:pt x="116000" y="180000"/>
                </a:cubicBezTo>
                <a:cubicBezTo>
                  <a:pt x="116000" y="177894"/>
                  <a:pt x="116555" y="175824"/>
                  <a:pt x="117608" y="174000"/>
                </a:cubicBezTo>
                <a:cubicBezTo>
                  <a:pt x="118661" y="172176"/>
                  <a:pt x="120176" y="170661"/>
                  <a:pt x="122000" y="169608"/>
                </a:cubicBezTo>
                <a:cubicBezTo>
                  <a:pt x="123824" y="168555"/>
                  <a:pt x="125894" y="168000"/>
                  <a:pt x="128000" y="168000"/>
                </a:cubicBezTo>
                <a:cubicBezTo>
                  <a:pt x="130106" y="168000"/>
                  <a:pt x="132176" y="168555"/>
                  <a:pt x="134000" y="169608"/>
                </a:cubicBezTo>
                <a:cubicBezTo>
                  <a:pt x="135824" y="170661"/>
                  <a:pt x="137339" y="172176"/>
                  <a:pt x="138392" y="174000"/>
                </a:cubicBezTo>
                <a:cubicBezTo>
                  <a:pt x="139445" y="175824"/>
                  <a:pt x="140000" y="177894"/>
                  <a:pt x="140000" y="180000"/>
                </a:cubicBezTo>
                <a:close/>
                <a:moveTo>
                  <a:pt x="128000" y="72000"/>
                </a:moveTo>
                <a:cubicBezTo>
                  <a:pt x="105940" y="72000"/>
                  <a:pt x="88000" y="88150"/>
                  <a:pt x="88000" y="108000"/>
                </a:cubicBezTo>
                <a:lnTo>
                  <a:pt x="88000" y="112000"/>
                </a:lnTo>
                <a:cubicBezTo>
                  <a:pt x="88000" y="113404"/>
                  <a:pt x="88370" y="114784"/>
                  <a:pt x="89072" y="116000"/>
                </a:cubicBezTo>
                <a:cubicBezTo>
                  <a:pt x="89774" y="117216"/>
                  <a:pt x="90784" y="118226"/>
                  <a:pt x="92000" y="118928"/>
                </a:cubicBezTo>
                <a:cubicBezTo>
                  <a:pt x="93216" y="119630"/>
                  <a:pt x="94596" y="120000"/>
                  <a:pt x="96000" y="120000"/>
                </a:cubicBezTo>
                <a:cubicBezTo>
                  <a:pt x="97404" y="120000"/>
                  <a:pt x="98784" y="119630"/>
                  <a:pt x="100000" y="118928"/>
                </a:cubicBezTo>
                <a:cubicBezTo>
                  <a:pt x="101216" y="118226"/>
                  <a:pt x="102226" y="117216"/>
                  <a:pt x="102928" y="116000"/>
                </a:cubicBezTo>
                <a:cubicBezTo>
                  <a:pt x="103630" y="114784"/>
                  <a:pt x="104000" y="113404"/>
                  <a:pt x="104000" y="112000"/>
                </a:cubicBezTo>
                <a:lnTo>
                  <a:pt x="104000" y="108000"/>
                </a:lnTo>
                <a:cubicBezTo>
                  <a:pt x="104000" y="97000"/>
                  <a:pt x="114770" y="88000"/>
                  <a:pt x="128000" y="88000"/>
                </a:cubicBezTo>
                <a:cubicBezTo>
                  <a:pt x="141230" y="88000"/>
                  <a:pt x="152000" y="97000"/>
                  <a:pt x="152000" y="108000"/>
                </a:cubicBezTo>
                <a:cubicBezTo>
                  <a:pt x="152000" y="119000"/>
                  <a:pt x="141230" y="128000"/>
                  <a:pt x="128000" y="128000"/>
                </a:cubicBezTo>
                <a:cubicBezTo>
                  <a:pt x="126596" y="128000"/>
                  <a:pt x="125216" y="128370"/>
                  <a:pt x="124000" y="129072"/>
                </a:cubicBezTo>
                <a:cubicBezTo>
                  <a:pt x="122784" y="129774"/>
                  <a:pt x="121774" y="130784"/>
                  <a:pt x="121072" y="132000"/>
                </a:cubicBezTo>
                <a:cubicBezTo>
                  <a:pt x="120370" y="133216"/>
                  <a:pt x="120000" y="134596"/>
                  <a:pt x="120000" y="136000"/>
                </a:cubicBezTo>
                <a:lnTo>
                  <a:pt x="120000" y="144000"/>
                </a:lnTo>
                <a:cubicBezTo>
                  <a:pt x="120000" y="145404"/>
                  <a:pt x="120370" y="146784"/>
                  <a:pt x="121072" y="148000"/>
                </a:cubicBezTo>
                <a:cubicBezTo>
                  <a:pt x="121774" y="149216"/>
                  <a:pt x="122784" y="150226"/>
                  <a:pt x="124000" y="150928"/>
                </a:cubicBezTo>
                <a:cubicBezTo>
                  <a:pt x="125216" y="151630"/>
                  <a:pt x="126596" y="152000"/>
                  <a:pt x="128000" y="152000"/>
                </a:cubicBezTo>
                <a:cubicBezTo>
                  <a:pt x="129404" y="152000"/>
                  <a:pt x="130784" y="151630"/>
                  <a:pt x="132000" y="150928"/>
                </a:cubicBezTo>
                <a:cubicBezTo>
                  <a:pt x="133216" y="150226"/>
                  <a:pt x="134226" y="149216"/>
                  <a:pt x="134928" y="148000"/>
                </a:cubicBezTo>
                <a:cubicBezTo>
                  <a:pt x="135630" y="146784"/>
                  <a:pt x="136000" y="145404"/>
                  <a:pt x="136000" y="144000"/>
                </a:cubicBezTo>
                <a:lnTo>
                  <a:pt x="136000" y="143280"/>
                </a:lnTo>
                <a:cubicBezTo>
                  <a:pt x="154240" y="139930"/>
                  <a:pt x="168000" y="125380"/>
                  <a:pt x="168000" y="108000"/>
                </a:cubicBezTo>
                <a:cubicBezTo>
                  <a:pt x="168000" y="88150"/>
                  <a:pt x="150060" y="72000"/>
                  <a:pt x="128000" y="72000"/>
                </a:cubicBezTo>
                <a:close/>
                <a:moveTo>
                  <a:pt x="232000" y="128000"/>
                </a:moveTo>
                <a:cubicBezTo>
                  <a:pt x="232000" y="146254"/>
                  <a:pt x="227194" y="164191"/>
                  <a:pt x="218067" y="180000"/>
                </a:cubicBezTo>
                <a:cubicBezTo>
                  <a:pt x="208939" y="195809"/>
                  <a:pt x="195809" y="208939"/>
                  <a:pt x="180000" y="218067"/>
                </a:cubicBezTo>
                <a:cubicBezTo>
                  <a:pt x="164191" y="227194"/>
                  <a:pt x="146254" y="232000"/>
                  <a:pt x="128000" y="232000"/>
                </a:cubicBezTo>
                <a:cubicBezTo>
                  <a:pt x="109746" y="232000"/>
                  <a:pt x="91809" y="227194"/>
                  <a:pt x="76000" y="218067"/>
                </a:cubicBezTo>
                <a:cubicBezTo>
                  <a:pt x="60191" y="208939"/>
                  <a:pt x="47061" y="195809"/>
                  <a:pt x="37933" y="180000"/>
                </a:cubicBezTo>
                <a:cubicBezTo>
                  <a:pt x="28806" y="164191"/>
                  <a:pt x="24000" y="146254"/>
                  <a:pt x="24000" y="128000"/>
                </a:cubicBezTo>
                <a:cubicBezTo>
                  <a:pt x="24000" y="109746"/>
                  <a:pt x="28806" y="91809"/>
                  <a:pt x="37933" y="76000"/>
                </a:cubicBezTo>
                <a:cubicBezTo>
                  <a:pt x="47061" y="60191"/>
                  <a:pt x="60191" y="47061"/>
                  <a:pt x="76000" y="37933"/>
                </a:cubicBezTo>
                <a:cubicBezTo>
                  <a:pt x="91809" y="28806"/>
                  <a:pt x="109746" y="24000"/>
                  <a:pt x="128000" y="24000"/>
                </a:cubicBezTo>
                <a:cubicBezTo>
                  <a:pt x="146249" y="24019"/>
                  <a:pt x="164176" y="28836"/>
                  <a:pt x="179977" y="37966"/>
                </a:cubicBezTo>
                <a:cubicBezTo>
                  <a:pt x="195778" y="47096"/>
                  <a:pt x="208904" y="60222"/>
                  <a:pt x="218034" y="76023"/>
                </a:cubicBezTo>
                <a:cubicBezTo>
                  <a:pt x="227164" y="91824"/>
                  <a:pt x="231981" y="109751"/>
                  <a:pt x="232000" y="128000"/>
                </a:cubicBezTo>
                <a:close/>
                <a:moveTo>
                  <a:pt x="216000" y="128000"/>
                </a:moveTo>
                <a:cubicBezTo>
                  <a:pt x="216000" y="112554"/>
                  <a:pt x="211933" y="97377"/>
                  <a:pt x="204210" y="84000"/>
                </a:cubicBezTo>
                <a:cubicBezTo>
                  <a:pt x="196487" y="70623"/>
                  <a:pt x="185377" y="59513"/>
                  <a:pt x="172000" y="51790"/>
                </a:cubicBezTo>
                <a:cubicBezTo>
                  <a:pt x="158623" y="44067"/>
                  <a:pt x="143446" y="40000"/>
                  <a:pt x="128000" y="40000"/>
                </a:cubicBezTo>
                <a:cubicBezTo>
                  <a:pt x="112554" y="40000"/>
                  <a:pt x="97377" y="44067"/>
                  <a:pt x="84000" y="51790"/>
                </a:cubicBezTo>
                <a:cubicBezTo>
                  <a:pt x="70623" y="59513"/>
                  <a:pt x="59513" y="70623"/>
                  <a:pt x="51790" y="84000"/>
                </a:cubicBezTo>
                <a:cubicBezTo>
                  <a:pt x="44067" y="97377"/>
                  <a:pt x="40000" y="112554"/>
                  <a:pt x="40000" y="128000"/>
                </a:cubicBezTo>
                <a:cubicBezTo>
                  <a:pt x="40000" y="143446"/>
                  <a:pt x="44067" y="158623"/>
                  <a:pt x="51790" y="172000"/>
                </a:cubicBezTo>
                <a:cubicBezTo>
                  <a:pt x="59513" y="185377"/>
                  <a:pt x="70623" y="196487"/>
                  <a:pt x="84000" y="204210"/>
                </a:cubicBezTo>
                <a:cubicBezTo>
                  <a:pt x="97377" y="211933"/>
                  <a:pt x="112554" y="216000"/>
                  <a:pt x="128000" y="216000"/>
                </a:cubicBezTo>
                <a:cubicBezTo>
                  <a:pt x="143441" y="215982"/>
                  <a:pt x="158609" y="211906"/>
                  <a:pt x="171979" y="204180"/>
                </a:cubicBezTo>
                <a:cubicBezTo>
                  <a:pt x="185348" y="196455"/>
                  <a:pt x="196455" y="185348"/>
                  <a:pt x="204180" y="171979"/>
                </a:cubicBezTo>
                <a:cubicBezTo>
                  <a:pt x="211906" y="158609"/>
                  <a:pt x="215982" y="143441"/>
                  <a:pt x="216000" y="12800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5" name="Google Shape;495;p24"/>
          <p:cNvSpPr txBox="1"/>
          <p:nvPr/>
        </p:nvSpPr>
        <p:spPr>
          <a:xfrm>
            <a:off x="1357640" y="4307509"/>
            <a:ext cx="4716766" cy="438912"/>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MX" sz="1100" u="none" cap="none" strike="noStrike">
                <a:solidFill>
                  <a:srgbClr val="0B2E6B"/>
                </a:solidFill>
                <a:latin typeface="Arial"/>
                <a:ea typeface="Arial"/>
                <a:cs typeface="Arial"/>
                <a:sym typeface="Arial"/>
              </a:rPr>
              <a:t>Tres preguntas para evaluar si realmente estamos siendo ágiles</a:t>
            </a:r>
            <a:endParaRPr/>
          </a:p>
        </p:txBody>
      </p:sp>
      <p:sp>
        <p:nvSpPr>
          <p:cNvPr id="496" name="Google Shape;496;p24"/>
          <p:cNvSpPr/>
          <p:nvPr/>
        </p:nvSpPr>
        <p:spPr>
          <a:xfrm>
            <a:off x="1214128" y="4819573"/>
            <a:ext cx="4812441" cy="329184"/>
          </a:xfrm>
          <a:prstGeom prst="roundRect">
            <a:avLst>
              <a:gd fmla="val 27777"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7" name="Google Shape;497;p24"/>
          <p:cNvSpPr/>
          <p:nvPr/>
        </p:nvSpPr>
        <p:spPr>
          <a:xfrm>
            <a:off x="1315732" y="4856149"/>
            <a:ext cx="256032" cy="256032"/>
          </a:xfrm>
          <a:custGeom>
            <a:rect b="b" l="l" r="r" t="t"/>
            <a:pathLst>
              <a:path extrusionOk="0" h="256000" w="256000">
                <a:moveTo>
                  <a:pt x="176000" y="232000"/>
                </a:moveTo>
                <a:cubicBezTo>
                  <a:pt x="176000" y="233404"/>
                  <a:pt x="175630" y="234784"/>
                  <a:pt x="174928" y="236000"/>
                </a:cubicBezTo>
                <a:cubicBezTo>
                  <a:pt x="174226" y="237216"/>
                  <a:pt x="173216" y="238226"/>
                  <a:pt x="172000" y="238928"/>
                </a:cubicBezTo>
                <a:cubicBezTo>
                  <a:pt x="170784" y="239630"/>
                  <a:pt x="169404" y="240000"/>
                  <a:pt x="168000" y="240000"/>
                </a:cubicBezTo>
                <a:lnTo>
                  <a:pt x="88000" y="240000"/>
                </a:lnTo>
                <a:cubicBezTo>
                  <a:pt x="86596" y="240000"/>
                  <a:pt x="85216" y="239630"/>
                  <a:pt x="84000" y="238928"/>
                </a:cubicBezTo>
                <a:cubicBezTo>
                  <a:pt x="82784" y="238226"/>
                  <a:pt x="81774" y="237216"/>
                  <a:pt x="81072" y="236000"/>
                </a:cubicBezTo>
                <a:cubicBezTo>
                  <a:pt x="80370" y="234784"/>
                  <a:pt x="80000" y="233404"/>
                  <a:pt x="80000" y="232000"/>
                </a:cubicBezTo>
                <a:cubicBezTo>
                  <a:pt x="80000" y="230596"/>
                  <a:pt x="80370" y="229216"/>
                  <a:pt x="81072" y="228000"/>
                </a:cubicBezTo>
                <a:cubicBezTo>
                  <a:pt x="81774" y="226784"/>
                  <a:pt x="82784" y="225774"/>
                  <a:pt x="84000" y="225072"/>
                </a:cubicBezTo>
                <a:cubicBezTo>
                  <a:pt x="85216" y="224370"/>
                  <a:pt x="86596" y="224000"/>
                  <a:pt x="88000" y="224000"/>
                </a:cubicBezTo>
                <a:lnTo>
                  <a:pt x="168000" y="224000"/>
                </a:lnTo>
                <a:cubicBezTo>
                  <a:pt x="169404" y="224000"/>
                  <a:pt x="170784" y="224370"/>
                  <a:pt x="172000" y="225072"/>
                </a:cubicBezTo>
                <a:cubicBezTo>
                  <a:pt x="173216" y="225774"/>
                  <a:pt x="174226" y="226784"/>
                  <a:pt x="174928" y="228000"/>
                </a:cubicBezTo>
                <a:cubicBezTo>
                  <a:pt x="175630" y="229216"/>
                  <a:pt x="176000" y="230596"/>
                  <a:pt x="176000" y="232000"/>
                </a:cubicBezTo>
                <a:close/>
                <a:moveTo>
                  <a:pt x="216000" y="104000"/>
                </a:moveTo>
                <a:cubicBezTo>
                  <a:pt x="216034" y="117336"/>
                  <a:pt x="213021" y="130505"/>
                  <a:pt x="207192" y="142499"/>
                </a:cubicBezTo>
                <a:cubicBezTo>
                  <a:pt x="201362" y="154493"/>
                  <a:pt x="192868" y="164998"/>
                  <a:pt x="182360" y="173210"/>
                </a:cubicBezTo>
                <a:cubicBezTo>
                  <a:pt x="180395" y="174716"/>
                  <a:pt x="178801" y="176652"/>
                  <a:pt x="177698" y="178868"/>
                </a:cubicBezTo>
                <a:cubicBezTo>
                  <a:pt x="176596" y="181085"/>
                  <a:pt x="176015" y="183524"/>
                  <a:pt x="176000" y="186000"/>
                </a:cubicBezTo>
                <a:lnTo>
                  <a:pt x="176000" y="192000"/>
                </a:lnTo>
                <a:cubicBezTo>
                  <a:pt x="176000" y="194808"/>
                  <a:pt x="175261" y="197568"/>
                  <a:pt x="173856" y="200000"/>
                </a:cubicBezTo>
                <a:cubicBezTo>
                  <a:pt x="172452" y="202432"/>
                  <a:pt x="170432" y="204452"/>
                  <a:pt x="168000" y="205856"/>
                </a:cubicBezTo>
                <a:cubicBezTo>
                  <a:pt x="165568" y="207261"/>
                  <a:pt x="162808" y="208000"/>
                  <a:pt x="160000" y="208000"/>
                </a:cubicBezTo>
                <a:lnTo>
                  <a:pt x="96000" y="208000"/>
                </a:lnTo>
                <a:cubicBezTo>
                  <a:pt x="93192" y="208000"/>
                  <a:pt x="90432" y="207261"/>
                  <a:pt x="88000" y="205856"/>
                </a:cubicBezTo>
                <a:cubicBezTo>
                  <a:pt x="85568" y="204452"/>
                  <a:pt x="83548" y="202432"/>
                  <a:pt x="82144" y="200000"/>
                </a:cubicBezTo>
                <a:cubicBezTo>
                  <a:pt x="80739" y="197568"/>
                  <a:pt x="80000" y="194808"/>
                  <a:pt x="80000" y="192000"/>
                </a:cubicBezTo>
                <a:lnTo>
                  <a:pt x="80000" y="186000"/>
                </a:lnTo>
                <a:cubicBezTo>
                  <a:pt x="79998" y="183554"/>
                  <a:pt x="79436" y="181141"/>
                  <a:pt x="78356" y="178946"/>
                </a:cubicBezTo>
                <a:cubicBezTo>
                  <a:pt x="77276" y="176752"/>
                  <a:pt x="75707" y="174834"/>
                  <a:pt x="73770" y="173340"/>
                </a:cubicBezTo>
                <a:cubicBezTo>
                  <a:pt x="63288" y="165177"/>
                  <a:pt x="54800" y="154735"/>
                  <a:pt x="48950" y="142807"/>
                </a:cubicBezTo>
                <a:cubicBezTo>
                  <a:pt x="43099" y="130879"/>
                  <a:pt x="40039" y="117775"/>
                  <a:pt x="40000" y="104490"/>
                </a:cubicBezTo>
                <a:cubicBezTo>
                  <a:pt x="39740" y="56830"/>
                  <a:pt x="78260" y="17140"/>
                  <a:pt x="125880" y="16000"/>
                </a:cubicBezTo>
                <a:cubicBezTo>
                  <a:pt x="137613" y="15717"/>
                  <a:pt x="149285" y="17785"/>
                  <a:pt x="160208" y="22080"/>
                </a:cubicBezTo>
                <a:cubicBezTo>
                  <a:pt x="171130" y="26376"/>
                  <a:pt x="181083" y="32813"/>
                  <a:pt x="189480" y="41013"/>
                </a:cubicBezTo>
                <a:cubicBezTo>
                  <a:pt x="197878" y="49213"/>
                  <a:pt x="204550" y="59010"/>
                  <a:pt x="209105" y="69827"/>
                </a:cubicBezTo>
                <a:cubicBezTo>
                  <a:pt x="213659" y="80644"/>
                  <a:pt x="216003" y="92263"/>
                  <a:pt x="216000" y="104000"/>
                </a:cubicBezTo>
                <a:close/>
                <a:moveTo>
                  <a:pt x="200000" y="104000"/>
                </a:moveTo>
                <a:cubicBezTo>
                  <a:pt x="200003" y="94397"/>
                  <a:pt x="198084" y="84889"/>
                  <a:pt x="194358" y="76039"/>
                </a:cubicBezTo>
                <a:cubicBezTo>
                  <a:pt x="190631" y="67188"/>
                  <a:pt x="185171" y="59172"/>
                  <a:pt x="178300" y="52463"/>
                </a:cubicBezTo>
                <a:cubicBezTo>
                  <a:pt x="171429" y="45754"/>
                  <a:pt x="163285" y="40487"/>
                  <a:pt x="154348" y="36973"/>
                </a:cubicBezTo>
                <a:cubicBezTo>
                  <a:pt x="145411" y="33459"/>
                  <a:pt x="135860" y="31768"/>
                  <a:pt x="126260" y="32000"/>
                </a:cubicBezTo>
                <a:cubicBezTo>
                  <a:pt x="87260" y="32920"/>
                  <a:pt x="55790" y="65390"/>
                  <a:pt x="56000" y="104390"/>
                </a:cubicBezTo>
                <a:cubicBezTo>
                  <a:pt x="56037" y="115255"/>
                  <a:pt x="58544" y="125972"/>
                  <a:pt x="63333" y="135725"/>
                </a:cubicBezTo>
                <a:cubicBezTo>
                  <a:pt x="68121" y="145478"/>
                  <a:pt x="75066" y="154016"/>
                  <a:pt x="83640" y="160690"/>
                </a:cubicBezTo>
                <a:cubicBezTo>
                  <a:pt x="87494" y="163686"/>
                  <a:pt x="90612" y="167525"/>
                  <a:pt x="92755" y="171912"/>
                </a:cubicBezTo>
                <a:cubicBezTo>
                  <a:pt x="94897" y="176299"/>
                  <a:pt x="96007" y="181118"/>
                  <a:pt x="96000" y="186000"/>
                </a:cubicBezTo>
                <a:lnTo>
                  <a:pt x="96000" y="192000"/>
                </a:lnTo>
                <a:lnTo>
                  <a:pt x="160000" y="192000"/>
                </a:lnTo>
                <a:lnTo>
                  <a:pt x="160000" y="186000"/>
                </a:lnTo>
                <a:cubicBezTo>
                  <a:pt x="160011" y="181104"/>
                  <a:pt x="161140" y="176275"/>
                  <a:pt x="163301" y="171882"/>
                </a:cubicBezTo>
                <a:cubicBezTo>
                  <a:pt x="165462" y="167489"/>
                  <a:pt x="168599" y="163647"/>
                  <a:pt x="172470" y="160650"/>
                </a:cubicBezTo>
                <a:cubicBezTo>
                  <a:pt x="181071" y="153929"/>
                  <a:pt x="188023" y="145330"/>
                  <a:pt x="192794" y="135512"/>
                </a:cubicBezTo>
                <a:cubicBezTo>
                  <a:pt x="197565" y="125695"/>
                  <a:pt x="200030" y="114915"/>
                  <a:pt x="200000" y="104000"/>
                </a:cubicBezTo>
                <a:close/>
                <a:moveTo>
                  <a:pt x="183890" y="94660"/>
                </a:moveTo>
                <a:cubicBezTo>
                  <a:pt x="182513" y="86969"/>
                  <a:pt x="179585" y="79638"/>
                  <a:pt x="175286" y="73114"/>
                </a:cubicBezTo>
                <a:cubicBezTo>
                  <a:pt x="170986" y="66590"/>
                  <a:pt x="165403" y="61008"/>
                  <a:pt x="158878" y="56710"/>
                </a:cubicBezTo>
                <a:cubicBezTo>
                  <a:pt x="152353" y="52411"/>
                  <a:pt x="145022" y="49485"/>
                  <a:pt x="137330" y="48110"/>
                </a:cubicBezTo>
                <a:cubicBezTo>
                  <a:pt x="135945" y="47877"/>
                  <a:pt x="134523" y="48012"/>
                  <a:pt x="133207" y="48502"/>
                </a:cubicBezTo>
                <a:cubicBezTo>
                  <a:pt x="131891" y="48992"/>
                  <a:pt x="130727" y="49821"/>
                  <a:pt x="129832" y="50903"/>
                </a:cubicBezTo>
                <a:cubicBezTo>
                  <a:pt x="128937" y="51986"/>
                  <a:pt x="128343" y="53285"/>
                  <a:pt x="128110" y="54670"/>
                </a:cubicBezTo>
                <a:cubicBezTo>
                  <a:pt x="127877" y="56055"/>
                  <a:pt x="128012" y="57477"/>
                  <a:pt x="128502" y="58793"/>
                </a:cubicBezTo>
                <a:cubicBezTo>
                  <a:pt x="128992" y="60109"/>
                  <a:pt x="129821" y="61273"/>
                  <a:pt x="130903" y="62168"/>
                </a:cubicBezTo>
                <a:cubicBezTo>
                  <a:pt x="131986" y="63063"/>
                  <a:pt x="133285" y="63657"/>
                  <a:pt x="134670" y="63890"/>
                </a:cubicBezTo>
                <a:cubicBezTo>
                  <a:pt x="151240" y="66680"/>
                  <a:pt x="165300" y="80740"/>
                  <a:pt x="168110" y="97340"/>
                </a:cubicBezTo>
                <a:cubicBezTo>
                  <a:pt x="168320" y="98575"/>
                  <a:pt x="168817" y="99744"/>
                  <a:pt x="169561" y="100751"/>
                </a:cubicBezTo>
                <a:cubicBezTo>
                  <a:pt x="170305" y="101759"/>
                  <a:pt x="171275" y="102578"/>
                  <a:pt x="172394" y="103142"/>
                </a:cubicBezTo>
                <a:cubicBezTo>
                  <a:pt x="173512" y="103707"/>
                  <a:pt x="174747" y="104000"/>
                  <a:pt x="176000" y="104000"/>
                </a:cubicBezTo>
                <a:cubicBezTo>
                  <a:pt x="176452" y="103997"/>
                  <a:pt x="176903" y="103961"/>
                  <a:pt x="177350" y="103890"/>
                </a:cubicBezTo>
                <a:cubicBezTo>
                  <a:pt x="178734" y="103654"/>
                  <a:pt x="180032" y="103057"/>
                  <a:pt x="181112" y="102161"/>
                </a:cubicBezTo>
                <a:cubicBezTo>
                  <a:pt x="182192" y="101264"/>
                  <a:pt x="183018" y="100099"/>
                  <a:pt x="183506" y="98783"/>
                </a:cubicBezTo>
                <a:cubicBezTo>
                  <a:pt x="183993" y="97466"/>
                  <a:pt x="184126" y="96044"/>
                  <a:pt x="183890" y="94660"/>
                </a:cubicBezTo>
                <a:close/>
              </a:path>
            </a:pathLst>
          </a:custGeom>
          <a:solidFill>
            <a:srgbClr val="A7198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8" name="Google Shape;498;p24"/>
          <p:cNvSpPr txBox="1"/>
          <p:nvPr/>
        </p:nvSpPr>
        <p:spPr>
          <a:xfrm>
            <a:off x="1673367" y="4819573"/>
            <a:ext cx="4334067" cy="329184"/>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s-MX" sz="950" u="none" cap="none" strike="noStrike">
                <a:solidFill>
                  <a:srgbClr val="0B2E6B"/>
                </a:solidFill>
                <a:latin typeface="Arial"/>
                <a:ea typeface="Arial"/>
                <a:cs typeface="Arial"/>
                <a:sym typeface="Arial"/>
              </a:rPr>
              <a:t>1. ¿Podemos aprender? ¿Estamos generando nuevo conocimiento?</a:t>
            </a:r>
            <a:endParaRPr/>
          </a:p>
        </p:txBody>
      </p:sp>
      <p:sp>
        <p:nvSpPr>
          <p:cNvPr id="499" name="Google Shape;499;p24"/>
          <p:cNvSpPr/>
          <p:nvPr/>
        </p:nvSpPr>
        <p:spPr>
          <a:xfrm>
            <a:off x="1214128" y="5221909"/>
            <a:ext cx="4812441" cy="329184"/>
          </a:xfrm>
          <a:prstGeom prst="roundRect">
            <a:avLst>
              <a:gd fmla="val 27777"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0" name="Google Shape;500;p24"/>
          <p:cNvSpPr/>
          <p:nvPr/>
        </p:nvSpPr>
        <p:spPr>
          <a:xfrm>
            <a:off x="1315732" y="5258485"/>
            <a:ext cx="256032" cy="256032"/>
          </a:xfrm>
          <a:custGeom>
            <a:rect b="b" l="l" r="r" t="t"/>
            <a:pathLst>
              <a:path extrusionOk="0" h="256000" w="256000">
                <a:moveTo>
                  <a:pt x="128000" y="24000"/>
                </a:moveTo>
                <a:cubicBezTo>
                  <a:pt x="109746" y="24000"/>
                  <a:pt x="91809" y="28806"/>
                  <a:pt x="76000" y="37933"/>
                </a:cubicBezTo>
                <a:cubicBezTo>
                  <a:pt x="60191" y="47061"/>
                  <a:pt x="47061" y="60191"/>
                  <a:pt x="37933" y="76000"/>
                </a:cubicBezTo>
                <a:cubicBezTo>
                  <a:pt x="28806" y="91809"/>
                  <a:pt x="24000" y="109746"/>
                  <a:pt x="24000" y="128000"/>
                </a:cubicBezTo>
                <a:cubicBezTo>
                  <a:pt x="24000" y="146254"/>
                  <a:pt x="28806" y="164191"/>
                  <a:pt x="37933" y="180000"/>
                </a:cubicBezTo>
                <a:cubicBezTo>
                  <a:pt x="47061" y="195809"/>
                  <a:pt x="60191" y="208939"/>
                  <a:pt x="76000" y="218067"/>
                </a:cubicBezTo>
                <a:cubicBezTo>
                  <a:pt x="91809" y="227194"/>
                  <a:pt x="109746" y="232000"/>
                  <a:pt x="128000" y="232000"/>
                </a:cubicBezTo>
                <a:cubicBezTo>
                  <a:pt x="146254" y="232000"/>
                  <a:pt x="164191" y="227194"/>
                  <a:pt x="180000" y="218067"/>
                </a:cubicBezTo>
                <a:cubicBezTo>
                  <a:pt x="195809" y="208939"/>
                  <a:pt x="208939" y="195809"/>
                  <a:pt x="218067" y="180000"/>
                </a:cubicBezTo>
                <a:cubicBezTo>
                  <a:pt x="227194" y="164191"/>
                  <a:pt x="232000" y="146254"/>
                  <a:pt x="232000" y="128000"/>
                </a:cubicBezTo>
                <a:cubicBezTo>
                  <a:pt x="231981" y="109751"/>
                  <a:pt x="227164" y="91824"/>
                  <a:pt x="218034" y="76023"/>
                </a:cubicBezTo>
                <a:cubicBezTo>
                  <a:pt x="208904" y="60222"/>
                  <a:pt x="195778" y="47096"/>
                  <a:pt x="179977" y="37966"/>
                </a:cubicBezTo>
                <a:cubicBezTo>
                  <a:pt x="164176" y="28836"/>
                  <a:pt x="146249" y="24019"/>
                  <a:pt x="128000" y="24000"/>
                </a:cubicBezTo>
                <a:close/>
                <a:moveTo>
                  <a:pt x="128000" y="216000"/>
                </a:moveTo>
                <a:cubicBezTo>
                  <a:pt x="112554" y="216000"/>
                  <a:pt x="97377" y="211933"/>
                  <a:pt x="84000" y="204210"/>
                </a:cubicBezTo>
                <a:cubicBezTo>
                  <a:pt x="70623" y="196487"/>
                  <a:pt x="59513" y="185377"/>
                  <a:pt x="51790" y="172000"/>
                </a:cubicBezTo>
                <a:cubicBezTo>
                  <a:pt x="44067" y="158623"/>
                  <a:pt x="40000" y="143446"/>
                  <a:pt x="40000" y="128000"/>
                </a:cubicBezTo>
                <a:cubicBezTo>
                  <a:pt x="40000" y="112554"/>
                  <a:pt x="44067" y="97377"/>
                  <a:pt x="51790" y="84000"/>
                </a:cubicBezTo>
                <a:cubicBezTo>
                  <a:pt x="59513" y="70623"/>
                  <a:pt x="70623" y="59513"/>
                  <a:pt x="84000" y="51790"/>
                </a:cubicBezTo>
                <a:cubicBezTo>
                  <a:pt x="97377" y="44067"/>
                  <a:pt x="112554" y="40000"/>
                  <a:pt x="128000" y="40000"/>
                </a:cubicBezTo>
                <a:cubicBezTo>
                  <a:pt x="143446" y="40000"/>
                  <a:pt x="158623" y="44067"/>
                  <a:pt x="172000" y="51790"/>
                </a:cubicBezTo>
                <a:cubicBezTo>
                  <a:pt x="185377" y="59513"/>
                  <a:pt x="196487" y="70623"/>
                  <a:pt x="204210" y="84000"/>
                </a:cubicBezTo>
                <a:cubicBezTo>
                  <a:pt x="211933" y="97377"/>
                  <a:pt x="216000" y="112554"/>
                  <a:pt x="216000" y="128000"/>
                </a:cubicBezTo>
                <a:cubicBezTo>
                  <a:pt x="215982" y="143441"/>
                  <a:pt x="211906" y="158609"/>
                  <a:pt x="204180" y="171979"/>
                </a:cubicBezTo>
                <a:cubicBezTo>
                  <a:pt x="196455" y="185348"/>
                  <a:pt x="185348" y="196455"/>
                  <a:pt x="171979" y="204180"/>
                </a:cubicBezTo>
                <a:cubicBezTo>
                  <a:pt x="158609" y="211906"/>
                  <a:pt x="143441" y="215982"/>
                  <a:pt x="128000" y="216000"/>
                </a:cubicBezTo>
                <a:close/>
                <a:moveTo>
                  <a:pt x="172420" y="72840"/>
                </a:moveTo>
                <a:lnTo>
                  <a:pt x="108420" y="104840"/>
                </a:lnTo>
                <a:cubicBezTo>
                  <a:pt x="107651" y="105226"/>
                  <a:pt x="106949" y="105733"/>
                  <a:pt x="106341" y="106341"/>
                </a:cubicBezTo>
                <a:cubicBezTo>
                  <a:pt x="105733" y="106949"/>
                  <a:pt x="105226" y="107651"/>
                  <a:pt x="104840" y="108420"/>
                </a:cubicBezTo>
                <a:lnTo>
                  <a:pt x="72840" y="172420"/>
                </a:lnTo>
                <a:cubicBezTo>
                  <a:pt x="72229" y="173640"/>
                  <a:pt x="71941" y="174996"/>
                  <a:pt x="72002" y="176359"/>
                </a:cubicBezTo>
                <a:cubicBezTo>
                  <a:pt x="72064" y="177722"/>
                  <a:pt x="72472" y="179047"/>
                  <a:pt x="73190" y="180207"/>
                </a:cubicBezTo>
                <a:cubicBezTo>
                  <a:pt x="73907" y="181368"/>
                  <a:pt x="74910" y="182325"/>
                  <a:pt x="76102" y="182989"/>
                </a:cubicBezTo>
                <a:cubicBezTo>
                  <a:pt x="77294" y="183653"/>
                  <a:pt x="78636" y="184001"/>
                  <a:pt x="80000" y="184000"/>
                </a:cubicBezTo>
                <a:cubicBezTo>
                  <a:pt x="81242" y="183998"/>
                  <a:pt x="82467" y="183711"/>
                  <a:pt x="83580" y="183160"/>
                </a:cubicBezTo>
                <a:lnTo>
                  <a:pt x="147580" y="151160"/>
                </a:lnTo>
                <a:cubicBezTo>
                  <a:pt x="148349" y="150774"/>
                  <a:pt x="149051" y="150267"/>
                  <a:pt x="149659" y="149659"/>
                </a:cubicBezTo>
                <a:cubicBezTo>
                  <a:pt x="150267" y="149051"/>
                  <a:pt x="150774" y="148349"/>
                  <a:pt x="151160" y="147580"/>
                </a:cubicBezTo>
                <a:lnTo>
                  <a:pt x="183160" y="83580"/>
                </a:lnTo>
                <a:cubicBezTo>
                  <a:pt x="183762" y="82381"/>
                  <a:pt x="184053" y="81051"/>
                  <a:pt x="184007" y="79710"/>
                </a:cubicBezTo>
                <a:cubicBezTo>
                  <a:pt x="183960" y="78370"/>
                  <a:pt x="183577" y="77062"/>
                  <a:pt x="182893" y="75908"/>
                </a:cubicBezTo>
                <a:cubicBezTo>
                  <a:pt x="182209" y="74755"/>
                  <a:pt x="181245" y="73791"/>
                  <a:pt x="180092" y="73107"/>
                </a:cubicBezTo>
                <a:cubicBezTo>
                  <a:pt x="178938" y="72423"/>
                  <a:pt x="177630" y="72040"/>
                  <a:pt x="176290" y="71993"/>
                </a:cubicBezTo>
                <a:cubicBezTo>
                  <a:pt x="174949" y="71947"/>
                  <a:pt x="173619" y="72238"/>
                  <a:pt x="172420" y="72840"/>
                </a:cubicBezTo>
                <a:close/>
                <a:moveTo>
                  <a:pt x="138000" y="138000"/>
                </a:moveTo>
                <a:lnTo>
                  <a:pt x="97890" y="158110"/>
                </a:lnTo>
                <a:lnTo>
                  <a:pt x="118000" y="118000"/>
                </a:lnTo>
                <a:lnTo>
                  <a:pt x="158150" y="97930"/>
                </a:lnTo>
                <a:close/>
              </a:path>
            </a:pathLst>
          </a:custGeom>
          <a:solidFill>
            <a:srgbClr val="A7198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1" name="Google Shape;501;p24"/>
          <p:cNvSpPr txBox="1"/>
          <p:nvPr/>
        </p:nvSpPr>
        <p:spPr>
          <a:xfrm>
            <a:off x="1673367" y="5221909"/>
            <a:ext cx="4334067" cy="329184"/>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s-MX" sz="950" u="none" cap="none" strike="noStrike">
                <a:solidFill>
                  <a:srgbClr val="0B2E6B"/>
                </a:solidFill>
                <a:latin typeface="Arial"/>
                <a:ea typeface="Arial"/>
                <a:cs typeface="Arial"/>
                <a:sym typeface="Arial"/>
              </a:rPr>
              <a:t>2. ¿Podemos decidir? ¿La información nos lleva a acciones concretas?</a:t>
            </a:r>
            <a:endParaRPr/>
          </a:p>
        </p:txBody>
      </p:sp>
      <p:sp>
        <p:nvSpPr>
          <p:cNvPr id="502" name="Google Shape;502;p24"/>
          <p:cNvSpPr/>
          <p:nvPr/>
        </p:nvSpPr>
        <p:spPr>
          <a:xfrm>
            <a:off x="1214128" y="5624245"/>
            <a:ext cx="4812441" cy="424434"/>
          </a:xfrm>
          <a:prstGeom prst="roundRect">
            <a:avLst>
              <a:gd fmla="val 21543"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3" name="Google Shape;503;p24"/>
          <p:cNvSpPr/>
          <p:nvPr/>
        </p:nvSpPr>
        <p:spPr>
          <a:xfrm>
            <a:off x="1315732" y="5708446"/>
            <a:ext cx="256032" cy="256032"/>
          </a:xfrm>
          <a:custGeom>
            <a:rect b="b" l="l" r="r" t="t"/>
            <a:pathLst>
              <a:path extrusionOk="0" h="256000" w="256000">
                <a:moveTo>
                  <a:pt x="224000" y="48000"/>
                </a:moveTo>
                <a:lnTo>
                  <a:pt x="224000" y="96000"/>
                </a:lnTo>
                <a:cubicBezTo>
                  <a:pt x="224000" y="97404"/>
                  <a:pt x="223630" y="98784"/>
                  <a:pt x="222928" y="100000"/>
                </a:cubicBezTo>
                <a:cubicBezTo>
                  <a:pt x="222226" y="101216"/>
                  <a:pt x="221216" y="102226"/>
                  <a:pt x="220000" y="102928"/>
                </a:cubicBezTo>
                <a:cubicBezTo>
                  <a:pt x="218784" y="103630"/>
                  <a:pt x="217404" y="104000"/>
                  <a:pt x="216000" y="104000"/>
                </a:cubicBezTo>
                <a:lnTo>
                  <a:pt x="168000" y="104000"/>
                </a:lnTo>
                <a:cubicBezTo>
                  <a:pt x="166596" y="104000"/>
                  <a:pt x="165216" y="103630"/>
                  <a:pt x="164000" y="102928"/>
                </a:cubicBezTo>
                <a:cubicBezTo>
                  <a:pt x="162784" y="102226"/>
                  <a:pt x="161774" y="101216"/>
                  <a:pt x="161072" y="100000"/>
                </a:cubicBezTo>
                <a:cubicBezTo>
                  <a:pt x="160370" y="98784"/>
                  <a:pt x="160000" y="97404"/>
                  <a:pt x="160000" y="96000"/>
                </a:cubicBezTo>
                <a:cubicBezTo>
                  <a:pt x="160000" y="94596"/>
                  <a:pt x="160370" y="93216"/>
                  <a:pt x="161072" y="92000"/>
                </a:cubicBezTo>
                <a:cubicBezTo>
                  <a:pt x="161774" y="90784"/>
                  <a:pt x="162784" y="89774"/>
                  <a:pt x="164000" y="89072"/>
                </a:cubicBezTo>
                <a:cubicBezTo>
                  <a:pt x="165216" y="88370"/>
                  <a:pt x="166596" y="88000"/>
                  <a:pt x="168000" y="88000"/>
                </a:cubicBezTo>
                <a:lnTo>
                  <a:pt x="196690" y="88000"/>
                </a:lnTo>
                <a:lnTo>
                  <a:pt x="182060" y="73370"/>
                </a:lnTo>
                <a:cubicBezTo>
                  <a:pt x="174698" y="65974"/>
                  <a:pt x="165952" y="60099"/>
                  <a:pt x="156322" y="56079"/>
                </a:cubicBezTo>
                <a:cubicBezTo>
                  <a:pt x="146693" y="52060"/>
                  <a:pt x="136365" y="49973"/>
                  <a:pt x="125930" y="49940"/>
                </a:cubicBezTo>
                <a:lnTo>
                  <a:pt x="125480" y="49940"/>
                </a:lnTo>
                <a:cubicBezTo>
                  <a:pt x="115131" y="49916"/>
                  <a:pt x="104875" y="51912"/>
                  <a:pt x="95291" y="55817"/>
                </a:cubicBezTo>
                <a:cubicBezTo>
                  <a:pt x="85706" y="59722"/>
                  <a:pt x="76976" y="65460"/>
                  <a:pt x="69590" y="72710"/>
                </a:cubicBezTo>
                <a:cubicBezTo>
                  <a:pt x="68579" y="73654"/>
                  <a:pt x="67340" y="74320"/>
                  <a:pt x="65994" y="74642"/>
                </a:cubicBezTo>
                <a:cubicBezTo>
                  <a:pt x="64649" y="74964"/>
                  <a:pt x="63242" y="74932"/>
                  <a:pt x="61913" y="74548"/>
                </a:cubicBezTo>
                <a:cubicBezTo>
                  <a:pt x="60584" y="74165"/>
                  <a:pt x="59376" y="73443"/>
                  <a:pt x="58409" y="72454"/>
                </a:cubicBezTo>
                <a:cubicBezTo>
                  <a:pt x="57442" y="71464"/>
                  <a:pt x="56748" y="70240"/>
                  <a:pt x="56396" y="68903"/>
                </a:cubicBezTo>
                <a:cubicBezTo>
                  <a:pt x="56043" y="67565"/>
                  <a:pt x="56043" y="66158"/>
                  <a:pt x="56396" y="64821"/>
                </a:cubicBezTo>
                <a:cubicBezTo>
                  <a:pt x="56749" y="63483"/>
                  <a:pt x="57443" y="62259"/>
                  <a:pt x="58410" y="61270"/>
                </a:cubicBezTo>
                <a:cubicBezTo>
                  <a:pt x="70374" y="49577"/>
                  <a:pt x="85189" y="41212"/>
                  <a:pt x="101380" y="37007"/>
                </a:cubicBezTo>
                <a:cubicBezTo>
                  <a:pt x="117572" y="32802"/>
                  <a:pt x="134585" y="32902"/>
                  <a:pt x="150727" y="37296"/>
                </a:cubicBezTo>
                <a:cubicBezTo>
                  <a:pt x="166868" y="41690"/>
                  <a:pt x="181584" y="50228"/>
                  <a:pt x="193410" y="62060"/>
                </a:cubicBezTo>
                <a:lnTo>
                  <a:pt x="208000" y="76690"/>
                </a:lnTo>
                <a:lnTo>
                  <a:pt x="208000" y="48000"/>
                </a:lnTo>
                <a:cubicBezTo>
                  <a:pt x="208000" y="46596"/>
                  <a:pt x="208370" y="45216"/>
                  <a:pt x="209072" y="44000"/>
                </a:cubicBezTo>
                <a:cubicBezTo>
                  <a:pt x="209774" y="42784"/>
                  <a:pt x="210784" y="41774"/>
                  <a:pt x="212000" y="41072"/>
                </a:cubicBezTo>
                <a:cubicBezTo>
                  <a:pt x="213216" y="40370"/>
                  <a:pt x="214596" y="40000"/>
                  <a:pt x="216000" y="40000"/>
                </a:cubicBezTo>
                <a:cubicBezTo>
                  <a:pt x="217404" y="40000"/>
                  <a:pt x="218784" y="40370"/>
                  <a:pt x="220000" y="41072"/>
                </a:cubicBezTo>
                <a:cubicBezTo>
                  <a:pt x="221216" y="41774"/>
                  <a:pt x="222226" y="42784"/>
                  <a:pt x="222928" y="44000"/>
                </a:cubicBezTo>
                <a:cubicBezTo>
                  <a:pt x="223630" y="45216"/>
                  <a:pt x="224000" y="46596"/>
                  <a:pt x="224000" y="48000"/>
                </a:cubicBezTo>
                <a:close/>
                <a:moveTo>
                  <a:pt x="186410" y="183290"/>
                </a:moveTo>
                <a:cubicBezTo>
                  <a:pt x="176441" y="193028"/>
                  <a:pt x="164098" y="199994"/>
                  <a:pt x="150609" y="203495"/>
                </a:cubicBezTo>
                <a:cubicBezTo>
                  <a:pt x="137120" y="206997"/>
                  <a:pt x="122948" y="206914"/>
                  <a:pt x="109501" y="203254"/>
                </a:cubicBezTo>
                <a:cubicBezTo>
                  <a:pt x="96054" y="199595"/>
                  <a:pt x="83794" y="192484"/>
                  <a:pt x="73940" y="182630"/>
                </a:cubicBezTo>
                <a:lnTo>
                  <a:pt x="59310" y="168000"/>
                </a:lnTo>
                <a:lnTo>
                  <a:pt x="88000" y="168000"/>
                </a:lnTo>
                <a:cubicBezTo>
                  <a:pt x="89404" y="168000"/>
                  <a:pt x="90784" y="167630"/>
                  <a:pt x="92000" y="166928"/>
                </a:cubicBezTo>
                <a:cubicBezTo>
                  <a:pt x="93216" y="166226"/>
                  <a:pt x="94226" y="165216"/>
                  <a:pt x="94928" y="164000"/>
                </a:cubicBezTo>
                <a:cubicBezTo>
                  <a:pt x="95630" y="162784"/>
                  <a:pt x="96000" y="161404"/>
                  <a:pt x="96000" y="160000"/>
                </a:cubicBezTo>
                <a:cubicBezTo>
                  <a:pt x="96000" y="158596"/>
                  <a:pt x="95630" y="157216"/>
                  <a:pt x="94928" y="156000"/>
                </a:cubicBezTo>
                <a:cubicBezTo>
                  <a:pt x="94226" y="154784"/>
                  <a:pt x="93216" y="153774"/>
                  <a:pt x="92000" y="153072"/>
                </a:cubicBezTo>
                <a:cubicBezTo>
                  <a:pt x="90784" y="152370"/>
                  <a:pt x="89404" y="152000"/>
                  <a:pt x="88000" y="152000"/>
                </a:cubicBezTo>
                <a:lnTo>
                  <a:pt x="40000" y="152000"/>
                </a:lnTo>
                <a:cubicBezTo>
                  <a:pt x="38596" y="152000"/>
                  <a:pt x="37216" y="152370"/>
                  <a:pt x="36000" y="153072"/>
                </a:cubicBezTo>
                <a:cubicBezTo>
                  <a:pt x="34784" y="153774"/>
                  <a:pt x="33774" y="154784"/>
                  <a:pt x="33072" y="156000"/>
                </a:cubicBezTo>
                <a:cubicBezTo>
                  <a:pt x="32370" y="157216"/>
                  <a:pt x="32000" y="158596"/>
                  <a:pt x="32000" y="160000"/>
                </a:cubicBezTo>
                <a:lnTo>
                  <a:pt x="32000" y="208000"/>
                </a:lnTo>
                <a:cubicBezTo>
                  <a:pt x="32000" y="209404"/>
                  <a:pt x="32370" y="210784"/>
                  <a:pt x="33072" y="212000"/>
                </a:cubicBezTo>
                <a:cubicBezTo>
                  <a:pt x="33774" y="213216"/>
                  <a:pt x="34784" y="214226"/>
                  <a:pt x="36000" y="214928"/>
                </a:cubicBezTo>
                <a:cubicBezTo>
                  <a:pt x="37216" y="215630"/>
                  <a:pt x="38596" y="216000"/>
                  <a:pt x="40000" y="216000"/>
                </a:cubicBezTo>
                <a:cubicBezTo>
                  <a:pt x="41404" y="216000"/>
                  <a:pt x="42784" y="215630"/>
                  <a:pt x="44000" y="214928"/>
                </a:cubicBezTo>
                <a:cubicBezTo>
                  <a:pt x="45216" y="214226"/>
                  <a:pt x="46226" y="213216"/>
                  <a:pt x="46928" y="212000"/>
                </a:cubicBezTo>
                <a:cubicBezTo>
                  <a:pt x="47630" y="210784"/>
                  <a:pt x="48000" y="209404"/>
                  <a:pt x="48000" y="208000"/>
                </a:cubicBezTo>
                <a:lnTo>
                  <a:pt x="48000" y="179310"/>
                </a:lnTo>
                <a:lnTo>
                  <a:pt x="62630" y="193940"/>
                </a:lnTo>
                <a:cubicBezTo>
                  <a:pt x="71464" y="202819"/>
                  <a:pt x="81961" y="209872"/>
                  <a:pt x="93520" y="214697"/>
                </a:cubicBezTo>
                <a:cubicBezTo>
                  <a:pt x="105079" y="219521"/>
                  <a:pt x="117475" y="222023"/>
                  <a:pt x="130000" y="222060"/>
                </a:cubicBezTo>
                <a:lnTo>
                  <a:pt x="130530" y="222060"/>
                </a:lnTo>
                <a:cubicBezTo>
                  <a:pt x="142950" y="222092"/>
                  <a:pt x="155258" y="219697"/>
                  <a:pt x="166761" y="215010"/>
                </a:cubicBezTo>
                <a:cubicBezTo>
                  <a:pt x="178263" y="210323"/>
                  <a:pt x="188739" y="203434"/>
                  <a:pt x="197600" y="194730"/>
                </a:cubicBezTo>
                <a:cubicBezTo>
                  <a:pt x="198567" y="193741"/>
                  <a:pt x="199261" y="192517"/>
                  <a:pt x="199614" y="191179"/>
                </a:cubicBezTo>
                <a:cubicBezTo>
                  <a:pt x="199967" y="189842"/>
                  <a:pt x="199967" y="188435"/>
                  <a:pt x="199614" y="187097"/>
                </a:cubicBezTo>
                <a:cubicBezTo>
                  <a:pt x="199262" y="185760"/>
                  <a:pt x="198568" y="184536"/>
                  <a:pt x="197601" y="183546"/>
                </a:cubicBezTo>
                <a:cubicBezTo>
                  <a:pt x="196634" y="182557"/>
                  <a:pt x="195426" y="181835"/>
                  <a:pt x="194097" y="181452"/>
                </a:cubicBezTo>
                <a:cubicBezTo>
                  <a:pt x="192768" y="181068"/>
                  <a:pt x="191361" y="181036"/>
                  <a:pt x="190016" y="181358"/>
                </a:cubicBezTo>
                <a:cubicBezTo>
                  <a:pt x="188670" y="181680"/>
                  <a:pt x="187431" y="182346"/>
                  <a:pt x="186420" y="183290"/>
                </a:cubicBezTo>
                <a:close/>
              </a:path>
            </a:pathLst>
          </a:custGeom>
          <a:solidFill>
            <a:srgbClr val="A7198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4" name="Google Shape;504;p24"/>
          <p:cNvSpPr txBox="1"/>
          <p:nvPr/>
        </p:nvSpPr>
        <p:spPr>
          <a:xfrm>
            <a:off x="1673367" y="5624245"/>
            <a:ext cx="4334067" cy="424434"/>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s-MX" sz="950" u="none" cap="none" strike="noStrike">
                <a:solidFill>
                  <a:srgbClr val="0B2E6B"/>
                </a:solidFill>
                <a:latin typeface="Arial"/>
                <a:ea typeface="Arial"/>
                <a:cs typeface="Arial"/>
                <a:sym typeface="Arial"/>
              </a:rPr>
              <a:t>3. ¿Podemos ajustar? ¿Somos capaces de adaptar el plan según lo aprendido?</a:t>
            </a:r>
            <a:endParaRPr/>
          </a:p>
        </p:txBody>
      </p:sp>
      <p:sp>
        <p:nvSpPr>
          <p:cNvPr id="505" name="Google Shape;505;p24"/>
          <p:cNvSpPr txBox="1"/>
          <p:nvPr/>
        </p:nvSpPr>
        <p:spPr>
          <a:xfrm>
            <a:off x="843218" y="6174186"/>
            <a:ext cx="4932376" cy="164853"/>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MX" sz="950" u="none" cap="none" strike="noStrike">
                <a:solidFill>
                  <a:srgbClr val="3A3A48"/>
                </a:solidFill>
                <a:latin typeface="Arial"/>
                <a:ea typeface="Arial"/>
                <a:cs typeface="Arial"/>
                <a:sym typeface="Arial"/>
              </a:rPr>
              <a:t>Resultado: capacidad adaptativa, es decir, equipos que convierten la evidencia en valor.</a:t>
            </a:r>
            <a:endParaRPr/>
          </a:p>
        </p:txBody>
      </p:sp>
      <p:sp>
        <p:nvSpPr>
          <p:cNvPr id="506" name="Google Shape;506;p24"/>
          <p:cNvSpPr/>
          <p:nvPr/>
        </p:nvSpPr>
        <p:spPr>
          <a:xfrm>
            <a:off x="640080" y="6922008"/>
            <a:ext cx="5577840" cy="1165860"/>
          </a:xfrm>
          <a:prstGeom prst="roundRect">
            <a:avLst>
              <a:gd fmla="val 9372" name="adj"/>
            </a:avLst>
          </a:prstGeom>
          <a:solidFill>
            <a:srgbClr val="E5E6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7" name="Google Shape;507;p24"/>
          <p:cNvSpPr/>
          <p:nvPr/>
        </p:nvSpPr>
        <p:spPr>
          <a:xfrm>
            <a:off x="823940" y="7253478"/>
            <a:ext cx="502920" cy="502920"/>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8" name="Google Shape;508;p24"/>
          <p:cNvSpPr/>
          <p:nvPr/>
        </p:nvSpPr>
        <p:spPr>
          <a:xfrm>
            <a:off x="934582" y="7364120"/>
            <a:ext cx="281635" cy="281635"/>
          </a:xfrm>
          <a:custGeom>
            <a:rect b="b" l="l" r="r" t="t"/>
            <a:pathLst>
              <a:path extrusionOk="0" h="256000" w="256000">
                <a:moveTo>
                  <a:pt x="239180" y="97260"/>
                </a:moveTo>
                <a:cubicBezTo>
                  <a:pt x="238516" y="95218"/>
                  <a:pt x="237457" y="93327"/>
                  <a:pt x="236063" y="91694"/>
                </a:cubicBezTo>
                <a:cubicBezTo>
                  <a:pt x="234670" y="90061"/>
                  <a:pt x="232969" y="88718"/>
                  <a:pt x="231057" y="87741"/>
                </a:cubicBezTo>
                <a:cubicBezTo>
                  <a:pt x="229145" y="86764"/>
                  <a:pt x="227060" y="86173"/>
                  <a:pt x="224920" y="86000"/>
                </a:cubicBezTo>
                <a:lnTo>
                  <a:pt x="165920" y="81240"/>
                </a:lnTo>
                <a:lnTo>
                  <a:pt x="143140" y="26150"/>
                </a:lnTo>
                <a:cubicBezTo>
                  <a:pt x="142157" y="23755"/>
                  <a:pt x="140620" y="21627"/>
                  <a:pt x="138654" y="19942"/>
                </a:cubicBezTo>
                <a:cubicBezTo>
                  <a:pt x="136689" y="18257"/>
                  <a:pt x="134351" y="17062"/>
                  <a:pt x="131835" y="16456"/>
                </a:cubicBezTo>
                <a:cubicBezTo>
                  <a:pt x="129318" y="15850"/>
                  <a:pt x="126692" y="15850"/>
                  <a:pt x="124175" y="16456"/>
                </a:cubicBezTo>
                <a:cubicBezTo>
                  <a:pt x="121659" y="17062"/>
                  <a:pt x="119321" y="18257"/>
                  <a:pt x="117356" y="19942"/>
                </a:cubicBezTo>
                <a:cubicBezTo>
                  <a:pt x="115390" y="21627"/>
                  <a:pt x="113853" y="23755"/>
                  <a:pt x="112870" y="26150"/>
                </a:cubicBezTo>
                <a:lnTo>
                  <a:pt x="90110" y="81230"/>
                </a:lnTo>
                <a:lnTo>
                  <a:pt x="31080" y="86000"/>
                </a:lnTo>
                <a:cubicBezTo>
                  <a:pt x="28504" y="86218"/>
                  <a:pt x="26016" y="87039"/>
                  <a:pt x="23816" y="88398"/>
                </a:cubicBezTo>
                <a:cubicBezTo>
                  <a:pt x="21617" y="89756"/>
                  <a:pt x="19769" y="91614"/>
                  <a:pt x="18421" y="93820"/>
                </a:cubicBezTo>
                <a:cubicBezTo>
                  <a:pt x="17073" y="96026"/>
                  <a:pt x="16264" y="98518"/>
                  <a:pt x="16059" y="101095"/>
                </a:cubicBezTo>
                <a:cubicBezTo>
                  <a:pt x="15854" y="103672"/>
                  <a:pt x="16259" y="106261"/>
                  <a:pt x="17240" y="108653"/>
                </a:cubicBezTo>
                <a:cubicBezTo>
                  <a:pt x="18222" y="111044"/>
                  <a:pt x="19753" y="113171"/>
                  <a:pt x="21710" y="114860"/>
                </a:cubicBezTo>
                <a:lnTo>
                  <a:pt x="66710" y="153690"/>
                </a:lnTo>
                <a:lnTo>
                  <a:pt x="53000" y="211750"/>
                </a:lnTo>
                <a:cubicBezTo>
                  <a:pt x="52388" y="214267"/>
                  <a:pt x="52382" y="216893"/>
                  <a:pt x="52982" y="219412"/>
                </a:cubicBezTo>
                <a:cubicBezTo>
                  <a:pt x="53582" y="221932"/>
                  <a:pt x="54770" y="224274"/>
                  <a:pt x="56451" y="226245"/>
                </a:cubicBezTo>
                <a:cubicBezTo>
                  <a:pt x="58131" y="228216"/>
                  <a:pt x="60254" y="229761"/>
                  <a:pt x="62647" y="230752"/>
                </a:cubicBezTo>
                <a:cubicBezTo>
                  <a:pt x="65040" y="231743"/>
                  <a:pt x="67634" y="232153"/>
                  <a:pt x="70216" y="231947"/>
                </a:cubicBezTo>
                <a:cubicBezTo>
                  <a:pt x="72798" y="231742"/>
                  <a:pt x="75294" y="230927"/>
                  <a:pt x="77500" y="229570"/>
                </a:cubicBezTo>
                <a:lnTo>
                  <a:pt x="128000" y="198490"/>
                </a:lnTo>
                <a:lnTo>
                  <a:pt x="178530" y="229570"/>
                </a:lnTo>
                <a:cubicBezTo>
                  <a:pt x="180737" y="230911"/>
                  <a:pt x="183229" y="231712"/>
                  <a:pt x="185804" y="231908"/>
                </a:cubicBezTo>
                <a:cubicBezTo>
                  <a:pt x="188379" y="232104"/>
                  <a:pt x="190964" y="231689"/>
                  <a:pt x="193348" y="230697"/>
                </a:cubicBezTo>
                <a:cubicBezTo>
                  <a:pt x="195732" y="229705"/>
                  <a:pt x="197849" y="228163"/>
                  <a:pt x="199525" y="226199"/>
                </a:cubicBezTo>
                <a:cubicBezTo>
                  <a:pt x="201200" y="224234"/>
                  <a:pt x="202389" y="221901"/>
                  <a:pt x="202993" y="219391"/>
                </a:cubicBezTo>
                <a:cubicBezTo>
                  <a:pt x="203597" y="216880"/>
                  <a:pt x="203599" y="214262"/>
                  <a:pt x="203000" y="211750"/>
                </a:cubicBezTo>
                <a:lnTo>
                  <a:pt x="189240" y="153680"/>
                </a:lnTo>
                <a:lnTo>
                  <a:pt x="234240" y="114850"/>
                </a:lnTo>
                <a:cubicBezTo>
                  <a:pt x="235881" y="113447"/>
                  <a:pt x="237230" y="111733"/>
                  <a:pt x="238209" y="109808"/>
                </a:cubicBezTo>
                <a:cubicBezTo>
                  <a:pt x="239187" y="107883"/>
                  <a:pt x="239777" y="105784"/>
                  <a:pt x="239943" y="103631"/>
                </a:cubicBezTo>
                <a:cubicBezTo>
                  <a:pt x="240110" y="101478"/>
                  <a:pt x="239851" y="99313"/>
                  <a:pt x="239180" y="97260"/>
                </a:cubicBezTo>
                <a:close/>
                <a:moveTo>
                  <a:pt x="223840" y="102730"/>
                </a:moveTo>
                <a:lnTo>
                  <a:pt x="175140" y="144730"/>
                </a:lnTo>
                <a:cubicBezTo>
                  <a:pt x="174402" y="145366"/>
                  <a:pt x="173787" y="146131"/>
                  <a:pt x="173324" y="146988"/>
                </a:cubicBezTo>
                <a:cubicBezTo>
                  <a:pt x="172861" y="147846"/>
                  <a:pt x="172559" y="148780"/>
                  <a:pt x="172431" y="149746"/>
                </a:cubicBezTo>
                <a:cubicBezTo>
                  <a:pt x="172304" y="150711"/>
                  <a:pt x="172355" y="151692"/>
                  <a:pt x="172580" y="152640"/>
                </a:cubicBezTo>
                <a:lnTo>
                  <a:pt x="187460" y="215440"/>
                </a:lnTo>
                <a:cubicBezTo>
                  <a:pt x="187485" y="215497"/>
                  <a:pt x="187496" y="215560"/>
                  <a:pt x="187491" y="215623"/>
                </a:cubicBezTo>
                <a:cubicBezTo>
                  <a:pt x="187485" y="215685"/>
                  <a:pt x="187464" y="215745"/>
                  <a:pt x="187429" y="215797"/>
                </a:cubicBezTo>
                <a:cubicBezTo>
                  <a:pt x="187394" y="215849"/>
                  <a:pt x="187346" y="215892"/>
                  <a:pt x="187290" y="215920"/>
                </a:cubicBezTo>
                <a:cubicBezTo>
                  <a:pt x="187110" y="216060"/>
                  <a:pt x="187060" y="216030"/>
                  <a:pt x="186910" y="215920"/>
                </a:cubicBezTo>
                <a:lnTo>
                  <a:pt x="132190" y="182270"/>
                </a:lnTo>
                <a:cubicBezTo>
                  <a:pt x="131353" y="181755"/>
                  <a:pt x="130428" y="181399"/>
                  <a:pt x="129462" y="181220"/>
                </a:cubicBezTo>
                <a:cubicBezTo>
                  <a:pt x="128496" y="181040"/>
                  <a:pt x="127504" y="181040"/>
                  <a:pt x="126538" y="181220"/>
                </a:cubicBezTo>
                <a:cubicBezTo>
                  <a:pt x="125572" y="181399"/>
                  <a:pt x="124647" y="181755"/>
                  <a:pt x="123810" y="182270"/>
                </a:cubicBezTo>
                <a:lnTo>
                  <a:pt x="69090" y="215940"/>
                </a:lnTo>
                <a:cubicBezTo>
                  <a:pt x="68940" y="216030"/>
                  <a:pt x="68900" y="216060"/>
                  <a:pt x="68710" y="215940"/>
                </a:cubicBezTo>
                <a:cubicBezTo>
                  <a:pt x="68654" y="215912"/>
                  <a:pt x="68606" y="215869"/>
                  <a:pt x="68571" y="215817"/>
                </a:cubicBezTo>
                <a:cubicBezTo>
                  <a:pt x="68536" y="215765"/>
                  <a:pt x="68515" y="215705"/>
                  <a:pt x="68509" y="215643"/>
                </a:cubicBezTo>
                <a:cubicBezTo>
                  <a:pt x="68504" y="215580"/>
                  <a:pt x="68515" y="215517"/>
                  <a:pt x="68540" y="215460"/>
                </a:cubicBezTo>
                <a:lnTo>
                  <a:pt x="83420" y="152660"/>
                </a:lnTo>
                <a:cubicBezTo>
                  <a:pt x="83645" y="151712"/>
                  <a:pt x="83696" y="150731"/>
                  <a:pt x="83569" y="149766"/>
                </a:cubicBezTo>
                <a:cubicBezTo>
                  <a:pt x="83441" y="148800"/>
                  <a:pt x="83139" y="147866"/>
                  <a:pt x="82676" y="147008"/>
                </a:cubicBezTo>
                <a:cubicBezTo>
                  <a:pt x="82213" y="146151"/>
                  <a:pt x="81598" y="145386"/>
                  <a:pt x="80860" y="144750"/>
                </a:cubicBezTo>
                <a:lnTo>
                  <a:pt x="32160" y="102750"/>
                </a:lnTo>
                <a:cubicBezTo>
                  <a:pt x="32040" y="102650"/>
                  <a:pt x="31930" y="102560"/>
                  <a:pt x="32030" y="102250"/>
                </a:cubicBezTo>
                <a:cubicBezTo>
                  <a:pt x="32130" y="101940"/>
                  <a:pt x="32210" y="101980"/>
                  <a:pt x="32360" y="101960"/>
                </a:cubicBezTo>
                <a:lnTo>
                  <a:pt x="96280" y="96800"/>
                </a:lnTo>
                <a:cubicBezTo>
                  <a:pt x="97254" y="96716"/>
                  <a:pt x="98204" y="96455"/>
                  <a:pt x="99084" y="96029"/>
                </a:cubicBezTo>
                <a:cubicBezTo>
                  <a:pt x="99964" y="95603"/>
                  <a:pt x="100758" y="95019"/>
                  <a:pt x="101427" y="94306"/>
                </a:cubicBezTo>
                <a:cubicBezTo>
                  <a:pt x="102097" y="93594"/>
                  <a:pt x="102630" y="92765"/>
                  <a:pt x="103000" y="91860"/>
                </a:cubicBezTo>
                <a:lnTo>
                  <a:pt x="127620" y="32250"/>
                </a:lnTo>
                <a:cubicBezTo>
                  <a:pt x="127700" y="32080"/>
                  <a:pt x="127730" y="32000"/>
                  <a:pt x="127970" y="32000"/>
                </a:cubicBezTo>
                <a:cubicBezTo>
                  <a:pt x="128210" y="32000"/>
                  <a:pt x="128240" y="32080"/>
                  <a:pt x="128320" y="32250"/>
                </a:cubicBezTo>
                <a:lnTo>
                  <a:pt x="153000" y="91860"/>
                </a:lnTo>
                <a:cubicBezTo>
                  <a:pt x="153374" y="92765"/>
                  <a:pt x="153911" y="93594"/>
                  <a:pt x="154584" y="94305"/>
                </a:cubicBezTo>
                <a:cubicBezTo>
                  <a:pt x="155257" y="95016"/>
                  <a:pt x="156055" y="95598"/>
                  <a:pt x="156938" y="96021"/>
                </a:cubicBezTo>
                <a:cubicBezTo>
                  <a:pt x="157821" y="96444"/>
                  <a:pt x="158774" y="96701"/>
                  <a:pt x="159750" y="96780"/>
                </a:cubicBezTo>
                <a:lnTo>
                  <a:pt x="223670" y="101940"/>
                </a:lnTo>
                <a:cubicBezTo>
                  <a:pt x="223820" y="101940"/>
                  <a:pt x="223910" y="101940"/>
                  <a:pt x="224000" y="102230"/>
                </a:cubicBezTo>
                <a:cubicBezTo>
                  <a:pt x="224090" y="102520"/>
                  <a:pt x="224000" y="102630"/>
                  <a:pt x="223840" y="102730"/>
                </a:cubicBezTo>
                <a:close/>
              </a:path>
            </a:pathLst>
          </a:custGeom>
          <a:solidFill>
            <a:srgbClr val="0B2E6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9" name="Google Shape;509;p24"/>
          <p:cNvSpPr txBox="1"/>
          <p:nvPr/>
        </p:nvSpPr>
        <p:spPr>
          <a:xfrm>
            <a:off x="1482018" y="7086600"/>
            <a:ext cx="4573254" cy="836676"/>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1" i="0" lang="es-MX" sz="1050" u="none" cap="none" strike="noStrike">
                <a:solidFill>
                  <a:srgbClr val="024791"/>
                </a:solidFill>
                <a:latin typeface="Arial"/>
                <a:ea typeface="Arial"/>
                <a:cs typeface="Arial"/>
                <a:sym typeface="Arial"/>
              </a:rPr>
              <a:t>4. Idea clave: </a:t>
            </a:r>
            <a:r>
              <a:rPr b="0" i="0" lang="es-MX" sz="1050" u="none" cap="none" strike="noStrike">
                <a:solidFill>
                  <a:srgbClr val="332F37"/>
                </a:solidFill>
                <a:latin typeface="Arial"/>
                <a:ea typeface="Arial"/>
                <a:cs typeface="Arial"/>
                <a:sym typeface="Arial"/>
              </a:rPr>
              <a:t>la agilidad no está en la cantidad de herramientas que usamos, sino en la capacidad de observar, aprender, decidir y adaptarnos para generar valor de forma continua.</a:t>
            </a:r>
            <a:endParaRPr/>
          </a:p>
        </p:txBody>
      </p:sp>
      <p:sp>
        <p:nvSpPr>
          <p:cNvPr id="510" name="Google Shape;510;p24"/>
          <p:cNvSpPr txBox="1"/>
          <p:nvPr/>
        </p:nvSpPr>
        <p:spPr>
          <a:xfrm>
            <a:off x="640080" y="8252460"/>
            <a:ext cx="5577840" cy="201168"/>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1" lang="es-MX" sz="950" u="none" cap="none" strike="noStrike">
                <a:solidFill>
                  <a:srgbClr val="7B7480"/>
                </a:solidFill>
                <a:latin typeface="Arial"/>
                <a:ea typeface="Arial"/>
                <a:cs typeface="Arial"/>
                <a:sym typeface="Arial"/>
              </a:rPr>
              <a:t>Fuente: elaboración propia (2026).</a:t>
            </a:r>
            <a:endParaRPr/>
          </a:p>
        </p:txBody>
      </p:sp>
      <p:cxnSp>
        <p:nvCxnSpPr>
          <p:cNvPr id="511" name="Google Shape;511;p24"/>
          <p:cNvCxnSpPr/>
          <p:nvPr/>
        </p:nvCxnSpPr>
        <p:spPr>
          <a:xfrm>
            <a:off x="748527" y="6922008"/>
            <a:ext cx="1047572" cy="0"/>
          </a:xfrm>
          <a:prstGeom prst="straightConnector1">
            <a:avLst/>
          </a:prstGeom>
          <a:noFill/>
          <a:ln cap="flat" cmpd="sng" w="53975">
            <a:solidFill>
              <a:srgbClr val="73CDEB"/>
            </a:solidFill>
            <a:prstDash val="solid"/>
            <a:round/>
            <a:headEnd len="med" w="med" type="oval"/>
            <a:tailEnd len="med" w="med" type="oval"/>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25"/>
          <p:cNvSpPr/>
          <p:nvPr/>
        </p:nvSpPr>
        <p:spPr>
          <a:xfrm>
            <a:off x="638485" y="723900"/>
            <a:ext cx="4086110"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Agilidad más allá de las herramientas</a:t>
            </a:r>
            <a:endParaRPr b="0" i="0" sz="1400" u="none" cap="none" strike="noStrike">
              <a:solidFill>
                <a:srgbClr val="000000"/>
              </a:solidFill>
              <a:latin typeface="Arial"/>
              <a:ea typeface="Arial"/>
              <a:cs typeface="Arial"/>
              <a:sym typeface="Arial"/>
            </a:endParaRPr>
          </a:p>
        </p:txBody>
      </p:sp>
      <p:sp>
        <p:nvSpPr>
          <p:cNvPr id="517" name="Google Shape;517;p25"/>
          <p:cNvSpPr/>
          <p:nvPr/>
        </p:nvSpPr>
        <p:spPr>
          <a:xfrm>
            <a:off x="638485" y="1104900"/>
            <a:ext cx="5182384" cy="2095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75"/>
              <a:buFont typeface="Arial"/>
              <a:buNone/>
            </a:pPr>
            <a:r>
              <a:rPr b="1" i="0" lang="es-MX" sz="975" u="none" cap="none" strike="noStrike">
                <a:solidFill>
                  <a:srgbClr val="3560D6"/>
                </a:solidFill>
                <a:latin typeface="Arial"/>
                <a:ea typeface="Arial"/>
                <a:cs typeface="Arial"/>
                <a:sym typeface="Arial"/>
              </a:rPr>
              <a:t>Síntesis</a:t>
            </a:r>
            <a:endParaRPr b="0" i="0" sz="1400" u="none" cap="none" strike="noStrike">
              <a:solidFill>
                <a:srgbClr val="000000"/>
              </a:solidFill>
              <a:latin typeface="Arial"/>
              <a:ea typeface="Arial"/>
              <a:cs typeface="Arial"/>
              <a:sym typeface="Arial"/>
            </a:endParaRPr>
          </a:p>
        </p:txBody>
      </p:sp>
      <p:sp>
        <p:nvSpPr>
          <p:cNvPr id="518" name="Google Shape;518;p25"/>
          <p:cNvSpPr/>
          <p:nvPr/>
        </p:nvSpPr>
        <p:spPr>
          <a:xfrm>
            <a:off x="638485" y="1428750"/>
            <a:ext cx="5581029" cy="34547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rgbClr val="000000"/>
              </a:buClr>
              <a:buSzPts val="2325"/>
              <a:buFont typeface="Arial"/>
              <a:buNone/>
            </a:pPr>
            <a:r>
              <a:rPr b="1" i="0" lang="es-MX" sz="2325" u="none" cap="none" strike="noStrike">
                <a:solidFill>
                  <a:srgbClr val="664092"/>
                </a:solidFill>
                <a:latin typeface="Arial"/>
                <a:ea typeface="Arial"/>
                <a:cs typeface="Arial"/>
                <a:sym typeface="Arial"/>
              </a:rPr>
              <a:t>Para reflexionar</a:t>
            </a:r>
            <a:endParaRPr b="0" i="0" sz="1400" u="none" cap="none" strike="noStrike">
              <a:solidFill>
                <a:srgbClr val="000000"/>
              </a:solidFill>
              <a:latin typeface="Arial"/>
              <a:ea typeface="Arial"/>
              <a:cs typeface="Arial"/>
              <a:sym typeface="Arial"/>
            </a:endParaRPr>
          </a:p>
        </p:txBody>
      </p:sp>
      <p:cxnSp>
        <p:nvCxnSpPr>
          <p:cNvPr id="519" name="Google Shape;519;p25"/>
          <p:cNvCxnSpPr/>
          <p:nvPr/>
        </p:nvCxnSpPr>
        <p:spPr>
          <a:xfrm>
            <a:off x="751179" y="2030253"/>
            <a:ext cx="1003511" cy="0"/>
          </a:xfrm>
          <a:prstGeom prst="straightConnector1">
            <a:avLst/>
          </a:prstGeom>
          <a:noFill/>
          <a:ln cap="flat" cmpd="sng" w="53975">
            <a:solidFill>
              <a:srgbClr val="73CDEB"/>
            </a:solidFill>
            <a:prstDash val="solid"/>
            <a:round/>
            <a:headEnd len="med" w="med" type="oval"/>
            <a:tailEnd len="med" w="med" type="oval"/>
          </a:ln>
        </p:spPr>
      </p:cxnSp>
      <p:sp>
        <p:nvSpPr>
          <p:cNvPr id="520" name="Google Shape;520;p25"/>
          <p:cNvSpPr txBox="1"/>
          <p:nvPr/>
        </p:nvSpPr>
        <p:spPr>
          <a:xfrm>
            <a:off x="640080" y="2280541"/>
            <a:ext cx="5577840" cy="94488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s-MX" sz="1100" u="none" cap="none" strike="noStrike">
                <a:solidFill>
                  <a:srgbClr val="56505B"/>
                </a:solidFill>
                <a:latin typeface="Arial"/>
                <a:ea typeface="Arial"/>
                <a:cs typeface="Arial"/>
                <a:sym typeface="Arial"/>
              </a:rPr>
              <a:t>Imaginemos un equipo que trabaja en ciclos de dos semanas, utiliza un tablero Kanban y realiza reuniones frecuentes. Sin embargo, durante seis meses no puede modificar las prioridades establecidas inicialmente, aunque los usuarios soliciten cambios.</a:t>
            </a:r>
            <a:endParaRPr/>
          </a:p>
        </p:txBody>
      </p:sp>
      <p:sp>
        <p:nvSpPr>
          <p:cNvPr id="521" name="Google Shape;521;p25"/>
          <p:cNvSpPr txBox="1"/>
          <p:nvPr/>
        </p:nvSpPr>
        <p:spPr>
          <a:xfrm>
            <a:off x="640080" y="3353437"/>
            <a:ext cx="5577840" cy="509016"/>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s-MX" sz="1100" u="none" cap="none" strike="noStrike">
                <a:solidFill>
                  <a:srgbClr val="024791"/>
                </a:solidFill>
                <a:latin typeface="Arial"/>
                <a:ea typeface="Arial"/>
                <a:cs typeface="Arial"/>
                <a:sym typeface="Arial"/>
              </a:rPr>
              <a:t>¿Podríamos afirmar que trabaja de manera ágil solamente porque utiliza estas prácticas?</a:t>
            </a:r>
            <a:endParaRPr/>
          </a:p>
        </p:txBody>
      </p:sp>
      <p:sp>
        <p:nvSpPr>
          <p:cNvPr id="522" name="Google Shape;522;p25"/>
          <p:cNvSpPr txBox="1"/>
          <p:nvPr/>
        </p:nvSpPr>
        <p:spPr>
          <a:xfrm>
            <a:off x="640080" y="3990469"/>
            <a:ext cx="5577840" cy="726948"/>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s-MX" sz="1100" u="none" cap="none" strike="noStrike">
                <a:solidFill>
                  <a:srgbClr val="56505B"/>
                </a:solidFill>
                <a:latin typeface="Arial"/>
                <a:ea typeface="Arial"/>
                <a:cs typeface="Arial"/>
                <a:sym typeface="Arial"/>
              </a:rPr>
              <a:t>Para responder, necesitamos mirar más allá de las herramientas. La pregunta fundamental es si el equipo puede convertir aquello que aprende en decisiones que contribuyan a mejorar el valor generado.</a:t>
            </a:r>
            <a:endParaRPr/>
          </a:p>
        </p:txBody>
      </p:sp>
      <p:sp>
        <p:nvSpPr>
          <p:cNvPr id="523" name="Google Shape;523;p25"/>
          <p:cNvSpPr/>
          <p:nvPr/>
        </p:nvSpPr>
        <p:spPr>
          <a:xfrm>
            <a:off x="640080" y="4845433"/>
            <a:ext cx="5577840" cy="1316736"/>
          </a:xfrm>
          <a:prstGeom prst="roundRect">
            <a:avLst>
              <a:gd fmla="val 8333" name="adj"/>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4" name="Google Shape;524;p25"/>
          <p:cNvSpPr txBox="1"/>
          <p:nvPr/>
        </p:nvSpPr>
        <p:spPr>
          <a:xfrm>
            <a:off x="794179" y="4863721"/>
            <a:ext cx="457200" cy="4572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i="0" lang="es-MX" sz="3600" u="none" cap="none" strike="noStrike">
                <a:solidFill>
                  <a:srgbClr val="A71989"/>
                </a:solidFill>
                <a:latin typeface="Arial"/>
                <a:ea typeface="Arial"/>
                <a:cs typeface="Arial"/>
                <a:sym typeface="Arial"/>
              </a:rPr>
              <a:t>“</a:t>
            </a:r>
            <a:endParaRPr/>
          </a:p>
        </p:txBody>
      </p:sp>
      <p:sp>
        <p:nvSpPr>
          <p:cNvPr id="525" name="Google Shape;525;p25"/>
          <p:cNvSpPr txBox="1"/>
          <p:nvPr/>
        </p:nvSpPr>
        <p:spPr>
          <a:xfrm>
            <a:off x="1261966" y="5028313"/>
            <a:ext cx="4764604" cy="950976"/>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1" lang="es-MX" sz="1200" u="none" cap="none" strike="noStrike">
                <a:solidFill>
                  <a:srgbClr val="3D2159"/>
                </a:solidFill>
                <a:latin typeface="Arial"/>
                <a:ea typeface="Arial"/>
                <a:cs typeface="Arial"/>
                <a:sym typeface="Arial"/>
              </a:rPr>
              <a:t>La agilidad no se demuestra por la cantidad de herramientas o prácticas que utilizamos, sino por nuestra capacidad de aprender, adaptar las decisiones y generar valor de manera progresiva.</a:t>
            </a:r>
            <a:endParaRPr/>
          </a:p>
        </p:txBody>
      </p:sp>
      <p:sp>
        <p:nvSpPr>
          <p:cNvPr id="526" name="Google Shape;526;p25"/>
          <p:cNvSpPr/>
          <p:nvPr/>
        </p:nvSpPr>
        <p:spPr>
          <a:xfrm>
            <a:off x="640080" y="6363337"/>
            <a:ext cx="5577840" cy="1809750"/>
          </a:xfrm>
          <a:prstGeom prst="roundRect">
            <a:avLst>
              <a:gd fmla="val 6063" name="adj"/>
            </a:avLst>
          </a:prstGeom>
          <a:solidFill>
            <a:srgbClr val="E5E6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7" name="Google Shape;527;p25"/>
          <p:cNvSpPr txBox="1"/>
          <p:nvPr/>
        </p:nvSpPr>
        <p:spPr>
          <a:xfrm>
            <a:off x="831429" y="6546217"/>
            <a:ext cx="5195140" cy="26289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MX" sz="1350" u="none" cap="none" strike="noStrike">
                <a:solidFill>
                  <a:srgbClr val="024791"/>
                </a:solidFill>
                <a:latin typeface="Arial"/>
                <a:ea typeface="Arial"/>
                <a:cs typeface="Arial"/>
                <a:sym typeface="Arial"/>
              </a:rPr>
              <a:t>Continuemos nuestro recorrido</a:t>
            </a:r>
            <a:endParaRPr/>
          </a:p>
        </p:txBody>
      </p:sp>
      <p:sp>
        <p:nvSpPr>
          <p:cNvPr id="528" name="Google Shape;528;p25"/>
          <p:cNvSpPr txBox="1"/>
          <p:nvPr/>
        </p:nvSpPr>
        <p:spPr>
          <a:xfrm>
            <a:off x="831429" y="6863971"/>
            <a:ext cx="5195140" cy="1126236"/>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s-MX" sz="1100" u="none" cap="none" strike="noStrike">
                <a:solidFill>
                  <a:srgbClr val="56505B"/>
                </a:solidFill>
                <a:latin typeface="Arial"/>
                <a:ea typeface="Arial"/>
                <a:cs typeface="Arial"/>
                <a:sym typeface="Arial"/>
              </a:rPr>
              <a:t>Ahora que diferenciamos entre parecer ágiles y trabajar con una lógica ágil, podemos organizar las decisiones necesarias para llevar estos principios a la práctica. En la siguiente infografía recorreremos las siete decisiones para implementar una lógica ágil y observaremos cómo se relacionan dentro de un proceso continuo de aprendizaje y ajuste.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6"/>
          <p:cNvSpPr/>
          <p:nvPr/>
        </p:nvSpPr>
        <p:spPr>
          <a:xfrm>
            <a:off x="638485" y="723900"/>
            <a:ext cx="4086110"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Agilidad más allá de las herramientas</a:t>
            </a:r>
            <a:endParaRPr b="0" i="0" sz="1400" u="none" cap="none" strike="noStrike">
              <a:solidFill>
                <a:srgbClr val="000000"/>
              </a:solidFill>
              <a:latin typeface="Arial"/>
              <a:ea typeface="Arial"/>
              <a:cs typeface="Arial"/>
              <a:sym typeface="Arial"/>
            </a:endParaRPr>
          </a:p>
        </p:txBody>
      </p:sp>
      <p:sp>
        <p:nvSpPr>
          <p:cNvPr id="534" name="Google Shape;534;p6"/>
          <p:cNvSpPr/>
          <p:nvPr/>
        </p:nvSpPr>
        <p:spPr>
          <a:xfrm>
            <a:off x="638485" y="1104900"/>
            <a:ext cx="5182384" cy="2095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75"/>
              <a:buFont typeface="Arial"/>
              <a:buNone/>
            </a:pPr>
            <a:r>
              <a:rPr b="1" i="0" lang="es-MX" sz="975" u="none" cap="none" strike="noStrike">
                <a:solidFill>
                  <a:srgbClr val="3560D6"/>
                </a:solidFill>
                <a:latin typeface="Arial"/>
                <a:ea typeface="Arial"/>
                <a:cs typeface="Arial"/>
                <a:sym typeface="Arial"/>
              </a:rPr>
              <a:t>Referencias</a:t>
            </a:r>
            <a:endParaRPr b="1" i="0" sz="975" u="none" cap="none" strike="noStrike">
              <a:solidFill>
                <a:srgbClr val="3560D6"/>
              </a:solidFill>
              <a:latin typeface="Arial"/>
              <a:ea typeface="Arial"/>
              <a:cs typeface="Arial"/>
              <a:sym typeface="Arial"/>
            </a:endParaRPr>
          </a:p>
        </p:txBody>
      </p:sp>
      <p:sp>
        <p:nvSpPr>
          <p:cNvPr id="535" name="Google Shape;535;p6"/>
          <p:cNvSpPr/>
          <p:nvPr/>
        </p:nvSpPr>
        <p:spPr>
          <a:xfrm>
            <a:off x="638485" y="1428750"/>
            <a:ext cx="5577840" cy="34547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rgbClr val="000000"/>
              </a:buClr>
              <a:buSzPts val="2325"/>
              <a:buFont typeface="Arial"/>
              <a:buNone/>
            </a:pPr>
            <a:r>
              <a:rPr b="1" i="0" lang="es-MX" sz="2325" u="none" cap="none" strike="noStrike">
                <a:solidFill>
                  <a:srgbClr val="664092"/>
                </a:solidFill>
                <a:latin typeface="Arial"/>
                <a:ea typeface="Arial"/>
                <a:cs typeface="Arial"/>
                <a:sym typeface="Arial"/>
              </a:rPr>
              <a:t>Fuentes para continuar la lectura</a:t>
            </a:r>
            <a:endParaRPr b="0" i="0" sz="1400" u="none" cap="none" strike="noStrike">
              <a:solidFill>
                <a:srgbClr val="000000"/>
              </a:solidFill>
              <a:latin typeface="Arial"/>
              <a:ea typeface="Arial"/>
              <a:cs typeface="Arial"/>
              <a:sym typeface="Arial"/>
            </a:endParaRPr>
          </a:p>
        </p:txBody>
      </p:sp>
      <p:sp>
        <p:nvSpPr>
          <p:cNvPr id="536" name="Google Shape;536;p6"/>
          <p:cNvSpPr/>
          <p:nvPr/>
        </p:nvSpPr>
        <p:spPr>
          <a:xfrm>
            <a:off x="638485" y="2292118"/>
            <a:ext cx="5581029" cy="2743200"/>
          </a:xfrm>
          <a:prstGeom prst="roundRect">
            <a:avLst>
              <a:gd fmla="val 6283" name="adj"/>
            </a:avLst>
          </a:prstGeom>
          <a:solidFill>
            <a:srgbClr val="E5E6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6"/>
          <p:cNvSpPr/>
          <p:nvPr/>
        </p:nvSpPr>
        <p:spPr>
          <a:xfrm>
            <a:off x="897604" y="2558817"/>
            <a:ext cx="5062790" cy="31051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000000"/>
              </a:buClr>
              <a:buSzPts val="1050"/>
              <a:buFont typeface="Arial"/>
              <a:buNone/>
            </a:pPr>
            <a:r>
              <a:rPr b="0" i="0" lang="es-MX" sz="1100" u="none" cap="none" strike="noStrike">
                <a:solidFill>
                  <a:srgbClr val="3D2159"/>
                </a:solidFill>
                <a:latin typeface="Arial"/>
                <a:ea typeface="Arial"/>
                <a:cs typeface="Arial"/>
                <a:sym typeface="Arial"/>
              </a:rPr>
              <a:t>Asana. (2026, 9 de abril). </a:t>
            </a:r>
            <a:r>
              <a:rPr b="0" i="1" lang="es-MX" sz="1100" u="none" cap="none" strike="noStrike">
                <a:solidFill>
                  <a:srgbClr val="3D2159"/>
                </a:solidFill>
                <a:latin typeface="Arial"/>
                <a:ea typeface="Arial"/>
                <a:cs typeface="Arial"/>
                <a:sym typeface="Arial"/>
              </a:rPr>
              <a:t>Tableros Kanban: qué son y cómo usarlos en tu equipo. </a:t>
            </a:r>
            <a:r>
              <a:rPr b="0" i="0" lang="es-MX" sz="1100" u="sng" cap="none" strike="noStrike">
                <a:solidFill>
                  <a:srgbClr val="3D2159"/>
                </a:solidFill>
                <a:latin typeface="Arial"/>
                <a:ea typeface="Arial"/>
                <a:cs typeface="Arial"/>
                <a:sym typeface="Arial"/>
                <a:hlinkClick r:id="rId3">
                  <a:extLst>
                    <a:ext uri="{A12FA001-AC4F-418D-AE19-62706E023703}">
                      <ahyp:hlinkClr val="tx"/>
                    </a:ext>
                  </a:extLst>
                </a:hlinkClick>
              </a:rPr>
              <a:t>https://asana.com/es/resources/what-is-kanban</a:t>
            </a:r>
            <a:r>
              <a:rPr b="0" i="0" lang="es-MX" sz="1100" u="none" cap="none" strike="noStrike">
                <a:solidFill>
                  <a:srgbClr val="3D2159"/>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25000"/>
              </a:lnSpc>
              <a:spcBef>
                <a:spcPts val="1000"/>
              </a:spcBef>
              <a:spcAft>
                <a:spcPts val="1000"/>
              </a:spcAft>
              <a:buClr>
                <a:srgbClr val="000000"/>
              </a:buClr>
              <a:buSzPts val="1050"/>
              <a:buFont typeface="Arial"/>
              <a:buNone/>
            </a:pPr>
            <a:r>
              <a:rPr b="0" i="0" lang="es-MX" sz="1100" u="none" cap="none" strike="noStrike">
                <a:solidFill>
                  <a:srgbClr val="3D2159"/>
                </a:solidFill>
                <a:latin typeface="Arial"/>
                <a:ea typeface="Arial"/>
                <a:cs typeface="Arial"/>
                <a:sym typeface="Arial"/>
              </a:rPr>
              <a:t>Beck, K., Beedle, M., van Bennekum, A., Cockburn, A., Cunningham, W., Fowler, M., Grenning, J., Highsmith, J., Hunt, A., Jeffries, R., Kern, J., Marick, B., Martin, R. C., Mellor, S., Schwaber, K., Sutherland, J., &amp; Thomas, D. (2001). </a:t>
            </a:r>
            <a:r>
              <a:rPr b="0" i="1" lang="es-MX" sz="1100" u="none" cap="none" strike="noStrike">
                <a:solidFill>
                  <a:srgbClr val="3D2159"/>
                </a:solidFill>
                <a:latin typeface="Arial"/>
                <a:ea typeface="Arial"/>
                <a:cs typeface="Arial"/>
                <a:sym typeface="Arial"/>
              </a:rPr>
              <a:t>Manifiesto por el Desarrollo Ágil de Software. </a:t>
            </a:r>
            <a:r>
              <a:rPr b="0" i="0" lang="es-MX" sz="1100" u="sng" cap="none" strike="noStrike">
                <a:solidFill>
                  <a:srgbClr val="3D2159"/>
                </a:solidFill>
                <a:latin typeface="Arial"/>
                <a:ea typeface="Arial"/>
                <a:cs typeface="Arial"/>
                <a:sym typeface="Arial"/>
                <a:hlinkClick r:id="rId4">
                  <a:extLst>
                    <a:ext uri="{A12FA001-AC4F-418D-AE19-62706E023703}">
                      <ahyp:hlinkClr val="tx"/>
                    </a:ext>
                  </a:extLst>
                </a:hlinkClick>
              </a:rPr>
              <a:t>https://agilemanifesto.org/iso/es/manifesto.html</a:t>
            </a:r>
            <a:r>
              <a:rPr b="0" i="0" lang="es-MX" sz="1100" u="none" cap="none" strike="noStrike">
                <a:solidFill>
                  <a:srgbClr val="3D2159"/>
                </a:solidFill>
                <a:latin typeface="Arial"/>
                <a:ea typeface="Arial"/>
                <a:cs typeface="Arial"/>
                <a:sym typeface="Arial"/>
              </a:rPr>
              <a:t> </a:t>
            </a:r>
            <a:endParaRPr b="0" i="0" sz="1050" u="sng" cap="none" strike="noStrike">
              <a:solidFill>
                <a:srgbClr val="466DC4"/>
              </a:solidFill>
              <a:latin typeface="Arial"/>
              <a:ea typeface="Arial"/>
              <a:cs typeface="Arial"/>
              <a:sym typeface="Arial"/>
              <a:hlinkClick r:id="rId5">
                <a:extLst>
                  <a:ext uri="{A12FA001-AC4F-418D-AE19-62706E023703}">
                    <ahyp:hlinkClr val="tx"/>
                  </a:ext>
                </a:extLst>
              </a:hlinkClick>
            </a:endParaRPr>
          </a:p>
        </p:txBody>
      </p:sp>
      <p:cxnSp>
        <p:nvCxnSpPr>
          <p:cNvPr id="538" name="Google Shape;538;p6"/>
          <p:cNvCxnSpPr/>
          <p:nvPr/>
        </p:nvCxnSpPr>
        <p:spPr>
          <a:xfrm>
            <a:off x="751179" y="2030253"/>
            <a:ext cx="1003511" cy="0"/>
          </a:xfrm>
          <a:prstGeom prst="straightConnector1">
            <a:avLst/>
          </a:prstGeom>
          <a:noFill/>
          <a:ln cap="flat" cmpd="sng" w="53975">
            <a:solidFill>
              <a:srgbClr val="73CDEB"/>
            </a:solidFill>
            <a:prstDash val="solid"/>
            <a:round/>
            <a:headEnd len="med" w="med" type="oval"/>
            <a:tailEnd len="med" w="med" type="oval"/>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
          <p:cNvSpPr/>
          <p:nvPr/>
        </p:nvSpPr>
        <p:spPr>
          <a:xfrm>
            <a:off x="638485" y="723900"/>
            <a:ext cx="4086110"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825"/>
              <a:buFont typeface="Arial"/>
              <a:buNone/>
            </a:pPr>
            <a:r>
              <a:rPr b="1" i="0" lang="es-MX" sz="825" u="none" cap="none" strike="noStrike">
                <a:solidFill>
                  <a:srgbClr val="664092"/>
                </a:solidFill>
                <a:latin typeface="Arial"/>
                <a:ea typeface="Arial"/>
                <a:cs typeface="Arial"/>
                <a:sym typeface="Arial"/>
              </a:rPr>
              <a:t>Artículo educativo · Agilidad más allá de las herramientas</a:t>
            </a:r>
            <a:endParaRPr b="0" i="0" sz="1400" u="none" cap="none" strike="noStrike">
              <a:solidFill>
                <a:srgbClr val="000000"/>
              </a:solidFill>
              <a:latin typeface="Arial"/>
              <a:ea typeface="Arial"/>
              <a:cs typeface="Arial"/>
              <a:sym typeface="Arial"/>
            </a:endParaRPr>
          </a:p>
        </p:txBody>
      </p:sp>
      <p:sp>
        <p:nvSpPr>
          <p:cNvPr id="544" name="Google Shape;544;p9"/>
          <p:cNvSpPr/>
          <p:nvPr/>
        </p:nvSpPr>
        <p:spPr>
          <a:xfrm>
            <a:off x="638485" y="1428750"/>
            <a:ext cx="5581029" cy="8763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325"/>
              <a:buFont typeface="Arial"/>
              <a:buNone/>
            </a:pPr>
            <a:r>
              <a:rPr b="1" i="0" lang="es-MX" sz="2325" u="none" cap="none" strike="noStrike">
                <a:solidFill>
                  <a:srgbClr val="664092"/>
                </a:solidFill>
                <a:latin typeface="Arial"/>
                <a:ea typeface="Arial"/>
                <a:cs typeface="Arial"/>
                <a:sym typeface="Arial"/>
              </a:rPr>
              <a:t>Sobre este documento</a:t>
            </a:r>
            <a:endParaRPr b="0" i="0" sz="1400" u="none" cap="none" strike="noStrike">
              <a:solidFill>
                <a:srgbClr val="000000"/>
              </a:solidFill>
              <a:latin typeface="Arial"/>
              <a:ea typeface="Arial"/>
              <a:cs typeface="Arial"/>
              <a:sym typeface="Arial"/>
            </a:endParaRPr>
          </a:p>
        </p:txBody>
      </p:sp>
      <p:graphicFrame>
        <p:nvGraphicFramePr>
          <p:cNvPr id="545" name="Google Shape;545;p9"/>
          <p:cNvGraphicFramePr/>
          <p:nvPr/>
        </p:nvGraphicFramePr>
        <p:xfrm>
          <a:off x="640080" y="1989302"/>
          <a:ext cx="3000000" cy="3000000"/>
        </p:xfrm>
        <a:graphic>
          <a:graphicData uri="http://schemas.openxmlformats.org/drawingml/2006/table">
            <a:tbl>
              <a:tblPr>
                <a:noFill/>
                <a:tableStyleId>{2E427A51-1B64-45B8-BDF3-1F6A3C46F699}</a:tableStyleId>
              </a:tblPr>
              <a:tblGrid>
                <a:gridCol w="2749850"/>
                <a:gridCol w="2831200"/>
              </a:tblGrid>
              <a:tr h="120650">
                <a:tc>
                  <a:txBody>
                    <a:bodyPr/>
                    <a:lstStyle/>
                    <a:p>
                      <a:pPr indent="0" lvl="0" marL="0" marR="0" rtl="0" algn="l">
                        <a:lnSpc>
                          <a:spcPct val="115000"/>
                        </a:lnSpc>
                        <a:spcBef>
                          <a:spcPts val="0"/>
                        </a:spcBef>
                        <a:spcAft>
                          <a:spcPts val="0"/>
                        </a:spcAft>
                        <a:buClr>
                          <a:srgbClr val="000000"/>
                        </a:buClr>
                        <a:buSzPts val="950"/>
                        <a:buFont typeface="Arial"/>
                        <a:buNone/>
                      </a:pPr>
                      <a:r>
                        <a:rPr b="1" lang="es-MX" sz="950" u="none" cap="none" strike="noStrike">
                          <a:latin typeface="Arial"/>
                          <a:ea typeface="Arial"/>
                          <a:cs typeface="Arial"/>
                          <a:sym typeface="Arial"/>
                        </a:rPr>
                        <a:t>Proyecto</a:t>
                      </a:r>
                      <a:endParaRPr b="1" sz="1100" u="none" cap="none" strike="noStrike">
                        <a:latin typeface="Arial"/>
                        <a:ea typeface="Arial"/>
                        <a:cs typeface="Arial"/>
                        <a:sym typeface="Arial"/>
                      </a:endParaRPr>
                    </a:p>
                  </a:txBody>
                  <a:tcPr marT="137150" marB="137150" marR="137150" marL="137150">
                    <a:solidFill>
                      <a:srgbClr val="E5E6ED"/>
                    </a:solidFill>
                  </a:tcPr>
                </a:tc>
                <a:tc>
                  <a:txBody>
                    <a:bodyPr/>
                    <a:lstStyle/>
                    <a:p>
                      <a:pPr indent="0" lvl="0" marL="0" marR="0" rtl="0" algn="r">
                        <a:lnSpc>
                          <a:spcPct val="115000"/>
                        </a:lnSpc>
                        <a:spcBef>
                          <a:spcPts val="0"/>
                        </a:spcBef>
                        <a:spcAft>
                          <a:spcPts val="0"/>
                        </a:spcAft>
                        <a:buClr>
                          <a:srgbClr val="000000"/>
                        </a:buClr>
                        <a:buSzPts val="950"/>
                        <a:buFont typeface="Arial"/>
                        <a:buNone/>
                      </a:pPr>
                      <a:r>
                        <a:rPr lang="es-MX" sz="950" u="none" cap="none" strike="noStrike">
                          <a:latin typeface="Arial"/>
                          <a:ea typeface="Arial"/>
                          <a:cs typeface="Arial"/>
                          <a:sym typeface="Arial"/>
                        </a:rPr>
                        <a:t>@Medellín — SAPIENCIA</a:t>
                      </a:r>
                      <a:endParaRPr sz="1100" u="none" cap="none" strike="noStrike">
                        <a:solidFill>
                          <a:srgbClr val="2D2533"/>
                        </a:solidFill>
                        <a:latin typeface="Arial"/>
                        <a:ea typeface="Arial"/>
                        <a:cs typeface="Arial"/>
                        <a:sym typeface="Arial"/>
                      </a:endParaRPr>
                    </a:p>
                  </a:txBody>
                  <a:tcPr marT="137150" marB="137150" marR="137150" marL="137150">
                    <a:solidFill>
                      <a:srgbClr val="E5E6ED"/>
                    </a:solidFill>
                  </a:tcPr>
                </a:tc>
              </a:tr>
              <a:tr h="120650">
                <a:tc>
                  <a:txBody>
                    <a:bodyPr/>
                    <a:lstStyle/>
                    <a:p>
                      <a:pPr indent="0" lvl="0" marL="0" marR="0" rtl="0" algn="l">
                        <a:lnSpc>
                          <a:spcPct val="115000"/>
                        </a:lnSpc>
                        <a:spcBef>
                          <a:spcPts val="0"/>
                        </a:spcBef>
                        <a:spcAft>
                          <a:spcPts val="0"/>
                        </a:spcAft>
                        <a:buClr>
                          <a:srgbClr val="000000"/>
                        </a:buClr>
                        <a:buSzPts val="950"/>
                        <a:buFont typeface="Arial"/>
                        <a:buNone/>
                      </a:pPr>
                      <a:r>
                        <a:rPr b="1" lang="es-MX" sz="950" u="none" cap="none" strike="noStrike">
                          <a:latin typeface="Arial"/>
                          <a:ea typeface="Arial"/>
                          <a:cs typeface="Arial"/>
                          <a:sym typeface="Arial"/>
                        </a:rPr>
                        <a:t>Tipo de recurso</a:t>
                      </a:r>
                      <a:endParaRPr b="1" sz="1100" u="none" cap="none" strike="noStrike">
                        <a:latin typeface="Arial"/>
                        <a:ea typeface="Arial"/>
                        <a:cs typeface="Arial"/>
                        <a:sym typeface="Arial"/>
                      </a:endParaRPr>
                    </a:p>
                  </a:txBody>
                  <a:tcPr marT="137150" marB="137150" marR="137150" marL="137150">
                    <a:solidFill>
                      <a:srgbClr val="E5E6ED"/>
                    </a:solidFill>
                  </a:tcPr>
                </a:tc>
                <a:tc>
                  <a:txBody>
                    <a:bodyPr/>
                    <a:lstStyle/>
                    <a:p>
                      <a:pPr indent="0" lvl="0" marL="0" marR="0" rtl="0" algn="r">
                        <a:lnSpc>
                          <a:spcPct val="115000"/>
                        </a:lnSpc>
                        <a:spcBef>
                          <a:spcPts val="0"/>
                        </a:spcBef>
                        <a:spcAft>
                          <a:spcPts val="0"/>
                        </a:spcAft>
                        <a:buClr>
                          <a:srgbClr val="000000"/>
                        </a:buClr>
                        <a:buSzPts val="950"/>
                        <a:buFont typeface="Arial"/>
                        <a:buNone/>
                      </a:pPr>
                      <a:r>
                        <a:rPr lang="es-MX" sz="950" u="none" cap="none" strike="noStrike">
                          <a:latin typeface="Arial"/>
                          <a:ea typeface="Arial"/>
                          <a:cs typeface="Arial"/>
                          <a:sym typeface="Arial"/>
                        </a:rPr>
                        <a:t>Artículo educativo</a:t>
                      </a:r>
                      <a:endParaRPr sz="1100" u="none" cap="none" strike="noStrike">
                        <a:solidFill>
                          <a:srgbClr val="2D2533"/>
                        </a:solidFill>
                        <a:latin typeface="Arial"/>
                        <a:ea typeface="Arial"/>
                        <a:cs typeface="Arial"/>
                        <a:sym typeface="Arial"/>
                      </a:endParaRPr>
                    </a:p>
                  </a:txBody>
                  <a:tcPr marT="137150" marB="137150" marR="137150" marL="137150">
                    <a:solidFill>
                      <a:srgbClr val="E5E6ED"/>
                    </a:solidFill>
                  </a:tcPr>
                </a:tc>
              </a:tr>
              <a:tr h="120650">
                <a:tc>
                  <a:txBody>
                    <a:bodyPr/>
                    <a:lstStyle/>
                    <a:p>
                      <a:pPr indent="0" lvl="0" marL="0" marR="0" rtl="0" algn="l">
                        <a:lnSpc>
                          <a:spcPct val="115000"/>
                        </a:lnSpc>
                        <a:spcBef>
                          <a:spcPts val="0"/>
                        </a:spcBef>
                        <a:spcAft>
                          <a:spcPts val="0"/>
                        </a:spcAft>
                        <a:buClr>
                          <a:srgbClr val="000000"/>
                        </a:buClr>
                        <a:buSzPts val="950"/>
                        <a:buFont typeface="Arial"/>
                        <a:buNone/>
                      </a:pPr>
                      <a:r>
                        <a:rPr b="1" lang="es-MX" sz="950" u="none" cap="none" strike="noStrike">
                          <a:latin typeface="Arial"/>
                          <a:ea typeface="Arial"/>
                          <a:cs typeface="Arial"/>
                          <a:sym typeface="Arial"/>
                        </a:rPr>
                        <a:t>Coordinación general:</a:t>
                      </a:r>
                      <a:endParaRPr b="1" sz="1100" u="none" cap="none" strike="noStrike">
                        <a:latin typeface="Arial"/>
                        <a:ea typeface="Arial"/>
                        <a:cs typeface="Arial"/>
                        <a:sym typeface="Arial"/>
                      </a:endParaRPr>
                    </a:p>
                  </a:txBody>
                  <a:tcPr marT="137150" marB="137150" marR="137150" marL="137150">
                    <a:solidFill>
                      <a:srgbClr val="E5E6ED"/>
                    </a:solidFill>
                  </a:tcPr>
                </a:tc>
                <a:tc>
                  <a:txBody>
                    <a:bodyPr/>
                    <a:lstStyle/>
                    <a:p>
                      <a:pPr indent="0" lvl="0" marL="0" marR="0" rtl="0" algn="r">
                        <a:lnSpc>
                          <a:spcPct val="115000"/>
                        </a:lnSpc>
                        <a:spcBef>
                          <a:spcPts val="0"/>
                        </a:spcBef>
                        <a:spcAft>
                          <a:spcPts val="0"/>
                        </a:spcAft>
                        <a:buClr>
                          <a:srgbClr val="000000"/>
                        </a:buClr>
                        <a:buSzPts val="950"/>
                        <a:buFont typeface="Arial"/>
                        <a:buNone/>
                      </a:pPr>
                      <a:r>
                        <a:rPr lang="es-MX" sz="950" u="none" cap="none" strike="noStrike">
                          <a:latin typeface="Arial"/>
                          <a:ea typeface="Arial"/>
                          <a:cs typeface="Arial"/>
                          <a:sym typeface="Arial"/>
                        </a:rPr>
                        <a:t>Luz Dary Morales Galvis</a:t>
                      </a:r>
                      <a:endParaRPr sz="1100" u="none" cap="none" strike="noStrike">
                        <a:solidFill>
                          <a:srgbClr val="2D2533"/>
                        </a:solidFill>
                        <a:latin typeface="Arial"/>
                        <a:ea typeface="Arial"/>
                        <a:cs typeface="Arial"/>
                        <a:sym typeface="Arial"/>
                      </a:endParaRPr>
                    </a:p>
                  </a:txBody>
                  <a:tcPr marT="137150" marB="137150" marR="137150" marL="137150">
                    <a:solidFill>
                      <a:srgbClr val="E5E6ED"/>
                    </a:solidFill>
                  </a:tcPr>
                </a:tc>
              </a:tr>
              <a:tr h="120650">
                <a:tc>
                  <a:txBody>
                    <a:bodyPr/>
                    <a:lstStyle/>
                    <a:p>
                      <a:pPr indent="0" lvl="0" marL="0" marR="0" rtl="0" algn="l">
                        <a:lnSpc>
                          <a:spcPct val="115000"/>
                        </a:lnSpc>
                        <a:spcBef>
                          <a:spcPts val="0"/>
                        </a:spcBef>
                        <a:spcAft>
                          <a:spcPts val="0"/>
                        </a:spcAft>
                        <a:buClr>
                          <a:srgbClr val="000000"/>
                        </a:buClr>
                        <a:buSzPts val="950"/>
                        <a:buFont typeface="Arial"/>
                        <a:buNone/>
                      </a:pPr>
                      <a:r>
                        <a:rPr b="1" lang="es-MX" sz="950" u="none" cap="none" strike="noStrike">
                          <a:latin typeface="Arial"/>
                          <a:ea typeface="Arial"/>
                          <a:cs typeface="Arial"/>
                          <a:sym typeface="Arial"/>
                        </a:rPr>
                        <a:t>Experto temático:</a:t>
                      </a:r>
                      <a:endParaRPr b="1" sz="1100" u="none" cap="none" strike="noStrike">
                        <a:latin typeface="Arial"/>
                        <a:ea typeface="Arial"/>
                        <a:cs typeface="Arial"/>
                        <a:sym typeface="Arial"/>
                      </a:endParaRPr>
                    </a:p>
                  </a:txBody>
                  <a:tcPr marT="137150" marB="137150" marR="137150" marL="137150">
                    <a:solidFill>
                      <a:srgbClr val="E5E6ED"/>
                    </a:solidFill>
                  </a:tcPr>
                </a:tc>
                <a:tc>
                  <a:txBody>
                    <a:bodyPr/>
                    <a:lstStyle/>
                    <a:p>
                      <a:pPr indent="0" lvl="0" marL="0" marR="0" rtl="0" algn="r">
                        <a:lnSpc>
                          <a:spcPct val="115000"/>
                        </a:lnSpc>
                        <a:spcBef>
                          <a:spcPts val="0"/>
                        </a:spcBef>
                        <a:spcAft>
                          <a:spcPts val="0"/>
                        </a:spcAft>
                        <a:buClr>
                          <a:srgbClr val="000000"/>
                        </a:buClr>
                        <a:buSzPts val="950"/>
                        <a:buFont typeface="Arial"/>
                        <a:buNone/>
                      </a:pPr>
                      <a:r>
                        <a:rPr lang="es-MX" sz="950" u="none" cap="none" strike="noStrike">
                          <a:latin typeface="Arial"/>
                          <a:ea typeface="Arial"/>
                          <a:cs typeface="Arial"/>
                          <a:sym typeface="Arial"/>
                        </a:rPr>
                        <a:t>Diana María Velázquez</a:t>
                      </a:r>
                      <a:endParaRPr sz="1100" u="none" cap="none" strike="noStrike">
                        <a:solidFill>
                          <a:srgbClr val="2D2533"/>
                        </a:solidFill>
                        <a:latin typeface="Arial"/>
                        <a:ea typeface="Arial"/>
                        <a:cs typeface="Arial"/>
                        <a:sym typeface="Arial"/>
                      </a:endParaRPr>
                    </a:p>
                  </a:txBody>
                  <a:tcPr marT="137150" marB="137150" marR="137150" marL="137150">
                    <a:solidFill>
                      <a:srgbClr val="E5E6ED"/>
                    </a:solidFill>
                  </a:tcPr>
                </a:tc>
              </a:tr>
              <a:tr h="120650">
                <a:tc>
                  <a:txBody>
                    <a:bodyPr/>
                    <a:lstStyle/>
                    <a:p>
                      <a:pPr indent="0" lvl="0" marL="0" marR="0" rtl="0" algn="l">
                        <a:lnSpc>
                          <a:spcPct val="115000"/>
                        </a:lnSpc>
                        <a:spcBef>
                          <a:spcPts val="0"/>
                        </a:spcBef>
                        <a:spcAft>
                          <a:spcPts val="0"/>
                        </a:spcAft>
                        <a:buClr>
                          <a:srgbClr val="000000"/>
                        </a:buClr>
                        <a:buSzPts val="950"/>
                        <a:buFont typeface="Arial"/>
                        <a:buNone/>
                      </a:pPr>
                      <a:r>
                        <a:rPr b="1" lang="es-MX" sz="950" u="none" cap="none" strike="noStrike">
                          <a:latin typeface="Arial"/>
                          <a:ea typeface="Arial"/>
                          <a:cs typeface="Arial"/>
                          <a:sym typeface="Arial"/>
                        </a:rPr>
                        <a:t>Diseñador de la experiencia virtual de aprendizaje:</a:t>
                      </a:r>
                      <a:endParaRPr b="1" sz="1100" u="none" cap="none" strike="noStrike">
                        <a:latin typeface="Arial"/>
                        <a:ea typeface="Arial"/>
                        <a:cs typeface="Arial"/>
                        <a:sym typeface="Arial"/>
                      </a:endParaRPr>
                    </a:p>
                  </a:txBody>
                  <a:tcPr marT="137150" marB="137150" marR="137150" marL="137150">
                    <a:solidFill>
                      <a:srgbClr val="E5E6ED"/>
                    </a:solidFill>
                  </a:tcPr>
                </a:tc>
                <a:tc>
                  <a:txBody>
                    <a:bodyPr/>
                    <a:lstStyle/>
                    <a:p>
                      <a:pPr indent="0" lvl="0" marL="0" marR="0" rtl="0" algn="r">
                        <a:lnSpc>
                          <a:spcPct val="115000"/>
                        </a:lnSpc>
                        <a:spcBef>
                          <a:spcPts val="0"/>
                        </a:spcBef>
                        <a:spcAft>
                          <a:spcPts val="0"/>
                        </a:spcAft>
                        <a:buClr>
                          <a:srgbClr val="000000"/>
                        </a:buClr>
                        <a:buSzPts val="950"/>
                        <a:buFont typeface="Arial"/>
                        <a:buNone/>
                      </a:pPr>
                      <a:r>
                        <a:rPr lang="es-MX" sz="950" u="none" cap="none" strike="noStrike">
                          <a:latin typeface="Arial"/>
                          <a:ea typeface="Arial"/>
                          <a:cs typeface="Arial"/>
                          <a:sym typeface="Arial"/>
                        </a:rPr>
                        <a:t>Julieta Márquez Gutiérrez</a:t>
                      </a:r>
                      <a:endParaRPr sz="1100" u="none" cap="none" strike="noStrike">
                        <a:solidFill>
                          <a:srgbClr val="2D2533"/>
                        </a:solidFill>
                        <a:latin typeface="Arial"/>
                        <a:ea typeface="Arial"/>
                        <a:cs typeface="Arial"/>
                        <a:sym typeface="Arial"/>
                      </a:endParaRPr>
                    </a:p>
                  </a:txBody>
                  <a:tcPr marT="137150" marB="137150" marR="137150" marL="137150">
                    <a:solidFill>
                      <a:srgbClr val="E5E6ED"/>
                    </a:solidFill>
                  </a:tcPr>
                </a:tc>
              </a:tr>
              <a:tr h="120650">
                <a:tc>
                  <a:txBody>
                    <a:bodyPr/>
                    <a:lstStyle/>
                    <a:p>
                      <a:pPr indent="0" lvl="0" marL="0" marR="0" rtl="0" algn="l">
                        <a:lnSpc>
                          <a:spcPct val="115000"/>
                        </a:lnSpc>
                        <a:spcBef>
                          <a:spcPts val="0"/>
                        </a:spcBef>
                        <a:spcAft>
                          <a:spcPts val="0"/>
                        </a:spcAft>
                        <a:buClr>
                          <a:srgbClr val="000000"/>
                        </a:buClr>
                        <a:buSzPts val="950"/>
                        <a:buFont typeface="Arial"/>
                        <a:buNone/>
                      </a:pPr>
                      <a:r>
                        <a:rPr b="1" lang="es-MX" sz="950" u="none" cap="none" strike="noStrike">
                          <a:latin typeface="Arial"/>
                          <a:ea typeface="Arial"/>
                          <a:cs typeface="Arial"/>
                          <a:sym typeface="Arial"/>
                        </a:rPr>
                        <a:t>Corrección de estilo:</a:t>
                      </a:r>
                      <a:endParaRPr b="1" sz="1100" u="none" cap="none" strike="noStrike">
                        <a:latin typeface="Arial"/>
                        <a:ea typeface="Arial"/>
                        <a:cs typeface="Arial"/>
                        <a:sym typeface="Arial"/>
                      </a:endParaRPr>
                    </a:p>
                  </a:txBody>
                  <a:tcPr marT="137150" marB="137150" marR="137150" marL="137150">
                    <a:solidFill>
                      <a:srgbClr val="E5E6ED"/>
                    </a:solidFill>
                  </a:tcPr>
                </a:tc>
                <a:tc>
                  <a:txBody>
                    <a:bodyPr/>
                    <a:lstStyle/>
                    <a:p>
                      <a:pPr indent="0" lvl="0" marL="0" marR="0" rtl="0" algn="r">
                        <a:lnSpc>
                          <a:spcPct val="115000"/>
                        </a:lnSpc>
                        <a:spcBef>
                          <a:spcPts val="0"/>
                        </a:spcBef>
                        <a:spcAft>
                          <a:spcPts val="0"/>
                        </a:spcAft>
                        <a:buClr>
                          <a:srgbClr val="000000"/>
                        </a:buClr>
                        <a:buSzPts val="950"/>
                        <a:buFont typeface="Arial"/>
                        <a:buNone/>
                      </a:pPr>
                      <a:r>
                        <a:rPr lang="es-MX" sz="950" u="none" cap="none" strike="noStrike">
                          <a:latin typeface="Arial"/>
                          <a:ea typeface="Arial"/>
                          <a:cs typeface="Arial"/>
                          <a:sym typeface="Arial"/>
                        </a:rPr>
                        <a:t>Julieta Márquez Gutiérrez y Sergio Andrés Ocampo Rivera</a:t>
                      </a:r>
                      <a:endParaRPr sz="1100" u="none" cap="none" strike="noStrike">
                        <a:solidFill>
                          <a:srgbClr val="2D2533"/>
                        </a:solidFill>
                        <a:latin typeface="Arial"/>
                        <a:ea typeface="Arial"/>
                        <a:cs typeface="Arial"/>
                        <a:sym typeface="Arial"/>
                      </a:endParaRPr>
                    </a:p>
                  </a:txBody>
                  <a:tcPr marT="137150" marB="137150" marR="137150" marL="137150">
                    <a:solidFill>
                      <a:srgbClr val="E5E6ED"/>
                    </a:solidFill>
                  </a:tcPr>
                </a:tc>
              </a:tr>
              <a:tr h="120650">
                <a:tc>
                  <a:txBody>
                    <a:bodyPr/>
                    <a:lstStyle/>
                    <a:p>
                      <a:pPr indent="0" lvl="0" marL="0" marR="0" rtl="0" algn="l">
                        <a:lnSpc>
                          <a:spcPct val="115000"/>
                        </a:lnSpc>
                        <a:spcBef>
                          <a:spcPts val="0"/>
                        </a:spcBef>
                        <a:spcAft>
                          <a:spcPts val="0"/>
                        </a:spcAft>
                        <a:buClr>
                          <a:srgbClr val="000000"/>
                        </a:buClr>
                        <a:buSzPts val="950"/>
                        <a:buFont typeface="Arial"/>
                        <a:buNone/>
                      </a:pPr>
                      <a:r>
                        <a:rPr b="1" lang="es-MX" sz="950" u="none" cap="none" strike="noStrike">
                          <a:latin typeface="Arial"/>
                          <a:ea typeface="Arial"/>
                          <a:cs typeface="Arial"/>
                          <a:sym typeface="Arial"/>
                        </a:rPr>
                        <a:t>Validación pedagógica:</a:t>
                      </a:r>
                      <a:endParaRPr b="1" sz="1100" u="none" cap="none" strike="noStrike">
                        <a:latin typeface="Arial"/>
                        <a:ea typeface="Arial"/>
                        <a:cs typeface="Arial"/>
                        <a:sym typeface="Arial"/>
                      </a:endParaRPr>
                    </a:p>
                  </a:txBody>
                  <a:tcPr marT="137150" marB="137150" marR="137150" marL="137150">
                    <a:solidFill>
                      <a:srgbClr val="E5E6ED"/>
                    </a:solidFill>
                  </a:tcPr>
                </a:tc>
                <a:tc>
                  <a:txBody>
                    <a:bodyPr/>
                    <a:lstStyle/>
                    <a:p>
                      <a:pPr indent="0" lvl="0" marL="0" marR="0" rtl="0" algn="r">
                        <a:lnSpc>
                          <a:spcPct val="115000"/>
                        </a:lnSpc>
                        <a:spcBef>
                          <a:spcPts val="0"/>
                        </a:spcBef>
                        <a:spcAft>
                          <a:spcPts val="0"/>
                        </a:spcAft>
                        <a:buClr>
                          <a:srgbClr val="000000"/>
                        </a:buClr>
                        <a:buSzPts val="950"/>
                        <a:buFont typeface="Arial"/>
                        <a:buNone/>
                      </a:pPr>
                      <a:r>
                        <a:rPr lang="es-MX" sz="950" u="none" cap="none" strike="noStrike">
                          <a:latin typeface="Arial"/>
                          <a:ea typeface="Arial"/>
                          <a:cs typeface="Arial"/>
                          <a:sym typeface="Arial"/>
                        </a:rPr>
                        <a:t>Sandra Patricia Hoyos Sepúlveda</a:t>
                      </a:r>
                      <a:endParaRPr sz="1100" u="none" cap="none" strike="noStrike">
                        <a:solidFill>
                          <a:srgbClr val="2D2533"/>
                        </a:solidFill>
                        <a:latin typeface="Arial"/>
                        <a:ea typeface="Arial"/>
                        <a:cs typeface="Arial"/>
                        <a:sym typeface="Arial"/>
                      </a:endParaRPr>
                    </a:p>
                  </a:txBody>
                  <a:tcPr marT="137150" marB="137150" marR="137150" marL="137150">
                    <a:solidFill>
                      <a:srgbClr val="E5E6ED"/>
                    </a:solidFill>
                  </a:tcPr>
                </a:tc>
              </a:tr>
              <a:tr h="120650">
                <a:tc>
                  <a:txBody>
                    <a:bodyPr/>
                    <a:lstStyle/>
                    <a:p>
                      <a:pPr indent="0" lvl="0" marL="0" marR="0" rtl="0" algn="l">
                        <a:lnSpc>
                          <a:spcPct val="115000"/>
                        </a:lnSpc>
                        <a:spcBef>
                          <a:spcPts val="0"/>
                        </a:spcBef>
                        <a:spcAft>
                          <a:spcPts val="0"/>
                        </a:spcAft>
                        <a:buClr>
                          <a:srgbClr val="000000"/>
                        </a:buClr>
                        <a:buSzPts val="950"/>
                        <a:buFont typeface="Arial"/>
                        <a:buNone/>
                      </a:pPr>
                      <a:r>
                        <a:rPr b="1" lang="es-MX" sz="950" u="none" cap="none" strike="noStrike">
                          <a:latin typeface="Arial"/>
                          <a:ea typeface="Arial"/>
                          <a:cs typeface="Arial"/>
                          <a:sym typeface="Arial"/>
                        </a:rPr>
                        <a:t>Diseño gráfico:</a:t>
                      </a:r>
                      <a:endParaRPr b="1" sz="1100" u="none" cap="none" strike="noStrike">
                        <a:latin typeface="Arial"/>
                        <a:ea typeface="Arial"/>
                        <a:cs typeface="Arial"/>
                        <a:sym typeface="Arial"/>
                      </a:endParaRPr>
                    </a:p>
                  </a:txBody>
                  <a:tcPr marT="137150" marB="137150" marR="137150" marL="137150">
                    <a:solidFill>
                      <a:srgbClr val="E5E6ED"/>
                    </a:solidFill>
                  </a:tcPr>
                </a:tc>
                <a:tc>
                  <a:txBody>
                    <a:bodyPr/>
                    <a:lstStyle/>
                    <a:p>
                      <a:pPr indent="0" lvl="0" marL="0" marR="0" rtl="0" algn="r">
                        <a:lnSpc>
                          <a:spcPct val="115000"/>
                        </a:lnSpc>
                        <a:spcBef>
                          <a:spcPts val="0"/>
                        </a:spcBef>
                        <a:spcAft>
                          <a:spcPts val="0"/>
                        </a:spcAft>
                        <a:buClr>
                          <a:srgbClr val="000000"/>
                        </a:buClr>
                        <a:buSzPts val="950"/>
                        <a:buFont typeface="Arial"/>
                        <a:buNone/>
                      </a:pPr>
                      <a:r>
                        <a:rPr lang="es-MX" sz="950" u="none" cap="none" strike="noStrike">
                          <a:latin typeface="Arial"/>
                          <a:ea typeface="Arial"/>
                          <a:cs typeface="Arial"/>
                          <a:sym typeface="Arial"/>
                        </a:rPr>
                        <a:t>Andrea Valentina Roa Orozco</a:t>
                      </a:r>
                      <a:endParaRPr sz="1100" u="none" cap="none" strike="noStrike">
                        <a:solidFill>
                          <a:srgbClr val="2D2533"/>
                        </a:solidFill>
                        <a:latin typeface="Arial"/>
                        <a:ea typeface="Arial"/>
                        <a:cs typeface="Arial"/>
                        <a:sym typeface="Arial"/>
                      </a:endParaRPr>
                    </a:p>
                  </a:txBody>
                  <a:tcPr marT="137150" marB="137150" marR="137150" marL="137150">
                    <a:solidFill>
                      <a:srgbClr val="E5E6ED"/>
                    </a:solidFill>
                  </a:tcPr>
                </a:tc>
              </a:tr>
              <a:tr h="120650">
                <a:tc>
                  <a:txBody>
                    <a:bodyPr/>
                    <a:lstStyle/>
                    <a:p>
                      <a:pPr indent="0" lvl="0" marL="0" marR="0" rtl="0" algn="l">
                        <a:lnSpc>
                          <a:spcPct val="115000"/>
                        </a:lnSpc>
                        <a:spcBef>
                          <a:spcPts val="0"/>
                        </a:spcBef>
                        <a:spcAft>
                          <a:spcPts val="0"/>
                        </a:spcAft>
                        <a:buClr>
                          <a:srgbClr val="000000"/>
                        </a:buClr>
                        <a:buSzPts val="950"/>
                        <a:buFont typeface="Arial"/>
                        <a:buNone/>
                      </a:pPr>
                      <a:r>
                        <a:rPr b="1" lang="es-MX" sz="950" u="none" cap="none" strike="noStrike">
                          <a:latin typeface="Arial"/>
                          <a:ea typeface="Arial"/>
                          <a:cs typeface="Arial"/>
                          <a:sym typeface="Arial"/>
                        </a:rPr>
                        <a:t>Disposición y ensamble:</a:t>
                      </a:r>
                      <a:endParaRPr b="1" sz="1100" u="none" cap="none" strike="noStrike">
                        <a:latin typeface="Arial"/>
                        <a:ea typeface="Arial"/>
                        <a:cs typeface="Arial"/>
                        <a:sym typeface="Arial"/>
                      </a:endParaRPr>
                    </a:p>
                  </a:txBody>
                  <a:tcPr marT="137150" marB="137150" marR="137150" marL="137150">
                    <a:solidFill>
                      <a:srgbClr val="E5E6ED"/>
                    </a:solidFill>
                  </a:tcPr>
                </a:tc>
                <a:tc>
                  <a:txBody>
                    <a:bodyPr/>
                    <a:lstStyle/>
                    <a:p>
                      <a:pPr indent="0" lvl="0" marL="0" marR="0" rtl="0" algn="r">
                        <a:lnSpc>
                          <a:spcPct val="115000"/>
                        </a:lnSpc>
                        <a:spcBef>
                          <a:spcPts val="0"/>
                        </a:spcBef>
                        <a:spcAft>
                          <a:spcPts val="0"/>
                        </a:spcAft>
                        <a:buClr>
                          <a:srgbClr val="000000"/>
                        </a:buClr>
                        <a:buSzPts val="950"/>
                        <a:buFont typeface="Arial"/>
                        <a:buNone/>
                      </a:pPr>
                      <a:r>
                        <a:rPr lang="es-MX" sz="950" u="none" cap="none" strike="noStrike">
                          <a:latin typeface="Arial"/>
                          <a:ea typeface="Arial"/>
                          <a:cs typeface="Arial"/>
                          <a:sym typeface="Arial"/>
                        </a:rPr>
                        <a:t>Samayda Herrera Betancur</a:t>
                      </a:r>
                      <a:endParaRPr sz="1100" u="none" cap="none" strike="noStrike">
                        <a:solidFill>
                          <a:srgbClr val="2D2533"/>
                        </a:solidFill>
                        <a:latin typeface="Arial"/>
                        <a:ea typeface="Arial"/>
                        <a:cs typeface="Arial"/>
                        <a:sym typeface="Arial"/>
                      </a:endParaRPr>
                    </a:p>
                  </a:txBody>
                  <a:tcPr marT="137150" marB="137150" marR="137150" marL="137150">
                    <a:solidFill>
                      <a:srgbClr val="E5E6ED"/>
                    </a:solidFill>
                  </a:tcPr>
                </a:tc>
              </a:tr>
              <a:tr h="120650">
                <a:tc>
                  <a:txBody>
                    <a:bodyPr/>
                    <a:lstStyle/>
                    <a:p>
                      <a:pPr indent="0" lvl="0" marL="0" marR="0" rtl="0" algn="l">
                        <a:lnSpc>
                          <a:spcPct val="115000"/>
                        </a:lnSpc>
                        <a:spcBef>
                          <a:spcPts val="0"/>
                        </a:spcBef>
                        <a:spcAft>
                          <a:spcPts val="0"/>
                        </a:spcAft>
                        <a:buClr>
                          <a:srgbClr val="000000"/>
                        </a:buClr>
                        <a:buSzPts val="950"/>
                        <a:buFont typeface="Arial"/>
                        <a:buNone/>
                      </a:pPr>
                      <a:r>
                        <a:rPr b="1" lang="es-MX" sz="950" u="none" cap="none" strike="noStrike">
                          <a:latin typeface="Arial"/>
                          <a:ea typeface="Arial"/>
                          <a:cs typeface="Arial"/>
                          <a:sym typeface="Arial"/>
                        </a:rPr>
                        <a:t>Última actualización</a:t>
                      </a:r>
                      <a:endParaRPr b="1" sz="1100" u="none" cap="none" strike="noStrike">
                        <a:latin typeface="Arial"/>
                        <a:ea typeface="Arial"/>
                        <a:cs typeface="Arial"/>
                        <a:sym typeface="Arial"/>
                      </a:endParaRPr>
                    </a:p>
                  </a:txBody>
                  <a:tcPr marT="137150" marB="137150" marR="137150" marL="137150">
                    <a:solidFill>
                      <a:srgbClr val="E5E6ED"/>
                    </a:solidFill>
                  </a:tcPr>
                </a:tc>
                <a:tc>
                  <a:txBody>
                    <a:bodyPr/>
                    <a:lstStyle/>
                    <a:p>
                      <a:pPr indent="0" lvl="0" marL="0" marR="0" rtl="0" algn="r">
                        <a:lnSpc>
                          <a:spcPct val="115000"/>
                        </a:lnSpc>
                        <a:spcBef>
                          <a:spcPts val="0"/>
                        </a:spcBef>
                        <a:spcAft>
                          <a:spcPts val="0"/>
                        </a:spcAft>
                        <a:buClr>
                          <a:srgbClr val="000000"/>
                        </a:buClr>
                        <a:buSzPts val="950"/>
                        <a:buFont typeface="Arial"/>
                        <a:buNone/>
                      </a:pPr>
                      <a:r>
                        <a:rPr lang="es-MX" sz="950" u="none" cap="none" strike="noStrike">
                          <a:latin typeface="Arial"/>
                          <a:ea typeface="Arial"/>
                          <a:cs typeface="Arial"/>
                          <a:sym typeface="Arial"/>
                        </a:rPr>
                        <a:t>Octubre de 2026</a:t>
                      </a:r>
                      <a:endParaRPr sz="1100" u="none" cap="none" strike="noStrike">
                        <a:solidFill>
                          <a:srgbClr val="2D2533"/>
                        </a:solidFill>
                        <a:latin typeface="Arial"/>
                        <a:ea typeface="Arial"/>
                        <a:cs typeface="Arial"/>
                        <a:sym typeface="Arial"/>
                      </a:endParaRPr>
                    </a:p>
                  </a:txBody>
                  <a:tcPr marT="137150" marB="137150" marR="137150" marL="137150">
                    <a:solidFill>
                      <a:srgbClr val="E5E6ED"/>
                    </a:solidFill>
                  </a:tcPr>
                </a:tc>
              </a:tr>
            </a:tbl>
          </a:graphicData>
        </a:graphic>
      </p:graphicFrame>
      <p:sp>
        <p:nvSpPr>
          <p:cNvPr id="546" name="Google Shape;546;p9"/>
          <p:cNvSpPr/>
          <p:nvPr/>
        </p:nvSpPr>
        <p:spPr>
          <a:xfrm>
            <a:off x="638485" y="1104900"/>
            <a:ext cx="5182384" cy="2095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75"/>
              <a:buFont typeface="Arial"/>
              <a:buNone/>
            </a:pPr>
            <a:r>
              <a:rPr b="1" i="0" lang="es-MX" sz="975" u="none" cap="none" strike="noStrike">
                <a:solidFill>
                  <a:srgbClr val="3560D6"/>
                </a:solidFill>
                <a:latin typeface="Arial"/>
                <a:ea typeface="Arial"/>
                <a:cs typeface="Arial"/>
                <a:sym typeface="Arial"/>
              </a:rPr>
              <a:t>Créditos</a:t>
            </a:r>
            <a:endParaRPr b="1" i="0" sz="975" u="none" cap="none" strike="noStrike">
              <a:solidFill>
                <a:srgbClr val="3560D6"/>
              </a:solidFill>
              <a:latin typeface="Arial"/>
              <a:ea typeface="Arial"/>
              <a:cs typeface="Arial"/>
              <a:sym typeface="Arial"/>
            </a:endParaRPr>
          </a:p>
        </p:txBody>
      </p:sp>
      <p:sp>
        <p:nvSpPr>
          <p:cNvPr id="547" name="Google Shape;547;p9"/>
          <p:cNvSpPr/>
          <p:nvPr/>
        </p:nvSpPr>
        <p:spPr>
          <a:xfrm>
            <a:off x="638485" y="8401050"/>
            <a:ext cx="5341842" cy="228600"/>
          </a:xfrm>
          <a:prstGeom prst="rect">
            <a:avLst/>
          </a:prstGeom>
          <a:noFill/>
          <a:ln>
            <a:noFill/>
          </a:ln>
        </p:spPr>
        <p:txBody>
          <a:bodyPr anchorCtr="0" anchor="t" bIns="0" lIns="0" spcFirstLastPara="1" rIns="0" wrap="square" tIns="0">
            <a:normAutofit/>
          </a:bodyPr>
          <a:lstStyle/>
          <a:p>
            <a:pPr indent="0" lvl="0" marL="0" marR="0" rtl="0" algn="ctr">
              <a:lnSpc>
                <a:spcPct val="100000"/>
              </a:lnSpc>
              <a:spcBef>
                <a:spcPts val="0"/>
              </a:spcBef>
              <a:spcAft>
                <a:spcPts val="0"/>
              </a:spcAft>
              <a:buClr>
                <a:srgbClr val="000000"/>
              </a:buClr>
              <a:buSzPts val="975"/>
              <a:buFont typeface="Arial"/>
              <a:buNone/>
            </a:pPr>
            <a:r>
              <a:rPr b="0" i="0" lang="es-MX" sz="975" u="none" cap="none" strike="noStrike">
                <a:solidFill>
                  <a:srgbClr val="7B7480"/>
                </a:solidFill>
                <a:latin typeface="Arial"/>
                <a:ea typeface="Arial"/>
                <a:cs typeface="Arial"/>
                <a:sym typeface="Arial"/>
              </a:rPr>
              <a:t>Copyright 2026. Todos los derechos reservados.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2026-08-28T21:01:11Z</dcterms:created>
  <dc:creator>Walnut Exporter</dc:creator>
</cp:coreProperties>
</file>