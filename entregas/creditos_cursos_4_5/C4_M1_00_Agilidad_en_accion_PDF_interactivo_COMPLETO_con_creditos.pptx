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8"/>
  </p:sldIdLst>
  <p:sldSz cy="10934700" cx="19050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444">
          <p15:clr>
            <a:srgbClr val="A4A3A4"/>
          </p15:clr>
        </p15:guide>
        <p15:guide id="2" pos="5002">
          <p15:clr>
            <a:srgbClr val="000000"/>
          </p15:clr>
        </p15:guide>
      </p15:sldGuideLst>
    </p:ext>
    <p:ext uri="GoogleSlidesCustomDataVersion2">
      <go:slidesCustomData xmlns:go="http://customooxmlschemas.google.com/" r:id="rId27" roundtripDataSignature="AMtx7mgRLobvM1VNIuYSNzRCYEg55TvnA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444" orient="horz"/>
        <p:guide pos="5002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customschemas.google.com/relationships/presentationmetadata" Target="metadata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249453" y="0"/>
            <a:ext cx="25011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89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33"/>
              <a:buFont typeface="Arial"/>
              <a:buNone/>
            </a:pPr>
            <a:r>
              <a:t/>
            </a:r>
            <a:endParaRPr b="0" i="0" sz="2833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" name="Google Shape;15;p1:notes"/>
          <p:cNvSpPr/>
          <p:nvPr>
            <p:ph idx="2" type="sldImg"/>
          </p:nvPr>
        </p:nvSpPr>
        <p:spPr>
          <a:xfrm>
            <a:off x="-1112838" y="0"/>
            <a:ext cx="5226051" cy="30003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2:notes"/>
          <p:cNvSpPr/>
          <p:nvPr>
            <p:ph idx="2" type="sldImg"/>
          </p:nvPr>
        </p:nvSpPr>
        <p:spPr>
          <a:xfrm>
            <a:off x="249453" y="0"/>
            <a:ext cx="25011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6:notes"/>
          <p:cNvSpPr/>
          <p:nvPr>
            <p:ph idx="2" type="sldImg"/>
          </p:nvPr>
        </p:nvSpPr>
        <p:spPr>
          <a:xfrm>
            <a:off x="249453" y="0"/>
            <a:ext cx="25011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7:notes"/>
          <p:cNvSpPr/>
          <p:nvPr>
            <p:ph idx="2" type="sldImg"/>
          </p:nvPr>
        </p:nvSpPr>
        <p:spPr>
          <a:xfrm>
            <a:off x="249453" y="0"/>
            <a:ext cx="25011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8:notes"/>
          <p:cNvSpPr/>
          <p:nvPr>
            <p:ph idx="2" type="sldImg"/>
          </p:nvPr>
        </p:nvSpPr>
        <p:spPr>
          <a:xfrm>
            <a:off x="249453" y="0"/>
            <a:ext cx="25011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9:notes"/>
          <p:cNvSpPr/>
          <p:nvPr>
            <p:ph idx="2" type="sldImg"/>
          </p:nvPr>
        </p:nvSpPr>
        <p:spPr>
          <a:xfrm>
            <a:off x="249453" y="0"/>
            <a:ext cx="25011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20:notes"/>
          <p:cNvSpPr/>
          <p:nvPr>
            <p:ph idx="2" type="sldImg"/>
          </p:nvPr>
        </p:nvSpPr>
        <p:spPr>
          <a:xfrm>
            <a:off x="249453" y="0"/>
            <a:ext cx="25011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21:notes"/>
          <p:cNvSpPr/>
          <p:nvPr>
            <p:ph idx="2" type="sldImg"/>
          </p:nvPr>
        </p:nvSpPr>
        <p:spPr>
          <a:xfrm>
            <a:off x="249453" y="0"/>
            <a:ext cx="25011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22:notes"/>
          <p:cNvSpPr/>
          <p:nvPr>
            <p:ph idx="2" type="sldImg"/>
          </p:nvPr>
        </p:nvSpPr>
        <p:spPr>
          <a:xfrm>
            <a:off x="249453" y="0"/>
            <a:ext cx="25011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2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23:notes"/>
          <p:cNvSpPr/>
          <p:nvPr>
            <p:ph idx="2" type="sldImg"/>
          </p:nvPr>
        </p:nvSpPr>
        <p:spPr>
          <a:xfrm>
            <a:off x="249453" y="0"/>
            <a:ext cx="25011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9" name="Google Shape;599;p24:notes"/>
          <p:cNvSpPr/>
          <p:nvPr>
            <p:ph idx="2" type="sldImg"/>
          </p:nvPr>
        </p:nvSpPr>
        <p:spPr>
          <a:xfrm>
            <a:off x="249453" y="0"/>
            <a:ext cx="25011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25:notes"/>
          <p:cNvSpPr/>
          <p:nvPr>
            <p:ph idx="2" type="sldImg"/>
          </p:nvPr>
        </p:nvSpPr>
        <p:spPr>
          <a:xfrm>
            <a:off x="249453" y="0"/>
            <a:ext cx="25011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5" name="Google Shape;735;p26:notes"/>
          <p:cNvSpPr/>
          <p:nvPr>
            <p:ph idx="2" type="sldImg"/>
          </p:nvPr>
        </p:nvSpPr>
        <p:spPr>
          <a:xfrm>
            <a:off x="249453" y="0"/>
            <a:ext cx="25011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6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Google Shape;797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8" name="Google Shape;798;p27:notes"/>
          <p:cNvSpPr/>
          <p:nvPr>
            <p:ph idx="2" type="sldImg"/>
          </p:nvPr>
        </p:nvSpPr>
        <p:spPr>
          <a:xfrm>
            <a:off x="249453" y="0"/>
            <a:ext cx="25011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5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7" name="Google Shape;857;p28:notes"/>
          <p:cNvSpPr/>
          <p:nvPr>
            <p:ph idx="2" type="sldImg"/>
          </p:nvPr>
        </p:nvSpPr>
        <p:spPr>
          <a:xfrm>
            <a:off x="249453" y="0"/>
            <a:ext cx="25011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6" name="Shape 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Google Shape;917;p2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8" name="Google Shape;918;p29:notes"/>
          <p:cNvSpPr/>
          <p:nvPr>
            <p:ph idx="2" type="sldImg"/>
          </p:nvPr>
        </p:nvSpPr>
        <p:spPr>
          <a:xfrm>
            <a:off x="249453" y="0"/>
            <a:ext cx="25011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7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Google Shape;978;p3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9" name="Google Shape;979;p30:notes"/>
          <p:cNvSpPr/>
          <p:nvPr>
            <p:ph idx="2" type="sldImg"/>
          </p:nvPr>
        </p:nvSpPr>
        <p:spPr>
          <a:xfrm>
            <a:off x="249453" y="0"/>
            <a:ext cx="25011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0" name="Shape 10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Google Shape;104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2" name="Google Shape;1042;p31:notes"/>
          <p:cNvSpPr/>
          <p:nvPr>
            <p:ph idx="2" type="sldImg"/>
          </p:nvPr>
        </p:nvSpPr>
        <p:spPr>
          <a:xfrm>
            <a:off x="249453" y="0"/>
            <a:ext cx="25011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8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Google Shape;1089;p3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0" name="Google Shape;1090;p32:notes"/>
          <p:cNvSpPr/>
          <p:nvPr>
            <p:ph idx="2" type="sldImg"/>
          </p:nvPr>
        </p:nvSpPr>
        <p:spPr>
          <a:xfrm>
            <a:off x="249453" y="0"/>
            <a:ext cx="25011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3" name="Shape 1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4" name="Google Shape;1134;p3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5" name="Google Shape;1135;p33:notes"/>
          <p:cNvSpPr/>
          <p:nvPr>
            <p:ph idx="2" type="sldImg"/>
          </p:nvPr>
        </p:nvSpPr>
        <p:spPr>
          <a:xfrm>
            <a:off x="249453" y="0"/>
            <a:ext cx="25011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8" name="Shape 1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" name="Google Shape;1179;p3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0" name="Google Shape;1180;p34:notes"/>
          <p:cNvSpPr/>
          <p:nvPr>
            <p:ph idx="2" type="sldImg"/>
          </p:nvPr>
        </p:nvSpPr>
        <p:spPr>
          <a:xfrm>
            <a:off x="249453" y="0"/>
            <a:ext cx="25011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9702332"/>
            <a:ext cx="19050000" cy="1528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1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345987" y="570075"/>
            <a:ext cx="6219825" cy="9686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51.pn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slide" Target="slide2.xml"/><Relationship Id="rId9" Type="http://schemas.openxmlformats.org/officeDocument/2006/relationships/slide" Target="slide2.xml"/><Relationship Id="rId10" Type="http://schemas.openxmlformats.org/officeDocument/2006/relationships/image" Target="../media/image3.png"/><Relationship Id="rId11" Type="http://schemas.openxmlformats.org/officeDocument/2006/relationships/image" Target="../media/image7.png"/><Relationship Id="rId12" Type="http://schemas.openxmlformats.org/officeDocument/2006/relationships/image" Target="../media/image4.png"/><Relationship Id="rId13" Type="http://schemas.openxmlformats.org/officeDocument/2006/relationships/image" Target="../media/image5.png"/><Relationship Id="rId14" Type="http://schemas.openxmlformats.org/officeDocument/2006/relationships/slide" Target="slide3.xml"/><Relationship Id="rId15" Type="http://schemas.openxmlformats.org/officeDocument/2006/relationships/slide" Target="slide3.xml"/><Relationship Id="rId16" Type="http://schemas.openxmlformats.org/officeDocument/2006/relationships/slide" Target="slide9.xml"/><Relationship Id="rId17" Type="http://schemas.openxmlformats.org/officeDocument/2006/relationships/slide" Target="slide9.xml"/><Relationship Id="rId18" Type="http://schemas.openxmlformats.org/officeDocument/2006/relationships/slide" Target="slide11.xml"/><Relationship Id="rId19" Type="http://schemas.openxmlformats.org/officeDocument/2006/relationships/slide" Target="slide11.xml"/><Relationship Id="rId20" Type="http://schemas.openxmlformats.org/officeDocument/2006/relationships/slide" Target="slide13.xml"/><Relationship Id="rId21" Type="http://schemas.openxmlformats.org/officeDocument/2006/relationships/slide" Target="slide13.xml"/><Relationship Id="rId22" Type="http://schemas.openxmlformats.org/officeDocument/2006/relationships/slide" Target="slide16.xml"/><Relationship Id="rId23" Type="http://schemas.openxmlformats.org/officeDocument/2006/relationships/slide" Target="slide16.xml"/><Relationship Id="rId24" Type="http://schemas.openxmlformats.org/officeDocument/2006/relationships/slide" Target="slide18.xml"/><Relationship Id="rId25" Type="http://schemas.openxmlformats.org/officeDocument/2006/relationships/slide" Target="slide18.xml"/><Relationship Id="rId26" Type="http://schemas.openxmlformats.org/officeDocument/2006/relationships/slide" Target="slide1.xml"/><Relationship Id="rId27" Type="http://schemas.openxmlformats.org/officeDocument/2006/relationships/slide" Target="slide1.xml"/><Relationship Id="rId28" Type="http://schemas.openxmlformats.org/officeDocument/2006/relationships/image" Target="../media/image11.png"/><Relationship Id="rId29" Type="http://schemas.openxmlformats.org/officeDocument/2006/relationships/slide" Target="slide2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9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1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6.xml"/><Relationship Id="rId12" Type="http://schemas.openxmlformats.org/officeDocument/2006/relationships/slide" Target="slide16.xml"/><Relationship Id="rId13" Type="http://schemas.openxmlformats.org/officeDocument/2006/relationships/slide" Target="slide18.xml"/><Relationship Id="rId14" Type="http://schemas.openxmlformats.org/officeDocument/2006/relationships/slide" Target="slide18.xml"/><Relationship Id="rId15" Type="http://schemas.openxmlformats.org/officeDocument/2006/relationships/slide" Target="slide1.xml"/><Relationship Id="rId16" Type="http://schemas.openxmlformats.org/officeDocument/2006/relationships/slide" Target="slide1.xml"/><Relationship Id="rId17" Type="http://schemas.openxmlformats.org/officeDocument/2006/relationships/slide" Target="slide3.xml"/><Relationship Id="rId18" Type="http://schemas.openxmlformats.org/officeDocument/2006/relationships/slide" Target="slide3.xml"/><Relationship Id="rId19" Type="http://schemas.openxmlformats.org/officeDocument/2006/relationships/slide" Target="slide1.xml"/><Relationship Id="rId20" Type="http://schemas.openxmlformats.org/officeDocument/2006/relationships/slide" Target="slide1.xml"/><Relationship Id="rId21" Type="http://schemas.openxmlformats.org/officeDocument/2006/relationships/image" Target="../media/image11.png"/><Relationship Id="rId22" Type="http://schemas.openxmlformats.org/officeDocument/2006/relationships/slide" Target="slide3.xml"/><Relationship Id="rId23" Type="http://schemas.openxmlformats.org/officeDocument/2006/relationships/slide" Target="slide3.xml"/><Relationship Id="rId24" Type="http://schemas.openxmlformats.org/officeDocument/2006/relationships/slide" Target="slide3.xml"/><Relationship Id="rId25" Type="http://schemas.openxmlformats.org/officeDocument/2006/relationships/image" Target="../media/image14.png"/><Relationship Id="rId26" Type="http://schemas.openxmlformats.org/officeDocument/2006/relationships/slide" Target="slide9.xml"/><Relationship Id="rId27" Type="http://schemas.openxmlformats.org/officeDocument/2006/relationships/slide" Target="slide9.xml"/><Relationship Id="rId28" Type="http://schemas.openxmlformats.org/officeDocument/2006/relationships/slide" Target="slide9.xml"/><Relationship Id="rId29" Type="http://schemas.openxmlformats.org/officeDocument/2006/relationships/image" Target="../media/image23.png"/><Relationship Id="rId30" Type="http://schemas.openxmlformats.org/officeDocument/2006/relationships/slide" Target="slide11.xml"/><Relationship Id="rId31" Type="http://schemas.openxmlformats.org/officeDocument/2006/relationships/slide" Target="slide11.xml"/><Relationship Id="rId32" Type="http://schemas.openxmlformats.org/officeDocument/2006/relationships/slide" Target="slide11.xml"/><Relationship Id="rId33" Type="http://schemas.openxmlformats.org/officeDocument/2006/relationships/image" Target="../media/image12.png"/><Relationship Id="rId34" Type="http://schemas.openxmlformats.org/officeDocument/2006/relationships/slide" Target="slide13.xml"/><Relationship Id="rId35" Type="http://schemas.openxmlformats.org/officeDocument/2006/relationships/slide" Target="slide13.xml"/><Relationship Id="rId36" Type="http://schemas.openxmlformats.org/officeDocument/2006/relationships/slide" Target="slide13.xml"/><Relationship Id="rId37" Type="http://schemas.openxmlformats.org/officeDocument/2006/relationships/image" Target="../media/image16.png"/><Relationship Id="rId38" Type="http://schemas.openxmlformats.org/officeDocument/2006/relationships/slide" Target="slide16.xml"/><Relationship Id="rId39" Type="http://schemas.openxmlformats.org/officeDocument/2006/relationships/slide" Target="slide16.xml"/><Relationship Id="rId40" Type="http://schemas.openxmlformats.org/officeDocument/2006/relationships/slide" Target="slide16.xml"/><Relationship Id="rId41" Type="http://schemas.openxmlformats.org/officeDocument/2006/relationships/image" Target="../media/image10.png"/><Relationship Id="rId42" Type="http://schemas.openxmlformats.org/officeDocument/2006/relationships/slide" Target="slide18.xml"/><Relationship Id="rId43" Type="http://schemas.openxmlformats.org/officeDocument/2006/relationships/slide" Target="slide18.xml"/><Relationship Id="rId44" Type="http://schemas.openxmlformats.org/officeDocument/2006/relationships/slide" Target="slide18.xml"/><Relationship Id="rId45" Type="http://schemas.openxmlformats.org/officeDocument/2006/relationships/image" Target="../media/image20.png"/><Relationship Id="rId46" Type="http://schemas.openxmlformats.org/officeDocument/2006/relationships/image" Target="../media/image15.png"/><Relationship Id="rId47" Type="http://schemas.openxmlformats.org/officeDocument/2006/relationships/slide" Target="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9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1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6.xml"/><Relationship Id="rId12" Type="http://schemas.openxmlformats.org/officeDocument/2006/relationships/slide" Target="slide16.xml"/><Relationship Id="rId13" Type="http://schemas.openxmlformats.org/officeDocument/2006/relationships/slide" Target="slide18.xml"/><Relationship Id="rId14" Type="http://schemas.openxmlformats.org/officeDocument/2006/relationships/slide" Target="slide18.xml"/><Relationship Id="rId15" Type="http://schemas.openxmlformats.org/officeDocument/2006/relationships/slide" Target="slide2.xml"/><Relationship Id="rId16" Type="http://schemas.openxmlformats.org/officeDocument/2006/relationships/slide" Target="slide2.xml"/><Relationship Id="rId17" Type="http://schemas.openxmlformats.org/officeDocument/2006/relationships/slide" Target="slide4.xml"/><Relationship Id="rId18" Type="http://schemas.openxmlformats.org/officeDocument/2006/relationships/slide" Target="slide4.xml"/><Relationship Id="rId19" Type="http://schemas.openxmlformats.org/officeDocument/2006/relationships/slide" Target="slide1.xml"/><Relationship Id="rId20" Type="http://schemas.openxmlformats.org/officeDocument/2006/relationships/slide" Target="slide1.xml"/><Relationship Id="rId21" Type="http://schemas.openxmlformats.org/officeDocument/2006/relationships/image" Target="../media/image11.png"/><Relationship Id="rId22" Type="http://schemas.openxmlformats.org/officeDocument/2006/relationships/image" Target="../media/image17.png"/><Relationship Id="rId23" Type="http://schemas.openxmlformats.org/officeDocument/2006/relationships/image" Target="../media/image18.png"/><Relationship Id="rId24" Type="http://schemas.openxmlformats.org/officeDocument/2006/relationships/image" Target="../media/image19.png"/><Relationship Id="rId25" Type="http://schemas.openxmlformats.org/officeDocument/2006/relationships/slide" Target="slide8.xml"/><Relationship Id="rId26" Type="http://schemas.openxmlformats.org/officeDocument/2006/relationships/image" Target="../media/image21.png"/><Relationship Id="rId27" Type="http://schemas.openxmlformats.org/officeDocument/2006/relationships/slide" Target="slide9.xml"/><Relationship Id="rId28" Type="http://schemas.openxmlformats.org/officeDocument/2006/relationships/image" Target="../media/image24.png"/><Relationship Id="rId29" Type="http://schemas.openxmlformats.org/officeDocument/2006/relationships/slide" Target="slide11.xml"/><Relationship Id="rId30" Type="http://schemas.openxmlformats.org/officeDocument/2006/relationships/image" Target="../media/image33.png"/><Relationship Id="rId31" Type="http://schemas.openxmlformats.org/officeDocument/2006/relationships/slide" Target="slide16.xml"/><Relationship Id="rId32" Type="http://schemas.openxmlformats.org/officeDocument/2006/relationships/image" Target="../media/image30.png"/><Relationship Id="rId33" Type="http://schemas.openxmlformats.org/officeDocument/2006/relationships/slide" Target="slide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9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1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6.xml"/><Relationship Id="rId12" Type="http://schemas.openxmlformats.org/officeDocument/2006/relationships/slide" Target="slide16.xml"/><Relationship Id="rId13" Type="http://schemas.openxmlformats.org/officeDocument/2006/relationships/slide" Target="slide18.xml"/><Relationship Id="rId14" Type="http://schemas.openxmlformats.org/officeDocument/2006/relationships/slide" Target="slide18.xml"/><Relationship Id="rId15" Type="http://schemas.openxmlformats.org/officeDocument/2006/relationships/slide" Target="slide3.xml"/><Relationship Id="rId16" Type="http://schemas.openxmlformats.org/officeDocument/2006/relationships/slide" Target="slide3.xml"/><Relationship Id="rId17" Type="http://schemas.openxmlformats.org/officeDocument/2006/relationships/slide" Target="slide5.xml"/><Relationship Id="rId18" Type="http://schemas.openxmlformats.org/officeDocument/2006/relationships/slide" Target="slide5.xml"/><Relationship Id="rId19" Type="http://schemas.openxmlformats.org/officeDocument/2006/relationships/slide" Target="slide1.xml"/><Relationship Id="rId20" Type="http://schemas.openxmlformats.org/officeDocument/2006/relationships/slide" Target="slide1.xml"/><Relationship Id="rId21" Type="http://schemas.openxmlformats.org/officeDocument/2006/relationships/image" Target="../media/image11.png"/><Relationship Id="rId22" Type="http://schemas.openxmlformats.org/officeDocument/2006/relationships/image" Target="../media/image25.png"/><Relationship Id="rId23" Type="http://schemas.openxmlformats.org/officeDocument/2006/relationships/image" Target="../media/image27.png"/><Relationship Id="rId24" Type="http://schemas.openxmlformats.org/officeDocument/2006/relationships/image" Target="../media/image22.png"/><Relationship Id="rId25" Type="http://schemas.openxmlformats.org/officeDocument/2006/relationships/image" Target="../media/image28.png"/><Relationship Id="rId26" Type="http://schemas.openxmlformats.org/officeDocument/2006/relationships/image" Target="../media/image18.png"/><Relationship Id="rId27" Type="http://schemas.openxmlformats.org/officeDocument/2006/relationships/image" Target="../media/image34.png"/><Relationship Id="rId28" Type="http://schemas.openxmlformats.org/officeDocument/2006/relationships/slide" Target="slide2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9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1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6.xml"/><Relationship Id="rId12" Type="http://schemas.openxmlformats.org/officeDocument/2006/relationships/slide" Target="slide16.xml"/><Relationship Id="rId13" Type="http://schemas.openxmlformats.org/officeDocument/2006/relationships/slide" Target="slide18.xml"/><Relationship Id="rId14" Type="http://schemas.openxmlformats.org/officeDocument/2006/relationships/slide" Target="slide18.xml"/><Relationship Id="rId15" Type="http://schemas.openxmlformats.org/officeDocument/2006/relationships/slide" Target="slide4.xml"/><Relationship Id="rId16" Type="http://schemas.openxmlformats.org/officeDocument/2006/relationships/slide" Target="slide4.xml"/><Relationship Id="rId17" Type="http://schemas.openxmlformats.org/officeDocument/2006/relationships/slide" Target="slide8.xml"/><Relationship Id="rId18" Type="http://schemas.openxmlformats.org/officeDocument/2006/relationships/slide" Target="slide8.xml"/><Relationship Id="rId19" Type="http://schemas.openxmlformats.org/officeDocument/2006/relationships/slide" Target="slide1.xml"/><Relationship Id="rId20" Type="http://schemas.openxmlformats.org/officeDocument/2006/relationships/slide" Target="slide1.xml"/><Relationship Id="rId21" Type="http://schemas.openxmlformats.org/officeDocument/2006/relationships/image" Target="../media/image11.png"/><Relationship Id="rId22" Type="http://schemas.openxmlformats.org/officeDocument/2006/relationships/image" Target="../media/image29.png"/><Relationship Id="rId23" Type="http://schemas.openxmlformats.org/officeDocument/2006/relationships/image" Target="../media/image26.png"/><Relationship Id="rId24" Type="http://schemas.openxmlformats.org/officeDocument/2006/relationships/image" Target="../media/image18.png"/><Relationship Id="rId25" Type="http://schemas.openxmlformats.org/officeDocument/2006/relationships/slide" Target="slide7.xml"/><Relationship Id="rId26" Type="http://schemas.openxmlformats.org/officeDocument/2006/relationships/slide" Target="slide7.xml"/><Relationship Id="rId27" Type="http://schemas.openxmlformats.org/officeDocument/2006/relationships/slide" Target="slide7.xml"/><Relationship Id="rId28" Type="http://schemas.openxmlformats.org/officeDocument/2006/relationships/slide" Target="slide6.xml"/><Relationship Id="rId29" Type="http://schemas.openxmlformats.org/officeDocument/2006/relationships/slide" Target="slide6.xml"/><Relationship Id="rId30" Type="http://schemas.openxmlformats.org/officeDocument/2006/relationships/slide" Target="slide6.xml"/><Relationship Id="rId31" Type="http://schemas.openxmlformats.org/officeDocument/2006/relationships/slide" Target="slide2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9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1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6.xml"/><Relationship Id="rId12" Type="http://schemas.openxmlformats.org/officeDocument/2006/relationships/slide" Target="slide16.xml"/><Relationship Id="rId13" Type="http://schemas.openxmlformats.org/officeDocument/2006/relationships/slide" Target="slide18.xml"/><Relationship Id="rId14" Type="http://schemas.openxmlformats.org/officeDocument/2006/relationships/slide" Target="slide18.xml"/><Relationship Id="rId15" Type="http://schemas.openxmlformats.org/officeDocument/2006/relationships/slide" Target="slide5.xml"/><Relationship Id="rId16" Type="http://schemas.openxmlformats.org/officeDocument/2006/relationships/slide" Target="slide5.xml"/><Relationship Id="rId17" Type="http://schemas.openxmlformats.org/officeDocument/2006/relationships/slide" Target="slide8.xml"/><Relationship Id="rId18" Type="http://schemas.openxmlformats.org/officeDocument/2006/relationships/slide" Target="slide8.xml"/><Relationship Id="rId19" Type="http://schemas.openxmlformats.org/officeDocument/2006/relationships/slide" Target="slide1.xml"/><Relationship Id="rId20" Type="http://schemas.openxmlformats.org/officeDocument/2006/relationships/slide" Target="slide1.xml"/><Relationship Id="rId21" Type="http://schemas.openxmlformats.org/officeDocument/2006/relationships/image" Target="../media/image11.png"/><Relationship Id="rId22" Type="http://schemas.openxmlformats.org/officeDocument/2006/relationships/image" Target="../media/image31.png"/><Relationship Id="rId23" Type="http://schemas.openxmlformats.org/officeDocument/2006/relationships/image" Target="../media/image32.png"/><Relationship Id="rId24" Type="http://schemas.openxmlformats.org/officeDocument/2006/relationships/slide" Target="slide8.xml"/><Relationship Id="rId25" Type="http://schemas.openxmlformats.org/officeDocument/2006/relationships/slide" Target="slide8.xml"/><Relationship Id="rId26" Type="http://schemas.openxmlformats.org/officeDocument/2006/relationships/slide" Target="slide2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9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1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6.xml"/><Relationship Id="rId12" Type="http://schemas.openxmlformats.org/officeDocument/2006/relationships/slide" Target="slide16.xml"/><Relationship Id="rId13" Type="http://schemas.openxmlformats.org/officeDocument/2006/relationships/slide" Target="slide18.xml"/><Relationship Id="rId14" Type="http://schemas.openxmlformats.org/officeDocument/2006/relationships/slide" Target="slide18.xml"/><Relationship Id="rId15" Type="http://schemas.openxmlformats.org/officeDocument/2006/relationships/slide" Target="slide5.xml"/><Relationship Id="rId16" Type="http://schemas.openxmlformats.org/officeDocument/2006/relationships/slide" Target="slide5.xml"/><Relationship Id="rId17" Type="http://schemas.openxmlformats.org/officeDocument/2006/relationships/slide" Target="slide8.xml"/><Relationship Id="rId18" Type="http://schemas.openxmlformats.org/officeDocument/2006/relationships/slide" Target="slide8.xml"/><Relationship Id="rId19" Type="http://schemas.openxmlformats.org/officeDocument/2006/relationships/slide" Target="slide1.xml"/><Relationship Id="rId20" Type="http://schemas.openxmlformats.org/officeDocument/2006/relationships/slide" Target="slide1.xml"/><Relationship Id="rId21" Type="http://schemas.openxmlformats.org/officeDocument/2006/relationships/image" Target="../media/image11.png"/><Relationship Id="rId22" Type="http://schemas.openxmlformats.org/officeDocument/2006/relationships/image" Target="../media/image36.png"/><Relationship Id="rId23" Type="http://schemas.openxmlformats.org/officeDocument/2006/relationships/image" Target="../media/image35.png"/><Relationship Id="rId24" Type="http://schemas.openxmlformats.org/officeDocument/2006/relationships/slide" Target="slide5.xml"/><Relationship Id="rId25" Type="http://schemas.openxmlformats.org/officeDocument/2006/relationships/slide" Target="slide5.xml"/><Relationship Id="rId26" Type="http://schemas.openxmlformats.org/officeDocument/2006/relationships/slide" Target="slide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9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1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6.xml"/><Relationship Id="rId12" Type="http://schemas.openxmlformats.org/officeDocument/2006/relationships/slide" Target="slide16.xml"/><Relationship Id="rId13" Type="http://schemas.openxmlformats.org/officeDocument/2006/relationships/slide" Target="slide18.xml"/><Relationship Id="rId14" Type="http://schemas.openxmlformats.org/officeDocument/2006/relationships/slide" Target="slide18.xml"/><Relationship Id="rId15" Type="http://schemas.openxmlformats.org/officeDocument/2006/relationships/slide" Target="slide5.xml"/><Relationship Id="rId16" Type="http://schemas.openxmlformats.org/officeDocument/2006/relationships/slide" Target="slide5.xml"/><Relationship Id="rId17" Type="http://schemas.openxmlformats.org/officeDocument/2006/relationships/slide" Target="slide9.xml"/><Relationship Id="rId18" Type="http://schemas.openxmlformats.org/officeDocument/2006/relationships/slide" Target="slide9.xml"/><Relationship Id="rId19" Type="http://schemas.openxmlformats.org/officeDocument/2006/relationships/slide" Target="slide1.xml"/><Relationship Id="rId20" Type="http://schemas.openxmlformats.org/officeDocument/2006/relationships/slide" Target="slide1.xml"/><Relationship Id="rId21" Type="http://schemas.openxmlformats.org/officeDocument/2006/relationships/image" Target="../media/image11.png"/><Relationship Id="rId22" Type="http://schemas.openxmlformats.org/officeDocument/2006/relationships/image" Target="../media/image38.png"/><Relationship Id="rId23" Type="http://schemas.openxmlformats.org/officeDocument/2006/relationships/image" Target="../media/image32.png"/><Relationship Id="rId24" Type="http://schemas.openxmlformats.org/officeDocument/2006/relationships/image" Target="../media/image39.png"/><Relationship Id="rId25" Type="http://schemas.openxmlformats.org/officeDocument/2006/relationships/image" Target="../media/image37.png"/><Relationship Id="rId26" Type="http://schemas.openxmlformats.org/officeDocument/2006/relationships/image" Target="../media/image46.png"/><Relationship Id="rId27" Type="http://schemas.openxmlformats.org/officeDocument/2006/relationships/slide" Target="slide2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9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1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6.xml"/><Relationship Id="rId12" Type="http://schemas.openxmlformats.org/officeDocument/2006/relationships/slide" Target="slide16.xml"/><Relationship Id="rId13" Type="http://schemas.openxmlformats.org/officeDocument/2006/relationships/slide" Target="slide18.xml"/><Relationship Id="rId14" Type="http://schemas.openxmlformats.org/officeDocument/2006/relationships/slide" Target="slide18.xml"/><Relationship Id="rId15" Type="http://schemas.openxmlformats.org/officeDocument/2006/relationships/slide" Target="slide8.xml"/><Relationship Id="rId16" Type="http://schemas.openxmlformats.org/officeDocument/2006/relationships/slide" Target="slide8.xml"/><Relationship Id="rId17" Type="http://schemas.openxmlformats.org/officeDocument/2006/relationships/slide" Target="slide10.xml"/><Relationship Id="rId18" Type="http://schemas.openxmlformats.org/officeDocument/2006/relationships/slide" Target="slide10.xml"/><Relationship Id="rId19" Type="http://schemas.openxmlformats.org/officeDocument/2006/relationships/slide" Target="slide1.xml"/><Relationship Id="rId20" Type="http://schemas.openxmlformats.org/officeDocument/2006/relationships/slide" Target="slide1.xml"/><Relationship Id="rId21" Type="http://schemas.openxmlformats.org/officeDocument/2006/relationships/image" Target="../media/image11.png"/><Relationship Id="rId22" Type="http://schemas.openxmlformats.org/officeDocument/2006/relationships/image" Target="../media/image42.png"/><Relationship Id="rId23" Type="http://schemas.openxmlformats.org/officeDocument/2006/relationships/image" Target="../media/image46.png"/><Relationship Id="rId24" Type="http://schemas.openxmlformats.org/officeDocument/2006/relationships/image" Target="../media/image41.png"/><Relationship Id="rId25" Type="http://schemas.openxmlformats.org/officeDocument/2006/relationships/image" Target="../media/image18.png"/><Relationship Id="rId26" Type="http://schemas.openxmlformats.org/officeDocument/2006/relationships/image" Target="../media/image40.png"/><Relationship Id="rId27" Type="http://schemas.openxmlformats.org/officeDocument/2006/relationships/slide" Target="slide2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9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1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6.xml"/><Relationship Id="rId12" Type="http://schemas.openxmlformats.org/officeDocument/2006/relationships/slide" Target="slide16.xml"/><Relationship Id="rId13" Type="http://schemas.openxmlformats.org/officeDocument/2006/relationships/slide" Target="slide18.xml"/><Relationship Id="rId14" Type="http://schemas.openxmlformats.org/officeDocument/2006/relationships/slide" Target="slide18.xml"/><Relationship Id="rId15" Type="http://schemas.openxmlformats.org/officeDocument/2006/relationships/slide" Target="slide9.xml"/><Relationship Id="rId16" Type="http://schemas.openxmlformats.org/officeDocument/2006/relationships/slide" Target="slide9.xml"/><Relationship Id="rId17" Type="http://schemas.openxmlformats.org/officeDocument/2006/relationships/slide" Target="slide11.xml"/><Relationship Id="rId18" Type="http://schemas.openxmlformats.org/officeDocument/2006/relationships/slide" Target="slide11.xml"/><Relationship Id="rId19" Type="http://schemas.openxmlformats.org/officeDocument/2006/relationships/slide" Target="slide1.xml"/><Relationship Id="rId20" Type="http://schemas.openxmlformats.org/officeDocument/2006/relationships/slide" Target="slide1.xml"/><Relationship Id="rId21" Type="http://schemas.openxmlformats.org/officeDocument/2006/relationships/image" Target="../media/image11.png"/><Relationship Id="rId22" Type="http://schemas.openxmlformats.org/officeDocument/2006/relationships/image" Target="../media/image38.png"/><Relationship Id="rId23" Type="http://schemas.openxmlformats.org/officeDocument/2006/relationships/image" Target="../media/image61.png"/><Relationship Id="rId24" Type="http://schemas.openxmlformats.org/officeDocument/2006/relationships/image" Target="../media/image50.png"/><Relationship Id="rId25" Type="http://schemas.openxmlformats.org/officeDocument/2006/relationships/image" Target="../media/image47.png"/><Relationship Id="rId26" Type="http://schemas.openxmlformats.org/officeDocument/2006/relationships/image" Target="../media/image45.png"/><Relationship Id="rId27" Type="http://schemas.openxmlformats.org/officeDocument/2006/relationships/image" Target="../media/image48.png"/><Relationship Id="rId28" Type="http://schemas.openxmlformats.org/officeDocument/2006/relationships/image" Target="../media/image43.png"/><Relationship Id="rId29" Type="http://schemas.openxmlformats.org/officeDocument/2006/relationships/image" Target="../media/image49.png"/><Relationship Id="rId30" Type="http://schemas.openxmlformats.org/officeDocument/2006/relationships/image" Target="../media/image44.png"/><Relationship Id="rId31" Type="http://schemas.openxmlformats.org/officeDocument/2006/relationships/slide" Target="slide2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9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1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6.xml"/><Relationship Id="rId12" Type="http://schemas.openxmlformats.org/officeDocument/2006/relationships/slide" Target="slide16.xml"/><Relationship Id="rId13" Type="http://schemas.openxmlformats.org/officeDocument/2006/relationships/slide" Target="slide18.xml"/><Relationship Id="rId14" Type="http://schemas.openxmlformats.org/officeDocument/2006/relationships/slide" Target="slide18.xml"/><Relationship Id="rId15" Type="http://schemas.openxmlformats.org/officeDocument/2006/relationships/slide" Target="slide10.xml"/><Relationship Id="rId16" Type="http://schemas.openxmlformats.org/officeDocument/2006/relationships/slide" Target="slide10.xml"/><Relationship Id="rId17" Type="http://schemas.openxmlformats.org/officeDocument/2006/relationships/slide" Target="slide12.xml"/><Relationship Id="rId18" Type="http://schemas.openxmlformats.org/officeDocument/2006/relationships/slide" Target="slide12.xml"/><Relationship Id="rId19" Type="http://schemas.openxmlformats.org/officeDocument/2006/relationships/slide" Target="slide1.xml"/><Relationship Id="rId20" Type="http://schemas.openxmlformats.org/officeDocument/2006/relationships/slide" Target="slide1.xml"/><Relationship Id="rId21" Type="http://schemas.openxmlformats.org/officeDocument/2006/relationships/image" Target="../media/image11.png"/><Relationship Id="rId22" Type="http://schemas.openxmlformats.org/officeDocument/2006/relationships/image" Target="../media/image52.png"/><Relationship Id="rId23" Type="http://schemas.openxmlformats.org/officeDocument/2006/relationships/image" Target="../media/image41.png"/><Relationship Id="rId24" Type="http://schemas.openxmlformats.org/officeDocument/2006/relationships/image" Target="../media/image18.png"/><Relationship Id="rId25" Type="http://schemas.openxmlformats.org/officeDocument/2006/relationships/image" Target="../media/image44.png"/><Relationship Id="rId26" Type="http://schemas.openxmlformats.org/officeDocument/2006/relationships/image" Target="../media/image46.png"/><Relationship Id="rId27" Type="http://schemas.openxmlformats.org/officeDocument/2006/relationships/slide" Target="slide2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9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1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6.xml"/><Relationship Id="rId12" Type="http://schemas.openxmlformats.org/officeDocument/2006/relationships/slide" Target="slide16.xml"/><Relationship Id="rId13" Type="http://schemas.openxmlformats.org/officeDocument/2006/relationships/slide" Target="slide18.xml"/><Relationship Id="rId14" Type="http://schemas.openxmlformats.org/officeDocument/2006/relationships/slide" Target="slide18.xml"/><Relationship Id="rId15" Type="http://schemas.openxmlformats.org/officeDocument/2006/relationships/slide" Target="slide11.xml"/><Relationship Id="rId16" Type="http://schemas.openxmlformats.org/officeDocument/2006/relationships/slide" Target="slide11.xml"/><Relationship Id="rId17" Type="http://schemas.openxmlformats.org/officeDocument/2006/relationships/slide" Target="slide13.xml"/><Relationship Id="rId18" Type="http://schemas.openxmlformats.org/officeDocument/2006/relationships/slide" Target="slide13.xml"/><Relationship Id="rId19" Type="http://schemas.openxmlformats.org/officeDocument/2006/relationships/slide" Target="slide1.xml"/><Relationship Id="rId20" Type="http://schemas.openxmlformats.org/officeDocument/2006/relationships/slide" Target="slide1.xml"/><Relationship Id="rId21" Type="http://schemas.openxmlformats.org/officeDocument/2006/relationships/image" Target="../media/image11.png"/><Relationship Id="rId22" Type="http://schemas.openxmlformats.org/officeDocument/2006/relationships/image" Target="../media/image54.png"/><Relationship Id="rId23" Type="http://schemas.openxmlformats.org/officeDocument/2006/relationships/image" Target="../media/image53.png"/><Relationship Id="rId24" Type="http://schemas.openxmlformats.org/officeDocument/2006/relationships/image" Target="../media/image52.png"/><Relationship Id="rId25" Type="http://schemas.openxmlformats.org/officeDocument/2006/relationships/image" Target="../media/image41.png"/><Relationship Id="rId26" Type="http://schemas.openxmlformats.org/officeDocument/2006/relationships/slide" Target="slide2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9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1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6.xml"/><Relationship Id="rId12" Type="http://schemas.openxmlformats.org/officeDocument/2006/relationships/slide" Target="slide16.xml"/><Relationship Id="rId13" Type="http://schemas.openxmlformats.org/officeDocument/2006/relationships/slide" Target="slide18.xml"/><Relationship Id="rId14" Type="http://schemas.openxmlformats.org/officeDocument/2006/relationships/slide" Target="slide18.xml"/><Relationship Id="rId15" Type="http://schemas.openxmlformats.org/officeDocument/2006/relationships/slide" Target="slide12.xml"/><Relationship Id="rId16" Type="http://schemas.openxmlformats.org/officeDocument/2006/relationships/slide" Target="slide12.xml"/><Relationship Id="rId17" Type="http://schemas.openxmlformats.org/officeDocument/2006/relationships/slide" Target="slide14.xml"/><Relationship Id="rId18" Type="http://schemas.openxmlformats.org/officeDocument/2006/relationships/slide" Target="slide14.xml"/><Relationship Id="rId19" Type="http://schemas.openxmlformats.org/officeDocument/2006/relationships/slide" Target="slide1.xml"/><Relationship Id="rId20" Type="http://schemas.openxmlformats.org/officeDocument/2006/relationships/slide" Target="slide1.xml"/><Relationship Id="rId21" Type="http://schemas.openxmlformats.org/officeDocument/2006/relationships/image" Target="../media/image11.png"/><Relationship Id="rId22" Type="http://schemas.openxmlformats.org/officeDocument/2006/relationships/image" Target="../media/image59.png"/><Relationship Id="rId23" Type="http://schemas.openxmlformats.org/officeDocument/2006/relationships/image" Target="../media/image57.png"/><Relationship Id="rId24" Type="http://schemas.openxmlformats.org/officeDocument/2006/relationships/image" Target="../media/image56.png"/><Relationship Id="rId25" Type="http://schemas.openxmlformats.org/officeDocument/2006/relationships/image" Target="../media/image55.png"/><Relationship Id="rId26" Type="http://schemas.openxmlformats.org/officeDocument/2006/relationships/image" Target="../media/image42.png"/><Relationship Id="rId27" Type="http://schemas.openxmlformats.org/officeDocument/2006/relationships/slide" Target="slide2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9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1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6.xml"/><Relationship Id="rId12" Type="http://schemas.openxmlformats.org/officeDocument/2006/relationships/slide" Target="slide16.xml"/><Relationship Id="rId13" Type="http://schemas.openxmlformats.org/officeDocument/2006/relationships/slide" Target="slide18.xml"/><Relationship Id="rId14" Type="http://schemas.openxmlformats.org/officeDocument/2006/relationships/slide" Target="slide18.xml"/><Relationship Id="rId15" Type="http://schemas.openxmlformats.org/officeDocument/2006/relationships/slide" Target="slide13.xml"/><Relationship Id="rId16" Type="http://schemas.openxmlformats.org/officeDocument/2006/relationships/slide" Target="slide13.xml"/><Relationship Id="rId17" Type="http://schemas.openxmlformats.org/officeDocument/2006/relationships/slide" Target="slide15.xml"/><Relationship Id="rId18" Type="http://schemas.openxmlformats.org/officeDocument/2006/relationships/slide" Target="slide15.xml"/><Relationship Id="rId19" Type="http://schemas.openxmlformats.org/officeDocument/2006/relationships/slide" Target="slide1.xml"/><Relationship Id="rId20" Type="http://schemas.openxmlformats.org/officeDocument/2006/relationships/slide" Target="slide1.xml"/><Relationship Id="rId21" Type="http://schemas.openxmlformats.org/officeDocument/2006/relationships/image" Target="../media/image11.png"/><Relationship Id="rId22" Type="http://schemas.openxmlformats.org/officeDocument/2006/relationships/image" Target="../media/image60.png"/><Relationship Id="rId23" Type="http://schemas.openxmlformats.org/officeDocument/2006/relationships/image" Target="../media/image58.png"/><Relationship Id="rId24" Type="http://schemas.openxmlformats.org/officeDocument/2006/relationships/image" Target="../media/image42.png"/><Relationship Id="rId25" Type="http://schemas.openxmlformats.org/officeDocument/2006/relationships/image" Target="../media/image18.png"/><Relationship Id="rId26" Type="http://schemas.openxmlformats.org/officeDocument/2006/relationships/image" Target="../media/image19.png"/><Relationship Id="rId27" Type="http://schemas.openxmlformats.org/officeDocument/2006/relationships/slide" Target="slide2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9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1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6.xml"/><Relationship Id="rId12" Type="http://schemas.openxmlformats.org/officeDocument/2006/relationships/slide" Target="slide16.xml"/><Relationship Id="rId13" Type="http://schemas.openxmlformats.org/officeDocument/2006/relationships/slide" Target="slide18.xml"/><Relationship Id="rId14" Type="http://schemas.openxmlformats.org/officeDocument/2006/relationships/slide" Target="slide18.xml"/><Relationship Id="rId15" Type="http://schemas.openxmlformats.org/officeDocument/2006/relationships/slide" Target="slide14.xml"/><Relationship Id="rId16" Type="http://schemas.openxmlformats.org/officeDocument/2006/relationships/slide" Target="slide14.xml"/><Relationship Id="rId17" Type="http://schemas.openxmlformats.org/officeDocument/2006/relationships/slide" Target="slide16.xml"/><Relationship Id="rId18" Type="http://schemas.openxmlformats.org/officeDocument/2006/relationships/slide" Target="slide16.xml"/><Relationship Id="rId19" Type="http://schemas.openxmlformats.org/officeDocument/2006/relationships/slide" Target="slide1.xml"/><Relationship Id="rId20" Type="http://schemas.openxmlformats.org/officeDocument/2006/relationships/slide" Target="slide1.xml"/><Relationship Id="rId21" Type="http://schemas.openxmlformats.org/officeDocument/2006/relationships/image" Target="../media/image11.png"/><Relationship Id="rId22" Type="http://schemas.openxmlformats.org/officeDocument/2006/relationships/image" Target="../media/image41.png"/><Relationship Id="rId23" Type="http://schemas.openxmlformats.org/officeDocument/2006/relationships/image" Target="../media/image52.png"/><Relationship Id="rId24" Type="http://schemas.openxmlformats.org/officeDocument/2006/relationships/image" Target="../media/image18.png"/><Relationship Id="rId25" Type="http://schemas.openxmlformats.org/officeDocument/2006/relationships/image" Target="../media/image44.png"/><Relationship Id="rId26" Type="http://schemas.openxmlformats.org/officeDocument/2006/relationships/image" Target="../media/image46.png"/><Relationship Id="rId27" Type="http://schemas.openxmlformats.org/officeDocument/2006/relationships/slide" Target="slide2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9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1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6.xml"/><Relationship Id="rId12" Type="http://schemas.openxmlformats.org/officeDocument/2006/relationships/slide" Target="slide16.xml"/><Relationship Id="rId13" Type="http://schemas.openxmlformats.org/officeDocument/2006/relationships/slide" Target="slide18.xml"/><Relationship Id="rId14" Type="http://schemas.openxmlformats.org/officeDocument/2006/relationships/slide" Target="slide18.xml"/><Relationship Id="rId15" Type="http://schemas.openxmlformats.org/officeDocument/2006/relationships/slide" Target="slide15.xml"/><Relationship Id="rId16" Type="http://schemas.openxmlformats.org/officeDocument/2006/relationships/slide" Target="slide15.xml"/><Relationship Id="rId17" Type="http://schemas.openxmlformats.org/officeDocument/2006/relationships/slide" Target="slide17.xml"/><Relationship Id="rId18" Type="http://schemas.openxmlformats.org/officeDocument/2006/relationships/slide" Target="slide17.xml"/><Relationship Id="rId19" Type="http://schemas.openxmlformats.org/officeDocument/2006/relationships/slide" Target="slide1.xml"/><Relationship Id="rId20" Type="http://schemas.openxmlformats.org/officeDocument/2006/relationships/slide" Target="slide1.xml"/><Relationship Id="rId21" Type="http://schemas.openxmlformats.org/officeDocument/2006/relationships/image" Target="../media/image11.png"/><Relationship Id="rId22" Type="http://schemas.openxmlformats.org/officeDocument/2006/relationships/image" Target="../media/image62.png"/><Relationship Id="rId23" Type="http://schemas.openxmlformats.org/officeDocument/2006/relationships/image" Target="../media/image63.png"/><Relationship Id="rId24" Type="http://schemas.openxmlformats.org/officeDocument/2006/relationships/image" Target="../media/image64.png"/><Relationship Id="rId25" Type="http://schemas.openxmlformats.org/officeDocument/2006/relationships/image" Target="../media/image43.png"/><Relationship Id="rId26" Type="http://schemas.openxmlformats.org/officeDocument/2006/relationships/image" Target="../media/image40.png"/><Relationship Id="rId27" Type="http://schemas.openxmlformats.org/officeDocument/2006/relationships/slide" Target="slide2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9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1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6.xml"/><Relationship Id="rId12" Type="http://schemas.openxmlformats.org/officeDocument/2006/relationships/slide" Target="slide16.xml"/><Relationship Id="rId13" Type="http://schemas.openxmlformats.org/officeDocument/2006/relationships/slide" Target="slide18.xml"/><Relationship Id="rId14" Type="http://schemas.openxmlformats.org/officeDocument/2006/relationships/slide" Target="slide18.xml"/><Relationship Id="rId15" Type="http://schemas.openxmlformats.org/officeDocument/2006/relationships/slide" Target="slide16.xml"/><Relationship Id="rId16" Type="http://schemas.openxmlformats.org/officeDocument/2006/relationships/slide" Target="slide16.xml"/><Relationship Id="rId17" Type="http://schemas.openxmlformats.org/officeDocument/2006/relationships/slide" Target="slide18.xml"/><Relationship Id="rId18" Type="http://schemas.openxmlformats.org/officeDocument/2006/relationships/slide" Target="slide18.xml"/><Relationship Id="rId19" Type="http://schemas.openxmlformats.org/officeDocument/2006/relationships/slide" Target="slide1.xml"/><Relationship Id="rId20" Type="http://schemas.openxmlformats.org/officeDocument/2006/relationships/slide" Target="slide1.xml"/><Relationship Id="rId21" Type="http://schemas.openxmlformats.org/officeDocument/2006/relationships/image" Target="../media/image11.png"/><Relationship Id="rId22" Type="http://schemas.openxmlformats.org/officeDocument/2006/relationships/image" Target="../media/image65.png"/><Relationship Id="rId23" Type="http://schemas.openxmlformats.org/officeDocument/2006/relationships/image" Target="../media/image68.png"/><Relationship Id="rId24" Type="http://schemas.openxmlformats.org/officeDocument/2006/relationships/image" Target="../media/image66.png"/><Relationship Id="rId25" Type="http://schemas.openxmlformats.org/officeDocument/2006/relationships/image" Target="../media/image67.png"/><Relationship Id="rId26" Type="http://schemas.openxmlformats.org/officeDocument/2006/relationships/image" Target="../media/image44.png"/><Relationship Id="rId27" Type="http://schemas.openxmlformats.org/officeDocument/2006/relationships/slide" Target="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9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1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6.xml"/><Relationship Id="rId12" Type="http://schemas.openxmlformats.org/officeDocument/2006/relationships/slide" Target="slide16.xml"/><Relationship Id="rId13" Type="http://schemas.openxmlformats.org/officeDocument/2006/relationships/slide" Target="slide18.xml"/><Relationship Id="rId14" Type="http://schemas.openxmlformats.org/officeDocument/2006/relationships/slide" Target="slide18.xml"/><Relationship Id="rId15" Type="http://schemas.openxmlformats.org/officeDocument/2006/relationships/slide" Target="slide17.xml"/><Relationship Id="rId16" Type="http://schemas.openxmlformats.org/officeDocument/2006/relationships/slide" Target="slide17.xml"/><Relationship Id="rId17" Type="http://schemas.openxmlformats.org/officeDocument/2006/relationships/slide" Target="slide21.xml"/><Relationship Id="rId18" Type="http://schemas.openxmlformats.org/officeDocument/2006/relationships/slide" Target="slide21.xml"/><Relationship Id="rId19" Type="http://schemas.openxmlformats.org/officeDocument/2006/relationships/slide" Target="slide1.xml"/><Relationship Id="rId20" Type="http://schemas.openxmlformats.org/officeDocument/2006/relationships/slide" Target="slide1.xml"/><Relationship Id="rId21" Type="http://schemas.openxmlformats.org/officeDocument/2006/relationships/image" Target="../media/image11.png"/><Relationship Id="rId22" Type="http://schemas.openxmlformats.org/officeDocument/2006/relationships/image" Target="../media/image69.png"/><Relationship Id="rId23" Type="http://schemas.openxmlformats.org/officeDocument/2006/relationships/slide" Target="slide19.xml"/><Relationship Id="rId24" Type="http://schemas.openxmlformats.org/officeDocument/2006/relationships/slide" Target="slide19.xml"/><Relationship Id="rId25" Type="http://schemas.openxmlformats.org/officeDocument/2006/relationships/slide" Target="slide19.xml"/><Relationship Id="rId26" Type="http://schemas.openxmlformats.org/officeDocument/2006/relationships/slide" Target="slide20.xml"/><Relationship Id="rId27" Type="http://schemas.openxmlformats.org/officeDocument/2006/relationships/slide" Target="slide20.xml"/><Relationship Id="rId28" Type="http://schemas.openxmlformats.org/officeDocument/2006/relationships/slide" Target="slide20.xml"/><Relationship Id="rId29" Type="http://schemas.openxmlformats.org/officeDocument/2006/relationships/slide" Target="slide20.xml"/><Relationship Id="rId30" Type="http://schemas.openxmlformats.org/officeDocument/2006/relationships/slide" Target="slide20.xml"/><Relationship Id="rId31" Type="http://schemas.openxmlformats.org/officeDocument/2006/relationships/slide" Target="slide20.xml"/><Relationship Id="rId32" Type="http://schemas.openxmlformats.org/officeDocument/2006/relationships/slide" Target="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9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1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6.xml"/><Relationship Id="rId12" Type="http://schemas.openxmlformats.org/officeDocument/2006/relationships/slide" Target="slide16.xml"/><Relationship Id="rId13" Type="http://schemas.openxmlformats.org/officeDocument/2006/relationships/slide" Target="slide18.xml"/><Relationship Id="rId14" Type="http://schemas.openxmlformats.org/officeDocument/2006/relationships/slide" Target="slide18.xml"/><Relationship Id="rId15" Type="http://schemas.openxmlformats.org/officeDocument/2006/relationships/slide" Target="slide18.xml"/><Relationship Id="rId16" Type="http://schemas.openxmlformats.org/officeDocument/2006/relationships/slide" Target="slide18.xml"/><Relationship Id="rId17" Type="http://schemas.openxmlformats.org/officeDocument/2006/relationships/slide" Target="slide21.xml"/><Relationship Id="rId18" Type="http://schemas.openxmlformats.org/officeDocument/2006/relationships/slide" Target="slide21.xml"/><Relationship Id="rId19" Type="http://schemas.openxmlformats.org/officeDocument/2006/relationships/slide" Target="slide1.xml"/><Relationship Id="rId20" Type="http://schemas.openxmlformats.org/officeDocument/2006/relationships/slide" Target="slide1.xml"/><Relationship Id="rId21" Type="http://schemas.openxmlformats.org/officeDocument/2006/relationships/image" Target="../media/image11.png"/><Relationship Id="rId22" Type="http://schemas.openxmlformats.org/officeDocument/2006/relationships/image" Target="../media/image31.png"/><Relationship Id="rId23" Type="http://schemas.openxmlformats.org/officeDocument/2006/relationships/image" Target="../media/image32.png"/><Relationship Id="rId24" Type="http://schemas.openxmlformats.org/officeDocument/2006/relationships/slide" Target="slide21.xml"/><Relationship Id="rId25" Type="http://schemas.openxmlformats.org/officeDocument/2006/relationships/slide" Target="slide21.xml"/><Relationship Id="rId26" Type="http://schemas.openxmlformats.org/officeDocument/2006/relationships/slide" Target="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9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1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6.xml"/><Relationship Id="rId12" Type="http://schemas.openxmlformats.org/officeDocument/2006/relationships/slide" Target="slide16.xml"/><Relationship Id="rId13" Type="http://schemas.openxmlformats.org/officeDocument/2006/relationships/slide" Target="slide18.xml"/><Relationship Id="rId14" Type="http://schemas.openxmlformats.org/officeDocument/2006/relationships/slide" Target="slide18.xml"/><Relationship Id="rId15" Type="http://schemas.openxmlformats.org/officeDocument/2006/relationships/slide" Target="slide18.xml"/><Relationship Id="rId16" Type="http://schemas.openxmlformats.org/officeDocument/2006/relationships/slide" Target="slide18.xml"/><Relationship Id="rId17" Type="http://schemas.openxmlformats.org/officeDocument/2006/relationships/slide" Target="slide21.xml"/><Relationship Id="rId18" Type="http://schemas.openxmlformats.org/officeDocument/2006/relationships/slide" Target="slide21.xml"/><Relationship Id="rId19" Type="http://schemas.openxmlformats.org/officeDocument/2006/relationships/slide" Target="slide1.xml"/><Relationship Id="rId20" Type="http://schemas.openxmlformats.org/officeDocument/2006/relationships/slide" Target="slide1.xml"/><Relationship Id="rId21" Type="http://schemas.openxmlformats.org/officeDocument/2006/relationships/image" Target="../media/image11.png"/><Relationship Id="rId22" Type="http://schemas.openxmlformats.org/officeDocument/2006/relationships/image" Target="../media/image36.png"/><Relationship Id="rId23" Type="http://schemas.openxmlformats.org/officeDocument/2006/relationships/image" Target="../media/image35.png"/><Relationship Id="rId24" Type="http://schemas.openxmlformats.org/officeDocument/2006/relationships/slide" Target="slide18.xml"/><Relationship Id="rId25" Type="http://schemas.openxmlformats.org/officeDocument/2006/relationships/slide" Target="slide18.xml"/><Relationship Id="rId26" Type="http://schemas.openxmlformats.org/officeDocument/2006/relationships/slide" Target="slide2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slide" Target="slide3.xml"/><Relationship Id="rId4" Type="http://schemas.openxmlformats.org/officeDocument/2006/relationships/slide" Target="slide3.xml"/><Relationship Id="rId5" Type="http://schemas.openxmlformats.org/officeDocument/2006/relationships/slide" Target="slide9.xml"/><Relationship Id="rId6" Type="http://schemas.openxmlformats.org/officeDocument/2006/relationships/slide" Target="slide9.xml"/><Relationship Id="rId7" Type="http://schemas.openxmlformats.org/officeDocument/2006/relationships/slide" Target="slide11.xml"/><Relationship Id="rId8" Type="http://schemas.openxmlformats.org/officeDocument/2006/relationships/slide" Target="slide11.xml"/><Relationship Id="rId9" Type="http://schemas.openxmlformats.org/officeDocument/2006/relationships/slide" Target="slide13.xml"/><Relationship Id="rId10" Type="http://schemas.openxmlformats.org/officeDocument/2006/relationships/slide" Target="slide13.xml"/><Relationship Id="rId11" Type="http://schemas.openxmlformats.org/officeDocument/2006/relationships/slide" Target="slide16.xml"/><Relationship Id="rId12" Type="http://schemas.openxmlformats.org/officeDocument/2006/relationships/slide" Target="slide16.xml"/><Relationship Id="rId13" Type="http://schemas.openxmlformats.org/officeDocument/2006/relationships/slide" Target="slide18.xml"/><Relationship Id="rId14" Type="http://schemas.openxmlformats.org/officeDocument/2006/relationships/slide" Target="slide18.xml"/><Relationship Id="rId15" Type="http://schemas.openxmlformats.org/officeDocument/2006/relationships/slide" Target="slide18.xml"/><Relationship Id="rId16" Type="http://schemas.openxmlformats.org/officeDocument/2006/relationships/slide" Target="slide18.xml"/><Relationship Id="rId17" Type="http://schemas.openxmlformats.org/officeDocument/2006/relationships/slide" Target="slide1.xml"/><Relationship Id="rId18" Type="http://schemas.openxmlformats.org/officeDocument/2006/relationships/slide" Target="slide1.xml"/><Relationship Id="rId19" Type="http://schemas.openxmlformats.org/officeDocument/2006/relationships/image" Target="../media/image11.png"/><Relationship Id="rId20" Type="http://schemas.openxmlformats.org/officeDocument/2006/relationships/image" Target="../media/image70.png"/><Relationship Id="rId21" Type="http://schemas.openxmlformats.org/officeDocument/2006/relationships/image" Target="../media/image71.png"/><Relationship Id="rId22" Type="http://schemas.openxmlformats.org/officeDocument/2006/relationships/image" Target="../media/image73.png"/><Relationship Id="rId23" Type="http://schemas.openxmlformats.org/officeDocument/2006/relationships/image" Target="../media/image40.png"/><Relationship Id="rId24" Type="http://schemas.openxmlformats.org/officeDocument/2006/relationships/image" Target="../media/image17.png"/><Relationship Id="rId25" Type="http://schemas.openxmlformats.org/officeDocument/2006/relationships/image" Target="../media/image42.png"/><Relationship Id="rId26" Type="http://schemas.openxmlformats.org/officeDocument/2006/relationships/image" Target="../media/image72.png"/><Relationship Id="rId27" Type="http://schemas.openxmlformats.org/officeDocument/2006/relationships/image" Target="../media/image27.png"/><Relationship Id="rId28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3.xml"/><Relationship Id="rId3" Type="http://schemas.openxmlformats.org/officeDocument/2006/relationships/slide" Target="slide9.xml"/><Relationship Id="rId4" Type="http://schemas.openxmlformats.org/officeDocument/2006/relationships/slide" Target="slide11.xml"/><Relationship Id="rId5" Type="http://schemas.openxmlformats.org/officeDocument/2006/relationships/slide" Target="slide13.xml"/><Relationship Id="rId6" Type="http://schemas.openxmlformats.org/officeDocument/2006/relationships/slide" Target="slide16.xml"/><Relationship Id="rId7" Type="http://schemas.openxmlformats.org/officeDocument/2006/relationships/slide" Target="slide18.xml"/><Relationship Id="rId8" Type="http://schemas.openxmlformats.org/officeDocument/2006/relationships/slide" Target="slide1.xml"/><Relationship Id="rId9" Type="http://schemas.openxmlformats.org/officeDocument/2006/relationships/image" Target="../media/image11.png"/><Relationship Id="rId10" Type="http://schemas.openxmlformats.org/officeDocument/2006/relationships/slide" Target="slide22.xml"/><Relationship Id="rId11" Type="http://schemas.openxmlformats.org/officeDocument/2006/relationships/slide" Target="slide2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34425" y="-177800"/>
            <a:ext cx="17123301" cy="11169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8;p1"/>
          <p:cNvPicPr preferRelativeResize="0"/>
          <p:nvPr/>
        </p:nvPicPr>
        <p:blipFill rotWithShape="1">
          <a:blip r:embed="rId4">
            <a:alphaModFix amt="35000"/>
          </a:blip>
          <a:srcRect b="0" l="27082" r="0" t="0"/>
          <a:stretch/>
        </p:blipFill>
        <p:spPr>
          <a:xfrm>
            <a:off x="2801486" y="-120650"/>
            <a:ext cx="9058927" cy="111759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60402" y="1245308"/>
            <a:ext cx="12845207" cy="876229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296400" y="-114301"/>
            <a:ext cx="9058926" cy="11169647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67658" y="4595812"/>
            <a:ext cx="2263176" cy="182642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 txBox="1"/>
          <p:nvPr/>
        </p:nvSpPr>
        <p:spPr>
          <a:xfrm>
            <a:off x="6115750" y="5449075"/>
            <a:ext cx="93699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O" sz="2800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Menos rigidez y más aprendizaje: transformar la incertidumbre en soluciones útiles.</a:t>
            </a:r>
            <a:endParaRPr b="0" i="0" sz="2800" u="none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>
            <a:hlinkClick action="ppaction://hlinksldjump" r:id="rId8"/>
          </p:cNvPr>
          <p:cNvSpPr/>
          <p:nvPr/>
        </p:nvSpPr>
        <p:spPr>
          <a:xfrm>
            <a:off x="6202428" y="8028299"/>
            <a:ext cx="3225900" cy="863100"/>
          </a:xfrm>
          <a:prstGeom prst="roundRect">
            <a:avLst>
              <a:gd fmla="val 27586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>
            <a:hlinkClick action="ppaction://hlinksldjump" r:id="rId9"/>
          </p:cNvPr>
          <p:cNvSpPr/>
          <p:nvPr/>
        </p:nvSpPr>
        <p:spPr>
          <a:xfrm>
            <a:off x="6202428" y="7968768"/>
            <a:ext cx="3225900" cy="863100"/>
          </a:xfrm>
          <a:prstGeom prst="roundRect">
            <a:avLst>
              <a:gd fmla="val 27586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92"/>
              <a:buFont typeface="Arial"/>
              <a:buNone/>
            </a:pPr>
            <a:r>
              <a:rPr b="1" i="0" lang="es-CO" sz="1992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Comenzar</a:t>
            </a:r>
            <a:endParaRPr b="1" i="0" sz="1992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" name="Google Shape;25;p1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275859" y="1067484"/>
            <a:ext cx="1191145" cy="11832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Google Shape;26;p1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3078363" y="9342537"/>
            <a:ext cx="5185456" cy="873507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1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5865645" y="420404"/>
            <a:ext cx="2398173" cy="539986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 txBox="1"/>
          <p:nvPr/>
        </p:nvSpPr>
        <p:spPr>
          <a:xfrm>
            <a:off x="6115751" y="1777100"/>
            <a:ext cx="12410100" cy="230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O" sz="4600" u="none" cap="none" strike="noStrike">
                <a:solidFill>
                  <a:srgbClr val="024791"/>
                </a:solidFill>
                <a:latin typeface="Arial"/>
                <a:ea typeface="Arial"/>
                <a:cs typeface="Arial"/>
                <a:sym typeface="Arial"/>
              </a:rPr>
              <a:t>Agilidad en acción:</a:t>
            </a:r>
            <a:endParaRPr b="0" i="0" sz="7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O" sz="4600" u="none" cap="none" strike="noStrike">
                <a:solidFill>
                  <a:srgbClr val="024791"/>
                </a:solidFill>
                <a:latin typeface="Arial"/>
                <a:ea typeface="Arial"/>
                <a:cs typeface="Arial"/>
                <a:sym typeface="Arial"/>
              </a:rPr>
              <a:t>comprender antes de implementar</a:t>
            </a:r>
            <a:endParaRPr b="1" i="0" sz="7200" u="none" cap="none" strike="noStrike">
              <a:solidFill>
                <a:srgbClr val="02479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" name="Google Shape;29;p1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18525915" y="10310812"/>
            <a:ext cx="1040267" cy="1040267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1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>
            <a:hlinkClick action="ppaction://hlinksldjump" r:id="rId14"/>
          </p:cNvPr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1">
            <a:hlinkClick action="ppaction://hlinksldjump" r:id="rId15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Origen y sentido de la agilidad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>
            <a:hlinkClick action="ppaction://hlinksldjump" r:id="rId16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>
            <a:hlinkClick action="ppaction://hlinksldjump" r:id="rId17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4 valores fundamentales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">
            <a:hlinkClick action="ppaction://hlinksldjump" r:id="rId18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1">
            <a:hlinkClick action="ppaction://hlinksldjump" r:id="rId19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12 principios rectores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">
            <a:hlinkClick action="ppaction://hlinksldjump" r:id="rId20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1">
            <a:hlinkClick action="ppaction://hlinksldjump" r:id="rId21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Factor humano, calidad y mejora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1">
            <a:hlinkClick action="ppaction://hlinksldjump" r:id="rId22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">
            <a:hlinkClick action="ppaction://hlinksldjump" r:id="rId23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la práctica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1">
            <a:hlinkClick action="ppaction://hlinksldjump" r:id="rId24"/>
          </p:cNvPr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1">
            <a:hlinkClick action="ppaction://hlinksldjump" r:id="rId25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1">
            <a:hlinkClick action="ppaction://hlinksldjump" r:id="rId26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">
            <a:hlinkClick action="ppaction://hlinksldjump" r:id="rId26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7" name="Google Shape;47;p1" title="correcciones sapiencia.png">
            <a:hlinkClick action="ppaction://hlinksldjump" r:id="rId26"/>
          </p:cNvPr>
          <p:cNvPicPr preferRelativeResize="0"/>
          <p:nvPr/>
        </p:nvPicPr>
        <p:blipFill rotWithShape="1">
          <a:blip r:embed="rId28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1">
            <a:hlinkClick action="ppaction://hlinksldjump" r:id="rId26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acción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2">
            <a:hlinkClick action="ppaction://hlinksldjump" r:id="rId29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>
            <a:hlinkClick action="ppaction://hlinksldjump" r:id="rId29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2">
            <a:hlinkClick action="ppaction://hlinksldjump" r:id="rId3"/>
          </p:cNvPr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>
            <a:hlinkClick action="ppaction://hlinksldjump" r:id="rId4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Origen y sentido de la agilidad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2">
            <a:hlinkClick action="ppaction://hlinksldjump" r:id="rId5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">
            <a:hlinkClick action="ppaction://hlinksldjump" r:id="rId6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4 valores fundamentales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2">
            <a:hlinkClick action="ppaction://hlinksldjump" r:id="rId7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2">
            <a:hlinkClick action="ppaction://hlinksldjump" r:id="rId8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12 principios rectores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2">
            <a:hlinkClick action="ppaction://hlinksldjump" r:id="rId9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2">
            <a:hlinkClick action="ppaction://hlinksldjump" r:id="rId10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Factor humano, calidad y mejora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2">
            <a:hlinkClick action="ppaction://hlinksldjump" r:id="rId11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2">
            <a:hlinkClick action="ppaction://hlinksldjump" r:id="rId12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la práctica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2">
            <a:hlinkClick action="ppaction://hlinksldjump" r:id="rId13"/>
          </p:cNvPr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2">
            <a:hlinkClick action="ppaction://hlinksldjump" r:id="rId14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2">
            <a:hlinkClick action="ppaction://hlinksldjump" r:id="rId15"/>
          </p:cNvPr>
          <p:cNvSpPr/>
          <p:nvPr/>
        </p:nvSpPr>
        <p:spPr>
          <a:xfrm>
            <a:off x="4591655" y="9647639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2">
            <a:hlinkClick action="ppaction://hlinksldjump" r:id="rId16"/>
          </p:cNvPr>
          <p:cNvSpPr/>
          <p:nvPr/>
        </p:nvSpPr>
        <p:spPr>
          <a:xfrm>
            <a:off x="4591655" y="9588108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2">
            <a:hlinkClick action="ppaction://hlinksldjump" r:id="rId17"/>
          </p:cNvPr>
          <p:cNvSpPr/>
          <p:nvPr/>
        </p:nvSpPr>
        <p:spPr>
          <a:xfrm>
            <a:off x="6378374" y="9647639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2">
            <a:hlinkClick action="ppaction://hlinksldjump" r:id="rId18"/>
          </p:cNvPr>
          <p:cNvSpPr/>
          <p:nvPr/>
        </p:nvSpPr>
        <p:spPr>
          <a:xfrm>
            <a:off x="6378374" y="9588108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2">
            <a:hlinkClick action="ppaction://hlinksldjump" r:id="rId15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2">
            <a:hlinkClick action="ppaction://hlinksldjump" r:id="rId15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4" name="Google Shape;74;p2" title="correcciones sapiencia.png">
            <a:hlinkClick action="ppaction://hlinksldjump" r:id="rId15"/>
          </p:cNvPr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2">
            <a:hlinkClick action="ppaction://hlinksldjump" r:id="rId15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acción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2"/>
          <p:cNvSpPr txBox="1"/>
          <p:nvPr/>
        </p:nvSpPr>
        <p:spPr>
          <a:xfrm>
            <a:off x="3886200" y="1417320"/>
            <a:ext cx="14356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MAPA DE NAVEGACIÓN</a:t>
            </a:r>
            <a:endParaRPr/>
          </a:p>
        </p:txBody>
      </p:sp>
      <p:sp>
        <p:nvSpPr>
          <p:cNvPr id="77" name="Google Shape;77;p2"/>
          <p:cNvSpPr txBox="1"/>
          <p:nvPr/>
        </p:nvSpPr>
        <p:spPr>
          <a:xfrm>
            <a:off x="3886200" y="1847088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Elige por dónde comenzar</a:t>
            </a:r>
            <a:endParaRPr/>
          </a:p>
        </p:txBody>
      </p:sp>
      <p:sp>
        <p:nvSpPr>
          <p:cNvPr id="78" name="Google Shape;78;p2"/>
          <p:cNvSpPr/>
          <p:nvPr/>
        </p:nvSpPr>
        <p:spPr>
          <a:xfrm>
            <a:off x="388620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2"/>
          <p:cNvSpPr/>
          <p:nvPr/>
        </p:nvSpPr>
        <p:spPr>
          <a:xfrm>
            <a:off x="4110228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2"/>
          <p:cNvSpPr/>
          <p:nvPr/>
        </p:nvSpPr>
        <p:spPr>
          <a:xfrm>
            <a:off x="4334256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"/>
          <p:cNvSpPr/>
          <p:nvPr/>
        </p:nvSpPr>
        <p:spPr>
          <a:xfrm>
            <a:off x="4558284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"/>
          <p:cNvSpPr/>
          <p:nvPr/>
        </p:nvSpPr>
        <p:spPr>
          <a:xfrm>
            <a:off x="4782312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"/>
          <p:cNvSpPr/>
          <p:nvPr/>
        </p:nvSpPr>
        <p:spPr>
          <a:xfrm>
            <a:off x="500634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">
            <a:hlinkClick action="ppaction://hlinksldjump" r:id="rId22"/>
          </p:cNvPr>
          <p:cNvSpPr/>
          <p:nvPr/>
        </p:nvSpPr>
        <p:spPr>
          <a:xfrm>
            <a:off x="4558284" y="3444503"/>
            <a:ext cx="4042745" cy="1819235"/>
          </a:xfrm>
          <a:prstGeom prst="roundRect">
            <a:avLst>
              <a:gd fmla="val 13333" name="adj"/>
            </a:avLst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2">
            <a:hlinkClick action="ppaction://hlinksldjump" r:id="rId23"/>
          </p:cNvPr>
          <p:cNvSpPr/>
          <p:nvPr/>
        </p:nvSpPr>
        <p:spPr>
          <a:xfrm>
            <a:off x="4558284" y="3379819"/>
            <a:ext cx="4042745" cy="1819235"/>
          </a:xfrm>
          <a:prstGeom prst="roundRect">
            <a:avLst>
              <a:gd fmla="val 13333" name="adj"/>
            </a:avLst>
          </a:prstGeom>
          <a:solidFill>
            <a:srgbClr val="664092"/>
          </a:solidFill>
          <a:ln>
            <a:noFill/>
          </a:ln>
        </p:spPr>
        <p:txBody>
          <a:bodyPr anchorCtr="0" anchor="b" bIns="274300" lIns="274300" spcFirstLastPara="1" rIns="274300" wrap="square" tIns="2743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Tema 1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Origen y sentido de la agilidad</a:t>
            </a:r>
            <a:endParaRPr/>
          </a:p>
        </p:txBody>
      </p:sp>
      <p:sp>
        <p:nvSpPr>
          <p:cNvPr id="86" name="Google Shape;86;p2">
            <a:hlinkClick action="ppaction://hlinksldjump" r:id="rId24"/>
          </p:cNvPr>
          <p:cNvSpPr/>
          <p:nvPr/>
        </p:nvSpPr>
        <p:spPr>
          <a:xfrm>
            <a:off x="7671198" y="3606213"/>
            <a:ext cx="687267" cy="68726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ompass_regular_664092.png" id="87" name="Google Shape;87;p2"/>
          <p:cNvPicPr preferRelativeResize="0"/>
          <p:nvPr/>
        </p:nvPicPr>
        <p:blipFill rotWithShape="1">
          <a:blip r:embed="rId25">
            <a:alphaModFix/>
          </a:blip>
          <a:srcRect b="0" l="0" r="0" t="0"/>
          <a:stretch/>
        </p:blipFill>
        <p:spPr>
          <a:xfrm>
            <a:off x="7836142" y="3771157"/>
            <a:ext cx="357379" cy="357379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2">
            <a:hlinkClick action="ppaction://hlinksldjump" r:id="rId26"/>
          </p:cNvPr>
          <p:cNvSpPr/>
          <p:nvPr/>
        </p:nvSpPr>
        <p:spPr>
          <a:xfrm>
            <a:off x="8884021" y="3444503"/>
            <a:ext cx="4042745" cy="1819235"/>
          </a:xfrm>
          <a:prstGeom prst="roundRect">
            <a:avLst>
              <a:gd fmla="val 13333" name="adj"/>
            </a:avLst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2">
            <a:hlinkClick action="ppaction://hlinksldjump" r:id="rId27"/>
          </p:cNvPr>
          <p:cNvSpPr/>
          <p:nvPr/>
        </p:nvSpPr>
        <p:spPr>
          <a:xfrm>
            <a:off x="8884021" y="3379819"/>
            <a:ext cx="4042745" cy="1819235"/>
          </a:xfrm>
          <a:prstGeom prst="roundRect">
            <a:avLst>
              <a:gd fmla="val 13333" name="adj"/>
            </a:avLst>
          </a:prstGeom>
          <a:solidFill>
            <a:srgbClr val="A71989"/>
          </a:solidFill>
          <a:ln>
            <a:noFill/>
          </a:ln>
        </p:spPr>
        <p:txBody>
          <a:bodyPr anchorCtr="0" anchor="b" bIns="274300" lIns="274300" spcFirstLastPara="1" rIns="274300" wrap="square" tIns="2743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Tema 2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Los 4 valores </a:t>
            </a:r>
            <a:endParaRPr b="1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fundamentales y su alcance</a:t>
            </a:r>
            <a:endParaRPr b="1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">
            <a:hlinkClick action="ppaction://hlinksldjump" r:id="rId28"/>
          </p:cNvPr>
          <p:cNvSpPr/>
          <p:nvPr/>
        </p:nvSpPr>
        <p:spPr>
          <a:xfrm>
            <a:off x="11996935" y="3606213"/>
            <a:ext cx="687267" cy="68726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scales_regular_A71989.png" id="91" name="Google Shape;91;p2"/>
          <p:cNvPicPr preferRelativeResize="0"/>
          <p:nvPr/>
        </p:nvPicPr>
        <p:blipFill rotWithShape="1">
          <a:blip r:embed="rId29">
            <a:alphaModFix/>
          </a:blip>
          <a:srcRect b="0" l="0" r="0" t="0"/>
          <a:stretch/>
        </p:blipFill>
        <p:spPr>
          <a:xfrm>
            <a:off x="12161879" y="3771157"/>
            <a:ext cx="357379" cy="357379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2">
            <a:hlinkClick action="ppaction://hlinksldjump" r:id="rId30"/>
          </p:cNvPr>
          <p:cNvSpPr/>
          <p:nvPr/>
        </p:nvSpPr>
        <p:spPr>
          <a:xfrm>
            <a:off x="13209758" y="3444503"/>
            <a:ext cx="4042745" cy="1819235"/>
          </a:xfrm>
          <a:prstGeom prst="roundRect">
            <a:avLst>
              <a:gd fmla="val 13333" name="adj"/>
            </a:avLst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2">
            <a:hlinkClick action="ppaction://hlinksldjump" r:id="rId31"/>
          </p:cNvPr>
          <p:cNvSpPr/>
          <p:nvPr/>
        </p:nvSpPr>
        <p:spPr>
          <a:xfrm>
            <a:off x="13209758" y="3379819"/>
            <a:ext cx="4042745" cy="1819235"/>
          </a:xfrm>
          <a:prstGeom prst="roundRect">
            <a:avLst>
              <a:gd fmla="val 13333" name="adj"/>
            </a:avLst>
          </a:prstGeom>
          <a:solidFill>
            <a:srgbClr val="467CF1"/>
          </a:solidFill>
          <a:ln>
            <a:noFill/>
          </a:ln>
        </p:spPr>
        <p:txBody>
          <a:bodyPr anchorCtr="0" anchor="b" bIns="274300" lIns="274300" spcFirstLastPara="1" rIns="274300" wrap="square" tIns="2743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Tema 3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Los 12 principios rectores</a:t>
            </a:r>
            <a:endParaRPr/>
          </a:p>
        </p:txBody>
      </p:sp>
      <p:sp>
        <p:nvSpPr>
          <p:cNvPr id="94" name="Google Shape;94;p2">
            <a:hlinkClick action="ppaction://hlinksldjump" r:id="rId32"/>
          </p:cNvPr>
          <p:cNvSpPr/>
          <p:nvPr/>
        </p:nvSpPr>
        <p:spPr>
          <a:xfrm>
            <a:off x="16322672" y="3606213"/>
            <a:ext cx="687267" cy="68726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ist-numbers_regular_467CF1.png" id="95" name="Google Shape;95;p2"/>
          <p:cNvPicPr preferRelativeResize="0"/>
          <p:nvPr/>
        </p:nvPicPr>
        <p:blipFill rotWithShape="1">
          <a:blip r:embed="rId33">
            <a:alphaModFix/>
          </a:blip>
          <a:srcRect b="0" l="0" r="0" t="0"/>
          <a:stretch/>
        </p:blipFill>
        <p:spPr>
          <a:xfrm>
            <a:off x="16487616" y="3771157"/>
            <a:ext cx="357379" cy="357379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2">
            <a:hlinkClick action="ppaction://hlinksldjump" r:id="rId34"/>
          </p:cNvPr>
          <p:cNvSpPr/>
          <p:nvPr/>
        </p:nvSpPr>
        <p:spPr>
          <a:xfrm>
            <a:off x="4558284" y="5506303"/>
            <a:ext cx="4042745" cy="1819235"/>
          </a:xfrm>
          <a:prstGeom prst="roundRect">
            <a:avLst>
              <a:gd fmla="val 13333" name="adj"/>
            </a:avLst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2">
            <a:hlinkClick action="ppaction://hlinksldjump" r:id="rId35"/>
          </p:cNvPr>
          <p:cNvSpPr/>
          <p:nvPr/>
        </p:nvSpPr>
        <p:spPr>
          <a:xfrm>
            <a:off x="4558284" y="5441619"/>
            <a:ext cx="4042745" cy="1819235"/>
          </a:xfrm>
          <a:prstGeom prst="roundRect">
            <a:avLst>
              <a:gd fmla="val 13333" name="adj"/>
            </a:avLst>
          </a:prstGeom>
          <a:solidFill>
            <a:srgbClr val="3D2159"/>
          </a:solidFill>
          <a:ln>
            <a:noFill/>
          </a:ln>
        </p:spPr>
        <p:txBody>
          <a:bodyPr anchorCtr="0" anchor="b" bIns="274300" lIns="274300" spcFirstLastPara="1" rIns="274300" wrap="square" tIns="2743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Tema 4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Factor humano, calidad y mejora continua</a:t>
            </a:r>
            <a:endParaRPr/>
          </a:p>
        </p:txBody>
      </p:sp>
      <p:sp>
        <p:nvSpPr>
          <p:cNvPr id="98" name="Google Shape;98;p2">
            <a:hlinkClick action="ppaction://hlinksldjump" r:id="rId36"/>
          </p:cNvPr>
          <p:cNvSpPr/>
          <p:nvPr/>
        </p:nvSpPr>
        <p:spPr>
          <a:xfrm>
            <a:off x="7671198" y="5668013"/>
            <a:ext cx="687267" cy="68726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sers-three_regular_3D2159.png" id="99" name="Google Shape;99;p2"/>
          <p:cNvPicPr preferRelativeResize="0"/>
          <p:nvPr/>
        </p:nvPicPr>
        <p:blipFill rotWithShape="1">
          <a:blip r:embed="rId37">
            <a:alphaModFix/>
          </a:blip>
          <a:srcRect b="0" l="0" r="0" t="0"/>
          <a:stretch/>
        </p:blipFill>
        <p:spPr>
          <a:xfrm>
            <a:off x="7836142" y="5832957"/>
            <a:ext cx="357379" cy="35737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">
            <a:hlinkClick action="ppaction://hlinksldjump" r:id="rId38"/>
          </p:cNvPr>
          <p:cNvSpPr/>
          <p:nvPr/>
        </p:nvSpPr>
        <p:spPr>
          <a:xfrm>
            <a:off x="8884021" y="5506303"/>
            <a:ext cx="4042745" cy="1819235"/>
          </a:xfrm>
          <a:prstGeom prst="roundRect">
            <a:avLst>
              <a:gd fmla="val 13333" name="adj"/>
            </a:avLst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>
            <a:hlinkClick action="ppaction://hlinksldjump" r:id="rId39"/>
          </p:cNvPr>
          <p:cNvSpPr/>
          <p:nvPr/>
        </p:nvSpPr>
        <p:spPr>
          <a:xfrm>
            <a:off x="8884021" y="5441619"/>
            <a:ext cx="4042745" cy="1819235"/>
          </a:xfrm>
          <a:prstGeom prst="roundRect">
            <a:avLst>
              <a:gd fmla="val 13333" name="adj"/>
            </a:avLst>
          </a:prstGeom>
          <a:solidFill>
            <a:srgbClr val="024791"/>
          </a:solidFill>
          <a:ln>
            <a:noFill/>
          </a:ln>
        </p:spPr>
        <p:txBody>
          <a:bodyPr anchorCtr="0" anchor="b" bIns="274300" lIns="274300" spcFirstLastPara="1" rIns="274300" wrap="square" tIns="2743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Tema 5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Agilidad en la práctica y </a:t>
            </a:r>
            <a:endParaRPr b="1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toma de decisiones</a:t>
            </a:r>
            <a:endParaRPr b="1" i="0" sz="1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>
            <a:hlinkClick action="ppaction://hlinksldjump" r:id="rId40"/>
          </p:cNvPr>
          <p:cNvSpPr/>
          <p:nvPr/>
        </p:nvSpPr>
        <p:spPr>
          <a:xfrm>
            <a:off x="11996935" y="5668013"/>
            <a:ext cx="687267" cy="68726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ath_regular_024791.png" id="103" name="Google Shape;103;p2"/>
          <p:cNvPicPr preferRelativeResize="0"/>
          <p:nvPr/>
        </p:nvPicPr>
        <p:blipFill rotWithShape="1">
          <a:blip r:embed="rId41">
            <a:alphaModFix/>
          </a:blip>
          <a:srcRect b="0" l="0" r="0" t="0"/>
          <a:stretch/>
        </p:blipFill>
        <p:spPr>
          <a:xfrm>
            <a:off x="12161879" y="5832957"/>
            <a:ext cx="357379" cy="357379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">
            <a:hlinkClick action="ppaction://hlinksldjump" r:id="rId42"/>
          </p:cNvPr>
          <p:cNvSpPr/>
          <p:nvPr/>
        </p:nvSpPr>
        <p:spPr>
          <a:xfrm>
            <a:off x="13209758" y="5506303"/>
            <a:ext cx="4042745" cy="1819235"/>
          </a:xfrm>
          <a:prstGeom prst="roundRect">
            <a:avLst>
              <a:gd fmla="val 13333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">
            <a:hlinkClick action="ppaction://hlinksldjump" r:id="rId43"/>
          </p:cNvPr>
          <p:cNvSpPr/>
          <p:nvPr/>
        </p:nvSpPr>
        <p:spPr>
          <a:xfrm>
            <a:off x="13209758" y="5441619"/>
            <a:ext cx="4042745" cy="1819235"/>
          </a:xfrm>
          <a:prstGeom prst="roundRect">
            <a:avLst>
              <a:gd fmla="val 13333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b" bIns="274300" lIns="274300" spcFirstLastPara="1" rIns="274300" wrap="square" tIns="2743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8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Recursos y actividades</a:t>
            </a:r>
            <a:endParaRPr/>
          </a:p>
        </p:txBody>
      </p:sp>
      <p:sp>
        <p:nvSpPr>
          <p:cNvPr id="106" name="Google Shape;106;p2">
            <a:hlinkClick action="ppaction://hlinksldjump" r:id="rId44"/>
          </p:cNvPr>
          <p:cNvSpPr/>
          <p:nvPr/>
        </p:nvSpPr>
        <p:spPr>
          <a:xfrm>
            <a:off x="16322672" y="5668013"/>
            <a:ext cx="687267" cy="68726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heck-square-offset_regular_3D2159.png" id="107" name="Google Shape;107;p2"/>
          <p:cNvPicPr preferRelativeResize="0"/>
          <p:nvPr/>
        </p:nvPicPr>
        <p:blipFill rotWithShape="1">
          <a:blip r:embed="rId45">
            <a:alphaModFix/>
          </a:blip>
          <a:srcRect b="0" l="0" r="0" t="0"/>
          <a:stretch/>
        </p:blipFill>
        <p:spPr>
          <a:xfrm>
            <a:off x="16487616" y="5832957"/>
            <a:ext cx="357379" cy="357379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"/>
          <p:cNvSpPr/>
          <p:nvPr/>
        </p:nvSpPr>
        <p:spPr>
          <a:xfrm>
            <a:off x="4543284" y="7764508"/>
            <a:ext cx="12694219" cy="1021954"/>
          </a:xfrm>
          <a:prstGeom prst="roundRect">
            <a:avLst>
              <a:gd fmla="val 22222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4558284" y="8057177"/>
            <a:ext cx="64684" cy="436616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ursor-click_regular_664092.png" id="110" name="Google Shape;110;p2"/>
          <p:cNvPicPr preferRelativeResize="0"/>
          <p:nvPr/>
        </p:nvPicPr>
        <p:blipFill rotWithShape="1">
          <a:blip r:embed="rId46">
            <a:alphaModFix/>
          </a:blip>
          <a:srcRect b="0" l="0" r="0" t="0"/>
          <a:stretch/>
        </p:blipFill>
        <p:spPr>
          <a:xfrm>
            <a:off x="4841276" y="8073348"/>
            <a:ext cx="404274" cy="404274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"/>
          <p:cNvSpPr txBox="1"/>
          <p:nvPr/>
        </p:nvSpPr>
        <p:spPr>
          <a:xfrm>
            <a:off x="5447688" y="7961200"/>
            <a:ext cx="11039927" cy="628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9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Haz clic en un tema para empezar. </a:t>
            </a:r>
            <a:r>
              <a:rPr b="0" i="0" lang="es-CO" sz="19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Usa el menú lateral para moverte entre temas y el botón Inicio para volver a la portada.</a:t>
            </a:r>
            <a:endParaRPr/>
          </a:p>
        </p:txBody>
      </p:sp>
      <p:sp>
        <p:nvSpPr>
          <p:cNvPr id="56" name="Google Shape;56;p2">
            <a:hlinkClick action="ppaction://hlinksldjump" r:id="rId47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>
            <a:hlinkClick action="ppaction://hlinksldjump" r:id="rId47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6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16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6">
            <a:hlinkClick action="ppaction://hlinksldjump" r:id="rId3"/>
          </p:cNvPr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6">
            <a:hlinkClick action="ppaction://hlinksldjump" r:id="rId4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664092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Origen y sentido de la agilidad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16">
            <a:hlinkClick action="ppaction://hlinksldjump" r:id="rId5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6">
            <a:hlinkClick action="ppaction://hlinksldjump" r:id="rId6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4 valores fundamentales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6">
            <a:hlinkClick action="ppaction://hlinksldjump" r:id="rId7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6">
            <a:hlinkClick action="ppaction://hlinksldjump" r:id="rId8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12 principios rectores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6">
            <a:hlinkClick action="ppaction://hlinksldjump" r:id="rId9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6">
            <a:hlinkClick action="ppaction://hlinksldjump" r:id="rId10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Factor humano, calidad y mejora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6">
            <a:hlinkClick action="ppaction://hlinksldjump" r:id="rId11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6">
            <a:hlinkClick action="ppaction://hlinksldjump" r:id="rId12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la práctica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6">
            <a:hlinkClick action="ppaction://hlinksldjump" r:id="rId13"/>
          </p:cNvPr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6">
            <a:hlinkClick action="ppaction://hlinksldjump" r:id="rId14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6">
            <a:hlinkClick action="ppaction://hlinksldjump" r:id="rId15"/>
          </p:cNvPr>
          <p:cNvSpPr/>
          <p:nvPr/>
        </p:nvSpPr>
        <p:spPr>
          <a:xfrm>
            <a:off x="4591655" y="9647639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6">
            <a:hlinkClick action="ppaction://hlinksldjump" r:id="rId16"/>
          </p:cNvPr>
          <p:cNvSpPr/>
          <p:nvPr/>
        </p:nvSpPr>
        <p:spPr>
          <a:xfrm>
            <a:off x="4591655" y="9588108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6">
            <a:hlinkClick action="ppaction://hlinksldjump" r:id="rId17"/>
          </p:cNvPr>
          <p:cNvSpPr/>
          <p:nvPr/>
        </p:nvSpPr>
        <p:spPr>
          <a:xfrm>
            <a:off x="6378374" y="9647639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6">
            <a:hlinkClick action="ppaction://hlinksldjump" r:id="rId18"/>
          </p:cNvPr>
          <p:cNvSpPr/>
          <p:nvPr/>
        </p:nvSpPr>
        <p:spPr>
          <a:xfrm>
            <a:off x="6378374" y="9588108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6">
            <a:hlinkClick action="ppaction://hlinksldjump" r:id="rId19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6">
            <a:hlinkClick action="ppaction://hlinksldjump" r:id="rId19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7" name="Google Shape;137;p16" title="correcciones sapiencia.png">
            <a:hlinkClick action="ppaction://hlinksldjump" r:id="rId19"/>
          </p:cNvPr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6">
            <a:hlinkClick action="ppaction://hlinksldjump" r:id="rId19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acción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6"/>
          <p:cNvSpPr txBox="1"/>
          <p:nvPr/>
        </p:nvSpPr>
        <p:spPr>
          <a:xfrm>
            <a:off x="3886200" y="1417320"/>
            <a:ext cx="14356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TEMA 1 · ORIGEN Y SENTIDO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3886200" y="1847088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34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acción: comprender antes de implementar</a:t>
            </a:r>
            <a:endParaRPr/>
          </a:p>
        </p:txBody>
      </p:sp>
      <p:sp>
        <p:nvSpPr>
          <p:cNvPr id="141" name="Google Shape;141;p16"/>
          <p:cNvSpPr/>
          <p:nvPr/>
        </p:nvSpPr>
        <p:spPr>
          <a:xfrm>
            <a:off x="388620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4110228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16"/>
          <p:cNvSpPr/>
          <p:nvPr/>
        </p:nvSpPr>
        <p:spPr>
          <a:xfrm>
            <a:off x="4334256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6"/>
          <p:cNvSpPr/>
          <p:nvPr/>
        </p:nvSpPr>
        <p:spPr>
          <a:xfrm>
            <a:off x="4558284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16"/>
          <p:cNvSpPr/>
          <p:nvPr/>
        </p:nvSpPr>
        <p:spPr>
          <a:xfrm>
            <a:off x="4782312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6"/>
          <p:cNvSpPr/>
          <p:nvPr/>
        </p:nvSpPr>
        <p:spPr>
          <a:xfrm>
            <a:off x="500634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16"/>
          <p:cNvSpPr txBox="1"/>
          <p:nvPr/>
        </p:nvSpPr>
        <p:spPr>
          <a:xfrm>
            <a:off x="3886200" y="3246120"/>
            <a:ext cx="143560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20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En este recorrido descubriremos qué significa trabajar con agilidad, cómo surgió esta forma de pensar y qué valores y principios orientan su aplicación.</a:t>
            </a:r>
            <a:endParaRPr/>
          </a:p>
        </p:txBody>
      </p:sp>
      <p:sp>
        <p:nvSpPr>
          <p:cNvPr id="148" name="Google Shape;148;p16"/>
          <p:cNvSpPr/>
          <p:nvPr/>
        </p:nvSpPr>
        <p:spPr>
          <a:xfrm>
            <a:off x="3886200" y="4343400"/>
            <a:ext cx="4160520" cy="25146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6"/>
          <p:cNvSpPr/>
          <p:nvPr/>
        </p:nvSpPr>
        <p:spPr>
          <a:xfrm>
            <a:off x="4160520" y="4343400"/>
            <a:ext cx="3611880" cy="82296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6"/>
          <p:cNvSpPr/>
          <p:nvPr/>
        </p:nvSpPr>
        <p:spPr>
          <a:xfrm>
            <a:off x="4160520" y="4663440"/>
            <a:ext cx="822960" cy="822960"/>
          </a:xfrm>
          <a:prstGeom prst="ellipse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ist-numbers_regular_FFFFFF.png" id="151" name="Google Shape;151;p1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4358030" y="4860950"/>
            <a:ext cx="427939" cy="427939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6"/>
          <p:cNvSpPr txBox="1"/>
          <p:nvPr/>
        </p:nvSpPr>
        <p:spPr>
          <a:xfrm>
            <a:off x="4160520" y="5669280"/>
            <a:ext cx="361188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Enfoque tradicional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s-CO" sz="19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Procesos predecibles y secuenciales.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8046720" y="5120640"/>
            <a:ext cx="9372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34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154" name="Google Shape;154;p16"/>
          <p:cNvSpPr/>
          <p:nvPr/>
        </p:nvSpPr>
        <p:spPr>
          <a:xfrm>
            <a:off x="8983980" y="4343400"/>
            <a:ext cx="4160520" cy="25146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6"/>
          <p:cNvSpPr/>
          <p:nvPr/>
        </p:nvSpPr>
        <p:spPr>
          <a:xfrm>
            <a:off x="9258300" y="4343400"/>
            <a:ext cx="3611880" cy="82296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6"/>
          <p:cNvSpPr/>
          <p:nvPr/>
        </p:nvSpPr>
        <p:spPr>
          <a:xfrm>
            <a:off x="9258300" y="4663440"/>
            <a:ext cx="822960" cy="822960"/>
          </a:xfrm>
          <a:prstGeom prst="ellipse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rrows-clockwise_regular_FFFFFF.png" id="157" name="Google Shape;157;p16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9455810" y="4860950"/>
            <a:ext cx="427939" cy="42793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/>
        </p:nvSpPr>
        <p:spPr>
          <a:xfrm>
            <a:off x="9258300" y="5669280"/>
            <a:ext cx="361188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Aprendizaje iterativo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s-CO" sz="19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Ajuste continuo y mayor valor.</a:t>
            </a:r>
            <a:endParaRPr/>
          </a:p>
        </p:txBody>
      </p:sp>
      <p:sp>
        <p:nvSpPr>
          <p:cNvPr id="159" name="Google Shape;159;p16"/>
          <p:cNvSpPr txBox="1"/>
          <p:nvPr/>
        </p:nvSpPr>
        <p:spPr>
          <a:xfrm>
            <a:off x="13144500" y="5120640"/>
            <a:ext cx="9372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34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160" name="Google Shape;160;p16"/>
          <p:cNvSpPr/>
          <p:nvPr/>
        </p:nvSpPr>
        <p:spPr>
          <a:xfrm>
            <a:off x="14081760" y="4343400"/>
            <a:ext cx="4160520" cy="251460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16"/>
          <p:cNvSpPr/>
          <p:nvPr/>
        </p:nvSpPr>
        <p:spPr>
          <a:xfrm>
            <a:off x="14356080" y="4343400"/>
            <a:ext cx="3611880" cy="82296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6"/>
          <p:cNvSpPr/>
          <p:nvPr/>
        </p:nvSpPr>
        <p:spPr>
          <a:xfrm>
            <a:off x="14356080" y="4663440"/>
            <a:ext cx="822960" cy="822960"/>
          </a:xfrm>
          <a:prstGeom prst="ellipse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hart-line-up_regular_FFFFFF.png" id="163" name="Google Shape;163;p16"/>
          <p:cNvPicPr preferRelativeResize="0"/>
          <p:nvPr/>
        </p:nvPicPr>
        <p:blipFill rotWithShape="1">
          <a:blip r:embed="rId24">
            <a:alphaModFix/>
          </a:blip>
          <a:srcRect b="0" l="0" r="0" t="0"/>
          <a:stretch/>
        </p:blipFill>
        <p:spPr>
          <a:xfrm>
            <a:off x="14553590" y="4860950"/>
            <a:ext cx="427939" cy="427939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6"/>
          <p:cNvSpPr txBox="1"/>
          <p:nvPr/>
        </p:nvSpPr>
        <p:spPr>
          <a:xfrm>
            <a:off x="14356080" y="5669280"/>
            <a:ext cx="361188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Resultados con impacto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s-CO" sz="19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Organizaciones y proyectos más adaptativos.</a:t>
            </a:r>
            <a:endParaRPr/>
          </a:p>
        </p:txBody>
      </p:sp>
      <p:sp>
        <p:nvSpPr>
          <p:cNvPr id="165" name="Google Shape;165;p16"/>
          <p:cNvSpPr txBox="1"/>
          <p:nvPr/>
        </p:nvSpPr>
        <p:spPr>
          <a:xfrm>
            <a:off x="3886200" y="7178040"/>
            <a:ext cx="23774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0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Tu ruta:</a:t>
            </a:r>
            <a:endParaRPr/>
          </a:p>
        </p:txBody>
      </p:sp>
      <p:sp>
        <p:nvSpPr>
          <p:cNvPr id="166" name="Google Shape;166;p16">
            <a:hlinkClick action="ppaction://hlinksldjump" r:id="rId25"/>
          </p:cNvPr>
          <p:cNvSpPr/>
          <p:nvPr/>
        </p:nvSpPr>
        <p:spPr>
          <a:xfrm>
            <a:off x="5394960" y="7178040"/>
            <a:ext cx="2148840" cy="640080"/>
          </a:xfrm>
          <a:prstGeom prst="roundRect">
            <a:avLst>
              <a:gd fmla="val 50000" name="adj"/>
            </a:avLst>
          </a:prstGeom>
          <a:solidFill>
            <a:srgbClr val="664092"/>
          </a:solidFill>
          <a:ln>
            <a:noFill/>
          </a:ln>
        </p:spPr>
        <p:txBody>
          <a:bodyPr anchorCtr="0" anchor="ctr" bIns="73150" lIns="640075" spcFirstLastPara="1" rIns="73150" wrap="square" tIns="7315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Origen</a:t>
            </a:r>
            <a:endParaRPr/>
          </a:p>
        </p:txBody>
      </p:sp>
      <p:pic>
        <p:nvPicPr>
          <p:cNvPr descr="clock-counter-clockwise_regular_FFFFFF.png" id="167" name="Google Shape;167;p16"/>
          <p:cNvPicPr preferRelativeResize="0"/>
          <p:nvPr/>
        </p:nvPicPr>
        <p:blipFill rotWithShape="1">
          <a:blip r:embed="rId26">
            <a:alphaModFix/>
          </a:blip>
          <a:srcRect b="0" l="0" r="0" t="0"/>
          <a:stretch/>
        </p:blipFill>
        <p:spPr>
          <a:xfrm>
            <a:off x="5596128" y="7324344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6"/>
          <p:cNvSpPr txBox="1"/>
          <p:nvPr/>
        </p:nvSpPr>
        <p:spPr>
          <a:xfrm>
            <a:off x="7543800" y="7178040"/>
            <a:ext cx="502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200" u="none" cap="none" strike="noStrik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169" name="Google Shape;169;p16">
            <a:hlinkClick action="ppaction://hlinksldjump" r:id="rId27"/>
          </p:cNvPr>
          <p:cNvSpPr/>
          <p:nvPr/>
        </p:nvSpPr>
        <p:spPr>
          <a:xfrm>
            <a:off x="8046720" y="7178040"/>
            <a:ext cx="2148840" cy="640080"/>
          </a:xfrm>
          <a:prstGeom prst="roundRect">
            <a:avLst>
              <a:gd fmla="val 50000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73150" lIns="640075" spcFirstLastPara="1" rIns="73150" wrap="square" tIns="7315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8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Valores</a:t>
            </a:r>
            <a:endParaRPr/>
          </a:p>
        </p:txBody>
      </p:sp>
      <p:pic>
        <p:nvPicPr>
          <p:cNvPr descr="scales_regular_3D2159.png" id="170" name="Google Shape;170;p16"/>
          <p:cNvPicPr preferRelativeResize="0"/>
          <p:nvPr/>
        </p:nvPicPr>
        <p:blipFill rotWithShape="1">
          <a:blip r:embed="rId28">
            <a:alphaModFix/>
          </a:blip>
          <a:srcRect b="0" l="0" r="0" t="0"/>
          <a:stretch/>
        </p:blipFill>
        <p:spPr>
          <a:xfrm>
            <a:off x="8247888" y="7324344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6"/>
          <p:cNvSpPr txBox="1"/>
          <p:nvPr/>
        </p:nvSpPr>
        <p:spPr>
          <a:xfrm>
            <a:off x="10195560" y="7178040"/>
            <a:ext cx="502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200" u="none" cap="none" strike="noStrik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172" name="Google Shape;172;p16">
            <a:hlinkClick action="ppaction://hlinksldjump" r:id="rId29"/>
          </p:cNvPr>
          <p:cNvSpPr/>
          <p:nvPr/>
        </p:nvSpPr>
        <p:spPr>
          <a:xfrm>
            <a:off x="10698480" y="7178040"/>
            <a:ext cx="2148840" cy="640080"/>
          </a:xfrm>
          <a:prstGeom prst="roundRect">
            <a:avLst>
              <a:gd fmla="val 50000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73150" lIns="640075" spcFirstLastPara="1" rIns="73150" wrap="square" tIns="7315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8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Principios</a:t>
            </a:r>
            <a:endParaRPr/>
          </a:p>
        </p:txBody>
      </p:sp>
      <p:pic>
        <p:nvPicPr>
          <p:cNvPr descr="list-numbers_regular_3D2159.png" id="173" name="Google Shape;173;p16"/>
          <p:cNvPicPr preferRelativeResize="0"/>
          <p:nvPr/>
        </p:nvPicPr>
        <p:blipFill rotWithShape="1">
          <a:blip r:embed="rId30">
            <a:alphaModFix/>
          </a:blip>
          <a:srcRect b="0" l="0" r="0" t="0"/>
          <a:stretch/>
        </p:blipFill>
        <p:spPr>
          <a:xfrm>
            <a:off x="10899648" y="7324344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6"/>
          <p:cNvSpPr txBox="1"/>
          <p:nvPr/>
        </p:nvSpPr>
        <p:spPr>
          <a:xfrm>
            <a:off x="12847320" y="7178040"/>
            <a:ext cx="502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200" u="none" cap="none" strike="noStrik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175" name="Google Shape;175;p16">
            <a:hlinkClick action="ppaction://hlinksldjump" r:id="rId31"/>
          </p:cNvPr>
          <p:cNvSpPr/>
          <p:nvPr/>
        </p:nvSpPr>
        <p:spPr>
          <a:xfrm>
            <a:off x="13350240" y="7178040"/>
            <a:ext cx="3154680" cy="640080"/>
          </a:xfrm>
          <a:prstGeom prst="roundRect">
            <a:avLst>
              <a:gd fmla="val 50000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73150" lIns="640075" spcFirstLastPara="1" rIns="73150" wrap="square" tIns="7315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8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Formas de trabajo</a:t>
            </a:r>
            <a:endParaRPr/>
          </a:p>
        </p:txBody>
      </p:sp>
      <p:pic>
        <p:nvPicPr>
          <p:cNvPr descr="path_regular_3D2159.png" id="176" name="Google Shape;176;p16"/>
          <p:cNvPicPr preferRelativeResize="0"/>
          <p:nvPr/>
        </p:nvPicPr>
        <p:blipFill rotWithShape="1">
          <a:blip r:embed="rId32">
            <a:alphaModFix/>
          </a:blip>
          <a:srcRect b="0" l="0" r="0" t="0"/>
          <a:stretch/>
        </p:blipFill>
        <p:spPr>
          <a:xfrm>
            <a:off x="13551408" y="7324344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6"/>
          <p:cNvSpPr txBox="1"/>
          <p:nvPr/>
        </p:nvSpPr>
        <p:spPr>
          <a:xfrm>
            <a:off x="3886200" y="7955280"/>
            <a:ext cx="14356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Haz clic en cada etapa de la ruta para ir directamente a ese contenido.</a:t>
            </a:r>
            <a:endParaRPr/>
          </a:p>
        </p:txBody>
      </p:sp>
      <p:sp>
        <p:nvSpPr>
          <p:cNvPr id="56" name="Google Shape;56;p2">
            <a:hlinkClick action="ppaction://hlinksldjump" r:id="rId33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>
            <a:hlinkClick action="ppaction://hlinksldjump" r:id="rId33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7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7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7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7">
            <a:hlinkClick action="ppaction://hlinksldjump" r:id="rId3"/>
          </p:cNvPr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7">
            <a:hlinkClick action="ppaction://hlinksldjump" r:id="rId4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664092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Origen y sentido de la agilidad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7">
            <a:hlinkClick action="ppaction://hlinksldjump" r:id="rId5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7">
            <a:hlinkClick action="ppaction://hlinksldjump" r:id="rId6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4 valores fundamentales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7">
            <a:hlinkClick action="ppaction://hlinksldjump" r:id="rId7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7">
            <a:hlinkClick action="ppaction://hlinksldjump" r:id="rId8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12 principios rectores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7">
            <a:hlinkClick action="ppaction://hlinksldjump" r:id="rId9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7">
            <a:hlinkClick action="ppaction://hlinksldjump" r:id="rId10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Factor humano, calidad y mejora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7">
            <a:hlinkClick action="ppaction://hlinksldjump" r:id="rId11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17">
            <a:hlinkClick action="ppaction://hlinksldjump" r:id="rId12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la práctica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7">
            <a:hlinkClick action="ppaction://hlinksldjump" r:id="rId13"/>
          </p:cNvPr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7">
            <a:hlinkClick action="ppaction://hlinksldjump" r:id="rId14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7">
            <a:hlinkClick action="ppaction://hlinksldjump" r:id="rId15"/>
          </p:cNvPr>
          <p:cNvSpPr/>
          <p:nvPr/>
        </p:nvSpPr>
        <p:spPr>
          <a:xfrm>
            <a:off x="4591655" y="9650527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17">
            <a:hlinkClick action="ppaction://hlinksldjump" r:id="rId16"/>
          </p:cNvPr>
          <p:cNvSpPr/>
          <p:nvPr/>
        </p:nvSpPr>
        <p:spPr>
          <a:xfrm>
            <a:off x="4591655" y="9590996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7">
            <a:hlinkClick action="ppaction://hlinksldjump" r:id="rId17"/>
          </p:cNvPr>
          <p:cNvSpPr/>
          <p:nvPr/>
        </p:nvSpPr>
        <p:spPr>
          <a:xfrm>
            <a:off x="6378374" y="9650527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17">
            <a:hlinkClick action="ppaction://hlinksldjump" r:id="rId18"/>
          </p:cNvPr>
          <p:cNvSpPr/>
          <p:nvPr/>
        </p:nvSpPr>
        <p:spPr>
          <a:xfrm>
            <a:off x="6378374" y="9590996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17">
            <a:hlinkClick action="ppaction://hlinksldjump" r:id="rId19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17">
            <a:hlinkClick action="ppaction://hlinksldjump" r:id="rId19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3" name="Google Shape;203;p17" title="correcciones sapiencia.png">
            <a:hlinkClick action="ppaction://hlinksldjump" r:id="rId19"/>
          </p:cNvPr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17">
            <a:hlinkClick action="ppaction://hlinksldjump" r:id="rId19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acción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7"/>
          <p:cNvSpPr txBox="1"/>
          <p:nvPr/>
        </p:nvSpPr>
        <p:spPr>
          <a:xfrm>
            <a:off x="3886200" y="1417320"/>
            <a:ext cx="14356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TEMA 1 · ORIGEN Y SENTIDO</a:t>
            </a:r>
            <a:endParaRPr/>
          </a:p>
        </p:txBody>
      </p:sp>
      <p:sp>
        <p:nvSpPr>
          <p:cNvPr id="206" name="Google Shape;206;p17"/>
          <p:cNvSpPr txBox="1"/>
          <p:nvPr/>
        </p:nvSpPr>
        <p:spPr>
          <a:xfrm>
            <a:off x="3886200" y="1847088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¿Ser ágil significa hacer todo más rápido?</a:t>
            </a:r>
            <a:endParaRPr/>
          </a:p>
        </p:txBody>
      </p:sp>
      <p:sp>
        <p:nvSpPr>
          <p:cNvPr id="207" name="Google Shape;207;p17"/>
          <p:cNvSpPr/>
          <p:nvPr/>
        </p:nvSpPr>
        <p:spPr>
          <a:xfrm>
            <a:off x="388620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17"/>
          <p:cNvSpPr/>
          <p:nvPr/>
        </p:nvSpPr>
        <p:spPr>
          <a:xfrm>
            <a:off x="4110228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17"/>
          <p:cNvSpPr/>
          <p:nvPr/>
        </p:nvSpPr>
        <p:spPr>
          <a:xfrm>
            <a:off x="4334256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17"/>
          <p:cNvSpPr/>
          <p:nvPr/>
        </p:nvSpPr>
        <p:spPr>
          <a:xfrm>
            <a:off x="4558284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7"/>
          <p:cNvSpPr/>
          <p:nvPr/>
        </p:nvSpPr>
        <p:spPr>
          <a:xfrm>
            <a:off x="4782312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7"/>
          <p:cNvSpPr/>
          <p:nvPr/>
        </p:nvSpPr>
        <p:spPr>
          <a:xfrm>
            <a:off x="500634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7"/>
          <p:cNvSpPr/>
          <p:nvPr/>
        </p:nvSpPr>
        <p:spPr>
          <a:xfrm>
            <a:off x="3886200" y="3246120"/>
            <a:ext cx="4114800" cy="640080"/>
          </a:xfrm>
          <a:prstGeom prst="roundRect">
            <a:avLst>
              <a:gd fmla="val 5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73150" lIns="640075" spcFirstLastPara="1" rIns="73150" wrap="square" tIns="7315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9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Agilidad ≠ velocidad</a:t>
            </a:r>
            <a:endParaRPr/>
          </a:p>
        </p:txBody>
      </p:sp>
      <p:pic>
        <p:nvPicPr>
          <p:cNvPr descr="x-circle_regular_A71989.png" id="214" name="Google Shape;214;p17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4087368" y="3392424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17"/>
          <p:cNvSpPr/>
          <p:nvPr/>
        </p:nvSpPr>
        <p:spPr>
          <a:xfrm>
            <a:off x="8275320" y="3246120"/>
            <a:ext cx="7589520" cy="640080"/>
          </a:xfrm>
          <a:prstGeom prst="roundRect">
            <a:avLst>
              <a:gd fmla="val 50000" name="adj"/>
            </a:avLst>
          </a:prstGeom>
          <a:solidFill>
            <a:srgbClr val="664092"/>
          </a:solidFill>
          <a:ln>
            <a:noFill/>
          </a:ln>
        </p:spPr>
        <p:txBody>
          <a:bodyPr anchorCtr="0" anchor="ctr" bIns="73150" lIns="640075" spcFirstLastPara="1" rIns="73150" wrap="square" tIns="7315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Agilidad = aprender + adaptar + entregar valor</a:t>
            </a:r>
            <a:endParaRPr/>
          </a:p>
        </p:txBody>
      </p:sp>
      <p:pic>
        <p:nvPicPr>
          <p:cNvPr descr="check-circle_regular_FFFFFF.png" id="216" name="Google Shape;216;p17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8476488" y="3392424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17"/>
          <p:cNvSpPr txBox="1"/>
          <p:nvPr/>
        </p:nvSpPr>
        <p:spPr>
          <a:xfrm>
            <a:off x="3886200" y="4069080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9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Las metodologías ágiles reúnen enfoques y prácticas que favorecen la entrega incremental de valor, la colaboración y la capacidad de adaptación durante el desarrollo de un proyecto.</a:t>
            </a:r>
            <a:endParaRPr/>
          </a:p>
        </p:txBody>
      </p:sp>
      <p:sp>
        <p:nvSpPr>
          <p:cNvPr id="218" name="Google Shape;218;p17"/>
          <p:cNvSpPr/>
          <p:nvPr/>
        </p:nvSpPr>
        <p:spPr>
          <a:xfrm>
            <a:off x="3886200" y="5074920"/>
            <a:ext cx="6995160" cy="3749040"/>
          </a:xfrm>
          <a:prstGeom prst="roundRect">
            <a:avLst>
              <a:gd fmla="val 6097" name="adj"/>
            </a:avLst>
          </a:prstGeom>
          <a:solidFill>
            <a:srgbClr val="FBF4F8"/>
          </a:solidFill>
          <a:ln cap="flat" cmpd="sng" w="15875">
            <a:solidFill>
              <a:srgbClr val="EBC9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17"/>
          <p:cNvSpPr/>
          <p:nvPr/>
        </p:nvSpPr>
        <p:spPr>
          <a:xfrm>
            <a:off x="4206240" y="5394960"/>
            <a:ext cx="822960" cy="822960"/>
          </a:xfrm>
          <a:prstGeom prst="ellipse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ightning_regular_FFFFFF.png" id="220" name="Google Shape;220;p17"/>
          <p:cNvPicPr preferRelativeResize="0"/>
          <p:nvPr/>
        </p:nvPicPr>
        <p:blipFill rotWithShape="1">
          <a:blip r:embed="rId24">
            <a:alphaModFix/>
          </a:blip>
          <a:srcRect b="0" l="0" r="0" t="0"/>
          <a:stretch/>
        </p:blipFill>
        <p:spPr>
          <a:xfrm>
            <a:off x="4403750" y="5592470"/>
            <a:ext cx="427939" cy="427939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17"/>
          <p:cNvSpPr txBox="1"/>
          <p:nvPr/>
        </p:nvSpPr>
        <p:spPr>
          <a:xfrm>
            <a:off x="5212080" y="5349240"/>
            <a:ext cx="54406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Enfoque por velocidad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800" u="none" cap="none" strike="noStrike">
                <a:solidFill>
                  <a:srgbClr val="4F4F4F"/>
                </a:solidFill>
                <a:latin typeface="Arial"/>
                <a:ea typeface="Arial"/>
                <a:cs typeface="Arial"/>
                <a:sym typeface="Arial"/>
              </a:rPr>
              <a:t>El mito de la velocidad lineal.</a:t>
            </a:r>
            <a:endParaRPr/>
          </a:p>
        </p:txBody>
      </p:sp>
      <p:sp>
        <p:nvSpPr>
          <p:cNvPr id="222" name="Google Shape;222;p17"/>
          <p:cNvSpPr/>
          <p:nvPr/>
        </p:nvSpPr>
        <p:spPr>
          <a:xfrm>
            <a:off x="4206240" y="6583680"/>
            <a:ext cx="6355080" cy="777240"/>
          </a:xfrm>
          <a:prstGeom prst="roundRect">
            <a:avLst>
              <a:gd fmla="val 23529" name="adj"/>
            </a:avLst>
          </a:prstGeom>
          <a:solidFill>
            <a:srgbClr val="FFFFFF"/>
          </a:solidFill>
          <a:ln cap="flat" cmpd="sng" w="12700">
            <a:solidFill>
              <a:srgbClr val="EBC9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warning_regular_A71989.png" id="223" name="Google Shape;223;p17"/>
          <p:cNvPicPr preferRelativeResize="0"/>
          <p:nvPr/>
        </p:nvPicPr>
        <p:blipFill rotWithShape="1">
          <a:blip r:embed="rId25">
            <a:alphaModFix/>
          </a:blip>
          <a:srcRect b="0" l="0" r="0" t="0"/>
          <a:stretch/>
        </p:blipFill>
        <p:spPr>
          <a:xfrm>
            <a:off x="4389120" y="676656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7"/>
          <p:cNvSpPr txBox="1"/>
          <p:nvPr/>
        </p:nvSpPr>
        <p:spPr>
          <a:xfrm>
            <a:off x="4983480" y="6583680"/>
            <a:ext cx="54406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9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Aceleración sin pausas de validación.</a:t>
            </a:r>
            <a:endParaRPr/>
          </a:p>
        </p:txBody>
      </p:sp>
      <p:sp>
        <p:nvSpPr>
          <p:cNvPr id="225" name="Google Shape;225;p17"/>
          <p:cNvSpPr/>
          <p:nvPr/>
        </p:nvSpPr>
        <p:spPr>
          <a:xfrm>
            <a:off x="4206240" y="7543800"/>
            <a:ext cx="6355080" cy="777240"/>
          </a:xfrm>
          <a:prstGeom prst="roundRect">
            <a:avLst>
              <a:gd fmla="val 23529" name="adj"/>
            </a:avLst>
          </a:prstGeom>
          <a:solidFill>
            <a:srgbClr val="FFFFFF"/>
          </a:solidFill>
          <a:ln cap="flat" cmpd="sng" w="12700">
            <a:solidFill>
              <a:srgbClr val="EBC9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warning_regular_A71989.png" id="226" name="Google Shape;226;p17"/>
          <p:cNvPicPr preferRelativeResize="0"/>
          <p:nvPr/>
        </p:nvPicPr>
        <p:blipFill rotWithShape="1">
          <a:blip r:embed="rId25">
            <a:alphaModFix/>
          </a:blip>
          <a:srcRect b="0" l="0" r="0" t="0"/>
          <a:stretch/>
        </p:blipFill>
        <p:spPr>
          <a:xfrm>
            <a:off x="4389120" y="7726680"/>
            <a:ext cx="411480" cy="41148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17"/>
          <p:cNvSpPr txBox="1"/>
          <p:nvPr/>
        </p:nvSpPr>
        <p:spPr>
          <a:xfrm>
            <a:off x="4983480" y="7543800"/>
            <a:ext cx="54406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9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Mayor riesgo de errores y desvíos.</a:t>
            </a:r>
            <a:endParaRPr/>
          </a:p>
        </p:txBody>
      </p:sp>
      <p:sp>
        <p:nvSpPr>
          <p:cNvPr id="228" name="Google Shape;228;p17"/>
          <p:cNvSpPr/>
          <p:nvPr/>
        </p:nvSpPr>
        <p:spPr>
          <a:xfrm>
            <a:off x="11247120" y="5074920"/>
            <a:ext cx="6995160" cy="3749040"/>
          </a:xfrm>
          <a:prstGeom prst="roundRect">
            <a:avLst>
              <a:gd fmla="val 6097" name="adj"/>
            </a:avLst>
          </a:prstGeom>
          <a:solidFill>
            <a:srgbClr val="F1EBF6"/>
          </a:solidFill>
          <a:ln cap="flat" cmpd="sng" w="15875">
            <a:solidFill>
              <a:srgbClr val="DDD8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7"/>
          <p:cNvSpPr/>
          <p:nvPr/>
        </p:nvSpPr>
        <p:spPr>
          <a:xfrm>
            <a:off x="11567160" y="5394960"/>
            <a:ext cx="822960" cy="822960"/>
          </a:xfrm>
          <a:prstGeom prst="ellipse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rrows-clockwise_regular_FFFFFF.png" id="230" name="Google Shape;230;p17"/>
          <p:cNvPicPr preferRelativeResize="0"/>
          <p:nvPr/>
        </p:nvPicPr>
        <p:blipFill rotWithShape="1">
          <a:blip r:embed="rId26">
            <a:alphaModFix/>
          </a:blip>
          <a:srcRect b="0" l="0" r="0" t="0"/>
          <a:stretch/>
        </p:blipFill>
        <p:spPr>
          <a:xfrm>
            <a:off x="11764670" y="5592470"/>
            <a:ext cx="427939" cy="42793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17"/>
          <p:cNvSpPr txBox="1"/>
          <p:nvPr/>
        </p:nvSpPr>
        <p:spPr>
          <a:xfrm>
            <a:off x="12573000" y="5349240"/>
            <a:ext cx="54406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Enfoque ágil adaptativo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800" u="none" cap="none" strike="noStrike">
                <a:solidFill>
                  <a:srgbClr val="4F4F4F"/>
                </a:solidFill>
                <a:latin typeface="Arial"/>
                <a:ea typeface="Arial"/>
                <a:cs typeface="Arial"/>
                <a:sym typeface="Arial"/>
              </a:rPr>
              <a:t>Ciclos de aprendizaje para generar más valor.</a:t>
            </a:r>
            <a:endParaRPr/>
          </a:p>
        </p:txBody>
      </p:sp>
      <p:sp>
        <p:nvSpPr>
          <p:cNvPr id="232" name="Google Shape;232;p17"/>
          <p:cNvSpPr/>
          <p:nvPr/>
        </p:nvSpPr>
        <p:spPr>
          <a:xfrm>
            <a:off x="11567160" y="6629400"/>
            <a:ext cx="1348740" cy="59436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5875">
            <a:solidFill>
              <a:srgbClr val="C9B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3150" lIns="73150" spcFirstLastPara="1" rIns="73150" wrap="square" tIns="7315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Hacer</a:t>
            </a:r>
            <a:endParaRPr/>
          </a:p>
        </p:txBody>
      </p:sp>
      <p:sp>
        <p:nvSpPr>
          <p:cNvPr id="233" name="Google Shape;233;p17"/>
          <p:cNvSpPr txBox="1"/>
          <p:nvPr/>
        </p:nvSpPr>
        <p:spPr>
          <a:xfrm>
            <a:off x="12915900" y="6629400"/>
            <a:ext cx="320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8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234" name="Google Shape;234;p17"/>
          <p:cNvSpPr/>
          <p:nvPr/>
        </p:nvSpPr>
        <p:spPr>
          <a:xfrm>
            <a:off x="13235940" y="6629400"/>
            <a:ext cx="1348740" cy="59436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5875">
            <a:solidFill>
              <a:srgbClr val="C9B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3150" lIns="73150" spcFirstLastPara="1" rIns="73150" wrap="square" tIns="7315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Observar</a:t>
            </a:r>
            <a:endParaRPr/>
          </a:p>
        </p:txBody>
      </p:sp>
      <p:sp>
        <p:nvSpPr>
          <p:cNvPr id="235" name="Google Shape;235;p17"/>
          <p:cNvSpPr txBox="1"/>
          <p:nvPr/>
        </p:nvSpPr>
        <p:spPr>
          <a:xfrm>
            <a:off x="14584680" y="6629400"/>
            <a:ext cx="320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8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236" name="Google Shape;236;p17"/>
          <p:cNvSpPr/>
          <p:nvPr/>
        </p:nvSpPr>
        <p:spPr>
          <a:xfrm>
            <a:off x="14904720" y="6629400"/>
            <a:ext cx="1348740" cy="59436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5875">
            <a:solidFill>
              <a:srgbClr val="C9B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3150" lIns="73150" spcFirstLastPara="1" rIns="73150" wrap="square" tIns="7315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Aprender</a:t>
            </a:r>
            <a:endParaRPr/>
          </a:p>
        </p:txBody>
      </p:sp>
      <p:sp>
        <p:nvSpPr>
          <p:cNvPr id="237" name="Google Shape;237;p17"/>
          <p:cNvSpPr txBox="1"/>
          <p:nvPr/>
        </p:nvSpPr>
        <p:spPr>
          <a:xfrm>
            <a:off x="16253460" y="6629400"/>
            <a:ext cx="320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8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238" name="Google Shape;238;p17"/>
          <p:cNvSpPr/>
          <p:nvPr/>
        </p:nvSpPr>
        <p:spPr>
          <a:xfrm>
            <a:off x="16573500" y="6629400"/>
            <a:ext cx="1348740" cy="59436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5875">
            <a:solidFill>
              <a:srgbClr val="C9B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3150" lIns="73150" spcFirstLastPara="1" rIns="73150" wrap="square" tIns="7315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Ajustar</a:t>
            </a:r>
            <a:endParaRPr/>
          </a:p>
        </p:txBody>
      </p:sp>
      <p:sp>
        <p:nvSpPr>
          <p:cNvPr id="239" name="Google Shape;239;p17"/>
          <p:cNvSpPr/>
          <p:nvPr/>
        </p:nvSpPr>
        <p:spPr>
          <a:xfrm>
            <a:off x="11567160" y="7452360"/>
            <a:ext cx="6355080" cy="59436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73150" lIns="640075" spcFirstLastPara="1" rIns="73150" wrap="square" tIns="7315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8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Entrega incremental de valor</a:t>
            </a:r>
            <a:endParaRPr/>
          </a:p>
        </p:txBody>
      </p:sp>
      <p:pic>
        <p:nvPicPr>
          <p:cNvPr descr="package_regular_3D2159.png" id="240" name="Google Shape;240;p17"/>
          <p:cNvPicPr preferRelativeResize="0"/>
          <p:nvPr/>
        </p:nvPicPr>
        <p:blipFill rotWithShape="1">
          <a:blip r:embed="rId27">
            <a:alphaModFix/>
          </a:blip>
          <a:srcRect b="0" l="0" r="0" t="0"/>
          <a:stretch/>
        </p:blipFill>
        <p:spPr>
          <a:xfrm>
            <a:off x="11768328" y="7575804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17"/>
          <p:cNvSpPr txBox="1"/>
          <p:nvPr/>
        </p:nvSpPr>
        <p:spPr>
          <a:xfrm>
            <a:off x="11567160" y="8092440"/>
            <a:ext cx="6355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8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Proyectos más adaptativos. Resultados con mayor valor.</a:t>
            </a:r>
            <a:endParaRPr/>
          </a:p>
        </p:txBody>
      </p:sp>
      <p:sp>
        <p:nvSpPr>
          <p:cNvPr id="56" name="Google Shape;56;p2">
            <a:hlinkClick action="ppaction://hlinksldjump" r:id="rId28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>
            <a:hlinkClick action="ppaction://hlinksldjump" r:id="rId28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8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8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18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8">
            <a:hlinkClick action="ppaction://hlinksldjump" r:id="rId3"/>
          </p:cNvPr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8">
            <a:hlinkClick action="ppaction://hlinksldjump" r:id="rId4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664092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Origen y sentido de la agilidad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18">
            <a:hlinkClick action="ppaction://hlinksldjump" r:id="rId5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8">
            <a:hlinkClick action="ppaction://hlinksldjump" r:id="rId6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4 valores fundamentales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8">
            <a:hlinkClick action="ppaction://hlinksldjump" r:id="rId7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8">
            <a:hlinkClick action="ppaction://hlinksldjump" r:id="rId8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12 principios rectores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8">
            <a:hlinkClick action="ppaction://hlinksldjump" r:id="rId9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18">
            <a:hlinkClick action="ppaction://hlinksldjump" r:id="rId10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Factor humano, calidad y mejora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18">
            <a:hlinkClick action="ppaction://hlinksldjump" r:id="rId11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8">
            <a:hlinkClick action="ppaction://hlinksldjump" r:id="rId12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la práctica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8">
            <a:hlinkClick action="ppaction://hlinksldjump" r:id="rId13"/>
          </p:cNvPr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18">
            <a:hlinkClick action="ppaction://hlinksldjump" r:id="rId14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18">
            <a:hlinkClick action="ppaction://hlinksldjump" r:id="rId15"/>
          </p:cNvPr>
          <p:cNvSpPr/>
          <p:nvPr/>
        </p:nvSpPr>
        <p:spPr>
          <a:xfrm>
            <a:off x="4591655" y="9647639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8">
            <a:hlinkClick action="ppaction://hlinksldjump" r:id="rId16"/>
          </p:cNvPr>
          <p:cNvSpPr/>
          <p:nvPr/>
        </p:nvSpPr>
        <p:spPr>
          <a:xfrm>
            <a:off x="4591655" y="9588108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18">
            <a:hlinkClick action="ppaction://hlinksldjump" r:id="rId17"/>
          </p:cNvPr>
          <p:cNvSpPr/>
          <p:nvPr/>
        </p:nvSpPr>
        <p:spPr>
          <a:xfrm>
            <a:off x="6378374" y="9647639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8">
            <a:hlinkClick action="ppaction://hlinksldjump" r:id="rId18"/>
          </p:cNvPr>
          <p:cNvSpPr/>
          <p:nvPr/>
        </p:nvSpPr>
        <p:spPr>
          <a:xfrm>
            <a:off x="6378374" y="9588108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18">
            <a:hlinkClick action="ppaction://hlinksldjump" r:id="rId19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18">
            <a:hlinkClick action="ppaction://hlinksldjump" r:id="rId19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7" name="Google Shape;267;p18" title="correcciones sapiencia.png">
            <a:hlinkClick action="ppaction://hlinksldjump" r:id="rId19"/>
          </p:cNvPr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18">
            <a:hlinkClick action="ppaction://hlinksldjump" r:id="rId19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acción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8"/>
          <p:cNvSpPr txBox="1"/>
          <p:nvPr/>
        </p:nvSpPr>
        <p:spPr>
          <a:xfrm>
            <a:off x="3886200" y="1417320"/>
            <a:ext cx="14356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TEMA 1 · ORIGEN Y SENTIDO</a:t>
            </a:r>
            <a:endParaRPr/>
          </a:p>
        </p:txBody>
      </p:sp>
      <p:sp>
        <p:nvSpPr>
          <p:cNvPr id="270" name="Google Shape;270;p18"/>
          <p:cNvSpPr txBox="1"/>
          <p:nvPr/>
        </p:nvSpPr>
        <p:spPr>
          <a:xfrm>
            <a:off x="3886200" y="1847088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Cuando el plan se encuentra con la incertidumbre</a:t>
            </a:r>
            <a:endParaRPr/>
          </a:p>
        </p:txBody>
      </p:sp>
      <p:sp>
        <p:nvSpPr>
          <p:cNvPr id="271" name="Google Shape;271;p18"/>
          <p:cNvSpPr/>
          <p:nvPr/>
        </p:nvSpPr>
        <p:spPr>
          <a:xfrm>
            <a:off x="388620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8"/>
          <p:cNvSpPr/>
          <p:nvPr/>
        </p:nvSpPr>
        <p:spPr>
          <a:xfrm>
            <a:off x="4110228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8"/>
          <p:cNvSpPr/>
          <p:nvPr/>
        </p:nvSpPr>
        <p:spPr>
          <a:xfrm>
            <a:off x="4334256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8"/>
          <p:cNvSpPr/>
          <p:nvPr/>
        </p:nvSpPr>
        <p:spPr>
          <a:xfrm>
            <a:off x="4558284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8"/>
          <p:cNvSpPr/>
          <p:nvPr/>
        </p:nvSpPr>
        <p:spPr>
          <a:xfrm>
            <a:off x="4782312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8"/>
          <p:cNvSpPr/>
          <p:nvPr/>
        </p:nvSpPr>
        <p:spPr>
          <a:xfrm>
            <a:off x="500634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8"/>
          <p:cNvSpPr txBox="1"/>
          <p:nvPr/>
        </p:nvSpPr>
        <p:spPr>
          <a:xfrm>
            <a:off x="3886200" y="3246120"/>
            <a:ext cx="14356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20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La agilidad reconoce que no todo puede conocerse ni planificarse con certeza desde el comienzo.</a:t>
            </a:r>
            <a:endParaRPr/>
          </a:p>
        </p:txBody>
      </p:sp>
      <p:sp>
        <p:nvSpPr>
          <p:cNvPr id="278" name="Google Shape;278;p18"/>
          <p:cNvSpPr/>
          <p:nvPr/>
        </p:nvSpPr>
        <p:spPr>
          <a:xfrm>
            <a:off x="3886200" y="3886200"/>
            <a:ext cx="4206240" cy="2377440"/>
          </a:xfrm>
          <a:prstGeom prst="roundRect">
            <a:avLst>
              <a:gd fmla="val 8461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8"/>
          <p:cNvSpPr/>
          <p:nvPr/>
        </p:nvSpPr>
        <p:spPr>
          <a:xfrm>
            <a:off x="4160520" y="3886200"/>
            <a:ext cx="3657600" cy="82296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8"/>
          <p:cNvSpPr/>
          <p:nvPr/>
        </p:nvSpPr>
        <p:spPr>
          <a:xfrm>
            <a:off x="4160520" y="4160520"/>
            <a:ext cx="685800" cy="685800"/>
          </a:xfrm>
          <a:prstGeom prst="ellipse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map-trifold_regular_FFFFFF.png" id="281" name="Google Shape;281;p18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4325112" y="4325112"/>
            <a:ext cx="356616" cy="356616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18"/>
          <p:cNvSpPr txBox="1"/>
          <p:nvPr/>
        </p:nvSpPr>
        <p:spPr>
          <a:xfrm>
            <a:off x="5029200" y="4160520"/>
            <a:ext cx="29260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900" u="none" cap="none" strike="noStrike">
                <a:solidFill>
                  <a:srgbClr val="024791"/>
                </a:solidFill>
                <a:latin typeface="Arial"/>
                <a:ea typeface="Arial"/>
                <a:cs typeface="Arial"/>
                <a:sym typeface="Arial"/>
              </a:rPr>
              <a:t>PLAN INICIAL</a:t>
            </a:r>
            <a:endParaRPr/>
          </a:p>
        </p:txBody>
      </p:sp>
      <p:sp>
        <p:nvSpPr>
          <p:cNvPr id="283" name="Google Shape;283;p18"/>
          <p:cNvSpPr txBox="1"/>
          <p:nvPr/>
        </p:nvSpPr>
        <p:spPr>
          <a:xfrm>
            <a:off x="4160520" y="4983480"/>
            <a:ext cx="37033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7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Sabemos hacia dónde queremos avanzar.</a:t>
            </a:r>
            <a:endParaRPr/>
          </a:p>
        </p:txBody>
      </p:sp>
      <p:sp>
        <p:nvSpPr>
          <p:cNvPr id="284" name="Google Shape;284;p18"/>
          <p:cNvSpPr txBox="1"/>
          <p:nvPr/>
        </p:nvSpPr>
        <p:spPr>
          <a:xfrm>
            <a:off x="8092440" y="4709160"/>
            <a:ext cx="8686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34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285" name="Google Shape;285;p18"/>
          <p:cNvSpPr/>
          <p:nvPr/>
        </p:nvSpPr>
        <p:spPr>
          <a:xfrm>
            <a:off x="8961120" y="3886200"/>
            <a:ext cx="4206240" cy="2377440"/>
          </a:xfrm>
          <a:prstGeom prst="roundRect">
            <a:avLst>
              <a:gd fmla="val 8461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8"/>
          <p:cNvSpPr/>
          <p:nvPr/>
        </p:nvSpPr>
        <p:spPr>
          <a:xfrm>
            <a:off x="9235440" y="3886200"/>
            <a:ext cx="3657600" cy="82296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18"/>
          <p:cNvSpPr/>
          <p:nvPr/>
        </p:nvSpPr>
        <p:spPr>
          <a:xfrm>
            <a:off x="9235440" y="4160520"/>
            <a:ext cx="685800" cy="685800"/>
          </a:xfrm>
          <a:prstGeom prst="ellipse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shuffle_regular_FFFFFF.png" id="288" name="Google Shape;288;p18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9400032" y="4325112"/>
            <a:ext cx="356616" cy="3566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18"/>
          <p:cNvSpPr txBox="1"/>
          <p:nvPr/>
        </p:nvSpPr>
        <p:spPr>
          <a:xfrm>
            <a:off x="10104120" y="4160520"/>
            <a:ext cx="29260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9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REALIDAD</a:t>
            </a:r>
            <a:endParaRPr/>
          </a:p>
        </p:txBody>
      </p:sp>
      <p:sp>
        <p:nvSpPr>
          <p:cNvPr id="290" name="Google Shape;290;p18"/>
          <p:cNvSpPr txBox="1"/>
          <p:nvPr/>
        </p:nvSpPr>
        <p:spPr>
          <a:xfrm>
            <a:off x="9235440" y="4983480"/>
            <a:ext cx="37033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7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• Cambian necesidades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7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• Aparecen nuevos datos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7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• Recibimos retroalimentación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7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• Surgen imprevistos</a:t>
            </a:r>
            <a:endParaRPr/>
          </a:p>
        </p:txBody>
      </p:sp>
      <p:sp>
        <p:nvSpPr>
          <p:cNvPr id="291" name="Google Shape;291;p18"/>
          <p:cNvSpPr txBox="1"/>
          <p:nvPr/>
        </p:nvSpPr>
        <p:spPr>
          <a:xfrm>
            <a:off x="13167360" y="4709160"/>
            <a:ext cx="8686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34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292" name="Google Shape;292;p18"/>
          <p:cNvSpPr/>
          <p:nvPr/>
        </p:nvSpPr>
        <p:spPr>
          <a:xfrm>
            <a:off x="14036040" y="3886200"/>
            <a:ext cx="4206240" cy="2377440"/>
          </a:xfrm>
          <a:prstGeom prst="roundRect">
            <a:avLst>
              <a:gd fmla="val 8461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18"/>
          <p:cNvSpPr/>
          <p:nvPr/>
        </p:nvSpPr>
        <p:spPr>
          <a:xfrm>
            <a:off x="14310360" y="3886200"/>
            <a:ext cx="3657600" cy="82296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18"/>
          <p:cNvSpPr/>
          <p:nvPr/>
        </p:nvSpPr>
        <p:spPr>
          <a:xfrm>
            <a:off x="14310360" y="4160520"/>
            <a:ext cx="685800" cy="685800"/>
          </a:xfrm>
          <a:prstGeom prst="ellipse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rrows-clockwise_regular_FFFFFF.png" id="295" name="Google Shape;295;p18"/>
          <p:cNvPicPr preferRelativeResize="0"/>
          <p:nvPr/>
        </p:nvPicPr>
        <p:blipFill rotWithShape="1">
          <a:blip r:embed="rId24">
            <a:alphaModFix/>
          </a:blip>
          <a:srcRect b="0" l="0" r="0" t="0"/>
          <a:stretch/>
        </p:blipFill>
        <p:spPr>
          <a:xfrm>
            <a:off x="14474952" y="4325112"/>
            <a:ext cx="356616" cy="356616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18"/>
          <p:cNvSpPr txBox="1"/>
          <p:nvPr/>
        </p:nvSpPr>
        <p:spPr>
          <a:xfrm>
            <a:off x="15179040" y="4160520"/>
            <a:ext cx="29260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9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ADAPTACIÓN</a:t>
            </a:r>
            <a:endParaRPr/>
          </a:p>
        </p:txBody>
      </p:sp>
      <p:sp>
        <p:nvSpPr>
          <p:cNvPr id="297" name="Google Shape;297;p18"/>
          <p:cNvSpPr txBox="1"/>
          <p:nvPr/>
        </p:nvSpPr>
        <p:spPr>
          <a:xfrm>
            <a:off x="14310360" y="4983480"/>
            <a:ext cx="37033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7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Revisamos → Aprendemos → Ajustamos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7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Entrega incremental de valor.</a:t>
            </a:r>
            <a:endParaRPr/>
          </a:p>
        </p:txBody>
      </p:sp>
      <p:sp>
        <p:nvSpPr>
          <p:cNvPr id="298" name="Google Shape;298;p18"/>
          <p:cNvSpPr/>
          <p:nvPr/>
        </p:nvSpPr>
        <p:spPr>
          <a:xfrm>
            <a:off x="3886200" y="6537960"/>
            <a:ext cx="6675120" cy="2377440"/>
          </a:xfrm>
          <a:prstGeom prst="roundRect">
            <a:avLst>
              <a:gd fmla="val 9615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18"/>
          <p:cNvSpPr/>
          <p:nvPr/>
        </p:nvSpPr>
        <p:spPr>
          <a:xfrm>
            <a:off x="3886200" y="6766560"/>
            <a:ext cx="82296" cy="1920240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18"/>
          <p:cNvSpPr txBox="1"/>
          <p:nvPr/>
        </p:nvSpPr>
        <p:spPr>
          <a:xfrm>
            <a:off x="4251960" y="6720840"/>
            <a:ext cx="61264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5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PREGUNTA DE REFLEXIÓN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i="1" lang="es-CO" sz="2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«Si cambian las necesidades del usuario, ¿mantenemos el plan o utilizamos lo aprendido para ajustarlo?»</a:t>
            </a:r>
            <a:endParaRPr/>
          </a:p>
        </p:txBody>
      </p:sp>
      <p:sp>
        <p:nvSpPr>
          <p:cNvPr id="301" name="Google Shape;301;p18">
            <a:hlinkClick action="ppaction://hlinksldjump" r:id="rId25"/>
          </p:cNvPr>
          <p:cNvSpPr/>
          <p:nvPr/>
        </p:nvSpPr>
        <p:spPr>
          <a:xfrm>
            <a:off x="10881360" y="6693408"/>
            <a:ext cx="7360920" cy="960120"/>
          </a:xfrm>
          <a:prstGeom prst="roundRect">
            <a:avLst>
              <a:gd fmla="val 17142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18">
            <a:hlinkClick action="ppaction://hlinksldjump" r:id="rId26"/>
          </p:cNvPr>
          <p:cNvSpPr/>
          <p:nvPr/>
        </p:nvSpPr>
        <p:spPr>
          <a:xfrm>
            <a:off x="10881360" y="6629400"/>
            <a:ext cx="7360920" cy="960120"/>
          </a:xfrm>
          <a:prstGeom prst="roundRect">
            <a:avLst>
              <a:gd fmla="val 17142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9725" lIns="960100" spcFirstLastPara="1" rIns="109725" wrap="square" tIns="109725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9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Mantener el plan inicial para no retrasar tiempos.</a:t>
            </a:r>
            <a:endParaRPr/>
          </a:p>
        </p:txBody>
      </p:sp>
      <p:sp>
        <p:nvSpPr>
          <p:cNvPr id="303" name="Google Shape;303;p18">
            <a:hlinkClick action="ppaction://hlinksldjump" r:id="rId27"/>
          </p:cNvPr>
          <p:cNvSpPr/>
          <p:nvPr/>
        </p:nvSpPr>
        <p:spPr>
          <a:xfrm>
            <a:off x="11109960" y="6835140"/>
            <a:ext cx="548640" cy="548640"/>
          </a:xfrm>
          <a:prstGeom prst="ellipse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/>
          </a:p>
        </p:txBody>
      </p:sp>
      <p:sp>
        <p:nvSpPr>
          <p:cNvPr id="304" name="Google Shape;304;p18">
            <a:hlinkClick action="ppaction://hlinksldjump" r:id="rId28"/>
          </p:cNvPr>
          <p:cNvSpPr/>
          <p:nvPr/>
        </p:nvSpPr>
        <p:spPr>
          <a:xfrm>
            <a:off x="10881360" y="7882128"/>
            <a:ext cx="7360920" cy="960120"/>
          </a:xfrm>
          <a:prstGeom prst="roundRect">
            <a:avLst>
              <a:gd fmla="val 17142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18">
            <a:hlinkClick action="ppaction://hlinksldjump" r:id="rId29"/>
          </p:cNvPr>
          <p:cNvSpPr/>
          <p:nvPr/>
        </p:nvSpPr>
        <p:spPr>
          <a:xfrm>
            <a:off x="10881360" y="7818120"/>
            <a:ext cx="7360920" cy="960120"/>
          </a:xfrm>
          <a:prstGeom prst="roundRect">
            <a:avLst>
              <a:gd fmla="val 17142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9725" lIns="960100" spcFirstLastPara="1" rIns="109725" wrap="square" tIns="109725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9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Utilizar lo aprendido para ajustar y generar valor.</a:t>
            </a:r>
            <a:endParaRPr/>
          </a:p>
        </p:txBody>
      </p:sp>
      <p:sp>
        <p:nvSpPr>
          <p:cNvPr id="306" name="Google Shape;306;p18">
            <a:hlinkClick action="ppaction://hlinksldjump" r:id="rId30"/>
          </p:cNvPr>
          <p:cNvSpPr/>
          <p:nvPr/>
        </p:nvSpPr>
        <p:spPr>
          <a:xfrm>
            <a:off x="11109960" y="8023860"/>
            <a:ext cx="548640" cy="548640"/>
          </a:xfrm>
          <a:prstGeom prst="ellipse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/>
          </a:p>
        </p:txBody>
      </p:sp>
      <p:sp>
        <p:nvSpPr>
          <p:cNvPr id="56" name="Google Shape;56;p2">
            <a:hlinkClick action="ppaction://hlinksldjump" r:id="rId31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>
            <a:hlinkClick action="ppaction://hlinksldjump" r:id="rId31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9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9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9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19">
            <a:hlinkClick action="ppaction://hlinksldjump" r:id="rId3"/>
          </p:cNvPr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19">
            <a:hlinkClick action="ppaction://hlinksldjump" r:id="rId4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664092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Origen y sentido de la agilidad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9">
            <a:hlinkClick action="ppaction://hlinksldjump" r:id="rId5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9">
            <a:hlinkClick action="ppaction://hlinksldjump" r:id="rId6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4 valores fundamentales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9">
            <a:hlinkClick action="ppaction://hlinksldjump" r:id="rId7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9">
            <a:hlinkClick action="ppaction://hlinksldjump" r:id="rId8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12 principios rectores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19">
            <a:hlinkClick action="ppaction://hlinksldjump" r:id="rId9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9">
            <a:hlinkClick action="ppaction://hlinksldjump" r:id="rId10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Factor humano, calidad y mejora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9">
            <a:hlinkClick action="ppaction://hlinksldjump" r:id="rId11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9">
            <a:hlinkClick action="ppaction://hlinksldjump" r:id="rId12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la práctica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9">
            <a:hlinkClick action="ppaction://hlinksldjump" r:id="rId13"/>
          </p:cNvPr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9">
            <a:hlinkClick action="ppaction://hlinksldjump" r:id="rId14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19">
            <a:hlinkClick action="ppaction://hlinksldjump" r:id="rId15"/>
          </p:cNvPr>
          <p:cNvSpPr/>
          <p:nvPr/>
        </p:nvSpPr>
        <p:spPr>
          <a:xfrm>
            <a:off x="4591655" y="9647639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9">
            <a:hlinkClick action="ppaction://hlinksldjump" r:id="rId16"/>
          </p:cNvPr>
          <p:cNvSpPr/>
          <p:nvPr/>
        </p:nvSpPr>
        <p:spPr>
          <a:xfrm>
            <a:off x="4591655" y="9588108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19">
            <a:hlinkClick action="ppaction://hlinksldjump" r:id="rId17"/>
          </p:cNvPr>
          <p:cNvSpPr/>
          <p:nvPr/>
        </p:nvSpPr>
        <p:spPr>
          <a:xfrm>
            <a:off x="6378374" y="9647639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9">
            <a:hlinkClick action="ppaction://hlinksldjump" r:id="rId18"/>
          </p:cNvPr>
          <p:cNvSpPr/>
          <p:nvPr/>
        </p:nvSpPr>
        <p:spPr>
          <a:xfrm>
            <a:off x="6378374" y="9588108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19">
            <a:hlinkClick action="ppaction://hlinksldjump" r:id="rId19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19">
            <a:hlinkClick action="ppaction://hlinksldjump" r:id="rId19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2" name="Google Shape;332;p19" title="correcciones sapiencia.png">
            <a:hlinkClick action="ppaction://hlinksldjump" r:id="rId19"/>
          </p:cNvPr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19">
            <a:hlinkClick action="ppaction://hlinksldjump" r:id="rId19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acción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19"/>
          <p:cNvSpPr txBox="1"/>
          <p:nvPr/>
        </p:nvSpPr>
        <p:spPr>
          <a:xfrm>
            <a:off x="3886200" y="1417320"/>
            <a:ext cx="14356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PREGUNTA DE REFLEXIÓN</a:t>
            </a:r>
            <a:endParaRPr/>
          </a:p>
        </p:txBody>
      </p:sp>
      <p:sp>
        <p:nvSpPr>
          <p:cNvPr id="335" name="Google Shape;335;p19"/>
          <p:cNvSpPr txBox="1"/>
          <p:nvPr/>
        </p:nvSpPr>
        <p:spPr>
          <a:xfrm>
            <a:off x="3886200" y="1847088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 aprendido también es información</a:t>
            </a:r>
            <a:endParaRPr/>
          </a:p>
        </p:txBody>
      </p:sp>
      <p:sp>
        <p:nvSpPr>
          <p:cNvPr id="336" name="Google Shape;336;p19"/>
          <p:cNvSpPr/>
          <p:nvPr/>
        </p:nvSpPr>
        <p:spPr>
          <a:xfrm>
            <a:off x="388620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9"/>
          <p:cNvSpPr/>
          <p:nvPr/>
        </p:nvSpPr>
        <p:spPr>
          <a:xfrm>
            <a:off x="4110228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9"/>
          <p:cNvSpPr/>
          <p:nvPr/>
        </p:nvSpPr>
        <p:spPr>
          <a:xfrm>
            <a:off x="4334256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9"/>
          <p:cNvSpPr/>
          <p:nvPr/>
        </p:nvSpPr>
        <p:spPr>
          <a:xfrm>
            <a:off x="4558284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19"/>
          <p:cNvSpPr/>
          <p:nvPr/>
        </p:nvSpPr>
        <p:spPr>
          <a:xfrm>
            <a:off x="4782312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9"/>
          <p:cNvSpPr/>
          <p:nvPr/>
        </p:nvSpPr>
        <p:spPr>
          <a:xfrm>
            <a:off x="500634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19"/>
          <p:cNvSpPr/>
          <p:nvPr/>
        </p:nvSpPr>
        <p:spPr>
          <a:xfrm>
            <a:off x="4343400" y="3977640"/>
            <a:ext cx="1874520" cy="187452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heck_bold_3D2159.png" id="343" name="Google Shape;343;p19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4812030" y="4446270"/>
            <a:ext cx="937260" cy="937260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p19"/>
          <p:cNvSpPr txBox="1"/>
          <p:nvPr/>
        </p:nvSpPr>
        <p:spPr>
          <a:xfrm>
            <a:off x="6812280" y="338328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38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¡Buena decisión!</a:t>
            </a:r>
            <a:endParaRPr/>
          </a:p>
        </p:txBody>
      </p:sp>
      <p:sp>
        <p:nvSpPr>
          <p:cNvPr id="345" name="Google Shape;345;p19"/>
          <p:cNvSpPr txBox="1"/>
          <p:nvPr/>
        </p:nvSpPr>
        <p:spPr>
          <a:xfrm>
            <a:off x="6812280" y="4160520"/>
            <a:ext cx="11247120" cy="2148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23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Cuando cambian las necesidades, lo aprendido es información valiosa. Ajustar el plan permite seguir generando valor para las personas usuarias.</a:t>
            </a:r>
            <a:endParaRPr/>
          </a:p>
        </p:txBody>
      </p:sp>
      <p:sp>
        <p:nvSpPr>
          <p:cNvPr id="346" name="Google Shape;346;p19"/>
          <p:cNvSpPr/>
          <p:nvPr/>
        </p:nvSpPr>
        <p:spPr>
          <a:xfrm>
            <a:off x="6812280" y="6446520"/>
            <a:ext cx="11247120" cy="960120"/>
          </a:xfrm>
          <a:prstGeom prst="roundRect">
            <a:avLst>
              <a:gd fmla="val 19047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19"/>
          <p:cNvSpPr/>
          <p:nvPr/>
        </p:nvSpPr>
        <p:spPr>
          <a:xfrm>
            <a:off x="6812280" y="6611112"/>
            <a:ext cx="73152" cy="630936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ightbulb_regular_664092.png" id="348" name="Google Shape;348;p19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7132320" y="66979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19"/>
          <p:cNvSpPr txBox="1"/>
          <p:nvPr/>
        </p:nvSpPr>
        <p:spPr>
          <a:xfrm>
            <a:off x="7818120" y="6446520"/>
            <a:ext cx="996696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1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Clave: </a:t>
            </a:r>
            <a:r>
              <a:rPr b="0" i="0" lang="es-CO" sz="2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revisar, aprender y ajustar.</a:t>
            </a:r>
            <a:endParaRPr/>
          </a:p>
        </p:txBody>
      </p:sp>
      <p:sp>
        <p:nvSpPr>
          <p:cNvPr id="350" name="Google Shape;350;p19">
            <a:hlinkClick action="ppaction://hlinksldjump" r:id="rId24"/>
          </p:cNvPr>
          <p:cNvSpPr/>
          <p:nvPr/>
        </p:nvSpPr>
        <p:spPr>
          <a:xfrm>
            <a:off x="6812280" y="7927848"/>
            <a:ext cx="4937760" cy="713232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19">
            <a:hlinkClick action="ppaction://hlinksldjump" r:id="rId25"/>
          </p:cNvPr>
          <p:cNvSpPr/>
          <p:nvPr/>
        </p:nvSpPr>
        <p:spPr>
          <a:xfrm>
            <a:off x="6812280" y="7863840"/>
            <a:ext cx="4937760" cy="713232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000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Continuar  →</a:t>
            </a:r>
            <a:endParaRPr/>
          </a:p>
        </p:txBody>
      </p:sp>
      <p:sp>
        <p:nvSpPr>
          <p:cNvPr id="56" name="Google Shape;56;p2">
            <a:hlinkClick action="ppaction://hlinksldjump" r:id="rId26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>
            <a:hlinkClick action="ppaction://hlinksldjump" r:id="rId26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20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20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20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20">
            <a:hlinkClick action="ppaction://hlinksldjump" r:id="rId3"/>
          </p:cNvPr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20">
            <a:hlinkClick action="ppaction://hlinksldjump" r:id="rId4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664092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Origen y sentido de la agilidad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20">
            <a:hlinkClick action="ppaction://hlinksldjump" r:id="rId5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20">
            <a:hlinkClick action="ppaction://hlinksldjump" r:id="rId6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4 valores fundamentales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20">
            <a:hlinkClick action="ppaction://hlinksldjump" r:id="rId7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20">
            <a:hlinkClick action="ppaction://hlinksldjump" r:id="rId8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12 principios rectores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20">
            <a:hlinkClick action="ppaction://hlinksldjump" r:id="rId9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20">
            <a:hlinkClick action="ppaction://hlinksldjump" r:id="rId10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Factor humano, calidad y mejora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20">
            <a:hlinkClick action="ppaction://hlinksldjump" r:id="rId11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20">
            <a:hlinkClick action="ppaction://hlinksldjump" r:id="rId12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la práctica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20">
            <a:hlinkClick action="ppaction://hlinksldjump" r:id="rId13"/>
          </p:cNvPr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20">
            <a:hlinkClick action="ppaction://hlinksldjump" r:id="rId14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20">
            <a:hlinkClick action="ppaction://hlinksldjump" r:id="rId15"/>
          </p:cNvPr>
          <p:cNvSpPr/>
          <p:nvPr/>
        </p:nvSpPr>
        <p:spPr>
          <a:xfrm>
            <a:off x="4591655" y="9647639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20">
            <a:hlinkClick action="ppaction://hlinksldjump" r:id="rId16"/>
          </p:cNvPr>
          <p:cNvSpPr/>
          <p:nvPr/>
        </p:nvSpPr>
        <p:spPr>
          <a:xfrm>
            <a:off x="4591655" y="9588108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20">
            <a:hlinkClick action="ppaction://hlinksldjump" r:id="rId17"/>
          </p:cNvPr>
          <p:cNvSpPr/>
          <p:nvPr/>
        </p:nvSpPr>
        <p:spPr>
          <a:xfrm>
            <a:off x="6378374" y="9647639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20">
            <a:hlinkClick action="ppaction://hlinksldjump" r:id="rId18"/>
          </p:cNvPr>
          <p:cNvSpPr/>
          <p:nvPr/>
        </p:nvSpPr>
        <p:spPr>
          <a:xfrm>
            <a:off x="6378374" y="9588108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20">
            <a:hlinkClick action="ppaction://hlinksldjump" r:id="rId19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20">
            <a:hlinkClick action="ppaction://hlinksldjump" r:id="rId19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7" name="Google Shape;377;p20" title="correcciones sapiencia.png">
            <a:hlinkClick action="ppaction://hlinksldjump" r:id="rId19"/>
          </p:cNvPr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20">
            <a:hlinkClick action="ppaction://hlinksldjump" r:id="rId19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acción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20"/>
          <p:cNvSpPr txBox="1"/>
          <p:nvPr/>
        </p:nvSpPr>
        <p:spPr>
          <a:xfrm>
            <a:off x="3886200" y="1417320"/>
            <a:ext cx="14356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PREGUNTA DE REFLEXIÓN</a:t>
            </a:r>
            <a:endParaRPr/>
          </a:p>
        </p:txBody>
      </p:sp>
      <p:sp>
        <p:nvSpPr>
          <p:cNvPr id="380" name="Google Shape;380;p20"/>
          <p:cNvSpPr txBox="1"/>
          <p:nvPr/>
        </p:nvSpPr>
        <p:spPr>
          <a:xfrm>
            <a:off x="3886200" y="1847088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Revisa la decisión</a:t>
            </a:r>
            <a:endParaRPr/>
          </a:p>
        </p:txBody>
      </p:sp>
      <p:sp>
        <p:nvSpPr>
          <p:cNvPr id="381" name="Google Shape;381;p20"/>
          <p:cNvSpPr/>
          <p:nvPr/>
        </p:nvSpPr>
        <p:spPr>
          <a:xfrm>
            <a:off x="388620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20"/>
          <p:cNvSpPr/>
          <p:nvPr/>
        </p:nvSpPr>
        <p:spPr>
          <a:xfrm>
            <a:off x="4110228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20"/>
          <p:cNvSpPr/>
          <p:nvPr/>
        </p:nvSpPr>
        <p:spPr>
          <a:xfrm>
            <a:off x="4334256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20"/>
          <p:cNvSpPr/>
          <p:nvPr/>
        </p:nvSpPr>
        <p:spPr>
          <a:xfrm>
            <a:off x="4558284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20"/>
          <p:cNvSpPr/>
          <p:nvPr/>
        </p:nvSpPr>
        <p:spPr>
          <a:xfrm>
            <a:off x="4782312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20"/>
          <p:cNvSpPr/>
          <p:nvPr/>
        </p:nvSpPr>
        <p:spPr>
          <a:xfrm>
            <a:off x="500634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20"/>
          <p:cNvSpPr/>
          <p:nvPr/>
        </p:nvSpPr>
        <p:spPr>
          <a:xfrm>
            <a:off x="4343400" y="3977640"/>
            <a:ext cx="1874520" cy="1874520"/>
          </a:xfrm>
          <a:prstGeom prst="ellipse">
            <a:avLst/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rrow-counter-clockwise_bold_664092.png" id="388" name="Google Shape;388;p20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4812030" y="4446270"/>
            <a:ext cx="937260" cy="937260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20"/>
          <p:cNvSpPr txBox="1"/>
          <p:nvPr/>
        </p:nvSpPr>
        <p:spPr>
          <a:xfrm>
            <a:off x="6812280" y="338328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38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Aún no</a:t>
            </a:r>
            <a:endParaRPr/>
          </a:p>
        </p:txBody>
      </p:sp>
      <p:sp>
        <p:nvSpPr>
          <p:cNvPr id="390" name="Google Shape;390;p20"/>
          <p:cNvSpPr txBox="1"/>
          <p:nvPr/>
        </p:nvSpPr>
        <p:spPr>
          <a:xfrm>
            <a:off x="6812280" y="4160520"/>
            <a:ext cx="11247120" cy="2148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23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Mantener el plan sin considerar lo aprendido puede llevarnos a entregar algo que ya no responde a las necesidades reales de las personas usuarias.</a:t>
            </a:r>
            <a:endParaRPr/>
          </a:p>
        </p:txBody>
      </p:sp>
      <p:sp>
        <p:nvSpPr>
          <p:cNvPr id="391" name="Google Shape;391;p20"/>
          <p:cNvSpPr/>
          <p:nvPr/>
        </p:nvSpPr>
        <p:spPr>
          <a:xfrm>
            <a:off x="6812280" y="6446520"/>
            <a:ext cx="11247120" cy="960120"/>
          </a:xfrm>
          <a:prstGeom prst="roundRect">
            <a:avLst>
              <a:gd fmla="val 19047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0"/>
          <p:cNvSpPr/>
          <p:nvPr/>
        </p:nvSpPr>
        <p:spPr>
          <a:xfrm>
            <a:off x="6812280" y="6611112"/>
            <a:ext cx="73152" cy="630936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magnifying-glass_regular_664092.png" id="393" name="Google Shape;393;p20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7132320" y="66979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20"/>
          <p:cNvSpPr txBox="1"/>
          <p:nvPr/>
        </p:nvSpPr>
        <p:spPr>
          <a:xfrm>
            <a:off x="7818120" y="6446520"/>
            <a:ext cx="996696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1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Pista: </a:t>
            </a:r>
            <a:r>
              <a:rPr b="0" i="0" lang="es-CO" sz="2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la agilidad convierte el cambio en aprendizaje.</a:t>
            </a:r>
            <a:endParaRPr/>
          </a:p>
        </p:txBody>
      </p:sp>
      <p:sp>
        <p:nvSpPr>
          <p:cNvPr id="395" name="Google Shape;395;p20">
            <a:hlinkClick action="ppaction://hlinksldjump" r:id="rId24"/>
          </p:cNvPr>
          <p:cNvSpPr/>
          <p:nvPr/>
        </p:nvSpPr>
        <p:spPr>
          <a:xfrm>
            <a:off x="6812280" y="7927848"/>
            <a:ext cx="4937760" cy="713232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20">
            <a:hlinkClick action="ppaction://hlinksldjump" r:id="rId25"/>
          </p:cNvPr>
          <p:cNvSpPr/>
          <p:nvPr/>
        </p:nvSpPr>
        <p:spPr>
          <a:xfrm>
            <a:off x="6812280" y="7863840"/>
            <a:ext cx="4937760" cy="713232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000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Intentar de nuevo  ↺</a:t>
            </a:r>
            <a:endParaRPr/>
          </a:p>
        </p:txBody>
      </p:sp>
      <p:sp>
        <p:nvSpPr>
          <p:cNvPr id="56" name="Google Shape;56;p2">
            <a:hlinkClick action="ppaction://hlinksldjump" r:id="rId26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>
            <a:hlinkClick action="ppaction://hlinksldjump" r:id="rId26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21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21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21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21">
            <a:hlinkClick action="ppaction://hlinksldjump" r:id="rId3"/>
          </p:cNvPr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21">
            <a:hlinkClick action="ppaction://hlinksldjump" r:id="rId4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664092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Origen y sentido de la agilidad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21">
            <a:hlinkClick action="ppaction://hlinksldjump" r:id="rId5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21">
            <a:hlinkClick action="ppaction://hlinksldjump" r:id="rId6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4 valores fundamentales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21">
            <a:hlinkClick action="ppaction://hlinksldjump" r:id="rId7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21">
            <a:hlinkClick action="ppaction://hlinksldjump" r:id="rId8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12 principios rectores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21">
            <a:hlinkClick action="ppaction://hlinksldjump" r:id="rId9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21">
            <a:hlinkClick action="ppaction://hlinksldjump" r:id="rId10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Factor humano, calidad y mejora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21">
            <a:hlinkClick action="ppaction://hlinksldjump" r:id="rId11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21">
            <a:hlinkClick action="ppaction://hlinksldjump" r:id="rId12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la práctica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21">
            <a:hlinkClick action="ppaction://hlinksldjump" r:id="rId13"/>
          </p:cNvPr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21">
            <a:hlinkClick action="ppaction://hlinksldjump" r:id="rId14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21">
            <a:hlinkClick action="ppaction://hlinksldjump" r:id="rId15"/>
          </p:cNvPr>
          <p:cNvSpPr/>
          <p:nvPr/>
        </p:nvSpPr>
        <p:spPr>
          <a:xfrm>
            <a:off x="4591655" y="9647639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21">
            <a:hlinkClick action="ppaction://hlinksldjump" r:id="rId16"/>
          </p:cNvPr>
          <p:cNvSpPr/>
          <p:nvPr/>
        </p:nvSpPr>
        <p:spPr>
          <a:xfrm>
            <a:off x="4591655" y="9588108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21">
            <a:hlinkClick action="ppaction://hlinksldjump" r:id="rId17"/>
          </p:cNvPr>
          <p:cNvSpPr/>
          <p:nvPr/>
        </p:nvSpPr>
        <p:spPr>
          <a:xfrm>
            <a:off x="6378374" y="9647639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21">
            <a:hlinkClick action="ppaction://hlinksldjump" r:id="rId18"/>
          </p:cNvPr>
          <p:cNvSpPr/>
          <p:nvPr/>
        </p:nvSpPr>
        <p:spPr>
          <a:xfrm>
            <a:off x="6378374" y="9588108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21">
            <a:hlinkClick action="ppaction://hlinksldjump" r:id="rId19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21">
            <a:hlinkClick action="ppaction://hlinksldjump" r:id="rId19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2" name="Google Shape;422;p21" title="correcciones sapiencia.png">
            <a:hlinkClick action="ppaction://hlinksldjump" r:id="rId19"/>
          </p:cNvPr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423" name="Google Shape;423;p21">
            <a:hlinkClick action="ppaction://hlinksldjump" r:id="rId19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acción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21"/>
          <p:cNvSpPr txBox="1"/>
          <p:nvPr/>
        </p:nvSpPr>
        <p:spPr>
          <a:xfrm>
            <a:off x="3886200" y="1417320"/>
            <a:ext cx="14356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TEMA 1 · ORIGEN Y SENTIDO</a:t>
            </a:r>
            <a:endParaRPr/>
          </a:p>
        </p:txBody>
      </p:sp>
      <p:sp>
        <p:nvSpPr>
          <p:cNvPr id="425" name="Google Shape;425;p21"/>
          <p:cNvSpPr txBox="1"/>
          <p:nvPr/>
        </p:nvSpPr>
        <p:spPr>
          <a:xfrm>
            <a:off x="3886200" y="1847088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34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De nuevas formas de trabajar a una visión compartida</a:t>
            </a:r>
            <a:endParaRPr/>
          </a:p>
        </p:txBody>
      </p:sp>
      <p:sp>
        <p:nvSpPr>
          <p:cNvPr id="426" name="Google Shape;426;p21"/>
          <p:cNvSpPr/>
          <p:nvPr/>
        </p:nvSpPr>
        <p:spPr>
          <a:xfrm>
            <a:off x="388620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21"/>
          <p:cNvSpPr/>
          <p:nvPr/>
        </p:nvSpPr>
        <p:spPr>
          <a:xfrm>
            <a:off x="4110228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21"/>
          <p:cNvSpPr/>
          <p:nvPr/>
        </p:nvSpPr>
        <p:spPr>
          <a:xfrm>
            <a:off x="4334256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21"/>
          <p:cNvSpPr/>
          <p:nvPr/>
        </p:nvSpPr>
        <p:spPr>
          <a:xfrm>
            <a:off x="4558284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21"/>
          <p:cNvSpPr/>
          <p:nvPr/>
        </p:nvSpPr>
        <p:spPr>
          <a:xfrm>
            <a:off x="4782312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21"/>
          <p:cNvSpPr/>
          <p:nvPr/>
        </p:nvSpPr>
        <p:spPr>
          <a:xfrm>
            <a:off x="500634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21"/>
          <p:cNvSpPr txBox="1"/>
          <p:nvPr/>
        </p:nvSpPr>
        <p:spPr>
          <a:xfrm>
            <a:off x="3886200" y="3246120"/>
            <a:ext cx="14356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20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El origen de la agilidad: cómo la experimentación práctica convergió en un marco común de trabajo.</a:t>
            </a:r>
            <a:endParaRPr/>
          </a:p>
        </p:txBody>
      </p:sp>
      <p:sp>
        <p:nvSpPr>
          <p:cNvPr id="433" name="Google Shape;433;p21"/>
          <p:cNvSpPr/>
          <p:nvPr/>
        </p:nvSpPr>
        <p:spPr>
          <a:xfrm>
            <a:off x="5577840" y="4160520"/>
            <a:ext cx="10972800" cy="45720"/>
          </a:xfrm>
          <a:prstGeom prst="rect">
            <a:avLst/>
          </a:prstGeom>
          <a:solidFill>
            <a:srgbClr val="C9BED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21"/>
          <p:cNvSpPr/>
          <p:nvPr/>
        </p:nvSpPr>
        <p:spPr>
          <a:xfrm>
            <a:off x="5422392" y="4023360"/>
            <a:ext cx="310896" cy="310896"/>
          </a:xfrm>
          <a:prstGeom prst="ellipse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21"/>
          <p:cNvSpPr/>
          <p:nvPr/>
        </p:nvSpPr>
        <p:spPr>
          <a:xfrm>
            <a:off x="3886200" y="4526280"/>
            <a:ext cx="3383280" cy="3017520"/>
          </a:xfrm>
          <a:prstGeom prst="roundRect">
            <a:avLst>
              <a:gd fmla="val 6666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21"/>
          <p:cNvSpPr/>
          <p:nvPr/>
        </p:nvSpPr>
        <p:spPr>
          <a:xfrm>
            <a:off x="4160520" y="4800600"/>
            <a:ext cx="685800" cy="685800"/>
          </a:xfrm>
          <a:prstGeom prst="ellipse">
            <a:avLst/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sers-three_regular_664092.png" id="437" name="Google Shape;437;p21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4325112" y="4965192"/>
            <a:ext cx="356616" cy="356616"/>
          </a:xfrm>
          <a:prstGeom prst="rect">
            <a:avLst/>
          </a:prstGeom>
          <a:noFill/>
          <a:ln>
            <a:noFill/>
          </a:ln>
        </p:spPr>
      </p:pic>
      <p:sp>
        <p:nvSpPr>
          <p:cNvPr id="438" name="Google Shape;438;p21"/>
          <p:cNvSpPr txBox="1"/>
          <p:nvPr/>
        </p:nvSpPr>
        <p:spPr>
          <a:xfrm>
            <a:off x="4160520" y="5623560"/>
            <a:ext cx="2880360" cy="1874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7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Década de 1990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s-CO" sz="2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Equipos de software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Experimentan con formas de trabajo más flexibles.</a:t>
            </a:r>
            <a:endParaRPr/>
          </a:p>
        </p:txBody>
      </p:sp>
      <p:sp>
        <p:nvSpPr>
          <p:cNvPr id="439" name="Google Shape;439;p21"/>
          <p:cNvSpPr/>
          <p:nvPr/>
        </p:nvSpPr>
        <p:spPr>
          <a:xfrm>
            <a:off x="9079992" y="4023360"/>
            <a:ext cx="310896" cy="310896"/>
          </a:xfrm>
          <a:prstGeom prst="ellipse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21"/>
          <p:cNvSpPr/>
          <p:nvPr/>
        </p:nvSpPr>
        <p:spPr>
          <a:xfrm>
            <a:off x="7543800" y="4526280"/>
            <a:ext cx="3383280" cy="3017520"/>
          </a:xfrm>
          <a:prstGeom prst="roundRect">
            <a:avLst>
              <a:gd fmla="val 6666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21"/>
          <p:cNvSpPr/>
          <p:nvPr/>
        </p:nvSpPr>
        <p:spPr>
          <a:xfrm>
            <a:off x="7818120" y="4800600"/>
            <a:ext cx="685800" cy="685800"/>
          </a:xfrm>
          <a:prstGeom prst="ellipse">
            <a:avLst/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ightbulb_regular_664092.png" id="442" name="Google Shape;442;p21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7982712" y="4965192"/>
            <a:ext cx="356616" cy="356616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21"/>
          <p:cNvSpPr txBox="1"/>
          <p:nvPr/>
        </p:nvSpPr>
        <p:spPr>
          <a:xfrm>
            <a:off x="7818120" y="5623560"/>
            <a:ext cx="2880360" cy="1874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7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Nuevos enfoques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s-CO" sz="2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Scrum, XP y Crystal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Surgen y evolucionan propuestas como Scrum, Extreme Programming (XP) y Crystal.</a:t>
            </a:r>
            <a:endParaRPr/>
          </a:p>
        </p:txBody>
      </p:sp>
      <p:sp>
        <p:nvSpPr>
          <p:cNvPr id="444" name="Google Shape;444;p21"/>
          <p:cNvSpPr/>
          <p:nvPr/>
        </p:nvSpPr>
        <p:spPr>
          <a:xfrm>
            <a:off x="12737592" y="4023360"/>
            <a:ext cx="310896" cy="310896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21"/>
          <p:cNvSpPr/>
          <p:nvPr/>
        </p:nvSpPr>
        <p:spPr>
          <a:xfrm>
            <a:off x="11201400" y="4526280"/>
            <a:ext cx="3383280" cy="3017520"/>
          </a:xfrm>
          <a:prstGeom prst="roundRect">
            <a:avLst>
              <a:gd fmla="val 6666" name="adj"/>
            </a:avLst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21"/>
          <p:cNvSpPr/>
          <p:nvPr/>
        </p:nvSpPr>
        <p:spPr>
          <a:xfrm>
            <a:off x="11475720" y="4800600"/>
            <a:ext cx="685800" cy="685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map-pin_regular_664092.png" id="447" name="Google Shape;447;p21"/>
          <p:cNvPicPr preferRelativeResize="0"/>
          <p:nvPr/>
        </p:nvPicPr>
        <p:blipFill rotWithShape="1">
          <a:blip r:embed="rId24">
            <a:alphaModFix/>
          </a:blip>
          <a:srcRect b="0" l="0" r="0" t="0"/>
          <a:stretch/>
        </p:blipFill>
        <p:spPr>
          <a:xfrm>
            <a:off x="11640312" y="4965192"/>
            <a:ext cx="356616" cy="356616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21"/>
          <p:cNvSpPr txBox="1"/>
          <p:nvPr/>
        </p:nvSpPr>
        <p:spPr>
          <a:xfrm>
            <a:off x="11475720" y="5623560"/>
            <a:ext cx="2880360" cy="1874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700" u="none" cap="none" strike="noStrike">
                <a:solidFill>
                  <a:srgbClr val="FFD900"/>
                </a:solidFill>
                <a:latin typeface="Arial"/>
                <a:ea typeface="Arial"/>
                <a:cs typeface="Arial"/>
                <a:sym typeface="Arial"/>
              </a:rPr>
              <a:t>Febrero de 2001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s-CO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Snowbird, Utah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F3E9F0"/>
                </a:solidFill>
                <a:latin typeface="Arial"/>
                <a:ea typeface="Arial"/>
                <a:cs typeface="Arial"/>
                <a:sym typeface="Arial"/>
              </a:rPr>
              <a:t>17 profesionales se reúnen para compartir su experiencia.</a:t>
            </a:r>
            <a:endParaRPr/>
          </a:p>
        </p:txBody>
      </p:sp>
      <p:sp>
        <p:nvSpPr>
          <p:cNvPr id="449" name="Google Shape;449;p21"/>
          <p:cNvSpPr/>
          <p:nvPr/>
        </p:nvSpPr>
        <p:spPr>
          <a:xfrm>
            <a:off x="16395192" y="4023360"/>
            <a:ext cx="310896" cy="310896"/>
          </a:xfrm>
          <a:prstGeom prst="ellipse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21"/>
          <p:cNvSpPr/>
          <p:nvPr/>
        </p:nvSpPr>
        <p:spPr>
          <a:xfrm>
            <a:off x="14859000" y="4526280"/>
            <a:ext cx="3383280" cy="3017520"/>
          </a:xfrm>
          <a:prstGeom prst="roundRect">
            <a:avLst>
              <a:gd fmla="val 6666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21"/>
          <p:cNvSpPr/>
          <p:nvPr/>
        </p:nvSpPr>
        <p:spPr>
          <a:xfrm>
            <a:off x="15133320" y="4800600"/>
            <a:ext cx="685800" cy="685800"/>
          </a:xfrm>
          <a:prstGeom prst="ellipse">
            <a:avLst/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scroll_regular_664092.png" id="452" name="Google Shape;452;p21"/>
          <p:cNvPicPr preferRelativeResize="0"/>
          <p:nvPr/>
        </p:nvPicPr>
        <p:blipFill rotWithShape="1">
          <a:blip r:embed="rId25">
            <a:alphaModFix/>
          </a:blip>
          <a:srcRect b="0" l="0" r="0" t="0"/>
          <a:stretch/>
        </p:blipFill>
        <p:spPr>
          <a:xfrm>
            <a:off x="15297912" y="4965192"/>
            <a:ext cx="356616" cy="356616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p21"/>
          <p:cNvSpPr txBox="1"/>
          <p:nvPr/>
        </p:nvSpPr>
        <p:spPr>
          <a:xfrm>
            <a:off x="15133320" y="5623560"/>
            <a:ext cx="2880360" cy="1874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7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Manifiesto Ágil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i="0" lang="es-CO" sz="2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4 valores y 12 principios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Se expresan cuatro valores compartidos y posteriormente doce principios.</a:t>
            </a:r>
            <a:endParaRPr/>
          </a:p>
        </p:txBody>
      </p:sp>
      <p:sp>
        <p:nvSpPr>
          <p:cNvPr id="454" name="Google Shape;454;p21"/>
          <p:cNvSpPr/>
          <p:nvPr/>
        </p:nvSpPr>
        <p:spPr>
          <a:xfrm>
            <a:off x="3886200" y="7726680"/>
            <a:ext cx="14356080" cy="1188720"/>
          </a:xfrm>
          <a:prstGeom prst="roundRect">
            <a:avLst>
              <a:gd fmla="val 23076" name="adj"/>
            </a:avLst>
          </a:prstGeom>
          <a:gradFill>
            <a:gsLst>
              <a:gs pos="0">
                <a:srgbClr val="467CF1"/>
              </a:gs>
              <a:gs pos="100000">
                <a:srgbClr val="664092"/>
              </a:gs>
            </a:gsLst>
            <a:lin ang="81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target_regular_FFFFFF.png" id="455" name="Google Shape;455;p21"/>
          <p:cNvPicPr preferRelativeResize="0"/>
          <p:nvPr/>
        </p:nvPicPr>
        <p:blipFill rotWithShape="1">
          <a:blip r:embed="rId26">
            <a:alphaModFix/>
          </a:blip>
          <a:srcRect b="0" l="0" r="0" t="0"/>
          <a:stretch/>
        </p:blipFill>
        <p:spPr>
          <a:xfrm>
            <a:off x="4206240" y="8037576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456" name="Google Shape;456;p21"/>
          <p:cNvSpPr txBox="1"/>
          <p:nvPr/>
        </p:nvSpPr>
        <p:spPr>
          <a:xfrm>
            <a:off x="5029200" y="7726680"/>
            <a:ext cx="128473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Diferentes prácticas  →  una filosofía compartida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Snowbird fue el punto de convergencia donde la experiencia de múltiples marcos de trabajo se consolidó en una base filosófica común aplicable a cualquier proyecto.</a:t>
            </a:r>
            <a:endParaRPr/>
          </a:p>
        </p:txBody>
      </p:sp>
      <p:sp>
        <p:nvSpPr>
          <p:cNvPr id="56" name="Google Shape;56;p2">
            <a:hlinkClick action="ppaction://hlinksldjump" r:id="rId27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>
            <a:hlinkClick action="ppaction://hlinksldjump" r:id="rId27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22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22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22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22">
            <a:hlinkClick action="ppaction://hlinksldjump" r:id="rId3"/>
          </p:cNvPr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22">
            <a:hlinkClick action="ppaction://hlinksldjump" r:id="rId4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Origen y sentido de la agilidad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22">
            <a:hlinkClick action="ppaction://hlinksldjump" r:id="rId5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22">
            <a:hlinkClick action="ppaction://hlinksldjump" r:id="rId6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A71989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Los 4 valores fundamentales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22">
            <a:hlinkClick action="ppaction://hlinksldjump" r:id="rId7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22">
            <a:hlinkClick action="ppaction://hlinksldjump" r:id="rId8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12 principios rectores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22">
            <a:hlinkClick action="ppaction://hlinksldjump" r:id="rId9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22">
            <a:hlinkClick action="ppaction://hlinksldjump" r:id="rId10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Factor humano, calidad y mejora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22">
            <a:hlinkClick action="ppaction://hlinksldjump" r:id="rId11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22">
            <a:hlinkClick action="ppaction://hlinksldjump" r:id="rId12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la práctica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22">
            <a:hlinkClick action="ppaction://hlinksldjump" r:id="rId13"/>
          </p:cNvPr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p22">
            <a:hlinkClick action="ppaction://hlinksldjump" r:id="rId14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22">
            <a:hlinkClick action="ppaction://hlinksldjump" r:id="rId15"/>
          </p:cNvPr>
          <p:cNvSpPr/>
          <p:nvPr/>
        </p:nvSpPr>
        <p:spPr>
          <a:xfrm>
            <a:off x="4591655" y="9647639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7" name="Google Shape;477;p22">
            <a:hlinkClick action="ppaction://hlinksldjump" r:id="rId16"/>
          </p:cNvPr>
          <p:cNvSpPr/>
          <p:nvPr/>
        </p:nvSpPr>
        <p:spPr>
          <a:xfrm>
            <a:off x="4591655" y="9588108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22">
            <a:hlinkClick action="ppaction://hlinksldjump" r:id="rId17"/>
          </p:cNvPr>
          <p:cNvSpPr/>
          <p:nvPr/>
        </p:nvSpPr>
        <p:spPr>
          <a:xfrm>
            <a:off x="6378374" y="9647639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22">
            <a:hlinkClick action="ppaction://hlinksldjump" r:id="rId18"/>
          </p:cNvPr>
          <p:cNvSpPr/>
          <p:nvPr/>
        </p:nvSpPr>
        <p:spPr>
          <a:xfrm>
            <a:off x="6378374" y="9588108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22">
            <a:hlinkClick action="ppaction://hlinksldjump" r:id="rId19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22">
            <a:hlinkClick action="ppaction://hlinksldjump" r:id="rId19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2" name="Google Shape;482;p22" title="correcciones sapiencia.png">
            <a:hlinkClick action="ppaction://hlinksldjump" r:id="rId19"/>
          </p:cNvPr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483" name="Google Shape;483;p22">
            <a:hlinkClick action="ppaction://hlinksldjump" r:id="rId19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acción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22"/>
          <p:cNvSpPr txBox="1"/>
          <p:nvPr/>
        </p:nvSpPr>
        <p:spPr>
          <a:xfrm>
            <a:off x="3886200" y="1417320"/>
            <a:ext cx="14356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TEMA 2 · LOS 4 VALORES</a:t>
            </a:r>
            <a:endParaRPr/>
          </a:p>
        </p:txBody>
      </p:sp>
      <p:sp>
        <p:nvSpPr>
          <p:cNvPr id="485" name="Google Shape;485;p22"/>
          <p:cNvSpPr txBox="1"/>
          <p:nvPr/>
        </p:nvSpPr>
        <p:spPr>
          <a:xfrm>
            <a:off x="3886200" y="1847088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Cuatro valores que orientan la agilidad</a:t>
            </a:r>
            <a:endParaRPr/>
          </a:p>
        </p:txBody>
      </p:sp>
      <p:sp>
        <p:nvSpPr>
          <p:cNvPr id="486" name="Google Shape;486;p22"/>
          <p:cNvSpPr/>
          <p:nvPr/>
        </p:nvSpPr>
        <p:spPr>
          <a:xfrm>
            <a:off x="388620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22"/>
          <p:cNvSpPr/>
          <p:nvPr/>
        </p:nvSpPr>
        <p:spPr>
          <a:xfrm>
            <a:off x="4110228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22"/>
          <p:cNvSpPr/>
          <p:nvPr/>
        </p:nvSpPr>
        <p:spPr>
          <a:xfrm>
            <a:off x="4334256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22"/>
          <p:cNvSpPr/>
          <p:nvPr/>
        </p:nvSpPr>
        <p:spPr>
          <a:xfrm>
            <a:off x="4558284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22"/>
          <p:cNvSpPr/>
          <p:nvPr/>
        </p:nvSpPr>
        <p:spPr>
          <a:xfrm>
            <a:off x="4782312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22"/>
          <p:cNvSpPr/>
          <p:nvPr/>
        </p:nvSpPr>
        <p:spPr>
          <a:xfrm>
            <a:off x="500634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22"/>
          <p:cNvSpPr txBox="1"/>
          <p:nvPr/>
        </p:nvSpPr>
        <p:spPr>
          <a:xfrm>
            <a:off x="3886200" y="3246120"/>
            <a:ext cx="1435608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9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El Manifiesto Ágil propone cuatro valores que expresan qué aspectos se priorizan al desarrollar software. Estos valores no eliminan aquello que aparece en segundo lugar; establecen una preferencia cuando debemos decidir dónde concentrar nuestra atención.</a:t>
            </a:r>
            <a:endParaRPr/>
          </a:p>
        </p:txBody>
      </p:sp>
      <p:sp>
        <p:nvSpPr>
          <p:cNvPr id="493" name="Google Shape;493;p22"/>
          <p:cNvSpPr/>
          <p:nvPr/>
        </p:nvSpPr>
        <p:spPr>
          <a:xfrm>
            <a:off x="3886200" y="4572000"/>
            <a:ext cx="3383280" cy="3063240"/>
          </a:xfrm>
          <a:prstGeom prst="roundRect">
            <a:avLst>
              <a:gd fmla="val 6567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22"/>
          <p:cNvSpPr/>
          <p:nvPr/>
        </p:nvSpPr>
        <p:spPr>
          <a:xfrm>
            <a:off x="4160520" y="4572000"/>
            <a:ext cx="2834640" cy="82296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22"/>
          <p:cNvSpPr txBox="1"/>
          <p:nvPr/>
        </p:nvSpPr>
        <p:spPr>
          <a:xfrm>
            <a:off x="4160520" y="4800600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36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496" name="Google Shape;496;p22"/>
          <p:cNvSpPr/>
          <p:nvPr/>
        </p:nvSpPr>
        <p:spPr>
          <a:xfrm>
            <a:off x="6172200" y="4846320"/>
            <a:ext cx="822960" cy="822960"/>
          </a:xfrm>
          <a:prstGeom prst="ellipse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sers-three_regular_FFFFFF.png" id="497" name="Google Shape;497;p22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6369710" y="5043830"/>
            <a:ext cx="427939" cy="427939"/>
          </a:xfrm>
          <a:prstGeom prst="rect">
            <a:avLst/>
          </a:prstGeom>
          <a:noFill/>
          <a:ln>
            <a:noFill/>
          </a:ln>
        </p:spPr>
      </p:pic>
      <p:sp>
        <p:nvSpPr>
          <p:cNvPr id="498" name="Google Shape;498;p22"/>
          <p:cNvSpPr txBox="1"/>
          <p:nvPr/>
        </p:nvSpPr>
        <p:spPr>
          <a:xfrm>
            <a:off x="4160520" y="5806440"/>
            <a:ext cx="2880360" cy="178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5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PERSONAS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s-CO" sz="2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Personas e interacciones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s-CO" sz="1700" u="none" cap="none" strike="noStrik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sobre procesos y herramientas</a:t>
            </a:r>
            <a:endParaRPr/>
          </a:p>
        </p:txBody>
      </p:sp>
      <p:sp>
        <p:nvSpPr>
          <p:cNvPr id="499" name="Google Shape;499;p22"/>
          <p:cNvSpPr/>
          <p:nvPr/>
        </p:nvSpPr>
        <p:spPr>
          <a:xfrm>
            <a:off x="7543800" y="4572000"/>
            <a:ext cx="3383280" cy="3063240"/>
          </a:xfrm>
          <a:prstGeom prst="roundRect">
            <a:avLst>
              <a:gd fmla="val 6567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22"/>
          <p:cNvSpPr/>
          <p:nvPr/>
        </p:nvSpPr>
        <p:spPr>
          <a:xfrm>
            <a:off x="7818120" y="4572000"/>
            <a:ext cx="2834640" cy="82296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22"/>
          <p:cNvSpPr txBox="1"/>
          <p:nvPr/>
        </p:nvSpPr>
        <p:spPr>
          <a:xfrm>
            <a:off x="7818120" y="4800600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36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502" name="Google Shape;502;p22"/>
          <p:cNvSpPr/>
          <p:nvPr/>
        </p:nvSpPr>
        <p:spPr>
          <a:xfrm>
            <a:off x="9829800" y="4846320"/>
            <a:ext cx="822960" cy="822960"/>
          </a:xfrm>
          <a:prstGeom prst="ellipse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target_regular_FFFFFF.png" id="503" name="Google Shape;503;p22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10027310" y="5043830"/>
            <a:ext cx="427939" cy="427939"/>
          </a:xfrm>
          <a:prstGeom prst="rect">
            <a:avLst/>
          </a:prstGeom>
          <a:noFill/>
          <a:ln>
            <a:noFill/>
          </a:ln>
        </p:spPr>
      </p:pic>
      <p:sp>
        <p:nvSpPr>
          <p:cNvPr id="504" name="Google Shape;504;p22"/>
          <p:cNvSpPr txBox="1"/>
          <p:nvPr/>
        </p:nvSpPr>
        <p:spPr>
          <a:xfrm>
            <a:off x="7818120" y="5806440"/>
            <a:ext cx="2880360" cy="178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5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s-CO" sz="2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Software funcionando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s-CO" sz="1700" u="none" cap="none" strike="noStrik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sobre documentación exhaustiva</a:t>
            </a:r>
            <a:endParaRPr/>
          </a:p>
        </p:txBody>
      </p:sp>
      <p:sp>
        <p:nvSpPr>
          <p:cNvPr id="505" name="Google Shape;505;p22"/>
          <p:cNvSpPr/>
          <p:nvPr/>
        </p:nvSpPr>
        <p:spPr>
          <a:xfrm>
            <a:off x="11201400" y="4572000"/>
            <a:ext cx="3383280" cy="3063240"/>
          </a:xfrm>
          <a:prstGeom prst="roundRect">
            <a:avLst>
              <a:gd fmla="val 6567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22"/>
          <p:cNvSpPr/>
          <p:nvPr/>
        </p:nvSpPr>
        <p:spPr>
          <a:xfrm>
            <a:off x="11475720" y="4572000"/>
            <a:ext cx="2834640" cy="82296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22"/>
          <p:cNvSpPr txBox="1"/>
          <p:nvPr/>
        </p:nvSpPr>
        <p:spPr>
          <a:xfrm>
            <a:off x="11475720" y="4800600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3600" u="none" cap="none" strike="noStrike">
                <a:solidFill>
                  <a:srgbClr val="467CF1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508" name="Google Shape;508;p22"/>
          <p:cNvSpPr/>
          <p:nvPr/>
        </p:nvSpPr>
        <p:spPr>
          <a:xfrm>
            <a:off x="13487400" y="4846320"/>
            <a:ext cx="822960" cy="822960"/>
          </a:xfrm>
          <a:prstGeom prst="ellipse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handshake_regular_FFFFFF.png" id="509" name="Google Shape;509;p22"/>
          <p:cNvPicPr preferRelativeResize="0"/>
          <p:nvPr/>
        </p:nvPicPr>
        <p:blipFill rotWithShape="1">
          <a:blip r:embed="rId24">
            <a:alphaModFix/>
          </a:blip>
          <a:srcRect b="0" l="0" r="0" t="0"/>
          <a:stretch/>
        </p:blipFill>
        <p:spPr>
          <a:xfrm>
            <a:off x="13684910" y="5043830"/>
            <a:ext cx="427939" cy="427939"/>
          </a:xfrm>
          <a:prstGeom prst="rect">
            <a:avLst/>
          </a:prstGeom>
          <a:noFill/>
          <a:ln>
            <a:noFill/>
          </a:ln>
        </p:spPr>
      </p:pic>
      <p:sp>
        <p:nvSpPr>
          <p:cNvPr id="510" name="Google Shape;510;p22"/>
          <p:cNvSpPr txBox="1"/>
          <p:nvPr/>
        </p:nvSpPr>
        <p:spPr>
          <a:xfrm>
            <a:off x="11475720" y="5806440"/>
            <a:ext cx="2880360" cy="178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5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COLABORACIÓN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s-CO" sz="2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Colaboración con el cliente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s-CO" sz="1700" u="none" cap="none" strike="noStrik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sobre acuerdos contractuales</a:t>
            </a:r>
            <a:endParaRPr/>
          </a:p>
        </p:txBody>
      </p:sp>
      <p:sp>
        <p:nvSpPr>
          <p:cNvPr id="511" name="Google Shape;511;p22"/>
          <p:cNvSpPr/>
          <p:nvPr/>
        </p:nvSpPr>
        <p:spPr>
          <a:xfrm>
            <a:off x="14859000" y="4572000"/>
            <a:ext cx="3383280" cy="3063240"/>
          </a:xfrm>
          <a:prstGeom prst="roundRect">
            <a:avLst>
              <a:gd fmla="val 6567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22"/>
          <p:cNvSpPr/>
          <p:nvPr/>
        </p:nvSpPr>
        <p:spPr>
          <a:xfrm>
            <a:off x="15133320" y="4572000"/>
            <a:ext cx="2834640" cy="82296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22"/>
          <p:cNvSpPr txBox="1"/>
          <p:nvPr/>
        </p:nvSpPr>
        <p:spPr>
          <a:xfrm>
            <a:off x="15133320" y="4800600"/>
            <a:ext cx="7315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3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514" name="Google Shape;514;p22"/>
          <p:cNvSpPr/>
          <p:nvPr/>
        </p:nvSpPr>
        <p:spPr>
          <a:xfrm>
            <a:off x="17145000" y="4846320"/>
            <a:ext cx="822960" cy="822960"/>
          </a:xfrm>
          <a:prstGeom prst="ellipse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rrows-clockwise_regular_FFFFFF.png" id="515" name="Google Shape;515;p22"/>
          <p:cNvPicPr preferRelativeResize="0"/>
          <p:nvPr/>
        </p:nvPicPr>
        <p:blipFill rotWithShape="1">
          <a:blip r:embed="rId25">
            <a:alphaModFix/>
          </a:blip>
          <a:srcRect b="0" l="0" r="0" t="0"/>
          <a:stretch/>
        </p:blipFill>
        <p:spPr>
          <a:xfrm>
            <a:off x="17342510" y="5043830"/>
            <a:ext cx="427939" cy="427939"/>
          </a:xfrm>
          <a:prstGeom prst="rect">
            <a:avLst/>
          </a:prstGeom>
          <a:noFill/>
          <a:ln>
            <a:noFill/>
          </a:ln>
        </p:spPr>
      </p:pic>
      <p:sp>
        <p:nvSpPr>
          <p:cNvPr id="516" name="Google Shape;516;p22"/>
          <p:cNvSpPr txBox="1"/>
          <p:nvPr/>
        </p:nvSpPr>
        <p:spPr>
          <a:xfrm>
            <a:off x="15133320" y="5806440"/>
            <a:ext cx="2880360" cy="178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5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ADAPTACIÓN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s-CO" sz="2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Respuesta al cambio</a:t>
            </a:r>
            <a:endParaRPr/>
          </a:p>
          <a:p>
            <a:pPr indent="0" lvl="0" marL="0" marR="0" rtl="0" algn="l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s-CO" sz="1700" u="none" cap="none" strike="noStrik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sobre seguir un plan</a:t>
            </a:r>
            <a:endParaRPr/>
          </a:p>
        </p:txBody>
      </p:sp>
      <p:sp>
        <p:nvSpPr>
          <p:cNvPr id="517" name="Google Shape;517;p22"/>
          <p:cNvSpPr/>
          <p:nvPr/>
        </p:nvSpPr>
        <p:spPr>
          <a:xfrm>
            <a:off x="3886200" y="7909560"/>
            <a:ext cx="14356080" cy="777240"/>
          </a:xfrm>
          <a:prstGeom prst="roundRect">
            <a:avLst>
              <a:gd fmla="val 35294" name="adj"/>
            </a:avLst>
          </a:prstGeom>
          <a:gradFill>
            <a:gsLst>
              <a:gs pos="0">
                <a:srgbClr val="467CF1"/>
              </a:gs>
              <a:gs pos="100000">
                <a:srgbClr val="664092"/>
              </a:gs>
            </a:gsLst>
            <a:lin ang="81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scales_regular_FFFFFF.png" id="518" name="Google Shape;518;p22"/>
          <p:cNvPicPr preferRelativeResize="0"/>
          <p:nvPr/>
        </p:nvPicPr>
        <p:blipFill rotWithShape="1">
          <a:blip r:embed="rId26">
            <a:alphaModFix/>
          </a:blip>
          <a:srcRect b="0" l="0" r="0" t="0"/>
          <a:stretch/>
        </p:blipFill>
        <p:spPr>
          <a:xfrm>
            <a:off x="4206240" y="8014716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519" name="Google Shape;519;p22"/>
          <p:cNvSpPr txBox="1"/>
          <p:nvPr/>
        </p:nvSpPr>
        <p:spPr>
          <a:xfrm>
            <a:off x="5029200" y="7909560"/>
            <a:ext cx="128473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Valorar más ≠ eliminar lo demás</a:t>
            </a:r>
            <a:endParaRPr/>
          </a:p>
        </p:txBody>
      </p:sp>
      <p:sp>
        <p:nvSpPr>
          <p:cNvPr id="56" name="Google Shape;56;p2">
            <a:hlinkClick action="ppaction://hlinksldjump" r:id="rId27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>
            <a:hlinkClick action="ppaction://hlinksldjump" r:id="rId27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23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p23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6" name="Google Shape;526;p23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7" name="Google Shape;527;p23">
            <a:hlinkClick action="ppaction://hlinksldjump" r:id="rId3"/>
          </p:cNvPr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8" name="Google Shape;528;p23">
            <a:hlinkClick action="ppaction://hlinksldjump" r:id="rId4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Origen y sentido de la agilidad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23">
            <a:hlinkClick action="ppaction://hlinksldjump" r:id="rId5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23">
            <a:hlinkClick action="ppaction://hlinksldjump" r:id="rId6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A71989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Los 4 valores fundamentales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23">
            <a:hlinkClick action="ppaction://hlinksldjump" r:id="rId7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23">
            <a:hlinkClick action="ppaction://hlinksldjump" r:id="rId8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12 principios rectores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23">
            <a:hlinkClick action="ppaction://hlinksldjump" r:id="rId9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23">
            <a:hlinkClick action="ppaction://hlinksldjump" r:id="rId10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Factor humano, calidad y mejora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23">
            <a:hlinkClick action="ppaction://hlinksldjump" r:id="rId11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23">
            <a:hlinkClick action="ppaction://hlinksldjump" r:id="rId12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la práctica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p23">
            <a:hlinkClick action="ppaction://hlinksldjump" r:id="rId13"/>
          </p:cNvPr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23">
            <a:hlinkClick action="ppaction://hlinksldjump" r:id="rId14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23">
            <a:hlinkClick action="ppaction://hlinksldjump" r:id="rId15"/>
          </p:cNvPr>
          <p:cNvSpPr/>
          <p:nvPr/>
        </p:nvSpPr>
        <p:spPr>
          <a:xfrm>
            <a:off x="4591655" y="9647639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p23">
            <a:hlinkClick action="ppaction://hlinksldjump" r:id="rId16"/>
          </p:cNvPr>
          <p:cNvSpPr/>
          <p:nvPr/>
        </p:nvSpPr>
        <p:spPr>
          <a:xfrm>
            <a:off x="4591655" y="9588108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p23">
            <a:hlinkClick action="ppaction://hlinksldjump" r:id="rId17"/>
          </p:cNvPr>
          <p:cNvSpPr/>
          <p:nvPr/>
        </p:nvSpPr>
        <p:spPr>
          <a:xfrm>
            <a:off x="6378374" y="9647639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p23">
            <a:hlinkClick action="ppaction://hlinksldjump" r:id="rId18"/>
          </p:cNvPr>
          <p:cNvSpPr/>
          <p:nvPr/>
        </p:nvSpPr>
        <p:spPr>
          <a:xfrm>
            <a:off x="6378374" y="9588108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p23">
            <a:hlinkClick action="ppaction://hlinksldjump" r:id="rId19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23">
            <a:hlinkClick action="ppaction://hlinksldjump" r:id="rId19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5" name="Google Shape;545;p23" title="correcciones sapiencia.png">
            <a:hlinkClick action="ppaction://hlinksldjump" r:id="rId19"/>
          </p:cNvPr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23">
            <a:hlinkClick action="ppaction://hlinksldjump" r:id="rId19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acción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7" name="Google Shape;547;p23"/>
          <p:cNvSpPr txBox="1"/>
          <p:nvPr/>
        </p:nvSpPr>
        <p:spPr>
          <a:xfrm>
            <a:off x="3886200" y="1417320"/>
            <a:ext cx="14356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TEMA 2 · LOS 4 VALORES</a:t>
            </a:r>
            <a:endParaRPr/>
          </a:p>
        </p:txBody>
      </p:sp>
      <p:sp>
        <p:nvSpPr>
          <p:cNvPr id="548" name="Google Shape;548;p23"/>
          <p:cNvSpPr txBox="1"/>
          <p:nvPr/>
        </p:nvSpPr>
        <p:spPr>
          <a:xfrm>
            <a:off x="3886200" y="1847088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Priorizar no significa descartar</a:t>
            </a:r>
            <a:endParaRPr/>
          </a:p>
        </p:txBody>
      </p:sp>
      <p:sp>
        <p:nvSpPr>
          <p:cNvPr id="549" name="Google Shape;549;p23"/>
          <p:cNvSpPr/>
          <p:nvPr/>
        </p:nvSpPr>
        <p:spPr>
          <a:xfrm>
            <a:off x="388620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p23"/>
          <p:cNvSpPr/>
          <p:nvPr/>
        </p:nvSpPr>
        <p:spPr>
          <a:xfrm>
            <a:off x="4110228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p23"/>
          <p:cNvSpPr/>
          <p:nvPr/>
        </p:nvSpPr>
        <p:spPr>
          <a:xfrm>
            <a:off x="4334256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2" name="Google Shape;552;p23"/>
          <p:cNvSpPr/>
          <p:nvPr/>
        </p:nvSpPr>
        <p:spPr>
          <a:xfrm>
            <a:off x="4558284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23"/>
          <p:cNvSpPr/>
          <p:nvPr/>
        </p:nvSpPr>
        <p:spPr>
          <a:xfrm>
            <a:off x="4782312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p23"/>
          <p:cNvSpPr/>
          <p:nvPr/>
        </p:nvSpPr>
        <p:spPr>
          <a:xfrm>
            <a:off x="500634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23"/>
          <p:cNvSpPr txBox="1"/>
          <p:nvPr/>
        </p:nvSpPr>
        <p:spPr>
          <a:xfrm>
            <a:off x="3886200" y="3246120"/>
            <a:ext cx="143560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9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Los valores ágiles pueden interpretarse incorrectamente si entendemos que aquello situado a la derecha deja de ser necesario. La propuesta es diferente: ambos elementos tienen valor, pero se priorizan los de la izquierda.</a:t>
            </a:r>
            <a:endParaRPr/>
          </a:p>
        </p:txBody>
      </p:sp>
      <p:sp>
        <p:nvSpPr>
          <p:cNvPr id="556" name="Google Shape;556;p23"/>
          <p:cNvSpPr/>
          <p:nvPr/>
        </p:nvSpPr>
        <p:spPr>
          <a:xfrm>
            <a:off x="3886200" y="4343400"/>
            <a:ext cx="3566160" cy="548640"/>
          </a:xfrm>
          <a:prstGeom prst="roundRect">
            <a:avLst>
              <a:gd fmla="val 50000" name="adj"/>
            </a:avLst>
          </a:prstGeom>
          <a:solidFill>
            <a:srgbClr val="664092"/>
          </a:solidFill>
          <a:ln>
            <a:noFill/>
          </a:ln>
        </p:spPr>
        <p:txBody>
          <a:bodyPr anchorCtr="0" anchor="ctr" bIns="73150" lIns="73150" spcFirstLastPara="1" rIns="73150" wrap="square" tIns="7315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PRIORIZAMOS</a:t>
            </a:r>
            <a:endParaRPr/>
          </a:p>
        </p:txBody>
      </p:sp>
      <p:sp>
        <p:nvSpPr>
          <p:cNvPr id="557" name="Google Shape;557;p23"/>
          <p:cNvSpPr/>
          <p:nvPr/>
        </p:nvSpPr>
        <p:spPr>
          <a:xfrm>
            <a:off x="8138160" y="4343400"/>
            <a:ext cx="3566160" cy="54864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5875">
            <a:solidFill>
              <a:srgbClr val="C9B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3150" lIns="73150" spcFirstLastPara="1" rIns="73150" wrap="square" tIns="7315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SIN ELIMINAR</a:t>
            </a:r>
            <a:endParaRPr/>
          </a:p>
        </p:txBody>
      </p:sp>
      <p:sp>
        <p:nvSpPr>
          <p:cNvPr id="558" name="Google Shape;558;p23"/>
          <p:cNvSpPr/>
          <p:nvPr/>
        </p:nvSpPr>
        <p:spPr>
          <a:xfrm>
            <a:off x="3886200" y="5029200"/>
            <a:ext cx="3566160" cy="621792"/>
          </a:xfrm>
          <a:prstGeom prst="roundRect">
            <a:avLst>
              <a:gd fmla="val 29411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sers-three_regular_664092.png" id="559" name="Google Shape;559;p23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4069080" y="5157216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560" name="Google Shape;560;p23"/>
          <p:cNvSpPr txBox="1"/>
          <p:nvPr/>
        </p:nvSpPr>
        <p:spPr>
          <a:xfrm>
            <a:off x="4572000" y="5029200"/>
            <a:ext cx="283464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7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Personas e interacciones</a:t>
            </a:r>
            <a:endParaRPr/>
          </a:p>
        </p:txBody>
      </p:sp>
      <p:sp>
        <p:nvSpPr>
          <p:cNvPr id="561" name="Google Shape;561;p23"/>
          <p:cNvSpPr txBox="1"/>
          <p:nvPr/>
        </p:nvSpPr>
        <p:spPr>
          <a:xfrm>
            <a:off x="7452360" y="5029200"/>
            <a:ext cx="6858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2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/>
          </a:p>
        </p:txBody>
      </p:sp>
      <p:sp>
        <p:nvSpPr>
          <p:cNvPr id="562" name="Google Shape;562;p23"/>
          <p:cNvSpPr/>
          <p:nvPr/>
        </p:nvSpPr>
        <p:spPr>
          <a:xfrm>
            <a:off x="8138160" y="5029200"/>
            <a:ext cx="3566160" cy="621792"/>
          </a:xfrm>
          <a:prstGeom prst="roundRect">
            <a:avLst>
              <a:gd fmla="val 29411" name="adj"/>
            </a:avLst>
          </a:prstGeom>
          <a:solidFill>
            <a:srgbClr val="FFFFFF"/>
          </a:solidFill>
          <a:ln cap="flat" cmpd="sng" w="12700">
            <a:solidFill>
              <a:srgbClr val="DDD8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gear_regular_7B7480.png" id="563" name="Google Shape;563;p23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8321040" y="5157216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564" name="Google Shape;564;p23"/>
          <p:cNvSpPr txBox="1"/>
          <p:nvPr/>
        </p:nvSpPr>
        <p:spPr>
          <a:xfrm>
            <a:off x="8823960" y="5029200"/>
            <a:ext cx="283464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700" u="none" cap="none" strike="noStrike">
                <a:solidFill>
                  <a:srgbClr val="4F4F4F"/>
                </a:solidFill>
                <a:latin typeface="Arial"/>
                <a:ea typeface="Arial"/>
                <a:cs typeface="Arial"/>
                <a:sym typeface="Arial"/>
              </a:rPr>
              <a:t>Procesos y herramientas</a:t>
            </a:r>
            <a:endParaRPr/>
          </a:p>
        </p:txBody>
      </p:sp>
      <p:sp>
        <p:nvSpPr>
          <p:cNvPr id="565" name="Google Shape;565;p23"/>
          <p:cNvSpPr/>
          <p:nvPr/>
        </p:nvSpPr>
        <p:spPr>
          <a:xfrm>
            <a:off x="3886200" y="5760720"/>
            <a:ext cx="3566160" cy="621792"/>
          </a:xfrm>
          <a:prstGeom prst="roundRect">
            <a:avLst>
              <a:gd fmla="val 29411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target_regular_664092.png" id="566" name="Google Shape;566;p23"/>
          <p:cNvPicPr preferRelativeResize="0"/>
          <p:nvPr/>
        </p:nvPicPr>
        <p:blipFill rotWithShape="1">
          <a:blip r:embed="rId24">
            <a:alphaModFix/>
          </a:blip>
          <a:srcRect b="0" l="0" r="0" t="0"/>
          <a:stretch/>
        </p:blipFill>
        <p:spPr>
          <a:xfrm>
            <a:off x="4069080" y="5888736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567" name="Google Shape;567;p23"/>
          <p:cNvSpPr txBox="1"/>
          <p:nvPr/>
        </p:nvSpPr>
        <p:spPr>
          <a:xfrm>
            <a:off x="4572000" y="5760720"/>
            <a:ext cx="283464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7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Software funcionando</a:t>
            </a:r>
            <a:endParaRPr/>
          </a:p>
        </p:txBody>
      </p:sp>
      <p:sp>
        <p:nvSpPr>
          <p:cNvPr id="568" name="Google Shape;568;p23"/>
          <p:cNvSpPr txBox="1"/>
          <p:nvPr/>
        </p:nvSpPr>
        <p:spPr>
          <a:xfrm>
            <a:off x="7452360" y="5760720"/>
            <a:ext cx="6858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2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/>
          </a:p>
        </p:txBody>
      </p:sp>
      <p:sp>
        <p:nvSpPr>
          <p:cNvPr id="569" name="Google Shape;569;p23"/>
          <p:cNvSpPr/>
          <p:nvPr/>
        </p:nvSpPr>
        <p:spPr>
          <a:xfrm>
            <a:off x="8138160" y="5760720"/>
            <a:ext cx="3566160" cy="621792"/>
          </a:xfrm>
          <a:prstGeom prst="roundRect">
            <a:avLst>
              <a:gd fmla="val 29411" name="adj"/>
            </a:avLst>
          </a:prstGeom>
          <a:solidFill>
            <a:srgbClr val="FFFFFF"/>
          </a:solidFill>
          <a:ln cap="flat" cmpd="sng" w="12700">
            <a:solidFill>
              <a:srgbClr val="DDD8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ile-text_regular_7B7480.png" id="570" name="Google Shape;570;p23"/>
          <p:cNvPicPr preferRelativeResize="0"/>
          <p:nvPr/>
        </p:nvPicPr>
        <p:blipFill rotWithShape="1">
          <a:blip r:embed="rId25">
            <a:alphaModFix/>
          </a:blip>
          <a:srcRect b="0" l="0" r="0" t="0"/>
          <a:stretch/>
        </p:blipFill>
        <p:spPr>
          <a:xfrm>
            <a:off x="8321040" y="5888736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23"/>
          <p:cNvSpPr txBox="1"/>
          <p:nvPr/>
        </p:nvSpPr>
        <p:spPr>
          <a:xfrm>
            <a:off x="8823960" y="5760720"/>
            <a:ext cx="283464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700" u="none" cap="none" strike="noStrike">
                <a:solidFill>
                  <a:srgbClr val="4F4F4F"/>
                </a:solidFill>
                <a:latin typeface="Arial"/>
                <a:ea typeface="Arial"/>
                <a:cs typeface="Arial"/>
                <a:sym typeface="Arial"/>
              </a:rPr>
              <a:t>Documentación</a:t>
            </a:r>
            <a:endParaRPr/>
          </a:p>
        </p:txBody>
      </p:sp>
      <p:sp>
        <p:nvSpPr>
          <p:cNvPr id="572" name="Google Shape;572;p23"/>
          <p:cNvSpPr/>
          <p:nvPr/>
        </p:nvSpPr>
        <p:spPr>
          <a:xfrm>
            <a:off x="3886200" y="6492240"/>
            <a:ext cx="3566160" cy="621792"/>
          </a:xfrm>
          <a:prstGeom prst="roundRect">
            <a:avLst>
              <a:gd fmla="val 29411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handshake_regular_664092.png" id="573" name="Google Shape;573;p23"/>
          <p:cNvPicPr preferRelativeResize="0"/>
          <p:nvPr/>
        </p:nvPicPr>
        <p:blipFill rotWithShape="1">
          <a:blip r:embed="rId26">
            <a:alphaModFix/>
          </a:blip>
          <a:srcRect b="0" l="0" r="0" t="0"/>
          <a:stretch/>
        </p:blipFill>
        <p:spPr>
          <a:xfrm>
            <a:off x="4069080" y="6620256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574" name="Google Shape;574;p23"/>
          <p:cNvSpPr txBox="1"/>
          <p:nvPr/>
        </p:nvSpPr>
        <p:spPr>
          <a:xfrm>
            <a:off x="4572000" y="6492240"/>
            <a:ext cx="283464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7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Colaboración</a:t>
            </a:r>
            <a:endParaRPr/>
          </a:p>
        </p:txBody>
      </p:sp>
      <p:sp>
        <p:nvSpPr>
          <p:cNvPr id="575" name="Google Shape;575;p23"/>
          <p:cNvSpPr txBox="1"/>
          <p:nvPr/>
        </p:nvSpPr>
        <p:spPr>
          <a:xfrm>
            <a:off x="7452360" y="6492240"/>
            <a:ext cx="6858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2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/>
          </a:p>
        </p:txBody>
      </p:sp>
      <p:sp>
        <p:nvSpPr>
          <p:cNvPr id="576" name="Google Shape;576;p23"/>
          <p:cNvSpPr/>
          <p:nvPr/>
        </p:nvSpPr>
        <p:spPr>
          <a:xfrm>
            <a:off x="8138160" y="6492240"/>
            <a:ext cx="3566160" cy="621792"/>
          </a:xfrm>
          <a:prstGeom prst="roundRect">
            <a:avLst>
              <a:gd fmla="val 29411" name="adj"/>
            </a:avLst>
          </a:prstGeom>
          <a:solidFill>
            <a:srgbClr val="FFFFFF"/>
          </a:solidFill>
          <a:ln cap="flat" cmpd="sng" w="12700">
            <a:solidFill>
              <a:srgbClr val="DDD8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signature_regular_7B7480.png" id="577" name="Google Shape;577;p23"/>
          <p:cNvPicPr preferRelativeResize="0"/>
          <p:nvPr/>
        </p:nvPicPr>
        <p:blipFill rotWithShape="1">
          <a:blip r:embed="rId27">
            <a:alphaModFix/>
          </a:blip>
          <a:srcRect b="0" l="0" r="0" t="0"/>
          <a:stretch/>
        </p:blipFill>
        <p:spPr>
          <a:xfrm>
            <a:off x="8321040" y="6620256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578" name="Google Shape;578;p23"/>
          <p:cNvSpPr txBox="1"/>
          <p:nvPr/>
        </p:nvSpPr>
        <p:spPr>
          <a:xfrm>
            <a:off x="8823960" y="6492240"/>
            <a:ext cx="283464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700" u="none" cap="none" strike="noStrike">
                <a:solidFill>
                  <a:srgbClr val="4F4F4F"/>
                </a:solidFill>
                <a:latin typeface="Arial"/>
                <a:ea typeface="Arial"/>
                <a:cs typeface="Arial"/>
                <a:sym typeface="Arial"/>
              </a:rPr>
              <a:t>Acuerdos contractuales</a:t>
            </a:r>
            <a:endParaRPr/>
          </a:p>
        </p:txBody>
      </p:sp>
      <p:sp>
        <p:nvSpPr>
          <p:cNvPr id="579" name="Google Shape;579;p23"/>
          <p:cNvSpPr/>
          <p:nvPr/>
        </p:nvSpPr>
        <p:spPr>
          <a:xfrm>
            <a:off x="3886200" y="7223760"/>
            <a:ext cx="3566160" cy="621792"/>
          </a:xfrm>
          <a:prstGeom prst="roundRect">
            <a:avLst>
              <a:gd fmla="val 29411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rrows-clockwise_regular_664092.png" id="580" name="Google Shape;580;p23"/>
          <p:cNvPicPr preferRelativeResize="0"/>
          <p:nvPr/>
        </p:nvPicPr>
        <p:blipFill rotWithShape="1">
          <a:blip r:embed="rId28">
            <a:alphaModFix/>
          </a:blip>
          <a:srcRect b="0" l="0" r="0" t="0"/>
          <a:stretch/>
        </p:blipFill>
        <p:spPr>
          <a:xfrm>
            <a:off x="4069080" y="7351776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p23"/>
          <p:cNvSpPr txBox="1"/>
          <p:nvPr/>
        </p:nvSpPr>
        <p:spPr>
          <a:xfrm>
            <a:off x="4572000" y="7223760"/>
            <a:ext cx="283464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7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Respuesta al cambio</a:t>
            </a:r>
            <a:endParaRPr/>
          </a:p>
        </p:txBody>
      </p:sp>
      <p:sp>
        <p:nvSpPr>
          <p:cNvPr id="582" name="Google Shape;582;p23"/>
          <p:cNvSpPr txBox="1"/>
          <p:nvPr/>
        </p:nvSpPr>
        <p:spPr>
          <a:xfrm>
            <a:off x="7452360" y="7223760"/>
            <a:ext cx="68580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2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&gt;</a:t>
            </a:r>
            <a:endParaRPr/>
          </a:p>
        </p:txBody>
      </p:sp>
      <p:sp>
        <p:nvSpPr>
          <p:cNvPr id="583" name="Google Shape;583;p23"/>
          <p:cNvSpPr/>
          <p:nvPr/>
        </p:nvSpPr>
        <p:spPr>
          <a:xfrm>
            <a:off x="8138160" y="7223760"/>
            <a:ext cx="3566160" cy="621792"/>
          </a:xfrm>
          <a:prstGeom prst="roundRect">
            <a:avLst>
              <a:gd fmla="val 29411" name="adj"/>
            </a:avLst>
          </a:prstGeom>
          <a:solidFill>
            <a:srgbClr val="FFFFFF"/>
          </a:solidFill>
          <a:ln cap="flat" cmpd="sng" w="12700">
            <a:solidFill>
              <a:srgbClr val="DDD8E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alendar-check_regular_7B7480.png" id="584" name="Google Shape;584;p23"/>
          <p:cNvPicPr preferRelativeResize="0"/>
          <p:nvPr/>
        </p:nvPicPr>
        <p:blipFill rotWithShape="1">
          <a:blip r:embed="rId29">
            <a:alphaModFix/>
          </a:blip>
          <a:srcRect b="0" l="0" r="0" t="0"/>
          <a:stretch/>
        </p:blipFill>
        <p:spPr>
          <a:xfrm>
            <a:off x="8321040" y="7351776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585" name="Google Shape;585;p23"/>
          <p:cNvSpPr txBox="1"/>
          <p:nvPr/>
        </p:nvSpPr>
        <p:spPr>
          <a:xfrm>
            <a:off x="8823960" y="7223760"/>
            <a:ext cx="283464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700" u="none" cap="none" strike="noStrike">
                <a:solidFill>
                  <a:srgbClr val="4F4F4F"/>
                </a:solidFill>
                <a:latin typeface="Arial"/>
                <a:ea typeface="Arial"/>
                <a:cs typeface="Arial"/>
                <a:sym typeface="Arial"/>
              </a:rPr>
              <a:t>Planificación</a:t>
            </a:r>
            <a:endParaRPr/>
          </a:p>
        </p:txBody>
      </p:sp>
      <p:sp>
        <p:nvSpPr>
          <p:cNvPr id="586" name="Google Shape;586;p23"/>
          <p:cNvSpPr/>
          <p:nvPr/>
        </p:nvSpPr>
        <p:spPr>
          <a:xfrm>
            <a:off x="12115800" y="4343400"/>
            <a:ext cx="6126480" cy="1645920"/>
          </a:xfrm>
          <a:prstGeom prst="roundRect">
            <a:avLst>
              <a:gd fmla="val 12222" name="adj"/>
            </a:avLst>
          </a:prstGeom>
          <a:solidFill>
            <a:srgbClr val="FBF4F8"/>
          </a:solidFill>
          <a:ln cap="flat" cmpd="sng" w="15875">
            <a:solidFill>
              <a:srgbClr val="EBC9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7" name="Google Shape;587;p23"/>
          <p:cNvSpPr/>
          <p:nvPr/>
        </p:nvSpPr>
        <p:spPr>
          <a:xfrm>
            <a:off x="12344400" y="4526280"/>
            <a:ext cx="1005840" cy="384048"/>
          </a:xfrm>
          <a:prstGeom prst="roundRect">
            <a:avLst>
              <a:gd fmla="val 50000" name="adj"/>
            </a:avLst>
          </a:prstGeom>
          <a:solidFill>
            <a:srgbClr val="A71989"/>
          </a:solidFill>
          <a:ln>
            <a:noFill/>
          </a:ln>
        </p:spPr>
        <p:txBody>
          <a:bodyPr anchorCtr="0" anchor="ctr" bIns="73150" lIns="73150" spcFirstLastPara="1" rIns="73150" wrap="square" tIns="7315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MITO</a:t>
            </a:r>
            <a:endParaRPr/>
          </a:p>
        </p:txBody>
      </p:sp>
      <p:sp>
        <p:nvSpPr>
          <p:cNvPr id="588" name="Google Shape;588;p23"/>
          <p:cNvSpPr txBox="1"/>
          <p:nvPr/>
        </p:nvSpPr>
        <p:spPr>
          <a:xfrm>
            <a:off x="13487400" y="4453128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s-CO" sz="1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«Trabajar con agilidad significa no planificar.»</a:t>
            </a:r>
            <a:endParaRPr/>
          </a:p>
        </p:txBody>
      </p:sp>
      <p:sp>
        <p:nvSpPr>
          <p:cNvPr id="589" name="Google Shape;589;p23"/>
          <p:cNvSpPr txBox="1"/>
          <p:nvPr/>
        </p:nvSpPr>
        <p:spPr>
          <a:xfrm>
            <a:off x="12344400" y="5001768"/>
            <a:ext cx="566928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5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La agilidad no elimina la planificación. Permite que esta pueda revisarse y adaptarse a medida que obtenemos nueva información.</a:t>
            </a:r>
            <a:endParaRPr/>
          </a:p>
        </p:txBody>
      </p:sp>
      <p:sp>
        <p:nvSpPr>
          <p:cNvPr id="590" name="Google Shape;590;p23"/>
          <p:cNvSpPr/>
          <p:nvPr/>
        </p:nvSpPr>
        <p:spPr>
          <a:xfrm>
            <a:off x="12115800" y="6126480"/>
            <a:ext cx="6126480" cy="1645920"/>
          </a:xfrm>
          <a:prstGeom prst="roundRect">
            <a:avLst>
              <a:gd fmla="val 12222" name="adj"/>
            </a:avLst>
          </a:prstGeom>
          <a:solidFill>
            <a:srgbClr val="FBF4F8"/>
          </a:solidFill>
          <a:ln cap="flat" cmpd="sng" w="15875">
            <a:solidFill>
              <a:srgbClr val="EBC9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1" name="Google Shape;591;p23"/>
          <p:cNvSpPr/>
          <p:nvPr/>
        </p:nvSpPr>
        <p:spPr>
          <a:xfrm>
            <a:off x="12344400" y="6309360"/>
            <a:ext cx="1005840" cy="384048"/>
          </a:xfrm>
          <a:prstGeom prst="roundRect">
            <a:avLst>
              <a:gd fmla="val 50000" name="adj"/>
            </a:avLst>
          </a:prstGeom>
          <a:solidFill>
            <a:srgbClr val="A71989"/>
          </a:solidFill>
          <a:ln>
            <a:noFill/>
          </a:ln>
        </p:spPr>
        <p:txBody>
          <a:bodyPr anchorCtr="0" anchor="ctr" bIns="73150" lIns="73150" spcFirstLastPara="1" rIns="73150" wrap="square" tIns="7315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MITO</a:t>
            </a:r>
            <a:endParaRPr/>
          </a:p>
        </p:txBody>
      </p:sp>
      <p:sp>
        <p:nvSpPr>
          <p:cNvPr id="592" name="Google Shape;592;p23"/>
          <p:cNvSpPr txBox="1"/>
          <p:nvPr/>
        </p:nvSpPr>
        <p:spPr>
          <a:xfrm>
            <a:off x="13487400" y="6236208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s-CO" sz="1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«Ser ágiles significa trabajar sin documentación.»</a:t>
            </a:r>
            <a:endParaRPr/>
          </a:p>
        </p:txBody>
      </p:sp>
      <p:sp>
        <p:nvSpPr>
          <p:cNvPr id="593" name="Google Shape;593;p23"/>
          <p:cNvSpPr txBox="1"/>
          <p:nvPr/>
        </p:nvSpPr>
        <p:spPr>
          <a:xfrm>
            <a:off x="12344400" y="6784848"/>
            <a:ext cx="566928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5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El Manifiesto Ágil no rechaza la documentación; prioriza la obtención de resultados funcionales sobre una documentación exhaustiva.</a:t>
            </a:r>
            <a:endParaRPr/>
          </a:p>
        </p:txBody>
      </p:sp>
      <p:sp>
        <p:nvSpPr>
          <p:cNvPr id="594" name="Google Shape;594;p23"/>
          <p:cNvSpPr/>
          <p:nvPr/>
        </p:nvSpPr>
        <p:spPr>
          <a:xfrm>
            <a:off x="3886200" y="8046720"/>
            <a:ext cx="14356080" cy="822960"/>
          </a:xfrm>
          <a:prstGeom prst="roundRect">
            <a:avLst>
              <a:gd fmla="val 33333" name="adj"/>
            </a:avLst>
          </a:prstGeom>
          <a:gradFill>
            <a:gsLst>
              <a:gs pos="0">
                <a:srgbClr val="467CF1"/>
              </a:gs>
              <a:gs pos="100000">
                <a:srgbClr val="664092"/>
              </a:gs>
            </a:gsLst>
            <a:lin ang="81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ightbulb_regular_FFFFFF.png" id="595" name="Google Shape;595;p23"/>
          <p:cNvPicPr preferRelativeResize="0"/>
          <p:nvPr/>
        </p:nvPicPr>
        <p:blipFill rotWithShape="1">
          <a:blip r:embed="rId30">
            <a:alphaModFix/>
          </a:blip>
          <a:srcRect b="0" l="0" r="0" t="0"/>
          <a:stretch/>
        </p:blipFill>
        <p:spPr>
          <a:xfrm>
            <a:off x="4206240" y="8174736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596" name="Google Shape;596;p23"/>
          <p:cNvSpPr txBox="1"/>
          <p:nvPr/>
        </p:nvSpPr>
        <p:spPr>
          <a:xfrm>
            <a:off x="5029200" y="8046720"/>
            <a:ext cx="128473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 agilidad cambia nuestras prioridades, no elimina la disciplina del trabajo.</a:t>
            </a:r>
            <a:endParaRPr/>
          </a:p>
        </p:txBody>
      </p:sp>
      <p:sp>
        <p:nvSpPr>
          <p:cNvPr id="56" name="Google Shape;56;p2">
            <a:hlinkClick action="ppaction://hlinksldjump" r:id="rId31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>
            <a:hlinkClick action="ppaction://hlinksldjump" r:id="rId31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24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p24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3" name="Google Shape;603;p24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24">
            <a:hlinkClick action="ppaction://hlinksldjump" r:id="rId3"/>
          </p:cNvPr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24">
            <a:hlinkClick action="ppaction://hlinksldjump" r:id="rId4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Origen y sentido de la agilidad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24">
            <a:hlinkClick action="ppaction://hlinksldjump" r:id="rId5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24">
            <a:hlinkClick action="ppaction://hlinksldjump" r:id="rId6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4 valores fundamentales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24">
            <a:hlinkClick action="ppaction://hlinksldjump" r:id="rId7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p24">
            <a:hlinkClick action="ppaction://hlinksldjump" r:id="rId8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467CF1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Los 12 principios rectores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0" name="Google Shape;610;p24">
            <a:hlinkClick action="ppaction://hlinksldjump" r:id="rId9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24">
            <a:hlinkClick action="ppaction://hlinksldjump" r:id="rId10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Factor humano, calidad y mejora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p24">
            <a:hlinkClick action="ppaction://hlinksldjump" r:id="rId11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p24">
            <a:hlinkClick action="ppaction://hlinksldjump" r:id="rId12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la práctica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p24">
            <a:hlinkClick action="ppaction://hlinksldjump" r:id="rId13"/>
          </p:cNvPr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24">
            <a:hlinkClick action="ppaction://hlinksldjump" r:id="rId14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24">
            <a:hlinkClick action="ppaction://hlinksldjump" r:id="rId15"/>
          </p:cNvPr>
          <p:cNvSpPr/>
          <p:nvPr/>
        </p:nvSpPr>
        <p:spPr>
          <a:xfrm>
            <a:off x="4591655" y="9647639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24">
            <a:hlinkClick action="ppaction://hlinksldjump" r:id="rId16"/>
          </p:cNvPr>
          <p:cNvSpPr/>
          <p:nvPr/>
        </p:nvSpPr>
        <p:spPr>
          <a:xfrm>
            <a:off x="4591655" y="9588108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24">
            <a:hlinkClick action="ppaction://hlinksldjump" r:id="rId17"/>
          </p:cNvPr>
          <p:cNvSpPr/>
          <p:nvPr/>
        </p:nvSpPr>
        <p:spPr>
          <a:xfrm>
            <a:off x="6378374" y="9647639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24">
            <a:hlinkClick action="ppaction://hlinksldjump" r:id="rId18"/>
          </p:cNvPr>
          <p:cNvSpPr/>
          <p:nvPr/>
        </p:nvSpPr>
        <p:spPr>
          <a:xfrm>
            <a:off x="6378374" y="9588108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24">
            <a:hlinkClick action="ppaction://hlinksldjump" r:id="rId19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1" name="Google Shape;621;p24">
            <a:hlinkClick action="ppaction://hlinksldjump" r:id="rId19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2" name="Google Shape;622;p24" title="correcciones sapiencia.png">
            <a:hlinkClick action="ppaction://hlinksldjump" r:id="rId19"/>
          </p:cNvPr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623" name="Google Shape;623;p24">
            <a:hlinkClick action="ppaction://hlinksldjump" r:id="rId19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acción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24"/>
          <p:cNvSpPr txBox="1"/>
          <p:nvPr/>
        </p:nvSpPr>
        <p:spPr>
          <a:xfrm>
            <a:off x="3886200" y="1417320"/>
            <a:ext cx="14356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TEMA 3 · LOS 12 PRINCIPIOS</a:t>
            </a:r>
            <a:endParaRPr/>
          </a:p>
        </p:txBody>
      </p:sp>
      <p:sp>
        <p:nvSpPr>
          <p:cNvPr id="625" name="Google Shape;625;p24"/>
          <p:cNvSpPr txBox="1"/>
          <p:nvPr/>
        </p:nvSpPr>
        <p:spPr>
          <a:xfrm>
            <a:off x="3886200" y="1847088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De los valores a la acción</a:t>
            </a:r>
            <a:endParaRPr/>
          </a:p>
        </p:txBody>
      </p:sp>
      <p:sp>
        <p:nvSpPr>
          <p:cNvPr id="626" name="Google Shape;626;p24"/>
          <p:cNvSpPr/>
          <p:nvPr/>
        </p:nvSpPr>
        <p:spPr>
          <a:xfrm>
            <a:off x="388620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24"/>
          <p:cNvSpPr/>
          <p:nvPr/>
        </p:nvSpPr>
        <p:spPr>
          <a:xfrm>
            <a:off x="4110228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24"/>
          <p:cNvSpPr/>
          <p:nvPr/>
        </p:nvSpPr>
        <p:spPr>
          <a:xfrm>
            <a:off x="4334256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24"/>
          <p:cNvSpPr/>
          <p:nvPr/>
        </p:nvSpPr>
        <p:spPr>
          <a:xfrm>
            <a:off x="4558284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p24"/>
          <p:cNvSpPr/>
          <p:nvPr/>
        </p:nvSpPr>
        <p:spPr>
          <a:xfrm>
            <a:off x="4782312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1" name="Google Shape;631;p24"/>
          <p:cNvSpPr/>
          <p:nvPr/>
        </p:nvSpPr>
        <p:spPr>
          <a:xfrm>
            <a:off x="500634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p24"/>
          <p:cNvSpPr txBox="1"/>
          <p:nvPr/>
        </p:nvSpPr>
        <p:spPr>
          <a:xfrm>
            <a:off x="3886200" y="3246120"/>
            <a:ext cx="6309360" cy="3931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9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Los cuatro valores expresan una orientación general. Pero surge una nueva pregunta: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1" lang="es-CO" sz="21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¿Cómo llevamos estos valores a nuestra forma cotidiana de trabajar?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s-CO" sz="19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El Manifiesto Ágil los desarrolla mediante 12 principios, relacionados con la entrega de valor, la colaboración, la adaptación, la calidad y la mejora continua.</a:t>
            </a:r>
            <a:endParaRPr/>
          </a:p>
        </p:txBody>
      </p:sp>
      <p:sp>
        <p:nvSpPr>
          <p:cNvPr id="633" name="Google Shape;633;p24"/>
          <p:cNvSpPr/>
          <p:nvPr/>
        </p:nvSpPr>
        <p:spPr>
          <a:xfrm>
            <a:off x="3886200" y="6812280"/>
            <a:ext cx="2103120" cy="640080"/>
          </a:xfrm>
          <a:prstGeom prst="roundRect">
            <a:avLst>
              <a:gd fmla="val 50000" name="adj"/>
            </a:avLst>
          </a:prstGeom>
          <a:solidFill>
            <a:srgbClr val="664092"/>
          </a:solidFill>
          <a:ln>
            <a:noFill/>
          </a:ln>
        </p:spPr>
        <p:txBody>
          <a:bodyPr anchorCtr="0" anchor="ctr" bIns="73150" lIns="73150" spcFirstLastPara="1" rIns="73150" wrap="square" tIns="7315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 VALORES</a:t>
            </a:r>
            <a:endParaRPr/>
          </a:p>
        </p:txBody>
      </p:sp>
      <p:sp>
        <p:nvSpPr>
          <p:cNvPr id="634" name="Google Shape;634;p24"/>
          <p:cNvSpPr txBox="1"/>
          <p:nvPr/>
        </p:nvSpPr>
        <p:spPr>
          <a:xfrm>
            <a:off x="5989320" y="6812280"/>
            <a:ext cx="502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200" u="none" cap="none" strike="noStrik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635" name="Google Shape;635;p24"/>
          <p:cNvSpPr/>
          <p:nvPr/>
        </p:nvSpPr>
        <p:spPr>
          <a:xfrm>
            <a:off x="6446520" y="6812280"/>
            <a:ext cx="1325880" cy="640080"/>
          </a:xfrm>
          <a:prstGeom prst="roundRect">
            <a:avLst>
              <a:gd fmla="val 50000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73150" lIns="73150" spcFirstLastPara="1" rIns="73150" wrap="square" tIns="7315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5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¿Cómo?</a:t>
            </a:r>
            <a:endParaRPr/>
          </a:p>
        </p:txBody>
      </p:sp>
      <p:sp>
        <p:nvSpPr>
          <p:cNvPr id="636" name="Google Shape;636;p24"/>
          <p:cNvSpPr txBox="1"/>
          <p:nvPr/>
        </p:nvSpPr>
        <p:spPr>
          <a:xfrm>
            <a:off x="7772400" y="6812280"/>
            <a:ext cx="4114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200" u="none" cap="none" strike="noStrike">
                <a:solidFill>
                  <a:srgbClr val="7B7480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637" name="Google Shape;637;p24"/>
          <p:cNvSpPr/>
          <p:nvPr/>
        </p:nvSpPr>
        <p:spPr>
          <a:xfrm>
            <a:off x="8183880" y="6812280"/>
            <a:ext cx="2240280" cy="64008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73150" lIns="73150" spcFirstLastPara="1" rIns="73150" wrap="square" tIns="7315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12 PRINCIPIOS</a:t>
            </a:r>
            <a:endParaRPr/>
          </a:p>
        </p:txBody>
      </p:sp>
      <p:sp>
        <p:nvSpPr>
          <p:cNvPr id="638" name="Google Shape;638;p24"/>
          <p:cNvSpPr/>
          <p:nvPr/>
        </p:nvSpPr>
        <p:spPr>
          <a:xfrm>
            <a:off x="10652760" y="3246120"/>
            <a:ext cx="3657600" cy="1828800"/>
          </a:xfrm>
          <a:prstGeom prst="roundRect">
            <a:avLst>
              <a:gd fmla="val 11000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24"/>
          <p:cNvSpPr/>
          <p:nvPr/>
        </p:nvSpPr>
        <p:spPr>
          <a:xfrm>
            <a:off x="10652760" y="3520440"/>
            <a:ext cx="82296" cy="1280160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24"/>
          <p:cNvSpPr/>
          <p:nvPr/>
        </p:nvSpPr>
        <p:spPr>
          <a:xfrm>
            <a:off x="10927080" y="3520440"/>
            <a:ext cx="640080" cy="640080"/>
          </a:xfrm>
          <a:prstGeom prst="ellipse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ackage_regular_FFFFFF.png" id="641" name="Google Shape;641;p24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11080699" y="3674059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642" name="Google Shape;642;p24"/>
          <p:cNvSpPr txBox="1"/>
          <p:nvPr/>
        </p:nvSpPr>
        <p:spPr>
          <a:xfrm>
            <a:off x="11704320" y="352044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9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Entregar valor</a:t>
            </a:r>
            <a:endParaRPr/>
          </a:p>
        </p:txBody>
      </p:sp>
      <p:sp>
        <p:nvSpPr>
          <p:cNvPr id="643" name="Google Shape;643;p24"/>
          <p:cNvSpPr txBox="1"/>
          <p:nvPr/>
        </p:nvSpPr>
        <p:spPr>
          <a:xfrm>
            <a:off x="10927080" y="4233672"/>
            <a:ext cx="32004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5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Enfocar el trabajo en generar resultados útiles y significativos para las personas usuarias.</a:t>
            </a:r>
            <a:endParaRPr/>
          </a:p>
        </p:txBody>
      </p:sp>
      <p:sp>
        <p:nvSpPr>
          <p:cNvPr id="644" name="Google Shape;644;p24"/>
          <p:cNvSpPr/>
          <p:nvPr/>
        </p:nvSpPr>
        <p:spPr>
          <a:xfrm>
            <a:off x="14584680" y="3246120"/>
            <a:ext cx="3657600" cy="1828800"/>
          </a:xfrm>
          <a:prstGeom prst="roundRect">
            <a:avLst>
              <a:gd fmla="val 11000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5" name="Google Shape;645;p24"/>
          <p:cNvSpPr/>
          <p:nvPr/>
        </p:nvSpPr>
        <p:spPr>
          <a:xfrm>
            <a:off x="14584680" y="3520440"/>
            <a:ext cx="82296" cy="1280160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p24"/>
          <p:cNvSpPr/>
          <p:nvPr/>
        </p:nvSpPr>
        <p:spPr>
          <a:xfrm>
            <a:off x="14859000" y="3520440"/>
            <a:ext cx="640080" cy="640080"/>
          </a:xfrm>
          <a:prstGeom prst="ellipse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handshake_regular_FFFFFF.png" id="647" name="Google Shape;647;p24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15012619" y="3674059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648" name="Google Shape;648;p24"/>
          <p:cNvSpPr txBox="1"/>
          <p:nvPr/>
        </p:nvSpPr>
        <p:spPr>
          <a:xfrm>
            <a:off x="15636240" y="352044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9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Colaborar</a:t>
            </a:r>
            <a:endParaRPr/>
          </a:p>
        </p:txBody>
      </p:sp>
      <p:sp>
        <p:nvSpPr>
          <p:cNvPr id="649" name="Google Shape;649;p24"/>
          <p:cNvSpPr txBox="1"/>
          <p:nvPr/>
        </p:nvSpPr>
        <p:spPr>
          <a:xfrm>
            <a:off x="14859000" y="4233672"/>
            <a:ext cx="32004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5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Construir juntos, con confianza y comunicación constante, dentro y fuera del equipo.</a:t>
            </a:r>
            <a:endParaRPr/>
          </a:p>
        </p:txBody>
      </p:sp>
      <p:sp>
        <p:nvSpPr>
          <p:cNvPr id="650" name="Google Shape;650;p24"/>
          <p:cNvSpPr/>
          <p:nvPr/>
        </p:nvSpPr>
        <p:spPr>
          <a:xfrm>
            <a:off x="10652760" y="5303520"/>
            <a:ext cx="3657600" cy="1828800"/>
          </a:xfrm>
          <a:prstGeom prst="roundRect">
            <a:avLst>
              <a:gd fmla="val 11000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p24"/>
          <p:cNvSpPr/>
          <p:nvPr/>
        </p:nvSpPr>
        <p:spPr>
          <a:xfrm>
            <a:off x="10652760" y="5577840"/>
            <a:ext cx="82296" cy="1280160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2" name="Google Shape;652;p24"/>
          <p:cNvSpPr/>
          <p:nvPr/>
        </p:nvSpPr>
        <p:spPr>
          <a:xfrm>
            <a:off x="10927080" y="5577840"/>
            <a:ext cx="640080" cy="640080"/>
          </a:xfrm>
          <a:prstGeom prst="ellipse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rrows-clockwise_regular_FFFFFF.png" id="653" name="Google Shape;653;p24"/>
          <p:cNvPicPr preferRelativeResize="0"/>
          <p:nvPr/>
        </p:nvPicPr>
        <p:blipFill rotWithShape="1">
          <a:blip r:embed="rId24">
            <a:alphaModFix/>
          </a:blip>
          <a:srcRect b="0" l="0" r="0" t="0"/>
          <a:stretch/>
        </p:blipFill>
        <p:spPr>
          <a:xfrm>
            <a:off x="11080699" y="5731459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24"/>
          <p:cNvSpPr txBox="1"/>
          <p:nvPr/>
        </p:nvSpPr>
        <p:spPr>
          <a:xfrm>
            <a:off x="11704320" y="557784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9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Adaptarnos</a:t>
            </a:r>
            <a:endParaRPr/>
          </a:p>
        </p:txBody>
      </p:sp>
      <p:sp>
        <p:nvSpPr>
          <p:cNvPr id="655" name="Google Shape;655;p24"/>
          <p:cNvSpPr txBox="1"/>
          <p:nvPr/>
        </p:nvSpPr>
        <p:spPr>
          <a:xfrm>
            <a:off x="10927080" y="6291072"/>
            <a:ext cx="32004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5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Responder al cambio con flexibilidad y apertura, ajustando el rumbo cuando sea necesario.</a:t>
            </a:r>
            <a:endParaRPr/>
          </a:p>
        </p:txBody>
      </p:sp>
      <p:sp>
        <p:nvSpPr>
          <p:cNvPr id="656" name="Google Shape;656;p24"/>
          <p:cNvSpPr/>
          <p:nvPr/>
        </p:nvSpPr>
        <p:spPr>
          <a:xfrm>
            <a:off x="14584680" y="5303520"/>
            <a:ext cx="3657600" cy="1828800"/>
          </a:xfrm>
          <a:prstGeom prst="roundRect">
            <a:avLst>
              <a:gd fmla="val 11000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p24"/>
          <p:cNvSpPr/>
          <p:nvPr/>
        </p:nvSpPr>
        <p:spPr>
          <a:xfrm>
            <a:off x="14584680" y="5577840"/>
            <a:ext cx="82296" cy="128016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24"/>
          <p:cNvSpPr/>
          <p:nvPr/>
        </p:nvSpPr>
        <p:spPr>
          <a:xfrm>
            <a:off x="14859000" y="5577840"/>
            <a:ext cx="640080" cy="640080"/>
          </a:xfrm>
          <a:prstGeom prst="ellipse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ightbulb_regular_FFFFFF.png" id="659" name="Google Shape;659;p24"/>
          <p:cNvPicPr preferRelativeResize="0"/>
          <p:nvPr/>
        </p:nvPicPr>
        <p:blipFill rotWithShape="1">
          <a:blip r:embed="rId25">
            <a:alphaModFix/>
          </a:blip>
          <a:srcRect b="0" l="0" r="0" t="0"/>
          <a:stretch/>
        </p:blipFill>
        <p:spPr>
          <a:xfrm>
            <a:off x="15012619" y="5731459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24"/>
          <p:cNvSpPr txBox="1"/>
          <p:nvPr/>
        </p:nvSpPr>
        <p:spPr>
          <a:xfrm>
            <a:off x="15636240" y="5577840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9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Aprender y mejorar</a:t>
            </a:r>
            <a:endParaRPr/>
          </a:p>
        </p:txBody>
      </p:sp>
      <p:sp>
        <p:nvSpPr>
          <p:cNvPr id="661" name="Google Shape;661;p24"/>
          <p:cNvSpPr txBox="1"/>
          <p:nvPr/>
        </p:nvSpPr>
        <p:spPr>
          <a:xfrm>
            <a:off x="14859000" y="6291072"/>
            <a:ext cx="32004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5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Incorporar la experiencia, reflexionar sobre lo hecho y buscar mejores formas de trabajar.</a:t>
            </a:r>
            <a:endParaRPr/>
          </a:p>
        </p:txBody>
      </p:sp>
      <p:sp>
        <p:nvSpPr>
          <p:cNvPr id="662" name="Google Shape;662;p24"/>
          <p:cNvSpPr/>
          <p:nvPr/>
        </p:nvSpPr>
        <p:spPr>
          <a:xfrm>
            <a:off x="3886200" y="7726680"/>
            <a:ext cx="14356080" cy="1097280"/>
          </a:xfrm>
          <a:prstGeom prst="roundRect">
            <a:avLst>
              <a:gd fmla="val 25000" name="adj"/>
            </a:avLst>
          </a:prstGeom>
          <a:gradFill>
            <a:gsLst>
              <a:gs pos="0">
                <a:srgbClr val="467CF1"/>
              </a:gs>
              <a:gs pos="100000">
                <a:srgbClr val="664092"/>
              </a:gs>
            </a:gsLst>
            <a:lin ang="81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target_regular_FFFFFF.png" id="663" name="Google Shape;663;p24"/>
          <p:cNvPicPr preferRelativeResize="0"/>
          <p:nvPr/>
        </p:nvPicPr>
        <p:blipFill rotWithShape="1">
          <a:blip r:embed="rId26">
            <a:alphaModFix/>
          </a:blip>
          <a:srcRect b="0" l="0" r="0" t="0"/>
          <a:stretch/>
        </p:blipFill>
        <p:spPr>
          <a:xfrm>
            <a:off x="4206240" y="7991856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664" name="Google Shape;664;p24"/>
          <p:cNvSpPr txBox="1"/>
          <p:nvPr/>
        </p:nvSpPr>
        <p:spPr>
          <a:xfrm>
            <a:off x="5029200" y="7726680"/>
            <a:ext cx="12847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Los valores expresan qué priorizamos. </a:t>
            </a:r>
            <a:r>
              <a:rPr b="0" i="0" lang="es-CO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Los principios nos ayudan a comprender cómo llevar esas prioridades a la práctica.</a:t>
            </a:r>
            <a:endParaRPr/>
          </a:p>
        </p:txBody>
      </p:sp>
      <p:sp>
        <p:nvSpPr>
          <p:cNvPr id="56" name="Google Shape;56;p2">
            <a:hlinkClick action="ppaction://hlinksldjump" r:id="rId27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>
            <a:hlinkClick action="ppaction://hlinksldjump" r:id="rId27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25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p25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p25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2" name="Google Shape;672;p25">
            <a:hlinkClick action="ppaction://hlinksldjump" r:id="rId3"/>
          </p:cNvPr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25">
            <a:hlinkClick action="ppaction://hlinksldjump" r:id="rId4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Origen y sentido de la agilidad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25">
            <a:hlinkClick action="ppaction://hlinksldjump" r:id="rId5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25">
            <a:hlinkClick action="ppaction://hlinksldjump" r:id="rId6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4 valores fundamentales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25">
            <a:hlinkClick action="ppaction://hlinksldjump" r:id="rId7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25">
            <a:hlinkClick action="ppaction://hlinksldjump" r:id="rId8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467CF1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Los 12 principios rectores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25">
            <a:hlinkClick action="ppaction://hlinksldjump" r:id="rId9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25">
            <a:hlinkClick action="ppaction://hlinksldjump" r:id="rId10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Factor humano, calidad y mejora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25">
            <a:hlinkClick action="ppaction://hlinksldjump" r:id="rId11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25">
            <a:hlinkClick action="ppaction://hlinksldjump" r:id="rId12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la práctica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25">
            <a:hlinkClick action="ppaction://hlinksldjump" r:id="rId13"/>
          </p:cNvPr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25">
            <a:hlinkClick action="ppaction://hlinksldjump" r:id="rId14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25">
            <a:hlinkClick action="ppaction://hlinksldjump" r:id="rId15"/>
          </p:cNvPr>
          <p:cNvSpPr/>
          <p:nvPr/>
        </p:nvSpPr>
        <p:spPr>
          <a:xfrm>
            <a:off x="4591655" y="9647639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25">
            <a:hlinkClick action="ppaction://hlinksldjump" r:id="rId16"/>
          </p:cNvPr>
          <p:cNvSpPr/>
          <p:nvPr/>
        </p:nvSpPr>
        <p:spPr>
          <a:xfrm>
            <a:off x="4591655" y="9588108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25">
            <a:hlinkClick action="ppaction://hlinksldjump" r:id="rId17"/>
          </p:cNvPr>
          <p:cNvSpPr/>
          <p:nvPr/>
        </p:nvSpPr>
        <p:spPr>
          <a:xfrm>
            <a:off x="6378374" y="9647639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25">
            <a:hlinkClick action="ppaction://hlinksldjump" r:id="rId18"/>
          </p:cNvPr>
          <p:cNvSpPr/>
          <p:nvPr/>
        </p:nvSpPr>
        <p:spPr>
          <a:xfrm>
            <a:off x="6378374" y="9588108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25">
            <a:hlinkClick action="ppaction://hlinksldjump" r:id="rId19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25">
            <a:hlinkClick action="ppaction://hlinksldjump" r:id="rId19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90" name="Google Shape;690;p25" title="correcciones sapiencia.png">
            <a:hlinkClick action="ppaction://hlinksldjump" r:id="rId19"/>
          </p:cNvPr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691" name="Google Shape;691;p25">
            <a:hlinkClick action="ppaction://hlinksldjump" r:id="rId19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acción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25"/>
          <p:cNvSpPr txBox="1"/>
          <p:nvPr/>
        </p:nvSpPr>
        <p:spPr>
          <a:xfrm>
            <a:off x="3886200" y="1417320"/>
            <a:ext cx="14356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TEMA 3 · PRINCIPIOS 1 A 4</a:t>
            </a:r>
            <a:endParaRPr/>
          </a:p>
        </p:txBody>
      </p:sp>
      <p:sp>
        <p:nvSpPr>
          <p:cNvPr id="693" name="Google Shape;693;p25"/>
          <p:cNvSpPr txBox="1"/>
          <p:nvPr/>
        </p:nvSpPr>
        <p:spPr>
          <a:xfrm>
            <a:off x="3886200" y="1847088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Principios que orientan la agilidad</a:t>
            </a:r>
            <a:endParaRPr/>
          </a:p>
        </p:txBody>
      </p:sp>
      <p:sp>
        <p:nvSpPr>
          <p:cNvPr id="694" name="Google Shape;694;p25"/>
          <p:cNvSpPr/>
          <p:nvPr/>
        </p:nvSpPr>
        <p:spPr>
          <a:xfrm>
            <a:off x="388620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25"/>
          <p:cNvSpPr/>
          <p:nvPr/>
        </p:nvSpPr>
        <p:spPr>
          <a:xfrm>
            <a:off x="4110228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25"/>
          <p:cNvSpPr/>
          <p:nvPr/>
        </p:nvSpPr>
        <p:spPr>
          <a:xfrm>
            <a:off x="4334256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25"/>
          <p:cNvSpPr/>
          <p:nvPr/>
        </p:nvSpPr>
        <p:spPr>
          <a:xfrm>
            <a:off x="4558284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25"/>
          <p:cNvSpPr/>
          <p:nvPr/>
        </p:nvSpPr>
        <p:spPr>
          <a:xfrm>
            <a:off x="4782312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25"/>
          <p:cNvSpPr/>
          <p:nvPr/>
        </p:nvSpPr>
        <p:spPr>
          <a:xfrm>
            <a:off x="500634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25"/>
          <p:cNvSpPr txBox="1"/>
          <p:nvPr/>
        </p:nvSpPr>
        <p:spPr>
          <a:xfrm>
            <a:off x="3886200" y="3246120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9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Los principios ágiles llevan los valores a la práctica y orientan la manera en que generamos valor, colaboramos y respondemos al cambio.</a:t>
            </a:r>
            <a:endParaRPr/>
          </a:p>
        </p:txBody>
      </p:sp>
      <p:sp>
        <p:nvSpPr>
          <p:cNvPr id="701" name="Google Shape;701;p25"/>
          <p:cNvSpPr/>
          <p:nvPr/>
        </p:nvSpPr>
        <p:spPr>
          <a:xfrm>
            <a:off x="3886200" y="4206240"/>
            <a:ext cx="3383280" cy="3017520"/>
          </a:xfrm>
          <a:prstGeom prst="roundRect">
            <a:avLst>
              <a:gd fmla="val 6666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25"/>
          <p:cNvSpPr/>
          <p:nvPr/>
        </p:nvSpPr>
        <p:spPr>
          <a:xfrm>
            <a:off x="4160520" y="4206240"/>
            <a:ext cx="2834640" cy="82296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25"/>
          <p:cNvSpPr/>
          <p:nvPr/>
        </p:nvSpPr>
        <p:spPr>
          <a:xfrm>
            <a:off x="4160520" y="4526280"/>
            <a:ext cx="822960" cy="822960"/>
          </a:xfrm>
          <a:prstGeom prst="ellipse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ocket-launch_regular_FFFFFF.png" id="704" name="Google Shape;704;p25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4358030" y="4723790"/>
            <a:ext cx="427939" cy="427939"/>
          </a:xfrm>
          <a:prstGeom prst="rect">
            <a:avLst/>
          </a:prstGeom>
          <a:noFill/>
          <a:ln>
            <a:noFill/>
          </a:ln>
        </p:spPr>
      </p:pic>
      <p:sp>
        <p:nvSpPr>
          <p:cNvPr id="705" name="Google Shape;705;p25"/>
          <p:cNvSpPr txBox="1"/>
          <p:nvPr/>
        </p:nvSpPr>
        <p:spPr>
          <a:xfrm>
            <a:off x="5166360" y="4526280"/>
            <a:ext cx="1097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34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706" name="Google Shape;706;p25"/>
          <p:cNvSpPr txBox="1"/>
          <p:nvPr/>
        </p:nvSpPr>
        <p:spPr>
          <a:xfrm>
            <a:off x="4160520" y="5532120"/>
            <a:ext cx="283464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Entrega temprana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s-CO" sz="18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Generamos valor de manera continua.</a:t>
            </a:r>
            <a:endParaRPr/>
          </a:p>
        </p:txBody>
      </p:sp>
      <p:sp>
        <p:nvSpPr>
          <p:cNvPr id="707" name="Google Shape;707;p25"/>
          <p:cNvSpPr/>
          <p:nvPr/>
        </p:nvSpPr>
        <p:spPr>
          <a:xfrm>
            <a:off x="7543800" y="4206240"/>
            <a:ext cx="3383280" cy="3017520"/>
          </a:xfrm>
          <a:prstGeom prst="roundRect">
            <a:avLst>
              <a:gd fmla="val 6666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25"/>
          <p:cNvSpPr/>
          <p:nvPr/>
        </p:nvSpPr>
        <p:spPr>
          <a:xfrm>
            <a:off x="7818120" y="4206240"/>
            <a:ext cx="2834640" cy="82296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25"/>
          <p:cNvSpPr/>
          <p:nvPr/>
        </p:nvSpPr>
        <p:spPr>
          <a:xfrm>
            <a:off x="7818120" y="4526280"/>
            <a:ext cx="822960" cy="822960"/>
          </a:xfrm>
          <a:prstGeom prst="ellipse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rrows-split_regular_FFFFFF.png" id="710" name="Google Shape;710;p25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8015630" y="4723790"/>
            <a:ext cx="427939" cy="427939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25"/>
          <p:cNvSpPr txBox="1"/>
          <p:nvPr/>
        </p:nvSpPr>
        <p:spPr>
          <a:xfrm>
            <a:off x="8823960" y="4526280"/>
            <a:ext cx="1097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34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712" name="Google Shape;712;p25"/>
          <p:cNvSpPr txBox="1"/>
          <p:nvPr/>
        </p:nvSpPr>
        <p:spPr>
          <a:xfrm>
            <a:off x="7818120" y="5532120"/>
            <a:ext cx="283464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Apertura al cambio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s-CO" sz="18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Incorporamos cambios cuando aportan valor.</a:t>
            </a:r>
            <a:endParaRPr/>
          </a:p>
        </p:txBody>
      </p:sp>
      <p:sp>
        <p:nvSpPr>
          <p:cNvPr id="713" name="Google Shape;713;p25"/>
          <p:cNvSpPr/>
          <p:nvPr/>
        </p:nvSpPr>
        <p:spPr>
          <a:xfrm>
            <a:off x="11201400" y="4206240"/>
            <a:ext cx="3383280" cy="3017520"/>
          </a:xfrm>
          <a:prstGeom prst="roundRect">
            <a:avLst>
              <a:gd fmla="val 6666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4" name="Google Shape;714;p25"/>
          <p:cNvSpPr/>
          <p:nvPr/>
        </p:nvSpPr>
        <p:spPr>
          <a:xfrm>
            <a:off x="11475720" y="4206240"/>
            <a:ext cx="2834640" cy="82296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25"/>
          <p:cNvSpPr/>
          <p:nvPr/>
        </p:nvSpPr>
        <p:spPr>
          <a:xfrm>
            <a:off x="11475720" y="4526280"/>
            <a:ext cx="822960" cy="822960"/>
          </a:xfrm>
          <a:prstGeom prst="ellipse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ackage_regular_FFFFFF.png" id="716" name="Google Shape;716;p25"/>
          <p:cNvPicPr preferRelativeResize="0"/>
          <p:nvPr/>
        </p:nvPicPr>
        <p:blipFill rotWithShape="1">
          <a:blip r:embed="rId24">
            <a:alphaModFix/>
          </a:blip>
          <a:srcRect b="0" l="0" r="0" t="0"/>
          <a:stretch/>
        </p:blipFill>
        <p:spPr>
          <a:xfrm>
            <a:off x="11673230" y="4723790"/>
            <a:ext cx="427939" cy="427939"/>
          </a:xfrm>
          <a:prstGeom prst="rect">
            <a:avLst/>
          </a:prstGeom>
          <a:noFill/>
          <a:ln>
            <a:noFill/>
          </a:ln>
        </p:spPr>
      </p:pic>
      <p:sp>
        <p:nvSpPr>
          <p:cNvPr id="717" name="Google Shape;717;p25"/>
          <p:cNvSpPr txBox="1"/>
          <p:nvPr/>
        </p:nvSpPr>
        <p:spPr>
          <a:xfrm>
            <a:off x="12481560" y="4526280"/>
            <a:ext cx="1097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3400" u="none" cap="none" strike="noStrike">
                <a:solidFill>
                  <a:srgbClr val="467CF1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718" name="Google Shape;718;p25"/>
          <p:cNvSpPr txBox="1"/>
          <p:nvPr/>
        </p:nvSpPr>
        <p:spPr>
          <a:xfrm>
            <a:off x="11475720" y="5532120"/>
            <a:ext cx="283464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Entregas frecuentes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s-CO" sz="18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Avanzamos mediante resultados funcionales.</a:t>
            </a:r>
            <a:endParaRPr/>
          </a:p>
        </p:txBody>
      </p:sp>
      <p:sp>
        <p:nvSpPr>
          <p:cNvPr id="719" name="Google Shape;719;p25"/>
          <p:cNvSpPr/>
          <p:nvPr/>
        </p:nvSpPr>
        <p:spPr>
          <a:xfrm>
            <a:off x="14859000" y="4206240"/>
            <a:ext cx="3383280" cy="3017520"/>
          </a:xfrm>
          <a:prstGeom prst="roundRect">
            <a:avLst>
              <a:gd fmla="val 6666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0" name="Google Shape;720;p25"/>
          <p:cNvSpPr/>
          <p:nvPr/>
        </p:nvSpPr>
        <p:spPr>
          <a:xfrm>
            <a:off x="15133320" y="4206240"/>
            <a:ext cx="2834640" cy="82296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25"/>
          <p:cNvSpPr/>
          <p:nvPr/>
        </p:nvSpPr>
        <p:spPr>
          <a:xfrm>
            <a:off x="15133320" y="4526280"/>
            <a:ext cx="822960" cy="822960"/>
          </a:xfrm>
          <a:prstGeom prst="ellipse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handshake_regular_FFFFFF.png" id="722" name="Google Shape;722;p25"/>
          <p:cNvPicPr preferRelativeResize="0"/>
          <p:nvPr/>
        </p:nvPicPr>
        <p:blipFill rotWithShape="1">
          <a:blip r:embed="rId25">
            <a:alphaModFix/>
          </a:blip>
          <a:srcRect b="0" l="0" r="0" t="0"/>
          <a:stretch/>
        </p:blipFill>
        <p:spPr>
          <a:xfrm>
            <a:off x="15330830" y="4723790"/>
            <a:ext cx="427939" cy="427939"/>
          </a:xfrm>
          <a:prstGeom prst="rect">
            <a:avLst/>
          </a:prstGeom>
          <a:noFill/>
          <a:ln>
            <a:noFill/>
          </a:ln>
        </p:spPr>
      </p:pic>
      <p:sp>
        <p:nvSpPr>
          <p:cNvPr id="723" name="Google Shape;723;p25"/>
          <p:cNvSpPr txBox="1"/>
          <p:nvPr/>
        </p:nvSpPr>
        <p:spPr>
          <a:xfrm>
            <a:off x="16139160" y="4526280"/>
            <a:ext cx="1097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34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724" name="Google Shape;724;p25"/>
          <p:cNvSpPr txBox="1"/>
          <p:nvPr/>
        </p:nvSpPr>
        <p:spPr>
          <a:xfrm>
            <a:off x="15133320" y="5532120"/>
            <a:ext cx="283464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Colaboración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s-CO" sz="18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Negocio y equipo trabajan de manera cercana.</a:t>
            </a:r>
            <a:endParaRPr/>
          </a:p>
        </p:txBody>
      </p:sp>
      <p:sp>
        <p:nvSpPr>
          <p:cNvPr id="725" name="Google Shape;725;p25"/>
          <p:cNvSpPr/>
          <p:nvPr/>
        </p:nvSpPr>
        <p:spPr>
          <a:xfrm>
            <a:off x="3886200" y="7589520"/>
            <a:ext cx="14356080" cy="960120"/>
          </a:xfrm>
          <a:prstGeom prst="roundRect">
            <a:avLst>
              <a:gd fmla="val 47619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6" name="Google Shape;726;p25"/>
          <p:cNvSpPr/>
          <p:nvPr/>
        </p:nvSpPr>
        <p:spPr>
          <a:xfrm>
            <a:off x="4983480" y="7726680"/>
            <a:ext cx="2514600" cy="685800"/>
          </a:xfrm>
          <a:prstGeom prst="roundRect">
            <a:avLst>
              <a:gd fmla="val 50000" name="adj"/>
            </a:avLst>
          </a:prstGeom>
          <a:solidFill>
            <a:srgbClr val="664092"/>
          </a:solidFill>
          <a:ln>
            <a:noFill/>
          </a:ln>
        </p:spPr>
        <p:txBody>
          <a:bodyPr anchorCtr="0" anchor="ctr" bIns="73150" lIns="73150" spcFirstLastPara="1" rIns="73150" wrap="square" tIns="7315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Entregar</a:t>
            </a:r>
            <a:endParaRPr/>
          </a:p>
        </p:txBody>
      </p:sp>
      <p:sp>
        <p:nvSpPr>
          <p:cNvPr id="727" name="Google Shape;727;p25"/>
          <p:cNvSpPr txBox="1"/>
          <p:nvPr/>
        </p:nvSpPr>
        <p:spPr>
          <a:xfrm>
            <a:off x="7498080" y="7726680"/>
            <a:ext cx="777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4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728" name="Google Shape;728;p25"/>
          <p:cNvSpPr/>
          <p:nvPr/>
        </p:nvSpPr>
        <p:spPr>
          <a:xfrm>
            <a:off x="8275320" y="7726680"/>
            <a:ext cx="2514600" cy="6858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5875">
            <a:solidFill>
              <a:srgbClr val="C9B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3150" lIns="73150" spcFirstLastPara="1" rIns="73150" wrap="square" tIns="7315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8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Aprender</a:t>
            </a:r>
            <a:endParaRPr/>
          </a:p>
        </p:txBody>
      </p:sp>
      <p:sp>
        <p:nvSpPr>
          <p:cNvPr id="729" name="Google Shape;729;p25"/>
          <p:cNvSpPr txBox="1"/>
          <p:nvPr/>
        </p:nvSpPr>
        <p:spPr>
          <a:xfrm>
            <a:off x="10789920" y="7726680"/>
            <a:ext cx="777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4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730" name="Google Shape;730;p25"/>
          <p:cNvSpPr/>
          <p:nvPr/>
        </p:nvSpPr>
        <p:spPr>
          <a:xfrm>
            <a:off x="11567160" y="7726680"/>
            <a:ext cx="2514600" cy="6858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5875">
            <a:solidFill>
              <a:srgbClr val="C9B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3150" lIns="73150" spcFirstLastPara="1" rIns="73150" wrap="square" tIns="7315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8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Ajustar</a:t>
            </a:r>
            <a:endParaRPr/>
          </a:p>
        </p:txBody>
      </p:sp>
      <p:sp>
        <p:nvSpPr>
          <p:cNvPr id="731" name="Google Shape;731;p25"/>
          <p:cNvSpPr txBox="1"/>
          <p:nvPr/>
        </p:nvSpPr>
        <p:spPr>
          <a:xfrm>
            <a:off x="14081760" y="7726680"/>
            <a:ext cx="777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4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/>
          </a:p>
        </p:txBody>
      </p:sp>
      <p:sp>
        <p:nvSpPr>
          <p:cNvPr id="732" name="Google Shape;732;p25"/>
          <p:cNvSpPr/>
          <p:nvPr/>
        </p:nvSpPr>
        <p:spPr>
          <a:xfrm>
            <a:off x="14859000" y="7726680"/>
            <a:ext cx="2514600" cy="6858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5875">
            <a:solidFill>
              <a:srgbClr val="C9B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3150" lIns="73150" spcFirstLastPara="1" rIns="73150" wrap="square" tIns="7315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8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Continuar</a:t>
            </a:r>
            <a:endParaRPr/>
          </a:p>
        </p:txBody>
      </p:sp>
      <p:sp>
        <p:nvSpPr>
          <p:cNvPr id="56" name="Google Shape;56;p2">
            <a:hlinkClick action="ppaction://hlinksldjump" r:id="rId26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>
            <a:hlinkClick action="ppaction://hlinksldjump" r:id="rId26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26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8" name="Google Shape;738;p26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26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26">
            <a:hlinkClick action="ppaction://hlinksldjump" r:id="rId3"/>
          </p:cNvPr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1" name="Google Shape;741;p26">
            <a:hlinkClick action="ppaction://hlinksldjump" r:id="rId4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Origen y sentido de la agilidad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26">
            <a:hlinkClick action="ppaction://hlinksldjump" r:id="rId5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26">
            <a:hlinkClick action="ppaction://hlinksldjump" r:id="rId6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4 valores fundamentales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4" name="Google Shape;744;p26">
            <a:hlinkClick action="ppaction://hlinksldjump" r:id="rId7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5" name="Google Shape;745;p26">
            <a:hlinkClick action="ppaction://hlinksldjump" r:id="rId8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12 principios rectores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6" name="Google Shape;746;p26">
            <a:hlinkClick action="ppaction://hlinksldjump" r:id="rId9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7" name="Google Shape;747;p26">
            <a:hlinkClick action="ppaction://hlinksldjump" r:id="rId10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3D2159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Factor humano, calidad y mejora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26">
            <a:hlinkClick action="ppaction://hlinksldjump" r:id="rId11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9" name="Google Shape;749;p26">
            <a:hlinkClick action="ppaction://hlinksldjump" r:id="rId12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la práctica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0" name="Google Shape;750;p26">
            <a:hlinkClick action="ppaction://hlinksldjump" r:id="rId13"/>
          </p:cNvPr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1" name="Google Shape;751;p26">
            <a:hlinkClick action="ppaction://hlinksldjump" r:id="rId14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2" name="Google Shape;752;p26">
            <a:hlinkClick action="ppaction://hlinksldjump" r:id="rId15"/>
          </p:cNvPr>
          <p:cNvSpPr/>
          <p:nvPr/>
        </p:nvSpPr>
        <p:spPr>
          <a:xfrm>
            <a:off x="4591655" y="9647639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3" name="Google Shape;753;p26">
            <a:hlinkClick action="ppaction://hlinksldjump" r:id="rId16"/>
          </p:cNvPr>
          <p:cNvSpPr/>
          <p:nvPr/>
        </p:nvSpPr>
        <p:spPr>
          <a:xfrm>
            <a:off x="4591655" y="9588108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4" name="Google Shape;754;p26">
            <a:hlinkClick action="ppaction://hlinksldjump" r:id="rId17"/>
          </p:cNvPr>
          <p:cNvSpPr/>
          <p:nvPr/>
        </p:nvSpPr>
        <p:spPr>
          <a:xfrm>
            <a:off x="6378374" y="9647639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5" name="Google Shape;755;p26">
            <a:hlinkClick action="ppaction://hlinksldjump" r:id="rId18"/>
          </p:cNvPr>
          <p:cNvSpPr/>
          <p:nvPr/>
        </p:nvSpPr>
        <p:spPr>
          <a:xfrm>
            <a:off x="6378374" y="9588108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6" name="Google Shape;756;p26">
            <a:hlinkClick action="ppaction://hlinksldjump" r:id="rId19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26">
            <a:hlinkClick action="ppaction://hlinksldjump" r:id="rId19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58" name="Google Shape;758;p26" title="correcciones sapiencia.png">
            <a:hlinkClick action="ppaction://hlinksldjump" r:id="rId19"/>
          </p:cNvPr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759" name="Google Shape;759;p26">
            <a:hlinkClick action="ppaction://hlinksldjump" r:id="rId19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acción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26"/>
          <p:cNvSpPr txBox="1"/>
          <p:nvPr/>
        </p:nvSpPr>
        <p:spPr>
          <a:xfrm>
            <a:off x="3886200" y="1417320"/>
            <a:ext cx="14356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TEMA 4 · PRINCIPIOS 5 A 8</a:t>
            </a:r>
            <a:endParaRPr/>
          </a:p>
        </p:txBody>
      </p:sp>
      <p:sp>
        <p:nvSpPr>
          <p:cNvPr id="761" name="Google Shape;761;p26"/>
          <p:cNvSpPr txBox="1"/>
          <p:nvPr/>
        </p:nvSpPr>
        <p:spPr>
          <a:xfrm>
            <a:off x="3886200" y="1847088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El factor humano en la agilidad</a:t>
            </a:r>
            <a:endParaRPr/>
          </a:p>
        </p:txBody>
      </p:sp>
      <p:sp>
        <p:nvSpPr>
          <p:cNvPr id="762" name="Google Shape;762;p26"/>
          <p:cNvSpPr/>
          <p:nvPr/>
        </p:nvSpPr>
        <p:spPr>
          <a:xfrm>
            <a:off x="388620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3" name="Google Shape;763;p26"/>
          <p:cNvSpPr/>
          <p:nvPr/>
        </p:nvSpPr>
        <p:spPr>
          <a:xfrm>
            <a:off x="4110228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4" name="Google Shape;764;p26"/>
          <p:cNvSpPr/>
          <p:nvPr/>
        </p:nvSpPr>
        <p:spPr>
          <a:xfrm>
            <a:off x="4334256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26"/>
          <p:cNvSpPr/>
          <p:nvPr/>
        </p:nvSpPr>
        <p:spPr>
          <a:xfrm>
            <a:off x="4558284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26"/>
          <p:cNvSpPr/>
          <p:nvPr/>
        </p:nvSpPr>
        <p:spPr>
          <a:xfrm>
            <a:off x="4782312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7" name="Google Shape;767;p26"/>
          <p:cNvSpPr/>
          <p:nvPr/>
        </p:nvSpPr>
        <p:spPr>
          <a:xfrm>
            <a:off x="500634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26"/>
          <p:cNvSpPr txBox="1"/>
          <p:nvPr/>
        </p:nvSpPr>
        <p:spPr>
          <a:xfrm>
            <a:off x="3886200" y="3246120"/>
            <a:ext cx="143560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9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Los principios 5 a 8 ponen a las personas en el centro: su motivación, la manera en que se comunican, la forma de medir el avance y el ritmo con el que pueden trabajar de manera sostenible.</a:t>
            </a:r>
            <a:endParaRPr/>
          </a:p>
        </p:txBody>
      </p:sp>
      <p:sp>
        <p:nvSpPr>
          <p:cNvPr id="769" name="Google Shape;769;p26"/>
          <p:cNvSpPr/>
          <p:nvPr/>
        </p:nvSpPr>
        <p:spPr>
          <a:xfrm>
            <a:off x="3886200" y="4251960"/>
            <a:ext cx="3383280" cy="3383280"/>
          </a:xfrm>
          <a:prstGeom prst="roundRect">
            <a:avLst>
              <a:gd fmla="val 5945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0" name="Google Shape;770;p26"/>
          <p:cNvSpPr/>
          <p:nvPr/>
        </p:nvSpPr>
        <p:spPr>
          <a:xfrm>
            <a:off x="4160520" y="4251960"/>
            <a:ext cx="2834640" cy="82296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1" name="Google Shape;771;p26"/>
          <p:cNvSpPr/>
          <p:nvPr/>
        </p:nvSpPr>
        <p:spPr>
          <a:xfrm>
            <a:off x="4160520" y="4572000"/>
            <a:ext cx="822960" cy="822960"/>
          </a:xfrm>
          <a:prstGeom prst="ellipse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smiley_regular_FFFFFF.png" id="772" name="Google Shape;772;p2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4358030" y="4769510"/>
            <a:ext cx="427939" cy="427939"/>
          </a:xfrm>
          <a:prstGeom prst="rect">
            <a:avLst/>
          </a:prstGeom>
          <a:noFill/>
          <a:ln>
            <a:noFill/>
          </a:ln>
        </p:spPr>
      </p:pic>
      <p:sp>
        <p:nvSpPr>
          <p:cNvPr id="773" name="Google Shape;773;p26"/>
          <p:cNvSpPr txBox="1"/>
          <p:nvPr/>
        </p:nvSpPr>
        <p:spPr>
          <a:xfrm>
            <a:off x="5166360" y="4572000"/>
            <a:ext cx="1097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34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774" name="Google Shape;774;p26"/>
          <p:cNvSpPr txBox="1"/>
          <p:nvPr/>
        </p:nvSpPr>
        <p:spPr>
          <a:xfrm>
            <a:off x="4160520" y="5577840"/>
            <a:ext cx="283464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Personas motivadas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s-CO" sz="17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Construimos los proyectos en torno a personas motivadas, con el entorno, el apoyo y la confianza que necesitan.</a:t>
            </a:r>
            <a:endParaRPr/>
          </a:p>
        </p:txBody>
      </p:sp>
      <p:sp>
        <p:nvSpPr>
          <p:cNvPr id="775" name="Google Shape;775;p26"/>
          <p:cNvSpPr/>
          <p:nvPr/>
        </p:nvSpPr>
        <p:spPr>
          <a:xfrm>
            <a:off x="7543800" y="4251960"/>
            <a:ext cx="3383280" cy="3383280"/>
          </a:xfrm>
          <a:prstGeom prst="roundRect">
            <a:avLst>
              <a:gd fmla="val 5945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26"/>
          <p:cNvSpPr/>
          <p:nvPr/>
        </p:nvSpPr>
        <p:spPr>
          <a:xfrm>
            <a:off x="7818120" y="4251960"/>
            <a:ext cx="2834640" cy="82296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7" name="Google Shape;777;p26"/>
          <p:cNvSpPr/>
          <p:nvPr/>
        </p:nvSpPr>
        <p:spPr>
          <a:xfrm>
            <a:off x="7818120" y="4572000"/>
            <a:ext cx="822960" cy="822960"/>
          </a:xfrm>
          <a:prstGeom prst="ellipse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hats-circle_regular_FFFFFF.png" id="778" name="Google Shape;778;p26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8015630" y="4769510"/>
            <a:ext cx="427939" cy="427939"/>
          </a:xfrm>
          <a:prstGeom prst="rect">
            <a:avLst/>
          </a:prstGeom>
          <a:noFill/>
          <a:ln>
            <a:noFill/>
          </a:ln>
        </p:spPr>
      </p:pic>
      <p:sp>
        <p:nvSpPr>
          <p:cNvPr id="779" name="Google Shape;779;p26"/>
          <p:cNvSpPr txBox="1"/>
          <p:nvPr/>
        </p:nvSpPr>
        <p:spPr>
          <a:xfrm>
            <a:off x="8823960" y="4572000"/>
            <a:ext cx="1097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34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/>
          </a:p>
        </p:txBody>
      </p:sp>
      <p:sp>
        <p:nvSpPr>
          <p:cNvPr id="780" name="Google Shape;780;p26"/>
          <p:cNvSpPr txBox="1"/>
          <p:nvPr/>
        </p:nvSpPr>
        <p:spPr>
          <a:xfrm>
            <a:off x="7818120" y="5577840"/>
            <a:ext cx="283464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Conversación directa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s-CO" sz="17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La conversación cara a cara es la forma más eficiente de compartir información en el equipo.</a:t>
            </a:r>
            <a:endParaRPr/>
          </a:p>
        </p:txBody>
      </p:sp>
      <p:sp>
        <p:nvSpPr>
          <p:cNvPr id="781" name="Google Shape;781;p26"/>
          <p:cNvSpPr/>
          <p:nvPr/>
        </p:nvSpPr>
        <p:spPr>
          <a:xfrm>
            <a:off x="11201400" y="4251960"/>
            <a:ext cx="3383280" cy="3383280"/>
          </a:xfrm>
          <a:prstGeom prst="roundRect">
            <a:avLst>
              <a:gd fmla="val 5945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2" name="Google Shape;782;p26"/>
          <p:cNvSpPr/>
          <p:nvPr/>
        </p:nvSpPr>
        <p:spPr>
          <a:xfrm>
            <a:off x="11475720" y="4251960"/>
            <a:ext cx="2834640" cy="82296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26"/>
          <p:cNvSpPr/>
          <p:nvPr/>
        </p:nvSpPr>
        <p:spPr>
          <a:xfrm>
            <a:off x="11475720" y="4572000"/>
            <a:ext cx="822960" cy="822960"/>
          </a:xfrm>
          <a:prstGeom prst="ellipse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heck-square-offset_regular_FFFFFF.png" id="784" name="Google Shape;784;p26"/>
          <p:cNvPicPr preferRelativeResize="0"/>
          <p:nvPr/>
        </p:nvPicPr>
        <p:blipFill rotWithShape="1">
          <a:blip r:embed="rId24">
            <a:alphaModFix/>
          </a:blip>
          <a:srcRect b="0" l="0" r="0" t="0"/>
          <a:stretch/>
        </p:blipFill>
        <p:spPr>
          <a:xfrm>
            <a:off x="11673230" y="4769510"/>
            <a:ext cx="427939" cy="427939"/>
          </a:xfrm>
          <a:prstGeom prst="rect">
            <a:avLst/>
          </a:prstGeom>
          <a:noFill/>
          <a:ln>
            <a:noFill/>
          </a:ln>
        </p:spPr>
      </p:pic>
      <p:sp>
        <p:nvSpPr>
          <p:cNvPr id="785" name="Google Shape;785;p26"/>
          <p:cNvSpPr txBox="1"/>
          <p:nvPr/>
        </p:nvSpPr>
        <p:spPr>
          <a:xfrm>
            <a:off x="12481560" y="4572000"/>
            <a:ext cx="1097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3400" u="none" cap="none" strike="noStrike">
                <a:solidFill>
                  <a:srgbClr val="467CF1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/>
          </a:p>
        </p:txBody>
      </p:sp>
      <p:sp>
        <p:nvSpPr>
          <p:cNvPr id="786" name="Google Shape;786;p26"/>
          <p:cNvSpPr txBox="1"/>
          <p:nvPr/>
        </p:nvSpPr>
        <p:spPr>
          <a:xfrm>
            <a:off x="11475720" y="5577840"/>
            <a:ext cx="283464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Software funcionando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s-CO" sz="17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El resultado funcional es la principal medida de progreso.</a:t>
            </a:r>
            <a:endParaRPr/>
          </a:p>
        </p:txBody>
      </p:sp>
      <p:sp>
        <p:nvSpPr>
          <p:cNvPr id="787" name="Google Shape;787;p26"/>
          <p:cNvSpPr/>
          <p:nvPr/>
        </p:nvSpPr>
        <p:spPr>
          <a:xfrm>
            <a:off x="14859000" y="4251960"/>
            <a:ext cx="3383280" cy="3383280"/>
          </a:xfrm>
          <a:prstGeom prst="roundRect">
            <a:avLst>
              <a:gd fmla="val 5945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26"/>
          <p:cNvSpPr/>
          <p:nvPr/>
        </p:nvSpPr>
        <p:spPr>
          <a:xfrm>
            <a:off x="15133320" y="4251960"/>
            <a:ext cx="2834640" cy="82296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9" name="Google Shape;789;p26"/>
          <p:cNvSpPr/>
          <p:nvPr/>
        </p:nvSpPr>
        <p:spPr>
          <a:xfrm>
            <a:off x="15133320" y="4572000"/>
            <a:ext cx="822960" cy="822960"/>
          </a:xfrm>
          <a:prstGeom prst="ellipse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heartbeat_regular_FFFFFF.png" id="790" name="Google Shape;790;p26"/>
          <p:cNvPicPr preferRelativeResize="0"/>
          <p:nvPr/>
        </p:nvPicPr>
        <p:blipFill rotWithShape="1">
          <a:blip r:embed="rId25">
            <a:alphaModFix/>
          </a:blip>
          <a:srcRect b="0" l="0" r="0" t="0"/>
          <a:stretch/>
        </p:blipFill>
        <p:spPr>
          <a:xfrm>
            <a:off x="15330830" y="4769510"/>
            <a:ext cx="427939" cy="427939"/>
          </a:xfrm>
          <a:prstGeom prst="rect">
            <a:avLst/>
          </a:prstGeom>
          <a:noFill/>
          <a:ln>
            <a:noFill/>
          </a:ln>
        </p:spPr>
      </p:pic>
      <p:sp>
        <p:nvSpPr>
          <p:cNvPr id="791" name="Google Shape;791;p26"/>
          <p:cNvSpPr txBox="1"/>
          <p:nvPr/>
        </p:nvSpPr>
        <p:spPr>
          <a:xfrm>
            <a:off x="16139160" y="4572000"/>
            <a:ext cx="10972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34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/>
          </a:p>
        </p:txBody>
      </p:sp>
      <p:sp>
        <p:nvSpPr>
          <p:cNvPr id="792" name="Google Shape;792;p26"/>
          <p:cNvSpPr txBox="1"/>
          <p:nvPr/>
        </p:nvSpPr>
        <p:spPr>
          <a:xfrm>
            <a:off x="15133320" y="5577840"/>
            <a:ext cx="283464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Ritmo sostenible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s-CO" sz="17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Promotores, equipo y usuarios deben poder mantener un ritmo constante de forma indefinida.</a:t>
            </a:r>
            <a:endParaRPr/>
          </a:p>
        </p:txBody>
      </p:sp>
      <p:sp>
        <p:nvSpPr>
          <p:cNvPr id="793" name="Google Shape;793;p26"/>
          <p:cNvSpPr/>
          <p:nvPr/>
        </p:nvSpPr>
        <p:spPr>
          <a:xfrm>
            <a:off x="3886200" y="7909560"/>
            <a:ext cx="14356080" cy="868680"/>
          </a:xfrm>
          <a:prstGeom prst="roundRect">
            <a:avLst>
              <a:gd fmla="val 31578" name="adj"/>
            </a:avLst>
          </a:prstGeom>
          <a:gradFill>
            <a:gsLst>
              <a:gs pos="0">
                <a:srgbClr val="467CF1"/>
              </a:gs>
              <a:gs pos="100000">
                <a:srgbClr val="664092"/>
              </a:gs>
            </a:gsLst>
            <a:lin ang="81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sers-three_regular_FFFFFF.png" id="794" name="Google Shape;794;p26"/>
          <p:cNvPicPr preferRelativeResize="0"/>
          <p:nvPr/>
        </p:nvPicPr>
        <p:blipFill rotWithShape="1">
          <a:blip r:embed="rId26">
            <a:alphaModFix/>
          </a:blip>
          <a:srcRect b="0" l="0" r="0" t="0"/>
          <a:stretch/>
        </p:blipFill>
        <p:spPr>
          <a:xfrm>
            <a:off x="4206240" y="8060436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795" name="Google Shape;795;p26"/>
          <p:cNvSpPr txBox="1"/>
          <p:nvPr/>
        </p:nvSpPr>
        <p:spPr>
          <a:xfrm>
            <a:off x="5029200" y="7909560"/>
            <a:ext cx="128473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Sin personas motivadas y bien comunicadas, ningún proceso ágil se sostiene.</a:t>
            </a:r>
            <a:endParaRPr/>
          </a:p>
        </p:txBody>
      </p:sp>
      <p:sp>
        <p:nvSpPr>
          <p:cNvPr id="56" name="Google Shape;56;p2">
            <a:hlinkClick action="ppaction://hlinksldjump" r:id="rId27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>
            <a:hlinkClick action="ppaction://hlinksldjump" r:id="rId27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9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p27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1" name="Google Shape;801;p27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2" name="Google Shape;802;p27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3" name="Google Shape;803;p27">
            <a:hlinkClick action="ppaction://hlinksldjump" r:id="rId3"/>
          </p:cNvPr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4" name="Google Shape;804;p27">
            <a:hlinkClick action="ppaction://hlinksldjump" r:id="rId4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Origen y sentido de la agilidad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5" name="Google Shape;805;p27">
            <a:hlinkClick action="ppaction://hlinksldjump" r:id="rId5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6" name="Google Shape;806;p27">
            <a:hlinkClick action="ppaction://hlinksldjump" r:id="rId6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4 valores fundamentales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7" name="Google Shape;807;p27">
            <a:hlinkClick action="ppaction://hlinksldjump" r:id="rId7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8" name="Google Shape;808;p27">
            <a:hlinkClick action="ppaction://hlinksldjump" r:id="rId8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12 principios rectores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9" name="Google Shape;809;p27">
            <a:hlinkClick action="ppaction://hlinksldjump" r:id="rId9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0" name="Google Shape;810;p27">
            <a:hlinkClick action="ppaction://hlinksldjump" r:id="rId10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3D2159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Factor humano, calidad y mejora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1" name="Google Shape;811;p27">
            <a:hlinkClick action="ppaction://hlinksldjump" r:id="rId11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2" name="Google Shape;812;p27">
            <a:hlinkClick action="ppaction://hlinksldjump" r:id="rId12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la práctica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3" name="Google Shape;813;p27">
            <a:hlinkClick action="ppaction://hlinksldjump" r:id="rId13"/>
          </p:cNvPr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4" name="Google Shape;814;p27">
            <a:hlinkClick action="ppaction://hlinksldjump" r:id="rId14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5" name="Google Shape;815;p27">
            <a:hlinkClick action="ppaction://hlinksldjump" r:id="rId15"/>
          </p:cNvPr>
          <p:cNvSpPr/>
          <p:nvPr/>
        </p:nvSpPr>
        <p:spPr>
          <a:xfrm>
            <a:off x="4591655" y="9647639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6" name="Google Shape;816;p27">
            <a:hlinkClick action="ppaction://hlinksldjump" r:id="rId16"/>
          </p:cNvPr>
          <p:cNvSpPr/>
          <p:nvPr/>
        </p:nvSpPr>
        <p:spPr>
          <a:xfrm>
            <a:off x="4591655" y="9588108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7" name="Google Shape;817;p27">
            <a:hlinkClick action="ppaction://hlinksldjump" r:id="rId17"/>
          </p:cNvPr>
          <p:cNvSpPr/>
          <p:nvPr/>
        </p:nvSpPr>
        <p:spPr>
          <a:xfrm>
            <a:off x="6378374" y="9647639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8" name="Google Shape;818;p27">
            <a:hlinkClick action="ppaction://hlinksldjump" r:id="rId18"/>
          </p:cNvPr>
          <p:cNvSpPr/>
          <p:nvPr/>
        </p:nvSpPr>
        <p:spPr>
          <a:xfrm>
            <a:off x="6378374" y="9588108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9" name="Google Shape;819;p27">
            <a:hlinkClick action="ppaction://hlinksldjump" r:id="rId19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0" name="Google Shape;820;p27">
            <a:hlinkClick action="ppaction://hlinksldjump" r:id="rId19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21" name="Google Shape;821;p27" title="correcciones sapiencia.png">
            <a:hlinkClick action="ppaction://hlinksldjump" r:id="rId19"/>
          </p:cNvPr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822" name="Google Shape;822;p27">
            <a:hlinkClick action="ppaction://hlinksldjump" r:id="rId19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acción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3" name="Google Shape;823;p27"/>
          <p:cNvSpPr txBox="1"/>
          <p:nvPr/>
        </p:nvSpPr>
        <p:spPr>
          <a:xfrm>
            <a:off x="3886200" y="1417320"/>
            <a:ext cx="14356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TEMA 4 · PRINCIPIOS 9 A 12</a:t>
            </a:r>
            <a:endParaRPr/>
          </a:p>
        </p:txBody>
      </p:sp>
      <p:sp>
        <p:nvSpPr>
          <p:cNvPr id="824" name="Google Shape;824;p27"/>
          <p:cNvSpPr txBox="1"/>
          <p:nvPr/>
        </p:nvSpPr>
        <p:spPr>
          <a:xfrm>
            <a:off x="3886200" y="1847088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Calidad, simplicidad y mejora continua</a:t>
            </a:r>
            <a:endParaRPr/>
          </a:p>
        </p:txBody>
      </p:sp>
      <p:sp>
        <p:nvSpPr>
          <p:cNvPr id="825" name="Google Shape;825;p27"/>
          <p:cNvSpPr/>
          <p:nvPr/>
        </p:nvSpPr>
        <p:spPr>
          <a:xfrm>
            <a:off x="388620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6" name="Google Shape;826;p27"/>
          <p:cNvSpPr/>
          <p:nvPr/>
        </p:nvSpPr>
        <p:spPr>
          <a:xfrm>
            <a:off x="4110228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7" name="Google Shape;827;p27"/>
          <p:cNvSpPr/>
          <p:nvPr/>
        </p:nvSpPr>
        <p:spPr>
          <a:xfrm>
            <a:off x="4334256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27"/>
          <p:cNvSpPr/>
          <p:nvPr/>
        </p:nvSpPr>
        <p:spPr>
          <a:xfrm>
            <a:off x="4558284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27"/>
          <p:cNvSpPr/>
          <p:nvPr/>
        </p:nvSpPr>
        <p:spPr>
          <a:xfrm>
            <a:off x="4782312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27"/>
          <p:cNvSpPr/>
          <p:nvPr/>
        </p:nvSpPr>
        <p:spPr>
          <a:xfrm>
            <a:off x="500634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27"/>
          <p:cNvSpPr txBox="1"/>
          <p:nvPr/>
        </p:nvSpPr>
        <p:spPr>
          <a:xfrm>
            <a:off x="3886200" y="3246120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9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El cierre de los doce principios consolida las bases técnicas y metodológicas para construir soluciones sostenibles, eficientes y reflexivas.</a:t>
            </a:r>
            <a:endParaRPr/>
          </a:p>
        </p:txBody>
      </p:sp>
      <p:sp>
        <p:nvSpPr>
          <p:cNvPr id="832" name="Google Shape;832;p27"/>
          <p:cNvSpPr/>
          <p:nvPr/>
        </p:nvSpPr>
        <p:spPr>
          <a:xfrm>
            <a:off x="3886200" y="4160520"/>
            <a:ext cx="7018020" cy="1554480"/>
          </a:xfrm>
          <a:prstGeom prst="roundRect">
            <a:avLst>
              <a:gd fmla="val 12941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27"/>
          <p:cNvSpPr/>
          <p:nvPr/>
        </p:nvSpPr>
        <p:spPr>
          <a:xfrm>
            <a:off x="4160520" y="4503420"/>
            <a:ext cx="868680" cy="868680"/>
          </a:xfrm>
          <a:prstGeom prst="ellipse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gear_regular_FFFFFF.png" id="834" name="Google Shape;834;p27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4369003" y="4711903"/>
            <a:ext cx="451714" cy="451714"/>
          </a:xfrm>
          <a:prstGeom prst="rect">
            <a:avLst/>
          </a:prstGeom>
          <a:noFill/>
          <a:ln>
            <a:noFill/>
          </a:ln>
        </p:spPr>
      </p:pic>
      <p:sp>
        <p:nvSpPr>
          <p:cNvPr id="835" name="Google Shape;835;p27"/>
          <p:cNvSpPr txBox="1"/>
          <p:nvPr/>
        </p:nvSpPr>
        <p:spPr>
          <a:xfrm>
            <a:off x="5303520" y="4251960"/>
            <a:ext cx="532638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9. Excelencia técnica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s-CO" sz="17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La atención continua a la calidad y al buen diseño potencia la capacidad de adaptación.</a:t>
            </a:r>
            <a:endParaRPr/>
          </a:p>
        </p:txBody>
      </p:sp>
      <p:sp>
        <p:nvSpPr>
          <p:cNvPr id="836" name="Google Shape;836;p27"/>
          <p:cNvSpPr/>
          <p:nvPr/>
        </p:nvSpPr>
        <p:spPr>
          <a:xfrm>
            <a:off x="3886200" y="4434840"/>
            <a:ext cx="82296" cy="1005840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27"/>
          <p:cNvSpPr/>
          <p:nvPr/>
        </p:nvSpPr>
        <p:spPr>
          <a:xfrm>
            <a:off x="11224260" y="4160520"/>
            <a:ext cx="7018020" cy="1554480"/>
          </a:xfrm>
          <a:prstGeom prst="roundRect">
            <a:avLst>
              <a:gd fmla="val 12941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27"/>
          <p:cNvSpPr/>
          <p:nvPr/>
        </p:nvSpPr>
        <p:spPr>
          <a:xfrm>
            <a:off x="11498580" y="4503420"/>
            <a:ext cx="868680" cy="868680"/>
          </a:xfrm>
          <a:prstGeom prst="ellipse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eather_regular_FFFFFF.png" id="839" name="Google Shape;839;p27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11707063" y="4711903"/>
            <a:ext cx="451714" cy="451714"/>
          </a:xfrm>
          <a:prstGeom prst="rect">
            <a:avLst/>
          </a:prstGeom>
          <a:noFill/>
          <a:ln>
            <a:noFill/>
          </a:ln>
        </p:spPr>
      </p:pic>
      <p:sp>
        <p:nvSpPr>
          <p:cNvPr id="840" name="Google Shape;840;p27"/>
          <p:cNvSpPr txBox="1"/>
          <p:nvPr/>
        </p:nvSpPr>
        <p:spPr>
          <a:xfrm>
            <a:off x="12641580" y="4251960"/>
            <a:ext cx="532638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10. Simplicidad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s-CO" sz="17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Maximizar la cantidad de trabajo no realizado es esencial para concentrar los recursos en lo relevante.</a:t>
            </a:r>
            <a:endParaRPr/>
          </a:p>
        </p:txBody>
      </p:sp>
      <p:sp>
        <p:nvSpPr>
          <p:cNvPr id="841" name="Google Shape;841;p27"/>
          <p:cNvSpPr/>
          <p:nvPr/>
        </p:nvSpPr>
        <p:spPr>
          <a:xfrm>
            <a:off x="11224260" y="4434840"/>
            <a:ext cx="82296" cy="1005840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27"/>
          <p:cNvSpPr/>
          <p:nvPr/>
        </p:nvSpPr>
        <p:spPr>
          <a:xfrm>
            <a:off x="3886200" y="5943600"/>
            <a:ext cx="7018020" cy="1554480"/>
          </a:xfrm>
          <a:prstGeom prst="roundRect">
            <a:avLst>
              <a:gd fmla="val 12941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27"/>
          <p:cNvSpPr/>
          <p:nvPr/>
        </p:nvSpPr>
        <p:spPr>
          <a:xfrm>
            <a:off x="4160520" y="6286500"/>
            <a:ext cx="868680" cy="868680"/>
          </a:xfrm>
          <a:prstGeom prst="ellipse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sers-three_regular_FFFFFF.png" id="844" name="Google Shape;844;p27"/>
          <p:cNvPicPr preferRelativeResize="0"/>
          <p:nvPr/>
        </p:nvPicPr>
        <p:blipFill rotWithShape="1">
          <a:blip r:embed="rId24">
            <a:alphaModFix/>
          </a:blip>
          <a:srcRect b="0" l="0" r="0" t="0"/>
          <a:stretch/>
        </p:blipFill>
        <p:spPr>
          <a:xfrm>
            <a:off x="4369003" y="6494983"/>
            <a:ext cx="451714" cy="451714"/>
          </a:xfrm>
          <a:prstGeom prst="rect">
            <a:avLst/>
          </a:prstGeom>
          <a:noFill/>
          <a:ln>
            <a:noFill/>
          </a:ln>
        </p:spPr>
      </p:pic>
      <p:sp>
        <p:nvSpPr>
          <p:cNvPr id="845" name="Google Shape;845;p27"/>
          <p:cNvSpPr txBox="1"/>
          <p:nvPr/>
        </p:nvSpPr>
        <p:spPr>
          <a:xfrm>
            <a:off x="5303520" y="6035040"/>
            <a:ext cx="532638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11. Autoorganización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s-CO" sz="17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Las mejores arquitecturas, requisitos y diseños emergen de equipos que gestionan su propio trabajo.</a:t>
            </a:r>
            <a:endParaRPr/>
          </a:p>
        </p:txBody>
      </p:sp>
      <p:sp>
        <p:nvSpPr>
          <p:cNvPr id="846" name="Google Shape;846;p27"/>
          <p:cNvSpPr/>
          <p:nvPr/>
        </p:nvSpPr>
        <p:spPr>
          <a:xfrm>
            <a:off x="3886200" y="6217920"/>
            <a:ext cx="82296" cy="1005840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27"/>
          <p:cNvSpPr/>
          <p:nvPr/>
        </p:nvSpPr>
        <p:spPr>
          <a:xfrm>
            <a:off x="11224260" y="5943600"/>
            <a:ext cx="7018020" cy="1554480"/>
          </a:xfrm>
          <a:prstGeom prst="roundRect">
            <a:avLst>
              <a:gd fmla="val 12941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27"/>
          <p:cNvSpPr/>
          <p:nvPr/>
        </p:nvSpPr>
        <p:spPr>
          <a:xfrm>
            <a:off x="11498580" y="6286500"/>
            <a:ext cx="868680" cy="868680"/>
          </a:xfrm>
          <a:prstGeom prst="ellipse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rrows-clockwise_regular_FFFFFF.png" id="849" name="Google Shape;849;p27"/>
          <p:cNvPicPr preferRelativeResize="0"/>
          <p:nvPr/>
        </p:nvPicPr>
        <p:blipFill rotWithShape="1">
          <a:blip r:embed="rId25">
            <a:alphaModFix/>
          </a:blip>
          <a:srcRect b="0" l="0" r="0" t="0"/>
          <a:stretch/>
        </p:blipFill>
        <p:spPr>
          <a:xfrm>
            <a:off x="11707063" y="6494983"/>
            <a:ext cx="451714" cy="451714"/>
          </a:xfrm>
          <a:prstGeom prst="rect">
            <a:avLst/>
          </a:prstGeom>
          <a:noFill/>
          <a:ln>
            <a:noFill/>
          </a:ln>
        </p:spPr>
      </p:pic>
      <p:sp>
        <p:nvSpPr>
          <p:cNvPr id="850" name="Google Shape;850;p27"/>
          <p:cNvSpPr txBox="1"/>
          <p:nvPr/>
        </p:nvSpPr>
        <p:spPr>
          <a:xfrm>
            <a:off x="12641580" y="6035040"/>
            <a:ext cx="532638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12. Mejora continua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s-CO" sz="17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A intervalos regulares, el equipo reflexiona sobre cómo ser más eficaz y ajusta su comportamiento.</a:t>
            </a:r>
            <a:endParaRPr/>
          </a:p>
        </p:txBody>
      </p:sp>
      <p:sp>
        <p:nvSpPr>
          <p:cNvPr id="851" name="Google Shape;851;p27"/>
          <p:cNvSpPr/>
          <p:nvPr/>
        </p:nvSpPr>
        <p:spPr>
          <a:xfrm>
            <a:off x="11224260" y="6217920"/>
            <a:ext cx="82296" cy="100584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27"/>
          <p:cNvSpPr/>
          <p:nvPr/>
        </p:nvSpPr>
        <p:spPr>
          <a:xfrm>
            <a:off x="3886200" y="7726680"/>
            <a:ext cx="14356080" cy="1097280"/>
          </a:xfrm>
          <a:prstGeom prst="roundRect">
            <a:avLst>
              <a:gd fmla="val 25000" name="adj"/>
            </a:avLst>
          </a:prstGeom>
          <a:gradFill>
            <a:gsLst>
              <a:gs pos="0">
                <a:srgbClr val="467CF1"/>
              </a:gs>
              <a:gs pos="100000">
                <a:srgbClr val="664092"/>
              </a:gs>
            </a:gsLst>
            <a:lin ang="81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hart-line-up_regular_FFFFFF.png" id="853" name="Google Shape;853;p27"/>
          <p:cNvPicPr preferRelativeResize="0"/>
          <p:nvPr/>
        </p:nvPicPr>
        <p:blipFill rotWithShape="1">
          <a:blip r:embed="rId26">
            <a:alphaModFix/>
          </a:blip>
          <a:srcRect b="0" l="0" r="0" t="0"/>
          <a:stretch/>
        </p:blipFill>
        <p:spPr>
          <a:xfrm>
            <a:off x="4206240" y="7991856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854" name="Google Shape;854;p27"/>
          <p:cNvSpPr txBox="1"/>
          <p:nvPr/>
        </p:nvSpPr>
        <p:spPr>
          <a:xfrm>
            <a:off x="5029200" y="7726680"/>
            <a:ext cx="128473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 agilidad busca la eficiencia sin comprometer la calidad, aprendiendo en cada iteración para perfeccionar el resultado.</a:t>
            </a:r>
            <a:endParaRPr/>
          </a:p>
        </p:txBody>
      </p:sp>
      <p:sp>
        <p:nvSpPr>
          <p:cNvPr id="56" name="Google Shape;56;p2">
            <a:hlinkClick action="ppaction://hlinksldjump" r:id="rId27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>
            <a:hlinkClick action="ppaction://hlinksldjump" r:id="rId27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8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Google Shape;859;p28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28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1" name="Google Shape;861;p28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28">
            <a:hlinkClick action="ppaction://hlinksldjump" r:id="rId3"/>
          </p:cNvPr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3" name="Google Shape;863;p28">
            <a:hlinkClick action="ppaction://hlinksldjump" r:id="rId4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Origen y sentido de la agilidad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28">
            <a:hlinkClick action="ppaction://hlinksldjump" r:id="rId5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5" name="Google Shape;865;p28">
            <a:hlinkClick action="ppaction://hlinksldjump" r:id="rId6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4 valores fundamentales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28">
            <a:hlinkClick action="ppaction://hlinksldjump" r:id="rId7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7" name="Google Shape;867;p28">
            <a:hlinkClick action="ppaction://hlinksldjump" r:id="rId8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12 principios rectores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28">
            <a:hlinkClick action="ppaction://hlinksldjump" r:id="rId9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28">
            <a:hlinkClick action="ppaction://hlinksldjump" r:id="rId10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3D2159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Factor humano, calidad y mejora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0" name="Google Shape;870;p28">
            <a:hlinkClick action="ppaction://hlinksldjump" r:id="rId11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1" name="Google Shape;871;p28">
            <a:hlinkClick action="ppaction://hlinksldjump" r:id="rId12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la práctica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28">
            <a:hlinkClick action="ppaction://hlinksldjump" r:id="rId13"/>
          </p:cNvPr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3" name="Google Shape;873;p28">
            <a:hlinkClick action="ppaction://hlinksldjump" r:id="rId14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28">
            <a:hlinkClick action="ppaction://hlinksldjump" r:id="rId15"/>
          </p:cNvPr>
          <p:cNvSpPr/>
          <p:nvPr/>
        </p:nvSpPr>
        <p:spPr>
          <a:xfrm>
            <a:off x="4591655" y="9647639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5" name="Google Shape;875;p28">
            <a:hlinkClick action="ppaction://hlinksldjump" r:id="rId16"/>
          </p:cNvPr>
          <p:cNvSpPr/>
          <p:nvPr/>
        </p:nvSpPr>
        <p:spPr>
          <a:xfrm>
            <a:off x="4591655" y="9588108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6" name="Google Shape;876;p28">
            <a:hlinkClick action="ppaction://hlinksldjump" r:id="rId17"/>
          </p:cNvPr>
          <p:cNvSpPr/>
          <p:nvPr/>
        </p:nvSpPr>
        <p:spPr>
          <a:xfrm>
            <a:off x="6378374" y="9647639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7" name="Google Shape;877;p28">
            <a:hlinkClick action="ppaction://hlinksldjump" r:id="rId18"/>
          </p:cNvPr>
          <p:cNvSpPr/>
          <p:nvPr/>
        </p:nvSpPr>
        <p:spPr>
          <a:xfrm>
            <a:off x="6378374" y="9588108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8" name="Google Shape;878;p28">
            <a:hlinkClick action="ppaction://hlinksldjump" r:id="rId19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9" name="Google Shape;879;p28">
            <a:hlinkClick action="ppaction://hlinksldjump" r:id="rId19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80" name="Google Shape;880;p28" title="correcciones sapiencia.png">
            <a:hlinkClick action="ppaction://hlinksldjump" r:id="rId19"/>
          </p:cNvPr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881" name="Google Shape;881;p28">
            <a:hlinkClick action="ppaction://hlinksldjump" r:id="rId19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acción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2" name="Google Shape;882;p28"/>
          <p:cNvSpPr txBox="1"/>
          <p:nvPr/>
        </p:nvSpPr>
        <p:spPr>
          <a:xfrm>
            <a:off x="3886200" y="1417320"/>
            <a:ext cx="14356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TEMA 4 · SÍNTESIS</a:t>
            </a:r>
            <a:endParaRPr/>
          </a:p>
        </p:txBody>
      </p:sp>
      <p:sp>
        <p:nvSpPr>
          <p:cNvPr id="883" name="Google Shape;883;p28"/>
          <p:cNvSpPr txBox="1"/>
          <p:nvPr/>
        </p:nvSpPr>
        <p:spPr>
          <a:xfrm>
            <a:off x="3886200" y="1847088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Una misma lógica</a:t>
            </a:r>
            <a:endParaRPr/>
          </a:p>
        </p:txBody>
      </p:sp>
      <p:sp>
        <p:nvSpPr>
          <p:cNvPr id="884" name="Google Shape;884;p28"/>
          <p:cNvSpPr/>
          <p:nvPr/>
        </p:nvSpPr>
        <p:spPr>
          <a:xfrm>
            <a:off x="388620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5" name="Google Shape;885;p28"/>
          <p:cNvSpPr/>
          <p:nvPr/>
        </p:nvSpPr>
        <p:spPr>
          <a:xfrm>
            <a:off x="4110228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6" name="Google Shape;886;p28"/>
          <p:cNvSpPr/>
          <p:nvPr/>
        </p:nvSpPr>
        <p:spPr>
          <a:xfrm>
            <a:off x="4334256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7" name="Google Shape;887;p28"/>
          <p:cNvSpPr/>
          <p:nvPr/>
        </p:nvSpPr>
        <p:spPr>
          <a:xfrm>
            <a:off x="4558284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8" name="Google Shape;888;p28"/>
          <p:cNvSpPr/>
          <p:nvPr/>
        </p:nvSpPr>
        <p:spPr>
          <a:xfrm>
            <a:off x="4782312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28"/>
          <p:cNvSpPr/>
          <p:nvPr/>
        </p:nvSpPr>
        <p:spPr>
          <a:xfrm>
            <a:off x="500634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0" name="Google Shape;890;p28"/>
          <p:cNvSpPr txBox="1"/>
          <p:nvPr/>
        </p:nvSpPr>
        <p:spPr>
          <a:xfrm>
            <a:off x="3886200" y="3200400"/>
            <a:ext cx="1435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s-CO" sz="22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¿Qué tienen en común los valores y principios ágiles?</a:t>
            </a:r>
            <a:endParaRPr/>
          </a:p>
        </p:txBody>
      </p:sp>
      <p:sp>
        <p:nvSpPr>
          <p:cNvPr id="891" name="Google Shape;891;p28"/>
          <p:cNvSpPr/>
          <p:nvPr/>
        </p:nvSpPr>
        <p:spPr>
          <a:xfrm>
            <a:off x="3886200" y="3977640"/>
            <a:ext cx="5074920" cy="1508760"/>
          </a:xfrm>
          <a:prstGeom prst="roundRect">
            <a:avLst>
              <a:gd fmla="val 13333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2" name="Google Shape;892;p28"/>
          <p:cNvSpPr/>
          <p:nvPr/>
        </p:nvSpPr>
        <p:spPr>
          <a:xfrm>
            <a:off x="4160520" y="4297680"/>
            <a:ext cx="868680" cy="868680"/>
          </a:xfrm>
          <a:prstGeom prst="ellipse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handshake_regular_FFFFFF.png" id="893" name="Google Shape;893;p28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4369003" y="4506163"/>
            <a:ext cx="451714" cy="451714"/>
          </a:xfrm>
          <a:prstGeom prst="rect">
            <a:avLst/>
          </a:prstGeom>
          <a:noFill/>
          <a:ln>
            <a:noFill/>
          </a:ln>
        </p:spPr>
      </p:pic>
      <p:sp>
        <p:nvSpPr>
          <p:cNvPr id="894" name="Google Shape;894;p28"/>
          <p:cNvSpPr txBox="1"/>
          <p:nvPr/>
        </p:nvSpPr>
        <p:spPr>
          <a:xfrm>
            <a:off x="5303520" y="4069080"/>
            <a:ext cx="338328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COLABORAR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s-CO" sz="18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Trabajamos con otros.</a:t>
            </a:r>
            <a:endParaRPr/>
          </a:p>
        </p:txBody>
      </p:sp>
      <p:sp>
        <p:nvSpPr>
          <p:cNvPr id="895" name="Google Shape;895;p28"/>
          <p:cNvSpPr/>
          <p:nvPr/>
        </p:nvSpPr>
        <p:spPr>
          <a:xfrm>
            <a:off x="3886200" y="4251960"/>
            <a:ext cx="82296" cy="960120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6" name="Google Shape;896;p28"/>
          <p:cNvSpPr/>
          <p:nvPr/>
        </p:nvSpPr>
        <p:spPr>
          <a:xfrm>
            <a:off x="13167360" y="3977640"/>
            <a:ext cx="5074920" cy="1508760"/>
          </a:xfrm>
          <a:prstGeom prst="roundRect">
            <a:avLst>
              <a:gd fmla="val 13333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7" name="Google Shape;897;p28"/>
          <p:cNvSpPr/>
          <p:nvPr/>
        </p:nvSpPr>
        <p:spPr>
          <a:xfrm>
            <a:off x="13441680" y="4297680"/>
            <a:ext cx="868680" cy="868680"/>
          </a:xfrm>
          <a:prstGeom prst="ellipse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ackage_regular_FFFFFF.png" id="898" name="Google Shape;898;p28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13650163" y="4506163"/>
            <a:ext cx="451714" cy="451714"/>
          </a:xfrm>
          <a:prstGeom prst="rect">
            <a:avLst/>
          </a:prstGeom>
          <a:noFill/>
          <a:ln>
            <a:noFill/>
          </a:ln>
        </p:spPr>
      </p:pic>
      <p:sp>
        <p:nvSpPr>
          <p:cNvPr id="899" name="Google Shape;899;p28"/>
          <p:cNvSpPr txBox="1"/>
          <p:nvPr/>
        </p:nvSpPr>
        <p:spPr>
          <a:xfrm>
            <a:off x="14584680" y="4069080"/>
            <a:ext cx="338328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GENERAR VALOR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s-CO" sz="18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Producimos resultados útiles.</a:t>
            </a:r>
            <a:endParaRPr/>
          </a:p>
        </p:txBody>
      </p:sp>
      <p:sp>
        <p:nvSpPr>
          <p:cNvPr id="900" name="Google Shape;900;p28"/>
          <p:cNvSpPr/>
          <p:nvPr/>
        </p:nvSpPr>
        <p:spPr>
          <a:xfrm>
            <a:off x="13167360" y="4251960"/>
            <a:ext cx="82296" cy="960120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" name="Google Shape;901;p28"/>
          <p:cNvSpPr/>
          <p:nvPr/>
        </p:nvSpPr>
        <p:spPr>
          <a:xfrm>
            <a:off x="3886200" y="5897880"/>
            <a:ext cx="5074920" cy="1508760"/>
          </a:xfrm>
          <a:prstGeom prst="roundRect">
            <a:avLst>
              <a:gd fmla="val 13333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2" name="Google Shape;902;p28"/>
          <p:cNvSpPr/>
          <p:nvPr/>
        </p:nvSpPr>
        <p:spPr>
          <a:xfrm>
            <a:off x="4160520" y="6217920"/>
            <a:ext cx="868680" cy="868680"/>
          </a:xfrm>
          <a:prstGeom prst="ellipse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rrows-clockwise_regular_FFFFFF.png" id="903" name="Google Shape;903;p28"/>
          <p:cNvPicPr preferRelativeResize="0"/>
          <p:nvPr/>
        </p:nvPicPr>
        <p:blipFill rotWithShape="1">
          <a:blip r:embed="rId24">
            <a:alphaModFix/>
          </a:blip>
          <a:srcRect b="0" l="0" r="0" t="0"/>
          <a:stretch/>
        </p:blipFill>
        <p:spPr>
          <a:xfrm>
            <a:off x="4369003" y="6426403"/>
            <a:ext cx="451714" cy="451714"/>
          </a:xfrm>
          <a:prstGeom prst="rect">
            <a:avLst/>
          </a:prstGeom>
          <a:noFill/>
          <a:ln>
            <a:noFill/>
          </a:ln>
        </p:spPr>
      </p:pic>
      <p:sp>
        <p:nvSpPr>
          <p:cNvPr id="904" name="Google Shape;904;p28"/>
          <p:cNvSpPr txBox="1"/>
          <p:nvPr/>
        </p:nvSpPr>
        <p:spPr>
          <a:xfrm>
            <a:off x="5303520" y="5989320"/>
            <a:ext cx="338328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ADAPTARNOS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s-CO" sz="18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Respondemos a los cambios.</a:t>
            </a:r>
            <a:endParaRPr/>
          </a:p>
        </p:txBody>
      </p:sp>
      <p:sp>
        <p:nvSpPr>
          <p:cNvPr id="905" name="Google Shape;905;p28"/>
          <p:cNvSpPr/>
          <p:nvPr/>
        </p:nvSpPr>
        <p:spPr>
          <a:xfrm>
            <a:off x="3886200" y="6172200"/>
            <a:ext cx="82296" cy="960120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" name="Google Shape;906;p28"/>
          <p:cNvSpPr/>
          <p:nvPr/>
        </p:nvSpPr>
        <p:spPr>
          <a:xfrm>
            <a:off x="13167360" y="5897880"/>
            <a:ext cx="5074920" cy="1508760"/>
          </a:xfrm>
          <a:prstGeom prst="roundRect">
            <a:avLst>
              <a:gd fmla="val 13333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7" name="Google Shape;907;p28"/>
          <p:cNvSpPr/>
          <p:nvPr/>
        </p:nvSpPr>
        <p:spPr>
          <a:xfrm>
            <a:off x="13441680" y="6217920"/>
            <a:ext cx="868680" cy="868680"/>
          </a:xfrm>
          <a:prstGeom prst="ellipse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ightbulb_regular_FFFFFF.png" id="908" name="Google Shape;908;p28"/>
          <p:cNvPicPr preferRelativeResize="0"/>
          <p:nvPr/>
        </p:nvPicPr>
        <p:blipFill rotWithShape="1">
          <a:blip r:embed="rId25">
            <a:alphaModFix/>
          </a:blip>
          <a:srcRect b="0" l="0" r="0" t="0"/>
          <a:stretch/>
        </p:blipFill>
        <p:spPr>
          <a:xfrm>
            <a:off x="13650163" y="6426403"/>
            <a:ext cx="451714" cy="451714"/>
          </a:xfrm>
          <a:prstGeom prst="rect">
            <a:avLst/>
          </a:prstGeom>
          <a:noFill/>
          <a:ln>
            <a:noFill/>
          </a:ln>
        </p:spPr>
      </p:pic>
      <p:sp>
        <p:nvSpPr>
          <p:cNvPr id="909" name="Google Shape;909;p28"/>
          <p:cNvSpPr txBox="1"/>
          <p:nvPr/>
        </p:nvSpPr>
        <p:spPr>
          <a:xfrm>
            <a:off x="14584680" y="5989320"/>
            <a:ext cx="338328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APRENDER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s-CO" sz="18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Revisamos y mejoramos.</a:t>
            </a:r>
            <a:endParaRPr/>
          </a:p>
        </p:txBody>
      </p:sp>
      <p:sp>
        <p:nvSpPr>
          <p:cNvPr id="910" name="Google Shape;910;p28"/>
          <p:cNvSpPr/>
          <p:nvPr/>
        </p:nvSpPr>
        <p:spPr>
          <a:xfrm>
            <a:off x="13167360" y="6172200"/>
            <a:ext cx="82296" cy="96012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28"/>
          <p:cNvSpPr/>
          <p:nvPr/>
        </p:nvSpPr>
        <p:spPr>
          <a:xfrm>
            <a:off x="9898380" y="4526280"/>
            <a:ext cx="2331720" cy="2331720"/>
          </a:xfrm>
          <a:prstGeom prst="ellipse">
            <a:avLst/>
          </a:prstGeom>
          <a:gradFill>
            <a:gsLst>
              <a:gs pos="0">
                <a:srgbClr val="467CF1"/>
              </a:gs>
              <a:gs pos="100000">
                <a:srgbClr val="664092"/>
              </a:gs>
            </a:gsLst>
            <a:lin ang="13500000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AGILIDAD</a:t>
            </a:r>
            <a:endParaRPr/>
          </a:p>
        </p:txBody>
      </p:sp>
      <p:sp>
        <p:nvSpPr>
          <p:cNvPr id="912" name="Google Shape;912;p28"/>
          <p:cNvSpPr/>
          <p:nvPr/>
        </p:nvSpPr>
        <p:spPr>
          <a:xfrm>
            <a:off x="9733788" y="4361688"/>
            <a:ext cx="2660904" cy="2660904"/>
          </a:xfrm>
          <a:prstGeom prst="ellipse">
            <a:avLst/>
          </a:prstGeom>
          <a:noFill/>
          <a:ln cap="flat" cmpd="sng" w="25400">
            <a:solidFill>
              <a:srgbClr val="C9B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3" name="Google Shape;913;p28"/>
          <p:cNvSpPr/>
          <p:nvPr/>
        </p:nvSpPr>
        <p:spPr>
          <a:xfrm>
            <a:off x="3886200" y="7726680"/>
            <a:ext cx="14356080" cy="868680"/>
          </a:xfrm>
          <a:prstGeom prst="roundRect">
            <a:avLst>
              <a:gd fmla="val 31578" name="adj"/>
            </a:avLst>
          </a:prstGeom>
          <a:gradFill>
            <a:gsLst>
              <a:gs pos="0">
                <a:srgbClr val="467CF1"/>
              </a:gs>
              <a:gs pos="100000">
                <a:srgbClr val="664092"/>
              </a:gs>
            </a:gsLst>
            <a:lin ang="81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target_regular_FFFFFF.png" id="914" name="Google Shape;914;p28"/>
          <p:cNvPicPr preferRelativeResize="0"/>
          <p:nvPr/>
        </p:nvPicPr>
        <p:blipFill rotWithShape="1">
          <a:blip r:embed="rId26">
            <a:alphaModFix/>
          </a:blip>
          <a:srcRect b="0" l="0" r="0" t="0"/>
          <a:stretch/>
        </p:blipFill>
        <p:spPr>
          <a:xfrm>
            <a:off x="4206240" y="7877556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28"/>
          <p:cNvSpPr txBox="1"/>
          <p:nvPr/>
        </p:nvSpPr>
        <p:spPr>
          <a:xfrm>
            <a:off x="5029200" y="7726680"/>
            <a:ext cx="128473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 agilidad convierte el aprendizaje en parte del trabajo.</a:t>
            </a:r>
            <a:endParaRPr/>
          </a:p>
        </p:txBody>
      </p:sp>
      <p:sp>
        <p:nvSpPr>
          <p:cNvPr id="56" name="Google Shape;56;p2">
            <a:hlinkClick action="ppaction://hlinksldjump" r:id="rId27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>
            <a:hlinkClick action="ppaction://hlinksldjump" r:id="rId27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9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Google Shape;920;p29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1" name="Google Shape;921;p29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2" name="Google Shape;922;p29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3" name="Google Shape;923;p29">
            <a:hlinkClick action="ppaction://hlinksldjump" r:id="rId3"/>
          </p:cNvPr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4" name="Google Shape;924;p29">
            <a:hlinkClick action="ppaction://hlinksldjump" r:id="rId4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Origen y sentido de la agilidad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5" name="Google Shape;925;p29">
            <a:hlinkClick action="ppaction://hlinksldjump" r:id="rId5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6" name="Google Shape;926;p29">
            <a:hlinkClick action="ppaction://hlinksldjump" r:id="rId6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4 valores fundamentales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7" name="Google Shape;927;p29">
            <a:hlinkClick action="ppaction://hlinksldjump" r:id="rId7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8" name="Google Shape;928;p29">
            <a:hlinkClick action="ppaction://hlinksldjump" r:id="rId8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12 principios rectores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9" name="Google Shape;929;p29">
            <a:hlinkClick action="ppaction://hlinksldjump" r:id="rId9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0" name="Google Shape;930;p29">
            <a:hlinkClick action="ppaction://hlinksldjump" r:id="rId10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Factor humano, calidad y mejora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1" name="Google Shape;931;p29">
            <a:hlinkClick action="ppaction://hlinksldjump" r:id="rId11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2" name="Google Shape;932;p29">
            <a:hlinkClick action="ppaction://hlinksldjump" r:id="rId12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024791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Agilidad en la práctica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3" name="Google Shape;933;p29">
            <a:hlinkClick action="ppaction://hlinksldjump" r:id="rId13"/>
          </p:cNvPr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4" name="Google Shape;934;p29">
            <a:hlinkClick action="ppaction://hlinksldjump" r:id="rId14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5" name="Google Shape;935;p29">
            <a:hlinkClick action="ppaction://hlinksldjump" r:id="rId15"/>
          </p:cNvPr>
          <p:cNvSpPr/>
          <p:nvPr/>
        </p:nvSpPr>
        <p:spPr>
          <a:xfrm>
            <a:off x="4591655" y="9647639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6" name="Google Shape;936;p29">
            <a:hlinkClick action="ppaction://hlinksldjump" r:id="rId16"/>
          </p:cNvPr>
          <p:cNvSpPr/>
          <p:nvPr/>
        </p:nvSpPr>
        <p:spPr>
          <a:xfrm>
            <a:off x="4591655" y="9588108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7" name="Google Shape;937;p29">
            <a:hlinkClick action="ppaction://hlinksldjump" r:id="rId17"/>
          </p:cNvPr>
          <p:cNvSpPr/>
          <p:nvPr/>
        </p:nvSpPr>
        <p:spPr>
          <a:xfrm>
            <a:off x="6378374" y="9647639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8" name="Google Shape;938;p29">
            <a:hlinkClick action="ppaction://hlinksldjump" r:id="rId18"/>
          </p:cNvPr>
          <p:cNvSpPr/>
          <p:nvPr/>
        </p:nvSpPr>
        <p:spPr>
          <a:xfrm>
            <a:off x="6378374" y="9588108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9" name="Google Shape;939;p29">
            <a:hlinkClick action="ppaction://hlinksldjump" r:id="rId19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0" name="Google Shape;940;p29">
            <a:hlinkClick action="ppaction://hlinksldjump" r:id="rId19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1" name="Google Shape;941;p29" title="correcciones sapiencia.png">
            <a:hlinkClick action="ppaction://hlinksldjump" r:id="rId19"/>
          </p:cNvPr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942" name="Google Shape;942;p29">
            <a:hlinkClick action="ppaction://hlinksldjump" r:id="rId19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acción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3" name="Google Shape;943;p29"/>
          <p:cNvSpPr txBox="1"/>
          <p:nvPr/>
        </p:nvSpPr>
        <p:spPr>
          <a:xfrm>
            <a:off x="3886200" y="1417320"/>
            <a:ext cx="14356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TEMA 5 · AGILIDAD EN LA PRÁCTICA</a:t>
            </a:r>
            <a:endParaRPr/>
          </a:p>
        </p:txBody>
      </p:sp>
      <p:sp>
        <p:nvSpPr>
          <p:cNvPr id="944" name="Google Shape;944;p29"/>
          <p:cNvSpPr txBox="1"/>
          <p:nvPr/>
        </p:nvSpPr>
        <p:spPr>
          <a:xfrm>
            <a:off x="3886200" y="1847088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Ágil y tradicional: dos lógicas de trabajo</a:t>
            </a:r>
            <a:endParaRPr/>
          </a:p>
        </p:txBody>
      </p:sp>
      <p:sp>
        <p:nvSpPr>
          <p:cNvPr id="945" name="Google Shape;945;p29"/>
          <p:cNvSpPr/>
          <p:nvPr/>
        </p:nvSpPr>
        <p:spPr>
          <a:xfrm>
            <a:off x="388620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6" name="Google Shape;946;p29"/>
          <p:cNvSpPr/>
          <p:nvPr/>
        </p:nvSpPr>
        <p:spPr>
          <a:xfrm>
            <a:off x="4110228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7" name="Google Shape;947;p29"/>
          <p:cNvSpPr/>
          <p:nvPr/>
        </p:nvSpPr>
        <p:spPr>
          <a:xfrm>
            <a:off x="4334256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8" name="Google Shape;948;p29"/>
          <p:cNvSpPr/>
          <p:nvPr/>
        </p:nvSpPr>
        <p:spPr>
          <a:xfrm>
            <a:off x="4558284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9" name="Google Shape;949;p29"/>
          <p:cNvSpPr/>
          <p:nvPr/>
        </p:nvSpPr>
        <p:spPr>
          <a:xfrm>
            <a:off x="4782312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0" name="Google Shape;950;p29"/>
          <p:cNvSpPr/>
          <p:nvPr/>
        </p:nvSpPr>
        <p:spPr>
          <a:xfrm>
            <a:off x="500634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1" name="Google Shape;951;p29"/>
          <p:cNvSpPr txBox="1"/>
          <p:nvPr/>
        </p:nvSpPr>
        <p:spPr>
          <a:xfrm>
            <a:off x="3886200" y="3200400"/>
            <a:ext cx="1435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s-CO" sz="20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¿Cuándo conviene planificar de forma predictiva y cuándo adoptar un enfoque adaptativo?</a:t>
            </a:r>
            <a:endParaRPr/>
          </a:p>
        </p:txBody>
      </p:sp>
      <p:sp>
        <p:nvSpPr>
          <p:cNvPr id="952" name="Google Shape;952;p29"/>
          <p:cNvSpPr/>
          <p:nvPr/>
        </p:nvSpPr>
        <p:spPr>
          <a:xfrm>
            <a:off x="6492240" y="3840480"/>
            <a:ext cx="5806440" cy="777240"/>
          </a:xfrm>
          <a:prstGeom prst="roundRect">
            <a:avLst>
              <a:gd fmla="val 23529" name="adj"/>
            </a:avLst>
          </a:prstGeom>
          <a:solidFill>
            <a:srgbClr val="024791"/>
          </a:solidFill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ENFOQUE TRADICIONAL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900" u="none" cap="none" strike="noStrike">
                <a:solidFill>
                  <a:srgbClr val="FFD900"/>
                </a:solidFill>
                <a:latin typeface="Arial"/>
                <a:ea typeface="Arial"/>
                <a:cs typeface="Arial"/>
                <a:sym typeface="Arial"/>
              </a:rPr>
              <a:t>Predicción y control</a:t>
            </a:r>
            <a:endParaRPr/>
          </a:p>
        </p:txBody>
      </p:sp>
      <p:sp>
        <p:nvSpPr>
          <p:cNvPr id="953" name="Google Shape;953;p29"/>
          <p:cNvSpPr/>
          <p:nvPr/>
        </p:nvSpPr>
        <p:spPr>
          <a:xfrm>
            <a:off x="12435840" y="3840480"/>
            <a:ext cx="5806440" cy="777240"/>
          </a:xfrm>
          <a:prstGeom prst="roundRect">
            <a:avLst>
              <a:gd fmla="val 23529" name="adj"/>
            </a:avLst>
          </a:prstGeom>
          <a:solidFill>
            <a:srgbClr val="664092"/>
          </a:solidFill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ENFOQUE ÁGIL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900" u="none" cap="none" strike="noStrike">
                <a:solidFill>
                  <a:srgbClr val="FFD900"/>
                </a:solidFill>
                <a:latin typeface="Arial"/>
                <a:ea typeface="Arial"/>
                <a:cs typeface="Arial"/>
                <a:sym typeface="Arial"/>
              </a:rPr>
              <a:t>Adaptación y valor continuo</a:t>
            </a:r>
            <a:endParaRPr/>
          </a:p>
        </p:txBody>
      </p:sp>
      <p:sp>
        <p:nvSpPr>
          <p:cNvPr id="954" name="Google Shape;954;p29"/>
          <p:cNvSpPr/>
          <p:nvPr/>
        </p:nvSpPr>
        <p:spPr>
          <a:xfrm>
            <a:off x="3886200" y="4727448"/>
            <a:ext cx="14356080" cy="713232"/>
          </a:xfrm>
          <a:prstGeom prst="roundRect">
            <a:avLst>
              <a:gd fmla="val 19230" name="adj"/>
            </a:avLst>
          </a:prstGeom>
          <a:solidFill>
            <a:srgbClr val="FAF9FB"/>
          </a:solidFill>
          <a:ln cap="flat" cmpd="sng" w="12700">
            <a:solidFill>
              <a:srgbClr val="EC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globe_regular_664092.png" id="955" name="Google Shape;955;p29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4069080" y="4892040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956" name="Google Shape;956;p29"/>
          <p:cNvSpPr txBox="1"/>
          <p:nvPr/>
        </p:nvSpPr>
        <p:spPr>
          <a:xfrm>
            <a:off x="4572000" y="4727448"/>
            <a:ext cx="173736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7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Contexto</a:t>
            </a:r>
            <a:endParaRPr/>
          </a:p>
        </p:txBody>
      </p:sp>
      <p:sp>
        <p:nvSpPr>
          <p:cNvPr id="957" name="Google Shape;957;p29"/>
          <p:cNvSpPr txBox="1"/>
          <p:nvPr/>
        </p:nvSpPr>
        <p:spPr>
          <a:xfrm>
            <a:off x="6629400" y="4727448"/>
            <a:ext cx="553212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Requisitos estables, conocidos y con baja incertidumbre.</a:t>
            </a:r>
            <a:endParaRPr/>
          </a:p>
        </p:txBody>
      </p:sp>
      <p:sp>
        <p:nvSpPr>
          <p:cNvPr id="958" name="Google Shape;958;p29"/>
          <p:cNvSpPr txBox="1"/>
          <p:nvPr/>
        </p:nvSpPr>
        <p:spPr>
          <a:xfrm>
            <a:off x="12573000" y="4727448"/>
            <a:ext cx="553212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Entornos dinámicos, cambiantes y con alta incertidumbre.</a:t>
            </a:r>
            <a:endParaRPr/>
          </a:p>
        </p:txBody>
      </p:sp>
      <p:sp>
        <p:nvSpPr>
          <p:cNvPr id="959" name="Google Shape;959;p29"/>
          <p:cNvSpPr/>
          <p:nvPr/>
        </p:nvSpPr>
        <p:spPr>
          <a:xfrm>
            <a:off x="3886200" y="5495544"/>
            <a:ext cx="14356080" cy="713232"/>
          </a:xfrm>
          <a:prstGeom prst="roundRect">
            <a:avLst>
              <a:gd fmla="val 19230" name="adj"/>
            </a:avLst>
          </a:prstGeom>
          <a:solidFill>
            <a:srgbClr val="FFFFFF"/>
          </a:solidFill>
          <a:ln cap="flat" cmpd="sng" w="12700">
            <a:solidFill>
              <a:srgbClr val="EC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alendar-check_regular_664092.png" id="960" name="Google Shape;960;p29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4069080" y="5660136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961" name="Google Shape;961;p29"/>
          <p:cNvSpPr txBox="1"/>
          <p:nvPr/>
        </p:nvSpPr>
        <p:spPr>
          <a:xfrm>
            <a:off x="4572000" y="5495544"/>
            <a:ext cx="173736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7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Planificación</a:t>
            </a:r>
            <a:endParaRPr/>
          </a:p>
        </p:txBody>
      </p:sp>
      <p:sp>
        <p:nvSpPr>
          <p:cNvPr id="962" name="Google Shape;962;p29"/>
          <p:cNvSpPr txBox="1"/>
          <p:nvPr/>
        </p:nvSpPr>
        <p:spPr>
          <a:xfrm>
            <a:off x="6629400" y="5495544"/>
            <a:ext cx="553212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Exhaustiva al inicio; el éxito se mide en cumplir el plan original.</a:t>
            </a:r>
            <a:endParaRPr/>
          </a:p>
        </p:txBody>
      </p:sp>
      <p:sp>
        <p:nvSpPr>
          <p:cNvPr id="963" name="Google Shape;963;p29"/>
          <p:cNvSpPr txBox="1"/>
          <p:nvPr/>
        </p:nvSpPr>
        <p:spPr>
          <a:xfrm>
            <a:off x="12573000" y="5495544"/>
            <a:ext cx="553212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Modular y continua; el éxito se mide en el valor real generado.</a:t>
            </a:r>
            <a:endParaRPr/>
          </a:p>
        </p:txBody>
      </p:sp>
      <p:sp>
        <p:nvSpPr>
          <p:cNvPr id="964" name="Google Shape;964;p29"/>
          <p:cNvSpPr/>
          <p:nvPr/>
        </p:nvSpPr>
        <p:spPr>
          <a:xfrm>
            <a:off x="3886200" y="6263640"/>
            <a:ext cx="14356080" cy="713232"/>
          </a:xfrm>
          <a:prstGeom prst="roundRect">
            <a:avLst>
              <a:gd fmla="val 19230" name="adj"/>
            </a:avLst>
          </a:prstGeom>
          <a:solidFill>
            <a:srgbClr val="FAF9FB"/>
          </a:solidFill>
          <a:ln cap="flat" cmpd="sng" w="12700">
            <a:solidFill>
              <a:srgbClr val="EC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ackage_regular_664092.png" id="965" name="Google Shape;965;p29"/>
          <p:cNvPicPr preferRelativeResize="0"/>
          <p:nvPr/>
        </p:nvPicPr>
        <p:blipFill rotWithShape="1">
          <a:blip r:embed="rId24">
            <a:alphaModFix/>
          </a:blip>
          <a:srcRect b="0" l="0" r="0" t="0"/>
          <a:stretch/>
        </p:blipFill>
        <p:spPr>
          <a:xfrm>
            <a:off x="4069080" y="6428232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966" name="Google Shape;966;p29"/>
          <p:cNvSpPr txBox="1"/>
          <p:nvPr/>
        </p:nvSpPr>
        <p:spPr>
          <a:xfrm>
            <a:off x="4572000" y="6263640"/>
            <a:ext cx="173736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7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  <a:endParaRPr/>
          </a:p>
        </p:txBody>
      </p:sp>
      <p:sp>
        <p:nvSpPr>
          <p:cNvPr id="967" name="Google Shape;967;p29"/>
          <p:cNvSpPr txBox="1"/>
          <p:nvPr/>
        </p:nvSpPr>
        <p:spPr>
          <a:xfrm>
            <a:off x="6629400" y="6263640"/>
            <a:ext cx="553212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Resultado único al final de un proceso secuencial.</a:t>
            </a:r>
            <a:endParaRPr/>
          </a:p>
        </p:txBody>
      </p:sp>
      <p:sp>
        <p:nvSpPr>
          <p:cNvPr id="968" name="Google Shape;968;p29"/>
          <p:cNvSpPr txBox="1"/>
          <p:nvPr/>
        </p:nvSpPr>
        <p:spPr>
          <a:xfrm>
            <a:off x="12573000" y="6263640"/>
            <a:ext cx="553212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Incremental y temprana a lo largo de ciclos cortos.</a:t>
            </a:r>
            <a:endParaRPr/>
          </a:p>
        </p:txBody>
      </p:sp>
      <p:sp>
        <p:nvSpPr>
          <p:cNvPr id="969" name="Google Shape;969;p29"/>
          <p:cNvSpPr/>
          <p:nvPr/>
        </p:nvSpPr>
        <p:spPr>
          <a:xfrm>
            <a:off x="3886200" y="7031736"/>
            <a:ext cx="14356080" cy="713232"/>
          </a:xfrm>
          <a:prstGeom prst="roundRect">
            <a:avLst>
              <a:gd fmla="val 19230" name="adj"/>
            </a:avLst>
          </a:prstGeom>
          <a:solidFill>
            <a:srgbClr val="FFFFFF"/>
          </a:solidFill>
          <a:ln cap="flat" cmpd="sng" w="12700">
            <a:solidFill>
              <a:srgbClr val="EC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rrows-clockwise_regular_664092.png" id="970" name="Google Shape;970;p29"/>
          <p:cNvPicPr preferRelativeResize="0"/>
          <p:nvPr/>
        </p:nvPicPr>
        <p:blipFill rotWithShape="1">
          <a:blip r:embed="rId25">
            <a:alphaModFix/>
          </a:blip>
          <a:srcRect b="0" l="0" r="0" t="0"/>
          <a:stretch/>
        </p:blipFill>
        <p:spPr>
          <a:xfrm>
            <a:off x="4069080" y="7196328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971" name="Google Shape;971;p29"/>
          <p:cNvSpPr txBox="1"/>
          <p:nvPr/>
        </p:nvSpPr>
        <p:spPr>
          <a:xfrm>
            <a:off x="4572000" y="7031736"/>
            <a:ext cx="173736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7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Cambios</a:t>
            </a:r>
            <a:endParaRPr/>
          </a:p>
        </p:txBody>
      </p:sp>
      <p:sp>
        <p:nvSpPr>
          <p:cNvPr id="972" name="Google Shape;972;p29"/>
          <p:cNvSpPr txBox="1"/>
          <p:nvPr/>
        </p:nvSpPr>
        <p:spPr>
          <a:xfrm>
            <a:off x="6629400" y="7031736"/>
            <a:ext cx="553212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Se consideran desviaciones que deben controlarse.</a:t>
            </a:r>
            <a:endParaRPr/>
          </a:p>
        </p:txBody>
      </p:sp>
      <p:sp>
        <p:nvSpPr>
          <p:cNvPr id="973" name="Google Shape;973;p29"/>
          <p:cNvSpPr txBox="1"/>
          <p:nvPr/>
        </p:nvSpPr>
        <p:spPr>
          <a:xfrm>
            <a:off x="12573000" y="7031736"/>
            <a:ext cx="553212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Se aprovechan como oportunidades de aprendizaje y ajuste.</a:t>
            </a:r>
            <a:endParaRPr/>
          </a:p>
        </p:txBody>
      </p:sp>
      <p:sp>
        <p:nvSpPr>
          <p:cNvPr id="974" name="Google Shape;974;p29"/>
          <p:cNvSpPr/>
          <p:nvPr/>
        </p:nvSpPr>
        <p:spPr>
          <a:xfrm>
            <a:off x="3886200" y="7863840"/>
            <a:ext cx="14356080" cy="868680"/>
          </a:xfrm>
          <a:prstGeom prst="roundRect">
            <a:avLst>
              <a:gd fmla="val 31578" name="adj"/>
            </a:avLst>
          </a:prstGeom>
          <a:gradFill>
            <a:gsLst>
              <a:gs pos="0">
                <a:srgbClr val="467CF1"/>
              </a:gs>
              <a:gs pos="100000">
                <a:srgbClr val="664092"/>
              </a:gs>
            </a:gsLst>
            <a:lin ang="81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scales_regular_FFFFFF.png" id="975" name="Google Shape;975;p29"/>
          <p:cNvPicPr preferRelativeResize="0"/>
          <p:nvPr/>
        </p:nvPicPr>
        <p:blipFill rotWithShape="1">
          <a:blip r:embed="rId26">
            <a:alphaModFix/>
          </a:blip>
          <a:srcRect b="0" l="0" r="0" t="0"/>
          <a:stretch/>
        </p:blipFill>
        <p:spPr>
          <a:xfrm>
            <a:off x="4206240" y="8014716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976" name="Google Shape;976;p29"/>
          <p:cNvSpPr txBox="1"/>
          <p:nvPr/>
        </p:nvSpPr>
        <p:spPr>
          <a:xfrm>
            <a:off x="5029200" y="7863840"/>
            <a:ext cx="128473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Ningún enfoque es superior en sí mismo: </a:t>
            </a:r>
            <a:r>
              <a:rPr b="0" i="0" lang="es-CO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 elección depende de la certidumbre del problema y de la necesidad de aprender sobre la marcha.</a:t>
            </a:r>
            <a:endParaRPr/>
          </a:p>
        </p:txBody>
      </p:sp>
      <p:sp>
        <p:nvSpPr>
          <p:cNvPr id="56" name="Google Shape;56;p2">
            <a:hlinkClick action="ppaction://hlinksldjump" r:id="rId27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>
            <a:hlinkClick action="ppaction://hlinksldjump" r:id="rId27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0" name="Shape 9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Google Shape;981;p30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2" name="Google Shape;982;p30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3" name="Google Shape;983;p30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4" name="Google Shape;984;p30">
            <a:hlinkClick action="ppaction://hlinksldjump" r:id="rId3"/>
          </p:cNvPr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5" name="Google Shape;985;p30">
            <a:hlinkClick action="ppaction://hlinksldjump" r:id="rId4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Origen y sentido de la agilidad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6" name="Google Shape;986;p30">
            <a:hlinkClick action="ppaction://hlinksldjump" r:id="rId5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7" name="Google Shape;987;p30">
            <a:hlinkClick action="ppaction://hlinksldjump" r:id="rId6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4 valores fundamentales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8" name="Google Shape;988;p30">
            <a:hlinkClick action="ppaction://hlinksldjump" r:id="rId7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9" name="Google Shape;989;p30">
            <a:hlinkClick action="ppaction://hlinksldjump" r:id="rId8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12 principios rectores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0" name="Google Shape;990;p30">
            <a:hlinkClick action="ppaction://hlinksldjump" r:id="rId9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1" name="Google Shape;991;p30">
            <a:hlinkClick action="ppaction://hlinksldjump" r:id="rId10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Factor humano, calidad y mejora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2" name="Google Shape;992;p30">
            <a:hlinkClick action="ppaction://hlinksldjump" r:id="rId11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3" name="Google Shape;993;p30">
            <a:hlinkClick action="ppaction://hlinksldjump" r:id="rId12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024791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Tema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Agilidad en la práctica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4" name="Google Shape;994;p30">
            <a:hlinkClick action="ppaction://hlinksldjump" r:id="rId13"/>
          </p:cNvPr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5" name="Google Shape;995;p30">
            <a:hlinkClick action="ppaction://hlinksldjump" r:id="rId14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6" name="Google Shape;996;p30">
            <a:hlinkClick action="ppaction://hlinksldjump" r:id="rId15"/>
          </p:cNvPr>
          <p:cNvSpPr/>
          <p:nvPr/>
        </p:nvSpPr>
        <p:spPr>
          <a:xfrm>
            <a:off x="4591655" y="9647639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7" name="Google Shape;997;p30">
            <a:hlinkClick action="ppaction://hlinksldjump" r:id="rId16"/>
          </p:cNvPr>
          <p:cNvSpPr/>
          <p:nvPr/>
        </p:nvSpPr>
        <p:spPr>
          <a:xfrm>
            <a:off x="4591655" y="9588108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8" name="Google Shape;998;p30">
            <a:hlinkClick action="ppaction://hlinksldjump" r:id="rId17"/>
          </p:cNvPr>
          <p:cNvSpPr/>
          <p:nvPr/>
        </p:nvSpPr>
        <p:spPr>
          <a:xfrm>
            <a:off x="6378374" y="9647639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9" name="Google Shape;999;p30">
            <a:hlinkClick action="ppaction://hlinksldjump" r:id="rId18"/>
          </p:cNvPr>
          <p:cNvSpPr/>
          <p:nvPr/>
        </p:nvSpPr>
        <p:spPr>
          <a:xfrm>
            <a:off x="6378374" y="9588108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0" name="Google Shape;1000;p30">
            <a:hlinkClick action="ppaction://hlinksldjump" r:id="rId19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1" name="Google Shape;1001;p30">
            <a:hlinkClick action="ppaction://hlinksldjump" r:id="rId19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02" name="Google Shape;1002;p30" title="correcciones sapiencia.png">
            <a:hlinkClick action="ppaction://hlinksldjump" r:id="rId19"/>
          </p:cNvPr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1003" name="Google Shape;1003;p30">
            <a:hlinkClick action="ppaction://hlinksldjump" r:id="rId19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acción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4" name="Google Shape;1004;p30"/>
          <p:cNvSpPr txBox="1"/>
          <p:nvPr/>
        </p:nvSpPr>
        <p:spPr>
          <a:xfrm>
            <a:off x="3886200" y="1417320"/>
            <a:ext cx="14356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TEMA 5 · AGILIDAD EN LA PRÁCTICA</a:t>
            </a:r>
            <a:endParaRPr/>
          </a:p>
        </p:txBody>
      </p:sp>
      <p:sp>
        <p:nvSpPr>
          <p:cNvPr id="1005" name="Google Shape;1005;p30"/>
          <p:cNvSpPr txBox="1"/>
          <p:nvPr/>
        </p:nvSpPr>
        <p:spPr>
          <a:xfrm>
            <a:off x="3886200" y="1847088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Decidir y actuar en la práctica</a:t>
            </a:r>
            <a:endParaRPr/>
          </a:p>
        </p:txBody>
      </p:sp>
      <p:sp>
        <p:nvSpPr>
          <p:cNvPr id="1006" name="Google Shape;1006;p30"/>
          <p:cNvSpPr/>
          <p:nvPr/>
        </p:nvSpPr>
        <p:spPr>
          <a:xfrm>
            <a:off x="388620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7" name="Google Shape;1007;p30"/>
          <p:cNvSpPr/>
          <p:nvPr/>
        </p:nvSpPr>
        <p:spPr>
          <a:xfrm>
            <a:off x="4110228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8" name="Google Shape;1008;p30"/>
          <p:cNvSpPr/>
          <p:nvPr/>
        </p:nvSpPr>
        <p:spPr>
          <a:xfrm>
            <a:off x="4334256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9" name="Google Shape;1009;p30"/>
          <p:cNvSpPr/>
          <p:nvPr/>
        </p:nvSpPr>
        <p:spPr>
          <a:xfrm>
            <a:off x="4558284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0" name="Google Shape;1010;p30"/>
          <p:cNvSpPr/>
          <p:nvPr/>
        </p:nvSpPr>
        <p:spPr>
          <a:xfrm>
            <a:off x="4782312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1" name="Google Shape;1011;p30"/>
          <p:cNvSpPr/>
          <p:nvPr/>
        </p:nvSpPr>
        <p:spPr>
          <a:xfrm>
            <a:off x="500634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2" name="Google Shape;1012;p30"/>
          <p:cNvSpPr txBox="1"/>
          <p:nvPr/>
        </p:nvSpPr>
        <p:spPr>
          <a:xfrm>
            <a:off x="3886200" y="3200400"/>
            <a:ext cx="143560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s-CO" sz="21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¿Cómo saber qué enfoque elegir para tu próximo proyecto?</a:t>
            </a:r>
            <a:endParaRPr/>
          </a:p>
        </p:txBody>
      </p:sp>
      <p:sp>
        <p:nvSpPr>
          <p:cNvPr id="1013" name="Google Shape;1013;p30"/>
          <p:cNvSpPr/>
          <p:nvPr/>
        </p:nvSpPr>
        <p:spPr>
          <a:xfrm>
            <a:off x="3886200" y="3886200"/>
            <a:ext cx="7018020" cy="1828800"/>
          </a:xfrm>
          <a:prstGeom prst="roundRect">
            <a:avLst>
              <a:gd fmla="val 11000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4" name="Google Shape;1014;p30"/>
          <p:cNvSpPr/>
          <p:nvPr/>
        </p:nvSpPr>
        <p:spPr>
          <a:xfrm>
            <a:off x="3886200" y="4160520"/>
            <a:ext cx="82296" cy="1280160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5" name="Google Shape;1015;p30"/>
          <p:cNvSpPr/>
          <p:nvPr/>
        </p:nvSpPr>
        <p:spPr>
          <a:xfrm>
            <a:off x="4160520" y="4114800"/>
            <a:ext cx="640080" cy="640080"/>
          </a:xfrm>
          <a:prstGeom prst="ellipse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ist-checks_regular_FFFFFF.png" id="1016" name="Google Shape;1016;p30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4314139" y="4268419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1017" name="Google Shape;1017;p30"/>
          <p:cNvSpPr txBox="1"/>
          <p:nvPr/>
        </p:nvSpPr>
        <p:spPr>
          <a:xfrm>
            <a:off x="4937760" y="4114800"/>
            <a:ext cx="58293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9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1. Claridad de requisitos</a:t>
            </a:r>
            <a:endParaRPr/>
          </a:p>
        </p:txBody>
      </p:sp>
      <p:sp>
        <p:nvSpPr>
          <p:cNvPr id="1018" name="Google Shape;1018;p30"/>
          <p:cNvSpPr txBox="1"/>
          <p:nvPr/>
        </p:nvSpPr>
        <p:spPr>
          <a:xfrm>
            <a:off x="4160520" y="4800600"/>
            <a:ext cx="65608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5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Si el alcance es incierto o cambiante, elige agilidad; si los requisitos son estables y normados, planifica de forma predictiva.</a:t>
            </a:r>
            <a:endParaRPr/>
          </a:p>
        </p:txBody>
      </p:sp>
      <p:sp>
        <p:nvSpPr>
          <p:cNvPr id="1019" name="Google Shape;1019;p30"/>
          <p:cNvSpPr/>
          <p:nvPr/>
        </p:nvSpPr>
        <p:spPr>
          <a:xfrm>
            <a:off x="11224260" y="3886200"/>
            <a:ext cx="7018020" cy="1828800"/>
          </a:xfrm>
          <a:prstGeom prst="roundRect">
            <a:avLst>
              <a:gd fmla="val 11000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0" name="Google Shape;1020;p30"/>
          <p:cNvSpPr/>
          <p:nvPr/>
        </p:nvSpPr>
        <p:spPr>
          <a:xfrm>
            <a:off x="11224260" y="4160520"/>
            <a:ext cx="82296" cy="1280160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1" name="Google Shape;1021;p30"/>
          <p:cNvSpPr/>
          <p:nvPr/>
        </p:nvSpPr>
        <p:spPr>
          <a:xfrm>
            <a:off x="11498580" y="4114800"/>
            <a:ext cx="640080" cy="640080"/>
          </a:xfrm>
          <a:prstGeom prst="ellipse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epeat_regular_FFFFFF.png" id="1022" name="Google Shape;1022;p30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11652199" y="4268419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1023" name="Google Shape;1023;p30"/>
          <p:cNvSpPr txBox="1"/>
          <p:nvPr/>
        </p:nvSpPr>
        <p:spPr>
          <a:xfrm>
            <a:off x="12275820" y="4114800"/>
            <a:ext cx="58293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9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2. Frecuencia de entrega</a:t>
            </a:r>
            <a:endParaRPr/>
          </a:p>
        </p:txBody>
      </p:sp>
      <p:sp>
        <p:nvSpPr>
          <p:cNvPr id="1024" name="Google Shape;1024;p30"/>
          <p:cNvSpPr txBox="1"/>
          <p:nvPr/>
        </p:nvSpPr>
        <p:spPr>
          <a:xfrm>
            <a:off x="11498580" y="4800600"/>
            <a:ext cx="65608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5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Si necesitas validar hipótesis pronto con usuarios reales, opta por ciclos iterativos; si el valor solo existe al completar la totalidad, trabaja por fases secuenciales.</a:t>
            </a:r>
            <a:endParaRPr/>
          </a:p>
        </p:txBody>
      </p:sp>
      <p:sp>
        <p:nvSpPr>
          <p:cNvPr id="1025" name="Google Shape;1025;p30"/>
          <p:cNvSpPr/>
          <p:nvPr/>
        </p:nvSpPr>
        <p:spPr>
          <a:xfrm>
            <a:off x="3886200" y="5943600"/>
            <a:ext cx="7018020" cy="1828800"/>
          </a:xfrm>
          <a:prstGeom prst="roundRect">
            <a:avLst>
              <a:gd fmla="val 11000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6" name="Google Shape;1026;p30"/>
          <p:cNvSpPr/>
          <p:nvPr/>
        </p:nvSpPr>
        <p:spPr>
          <a:xfrm>
            <a:off x="3886200" y="6217920"/>
            <a:ext cx="82296" cy="1280160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7" name="Google Shape;1027;p30"/>
          <p:cNvSpPr/>
          <p:nvPr/>
        </p:nvSpPr>
        <p:spPr>
          <a:xfrm>
            <a:off x="4160520" y="6172200"/>
            <a:ext cx="640080" cy="640080"/>
          </a:xfrm>
          <a:prstGeom prst="ellipse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sers_regular_FFFFFF.png" id="1028" name="Google Shape;1028;p30"/>
          <p:cNvPicPr preferRelativeResize="0"/>
          <p:nvPr/>
        </p:nvPicPr>
        <p:blipFill rotWithShape="1">
          <a:blip r:embed="rId24">
            <a:alphaModFix/>
          </a:blip>
          <a:srcRect b="0" l="0" r="0" t="0"/>
          <a:stretch/>
        </p:blipFill>
        <p:spPr>
          <a:xfrm>
            <a:off x="4314139" y="6325819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1029" name="Google Shape;1029;p30"/>
          <p:cNvSpPr txBox="1"/>
          <p:nvPr/>
        </p:nvSpPr>
        <p:spPr>
          <a:xfrm>
            <a:off x="4937760" y="6172200"/>
            <a:ext cx="58293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9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3. Cercanía con el usuario</a:t>
            </a:r>
            <a:endParaRPr/>
          </a:p>
        </p:txBody>
      </p:sp>
      <p:sp>
        <p:nvSpPr>
          <p:cNvPr id="1030" name="Google Shape;1030;p30"/>
          <p:cNvSpPr txBox="1"/>
          <p:nvPr/>
        </p:nvSpPr>
        <p:spPr>
          <a:xfrm>
            <a:off x="4160520" y="6858000"/>
            <a:ext cx="65608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5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La agilidad exige comunicación constante y retroalimentación frecuente. Si la relación es contractual y distante, el ciclo adaptativo pierde efectividad.</a:t>
            </a:r>
            <a:endParaRPr/>
          </a:p>
        </p:txBody>
      </p:sp>
      <p:sp>
        <p:nvSpPr>
          <p:cNvPr id="1031" name="Google Shape;1031;p30"/>
          <p:cNvSpPr/>
          <p:nvPr/>
        </p:nvSpPr>
        <p:spPr>
          <a:xfrm>
            <a:off x="11224260" y="5943600"/>
            <a:ext cx="7018020" cy="1828800"/>
          </a:xfrm>
          <a:prstGeom prst="roundRect">
            <a:avLst>
              <a:gd fmla="val 11000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30"/>
          <p:cNvSpPr/>
          <p:nvPr/>
        </p:nvSpPr>
        <p:spPr>
          <a:xfrm>
            <a:off x="11224260" y="6217920"/>
            <a:ext cx="82296" cy="128016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30"/>
          <p:cNvSpPr/>
          <p:nvPr/>
        </p:nvSpPr>
        <p:spPr>
          <a:xfrm>
            <a:off x="11498580" y="6172200"/>
            <a:ext cx="640080" cy="640080"/>
          </a:xfrm>
          <a:prstGeom prst="ellipse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rrows-out-cardinal_regular_FFFFFF.png" id="1034" name="Google Shape;1034;p30"/>
          <p:cNvPicPr preferRelativeResize="0"/>
          <p:nvPr/>
        </p:nvPicPr>
        <p:blipFill rotWithShape="1">
          <a:blip r:embed="rId25">
            <a:alphaModFix/>
          </a:blip>
          <a:srcRect b="0" l="0" r="0" t="0"/>
          <a:stretch/>
        </p:blipFill>
        <p:spPr>
          <a:xfrm>
            <a:off x="11652199" y="6325819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1035" name="Google Shape;1035;p30"/>
          <p:cNvSpPr txBox="1"/>
          <p:nvPr/>
        </p:nvSpPr>
        <p:spPr>
          <a:xfrm>
            <a:off x="12275820" y="6172200"/>
            <a:ext cx="58293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9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4. Disposición al cambio</a:t>
            </a:r>
            <a:endParaRPr/>
          </a:p>
        </p:txBody>
      </p:sp>
      <p:sp>
        <p:nvSpPr>
          <p:cNvPr id="1036" name="Google Shape;1036;p30"/>
          <p:cNvSpPr txBox="1"/>
          <p:nvPr/>
        </p:nvSpPr>
        <p:spPr>
          <a:xfrm>
            <a:off x="11498580" y="6858000"/>
            <a:ext cx="65608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5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Adoptar agilidad requiere madurez para aceptar aprendizajes que modifiquen el plan inicial sin considerarlos fallos del proceso.</a:t>
            </a:r>
            <a:endParaRPr/>
          </a:p>
        </p:txBody>
      </p:sp>
      <p:sp>
        <p:nvSpPr>
          <p:cNvPr id="1037" name="Google Shape;1037;p30"/>
          <p:cNvSpPr/>
          <p:nvPr/>
        </p:nvSpPr>
        <p:spPr>
          <a:xfrm>
            <a:off x="3886200" y="8046720"/>
            <a:ext cx="14356080" cy="960120"/>
          </a:xfrm>
          <a:prstGeom prst="roundRect">
            <a:avLst>
              <a:gd fmla="val 28571" name="adj"/>
            </a:avLst>
          </a:prstGeom>
          <a:gradFill>
            <a:gsLst>
              <a:gs pos="0">
                <a:srgbClr val="467CF1"/>
              </a:gs>
              <a:gs pos="100000">
                <a:srgbClr val="664092"/>
              </a:gs>
            </a:gsLst>
            <a:lin ang="81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ightbulb_regular_FFFFFF.png" id="1038" name="Google Shape;1038;p30"/>
          <p:cNvPicPr preferRelativeResize="0"/>
          <p:nvPr/>
        </p:nvPicPr>
        <p:blipFill rotWithShape="1">
          <a:blip r:embed="rId26">
            <a:alphaModFix/>
          </a:blip>
          <a:srcRect b="0" l="0" r="0" t="0"/>
          <a:stretch/>
        </p:blipFill>
        <p:spPr>
          <a:xfrm>
            <a:off x="4206240" y="8243316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1039" name="Google Shape;1039;p30"/>
          <p:cNvSpPr txBox="1"/>
          <p:nvPr/>
        </p:nvSpPr>
        <p:spPr>
          <a:xfrm>
            <a:off x="5029200" y="8046720"/>
            <a:ext cx="1284732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Ser ágil no es seguir una receta rígida ni correr más rápido: </a:t>
            </a:r>
            <a:r>
              <a:rPr b="0" i="0" lang="es-CO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es contar con la capacidad de comprender, colaborar y adaptarse para generar valor real de forma continua.</a:t>
            </a:r>
            <a:endParaRPr/>
          </a:p>
        </p:txBody>
      </p:sp>
      <p:sp>
        <p:nvSpPr>
          <p:cNvPr id="56" name="Google Shape;56;p2">
            <a:hlinkClick action="ppaction://hlinksldjump" r:id="rId27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>
            <a:hlinkClick action="ppaction://hlinksldjump" r:id="rId27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3" name="Shape 1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Google Shape;1044;p31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5" name="Google Shape;1045;p31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6" name="Google Shape;1046;p31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7" name="Google Shape;1047;p31">
            <a:hlinkClick action="ppaction://hlinksldjump" r:id="rId3"/>
          </p:cNvPr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8" name="Google Shape;1048;p31">
            <a:hlinkClick action="ppaction://hlinksldjump" r:id="rId4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Origen y sentido de la agilidad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9" name="Google Shape;1049;p31">
            <a:hlinkClick action="ppaction://hlinksldjump" r:id="rId5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0" name="Google Shape;1050;p31">
            <a:hlinkClick action="ppaction://hlinksldjump" r:id="rId6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4 valores fundamentales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31">
            <a:hlinkClick action="ppaction://hlinksldjump" r:id="rId7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2" name="Google Shape;1052;p31">
            <a:hlinkClick action="ppaction://hlinksldjump" r:id="rId8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12 principios rectores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3" name="Google Shape;1053;p31">
            <a:hlinkClick action="ppaction://hlinksldjump" r:id="rId9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4" name="Google Shape;1054;p31">
            <a:hlinkClick action="ppaction://hlinksldjump" r:id="rId10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Factor humano, calidad y mejora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5" name="Google Shape;1055;p31">
            <a:hlinkClick action="ppaction://hlinksldjump" r:id="rId11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6" name="Google Shape;1056;p31">
            <a:hlinkClick action="ppaction://hlinksldjump" r:id="rId12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la práctica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7" name="Google Shape;1057;p31">
            <a:hlinkClick action="ppaction://hlinksldjump" r:id="rId13"/>
          </p:cNvPr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8" name="Google Shape;1058;p31">
            <a:hlinkClick action="ppaction://hlinksldjump" r:id="rId14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9" name="Google Shape;1059;p31">
            <a:hlinkClick action="ppaction://hlinksldjump" r:id="rId15"/>
          </p:cNvPr>
          <p:cNvSpPr/>
          <p:nvPr/>
        </p:nvSpPr>
        <p:spPr>
          <a:xfrm>
            <a:off x="4591655" y="9647639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0" name="Google Shape;1060;p31">
            <a:hlinkClick action="ppaction://hlinksldjump" r:id="rId16"/>
          </p:cNvPr>
          <p:cNvSpPr/>
          <p:nvPr/>
        </p:nvSpPr>
        <p:spPr>
          <a:xfrm>
            <a:off x="4591655" y="9588108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1" name="Google Shape;1061;p31">
            <a:hlinkClick action="ppaction://hlinksldjump" r:id="rId17"/>
          </p:cNvPr>
          <p:cNvSpPr/>
          <p:nvPr/>
        </p:nvSpPr>
        <p:spPr>
          <a:xfrm>
            <a:off x="6378374" y="9647639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2" name="Google Shape;1062;p31">
            <a:hlinkClick action="ppaction://hlinksldjump" r:id="rId18"/>
          </p:cNvPr>
          <p:cNvSpPr/>
          <p:nvPr/>
        </p:nvSpPr>
        <p:spPr>
          <a:xfrm>
            <a:off x="6378374" y="9588108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3" name="Google Shape;1063;p31">
            <a:hlinkClick action="ppaction://hlinksldjump" r:id="rId19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4" name="Google Shape;1064;p31">
            <a:hlinkClick action="ppaction://hlinksldjump" r:id="rId19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5" name="Google Shape;1065;p31" title="correcciones sapiencia.png">
            <a:hlinkClick action="ppaction://hlinksldjump" r:id="rId19"/>
          </p:cNvPr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1066" name="Google Shape;1066;p31">
            <a:hlinkClick action="ppaction://hlinksldjump" r:id="rId19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acción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7" name="Google Shape;1067;p31"/>
          <p:cNvSpPr txBox="1"/>
          <p:nvPr/>
        </p:nvSpPr>
        <p:spPr>
          <a:xfrm>
            <a:off x="3886200" y="1417320"/>
            <a:ext cx="14356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ACTIVIDAD · COMPROBACIÓN</a:t>
            </a:r>
            <a:endParaRPr/>
          </a:p>
        </p:txBody>
      </p:sp>
      <p:sp>
        <p:nvSpPr>
          <p:cNvPr id="1068" name="Google Shape;1068;p31"/>
          <p:cNvSpPr txBox="1"/>
          <p:nvPr/>
        </p:nvSpPr>
        <p:spPr>
          <a:xfrm>
            <a:off x="3886200" y="1847088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¿Qué enfoque sería más adecuado en este caso?</a:t>
            </a:r>
            <a:endParaRPr/>
          </a:p>
        </p:txBody>
      </p:sp>
      <p:sp>
        <p:nvSpPr>
          <p:cNvPr id="1069" name="Google Shape;1069;p31"/>
          <p:cNvSpPr/>
          <p:nvPr/>
        </p:nvSpPr>
        <p:spPr>
          <a:xfrm>
            <a:off x="388620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0" name="Google Shape;1070;p31"/>
          <p:cNvSpPr/>
          <p:nvPr/>
        </p:nvSpPr>
        <p:spPr>
          <a:xfrm>
            <a:off x="4110228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1" name="Google Shape;1071;p31"/>
          <p:cNvSpPr/>
          <p:nvPr/>
        </p:nvSpPr>
        <p:spPr>
          <a:xfrm>
            <a:off x="4334256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2" name="Google Shape;1072;p31"/>
          <p:cNvSpPr/>
          <p:nvPr/>
        </p:nvSpPr>
        <p:spPr>
          <a:xfrm>
            <a:off x="4558284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3" name="Google Shape;1073;p31"/>
          <p:cNvSpPr/>
          <p:nvPr/>
        </p:nvSpPr>
        <p:spPr>
          <a:xfrm>
            <a:off x="4782312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4" name="Google Shape;1074;p31"/>
          <p:cNvSpPr/>
          <p:nvPr/>
        </p:nvSpPr>
        <p:spPr>
          <a:xfrm>
            <a:off x="500634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5" name="Google Shape;1075;p31"/>
          <p:cNvSpPr/>
          <p:nvPr/>
        </p:nvSpPr>
        <p:spPr>
          <a:xfrm>
            <a:off x="3886200" y="3246120"/>
            <a:ext cx="14356080" cy="1234440"/>
          </a:xfrm>
          <a:prstGeom prst="roundRect">
            <a:avLst>
              <a:gd fmla="val 22222" name="adj"/>
            </a:avLst>
          </a:prstGeom>
          <a:gradFill>
            <a:gsLst>
              <a:gs pos="0">
                <a:srgbClr val="467CF1"/>
              </a:gs>
              <a:gs pos="100000">
                <a:srgbClr val="664092"/>
              </a:gs>
            </a:gsLst>
            <a:lin ang="81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buildings_regular_FFFFFF.png" id="1076" name="Google Shape;1076;p31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4206240" y="3579876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1077" name="Google Shape;1077;p31"/>
          <p:cNvSpPr txBox="1"/>
          <p:nvPr/>
        </p:nvSpPr>
        <p:spPr>
          <a:xfrm>
            <a:off x="5029200" y="3246120"/>
            <a:ext cx="1284732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Una entidad pública necesita desarrollar un sistema interno de gestión documental. Los requisitos están claramente definidos, son estables y deben cumplir con normativa específica.</a:t>
            </a:r>
            <a:endParaRPr/>
          </a:p>
        </p:txBody>
      </p:sp>
      <p:sp>
        <p:nvSpPr>
          <p:cNvPr id="1078" name="Google Shape;1078;p31"/>
          <p:cNvSpPr txBox="1"/>
          <p:nvPr/>
        </p:nvSpPr>
        <p:spPr>
          <a:xfrm>
            <a:off x="3886200" y="4663440"/>
            <a:ext cx="14356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1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Selecciona una respuesta para comprobarla</a:t>
            </a:r>
            <a:endParaRPr/>
          </a:p>
        </p:txBody>
      </p:sp>
      <p:sp>
        <p:nvSpPr>
          <p:cNvPr id="1079" name="Google Shape;1079;p31">
            <a:hlinkClick action="ppaction://hlinksldjump" r:id="rId23"/>
          </p:cNvPr>
          <p:cNvSpPr/>
          <p:nvPr/>
        </p:nvSpPr>
        <p:spPr>
          <a:xfrm>
            <a:off x="4160520" y="5321808"/>
            <a:ext cx="13807440" cy="914400"/>
          </a:xfrm>
          <a:prstGeom prst="roundRect">
            <a:avLst>
              <a:gd fmla="val 18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0" name="Google Shape;1080;p31">
            <a:hlinkClick action="ppaction://hlinksldjump" r:id="rId24"/>
          </p:cNvPr>
          <p:cNvSpPr/>
          <p:nvPr/>
        </p:nvSpPr>
        <p:spPr>
          <a:xfrm>
            <a:off x="4160520" y="5257800"/>
            <a:ext cx="13807440" cy="914400"/>
          </a:xfrm>
          <a:prstGeom prst="roundRect">
            <a:avLst>
              <a:gd fmla="val 18000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9725" lIns="960100" spcFirstLastPara="1" rIns="109725" wrap="square" tIns="109725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9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Enfoque tradicional (predictivo), porque los requisitos son estables y existen normativas que deben cumplirse.</a:t>
            </a:r>
            <a:endParaRPr/>
          </a:p>
        </p:txBody>
      </p:sp>
      <p:sp>
        <p:nvSpPr>
          <p:cNvPr id="1081" name="Google Shape;1081;p31">
            <a:hlinkClick action="ppaction://hlinksldjump" r:id="rId25"/>
          </p:cNvPr>
          <p:cNvSpPr/>
          <p:nvPr/>
        </p:nvSpPr>
        <p:spPr>
          <a:xfrm>
            <a:off x="4389120" y="5440680"/>
            <a:ext cx="548640" cy="548640"/>
          </a:xfrm>
          <a:prstGeom prst="ellipse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/>
          </a:p>
        </p:txBody>
      </p:sp>
      <p:sp>
        <p:nvSpPr>
          <p:cNvPr id="1082" name="Google Shape;1082;p31">
            <a:hlinkClick action="ppaction://hlinksldjump" r:id="rId26"/>
          </p:cNvPr>
          <p:cNvSpPr/>
          <p:nvPr/>
        </p:nvSpPr>
        <p:spPr>
          <a:xfrm>
            <a:off x="4160520" y="6419088"/>
            <a:ext cx="13807440" cy="914400"/>
          </a:xfrm>
          <a:prstGeom prst="roundRect">
            <a:avLst>
              <a:gd fmla="val 18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3" name="Google Shape;1083;p31">
            <a:hlinkClick action="ppaction://hlinksldjump" r:id="rId27"/>
          </p:cNvPr>
          <p:cNvSpPr/>
          <p:nvPr/>
        </p:nvSpPr>
        <p:spPr>
          <a:xfrm>
            <a:off x="4160520" y="6355080"/>
            <a:ext cx="13807440" cy="914400"/>
          </a:xfrm>
          <a:prstGeom prst="roundRect">
            <a:avLst>
              <a:gd fmla="val 18000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9725" lIns="960100" spcFirstLastPara="1" rIns="109725" wrap="square" tIns="109725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9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Enfoque ágil, porque cualquier proyecto de tecnología debería hacerse de forma iterativa.</a:t>
            </a:r>
            <a:endParaRPr/>
          </a:p>
        </p:txBody>
      </p:sp>
      <p:sp>
        <p:nvSpPr>
          <p:cNvPr id="1084" name="Google Shape;1084;p31">
            <a:hlinkClick action="ppaction://hlinksldjump" r:id="rId28"/>
          </p:cNvPr>
          <p:cNvSpPr/>
          <p:nvPr/>
        </p:nvSpPr>
        <p:spPr>
          <a:xfrm>
            <a:off x="4389120" y="6537960"/>
            <a:ext cx="548640" cy="548640"/>
          </a:xfrm>
          <a:prstGeom prst="ellipse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/>
          </a:p>
        </p:txBody>
      </p:sp>
      <p:sp>
        <p:nvSpPr>
          <p:cNvPr id="1085" name="Google Shape;1085;p31">
            <a:hlinkClick action="ppaction://hlinksldjump" r:id="rId29"/>
          </p:cNvPr>
          <p:cNvSpPr/>
          <p:nvPr/>
        </p:nvSpPr>
        <p:spPr>
          <a:xfrm>
            <a:off x="4160520" y="7516368"/>
            <a:ext cx="13807440" cy="914400"/>
          </a:xfrm>
          <a:prstGeom prst="roundRect">
            <a:avLst>
              <a:gd fmla="val 18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6" name="Google Shape;1086;p31">
            <a:hlinkClick action="ppaction://hlinksldjump" r:id="rId30"/>
          </p:cNvPr>
          <p:cNvSpPr/>
          <p:nvPr/>
        </p:nvSpPr>
        <p:spPr>
          <a:xfrm>
            <a:off x="4160520" y="7452360"/>
            <a:ext cx="13807440" cy="914400"/>
          </a:xfrm>
          <a:prstGeom prst="roundRect">
            <a:avLst>
              <a:gd fmla="val 18000" name="adj"/>
            </a:avLst>
          </a:prstGeom>
          <a:solidFill>
            <a:srgbClr val="FFFFFF"/>
          </a:solidFill>
          <a:ln cap="flat" cmpd="sng" w="15875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9725" lIns="960100" spcFirstLastPara="1" rIns="109725" wrap="square" tIns="109725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9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Una combinación de ambos enfoques, sin importar el contexto del proyecto.</a:t>
            </a:r>
            <a:endParaRPr/>
          </a:p>
        </p:txBody>
      </p:sp>
      <p:sp>
        <p:nvSpPr>
          <p:cNvPr id="1087" name="Google Shape;1087;p31">
            <a:hlinkClick action="ppaction://hlinksldjump" r:id="rId31"/>
          </p:cNvPr>
          <p:cNvSpPr/>
          <p:nvPr/>
        </p:nvSpPr>
        <p:spPr>
          <a:xfrm>
            <a:off x="4389120" y="7635240"/>
            <a:ext cx="548640" cy="548640"/>
          </a:xfrm>
          <a:prstGeom prst="ellipse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/>
          </a:p>
        </p:txBody>
      </p:sp>
      <p:sp>
        <p:nvSpPr>
          <p:cNvPr id="56" name="Google Shape;56;p2">
            <a:hlinkClick action="ppaction://hlinksldjump" r:id="rId32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>
            <a:hlinkClick action="ppaction://hlinksldjump" r:id="rId32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p32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3" name="Google Shape;1093;p32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4" name="Google Shape;1094;p32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5" name="Google Shape;1095;p32">
            <a:hlinkClick action="ppaction://hlinksldjump" r:id="rId3"/>
          </p:cNvPr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6" name="Google Shape;1096;p32">
            <a:hlinkClick action="ppaction://hlinksldjump" r:id="rId4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Origen y sentido de la agilidad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7" name="Google Shape;1097;p32">
            <a:hlinkClick action="ppaction://hlinksldjump" r:id="rId5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8" name="Google Shape;1098;p32">
            <a:hlinkClick action="ppaction://hlinksldjump" r:id="rId6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4 valores fundamentales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9" name="Google Shape;1099;p32">
            <a:hlinkClick action="ppaction://hlinksldjump" r:id="rId7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0" name="Google Shape;1100;p32">
            <a:hlinkClick action="ppaction://hlinksldjump" r:id="rId8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12 principios rectores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1" name="Google Shape;1101;p32">
            <a:hlinkClick action="ppaction://hlinksldjump" r:id="rId9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2" name="Google Shape;1102;p32">
            <a:hlinkClick action="ppaction://hlinksldjump" r:id="rId10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Factor humano, calidad y mejora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3" name="Google Shape;1103;p32">
            <a:hlinkClick action="ppaction://hlinksldjump" r:id="rId11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4" name="Google Shape;1104;p32">
            <a:hlinkClick action="ppaction://hlinksldjump" r:id="rId12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la práctica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5" name="Google Shape;1105;p32">
            <a:hlinkClick action="ppaction://hlinksldjump" r:id="rId13"/>
          </p:cNvPr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6" name="Google Shape;1106;p32">
            <a:hlinkClick action="ppaction://hlinksldjump" r:id="rId14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7" name="Google Shape;1107;p32">
            <a:hlinkClick action="ppaction://hlinksldjump" r:id="rId15"/>
          </p:cNvPr>
          <p:cNvSpPr/>
          <p:nvPr/>
        </p:nvSpPr>
        <p:spPr>
          <a:xfrm>
            <a:off x="4591655" y="9647639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8" name="Google Shape;1108;p32">
            <a:hlinkClick action="ppaction://hlinksldjump" r:id="rId16"/>
          </p:cNvPr>
          <p:cNvSpPr/>
          <p:nvPr/>
        </p:nvSpPr>
        <p:spPr>
          <a:xfrm>
            <a:off x="4591655" y="9588108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9" name="Google Shape;1109;p32">
            <a:hlinkClick action="ppaction://hlinksldjump" r:id="rId17"/>
          </p:cNvPr>
          <p:cNvSpPr/>
          <p:nvPr/>
        </p:nvSpPr>
        <p:spPr>
          <a:xfrm>
            <a:off x="6378374" y="9647639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0" name="Google Shape;1110;p32">
            <a:hlinkClick action="ppaction://hlinksldjump" r:id="rId18"/>
          </p:cNvPr>
          <p:cNvSpPr/>
          <p:nvPr/>
        </p:nvSpPr>
        <p:spPr>
          <a:xfrm>
            <a:off x="6378374" y="9588108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1" name="Google Shape;1111;p32">
            <a:hlinkClick action="ppaction://hlinksldjump" r:id="rId19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2" name="Google Shape;1112;p32">
            <a:hlinkClick action="ppaction://hlinksldjump" r:id="rId19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3" name="Google Shape;1113;p32" title="correcciones sapiencia.png">
            <a:hlinkClick action="ppaction://hlinksldjump" r:id="rId19"/>
          </p:cNvPr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1114" name="Google Shape;1114;p32">
            <a:hlinkClick action="ppaction://hlinksldjump" r:id="rId19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acción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5" name="Google Shape;1115;p32"/>
          <p:cNvSpPr txBox="1"/>
          <p:nvPr/>
        </p:nvSpPr>
        <p:spPr>
          <a:xfrm>
            <a:off x="3886200" y="1417320"/>
            <a:ext cx="14356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ACTIVIDAD · RETROALIMENTACIÓN</a:t>
            </a:r>
            <a:endParaRPr/>
          </a:p>
        </p:txBody>
      </p:sp>
      <p:sp>
        <p:nvSpPr>
          <p:cNvPr id="1116" name="Google Shape;1116;p32"/>
          <p:cNvSpPr txBox="1"/>
          <p:nvPr/>
        </p:nvSpPr>
        <p:spPr>
          <a:xfrm>
            <a:off x="3886200" y="1847088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¡La respuesta es correcta!</a:t>
            </a:r>
            <a:endParaRPr/>
          </a:p>
        </p:txBody>
      </p:sp>
      <p:sp>
        <p:nvSpPr>
          <p:cNvPr id="1117" name="Google Shape;1117;p32"/>
          <p:cNvSpPr/>
          <p:nvPr/>
        </p:nvSpPr>
        <p:spPr>
          <a:xfrm>
            <a:off x="388620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8" name="Google Shape;1118;p32"/>
          <p:cNvSpPr/>
          <p:nvPr/>
        </p:nvSpPr>
        <p:spPr>
          <a:xfrm>
            <a:off x="4110228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9" name="Google Shape;1119;p32"/>
          <p:cNvSpPr/>
          <p:nvPr/>
        </p:nvSpPr>
        <p:spPr>
          <a:xfrm>
            <a:off x="4334256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0" name="Google Shape;1120;p32"/>
          <p:cNvSpPr/>
          <p:nvPr/>
        </p:nvSpPr>
        <p:spPr>
          <a:xfrm>
            <a:off x="4558284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1" name="Google Shape;1121;p32"/>
          <p:cNvSpPr/>
          <p:nvPr/>
        </p:nvSpPr>
        <p:spPr>
          <a:xfrm>
            <a:off x="4782312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2" name="Google Shape;1122;p32"/>
          <p:cNvSpPr/>
          <p:nvPr/>
        </p:nvSpPr>
        <p:spPr>
          <a:xfrm>
            <a:off x="500634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3" name="Google Shape;1123;p32"/>
          <p:cNvSpPr/>
          <p:nvPr/>
        </p:nvSpPr>
        <p:spPr>
          <a:xfrm>
            <a:off x="4343400" y="3977640"/>
            <a:ext cx="1874520" cy="187452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heck_bold_3D2159.png" id="1124" name="Google Shape;1124;p32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4812030" y="4446270"/>
            <a:ext cx="937260" cy="937260"/>
          </a:xfrm>
          <a:prstGeom prst="rect">
            <a:avLst/>
          </a:prstGeom>
          <a:noFill/>
          <a:ln>
            <a:noFill/>
          </a:ln>
        </p:spPr>
      </p:pic>
      <p:sp>
        <p:nvSpPr>
          <p:cNvPr id="1125" name="Google Shape;1125;p32"/>
          <p:cNvSpPr txBox="1"/>
          <p:nvPr/>
        </p:nvSpPr>
        <p:spPr>
          <a:xfrm>
            <a:off x="6812280" y="338328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38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Correcto</a:t>
            </a:r>
            <a:endParaRPr/>
          </a:p>
        </p:txBody>
      </p:sp>
      <p:sp>
        <p:nvSpPr>
          <p:cNvPr id="1126" name="Google Shape;1126;p32"/>
          <p:cNvSpPr txBox="1"/>
          <p:nvPr/>
        </p:nvSpPr>
        <p:spPr>
          <a:xfrm>
            <a:off x="6812280" y="4160520"/>
            <a:ext cx="11247120" cy="2148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23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Cuando los requisitos están claramente definidos, son estables y deben cumplir con una normativa específica, la planificación predictiva permite controlar el alcance y asegurar el cumplimiento.</a:t>
            </a:r>
            <a:endParaRPr/>
          </a:p>
        </p:txBody>
      </p:sp>
      <p:sp>
        <p:nvSpPr>
          <p:cNvPr id="1127" name="Google Shape;1127;p32"/>
          <p:cNvSpPr/>
          <p:nvPr/>
        </p:nvSpPr>
        <p:spPr>
          <a:xfrm>
            <a:off x="6812280" y="6446520"/>
            <a:ext cx="11247120" cy="960120"/>
          </a:xfrm>
          <a:prstGeom prst="roundRect">
            <a:avLst>
              <a:gd fmla="val 19047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8" name="Google Shape;1128;p32"/>
          <p:cNvSpPr/>
          <p:nvPr/>
        </p:nvSpPr>
        <p:spPr>
          <a:xfrm>
            <a:off x="6812280" y="6611112"/>
            <a:ext cx="73152" cy="630936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ightbulb_regular_664092.png" id="1129" name="Google Shape;1129;p32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7132320" y="66979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0" name="Google Shape;1130;p32"/>
          <p:cNvSpPr txBox="1"/>
          <p:nvPr/>
        </p:nvSpPr>
        <p:spPr>
          <a:xfrm>
            <a:off x="7818120" y="6446520"/>
            <a:ext cx="996696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1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Clave: </a:t>
            </a:r>
            <a:r>
              <a:rPr b="0" i="0" lang="es-CO" sz="2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contexto + certidumbre + normativa.</a:t>
            </a:r>
            <a:endParaRPr/>
          </a:p>
        </p:txBody>
      </p:sp>
      <p:sp>
        <p:nvSpPr>
          <p:cNvPr id="1131" name="Google Shape;1131;p32">
            <a:hlinkClick action="ppaction://hlinksldjump" r:id="rId24"/>
          </p:cNvPr>
          <p:cNvSpPr/>
          <p:nvPr/>
        </p:nvSpPr>
        <p:spPr>
          <a:xfrm>
            <a:off x="6812280" y="7927848"/>
            <a:ext cx="4937760" cy="713232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2" name="Google Shape;1132;p32">
            <a:hlinkClick action="ppaction://hlinksldjump" r:id="rId25"/>
          </p:cNvPr>
          <p:cNvSpPr/>
          <p:nvPr/>
        </p:nvSpPr>
        <p:spPr>
          <a:xfrm>
            <a:off x="6812280" y="7863840"/>
            <a:ext cx="4937760" cy="713232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000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Continuar a la comprobación  →</a:t>
            </a:r>
            <a:endParaRPr/>
          </a:p>
        </p:txBody>
      </p:sp>
      <p:sp>
        <p:nvSpPr>
          <p:cNvPr id="56" name="Google Shape;56;p2">
            <a:hlinkClick action="ppaction://hlinksldjump" r:id="rId26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>
            <a:hlinkClick action="ppaction://hlinksldjump" r:id="rId26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6" name="Shape 1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Google Shape;1137;p33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8" name="Google Shape;1138;p33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9" name="Google Shape;1139;p33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0" name="Google Shape;1140;p33">
            <a:hlinkClick action="ppaction://hlinksldjump" r:id="rId3"/>
          </p:cNvPr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1" name="Google Shape;1141;p33">
            <a:hlinkClick action="ppaction://hlinksldjump" r:id="rId4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Origen y sentido de la agilidad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2" name="Google Shape;1142;p33">
            <a:hlinkClick action="ppaction://hlinksldjump" r:id="rId5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3" name="Google Shape;1143;p33">
            <a:hlinkClick action="ppaction://hlinksldjump" r:id="rId6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4 valores fundamentales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4" name="Google Shape;1144;p33">
            <a:hlinkClick action="ppaction://hlinksldjump" r:id="rId7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5" name="Google Shape;1145;p33">
            <a:hlinkClick action="ppaction://hlinksldjump" r:id="rId8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12 principios rectores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6" name="Google Shape;1146;p33">
            <a:hlinkClick action="ppaction://hlinksldjump" r:id="rId9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7" name="Google Shape;1147;p33">
            <a:hlinkClick action="ppaction://hlinksldjump" r:id="rId10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Factor humano, calidad y mejora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8" name="Google Shape;1148;p33">
            <a:hlinkClick action="ppaction://hlinksldjump" r:id="rId11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9" name="Google Shape;1149;p33">
            <a:hlinkClick action="ppaction://hlinksldjump" r:id="rId12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la práctica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0" name="Google Shape;1150;p33">
            <a:hlinkClick action="ppaction://hlinksldjump" r:id="rId13"/>
          </p:cNvPr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1" name="Google Shape;1151;p33">
            <a:hlinkClick action="ppaction://hlinksldjump" r:id="rId14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2" name="Google Shape;1152;p33">
            <a:hlinkClick action="ppaction://hlinksldjump" r:id="rId15"/>
          </p:cNvPr>
          <p:cNvSpPr/>
          <p:nvPr/>
        </p:nvSpPr>
        <p:spPr>
          <a:xfrm>
            <a:off x="4591655" y="9647639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3" name="Google Shape;1153;p33">
            <a:hlinkClick action="ppaction://hlinksldjump" r:id="rId16"/>
          </p:cNvPr>
          <p:cNvSpPr/>
          <p:nvPr/>
        </p:nvSpPr>
        <p:spPr>
          <a:xfrm>
            <a:off x="4591655" y="9588108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4" name="Google Shape;1154;p33">
            <a:hlinkClick action="ppaction://hlinksldjump" r:id="rId17"/>
          </p:cNvPr>
          <p:cNvSpPr/>
          <p:nvPr/>
        </p:nvSpPr>
        <p:spPr>
          <a:xfrm>
            <a:off x="6378374" y="9647639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5" name="Google Shape;1155;p33">
            <a:hlinkClick action="ppaction://hlinksldjump" r:id="rId18"/>
          </p:cNvPr>
          <p:cNvSpPr/>
          <p:nvPr/>
        </p:nvSpPr>
        <p:spPr>
          <a:xfrm>
            <a:off x="6378374" y="9588108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6" name="Google Shape;1156;p33">
            <a:hlinkClick action="ppaction://hlinksldjump" r:id="rId19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7" name="Google Shape;1157;p33">
            <a:hlinkClick action="ppaction://hlinksldjump" r:id="rId19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58" name="Google Shape;1158;p33" title="correcciones sapiencia.png">
            <a:hlinkClick action="ppaction://hlinksldjump" r:id="rId19"/>
          </p:cNvPr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1159" name="Google Shape;1159;p33">
            <a:hlinkClick action="ppaction://hlinksldjump" r:id="rId19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acción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0" name="Google Shape;1160;p33"/>
          <p:cNvSpPr txBox="1"/>
          <p:nvPr/>
        </p:nvSpPr>
        <p:spPr>
          <a:xfrm>
            <a:off x="3886200" y="1417320"/>
            <a:ext cx="14356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ACTIVIDAD · RETROALIMENTACIÓN</a:t>
            </a:r>
            <a:endParaRPr/>
          </a:p>
        </p:txBody>
      </p:sp>
      <p:sp>
        <p:nvSpPr>
          <p:cNvPr id="1161" name="Google Shape;1161;p33"/>
          <p:cNvSpPr txBox="1"/>
          <p:nvPr/>
        </p:nvSpPr>
        <p:spPr>
          <a:xfrm>
            <a:off x="3886200" y="1847088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Revisa el contexto del caso</a:t>
            </a:r>
            <a:endParaRPr/>
          </a:p>
        </p:txBody>
      </p:sp>
      <p:sp>
        <p:nvSpPr>
          <p:cNvPr id="1162" name="Google Shape;1162;p33"/>
          <p:cNvSpPr/>
          <p:nvPr/>
        </p:nvSpPr>
        <p:spPr>
          <a:xfrm>
            <a:off x="388620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3" name="Google Shape;1163;p33"/>
          <p:cNvSpPr/>
          <p:nvPr/>
        </p:nvSpPr>
        <p:spPr>
          <a:xfrm>
            <a:off x="4110228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4" name="Google Shape;1164;p33"/>
          <p:cNvSpPr/>
          <p:nvPr/>
        </p:nvSpPr>
        <p:spPr>
          <a:xfrm>
            <a:off x="4334256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5" name="Google Shape;1165;p33"/>
          <p:cNvSpPr/>
          <p:nvPr/>
        </p:nvSpPr>
        <p:spPr>
          <a:xfrm>
            <a:off x="4558284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6" name="Google Shape;1166;p33"/>
          <p:cNvSpPr/>
          <p:nvPr/>
        </p:nvSpPr>
        <p:spPr>
          <a:xfrm>
            <a:off x="4782312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7" name="Google Shape;1167;p33"/>
          <p:cNvSpPr/>
          <p:nvPr/>
        </p:nvSpPr>
        <p:spPr>
          <a:xfrm>
            <a:off x="500634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8" name="Google Shape;1168;p33"/>
          <p:cNvSpPr/>
          <p:nvPr/>
        </p:nvSpPr>
        <p:spPr>
          <a:xfrm>
            <a:off x="4343400" y="3977640"/>
            <a:ext cx="1874520" cy="1874520"/>
          </a:xfrm>
          <a:prstGeom prst="ellipse">
            <a:avLst/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rrow-counter-clockwise_bold_664092.png" id="1169" name="Google Shape;1169;p33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4812030" y="4446270"/>
            <a:ext cx="937260" cy="937260"/>
          </a:xfrm>
          <a:prstGeom prst="rect">
            <a:avLst/>
          </a:prstGeom>
          <a:noFill/>
          <a:ln>
            <a:noFill/>
          </a:ln>
        </p:spPr>
      </p:pic>
      <p:sp>
        <p:nvSpPr>
          <p:cNvPr id="1170" name="Google Shape;1170;p33"/>
          <p:cNvSpPr txBox="1"/>
          <p:nvPr/>
        </p:nvSpPr>
        <p:spPr>
          <a:xfrm>
            <a:off x="6812280" y="3383280"/>
            <a:ext cx="112471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38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Aún no</a:t>
            </a:r>
            <a:endParaRPr/>
          </a:p>
        </p:txBody>
      </p:sp>
      <p:sp>
        <p:nvSpPr>
          <p:cNvPr id="1171" name="Google Shape;1171;p33"/>
          <p:cNvSpPr txBox="1"/>
          <p:nvPr/>
        </p:nvSpPr>
        <p:spPr>
          <a:xfrm>
            <a:off x="6812280" y="4160520"/>
            <a:ext cx="11247120" cy="2148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230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La agilidad no es una regla universal ni una mezcla que se aplica sin mirar el contexto. La elección depende de qué tan estables son los requisitos y de la necesidad de aprender sobre la marcha.</a:t>
            </a:r>
            <a:endParaRPr/>
          </a:p>
        </p:txBody>
      </p:sp>
      <p:sp>
        <p:nvSpPr>
          <p:cNvPr id="1172" name="Google Shape;1172;p33"/>
          <p:cNvSpPr/>
          <p:nvPr/>
        </p:nvSpPr>
        <p:spPr>
          <a:xfrm>
            <a:off x="6812280" y="6446520"/>
            <a:ext cx="11247120" cy="960120"/>
          </a:xfrm>
          <a:prstGeom prst="roundRect">
            <a:avLst>
              <a:gd fmla="val 19047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3" name="Google Shape;1173;p33"/>
          <p:cNvSpPr/>
          <p:nvPr/>
        </p:nvSpPr>
        <p:spPr>
          <a:xfrm>
            <a:off x="6812280" y="6611112"/>
            <a:ext cx="73152" cy="630936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magnifying-glass_regular_664092.png" id="1174" name="Google Shape;1174;p33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7132320" y="669798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5" name="Google Shape;1175;p33"/>
          <p:cNvSpPr txBox="1"/>
          <p:nvPr/>
        </p:nvSpPr>
        <p:spPr>
          <a:xfrm>
            <a:off x="7818120" y="6446520"/>
            <a:ext cx="996696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1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Pista: </a:t>
            </a:r>
            <a:r>
              <a:rPr b="0" i="0" lang="es-CO" sz="2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busca la opción que relacione el enfoque con las características del proyecto.</a:t>
            </a:r>
            <a:endParaRPr/>
          </a:p>
        </p:txBody>
      </p:sp>
      <p:sp>
        <p:nvSpPr>
          <p:cNvPr id="1176" name="Google Shape;1176;p33">
            <a:hlinkClick action="ppaction://hlinksldjump" r:id="rId24"/>
          </p:cNvPr>
          <p:cNvSpPr/>
          <p:nvPr/>
        </p:nvSpPr>
        <p:spPr>
          <a:xfrm>
            <a:off x="6812280" y="7927848"/>
            <a:ext cx="4937760" cy="713232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7" name="Google Shape;1177;p33">
            <a:hlinkClick action="ppaction://hlinksldjump" r:id="rId25"/>
          </p:cNvPr>
          <p:cNvSpPr/>
          <p:nvPr/>
        </p:nvSpPr>
        <p:spPr>
          <a:xfrm>
            <a:off x="6812280" y="7863840"/>
            <a:ext cx="4937760" cy="713232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45700" lIns="45700" spcFirstLastPara="1" rIns="45700" wrap="square" tIns="45700">
            <a:noAutofit/>
          </a:bodyPr>
          <a:lstStyle/>
          <a:p>
            <a:pPr indent="0" lvl="0" marL="0" marR="0" rtl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2000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Intentar de nuevo  ↺</a:t>
            </a:r>
            <a:endParaRPr/>
          </a:p>
        </p:txBody>
      </p:sp>
      <p:sp>
        <p:nvSpPr>
          <p:cNvPr id="56" name="Google Shape;56;p2">
            <a:hlinkClick action="ppaction://hlinksldjump" r:id="rId26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>
            <a:hlinkClick action="ppaction://hlinksldjump" r:id="rId26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1" name="Shape 1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2" name="Google Shape;1182;p34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3" name="Google Shape;1183;p34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4" name="Google Shape;1184;p34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5" name="Google Shape;1185;p34">
            <a:hlinkClick action="ppaction://hlinksldjump" r:id="rId3"/>
          </p:cNvPr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6" name="Google Shape;1186;p34">
            <a:hlinkClick action="ppaction://hlinksldjump" r:id="rId4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Origen y sentido de la agilidad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7" name="Google Shape;1187;p34">
            <a:hlinkClick action="ppaction://hlinksldjump" r:id="rId5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8" name="Google Shape;1188;p34">
            <a:hlinkClick action="ppaction://hlinksldjump" r:id="rId6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4 valores fundamentales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9" name="Google Shape;1189;p34">
            <a:hlinkClick action="ppaction://hlinksldjump" r:id="rId7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0" name="Google Shape;1190;p34">
            <a:hlinkClick action="ppaction://hlinksldjump" r:id="rId8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12 principios rectores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1" name="Google Shape;1191;p34">
            <a:hlinkClick action="ppaction://hlinksldjump" r:id="rId9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2" name="Google Shape;1192;p34">
            <a:hlinkClick action="ppaction://hlinksldjump" r:id="rId10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Factor humano, calidad y mejora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3" name="Google Shape;1193;p34">
            <a:hlinkClick action="ppaction://hlinksldjump" r:id="rId11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4" name="Google Shape;1194;p34">
            <a:hlinkClick action="ppaction://hlinksldjump" r:id="rId12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la práctica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5" name="Google Shape;1195;p34">
            <a:hlinkClick action="ppaction://hlinksldjump" r:id="rId13"/>
          </p:cNvPr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6" name="Google Shape;1196;p34">
            <a:hlinkClick action="ppaction://hlinksldjump" r:id="rId14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7" name="Google Shape;1197;p34">
            <a:hlinkClick action="ppaction://hlinksldjump" r:id="rId15"/>
          </p:cNvPr>
          <p:cNvSpPr/>
          <p:nvPr/>
        </p:nvSpPr>
        <p:spPr>
          <a:xfrm>
            <a:off x="4591655" y="9647639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8" name="Google Shape;1198;p34">
            <a:hlinkClick action="ppaction://hlinksldjump" r:id="rId16"/>
          </p:cNvPr>
          <p:cNvSpPr/>
          <p:nvPr/>
        </p:nvSpPr>
        <p:spPr>
          <a:xfrm>
            <a:off x="4591655" y="9588108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9" name="Google Shape;1199;p34">
            <a:hlinkClick action="ppaction://hlinksldjump" r:id="rId17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0" name="Google Shape;1200;p34">
            <a:hlinkClick action="ppaction://hlinksldjump" r:id="rId17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01" name="Google Shape;1201;p34" title="correcciones sapiencia.png">
            <a:hlinkClick action="ppaction://hlinksldjump" r:id="rId17"/>
          </p:cNvPr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66783" y="600314"/>
            <a:ext cx="486192" cy="486192"/>
          </a:xfrm>
          <a:prstGeom prst="rect">
            <a:avLst/>
          </a:prstGeom>
          <a:noFill/>
          <a:ln>
            <a:noFill/>
          </a:ln>
        </p:spPr>
      </p:pic>
      <p:sp>
        <p:nvSpPr>
          <p:cNvPr id="1202" name="Google Shape;1202;p34">
            <a:hlinkClick action="ppaction://hlinksldjump" r:id="rId17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acción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3" name="Google Shape;1203;p34"/>
          <p:cNvSpPr txBox="1"/>
          <p:nvPr/>
        </p:nvSpPr>
        <p:spPr>
          <a:xfrm>
            <a:off x="3886200" y="1417320"/>
            <a:ext cx="14356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ACTIVIDAD · COMPROBACIÓN</a:t>
            </a:r>
            <a:endParaRPr/>
          </a:p>
        </p:txBody>
      </p:sp>
      <p:sp>
        <p:nvSpPr>
          <p:cNvPr id="1204" name="Google Shape;1204;p34"/>
          <p:cNvSpPr txBox="1"/>
          <p:nvPr/>
        </p:nvSpPr>
        <p:spPr>
          <a:xfrm>
            <a:off x="3886200" y="1847088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tu criterio ágil en la práctica</a:t>
            </a:r>
            <a:endParaRPr/>
          </a:p>
        </p:txBody>
      </p:sp>
      <p:sp>
        <p:nvSpPr>
          <p:cNvPr id="1205" name="Google Shape;1205;p34"/>
          <p:cNvSpPr/>
          <p:nvPr/>
        </p:nvSpPr>
        <p:spPr>
          <a:xfrm>
            <a:off x="388620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6" name="Google Shape;1206;p34"/>
          <p:cNvSpPr/>
          <p:nvPr/>
        </p:nvSpPr>
        <p:spPr>
          <a:xfrm>
            <a:off x="4110228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34"/>
          <p:cNvSpPr/>
          <p:nvPr/>
        </p:nvSpPr>
        <p:spPr>
          <a:xfrm>
            <a:off x="4334256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8" name="Google Shape;1208;p34"/>
          <p:cNvSpPr/>
          <p:nvPr/>
        </p:nvSpPr>
        <p:spPr>
          <a:xfrm>
            <a:off x="4558284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9" name="Google Shape;1209;p34"/>
          <p:cNvSpPr/>
          <p:nvPr/>
        </p:nvSpPr>
        <p:spPr>
          <a:xfrm>
            <a:off x="4782312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0" name="Google Shape;1210;p34"/>
          <p:cNvSpPr/>
          <p:nvPr/>
        </p:nvSpPr>
        <p:spPr>
          <a:xfrm>
            <a:off x="500634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1" name="Google Shape;1211;p34"/>
          <p:cNvSpPr/>
          <p:nvPr/>
        </p:nvSpPr>
        <p:spPr>
          <a:xfrm>
            <a:off x="3886200" y="3200400"/>
            <a:ext cx="14356080" cy="914400"/>
          </a:xfrm>
          <a:prstGeom prst="roundRect">
            <a:avLst>
              <a:gd fmla="val 30000" name="adj"/>
            </a:avLst>
          </a:prstGeom>
          <a:gradFill>
            <a:gsLst>
              <a:gs pos="0">
                <a:srgbClr val="467CF1"/>
              </a:gs>
              <a:gs pos="100000">
                <a:srgbClr val="664092"/>
              </a:gs>
            </a:gsLst>
            <a:lin ang="81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ompass_regular_FFFFFF.png" id="1212" name="Google Shape;1212;p34"/>
          <p:cNvPicPr preferRelativeResize="0"/>
          <p:nvPr/>
        </p:nvPicPr>
        <p:blipFill rotWithShape="1">
          <a:blip r:embed="rId20">
            <a:alphaModFix/>
          </a:blip>
          <a:srcRect b="0" l="0" r="0" t="0"/>
          <a:stretch/>
        </p:blipFill>
        <p:spPr>
          <a:xfrm>
            <a:off x="4206240" y="3374136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1213" name="Google Shape;1213;p34"/>
          <p:cNvSpPr txBox="1"/>
          <p:nvPr/>
        </p:nvSpPr>
        <p:spPr>
          <a:xfrm>
            <a:off x="5029200" y="3200400"/>
            <a:ext cx="128473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Escenario: </a:t>
            </a:r>
            <a:r>
              <a:rPr b="0" i="0" lang="es-CO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tu equipo enfrenta requisitos cambiantes a mitad del cronograma. ¿Cómo aplicar los fundamentos ágiles para asegurar valor real?</a:t>
            </a:r>
            <a:endParaRPr/>
          </a:p>
        </p:txBody>
      </p:sp>
      <p:sp>
        <p:nvSpPr>
          <p:cNvPr id="1214" name="Google Shape;1214;p34"/>
          <p:cNvSpPr/>
          <p:nvPr/>
        </p:nvSpPr>
        <p:spPr>
          <a:xfrm>
            <a:off x="3886200" y="4297680"/>
            <a:ext cx="2710282" cy="594360"/>
          </a:xfrm>
          <a:prstGeom prst="roundRect">
            <a:avLst>
              <a:gd fmla="val 30769" name="adj"/>
            </a:avLst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ompass_regular_FFFFFF.png" id="1215" name="Google Shape;1215;p34"/>
          <p:cNvPicPr preferRelativeResize="0"/>
          <p:nvPr/>
        </p:nvPicPr>
        <p:blipFill rotWithShape="1">
          <a:blip r:embed="rId20">
            <a:alphaModFix/>
          </a:blip>
          <a:srcRect b="0" l="0" r="0" t="0"/>
          <a:stretch/>
        </p:blipFill>
        <p:spPr>
          <a:xfrm>
            <a:off x="4050792" y="4416552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216" name="Google Shape;1216;p34"/>
          <p:cNvSpPr txBox="1"/>
          <p:nvPr/>
        </p:nvSpPr>
        <p:spPr>
          <a:xfrm>
            <a:off x="4507992" y="4297680"/>
            <a:ext cx="2024482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 · Sentido</a:t>
            </a:r>
            <a:endParaRPr/>
          </a:p>
        </p:txBody>
      </p:sp>
      <p:sp>
        <p:nvSpPr>
          <p:cNvPr id="1217" name="Google Shape;1217;p34"/>
          <p:cNvSpPr/>
          <p:nvPr/>
        </p:nvSpPr>
        <p:spPr>
          <a:xfrm>
            <a:off x="3886200" y="5010912"/>
            <a:ext cx="2710282" cy="1371600"/>
          </a:xfrm>
          <a:prstGeom prst="roundRect">
            <a:avLst>
              <a:gd fmla="val 13333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heck-circle_fill_664092.png" id="1218" name="Google Shape;1218;p34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4050792" y="5148072"/>
            <a:ext cx="329184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1219" name="Google Shape;1219;p34"/>
          <p:cNvSpPr txBox="1"/>
          <p:nvPr/>
        </p:nvSpPr>
        <p:spPr>
          <a:xfrm>
            <a:off x="4453128" y="5102352"/>
            <a:ext cx="207020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4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Decisión ágil</a:t>
            </a:r>
            <a:endParaRPr/>
          </a:p>
        </p:txBody>
      </p:sp>
      <p:sp>
        <p:nvSpPr>
          <p:cNvPr id="1220" name="Google Shape;1220;p34"/>
          <p:cNvSpPr txBox="1"/>
          <p:nvPr/>
        </p:nvSpPr>
        <p:spPr>
          <a:xfrm>
            <a:off x="4050792" y="5541264"/>
            <a:ext cx="2435962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35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Ciclos adaptativos para aprender con retroalimentación temprana.</a:t>
            </a:r>
            <a:endParaRPr/>
          </a:p>
        </p:txBody>
      </p:sp>
      <p:sp>
        <p:nvSpPr>
          <p:cNvPr id="1221" name="Google Shape;1221;p34"/>
          <p:cNvSpPr/>
          <p:nvPr/>
        </p:nvSpPr>
        <p:spPr>
          <a:xfrm>
            <a:off x="3886200" y="6473952"/>
            <a:ext cx="2710282" cy="1371600"/>
          </a:xfrm>
          <a:prstGeom prst="roundRect">
            <a:avLst>
              <a:gd fmla="val 13333" name="adj"/>
            </a:avLst>
          </a:prstGeom>
          <a:solidFill>
            <a:srgbClr val="FBF4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x-circle_fill_A71989.png" id="1222" name="Google Shape;1222;p34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4050792" y="6611112"/>
            <a:ext cx="329184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1223" name="Google Shape;1223;p34"/>
          <p:cNvSpPr txBox="1"/>
          <p:nvPr/>
        </p:nvSpPr>
        <p:spPr>
          <a:xfrm>
            <a:off x="4453128" y="6565392"/>
            <a:ext cx="207020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4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Desvío común</a:t>
            </a:r>
            <a:endParaRPr/>
          </a:p>
        </p:txBody>
      </p:sp>
      <p:sp>
        <p:nvSpPr>
          <p:cNvPr id="1224" name="Google Shape;1224;p34"/>
          <p:cNvSpPr txBox="1"/>
          <p:nvPr/>
        </p:nvSpPr>
        <p:spPr>
          <a:xfrm>
            <a:off x="4050792" y="7004304"/>
            <a:ext cx="2435962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35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Acelerar el paso para cumplir fechas sin validar el producto.</a:t>
            </a:r>
            <a:endParaRPr/>
          </a:p>
        </p:txBody>
      </p:sp>
      <p:sp>
        <p:nvSpPr>
          <p:cNvPr id="1225" name="Google Shape;1225;p34"/>
          <p:cNvSpPr/>
          <p:nvPr/>
        </p:nvSpPr>
        <p:spPr>
          <a:xfrm>
            <a:off x="6797650" y="4297680"/>
            <a:ext cx="2710282" cy="594360"/>
          </a:xfrm>
          <a:prstGeom prst="roundRect">
            <a:avLst>
              <a:gd fmla="val 30769" name="adj"/>
            </a:avLst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scales_regular_FFFFFF.png" id="1226" name="Google Shape;1226;p34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6962242" y="4416552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227" name="Google Shape;1227;p34"/>
          <p:cNvSpPr txBox="1"/>
          <p:nvPr/>
        </p:nvSpPr>
        <p:spPr>
          <a:xfrm>
            <a:off x="7419442" y="4297680"/>
            <a:ext cx="2024482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 · Valores</a:t>
            </a:r>
            <a:endParaRPr/>
          </a:p>
        </p:txBody>
      </p:sp>
      <p:sp>
        <p:nvSpPr>
          <p:cNvPr id="1228" name="Google Shape;1228;p34"/>
          <p:cNvSpPr/>
          <p:nvPr/>
        </p:nvSpPr>
        <p:spPr>
          <a:xfrm>
            <a:off x="6797650" y="5010912"/>
            <a:ext cx="2710282" cy="1371600"/>
          </a:xfrm>
          <a:prstGeom prst="roundRect">
            <a:avLst>
              <a:gd fmla="val 13333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heck-circle_fill_664092.png" id="1229" name="Google Shape;1229;p34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6962242" y="5148072"/>
            <a:ext cx="329184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1230" name="Google Shape;1230;p34"/>
          <p:cNvSpPr txBox="1"/>
          <p:nvPr/>
        </p:nvSpPr>
        <p:spPr>
          <a:xfrm>
            <a:off x="7364578" y="5102352"/>
            <a:ext cx="207020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4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Decisión ágil</a:t>
            </a:r>
            <a:endParaRPr/>
          </a:p>
        </p:txBody>
      </p:sp>
      <p:sp>
        <p:nvSpPr>
          <p:cNvPr id="1231" name="Google Shape;1231;p34"/>
          <p:cNvSpPr txBox="1"/>
          <p:nvPr/>
        </p:nvSpPr>
        <p:spPr>
          <a:xfrm>
            <a:off x="6962242" y="5541264"/>
            <a:ext cx="2435962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35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Priorizar personas y software funcional sin eliminar procesos.</a:t>
            </a:r>
            <a:endParaRPr/>
          </a:p>
        </p:txBody>
      </p:sp>
      <p:sp>
        <p:nvSpPr>
          <p:cNvPr id="1232" name="Google Shape;1232;p34"/>
          <p:cNvSpPr/>
          <p:nvPr/>
        </p:nvSpPr>
        <p:spPr>
          <a:xfrm>
            <a:off x="6797650" y="6473952"/>
            <a:ext cx="2710282" cy="1371600"/>
          </a:xfrm>
          <a:prstGeom prst="roundRect">
            <a:avLst>
              <a:gd fmla="val 13333" name="adj"/>
            </a:avLst>
          </a:prstGeom>
          <a:solidFill>
            <a:srgbClr val="FBF4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x-circle_fill_A71989.png" id="1233" name="Google Shape;1233;p34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6962242" y="6611112"/>
            <a:ext cx="329184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1234" name="Google Shape;1234;p34"/>
          <p:cNvSpPr txBox="1"/>
          <p:nvPr/>
        </p:nvSpPr>
        <p:spPr>
          <a:xfrm>
            <a:off x="7364578" y="6565392"/>
            <a:ext cx="207020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4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Desvío común</a:t>
            </a:r>
            <a:endParaRPr/>
          </a:p>
        </p:txBody>
      </p:sp>
      <p:sp>
        <p:nvSpPr>
          <p:cNvPr id="1235" name="Google Shape;1235;p34"/>
          <p:cNvSpPr txBox="1"/>
          <p:nvPr/>
        </p:nvSpPr>
        <p:spPr>
          <a:xfrm>
            <a:off x="6962242" y="7004304"/>
            <a:ext cx="2435962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35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Creer que la agilidad elimina la disciplina o la documentación.</a:t>
            </a:r>
            <a:endParaRPr/>
          </a:p>
        </p:txBody>
      </p:sp>
      <p:sp>
        <p:nvSpPr>
          <p:cNvPr id="1236" name="Google Shape;1236;p34"/>
          <p:cNvSpPr/>
          <p:nvPr/>
        </p:nvSpPr>
        <p:spPr>
          <a:xfrm>
            <a:off x="9709099" y="4297680"/>
            <a:ext cx="2710282" cy="594360"/>
          </a:xfrm>
          <a:prstGeom prst="roundRect">
            <a:avLst>
              <a:gd fmla="val 30769" name="adj"/>
            </a:avLst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ist-numbers_regular_FFFFFF.png" id="1237" name="Google Shape;1237;p34"/>
          <p:cNvPicPr preferRelativeResize="0"/>
          <p:nvPr/>
        </p:nvPicPr>
        <p:blipFill rotWithShape="1">
          <a:blip r:embed="rId24">
            <a:alphaModFix/>
          </a:blip>
          <a:srcRect b="0" l="0" r="0" t="0"/>
          <a:stretch/>
        </p:blipFill>
        <p:spPr>
          <a:xfrm>
            <a:off x="9873691" y="4416552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238" name="Google Shape;1238;p34"/>
          <p:cNvSpPr txBox="1"/>
          <p:nvPr/>
        </p:nvSpPr>
        <p:spPr>
          <a:xfrm>
            <a:off x="10330891" y="4297680"/>
            <a:ext cx="2024482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 · Principios</a:t>
            </a:r>
            <a:endParaRPr/>
          </a:p>
        </p:txBody>
      </p:sp>
      <p:sp>
        <p:nvSpPr>
          <p:cNvPr id="1239" name="Google Shape;1239;p34"/>
          <p:cNvSpPr/>
          <p:nvPr/>
        </p:nvSpPr>
        <p:spPr>
          <a:xfrm>
            <a:off x="9709099" y="5010912"/>
            <a:ext cx="2710282" cy="1371600"/>
          </a:xfrm>
          <a:prstGeom prst="roundRect">
            <a:avLst>
              <a:gd fmla="val 13333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heck-circle_fill_664092.png" id="1240" name="Google Shape;1240;p34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9873691" y="5148072"/>
            <a:ext cx="329184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1241" name="Google Shape;1241;p34"/>
          <p:cNvSpPr txBox="1"/>
          <p:nvPr/>
        </p:nvSpPr>
        <p:spPr>
          <a:xfrm>
            <a:off x="10276027" y="5102352"/>
            <a:ext cx="207020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4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Decisión ágil</a:t>
            </a:r>
            <a:endParaRPr/>
          </a:p>
        </p:txBody>
      </p:sp>
      <p:sp>
        <p:nvSpPr>
          <p:cNvPr id="1242" name="Google Shape;1242;p34"/>
          <p:cNvSpPr txBox="1"/>
          <p:nvPr/>
        </p:nvSpPr>
        <p:spPr>
          <a:xfrm>
            <a:off x="9873691" y="5541264"/>
            <a:ext cx="2435962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35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Entregas frecuentes e incorporar cambios que aporten valor.</a:t>
            </a:r>
            <a:endParaRPr/>
          </a:p>
        </p:txBody>
      </p:sp>
      <p:sp>
        <p:nvSpPr>
          <p:cNvPr id="1243" name="Google Shape;1243;p34"/>
          <p:cNvSpPr/>
          <p:nvPr/>
        </p:nvSpPr>
        <p:spPr>
          <a:xfrm>
            <a:off x="9709099" y="6473952"/>
            <a:ext cx="2710282" cy="1371600"/>
          </a:xfrm>
          <a:prstGeom prst="roundRect">
            <a:avLst>
              <a:gd fmla="val 13333" name="adj"/>
            </a:avLst>
          </a:prstGeom>
          <a:solidFill>
            <a:srgbClr val="FBF4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x-circle_fill_A71989.png" id="1244" name="Google Shape;1244;p34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9873691" y="6611112"/>
            <a:ext cx="329184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1245" name="Google Shape;1245;p34"/>
          <p:cNvSpPr txBox="1"/>
          <p:nvPr/>
        </p:nvSpPr>
        <p:spPr>
          <a:xfrm>
            <a:off x="10276027" y="6565392"/>
            <a:ext cx="207020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4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Desvío común</a:t>
            </a:r>
            <a:endParaRPr/>
          </a:p>
        </p:txBody>
      </p:sp>
      <p:sp>
        <p:nvSpPr>
          <p:cNvPr id="1246" name="Google Shape;1246;p34"/>
          <p:cNvSpPr txBox="1"/>
          <p:nvPr/>
        </p:nvSpPr>
        <p:spPr>
          <a:xfrm>
            <a:off x="9873691" y="7004304"/>
            <a:ext cx="2435962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35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Bloquear los requisitos para proteger un plan inicial estático.</a:t>
            </a:r>
            <a:endParaRPr/>
          </a:p>
        </p:txBody>
      </p:sp>
      <p:sp>
        <p:nvSpPr>
          <p:cNvPr id="1247" name="Google Shape;1247;p34"/>
          <p:cNvSpPr/>
          <p:nvPr/>
        </p:nvSpPr>
        <p:spPr>
          <a:xfrm>
            <a:off x="12620549" y="4297680"/>
            <a:ext cx="2710282" cy="594360"/>
          </a:xfrm>
          <a:prstGeom prst="roundRect">
            <a:avLst>
              <a:gd fmla="val 30769" name="adj"/>
            </a:avLst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users-three_regular_FFFFFF.png" id="1248" name="Google Shape;1248;p34"/>
          <p:cNvPicPr preferRelativeResize="0"/>
          <p:nvPr/>
        </p:nvPicPr>
        <p:blipFill rotWithShape="1">
          <a:blip r:embed="rId25">
            <a:alphaModFix/>
          </a:blip>
          <a:srcRect b="0" l="0" r="0" t="0"/>
          <a:stretch/>
        </p:blipFill>
        <p:spPr>
          <a:xfrm>
            <a:off x="12785141" y="4416552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249" name="Google Shape;1249;p34"/>
          <p:cNvSpPr txBox="1"/>
          <p:nvPr/>
        </p:nvSpPr>
        <p:spPr>
          <a:xfrm>
            <a:off x="13242341" y="4297680"/>
            <a:ext cx="2024482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 · Personas</a:t>
            </a:r>
            <a:endParaRPr/>
          </a:p>
        </p:txBody>
      </p:sp>
      <p:sp>
        <p:nvSpPr>
          <p:cNvPr id="1250" name="Google Shape;1250;p34"/>
          <p:cNvSpPr/>
          <p:nvPr/>
        </p:nvSpPr>
        <p:spPr>
          <a:xfrm>
            <a:off x="12620549" y="5010912"/>
            <a:ext cx="2710282" cy="1371600"/>
          </a:xfrm>
          <a:prstGeom prst="roundRect">
            <a:avLst>
              <a:gd fmla="val 13333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heck-circle_fill_664092.png" id="1251" name="Google Shape;1251;p34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12785141" y="5148072"/>
            <a:ext cx="329184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1252" name="Google Shape;1252;p34"/>
          <p:cNvSpPr txBox="1"/>
          <p:nvPr/>
        </p:nvSpPr>
        <p:spPr>
          <a:xfrm>
            <a:off x="13187477" y="5102352"/>
            <a:ext cx="207020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4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Decisión ágil</a:t>
            </a:r>
            <a:endParaRPr/>
          </a:p>
        </p:txBody>
      </p:sp>
      <p:sp>
        <p:nvSpPr>
          <p:cNvPr id="1253" name="Google Shape;1253;p34"/>
          <p:cNvSpPr txBox="1"/>
          <p:nvPr/>
        </p:nvSpPr>
        <p:spPr>
          <a:xfrm>
            <a:off x="12785141" y="5541264"/>
            <a:ext cx="2435962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35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Confianza, comunicación directa y ritmo sostenible.</a:t>
            </a:r>
            <a:endParaRPr/>
          </a:p>
        </p:txBody>
      </p:sp>
      <p:sp>
        <p:nvSpPr>
          <p:cNvPr id="1254" name="Google Shape;1254;p34"/>
          <p:cNvSpPr/>
          <p:nvPr/>
        </p:nvSpPr>
        <p:spPr>
          <a:xfrm>
            <a:off x="12620549" y="6473952"/>
            <a:ext cx="2710282" cy="1371600"/>
          </a:xfrm>
          <a:prstGeom prst="roundRect">
            <a:avLst>
              <a:gd fmla="val 13333" name="adj"/>
            </a:avLst>
          </a:prstGeom>
          <a:solidFill>
            <a:srgbClr val="FBF4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x-circle_fill_A71989.png" id="1255" name="Google Shape;1255;p34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12785141" y="6611112"/>
            <a:ext cx="329184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1256" name="Google Shape;1256;p34"/>
          <p:cNvSpPr txBox="1"/>
          <p:nvPr/>
        </p:nvSpPr>
        <p:spPr>
          <a:xfrm>
            <a:off x="13187477" y="6565392"/>
            <a:ext cx="207020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4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Desvío común</a:t>
            </a:r>
            <a:endParaRPr/>
          </a:p>
        </p:txBody>
      </p:sp>
      <p:sp>
        <p:nvSpPr>
          <p:cNvPr id="1257" name="Google Shape;1257;p34"/>
          <p:cNvSpPr txBox="1"/>
          <p:nvPr/>
        </p:nvSpPr>
        <p:spPr>
          <a:xfrm>
            <a:off x="12785141" y="7004304"/>
            <a:ext cx="2435962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35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Enfocarse solo en la herramienta ignorando la motivación del equipo.</a:t>
            </a:r>
            <a:endParaRPr/>
          </a:p>
        </p:txBody>
      </p:sp>
      <p:sp>
        <p:nvSpPr>
          <p:cNvPr id="1258" name="Google Shape;1258;p34"/>
          <p:cNvSpPr/>
          <p:nvPr/>
        </p:nvSpPr>
        <p:spPr>
          <a:xfrm>
            <a:off x="15531998" y="4297680"/>
            <a:ext cx="2710282" cy="594360"/>
          </a:xfrm>
          <a:prstGeom prst="roundRect">
            <a:avLst>
              <a:gd fmla="val 30769" name="adj"/>
            </a:avLst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ath_regular_FFFFFF.png" id="1259" name="Google Shape;1259;p34"/>
          <p:cNvPicPr preferRelativeResize="0"/>
          <p:nvPr/>
        </p:nvPicPr>
        <p:blipFill rotWithShape="1">
          <a:blip r:embed="rId26">
            <a:alphaModFix/>
          </a:blip>
          <a:srcRect b="0" l="0" r="0" t="0"/>
          <a:stretch/>
        </p:blipFill>
        <p:spPr>
          <a:xfrm>
            <a:off x="15696590" y="4416552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260" name="Google Shape;1260;p34"/>
          <p:cNvSpPr txBox="1"/>
          <p:nvPr/>
        </p:nvSpPr>
        <p:spPr>
          <a:xfrm>
            <a:off x="16153790" y="4297680"/>
            <a:ext cx="2024482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 · Contexto</a:t>
            </a:r>
            <a:endParaRPr/>
          </a:p>
        </p:txBody>
      </p:sp>
      <p:sp>
        <p:nvSpPr>
          <p:cNvPr id="1261" name="Google Shape;1261;p34"/>
          <p:cNvSpPr/>
          <p:nvPr/>
        </p:nvSpPr>
        <p:spPr>
          <a:xfrm>
            <a:off x="15531998" y="5010912"/>
            <a:ext cx="2710282" cy="1371600"/>
          </a:xfrm>
          <a:prstGeom prst="roundRect">
            <a:avLst>
              <a:gd fmla="val 13333" name="adj"/>
            </a:avLst>
          </a:prstGeom>
          <a:solidFill>
            <a:srgbClr val="F1EB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heck-circle_fill_664092.png" id="1262" name="Google Shape;1262;p34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15696590" y="5148072"/>
            <a:ext cx="329184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1263" name="Google Shape;1263;p34"/>
          <p:cNvSpPr txBox="1"/>
          <p:nvPr/>
        </p:nvSpPr>
        <p:spPr>
          <a:xfrm>
            <a:off x="16098926" y="5102352"/>
            <a:ext cx="207020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4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Decisión ágil</a:t>
            </a:r>
            <a:endParaRPr/>
          </a:p>
        </p:txBody>
      </p:sp>
      <p:sp>
        <p:nvSpPr>
          <p:cNvPr id="1264" name="Google Shape;1264;p34"/>
          <p:cNvSpPr txBox="1"/>
          <p:nvPr/>
        </p:nvSpPr>
        <p:spPr>
          <a:xfrm>
            <a:off x="15696590" y="5541264"/>
            <a:ext cx="2435962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35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Adoptar agilidad ante alta incertidumbre y necesidad de ajuste.</a:t>
            </a:r>
            <a:endParaRPr/>
          </a:p>
        </p:txBody>
      </p:sp>
      <p:sp>
        <p:nvSpPr>
          <p:cNvPr id="1265" name="Google Shape;1265;p34"/>
          <p:cNvSpPr/>
          <p:nvPr/>
        </p:nvSpPr>
        <p:spPr>
          <a:xfrm>
            <a:off x="15531998" y="6473952"/>
            <a:ext cx="2710282" cy="1371600"/>
          </a:xfrm>
          <a:prstGeom prst="roundRect">
            <a:avLst>
              <a:gd fmla="val 13333" name="adj"/>
            </a:avLst>
          </a:prstGeom>
          <a:solidFill>
            <a:srgbClr val="FBF4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x-circle_fill_A71989.png" id="1266" name="Google Shape;1266;p34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15696590" y="6611112"/>
            <a:ext cx="329184" cy="329184"/>
          </a:xfrm>
          <a:prstGeom prst="rect">
            <a:avLst/>
          </a:prstGeom>
          <a:noFill/>
          <a:ln>
            <a:noFill/>
          </a:ln>
        </p:spPr>
      </p:pic>
      <p:sp>
        <p:nvSpPr>
          <p:cNvPr id="1267" name="Google Shape;1267;p34"/>
          <p:cNvSpPr txBox="1"/>
          <p:nvPr/>
        </p:nvSpPr>
        <p:spPr>
          <a:xfrm>
            <a:off x="16098926" y="6565392"/>
            <a:ext cx="2070202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4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Desvío común</a:t>
            </a:r>
            <a:endParaRPr/>
          </a:p>
        </p:txBody>
      </p:sp>
      <p:sp>
        <p:nvSpPr>
          <p:cNvPr id="1268" name="Google Shape;1268;p34"/>
          <p:cNvSpPr txBox="1"/>
          <p:nvPr/>
        </p:nvSpPr>
        <p:spPr>
          <a:xfrm>
            <a:off x="15696590" y="7004304"/>
            <a:ext cx="2435962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350" u="none" cap="none" strike="noStrike">
                <a:solidFill>
                  <a:srgbClr val="332F37"/>
                </a:solidFill>
                <a:latin typeface="Arial"/>
                <a:ea typeface="Arial"/>
                <a:cs typeface="Arial"/>
                <a:sym typeface="Arial"/>
              </a:rPr>
              <a:t>Aplicar metodologías ágiles por moda en procesos fijos y normados.</a:t>
            </a:r>
            <a:endParaRPr/>
          </a:p>
        </p:txBody>
      </p:sp>
      <p:sp>
        <p:nvSpPr>
          <p:cNvPr id="1269" name="Google Shape;1269;p34"/>
          <p:cNvSpPr/>
          <p:nvPr/>
        </p:nvSpPr>
        <p:spPr>
          <a:xfrm>
            <a:off x="3886200" y="7973568"/>
            <a:ext cx="14356080" cy="960120"/>
          </a:xfrm>
          <a:prstGeom prst="roundRect">
            <a:avLst>
              <a:gd fmla="val 28571" name="adj"/>
            </a:avLst>
          </a:prstGeom>
          <a:gradFill>
            <a:gsLst>
              <a:gs pos="0">
                <a:srgbClr val="467CF1"/>
              </a:gs>
              <a:gs pos="100000">
                <a:srgbClr val="664092"/>
              </a:gs>
            </a:gsLst>
            <a:lin ang="81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heck-circle_regular_FFFFFF.png" id="1270" name="Google Shape;1270;p34"/>
          <p:cNvPicPr preferRelativeResize="0"/>
          <p:nvPr/>
        </p:nvPicPr>
        <p:blipFill rotWithShape="1">
          <a:blip r:embed="rId27">
            <a:alphaModFix/>
          </a:blip>
          <a:srcRect b="0" l="0" r="0" t="0"/>
          <a:stretch/>
        </p:blipFill>
        <p:spPr>
          <a:xfrm>
            <a:off x="4206240" y="8170164"/>
            <a:ext cx="566928" cy="566928"/>
          </a:xfrm>
          <a:prstGeom prst="rect">
            <a:avLst/>
          </a:prstGeom>
          <a:noFill/>
          <a:ln>
            <a:noFill/>
          </a:ln>
        </p:spPr>
      </p:pic>
      <p:sp>
        <p:nvSpPr>
          <p:cNvPr id="1271" name="Google Shape;1271;p34"/>
          <p:cNvSpPr txBox="1"/>
          <p:nvPr/>
        </p:nvSpPr>
        <p:spPr>
          <a:xfrm>
            <a:off x="5029200" y="7973568"/>
            <a:ext cx="1284732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Aprender de la evidencia + Colaborar en equipo + Adaptar el plan = Entrega de valor real</a:t>
            </a:r>
            <a:endParaRPr/>
          </a:p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Si tus decisiones equilibran la adaptabilidad con la disciplina del trabajo, estás gestionando con auténtico pensamiento ágil.</a:t>
            </a:r>
            <a:endParaRPr/>
          </a:p>
        </p:txBody>
      </p:sp>
      <p:sp>
        <p:nvSpPr>
          <p:cNvPr id="56" name="Google Shape;56;p2">
            <a:hlinkClick action="ppaction://hlinksldjump" r:id="rId28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>
            <a:hlinkClick action="ppaction://hlinksldjump" r:id="rId28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2">
            <a:hlinkClick action="ppaction://hlinksldjump" r:id="rId28"/>
          </p:cNvPr>
          <p:cNvSpPr/>
          <p:nvPr/>
        </p:nvSpPr>
        <p:spPr>
          <a:xfrm>
            <a:off x="6378374" y="9647639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C8A9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2">
            <a:hlinkClick action="ppaction://hlinksldjump" r:id="rId28"/>
          </p:cNvPr>
          <p:cNvSpPr/>
          <p:nvPr/>
        </p:nvSpPr>
        <p:spPr>
          <a:xfrm>
            <a:off x="6378374" y="9588108"/>
            <a:ext cx="2034900" cy="476400"/>
          </a:xfrm>
          <a:prstGeom prst="roundRect">
            <a:avLst>
              <a:gd fmla="val 50000" name="adj"/>
            </a:avLst>
          </a:prstGeom>
          <a:solidFill>
            <a:srgbClr val="FFD900"/>
          </a:solidFill>
          <a:ln>
            <a:noFill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Siguiente</a:t>
            </a:r>
            <a:endParaRPr b="1" i="0" sz="1578" u="sng" cap="none" strike="noStrike">
              <a:solidFill>
                <a:srgbClr val="663D8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82" name="Google Shape;1182;p34"/>
          <p:cNvSpPr/>
          <p:nvPr/>
        </p:nvSpPr>
        <p:spPr>
          <a:xfrm>
            <a:off x="0" y="0"/>
            <a:ext cx="3168000" cy="10934700"/>
          </a:xfrm>
          <a:prstGeom prst="rect">
            <a:avLst/>
          </a:prstGeom>
          <a:solidFill>
            <a:srgbClr val="F5F3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3" name="Google Shape;1183;p34"/>
          <p:cNvSpPr/>
          <p:nvPr/>
        </p:nvSpPr>
        <p:spPr>
          <a:xfrm>
            <a:off x="3153046" y="0"/>
            <a:ext cx="15000" cy="10934700"/>
          </a:xfrm>
          <a:prstGeom prst="rect">
            <a:avLst/>
          </a:prstGeom>
          <a:solidFill>
            <a:srgbClr val="E0DAE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4" name="Google Shape;1184;p34"/>
          <p:cNvSpPr/>
          <p:nvPr/>
        </p:nvSpPr>
        <p:spPr>
          <a:xfrm>
            <a:off x="191751" y="1550000"/>
            <a:ext cx="2784600" cy="14100"/>
          </a:xfrm>
          <a:prstGeom prst="rect">
            <a:avLst/>
          </a:prstGeom>
          <a:solidFill>
            <a:srgbClr val="D8D2D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5" name="Google Shape;1185;p34">
            <a:hlinkClick action="ppaction://hlinksldjump" r:id="rId2"/>
          </p:cNvPr>
          <p:cNvSpPr/>
          <p:nvPr/>
        </p:nvSpPr>
        <p:spPr>
          <a:xfrm>
            <a:off x="191751" y="1730000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2">
            <a:hlinkClick action="ppaction://hlinksldjump" r:id="rId2"/>
          </p:cNvPr>
          <p:cNvSpPr/>
          <p:nvPr/>
        </p:nvSpPr>
        <p:spPr>
          <a:xfrm>
            <a:off x="266783" y="1730000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6E0ED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Origen y sentido de la agilidad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7" name="Google Shape;1187;p34">
            <a:hlinkClick action="ppaction://hlinksldjump" r:id="rId3"/>
          </p:cNvPr>
          <p:cNvSpPr/>
          <p:nvPr/>
        </p:nvSpPr>
        <p:spPr>
          <a:xfrm>
            <a:off x="191751" y="2997813"/>
            <a:ext cx="75000" cy="1117697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">
            <a:hlinkClick action="ppaction://hlinksldjump" r:id="rId3"/>
          </p:cNvPr>
          <p:cNvSpPr/>
          <p:nvPr/>
        </p:nvSpPr>
        <p:spPr>
          <a:xfrm>
            <a:off x="266783" y="2997813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0DAE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4 valores fundamentales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9" name="Google Shape;1189;p34">
            <a:hlinkClick action="ppaction://hlinksldjump" r:id="rId4"/>
          </p:cNvPr>
          <p:cNvSpPr/>
          <p:nvPr/>
        </p:nvSpPr>
        <p:spPr>
          <a:xfrm>
            <a:off x="191751" y="4265626"/>
            <a:ext cx="75000" cy="1117697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2">
            <a:hlinkClick action="ppaction://hlinksldjump" r:id="rId4"/>
          </p:cNvPr>
          <p:cNvSpPr/>
          <p:nvPr/>
        </p:nvSpPr>
        <p:spPr>
          <a:xfrm>
            <a:off x="266783" y="4265626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E1EAFC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Los 12 principios rectores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1" name="Google Shape;1191;p34">
            <a:hlinkClick action="ppaction://hlinksldjump" r:id="rId5"/>
          </p:cNvPr>
          <p:cNvSpPr/>
          <p:nvPr/>
        </p:nvSpPr>
        <p:spPr>
          <a:xfrm>
            <a:off x="191751" y="5533439"/>
            <a:ext cx="75000" cy="1117697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2">
            <a:hlinkClick action="ppaction://hlinksldjump" r:id="rId5"/>
          </p:cNvPr>
          <p:cNvSpPr/>
          <p:nvPr/>
        </p:nvSpPr>
        <p:spPr>
          <a:xfrm>
            <a:off x="266783" y="5533439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FDBE4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Factor humano, calidad y mejora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3" name="Google Shape;1193;p34">
            <a:hlinkClick action="ppaction://hlinksldjump" r:id="rId6"/>
          </p:cNvPr>
          <p:cNvSpPr/>
          <p:nvPr/>
        </p:nvSpPr>
        <p:spPr>
          <a:xfrm>
            <a:off x="191751" y="6801252"/>
            <a:ext cx="75000" cy="1117697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2">
            <a:hlinkClick action="ppaction://hlinksldjump" r:id="rId6"/>
          </p:cNvPr>
          <p:cNvSpPr/>
          <p:nvPr/>
        </p:nvSpPr>
        <p:spPr>
          <a:xfrm>
            <a:off x="266783" y="6801252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D6E1ED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Tema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la práctica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5" name="Google Shape;1195;p34">
            <a:hlinkClick action="ppaction://hlinksldjump" r:id="rId7"/>
          </p:cNvPr>
          <p:cNvSpPr/>
          <p:nvPr/>
        </p:nvSpPr>
        <p:spPr>
          <a:xfrm>
            <a:off x="191751" y="8069065"/>
            <a:ext cx="75000" cy="1117697"/>
          </a:xfrm>
          <a:prstGeom prst="rect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2">
            <a:hlinkClick action="ppaction://hlinksldjump" r:id="rId7"/>
          </p:cNvPr>
          <p:cNvSpPr/>
          <p:nvPr/>
        </p:nvSpPr>
        <p:spPr>
          <a:xfrm>
            <a:off x="266783" y="8069065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FFF8D6"/>
          </a:solidFill>
          <a:ln>
            <a:noFill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Actividades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Comprueba lo aprendido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9" name="Google Shape;1199;p34">
            <a:hlinkClick action="ppaction://hlinksldjump" r:id="rId8"/>
          </p:cNvPr>
          <p:cNvSpPr/>
          <p:nvPr/>
        </p:nvSpPr>
        <p:spPr>
          <a:xfrm>
            <a:off x="191792" y="399700"/>
            <a:ext cx="75000" cy="984000"/>
          </a:xfrm>
          <a:prstGeom prst="rect">
            <a:avLst/>
          </a:prstGeom>
          <a:solidFill>
            <a:srgbClr val="02479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0" name="Google Shape;1200;p34">
            <a:hlinkClick action="ppaction://hlinksldjump" r:id="rId8"/>
          </p:cNvPr>
          <p:cNvSpPr/>
          <p:nvPr/>
        </p:nvSpPr>
        <p:spPr>
          <a:xfrm>
            <a:off x="266825" y="399900"/>
            <a:ext cx="2709300" cy="984000"/>
          </a:xfrm>
          <a:prstGeom prst="roundRect">
            <a:avLst>
              <a:gd fmla="val 14000" name="adj"/>
            </a:avLst>
          </a:prstGeom>
          <a:solidFill>
            <a:srgbClr val="D1E0F2"/>
          </a:solidFill>
          <a:ln>
            <a:noFill/>
          </a:ln>
        </p:spPr>
        <p:txBody>
          <a:bodyPr anchorCtr="0" anchor="ctr" bIns="40000" lIns="160000" spcFirstLastPara="1" rIns="10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1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01" name="Picture 1200" descr="image.png">
            <a:hlinkClick action="ppaction://hlinksldjump" r:id="rId8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6783" y="600314"/>
            <a:ext cx="486192" cy="486192"/>
          </a:xfrm>
          <a:prstGeom prst="rect">
            <a:avLst/>
          </a:prstGeom>
        </p:spPr>
      </p:pic>
      <p:sp>
        <p:nvSpPr>
          <p:cNvPr id="1202" name="Google Shape;1202;p34">
            <a:hlinkClick action="ppaction://hlinksldjump" r:id="rId8"/>
          </p:cNvPr>
          <p:cNvSpPr txBox="1"/>
          <p:nvPr/>
        </p:nvSpPr>
        <p:spPr>
          <a:xfrm>
            <a:off x="939099" y="660838"/>
            <a:ext cx="1541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Agilidad en acción</a:t>
            </a:r>
            <a:endParaRPr b="1" i="0" sz="1200" u="none" cap="none" strike="noStrike">
              <a:solidFill>
                <a:srgbClr val="3D21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1" lang="es-CO" sz="12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endParaRPr b="1" i="0" sz="1200" u="none" cap="none" strike="noStrike">
              <a:solidFill>
                <a:srgbClr val="A7198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3" name="Google Shape;1203;p34"/>
          <p:cNvSpPr txBox="1"/>
          <p:nvPr/>
        </p:nvSpPr>
        <p:spPr>
          <a:xfrm>
            <a:off x="3886200" y="1417320"/>
            <a:ext cx="14356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6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/>
          </a:p>
        </p:txBody>
      </p:sp>
      <p:sp>
        <p:nvSpPr>
          <p:cNvPr id="1204" name="Google Shape;1204;p34"/>
          <p:cNvSpPr txBox="1"/>
          <p:nvPr/>
        </p:nvSpPr>
        <p:spPr>
          <a:xfrm>
            <a:off x="3886200" y="1847088"/>
            <a:ext cx="143560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Créditos de producción y postproducción</a:t>
            </a:r>
            <a:endParaRPr/>
          </a:p>
        </p:txBody>
      </p:sp>
      <p:sp>
        <p:nvSpPr>
          <p:cNvPr id="1205" name="Google Shape;1205;p34"/>
          <p:cNvSpPr/>
          <p:nvPr/>
        </p:nvSpPr>
        <p:spPr>
          <a:xfrm>
            <a:off x="388620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6" name="Google Shape;1206;p34"/>
          <p:cNvSpPr/>
          <p:nvPr/>
        </p:nvSpPr>
        <p:spPr>
          <a:xfrm>
            <a:off x="4110228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34"/>
          <p:cNvSpPr/>
          <p:nvPr/>
        </p:nvSpPr>
        <p:spPr>
          <a:xfrm>
            <a:off x="4334256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8" name="Google Shape;1208;p34"/>
          <p:cNvSpPr/>
          <p:nvPr/>
        </p:nvSpPr>
        <p:spPr>
          <a:xfrm>
            <a:off x="4558284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9" name="Google Shape;1209;p34"/>
          <p:cNvSpPr/>
          <p:nvPr/>
        </p:nvSpPr>
        <p:spPr>
          <a:xfrm>
            <a:off x="4782312" y="2873045"/>
            <a:ext cx="96012" cy="96012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0" name="Google Shape;1210;p34"/>
          <p:cNvSpPr/>
          <p:nvPr/>
        </p:nvSpPr>
        <p:spPr>
          <a:xfrm>
            <a:off x="5006340" y="2852928"/>
            <a:ext cx="137160" cy="137160"/>
          </a:xfrm>
          <a:prstGeom prst="ellipse">
            <a:avLst/>
          </a:prstGeom>
          <a:solidFill>
            <a:srgbClr val="FFD9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6">
            <a:hlinkClick action="ppaction://hlinksldjump" r:id="rId10"/>
          </p:cNvPr>
          <p:cNvSpPr/>
          <p:nvPr/>
        </p:nvSpPr>
        <p:spPr>
          <a:xfrm>
            <a:off x="191751" y="9336878"/>
            <a:ext cx="75000" cy="1117697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6">
            <a:hlinkClick action="ppaction://hlinksldjump" r:id="rId10"/>
          </p:cNvPr>
          <p:cNvSpPr/>
          <p:nvPr/>
        </p:nvSpPr>
        <p:spPr>
          <a:xfrm>
            <a:off x="266783" y="9336878"/>
            <a:ext cx="2709600" cy="1117697"/>
          </a:xfrm>
          <a:prstGeom prst="roundRect">
            <a:avLst>
              <a:gd fmla="val 10000" name="adj"/>
            </a:avLst>
          </a:prstGeom>
          <a:solidFill>
            <a:srgbClr val="664092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0000" lIns="180000" spcFirstLastPara="1" rIns="120000" wrap="square" tIns="9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Créditos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Equipo de producción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7" name="Google Shape;1197;p34">
            <a:hlinkClick action="ppaction://hlinksldjump" r:id="rId11"/>
          </p:cNvPr>
          <p:cNvSpPr/>
          <p:nvPr/>
        </p:nvSpPr>
        <p:spPr>
          <a:xfrm>
            <a:off x="4591655" y="9647639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D8D2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8" name="Google Shape;1198;p34">
            <a:hlinkClick action="ppaction://hlinksldjump" r:id="rId11"/>
          </p:cNvPr>
          <p:cNvSpPr/>
          <p:nvPr/>
        </p:nvSpPr>
        <p:spPr>
          <a:xfrm>
            <a:off x="4591655" y="9588108"/>
            <a:ext cx="1588200" cy="4764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4275">
            <a:solidFill>
              <a:srgbClr val="66409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525" lIns="148825" spcFirstLastPara="1" rIns="148825" wrap="square" tIns="59525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8"/>
              <a:buFont typeface="Arial"/>
              <a:buNone/>
            </a:pPr>
            <a:r>
              <a:rPr b="1" i="0" lang="es-CO" sz="1578" u="none" cap="none" strike="noStrike">
                <a:solidFill>
                  <a:srgbClr val="663D8F"/>
                </a:solidFill>
                <a:latin typeface="Arial"/>
                <a:ea typeface="Arial"/>
                <a:cs typeface="Arial"/>
                <a:sym typeface="Arial"/>
              </a:rPr>
              <a:t>Anterior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8"/>
          <p:cNvSpPr/>
          <p:nvPr/>
        </p:nvSpPr>
        <p:spPr>
          <a:xfrm>
            <a:off x="3886200" y="3429000"/>
            <a:ext cx="6949440" cy="960120"/>
          </a:xfrm>
          <a:prstGeom prst="roundRect">
            <a:avLst>
              <a:gd fmla="val 12000" name="adj"/>
            </a:avLst>
          </a:prstGeom>
          <a:solidFill>
            <a:srgbClr val="F5F3FA"/>
          </a:solidFill>
          <a:ln cap="flat" cmpd="sng" w="12700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8"/>
          <p:cNvSpPr/>
          <p:nvPr/>
        </p:nvSpPr>
        <p:spPr>
          <a:xfrm>
            <a:off x="3886200" y="3429000"/>
            <a:ext cx="91440" cy="960120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8"/>
          <p:cNvSpPr txBox="1"/>
          <p:nvPr/>
        </p:nvSpPr>
        <p:spPr>
          <a:xfrm>
            <a:off x="4206240" y="3538728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3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Coordinación general</a:t>
            </a:r>
            <a:endParaRPr/>
          </a:p>
        </p:txBody>
      </p:sp>
      <p:sp>
        <p:nvSpPr>
          <p:cNvPr id="843" name="Google Shape;843;p18"/>
          <p:cNvSpPr txBox="1"/>
          <p:nvPr/>
        </p:nvSpPr>
        <p:spPr>
          <a:xfrm>
            <a:off x="4206240" y="3904487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Luz Dary Morales Galvis</a:t>
            </a:r>
            <a:endParaRPr/>
          </a:p>
        </p:txBody>
      </p:sp>
      <p:sp>
        <p:nvSpPr>
          <p:cNvPr id="844" name="Google Shape;844;p18"/>
          <p:cNvSpPr/>
          <p:nvPr/>
        </p:nvSpPr>
        <p:spPr>
          <a:xfrm>
            <a:off x="11155680" y="3429000"/>
            <a:ext cx="6949440" cy="960120"/>
          </a:xfrm>
          <a:prstGeom prst="roundRect">
            <a:avLst>
              <a:gd fmla="val 12000" name="adj"/>
            </a:avLst>
          </a:prstGeom>
          <a:solidFill>
            <a:srgbClr val="F5F3FA"/>
          </a:solidFill>
          <a:ln cap="flat" cmpd="sng" w="12700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8"/>
          <p:cNvSpPr/>
          <p:nvPr/>
        </p:nvSpPr>
        <p:spPr>
          <a:xfrm>
            <a:off x="11155680" y="3429000"/>
            <a:ext cx="91440" cy="960120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8"/>
          <p:cNvSpPr txBox="1"/>
          <p:nvPr/>
        </p:nvSpPr>
        <p:spPr>
          <a:xfrm>
            <a:off x="11475719" y="3538728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3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Experto temático</a:t>
            </a:r>
            <a:endParaRPr/>
          </a:p>
        </p:txBody>
      </p:sp>
      <p:sp>
        <p:nvSpPr>
          <p:cNvPr id="847" name="Google Shape;847;p18"/>
          <p:cNvSpPr txBox="1"/>
          <p:nvPr/>
        </p:nvSpPr>
        <p:spPr>
          <a:xfrm>
            <a:off x="11475719" y="3904487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Diana María Velázquez</a:t>
            </a:r>
            <a:endParaRPr/>
          </a:p>
        </p:txBody>
      </p:sp>
      <p:sp>
        <p:nvSpPr>
          <p:cNvPr id="848" name="Google Shape;848;p18"/>
          <p:cNvSpPr/>
          <p:nvPr/>
        </p:nvSpPr>
        <p:spPr>
          <a:xfrm>
            <a:off x="3886200" y="4572000"/>
            <a:ext cx="6949440" cy="960120"/>
          </a:xfrm>
          <a:prstGeom prst="roundRect">
            <a:avLst>
              <a:gd fmla="val 12000" name="adj"/>
            </a:avLst>
          </a:prstGeom>
          <a:solidFill>
            <a:srgbClr val="F5F3FA"/>
          </a:solidFill>
          <a:ln cap="flat" cmpd="sng" w="12700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8"/>
          <p:cNvSpPr/>
          <p:nvPr/>
        </p:nvSpPr>
        <p:spPr>
          <a:xfrm>
            <a:off x="3886200" y="4572000"/>
            <a:ext cx="91440" cy="960120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8"/>
          <p:cNvSpPr txBox="1"/>
          <p:nvPr/>
        </p:nvSpPr>
        <p:spPr>
          <a:xfrm>
            <a:off x="4206240" y="4681728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30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Diseñador de la experiencia virtual de aprendizaje</a:t>
            </a:r>
            <a:endParaRPr/>
          </a:p>
        </p:txBody>
      </p:sp>
      <p:sp>
        <p:nvSpPr>
          <p:cNvPr id="851" name="Google Shape;851;p18"/>
          <p:cNvSpPr txBox="1"/>
          <p:nvPr/>
        </p:nvSpPr>
        <p:spPr>
          <a:xfrm>
            <a:off x="4206240" y="5047488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Julieta Márquez Gutiérrez</a:t>
            </a:r>
            <a:endParaRPr/>
          </a:p>
        </p:txBody>
      </p:sp>
      <p:sp>
        <p:nvSpPr>
          <p:cNvPr id="852" name="Google Shape;852;p18"/>
          <p:cNvSpPr/>
          <p:nvPr/>
        </p:nvSpPr>
        <p:spPr>
          <a:xfrm>
            <a:off x="11155680" y="4572000"/>
            <a:ext cx="6949440" cy="960120"/>
          </a:xfrm>
          <a:prstGeom prst="roundRect">
            <a:avLst>
              <a:gd fmla="val 12000" name="adj"/>
            </a:avLst>
          </a:prstGeom>
          <a:solidFill>
            <a:srgbClr val="F5F3FA"/>
          </a:solidFill>
          <a:ln cap="flat" cmpd="sng" w="12700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8"/>
          <p:cNvSpPr/>
          <p:nvPr/>
        </p:nvSpPr>
        <p:spPr>
          <a:xfrm>
            <a:off x="11155680" y="4572000"/>
            <a:ext cx="91440" cy="960120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8"/>
          <p:cNvSpPr txBox="1"/>
          <p:nvPr/>
        </p:nvSpPr>
        <p:spPr>
          <a:xfrm>
            <a:off x="11475719" y="4681728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Corrección de estilo</a:t>
            </a:r>
            <a:endParaRPr/>
          </a:p>
        </p:txBody>
      </p:sp>
      <p:sp>
        <p:nvSpPr>
          <p:cNvPr id="855" name="Google Shape;855;p18"/>
          <p:cNvSpPr txBox="1"/>
          <p:nvPr/>
        </p:nvSpPr>
        <p:spPr>
          <a:xfrm>
            <a:off x="11475719" y="5047488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Julieta Márquez Gutiérrez y Sergio Andrés Ocampo Rivera</a:t>
            </a:r>
            <a:endParaRPr/>
          </a:p>
        </p:txBody>
      </p:sp>
      <p:sp>
        <p:nvSpPr>
          <p:cNvPr id="856" name="Google Shape;856;p18"/>
          <p:cNvSpPr/>
          <p:nvPr/>
        </p:nvSpPr>
        <p:spPr>
          <a:xfrm>
            <a:off x="3886200" y="5715000"/>
            <a:ext cx="6949440" cy="960120"/>
          </a:xfrm>
          <a:prstGeom prst="roundRect">
            <a:avLst>
              <a:gd fmla="val 12000" name="adj"/>
            </a:avLst>
          </a:prstGeom>
          <a:solidFill>
            <a:srgbClr val="F5F3FA"/>
          </a:solidFill>
          <a:ln cap="flat" cmpd="sng" w="12700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7" name="Google Shape;857;p18"/>
          <p:cNvSpPr/>
          <p:nvPr/>
        </p:nvSpPr>
        <p:spPr>
          <a:xfrm>
            <a:off x="3886200" y="5715000"/>
            <a:ext cx="91440" cy="960120"/>
          </a:xfrm>
          <a:prstGeom prst="rect">
            <a:avLst/>
          </a:prstGeom>
          <a:solidFill>
            <a:srgbClr val="66409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8"/>
          <p:cNvSpPr txBox="1"/>
          <p:nvPr/>
        </p:nvSpPr>
        <p:spPr>
          <a:xfrm>
            <a:off x="4206240" y="5824728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300" u="none" cap="none" strike="noStrike">
                <a:solidFill>
                  <a:srgbClr val="664092"/>
                </a:solidFill>
                <a:latin typeface="Arial"/>
                <a:ea typeface="Arial"/>
                <a:cs typeface="Arial"/>
                <a:sym typeface="Arial"/>
              </a:rPr>
              <a:t>Validación pedagógica</a:t>
            </a:r>
            <a:endParaRPr/>
          </a:p>
        </p:txBody>
      </p:sp>
      <p:sp>
        <p:nvSpPr>
          <p:cNvPr id="859" name="Google Shape;859;p18"/>
          <p:cNvSpPr txBox="1"/>
          <p:nvPr/>
        </p:nvSpPr>
        <p:spPr>
          <a:xfrm>
            <a:off x="4206240" y="6190488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Sandra Patricia Hoyos Sepúlveda</a:t>
            </a:r>
            <a:endParaRPr/>
          </a:p>
        </p:txBody>
      </p:sp>
      <p:sp>
        <p:nvSpPr>
          <p:cNvPr id="860" name="Google Shape;860;p18"/>
          <p:cNvSpPr/>
          <p:nvPr/>
        </p:nvSpPr>
        <p:spPr>
          <a:xfrm>
            <a:off x="11155680" y="5715000"/>
            <a:ext cx="6949440" cy="960120"/>
          </a:xfrm>
          <a:prstGeom prst="roundRect">
            <a:avLst>
              <a:gd fmla="val 12000" name="adj"/>
            </a:avLst>
          </a:prstGeom>
          <a:solidFill>
            <a:srgbClr val="F5F3FA"/>
          </a:solidFill>
          <a:ln cap="flat" cmpd="sng" w="12700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1" name="Google Shape;861;p18"/>
          <p:cNvSpPr/>
          <p:nvPr/>
        </p:nvSpPr>
        <p:spPr>
          <a:xfrm>
            <a:off x="11155680" y="5715000"/>
            <a:ext cx="91440" cy="960120"/>
          </a:xfrm>
          <a:prstGeom prst="rect">
            <a:avLst/>
          </a:prstGeom>
          <a:solidFill>
            <a:srgbClr val="A7198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8"/>
          <p:cNvSpPr txBox="1"/>
          <p:nvPr/>
        </p:nvSpPr>
        <p:spPr>
          <a:xfrm>
            <a:off x="11475719" y="5824728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300" u="none" cap="none" strike="noStrike">
                <a:solidFill>
                  <a:srgbClr val="A71989"/>
                </a:solidFill>
                <a:latin typeface="Arial"/>
                <a:ea typeface="Arial"/>
                <a:cs typeface="Arial"/>
                <a:sym typeface="Arial"/>
              </a:rPr>
              <a:t>Diseño gráfico</a:t>
            </a:r>
            <a:endParaRPr/>
          </a:p>
        </p:txBody>
      </p:sp>
      <p:sp>
        <p:nvSpPr>
          <p:cNvPr id="863" name="Google Shape;863;p18"/>
          <p:cNvSpPr txBox="1"/>
          <p:nvPr/>
        </p:nvSpPr>
        <p:spPr>
          <a:xfrm>
            <a:off x="11475719" y="6190488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Andrea Valentina Roa Orozco</a:t>
            </a:r>
            <a:endParaRPr/>
          </a:p>
        </p:txBody>
      </p:sp>
      <p:sp>
        <p:nvSpPr>
          <p:cNvPr id="864" name="Google Shape;864;p18"/>
          <p:cNvSpPr/>
          <p:nvPr/>
        </p:nvSpPr>
        <p:spPr>
          <a:xfrm>
            <a:off x="3886200" y="6858000"/>
            <a:ext cx="6949440" cy="960120"/>
          </a:xfrm>
          <a:prstGeom prst="roundRect">
            <a:avLst>
              <a:gd fmla="val 12000" name="adj"/>
            </a:avLst>
          </a:prstGeom>
          <a:solidFill>
            <a:srgbClr val="F5F3FA"/>
          </a:solidFill>
          <a:ln cap="flat" cmpd="sng" w="12700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5" name="Google Shape;865;p18"/>
          <p:cNvSpPr/>
          <p:nvPr/>
        </p:nvSpPr>
        <p:spPr>
          <a:xfrm>
            <a:off x="3886200" y="6858000"/>
            <a:ext cx="91440" cy="960120"/>
          </a:xfrm>
          <a:prstGeom prst="rect">
            <a:avLst/>
          </a:prstGeom>
          <a:solidFill>
            <a:srgbClr val="467CF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8"/>
          <p:cNvSpPr txBox="1"/>
          <p:nvPr/>
        </p:nvSpPr>
        <p:spPr>
          <a:xfrm>
            <a:off x="4206240" y="6967728"/>
            <a:ext cx="64008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30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Desarrollo </a:t>
            </a:r>
            <a:r>
              <a:rPr b="1" lang="es-CO" sz="1300">
                <a:solidFill>
                  <a:srgbClr val="2A56C6"/>
                </a:solidFill>
              </a:rPr>
              <a:t>d</a:t>
            </a:r>
            <a:r>
              <a:rPr b="1" i="0" lang="es-CO" sz="1300" u="none" cap="none" strike="noStrike">
                <a:solidFill>
                  <a:srgbClr val="2A56C6"/>
                </a:solidFill>
                <a:latin typeface="Arial"/>
                <a:ea typeface="Arial"/>
                <a:cs typeface="Arial"/>
                <a:sym typeface="Arial"/>
              </a:rPr>
              <a:t>e interactivos</a:t>
            </a:r>
            <a:endParaRPr/>
          </a:p>
        </p:txBody>
      </p:sp>
      <p:sp>
        <p:nvSpPr>
          <p:cNvPr id="867" name="Google Shape;867;p18"/>
          <p:cNvSpPr txBox="1"/>
          <p:nvPr/>
        </p:nvSpPr>
        <p:spPr>
          <a:xfrm>
            <a:off x="4206240" y="7333488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Paola Andrea Quintero Aguilar</a:t>
            </a:r>
            <a:endParaRPr/>
          </a:p>
        </p:txBody>
      </p:sp>
      <p:sp>
        <p:nvSpPr>
          <p:cNvPr id="868" name="Google Shape;868;p18"/>
          <p:cNvSpPr/>
          <p:nvPr/>
        </p:nvSpPr>
        <p:spPr>
          <a:xfrm>
            <a:off x="11155680" y="6858000"/>
            <a:ext cx="6949440" cy="960120"/>
          </a:xfrm>
          <a:prstGeom prst="roundRect">
            <a:avLst>
              <a:gd fmla="val 12000" name="adj"/>
            </a:avLst>
          </a:prstGeom>
          <a:solidFill>
            <a:srgbClr val="F5F3FA"/>
          </a:solidFill>
          <a:ln cap="flat" cmpd="sng" w="12700">
            <a:solidFill>
              <a:srgbClr val="D8D2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18"/>
          <p:cNvSpPr/>
          <p:nvPr/>
        </p:nvSpPr>
        <p:spPr>
          <a:xfrm>
            <a:off x="11155680" y="6858000"/>
            <a:ext cx="91440" cy="960120"/>
          </a:xfrm>
          <a:prstGeom prst="rect">
            <a:avLst/>
          </a:prstGeom>
          <a:solidFill>
            <a:srgbClr val="3D215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0" name="Google Shape;870;p18"/>
          <p:cNvSpPr txBox="1"/>
          <p:nvPr/>
        </p:nvSpPr>
        <p:spPr>
          <a:xfrm>
            <a:off x="11475719" y="6967728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13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Disposición y ensamble</a:t>
            </a:r>
            <a:endParaRPr/>
          </a:p>
        </p:txBody>
      </p:sp>
      <p:sp>
        <p:nvSpPr>
          <p:cNvPr id="871" name="Google Shape;871;p18"/>
          <p:cNvSpPr txBox="1"/>
          <p:nvPr/>
        </p:nvSpPr>
        <p:spPr>
          <a:xfrm>
            <a:off x="11475719" y="7333488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600" u="none" cap="none" strike="noStrike">
                <a:solidFill>
                  <a:srgbClr val="3D2159"/>
                </a:solidFill>
                <a:latin typeface="Arial"/>
                <a:ea typeface="Arial"/>
                <a:cs typeface="Arial"/>
                <a:sym typeface="Arial"/>
              </a:rPr>
              <a:t>Samayda Herrera Betancur</a:t>
            </a:r>
            <a:endParaRPr/>
          </a:p>
        </p:txBody>
      </p:sp>
      <p:sp>
        <p:nvSpPr>
          <p:cNvPr id="872" name="Google Shape;872;p18"/>
          <p:cNvSpPr txBox="1"/>
          <p:nvPr/>
        </p:nvSpPr>
        <p:spPr>
          <a:xfrm>
            <a:off x="3886200" y="8092440"/>
            <a:ext cx="14218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s-CO" sz="1200" u="none" cap="none" strike="noStrike">
                <a:solidFill>
                  <a:srgbClr val="6B6570"/>
                </a:solidFill>
                <a:latin typeface="Arial"/>
                <a:ea typeface="Arial"/>
                <a:cs typeface="Arial"/>
                <a:sym typeface="Arial"/>
              </a:rPr>
              <a:t>Proyecto C.I. 278 de 2026 · @Medellín — SAPIENCIA · Última actualización: octubre de 2026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2026-08-27T19:14:29Z</dcterms:created>
  <dc:creator>Walnut Exporter</dc:creator>
</cp:coreProperties>
</file>