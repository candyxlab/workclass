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8"/>
  </p:sldIdLst>
  <p:sldSz cy="10934700" cx="1905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44">
          <p15:clr>
            <a:srgbClr val="A4A3A4"/>
          </p15:clr>
        </p15:guide>
        <p15:guide id="2" pos="5002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RLobvM1VNIuYSNzRCYEg55T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44" orient="horz"/>
        <p:guide pos="500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customschemas.google.com/relationships/presentationmetadata" Target="metadata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3"/>
              <a:buFont typeface="Arial"/>
              <a:buNone/>
            </a:pPr>
            <a:r>
              <a:t/>
            </a:r>
            <a:endParaRPr b="0" i="0" sz="28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/>
          <p:nvPr>
            <p:ph idx="2" type="sldImg"/>
          </p:nvPr>
        </p:nvSpPr>
        <p:spPr>
          <a:xfrm>
            <a:off x="-1112838" y="0"/>
            <a:ext cx="522605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3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4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5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6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7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8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9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0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1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2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3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34:notes"/>
          <p:cNvSpPr/>
          <p:nvPr>
            <p:ph idx="2" type="sldImg"/>
          </p:nvPr>
        </p:nvSpPr>
        <p:spPr>
          <a:xfrm>
            <a:off x="249453" y="0"/>
            <a:ext cx="25011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9702332"/>
            <a:ext cx="19050000" cy="152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5987" y="570075"/>
            <a:ext cx="6219825" cy="96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slide" Target="slide2.xml"/><Relationship Id="rId9" Type="http://schemas.openxmlformats.org/officeDocument/2006/relationships/slide" Target="slide2.xml"/><Relationship Id="rId10" Type="http://schemas.openxmlformats.org/officeDocument/2006/relationships/image" Target="../media/image3.png"/><Relationship Id="rId11" Type="http://schemas.openxmlformats.org/officeDocument/2006/relationships/image" Target="../media/image7.png"/><Relationship Id="rId12" Type="http://schemas.openxmlformats.org/officeDocument/2006/relationships/image" Target="../media/image4.png"/><Relationship Id="rId13" Type="http://schemas.openxmlformats.org/officeDocument/2006/relationships/image" Target="../media/image5.png"/><Relationship Id="rId14" Type="http://schemas.openxmlformats.org/officeDocument/2006/relationships/slide" Target="slide3.xml"/><Relationship Id="rId15" Type="http://schemas.openxmlformats.org/officeDocument/2006/relationships/slide" Target="slide3.xml"/><Relationship Id="rId16" Type="http://schemas.openxmlformats.org/officeDocument/2006/relationships/slide" Target="slide9.xml"/><Relationship Id="rId17" Type="http://schemas.openxmlformats.org/officeDocument/2006/relationships/slide" Target="slide9.xml"/><Relationship Id="rId18" Type="http://schemas.openxmlformats.org/officeDocument/2006/relationships/slide" Target="slide11.xml"/><Relationship Id="rId19" Type="http://schemas.openxmlformats.org/officeDocument/2006/relationships/slide" Target="slide11.xml"/><Relationship Id="rId20" Type="http://schemas.openxmlformats.org/officeDocument/2006/relationships/slide" Target="slide13.xml"/><Relationship Id="rId21" Type="http://schemas.openxmlformats.org/officeDocument/2006/relationships/slide" Target="slide13.xml"/><Relationship Id="rId22" Type="http://schemas.openxmlformats.org/officeDocument/2006/relationships/slide" Target="slide16.xml"/><Relationship Id="rId23" Type="http://schemas.openxmlformats.org/officeDocument/2006/relationships/slide" Target="slide16.xml"/><Relationship Id="rId24" Type="http://schemas.openxmlformats.org/officeDocument/2006/relationships/slide" Target="slide18.xml"/><Relationship Id="rId25" Type="http://schemas.openxmlformats.org/officeDocument/2006/relationships/slide" Target="slide18.xml"/><Relationship Id="rId26" Type="http://schemas.openxmlformats.org/officeDocument/2006/relationships/slide" Target="slide1.xml"/><Relationship Id="rId27" Type="http://schemas.openxmlformats.org/officeDocument/2006/relationships/slide" Target="slide1.xml"/><Relationship Id="rId28" Type="http://schemas.openxmlformats.org/officeDocument/2006/relationships/image" Target="../media/image11.png"/><Relationship Id="rId29" Type="http://schemas.openxmlformats.org/officeDocument/2006/relationships/slide" Target="slide2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.xml"/><Relationship Id="rId16" Type="http://schemas.openxmlformats.org/officeDocument/2006/relationships/slide" Target="slide1.xml"/><Relationship Id="rId17" Type="http://schemas.openxmlformats.org/officeDocument/2006/relationships/slide" Target="slide3.xml"/><Relationship Id="rId18" Type="http://schemas.openxmlformats.org/officeDocument/2006/relationships/slide" Target="slide3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slide" Target="slide3.xml"/><Relationship Id="rId23" Type="http://schemas.openxmlformats.org/officeDocument/2006/relationships/slide" Target="slide3.xml"/><Relationship Id="rId24" Type="http://schemas.openxmlformats.org/officeDocument/2006/relationships/slide" Target="slide3.xml"/><Relationship Id="rId25" Type="http://schemas.openxmlformats.org/officeDocument/2006/relationships/image" Target="../media/image14.png"/><Relationship Id="rId26" Type="http://schemas.openxmlformats.org/officeDocument/2006/relationships/slide" Target="slide9.xml"/><Relationship Id="rId27" Type="http://schemas.openxmlformats.org/officeDocument/2006/relationships/slide" Target="slide9.xml"/><Relationship Id="rId28" Type="http://schemas.openxmlformats.org/officeDocument/2006/relationships/slide" Target="slide9.xml"/><Relationship Id="rId29" Type="http://schemas.openxmlformats.org/officeDocument/2006/relationships/image" Target="../media/image23.png"/><Relationship Id="rId30" Type="http://schemas.openxmlformats.org/officeDocument/2006/relationships/slide" Target="slide11.xml"/><Relationship Id="rId31" Type="http://schemas.openxmlformats.org/officeDocument/2006/relationships/slide" Target="slide11.xml"/><Relationship Id="rId32" Type="http://schemas.openxmlformats.org/officeDocument/2006/relationships/slide" Target="slide11.xml"/><Relationship Id="rId33" Type="http://schemas.openxmlformats.org/officeDocument/2006/relationships/image" Target="../media/image12.png"/><Relationship Id="rId34" Type="http://schemas.openxmlformats.org/officeDocument/2006/relationships/slide" Target="slide13.xml"/><Relationship Id="rId35" Type="http://schemas.openxmlformats.org/officeDocument/2006/relationships/slide" Target="slide13.xml"/><Relationship Id="rId36" Type="http://schemas.openxmlformats.org/officeDocument/2006/relationships/slide" Target="slide13.xml"/><Relationship Id="rId37" Type="http://schemas.openxmlformats.org/officeDocument/2006/relationships/image" Target="../media/image16.png"/><Relationship Id="rId38" Type="http://schemas.openxmlformats.org/officeDocument/2006/relationships/slide" Target="slide16.xml"/><Relationship Id="rId39" Type="http://schemas.openxmlformats.org/officeDocument/2006/relationships/slide" Target="slide16.xml"/><Relationship Id="rId40" Type="http://schemas.openxmlformats.org/officeDocument/2006/relationships/slide" Target="slide16.xml"/><Relationship Id="rId41" Type="http://schemas.openxmlformats.org/officeDocument/2006/relationships/image" Target="../media/image10.png"/><Relationship Id="rId42" Type="http://schemas.openxmlformats.org/officeDocument/2006/relationships/slide" Target="slide18.xml"/><Relationship Id="rId43" Type="http://schemas.openxmlformats.org/officeDocument/2006/relationships/slide" Target="slide18.xml"/><Relationship Id="rId44" Type="http://schemas.openxmlformats.org/officeDocument/2006/relationships/slide" Target="slide18.xml"/><Relationship Id="rId45" Type="http://schemas.openxmlformats.org/officeDocument/2006/relationships/image" Target="../media/image20.png"/><Relationship Id="rId46" Type="http://schemas.openxmlformats.org/officeDocument/2006/relationships/image" Target="../media/image15.png"/><Relationship Id="rId47" Type="http://schemas.openxmlformats.org/officeDocument/2006/relationships/slide" Target="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2.xml"/><Relationship Id="rId16" Type="http://schemas.openxmlformats.org/officeDocument/2006/relationships/slide" Target="slide2.xml"/><Relationship Id="rId17" Type="http://schemas.openxmlformats.org/officeDocument/2006/relationships/slide" Target="slide4.xml"/><Relationship Id="rId18" Type="http://schemas.openxmlformats.org/officeDocument/2006/relationships/slide" Target="slide4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17.png"/><Relationship Id="rId23" Type="http://schemas.openxmlformats.org/officeDocument/2006/relationships/image" Target="../media/image18.png"/><Relationship Id="rId24" Type="http://schemas.openxmlformats.org/officeDocument/2006/relationships/image" Target="../media/image19.png"/><Relationship Id="rId25" Type="http://schemas.openxmlformats.org/officeDocument/2006/relationships/slide" Target="slide8.xml"/><Relationship Id="rId26" Type="http://schemas.openxmlformats.org/officeDocument/2006/relationships/image" Target="../media/image21.png"/><Relationship Id="rId27" Type="http://schemas.openxmlformats.org/officeDocument/2006/relationships/slide" Target="slide9.xml"/><Relationship Id="rId28" Type="http://schemas.openxmlformats.org/officeDocument/2006/relationships/image" Target="../media/image24.png"/><Relationship Id="rId29" Type="http://schemas.openxmlformats.org/officeDocument/2006/relationships/slide" Target="slide11.xml"/><Relationship Id="rId30" Type="http://schemas.openxmlformats.org/officeDocument/2006/relationships/image" Target="../media/image33.png"/><Relationship Id="rId31" Type="http://schemas.openxmlformats.org/officeDocument/2006/relationships/slide" Target="slide16.xml"/><Relationship Id="rId32" Type="http://schemas.openxmlformats.org/officeDocument/2006/relationships/image" Target="../media/image30.png"/><Relationship Id="rId33" Type="http://schemas.openxmlformats.org/officeDocument/2006/relationships/slide" Target="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3.xml"/><Relationship Id="rId16" Type="http://schemas.openxmlformats.org/officeDocument/2006/relationships/slide" Target="slide3.xml"/><Relationship Id="rId17" Type="http://schemas.openxmlformats.org/officeDocument/2006/relationships/slide" Target="slide5.xml"/><Relationship Id="rId18" Type="http://schemas.openxmlformats.org/officeDocument/2006/relationships/slide" Target="slide5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25.png"/><Relationship Id="rId23" Type="http://schemas.openxmlformats.org/officeDocument/2006/relationships/image" Target="../media/image27.png"/><Relationship Id="rId24" Type="http://schemas.openxmlformats.org/officeDocument/2006/relationships/image" Target="../media/image22.png"/><Relationship Id="rId25" Type="http://schemas.openxmlformats.org/officeDocument/2006/relationships/image" Target="../media/image28.png"/><Relationship Id="rId26" Type="http://schemas.openxmlformats.org/officeDocument/2006/relationships/image" Target="../media/image18.png"/><Relationship Id="rId27" Type="http://schemas.openxmlformats.org/officeDocument/2006/relationships/image" Target="../media/image34.png"/><Relationship Id="rId28" Type="http://schemas.openxmlformats.org/officeDocument/2006/relationships/slide" Target="slide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4.xml"/><Relationship Id="rId16" Type="http://schemas.openxmlformats.org/officeDocument/2006/relationships/slide" Target="slide4.xml"/><Relationship Id="rId17" Type="http://schemas.openxmlformats.org/officeDocument/2006/relationships/slide" Target="slide8.xml"/><Relationship Id="rId18" Type="http://schemas.openxmlformats.org/officeDocument/2006/relationships/slide" Target="slide8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29.png"/><Relationship Id="rId23" Type="http://schemas.openxmlformats.org/officeDocument/2006/relationships/image" Target="../media/image26.png"/><Relationship Id="rId24" Type="http://schemas.openxmlformats.org/officeDocument/2006/relationships/image" Target="../media/image18.png"/><Relationship Id="rId25" Type="http://schemas.openxmlformats.org/officeDocument/2006/relationships/slide" Target="slide7.xml"/><Relationship Id="rId26" Type="http://schemas.openxmlformats.org/officeDocument/2006/relationships/slide" Target="slide7.xml"/><Relationship Id="rId27" Type="http://schemas.openxmlformats.org/officeDocument/2006/relationships/slide" Target="slide7.xml"/><Relationship Id="rId28" Type="http://schemas.openxmlformats.org/officeDocument/2006/relationships/slide" Target="slide6.xml"/><Relationship Id="rId29" Type="http://schemas.openxmlformats.org/officeDocument/2006/relationships/slide" Target="slide6.xml"/><Relationship Id="rId30" Type="http://schemas.openxmlformats.org/officeDocument/2006/relationships/slide" Target="slide6.xml"/><Relationship Id="rId31" Type="http://schemas.openxmlformats.org/officeDocument/2006/relationships/slide" Target="slide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5.xml"/><Relationship Id="rId16" Type="http://schemas.openxmlformats.org/officeDocument/2006/relationships/slide" Target="slide5.xml"/><Relationship Id="rId17" Type="http://schemas.openxmlformats.org/officeDocument/2006/relationships/slide" Target="slide8.xml"/><Relationship Id="rId18" Type="http://schemas.openxmlformats.org/officeDocument/2006/relationships/slide" Target="slide8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slide" Target="slide8.xml"/><Relationship Id="rId25" Type="http://schemas.openxmlformats.org/officeDocument/2006/relationships/slide" Target="slide8.xml"/><Relationship Id="rId26" Type="http://schemas.openxmlformats.org/officeDocument/2006/relationships/slide" Target="slide2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5.xml"/><Relationship Id="rId16" Type="http://schemas.openxmlformats.org/officeDocument/2006/relationships/slide" Target="slide5.xml"/><Relationship Id="rId17" Type="http://schemas.openxmlformats.org/officeDocument/2006/relationships/slide" Target="slide8.xml"/><Relationship Id="rId18" Type="http://schemas.openxmlformats.org/officeDocument/2006/relationships/slide" Target="slide8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36.png"/><Relationship Id="rId23" Type="http://schemas.openxmlformats.org/officeDocument/2006/relationships/image" Target="../media/image35.png"/><Relationship Id="rId24" Type="http://schemas.openxmlformats.org/officeDocument/2006/relationships/slide" Target="slide5.xml"/><Relationship Id="rId25" Type="http://schemas.openxmlformats.org/officeDocument/2006/relationships/slide" Target="slide5.xml"/><Relationship Id="rId26" Type="http://schemas.openxmlformats.org/officeDocument/2006/relationships/slide" Target="slide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5.xml"/><Relationship Id="rId16" Type="http://schemas.openxmlformats.org/officeDocument/2006/relationships/slide" Target="slide5.xml"/><Relationship Id="rId17" Type="http://schemas.openxmlformats.org/officeDocument/2006/relationships/slide" Target="slide9.xml"/><Relationship Id="rId18" Type="http://schemas.openxmlformats.org/officeDocument/2006/relationships/slide" Target="slide9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38.png"/><Relationship Id="rId23" Type="http://schemas.openxmlformats.org/officeDocument/2006/relationships/image" Target="../media/image32.png"/><Relationship Id="rId24" Type="http://schemas.openxmlformats.org/officeDocument/2006/relationships/image" Target="../media/image39.png"/><Relationship Id="rId25" Type="http://schemas.openxmlformats.org/officeDocument/2006/relationships/image" Target="../media/image37.png"/><Relationship Id="rId26" Type="http://schemas.openxmlformats.org/officeDocument/2006/relationships/image" Target="../media/image46.png"/><Relationship Id="rId27" Type="http://schemas.openxmlformats.org/officeDocument/2006/relationships/slide" Target="slide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8.xml"/><Relationship Id="rId16" Type="http://schemas.openxmlformats.org/officeDocument/2006/relationships/slide" Target="slide8.xml"/><Relationship Id="rId17" Type="http://schemas.openxmlformats.org/officeDocument/2006/relationships/slide" Target="slide10.xml"/><Relationship Id="rId18" Type="http://schemas.openxmlformats.org/officeDocument/2006/relationships/slide" Target="slide10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42.png"/><Relationship Id="rId23" Type="http://schemas.openxmlformats.org/officeDocument/2006/relationships/image" Target="../media/image46.png"/><Relationship Id="rId24" Type="http://schemas.openxmlformats.org/officeDocument/2006/relationships/image" Target="../media/image41.png"/><Relationship Id="rId25" Type="http://schemas.openxmlformats.org/officeDocument/2006/relationships/image" Target="../media/image18.png"/><Relationship Id="rId26" Type="http://schemas.openxmlformats.org/officeDocument/2006/relationships/image" Target="../media/image40.png"/><Relationship Id="rId27" Type="http://schemas.openxmlformats.org/officeDocument/2006/relationships/slide" Target="slide2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9.xml"/><Relationship Id="rId16" Type="http://schemas.openxmlformats.org/officeDocument/2006/relationships/slide" Target="slide9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38.png"/><Relationship Id="rId23" Type="http://schemas.openxmlformats.org/officeDocument/2006/relationships/image" Target="../media/image61.png"/><Relationship Id="rId24" Type="http://schemas.openxmlformats.org/officeDocument/2006/relationships/image" Target="../media/image50.png"/><Relationship Id="rId25" Type="http://schemas.openxmlformats.org/officeDocument/2006/relationships/image" Target="../media/image47.png"/><Relationship Id="rId26" Type="http://schemas.openxmlformats.org/officeDocument/2006/relationships/image" Target="../media/image45.png"/><Relationship Id="rId27" Type="http://schemas.openxmlformats.org/officeDocument/2006/relationships/image" Target="../media/image48.png"/><Relationship Id="rId28" Type="http://schemas.openxmlformats.org/officeDocument/2006/relationships/image" Target="../media/image43.png"/><Relationship Id="rId29" Type="http://schemas.openxmlformats.org/officeDocument/2006/relationships/image" Target="../media/image49.png"/><Relationship Id="rId30" Type="http://schemas.openxmlformats.org/officeDocument/2006/relationships/image" Target="../media/image44.png"/><Relationship Id="rId31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2.xml"/><Relationship Id="rId18" Type="http://schemas.openxmlformats.org/officeDocument/2006/relationships/slide" Target="slide12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52.png"/><Relationship Id="rId23" Type="http://schemas.openxmlformats.org/officeDocument/2006/relationships/image" Target="../media/image41.png"/><Relationship Id="rId24" Type="http://schemas.openxmlformats.org/officeDocument/2006/relationships/image" Target="../media/image18.png"/><Relationship Id="rId25" Type="http://schemas.openxmlformats.org/officeDocument/2006/relationships/image" Target="../media/image44.png"/><Relationship Id="rId26" Type="http://schemas.openxmlformats.org/officeDocument/2006/relationships/image" Target="../media/image46.png"/><Relationship Id="rId27" Type="http://schemas.openxmlformats.org/officeDocument/2006/relationships/slide" Target="slide2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1.xml"/><Relationship Id="rId16" Type="http://schemas.openxmlformats.org/officeDocument/2006/relationships/slide" Target="slide11.xml"/><Relationship Id="rId17" Type="http://schemas.openxmlformats.org/officeDocument/2006/relationships/slide" Target="slide13.xml"/><Relationship Id="rId18" Type="http://schemas.openxmlformats.org/officeDocument/2006/relationships/slide" Target="slide13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54.png"/><Relationship Id="rId23" Type="http://schemas.openxmlformats.org/officeDocument/2006/relationships/image" Target="../media/image53.png"/><Relationship Id="rId24" Type="http://schemas.openxmlformats.org/officeDocument/2006/relationships/image" Target="../media/image52.png"/><Relationship Id="rId25" Type="http://schemas.openxmlformats.org/officeDocument/2006/relationships/image" Target="../media/image41.png"/><Relationship Id="rId26" Type="http://schemas.openxmlformats.org/officeDocument/2006/relationships/slide" Target="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2.xml"/><Relationship Id="rId16" Type="http://schemas.openxmlformats.org/officeDocument/2006/relationships/slide" Target="slide12.xml"/><Relationship Id="rId17" Type="http://schemas.openxmlformats.org/officeDocument/2006/relationships/slide" Target="slide14.xml"/><Relationship Id="rId18" Type="http://schemas.openxmlformats.org/officeDocument/2006/relationships/slide" Target="slide14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59.png"/><Relationship Id="rId23" Type="http://schemas.openxmlformats.org/officeDocument/2006/relationships/image" Target="../media/image57.png"/><Relationship Id="rId24" Type="http://schemas.openxmlformats.org/officeDocument/2006/relationships/image" Target="../media/image56.png"/><Relationship Id="rId25" Type="http://schemas.openxmlformats.org/officeDocument/2006/relationships/image" Target="../media/image55.png"/><Relationship Id="rId26" Type="http://schemas.openxmlformats.org/officeDocument/2006/relationships/image" Target="../media/image42.png"/><Relationship Id="rId27" Type="http://schemas.openxmlformats.org/officeDocument/2006/relationships/slide" Target="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3.xml"/><Relationship Id="rId16" Type="http://schemas.openxmlformats.org/officeDocument/2006/relationships/slide" Target="slide13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60.png"/><Relationship Id="rId23" Type="http://schemas.openxmlformats.org/officeDocument/2006/relationships/image" Target="../media/image58.png"/><Relationship Id="rId24" Type="http://schemas.openxmlformats.org/officeDocument/2006/relationships/image" Target="../media/image42.png"/><Relationship Id="rId25" Type="http://schemas.openxmlformats.org/officeDocument/2006/relationships/image" Target="../media/image18.png"/><Relationship Id="rId26" Type="http://schemas.openxmlformats.org/officeDocument/2006/relationships/image" Target="../media/image19.png"/><Relationship Id="rId27" Type="http://schemas.openxmlformats.org/officeDocument/2006/relationships/slide" Target="slide2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4.xml"/><Relationship Id="rId16" Type="http://schemas.openxmlformats.org/officeDocument/2006/relationships/slide" Target="slide14.xml"/><Relationship Id="rId17" Type="http://schemas.openxmlformats.org/officeDocument/2006/relationships/slide" Target="slide16.xml"/><Relationship Id="rId18" Type="http://schemas.openxmlformats.org/officeDocument/2006/relationships/slide" Target="slide16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41.png"/><Relationship Id="rId23" Type="http://schemas.openxmlformats.org/officeDocument/2006/relationships/image" Target="../media/image52.png"/><Relationship Id="rId24" Type="http://schemas.openxmlformats.org/officeDocument/2006/relationships/image" Target="../media/image18.png"/><Relationship Id="rId25" Type="http://schemas.openxmlformats.org/officeDocument/2006/relationships/image" Target="../media/image44.png"/><Relationship Id="rId26" Type="http://schemas.openxmlformats.org/officeDocument/2006/relationships/image" Target="../media/image46.png"/><Relationship Id="rId27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7.xml"/><Relationship Id="rId18" Type="http://schemas.openxmlformats.org/officeDocument/2006/relationships/slide" Target="slide17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62.png"/><Relationship Id="rId23" Type="http://schemas.openxmlformats.org/officeDocument/2006/relationships/image" Target="../media/image63.png"/><Relationship Id="rId24" Type="http://schemas.openxmlformats.org/officeDocument/2006/relationships/image" Target="../media/image64.png"/><Relationship Id="rId25" Type="http://schemas.openxmlformats.org/officeDocument/2006/relationships/image" Target="../media/image43.png"/><Relationship Id="rId26" Type="http://schemas.openxmlformats.org/officeDocument/2006/relationships/image" Target="../media/image40.png"/><Relationship Id="rId27" Type="http://schemas.openxmlformats.org/officeDocument/2006/relationships/slide" Target="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6.xml"/><Relationship Id="rId16" Type="http://schemas.openxmlformats.org/officeDocument/2006/relationships/slide" Target="slide16.xml"/><Relationship Id="rId17" Type="http://schemas.openxmlformats.org/officeDocument/2006/relationships/slide" Target="slide18.xml"/><Relationship Id="rId18" Type="http://schemas.openxmlformats.org/officeDocument/2006/relationships/slide" Target="slide18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65.png"/><Relationship Id="rId23" Type="http://schemas.openxmlformats.org/officeDocument/2006/relationships/image" Target="../media/image68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44.png"/><Relationship Id="rId27" Type="http://schemas.openxmlformats.org/officeDocument/2006/relationships/slide" Target="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7.xml"/><Relationship Id="rId16" Type="http://schemas.openxmlformats.org/officeDocument/2006/relationships/slide" Target="slide17.xml"/><Relationship Id="rId17" Type="http://schemas.openxmlformats.org/officeDocument/2006/relationships/slide" Target="slide21.xml"/><Relationship Id="rId18" Type="http://schemas.openxmlformats.org/officeDocument/2006/relationships/slide" Target="slide21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69.png"/><Relationship Id="rId23" Type="http://schemas.openxmlformats.org/officeDocument/2006/relationships/slide" Target="slide19.xml"/><Relationship Id="rId24" Type="http://schemas.openxmlformats.org/officeDocument/2006/relationships/slide" Target="slide19.xml"/><Relationship Id="rId25" Type="http://schemas.openxmlformats.org/officeDocument/2006/relationships/slide" Target="slide19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0.xml"/><Relationship Id="rId30" Type="http://schemas.openxmlformats.org/officeDocument/2006/relationships/slide" Target="slide20.xml"/><Relationship Id="rId31" Type="http://schemas.openxmlformats.org/officeDocument/2006/relationships/slide" Target="slide20.xml"/><Relationship Id="rId32" Type="http://schemas.openxmlformats.org/officeDocument/2006/relationships/slide" Target="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8.xml"/><Relationship Id="rId16" Type="http://schemas.openxmlformats.org/officeDocument/2006/relationships/slide" Target="slide18.xml"/><Relationship Id="rId17" Type="http://schemas.openxmlformats.org/officeDocument/2006/relationships/slide" Target="slide21.xml"/><Relationship Id="rId18" Type="http://schemas.openxmlformats.org/officeDocument/2006/relationships/slide" Target="slide21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slide" Target="slide21.xml"/><Relationship Id="rId25" Type="http://schemas.openxmlformats.org/officeDocument/2006/relationships/slide" Target="slide21.xml"/><Relationship Id="rId26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8.xml"/><Relationship Id="rId16" Type="http://schemas.openxmlformats.org/officeDocument/2006/relationships/slide" Target="slide18.xml"/><Relationship Id="rId17" Type="http://schemas.openxmlformats.org/officeDocument/2006/relationships/slide" Target="slide21.xml"/><Relationship Id="rId18" Type="http://schemas.openxmlformats.org/officeDocument/2006/relationships/slide" Target="slide21.xml"/><Relationship Id="rId19" Type="http://schemas.openxmlformats.org/officeDocument/2006/relationships/slide" Target="slide1.xml"/><Relationship Id="rId20" Type="http://schemas.openxmlformats.org/officeDocument/2006/relationships/slide" Target="slide1.xml"/><Relationship Id="rId21" Type="http://schemas.openxmlformats.org/officeDocument/2006/relationships/image" Target="../media/image11.png"/><Relationship Id="rId22" Type="http://schemas.openxmlformats.org/officeDocument/2006/relationships/image" Target="../media/image36.png"/><Relationship Id="rId23" Type="http://schemas.openxmlformats.org/officeDocument/2006/relationships/image" Target="../media/image35.png"/><Relationship Id="rId24" Type="http://schemas.openxmlformats.org/officeDocument/2006/relationships/slide" Target="slide18.xml"/><Relationship Id="rId25" Type="http://schemas.openxmlformats.org/officeDocument/2006/relationships/slide" Target="slide18.xml"/><Relationship Id="rId26" Type="http://schemas.openxmlformats.org/officeDocument/2006/relationships/slide" Target="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8.xml"/><Relationship Id="rId15" Type="http://schemas.openxmlformats.org/officeDocument/2006/relationships/slide" Target="slide18.xml"/><Relationship Id="rId16" Type="http://schemas.openxmlformats.org/officeDocument/2006/relationships/slide" Target="slide18.xml"/><Relationship Id="rId17" Type="http://schemas.openxmlformats.org/officeDocument/2006/relationships/slide" Target="slide1.xml"/><Relationship Id="rId18" Type="http://schemas.openxmlformats.org/officeDocument/2006/relationships/slide" Target="slide1.xml"/><Relationship Id="rId19" Type="http://schemas.openxmlformats.org/officeDocument/2006/relationships/image" Target="../media/image11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3.png"/><Relationship Id="rId23" Type="http://schemas.openxmlformats.org/officeDocument/2006/relationships/image" Target="../media/image40.png"/><Relationship Id="rId24" Type="http://schemas.openxmlformats.org/officeDocument/2006/relationships/image" Target="../media/image17.png"/><Relationship Id="rId25" Type="http://schemas.openxmlformats.org/officeDocument/2006/relationships/image" Target="../media/image42.png"/><Relationship Id="rId26" Type="http://schemas.openxmlformats.org/officeDocument/2006/relationships/image" Target="../media/image72.png"/><Relationship Id="rId27" Type="http://schemas.openxmlformats.org/officeDocument/2006/relationships/image" Target="../media/image27.png"/><Relationship Id="rId28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1.xml"/><Relationship Id="rId5" Type="http://schemas.openxmlformats.org/officeDocument/2006/relationships/slide" Target="slide13.xml"/><Relationship Id="rId6" Type="http://schemas.openxmlformats.org/officeDocument/2006/relationships/slide" Target="slide16.xml"/><Relationship Id="rId7" Type="http://schemas.openxmlformats.org/officeDocument/2006/relationships/slide" Target="slide18.xml"/><Relationship Id="rId8" Type="http://schemas.openxmlformats.org/officeDocument/2006/relationships/slide" Target="slide1.xml"/><Relationship Id="rId9" Type="http://schemas.openxmlformats.org/officeDocument/2006/relationships/image" Target="../media/image11.png"/><Relationship Id="rId10" Type="http://schemas.openxmlformats.org/officeDocument/2006/relationships/slide" Target="slide22.xml"/><Relationship Id="rId11" Type="http://schemas.openxmlformats.org/officeDocument/2006/relationships/slide" Target="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425" y="-177800"/>
            <a:ext cx="17123301" cy="111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4">
            <a:alphaModFix amt="35000"/>
          </a:blip>
          <a:srcRect b="0" l="27082" r="0" t="0"/>
          <a:stretch/>
        </p:blipFill>
        <p:spPr>
          <a:xfrm>
            <a:off x="2801486" y="-120650"/>
            <a:ext cx="9058927" cy="1117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0402" y="1245308"/>
            <a:ext cx="12845207" cy="876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96400" y="-114301"/>
            <a:ext cx="9058926" cy="1116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7658" y="4595812"/>
            <a:ext cx="2263176" cy="18264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6115750" y="5449075"/>
            <a:ext cx="9369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28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Menos rigidez y más aprendizaje: transformar la incertidumbre en soluciones útiles.</a:t>
            </a:r>
            <a:endParaRPr b="0" i="0" sz="2800" u="none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>
            <a:hlinkClick action="ppaction://hlinksldjump" r:id="rId8"/>
          </p:cNvPr>
          <p:cNvSpPr/>
          <p:nvPr/>
        </p:nvSpPr>
        <p:spPr>
          <a:xfrm>
            <a:off x="6202428" y="8028299"/>
            <a:ext cx="3225900" cy="863100"/>
          </a:xfrm>
          <a:prstGeom prst="roundRect">
            <a:avLst>
              <a:gd fmla="val 27586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hlinkClick action="ppaction://hlinksldjump" r:id="rId9"/>
          </p:cNvPr>
          <p:cNvSpPr/>
          <p:nvPr/>
        </p:nvSpPr>
        <p:spPr>
          <a:xfrm>
            <a:off x="6202428" y="7968768"/>
            <a:ext cx="3225900" cy="863100"/>
          </a:xfrm>
          <a:prstGeom prst="roundRect">
            <a:avLst>
              <a:gd fmla="val 27586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b="1" i="0" lang="es-CO" sz="1992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Comenzar</a:t>
            </a:r>
            <a:endParaRPr b="1" i="0" sz="1992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75859" y="1067484"/>
            <a:ext cx="1191145" cy="118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078363" y="9342537"/>
            <a:ext cx="5185456" cy="87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65645" y="420404"/>
            <a:ext cx="2398173" cy="5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6115751" y="1777100"/>
            <a:ext cx="12410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6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Agilidad en acción: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6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comprender antes de implementar</a:t>
            </a:r>
            <a:endParaRPr b="1" i="0" sz="7200" u="none" cap="none" strike="noStrike">
              <a:solidFill>
                <a:srgbClr val="0247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525915" y="10310812"/>
            <a:ext cx="1040267" cy="104026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>
            <a:hlinkClick action="ppaction://hlinksldjump" r:id="rId14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>
            <a:hlinkClick action="ppaction://hlinksldjump" r:id="rId15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>
            <a:hlinkClick action="ppaction://hlinksldjump" r:id="rId16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>
            <a:hlinkClick action="ppaction://hlinksldjump" r:id="rId17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>
            <a:hlinkClick action="ppaction://hlinksldjump" r:id="rId18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>
            <a:hlinkClick action="ppaction://hlinksldjump" r:id="rId19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>
            <a:hlinkClick action="ppaction://hlinksldjump" r:id="rId20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>
            <a:hlinkClick action="ppaction://hlinksldjump" r:id="rId21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>
            <a:hlinkClick action="ppaction://hlinksldjump" r:id="rId22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>
            <a:hlinkClick action="ppaction://hlinksldjump" r:id="rId23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>
            <a:hlinkClick action="ppaction://hlinksldjump" r:id="rId24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>
            <a:hlinkClick action="ppaction://hlinksldjump" r:id="rId25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hlinkClick action="ppaction://hlinksldjump" r:id="rId26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>
            <a:hlinkClick action="ppaction://hlinksldjump" r:id="rId27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" title="correcciones sapiencia.png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29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9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MAPA DE NAVEGACIÓN</a:t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Elige por dónde comenzar</a:t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>
            <a:hlinkClick action="ppaction://hlinksldjump" r:id="rId22"/>
          </p:cNvPr>
          <p:cNvSpPr/>
          <p:nvPr/>
        </p:nvSpPr>
        <p:spPr>
          <a:xfrm>
            <a:off x="4558284" y="3444503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>
            <a:hlinkClick action="ppaction://hlinksldjump" r:id="rId23"/>
          </p:cNvPr>
          <p:cNvSpPr/>
          <p:nvPr/>
        </p:nvSpPr>
        <p:spPr>
          <a:xfrm>
            <a:off x="4558284" y="3379819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b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/>
          </a:p>
        </p:txBody>
      </p:sp>
      <p:sp>
        <p:nvSpPr>
          <p:cNvPr id="86" name="Google Shape;86;p2">
            <a:hlinkClick action="ppaction://hlinksldjump" r:id="rId24"/>
          </p:cNvPr>
          <p:cNvSpPr/>
          <p:nvPr/>
        </p:nvSpPr>
        <p:spPr>
          <a:xfrm>
            <a:off x="7671198" y="3606213"/>
            <a:ext cx="687267" cy="6872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regular_664092.png" id="87" name="Google Shape;87;p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836142" y="3771157"/>
            <a:ext cx="357379" cy="35737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>
            <a:hlinkClick action="ppaction://hlinksldjump" r:id="rId26"/>
          </p:cNvPr>
          <p:cNvSpPr/>
          <p:nvPr/>
        </p:nvSpPr>
        <p:spPr>
          <a:xfrm>
            <a:off x="8884021" y="3444503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>
            <a:hlinkClick action="ppaction://hlinksldjump" r:id="rId27"/>
          </p:cNvPr>
          <p:cNvSpPr/>
          <p:nvPr/>
        </p:nvSpPr>
        <p:spPr>
          <a:xfrm>
            <a:off x="8884021" y="3379819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A71989"/>
          </a:solidFill>
          <a:ln>
            <a:noFill/>
          </a:ln>
        </p:spPr>
        <p:txBody>
          <a:bodyPr anchorCtr="0" anchor="b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4 valores 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fundamentales y su alcance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>
            <a:hlinkClick action="ppaction://hlinksldjump" r:id="rId28"/>
          </p:cNvPr>
          <p:cNvSpPr/>
          <p:nvPr/>
        </p:nvSpPr>
        <p:spPr>
          <a:xfrm>
            <a:off x="11996935" y="3606213"/>
            <a:ext cx="687267" cy="6872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s_regular_A71989.png" id="91" name="Google Shape;91;p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2161879" y="3771157"/>
            <a:ext cx="357379" cy="35737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>
            <a:hlinkClick action="ppaction://hlinksldjump" r:id="rId30"/>
          </p:cNvPr>
          <p:cNvSpPr/>
          <p:nvPr/>
        </p:nvSpPr>
        <p:spPr>
          <a:xfrm>
            <a:off x="13209758" y="3444503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>
            <a:hlinkClick action="ppaction://hlinksldjump" r:id="rId31"/>
          </p:cNvPr>
          <p:cNvSpPr/>
          <p:nvPr/>
        </p:nvSpPr>
        <p:spPr>
          <a:xfrm>
            <a:off x="13209758" y="3379819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467CF1"/>
          </a:solidFill>
          <a:ln>
            <a:noFill/>
          </a:ln>
        </p:spPr>
        <p:txBody>
          <a:bodyPr anchorCtr="0" anchor="b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/>
          </a:p>
        </p:txBody>
      </p:sp>
      <p:sp>
        <p:nvSpPr>
          <p:cNvPr id="94" name="Google Shape;94;p2">
            <a:hlinkClick action="ppaction://hlinksldjump" r:id="rId32"/>
          </p:cNvPr>
          <p:cNvSpPr/>
          <p:nvPr/>
        </p:nvSpPr>
        <p:spPr>
          <a:xfrm>
            <a:off x="16322672" y="3606213"/>
            <a:ext cx="687267" cy="6872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-numbers_regular_467CF1.png" id="95" name="Google Shape;95;p2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6487616" y="3771157"/>
            <a:ext cx="357379" cy="35737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>
            <a:hlinkClick action="ppaction://hlinksldjump" r:id="rId34"/>
          </p:cNvPr>
          <p:cNvSpPr/>
          <p:nvPr/>
        </p:nvSpPr>
        <p:spPr>
          <a:xfrm>
            <a:off x="4558284" y="5506303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>
            <a:hlinkClick action="ppaction://hlinksldjump" r:id="rId35"/>
          </p:cNvPr>
          <p:cNvSpPr/>
          <p:nvPr/>
        </p:nvSpPr>
        <p:spPr>
          <a:xfrm>
            <a:off x="4558284" y="5441619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b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 humano, calidad y mejora continua</a:t>
            </a:r>
            <a:endParaRPr/>
          </a:p>
        </p:txBody>
      </p:sp>
      <p:sp>
        <p:nvSpPr>
          <p:cNvPr id="98" name="Google Shape;98;p2">
            <a:hlinkClick action="ppaction://hlinksldjump" r:id="rId36"/>
          </p:cNvPr>
          <p:cNvSpPr/>
          <p:nvPr/>
        </p:nvSpPr>
        <p:spPr>
          <a:xfrm>
            <a:off x="7671198" y="5668013"/>
            <a:ext cx="687267" cy="6872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-three_regular_3D2159.png" id="99" name="Google Shape;99;p2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836142" y="5832957"/>
            <a:ext cx="357379" cy="35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>
            <a:hlinkClick action="ppaction://hlinksldjump" r:id="rId38"/>
          </p:cNvPr>
          <p:cNvSpPr/>
          <p:nvPr/>
        </p:nvSpPr>
        <p:spPr>
          <a:xfrm>
            <a:off x="8884021" y="5506303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>
            <a:hlinkClick action="ppaction://hlinksldjump" r:id="rId39"/>
          </p:cNvPr>
          <p:cNvSpPr/>
          <p:nvPr/>
        </p:nvSpPr>
        <p:spPr>
          <a:xfrm>
            <a:off x="8884021" y="5441619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b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Agilidad en la práctica y 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toma de decisiones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>
            <a:hlinkClick action="ppaction://hlinksldjump" r:id="rId40"/>
          </p:cNvPr>
          <p:cNvSpPr/>
          <p:nvPr/>
        </p:nvSpPr>
        <p:spPr>
          <a:xfrm>
            <a:off x="11996935" y="5668013"/>
            <a:ext cx="687267" cy="6872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th_regular_024791.png" id="103" name="Google Shape;103;p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12161879" y="5832957"/>
            <a:ext cx="357379" cy="35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>
            <a:hlinkClick action="ppaction://hlinksldjump" r:id="rId42"/>
          </p:cNvPr>
          <p:cNvSpPr/>
          <p:nvPr/>
        </p:nvSpPr>
        <p:spPr>
          <a:xfrm>
            <a:off x="13209758" y="5506303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>
            <a:hlinkClick action="ppaction://hlinksldjump" r:id="rId43"/>
          </p:cNvPr>
          <p:cNvSpPr/>
          <p:nvPr/>
        </p:nvSpPr>
        <p:spPr>
          <a:xfrm>
            <a:off x="13209758" y="5441619"/>
            <a:ext cx="4042745" cy="1819235"/>
          </a:xfrm>
          <a:prstGeom prst="roundRect">
            <a:avLst>
              <a:gd fmla="val 13333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b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Recursos y actividades</a:t>
            </a:r>
            <a:endParaRPr/>
          </a:p>
        </p:txBody>
      </p:sp>
      <p:sp>
        <p:nvSpPr>
          <p:cNvPr id="106" name="Google Shape;106;p2">
            <a:hlinkClick action="ppaction://hlinksldjump" r:id="rId44"/>
          </p:cNvPr>
          <p:cNvSpPr/>
          <p:nvPr/>
        </p:nvSpPr>
        <p:spPr>
          <a:xfrm>
            <a:off x="16322672" y="5668013"/>
            <a:ext cx="687267" cy="6872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square-offset_regular_3D2159.png" id="107" name="Google Shape;107;p2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6487616" y="5832957"/>
            <a:ext cx="357379" cy="35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4543284" y="7764508"/>
            <a:ext cx="12694219" cy="1021954"/>
          </a:xfrm>
          <a:prstGeom prst="roundRect">
            <a:avLst>
              <a:gd fmla="val 22222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558284" y="8057177"/>
            <a:ext cx="64684" cy="43661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ursor-click_regular_664092.png" id="110" name="Google Shape;110;p2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4841276" y="8073348"/>
            <a:ext cx="404274" cy="4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5447688" y="7961200"/>
            <a:ext cx="11039927" cy="62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Haz clic en un tema para empezar. </a:t>
            </a:r>
            <a:r>
              <a:rPr b="0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Usa el menú lateral para moverte entre temas y el botón Inicio para volver a la portada.</a:t>
            </a:r>
            <a:endParaRPr/>
          </a:p>
        </p:txBody>
      </p:sp>
      <p:sp>
        <p:nvSpPr>
          <p:cNvPr id="56" name="Google Shape;56;p2">
            <a:hlinkClick action="ppaction://hlinksldjump" r:id="rId4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4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1 · ORIGEN Y SENTIDO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acción: comprender antes de implementar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886200" y="3246120"/>
            <a:ext cx="1435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 este recorrido descubriremos qué significa trabajar con agilidad, cómo surgió esta forma de pensar y qué valores y principios orientan su aplicación.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3886200" y="4343400"/>
            <a:ext cx="4160520" cy="2514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160520" y="4343400"/>
            <a:ext cx="3611880" cy="82296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160520" y="4663440"/>
            <a:ext cx="822960" cy="822960"/>
          </a:xfrm>
          <a:prstGeom prst="ellipse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-numbers_regular_FFFFFF.png" id="151" name="Google Shape;151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58030" y="48609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4160520" y="5669280"/>
            <a:ext cx="3611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Enfoque tradicional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Procesos predecibles y secuenciales.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46720" y="5120640"/>
            <a:ext cx="9372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8983980" y="4343400"/>
            <a:ext cx="4160520" cy="2514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9258300" y="4343400"/>
            <a:ext cx="3611880" cy="8229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9258300" y="4663440"/>
            <a:ext cx="822960" cy="82296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FFFFFF.png" id="157" name="Google Shape;157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455810" y="48609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9258300" y="5669280"/>
            <a:ext cx="3611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Aprendizaje iterativo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Ajuste continuo y mayor valor.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3144500" y="5120640"/>
            <a:ext cx="9372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14081760" y="4343400"/>
            <a:ext cx="4160520" cy="2514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4356080" y="4343400"/>
            <a:ext cx="3611880" cy="8229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4356080" y="4663440"/>
            <a:ext cx="822960" cy="82296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-line-up_regular_FFFFFF.png" id="163" name="Google Shape;163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4553590" y="48609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4356080" y="5669280"/>
            <a:ext cx="3611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Resultados con impacto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Organizaciones y proyectos más adaptativos.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3886200" y="71780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Tu ruta:</a:t>
            </a:r>
            <a:endParaRPr/>
          </a:p>
        </p:txBody>
      </p:sp>
      <p:sp>
        <p:nvSpPr>
          <p:cNvPr id="166" name="Google Shape;166;p16">
            <a:hlinkClick action="ppaction://hlinksldjump" r:id="rId25"/>
          </p:cNvPr>
          <p:cNvSpPr/>
          <p:nvPr/>
        </p:nvSpPr>
        <p:spPr>
          <a:xfrm>
            <a:off x="5394960" y="7178040"/>
            <a:ext cx="2148840" cy="64008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73150" lIns="640075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</a:t>
            </a:r>
            <a:endParaRPr/>
          </a:p>
        </p:txBody>
      </p:sp>
      <p:pic>
        <p:nvPicPr>
          <p:cNvPr descr="clock-counter-clockwise_regular_FFFFFF.png" id="167" name="Google Shape;167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96128" y="7324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7543800" y="71780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9" name="Google Shape;169;p16">
            <a:hlinkClick action="ppaction://hlinksldjump" r:id="rId27"/>
          </p:cNvPr>
          <p:cNvSpPr/>
          <p:nvPr/>
        </p:nvSpPr>
        <p:spPr>
          <a:xfrm>
            <a:off x="8046720" y="7178040"/>
            <a:ext cx="2148840" cy="640080"/>
          </a:xfrm>
          <a:prstGeom prst="roundRect">
            <a:avLst>
              <a:gd fmla="val 50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73150" lIns="640075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/>
          </a:p>
        </p:txBody>
      </p:sp>
      <p:pic>
        <p:nvPicPr>
          <p:cNvPr descr="scales_regular_3D2159.png" id="170" name="Google Shape;170;p1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247888" y="7324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10195560" y="71780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72" name="Google Shape;172;p16">
            <a:hlinkClick action="ppaction://hlinksldjump" r:id="rId29"/>
          </p:cNvPr>
          <p:cNvSpPr/>
          <p:nvPr/>
        </p:nvSpPr>
        <p:spPr>
          <a:xfrm>
            <a:off x="10698480" y="7178040"/>
            <a:ext cx="2148840" cy="640080"/>
          </a:xfrm>
          <a:prstGeom prst="roundRect">
            <a:avLst>
              <a:gd fmla="val 50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73150" lIns="640075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Principios</a:t>
            </a:r>
            <a:endParaRPr/>
          </a:p>
        </p:txBody>
      </p:sp>
      <p:pic>
        <p:nvPicPr>
          <p:cNvPr descr="list-numbers_regular_3D2159.png" id="173" name="Google Shape;173;p1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899648" y="7324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12847320" y="71780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75" name="Google Shape;175;p16">
            <a:hlinkClick action="ppaction://hlinksldjump" r:id="rId31"/>
          </p:cNvPr>
          <p:cNvSpPr/>
          <p:nvPr/>
        </p:nvSpPr>
        <p:spPr>
          <a:xfrm>
            <a:off x="13350240" y="7178040"/>
            <a:ext cx="3154680" cy="640080"/>
          </a:xfrm>
          <a:prstGeom prst="roundRect">
            <a:avLst>
              <a:gd fmla="val 50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73150" lIns="640075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Formas de trabajo</a:t>
            </a:r>
            <a:endParaRPr/>
          </a:p>
        </p:txBody>
      </p:sp>
      <p:pic>
        <p:nvPicPr>
          <p:cNvPr descr="path_regular_3D2159.png" id="176" name="Google Shape;176;p16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3551408" y="7324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3886200" y="7955280"/>
            <a:ext cx="1435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Haz clic en cada etapa de la ruta para ir directamente a ese contenido.</a:t>
            </a:r>
            <a:endParaRPr/>
          </a:p>
        </p:txBody>
      </p:sp>
      <p:sp>
        <p:nvSpPr>
          <p:cNvPr id="56" name="Google Shape;56;p2">
            <a:hlinkClick action="ppaction://hlinksldjump" r:id="rId33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33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7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">
            <a:hlinkClick action="ppaction://hlinksldjump" r:id="rId15"/>
          </p:cNvPr>
          <p:cNvSpPr/>
          <p:nvPr/>
        </p:nvSpPr>
        <p:spPr>
          <a:xfrm>
            <a:off x="4591655" y="9650527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">
            <a:hlinkClick action="ppaction://hlinksldjump" r:id="rId16"/>
          </p:cNvPr>
          <p:cNvSpPr/>
          <p:nvPr/>
        </p:nvSpPr>
        <p:spPr>
          <a:xfrm>
            <a:off x="4591655" y="9590996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7">
            <a:hlinkClick action="ppaction://hlinksldjump" r:id="rId17"/>
          </p:cNvPr>
          <p:cNvSpPr/>
          <p:nvPr/>
        </p:nvSpPr>
        <p:spPr>
          <a:xfrm>
            <a:off x="6378374" y="9650527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7">
            <a:hlinkClick action="ppaction://hlinksldjump" r:id="rId18"/>
          </p:cNvPr>
          <p:cNvSpPr/>
          <p:nvPr/>
        </p:nvSpPr>
        <p:spPr>
          <a:xfrm>
            <a:off x="6378374" y="9590996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7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1 · ORIGEN Y SENTIDO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¿Ser ágil significa hacer todo más rápido?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3886200" y="3246120"/>
            <a:ext cx="4114800" cy="640080"/>
          </a:xfrm>
          <a:prstGeom prst="roundRect">
            <a:avLst>
              <a:gd fmla="val 5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73150" lIns="640075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Agilidad ≠ velocidad</a:t>
            </a:r>
            <a:endParaRPr/>
          </a:p>
        </p:txBody>
      </p:sp>
      <p:pic>
        <p:nvPicPr>
          <p:cNvPr descr="x-circle_regular_A71989.png" id="214" name="Google Shape;214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087368" y="33924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/>
          <p:nvPr/>
        </p:nvSpPr>
        <p:spPr>
          <a:xfrm>
            <a:off x="8275320" y="3246120"/>
            <a:ext cx="7589520" cy="64008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73150" lIns="640075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Agilidad = aprender + adaptar + entregar valor</a:t>
            </a:r>
            <a:endParaRPr/>
          </a:p>
        </p:txBody>
      </p:sp>
      <p:pic>
        <p:nvPicPr>
          <p:cNvPr descr="check-circle_regular_FFFFFF.png" id="216" name="Google Shape;216;p1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476488" y="33924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3886200" y="4069080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Las metodologías ágiles reúnen enfoques y prácticas que favorecen la entrega incremental de valor, la colaboración y la capacidad de adaptación durante el desarrollo de un proyecto.</a:t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3886200" y="5074920"/>
            <a:ext cx="6995160" cy="3749040"/>
          </a:xfrm>
          <a:prstGeom prst="roundRect">
            <a:avLst>
              <a:gd fmla="val 6097" name="adj"/>
            </a:avLst>
          </a:prstGeom>
          <a:solidFill>
            <a:srgbClr val="FBF4F8"/>
          </a:solidFill>
          <a:ln cap="flat" cmpd="sng" w="15875">
            <a:solidFill>
              <a:srgbClr val="EBC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4206240" y="5394960"/>
            <a:ext cx="822960" cy="82296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ning_regular_FFFFFF.png" id="220" name="Google Shape;220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403750" y="559247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/>
        </p:nvSpPr>
        <p:spPr>
          <a:xfrm>
            <a:off x="5212080" y="5349240"/>
            <a:ext cx="5440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Enfoque por velocidad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4F4F4F"/>
                </a:solidFill>
                <a:latin typeface="Arial"/>
                <a:ea typeface="Arial"/>
                <a:cs typeface="Arial"/>
                <a:sym typeface="Arial"/>
              </a:rPr>
              <a:t>El mito de la velocidad lineal.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4206240" y="6583680"/>
            <a:ext cx="6355080" cy="777240"/>
          </a:xfrm>
          <a:prstGeom prst="roundRect">
            <a:avLst>
              <a:gd fmla="val 23529" name="adj"/>
            </a:avLst>
          </a:prstGeom>
          <a:solidFill>
            <a:srgbClr val="FFFFFF"/>
          </a:solidFill>
          <a:ln cap="flat" cmpd="sng" w="12700">
            <a:solidFill>
              <a:srgbClr val="EBC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rning_regular_A71989.png" id="223" name="Google Shape;223;p1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389120" y="6766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 txBox="1"/>
          <p:nvPr/>
        </p:nvSpPr>
        <p:spPr>
          <a:xfrm>
            <a:off x="4983480" y="6583680"/>
            <a:ext cx="5440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Aceleración sin pausas de validación.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4206240" y="7543800"/>
            <a:ext cx="6355080" cy="777240"/>
          </a:xfrm>
          <a:prstGeom prst="roundRect">
            <a:avLst>
              <a:gd fmla="val 23529" name="adj"/>
            </a:avLst>
          </a:prstGeom>
          <a:solidFill>
            <a:srgbClr val="FFFFFF"/>
          </a:solidFill>
          <a:ln cap="flat" cmpd="sng" w="12700">
            <a:solidFill>
              <a:srgbClr val="EBC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rning_regular_A71989.png" id="226" name="Google Shape;226;p1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389120" y="7726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4983480" y="7543800"/>
            <a:ext cx="5440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Mayor riesgo de errores y desvíos.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11247120" y="5074920"/>
            <a:ext cx="6995160" cy="3749040"/>
          </a:xfrm>
          <a:prstGeom prst="roundRect">
            <a:avLst>
              <a:gd fmla="val 6097" name="adj"/>
            </a:avLst>
          </a:prstGeom>
          <a:solidFill>
            <a:srgbClr val="F1EBF6"/>
          </a:solidFill>
          <a:ln cap="flat" cmpd="sng" w="1587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11567160" y="5394960"/>
            <a:ext cx="822960" cy="82296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FFFFFF.png" id="230" name="Google Shape;230;p1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1764670" y="559247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/>
        </p:nvSpPr>
        <p:spPr>
          <a:xfrm>
            <a:off x="12573000" y="5349240"/>
            <a:ext cx="5440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Enfoque ágil adaptativo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4F4F4F"/>
                </a:solidFill>
                <a:latin typeface="Arial"/>
                <a:ea typeface="Arial"/>
                <a:cs typeface="Arial"/>
                <a:sym typeface="Arial"/>
              </a:rPr>
              <a:t>Ciclos de aprendizaje para generar más valor.</a:t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11567160" y="6629400"/>
            <a:ext cx="134874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Hacer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12915900" y="6629400"/>
            <a:ext cx="32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13235940" y="6629400"/>
            <a:ext cx="134874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Observar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14584680" y="6629400"/>
            <a:ext cx="32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14904720" y="6629400"/>
            <a:ext cx="134874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Aprender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16253460" y="6629400"/>
            <a:ext cx="32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16573500" y="6629400"/>
            <a:ext cx="134874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Ajustar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11567160" y="7452360"/>
            <a:ext cx="6355080" cy="59436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73150" lIns="640075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Entrega incremental de valor</a:t>
            </a:r>
            <a:endParaRPr/>
          </a:p>
        </p:txBody>
      </p:sp>
      <p:pic>
        <p:nvPicPr>
          <p:cNvPr descr="package_regular_3D2159.png" id="240" name="Google Shape;240;p1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1768328" y="75758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 txBox="1"/>
          <p:nvPr/>
        </p:nvSpPr>
        <p:spPr>
          <a:xfrm>
            <a:off x="11567160" y="8092440"/>
            <a:ext cx="6355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Proyectos más adaptativos. Resultados con mayor valor.</a:t>
            </a:r>
            <a:endParaRPr/>
          </a:p>
        </p:txBody>
      </p:sp>
      <p:sp>
        <p:nvSpPr>
          <p:cNvPr id="56" name="Google Shape;56;p2">
            <a:hlinkClick action="ppaction://hlinksldjump" r:id="rId28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8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8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8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8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8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8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8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8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1 · ORIGEN Y SENTIDO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Cuando el plan se encuentra con la incertidumbre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3886200" y="3246120"/>
            <a:ext cx="1435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 agilidad reconoce que no todo puede conocerse ni planificarse con certeza desde el comienzo.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3886200" y="3886200"/>
            <a:ext cx="4206240" cy="2377440"/>
          </a:xfrm>
          <a:prstGeom prst="roundRect">
            <a:avLst>
              <a:gd fmla="val 8461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4160520" y="3886200"/>
            <a:ext cx="3657600" cy="82296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4160520" y="4160520"/>
            <a:ext cx="685800" cy="685800"/>
          </a:xfrm>
          <a:prstGeom prst="ellipse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p-trifold_regular_FFFFFF.png" id="281" name="Google Shape;281;p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25112" y="432511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8"/>
          <p:cNvSpPr txBox="1"/>
          <p:nvPr/>
        </p:nvSpPr>
        <p:spPr>
          <a:xfrm>
            <a:off x="5029200" y="416052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PLAN INICIAL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4160520" y="4983480"/>
            <a:ext cx="3703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Sabemos hacia dónde queremos avanzar.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8092440" y="4709160"/>
            <a:ext cx="868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8961120" y="3886200"/>
            <a:ext cx="4206240" cy="2377440"/>
          </a:xfrm>
          <a:prstGeom prst="roundRect">
            <a:avLst>
              <a:gd fmla="val 8461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9235440" y="3886200"/>
            <a:ext cx="3657600" cy="8229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9235440" y="4160520"/>
            <a:ext cx="685800" cy="68580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uffle_regular_FFFFFF.png" id="288" name="Google Shape;288;p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400032" y="432511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 txBox="1"/>
          <p:nvPr/>
        </p:nvSpPr>
        <p:spPr>
          <a:xfrm>
            <a:off x="10104120" y="416052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REALIDAD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9235440" y="4983480"/>
            <a:ext cx="3703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• Cambian necesidades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• Aparecen nuevos datos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• Recibimos retroalimentación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• Surgen imprevistos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13167360" y="4709160"/>
            <a:ext cx="868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14036040" y="3886200"/>
            <a:ext cx="4206240" cy="2377440"/>
          </a:xfrm>
          <a:prstGeom prst="roundRect">
            <a:avLst>
              <a:gd fmla="val 8461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14310360" y="3886200"/>
            <a:ext cx="3657600" cy="8229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14310360" y="4160520"/>
            <a:ext cx="685800" cy="68580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FFFFFF.png" id="295" name="Google Shape;295;p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4474952" y="432511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8"/>
          <p:cNvSpPr txBox="1"/>
          <p:nvPr/>
        </p:nvSpPr>
        <p:spPr>
          <a:xfrm>
            <a:off x="15179040" y="416052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ADAPTACIÓN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14310360" y="4983480"/>
            <a:ext cx="3703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Revisamos → Aprendemos → Ajustamos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Entrega incremental de valor.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3886200" y="6537960"/>
            <a:ext cx="6675120" cy="2377440"/>
          </a:xfrm>
          <a:prstGeom prst="roundRect">
            <a:avLst>
              <a:gd fmla="val 9615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3886200" y="6766560"/>
            <a:ext cx="82296" cy="192024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4251960" y="6720840"/>
            <a:ext cx="61264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PREGUNTA DE REFLEXIÓN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«Si cambian las necesidades del usuario, ¿mantenemos el plan o utilizamos lo aprendido para ajustarlo?»</a:t>
            </a:r>
            <a:endParaRPr/>
          </a:p>
        </p:txBody>
      </p:sp>
      <p:sp>
        <p:nvSpPr>
          <p:cNvPr id="301" name="Google Shape;301;p18">
            <a:hlinkClick action="ppaction://hlinksldjump" r:id="rId25"/>
          </p:cNvPr>
          <p:cNvSpPr/>
          <p:nvPr/>
        </p:nvSpPr>
        <p:spPr>
          <a:xfrm>
            <a:off x="10881360" y="6693408"/>
            <a:ext cx="7360920" cy="960120"/>
          </a:xfrm>
          <a:prstGeom prst="roundRect">
            <a:avLst>
              <a:gd fmla="val 17142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>
            <a:hlinkClick action="ppaction://hlinksldjump" r:id="rId26"/>
          </p:cNvPr>
          <p:cNvSpPr/>
          <p:nvPr/>
        </p:nvSpPr>
        <p:spPr>
          <a:xfrm>
            <a:off x="10881360" y="6629400"/>
            <a:ext cx="7360920" cy="960120"/>
          </a:xfrm>
          <a:prstGeom prst="roundRect">
            <a:avLst>
              <a:gd fmla="val 17142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960100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Mantener el plan inicial para no retrasar tiempos.</a:t>
            </a:r>
            <a:endParaRPr/>
          </a:p>
        </p:txBody>
      </p:sp>
      <p:sp>
        <p:nvSpPr>
          <p:cNvPr id="303" name="Google Shape;303;p18">
            <a:hlinkClick action="ppaction://hlinksldjump" r:id="rId27"/>
          </p:cNvPr>
          <p:cNvSpPr/>
          <p:nvPr/>
        </p:nvSpPr>
        <p:spPr>
          <a:xfrm>
            <a:off x="11109960" y="6835140"/>
            <a:ext cx="548640" cy="54864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04" name="Google Shape;304;p18">
            <a:hlinkClick action="ppaction://hlinksldjump" r:id="rId28"/>
          </p:cNvPr>
          <p:cNvSpPr/>
          <p:nvPr/>
        </p:nvSpPr>
        <p:spPr>
          <a:xfrm>
            <a:off x="10881360" y="7882128"/>
            <a:ext cx="7360920" cy="960120"/>
          </a:xfrm>
          <a:prstGeom prst="roundRect">
            <a:avLst>
              <a:gd fmla="val 17142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8">
            <a:hlinkClick action="ppaction://hlinksldjump" r:id="rId29"/>
          </p:cNvPr>
          <p:cNvSpPr/>
          <p:nvPr/>
        </p:nvSpPr>
        <p:spPr>
          <a:xfrm>
            <a:off x="10881360" y="7818120"/>
            <a:ext cx="7360920" cy="960120"/>
          </a:xfrm>
          <a:prstGeom prst="roundRect">
            <a:avLst>
              <a:gd fmla="val 17142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960100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Utilizar lo aprendido para ajustar y generar valor.</a:t>
            </a:r>
            <a:endParaRPr/>
          </a:p>
        </p:txBody>
      </p:sp>
      <p:sp>
        <p:nvSpPr>
          <p:cNvPr id="306" name="Google Shape;306;p18">
            <a:hlinkClick action="ppaction://hlinksldjump" r:id="rId30"/>
          </p:cNvPr>
          <p:cNvSpPr/>
          <p:nvPr/>
        </p:nvSpPr>
        <p:spPr>
          <a:xfrm>
            <a:off x="11109960" y="8023860"/>
            <a:ext cx="548640" cy="54864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6" name="Google Shape;56;p2">
            <a:hlinkClick action="ppaction://hlinksldjump" r:id="rId31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31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9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9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9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PREGUNTA DE REFLEXIÓN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 aprendido también es información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_bold_3D2159.png" id="343" name="Google Shape;343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9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¡Buena decisión!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6812280" y="4160520"/>
            <a:ext cx="112471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3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Cuando cambian las necesidades, lo aprendido es información valiosa. Ajustar el plan permite seguir generando valor para las personas usuarias.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6812280" y="6446520"/>
            <a:ext cx="11247120" cy="960120"/>
          </a:xfrm>
          <a:prstGeom prst="roundRect">
            <a:avLst>
              <a:gd fmla="val 19047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6812280" y="661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regular_664092.png" id="348" name="Google Shape;348;p1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132320" y="669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9"/>
          <p:cNvSpPr txBox="1"/>
          <p:nvPr/>
        </p:nvSpPr>
        <p:spPr>
          <a:xfrm>
            <a:off x="7818120" y="644652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Clave: </a:t>
            </a:r>
            <a:r>
              <a:rPr b="0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revisar, aprender y ajustar.</a:t>
            </a:r>
            <a:endParaRPr/>
          </a:p>
        </p:txBody>
      </p:sp>
      <p:sp>
        <p:nvSpPr>
          <p:cNvPr id="350" name="Google Shape;350;p19">
            <a:hlinkClick action="ppaction://hlinksldjump" r:id="rId24"/>
          </p:cNvPr>
          <p:cNvSpPr/>
          <p:nvPr/>
        </p:nvSpPr>
        <p:spPr>
          <a:xfrm>
            <a:off x="6812280" y="7927848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>
            <a:hlinkClick action="ppaction://hlinksldjump" r:id="rId25"/>
          </p:cNvPr>
          <p:cNvSpPr/>
          <p:nvPr/>
        </p:nvSpPr>
        <p:spPr>
          <a:xfrm>
            <a:off x="6812280" y="7863840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Continuar  →</a:t>
            </a:r>
            <a:endParaRPr/>
          </a:p>
        </p:txBody>
      </p:sp>
      <p:sp>
        <p:nvSpPr>
          <p:cNvPr id="56" name="Google Shape;56;p2">
            <a:hlinkClick action="ppaction://hlinksldjump" r:id="rId26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6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0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0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0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0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0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0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20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0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PREGUNTA DE REFLEXIÓN</a:t>
            </a:r>
            <a:endParaRPr/>
          </a:p>
        </p:txBody>
      </p:sp>
      <p:sp>
        <p:nvSpPr>
          <p:cNvPr id="380" name="Google Shape;380;p20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Revisa la decisión</a:t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-counter-clockwise_bold_664092.png" id="388" name="Google Shape;388;p2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0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Aún no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6812280" y="4160520"/>
            <a:ext cx="112471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3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Mantener el plan sin considerar lo aprendido puede llevarnos a entregar algo que ya no responde a las necesidades reales de las personas usuarias.</a:t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6812280" y="6446520"/>
            <a:ext cx="11247120" cy="960120"/>
          </a:xfrm>
          <a:prstGeom prst="roundRect">
            <a:avLst>
              <a:gd fmla="val 19047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6812280" y="661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gnifying-glass_regular_664092.png" id="393" name="Google Shape;393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132320" y="669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0"/>
          <p:cNvSpPr txBox="1"/>
          <p:nvPr/>
        </p:nvSpPr>
        <p:spPr>
          <a:xfrm>
            <a:off x="7818120" y="644652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Pista: </a:t>
            </a:r>
            <a:r>
              <a:rPr b="0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 agilidad convierte el cambio en aprendizaje.</a:t>
            </a:r>
            <a:endParaRPr/>
          </a:p>
        </p:txBody>
      </p:sp>
      <p:sp>
        <p:nvSpPr>
          <p:cNvPr id="395" name="Google Shape;395;p20">
            <a:hlinkClick action="ppaction://hlinksldjump" r:id="rId24"/>
          </p:cNvPr>
          <p:cNvSpPr/>
          <p:nvPr/>
        </p:nvSpPr>
        <p:spPr>
          <a:xfrm>
            <a:off x="6812280" y="7927848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0">
            <a:hlinkClick action="ppaction://hlinksldjump" r:id="rId25"/>
          </p:cNvPr>
          <p:cNvSpPr/>
          <p:nvPr/>
        </p:nvSpPr>
        <p:spPr>
          <a:xfrm>
            <a:off x="6812280" y="7863840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Intentar de nuevo  ↺</a:t>
            </a:r>
            <a:endParaRPr/>
          </a:p>
        </p:txBody>
      </p:sp>
      <p:sp>
        <p:nvSpPr>
          <p:cNvPr id="56" name="Google Shape;56;p2">
            <a:hlinkClick action="ppaction://hlinksldjump" r:id="rId26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6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1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1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1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1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1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1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1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1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1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1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21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1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1 · ORIGEN Y SENTIDO</a:t>
            </a:r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De nuevas formas de trabajar a una visión compartida</a:t>
            </a:r>
            <a:endParaRPr/>
          </a:p>
        </p:txBody>
      </p:sp>
      <p:sp>
        <p:nvSpPr>
          <p:cNvPr id="426" name="Google Shape;426;p21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3886200" y="3246120"/>
            <a:ext cx="1435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El origen de la agilidad: cómo la experimentación práctica convergió en un marco común de trabajo.</a:t>
            </a:r>
            <a:endParaRPr/>
          </a:p>
        </p:txBody>
      </p:sp>
      <p:sp>
        <p:nvSpPr>
          <p:cNvPr id="433" name="Google Shape;433;p21"/>
          <p:cNvSpPr/>
          <p:nvPr/>
        </p:nvSpPr>
        <p:spPr>
          <a:xfrm>
            <a:off x="5577840" y="4160520"/>
            <a:ext cx="10972800" cy="45720"/>
          </a:xfrm>
          <a:prstGeom prst="rect">
            <a:avLst/>
          </a:prstGeom>
          <a:solidFill>
            <a:srgbClr val="C9BE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5422392" y="4023360"/>
            <a:ext cx="310896" cy="310896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3886200" y="452628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4160520" y="4800600"/>
            <a:ext cx="685800" cy="68580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-three_regular_664092.png" id="437" name="Google Shape;437;p2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25112" y="49651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1"/>
          <p:cNvSpPr txBox="1"/>
          <p:nvPr/>
        </p:nvSpPr>
        <p:spPr>
          <a:xfrm>
            <a:off x="4160520" y="5623560"/>
            <a:ext cx="28803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Década de 1990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Equipos de software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Experimentan con formas de trabajo más flexibles.</a:t>
            </a:r>
            <a:endParaRPr/>
          </a:p>
        </p:txBody>
      </p:sp>
      <p:sp>
        <p:nvSpPr>
          <p:cNvPr id="439" name="Google Shape;439;p21"/>
          <p:cNvSpPr/>
          <p:nvPr/>
        </p:nvSpPr>
        <p:spPr>
          <a:xfrm>
            <a:off x="9079992" y="4023360"/>
            <a:ext cx="310896" cy="310896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7543800" y="452628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7818120" y="4800600"/>
            <a:ext cx="685800" cy="68580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regular_664092.png" id="442" name="Google Shape;442;p2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982712" y="49651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/>
        </p:nvSpPr>
        <p:spPr>
          <a:xfrm>
            <a:off x="7818120" y="5623560"/>
            <a:ext cx="28803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Nuevos enfoques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Scrum, XP y Crystal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Surgen y evolucionan propuestas como Scrum, Extreme Programming (XP) y Crystal.</a:t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12737592" y="4023360"/>
            <a:ext cx="310896" cy="310896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11201400" y="452628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11475720" y="48006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p-pin_regular_664092.png" id="447" name="Google Shape;447;p2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1640312" y="49651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1"/>
          <p:cNvSpPr txBox="1"/>
          <p:nvPr/>
        </p:nvSpPr>
        <p:spPr>
          <a:xfrm>
            <a:off x="11475720" y="5623560"/>
            <a:ext cx="28803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FFD900"/>
                </a:solidFill>
                <a:latin typeface="Arial"/>
                <a:ea typeface="Arial"/>
                <a:cs typeface="Arial"/>
                <a:sym typeface="Arial"/>
              </a:rPr>
              <a:t>Febrero de 2001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Snowbird, Utah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F3E9F0"/>
                </a:solidFill>
                <a:latin typeface="Arial"/>
                <a:ea typeface="Arial"/>
                <a:cs typeface="Arial"/>
                <a:sym typeface="Arial"/>
              </a:rPr>
              <a:t>17 profesionales se reúnen para compartir su experiencia.</a:t>
            </a:r>
            <a:endParaRPr/>
          </a:p>
        </p:txBody>
      </p:sp>
      <p:sp>
        <p:nvSpPr>
          <p:cNvPr id="449" name="Google Shape;449;p21"/>
          <p:cNvSpPr/>
          <p:nvPr/>
        </p:nvSpPr>
        <p:spPr>
          <a:xfrm>
            <a:off x="16395192" y="4023360"/>
            <a:ext cx="310896" cy="310896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14859000" y="452628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15133320" y="4800600"/>
            <a:ext cx="685800" cy="68580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oll_regular_664092.png" id="452" name="Google Shape;452;p2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5297912" y="49651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1"/>
          <p:cNvSpPr txBox="1"/>
          <p:nvPr/>
        </p:nvSpPr>
        <p:spPr>
          <a:xfrm>
            <a:off x="15133320" y="5623560"/>
            <a:ext cx="28803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Manifiesto Ágil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 valores y 12 principios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Se expresan cuatro valores compartidos y posteriormente doce principios.</a:t>
            </a: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3886200" y="7726680"/>
            <a:ext cx="14356080" cy="1188720"/>
          </a:xfrm>
          <a:prstGeom prst="roundRect">
            <a:avLst>
              <a:gd fmla="val 23076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regular_FFFFFF.png" id="455" name="Google Shape;455;p2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803757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1"/>
          <p:cNvSpPr txBox="1"/>
          <p:nvPr/>
        </p:nvSpPr>
        <p:spPr>
          <a:xfrm>
            <a:off x="5029200" y="7726680"/>
            <a:ext cx="12847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Diferentes prácticas  →  una filosofía compartida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Snowbird fue el punto de convergencia donde la experiencia de múltiples marcos de trabajo se consolidó en una base filosófica común aplicable a cualquier proyecto.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2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2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2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2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A71989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2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2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2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2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2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2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2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2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2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2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2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2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2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2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22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2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LOS 4 VALORES</a:t>
            </a:r>
            <a:endParaRPr/>
          </a:p>
        </p:txBody>
      </p:sp>
      <p:sp>
        <p:nvSpPr>
          <p:cNvPr id="485" name="Google Shape;485;p22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Cuatro valores que orientan la agilidad</a:t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>
            <a:off x="3886200" y="3246120"/>
            <a:ext cx="14356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El Manifiesto Ágil propone cuatro valores que expresan qué aspectos se priorizan al desarrollar software. Estos valores no eliminan aquello que aparece en segundo lugar; establecen una preferencia cuando debemos decidir dónde concentrar nuestra atención.</a:t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3886200" y="4572000"/>
            <a:ext cx="3383280" cy="3063240"/>
          </a:xfrm>
          <a:prstGeom prst="roundRect">
            <a:avLst>
              <a:gd fmla="val 6567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4160520" y="4572000"/>
            <a:ext cx="2834640" cy="8229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4160520" y="4800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96" name="Google Shape;496;p22"/>
          <p:cNvSpPr/>
          <p:nvPr/>
        </p:nvSpPr>
        <p:spPr>
          <a:xfrm>
            <a:off x="6172200" y="4846320"/>
            <a:ext cx="822960" cy="82296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-three_regular_FFFFFF.png" id="497" name="Google Shape;497;p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369710" y="50438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2"/>
          <p:cNvSpPr txBox="1"/>
          <p:nvPr/>
        </p:nvSpPr>
        <p:spPr>
          <a:xfrm>
            <a:off x="4160520" y="5806440"/>
            <a:ext cx="28803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Personas e interacciones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sobre procesos y herramientas</a:t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7543800" y="4572000"/>
            <a:ext cx="3383280" cy="3063240"/>
          </a:xfrm>
          <a:prstGeom prst="roundRect">
            <a:avLst>
              <a:gd fmla="val 6567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7818120" y="4572000"/>
            <a:ext cx="2834640" cy="8229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7818120" y="4800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9829800" y="4846320"/>
            <a:ext cx="822960" cy="82296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regular_FFFFFF.png" id="503" name="Google Shape;503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0027310" y="50438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2"/>
          <p:cNvSpPr txBox="1"/>
          <p:nvPr/>
        </p:nvSpPr>
        <p:spPr>
          <a:xfrm>
            <a:off x="7818120" y="5806440"/>
            <a:ext cx="28803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Software funcionando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sobre documentación exhaustiva</a:t>
            </a:r>
            <a:endParaRPr/>
          </a:p>
        </p:txBody>
      </p:sp>
      <p:sp>
        <p:nvSpPr>
          <p:cNvPr id="505" name="Google Shape;505;p22"/>
          <p:cNvSpPr/>
          <p:nvPr/>
        </p:nvSpPr>
        <p:spPr>
          <a:xfrm>
            <a:off x="11201400" y="4572000"/>
            <a:ext cx="3383280" cy="3063240"/>
          </a:xfrm>
          <a:prstGeom prst="roundRect">
            <a:avLst>
              <a:gd fmla="val 6567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11475720" y="4572000"/>
            <a:ext cx="2834640" cy="8229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11475720" y="4800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467CF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>
            <a:off x="13487400" y="4846320"/>
            <a:ext cx="822960" cy="822960"/>
          </a:xfrm>
          <a:prstGeom prst="ellipse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ndshake_regular_FFFFFF.png" id="509" name="Google Shape;509;p2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3684910" y="50438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2"/>
          <p:cNvSpPr txBox="1"/>
          <p:nvPr/>
        </p:nvSpPr>
        <p:spPr>
          <a:xfrm>
            <a:off x="11475720" y="5806440"/>
            <a:ext cx="28803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Colaboración con el cliente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sobre acuerdos contractuales</a:t>
            </a:r>
            <a:endParaRPr/>
          </a:p>
        </p:txBody>
      </p:sp>
      <p:sp>
        <p:nvSpPr>
          <p:cNvPr id="511" name="Google Shape;511;p22"/>
          <p:cNvSpPr/>
          <p:nvPr/>
        </p:nvSpPr>
        <p:spPr>
          <a:xfrm>
            <a:off x="14859000" y="4572000"/>
            <a:ext cx="3383280" cy="3063240"/>
          </a:xfrm>
          <a:prstGeom prst="roundRect">
            <a:avLst>
              <a:gd fmla="val 6567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15133320" y="4572000"/>
            <a:ext cx="2834640" cy="82296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15133320" y="4800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17145000" y="4846320"/>
            <a:ext cx="822960" cy="822960"/>
          </a:xfrm>
          <a:prstGeom prst="ellipse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FFFFFF.png" id="515" name="Google Shape;515;p2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7342510" y="50438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2"/>
          <p:cNvSpPr txBox="1"/>
          <p:nvPr/>
        </p:nvSpPr>
        <p:spPr>
          <a:xfrm>
            <a:off x="15133320" y="5806440"/>
            <a:ext cx="28803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5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ADAPTACIÓN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al cambio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sobre seguir un plan</a:t>
            </a:r>
            <a:endParaRPr/>
          </a:p>
        </p:txBody>
      </p:sp>
      <p:sp>
        <p:nvSpPr>
          <p:cNvPr id="517" name="Google Shape;517;p22"/>
          <p:cNvSpPr/>
          <p:nvPr/>
        </p:nvSpPr>
        <p:spPr>
          <a:xfrm>
            <a:off x="3886200" y="7909560"/>
            <a:ext cx="14356080" cy="777240"/>
          </a:xfrm>
          <a:prstGeom prst="roundRect">
            <a:avLst>
              <a:gd fmla="val 35294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s_regular_FFFFFF.png" id="518" name="Google Shape;518;p2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801471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2"/>
          <p:cNvSpPr txBox="1"/>
          <p:nvPr/>
        </p:nvSpPr>
        <p:spPr>
          <a:xfrm>
            <a:off x="5029200" y="7909560"/>
            <a:ext cx="1284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Valorar más ≠ eliminar lo demás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3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3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3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3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A71989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3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3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3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3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3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3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3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3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3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3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3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5" name="Google Shape;545;p23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23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2 · LOS 4 VALORES</a:t>
            </a:r>
            <a:endParaRPr/>
          </a:p>
        </p:txBody>
      </p:sp>
      <p:sp>
        <p:nvSpPr>
          <p:cNvPr id="548" name="Google Shape;548;p23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Priorizar no significa descartar</a:t>
            </a:r>
            <a:endParaRPr/>
          </a:p>
        </p:txBody>
      </p:sp>
      <p:sp>
        <p:nvSpPr>
          <p:cNvPr id="549" name="Google Shape;549;p23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3"/>
          <p:cNvSpPr txBox="1"/>
          <p:nvPr/>
        </p:nvSpPr>
        <p:spPr>
          <a:xfrm>
            <a:off x="3886200" y="3246120"/>
            <a:ext cx="1435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Los valores ágiles pueden interpretarse incorrectamente si entendemos que aquello situado a la derecha deja de ser necesario. La propuesta es diferente: ambos elementos tienen valor, pero se priorizan los de la izquierda.</a:t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3886200" y="4343400"/>
            <a:ext cx="3566160" cy="54864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PRIORIZAMOS</a:t>
            </a:r>
            <a:endParaRPr/>
          </a:p>
        </p:txBody>
      </p:sp>
      <p:sp>
        <p:nvSpPr>
          <p:cNvPr id="557" name="Google Shape;557;p23"/>
          <p:cNvSpPr/>
          <p:nvPr/>
        </p:nvSpPr>
        <p:spPr>
          <a:xfrm>
            <a:off x="8138160" y="4343400"/>
            <a:ext cx="3566160" cy="54864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SIN ELIMINAR</a:t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3886200" y="502920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-three_regular_664092.png" id="559" name="Google Shape;559;p2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069080" y="515721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 txBox="1"/>
          <p:nvPr/>
        </p:nvSpPr>
        <p:spPr>
          <a:xfrm>
            <a:off x="4572000" y="502920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Personas e interacciones</a:t>
            </a:r>
            <a:endParaRPr/>
          </a:p>
        </p:txBody>
      </p:sp>
      <p:sp>
        <p:nvSpPr>
          <p:cNvPr id="561" name="Google Shape;561;p23"/>
          <p:cNvSpPr txBox="1"/>
          <p:nvPr/>
        </p:nvSpPr>
        <p:spPr>
          <a:xfrm>
            <a:off x="7452360" y="5029200"/>
            <a:ext cx="685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8138160" y="502920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ear_regular_7B7480.png" id="563" name="Google Shape;563;p2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21040" y="515721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3"/>
          <p:cNvSpPr txBox="1"/>
          <p:nvPr/>
        </p:nvSpPr>
        <p:spPr>
          <a:xfrm>
            <a:off x="8823960" y="502920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4F4F4F"/>
                </a:solidFill>
                <a:latin typeface="Arial"/>
                <a:ea typeface="Arial"/>
                <a:cs typeface="Arial"/>
                <a:sym typeface="Arial"/>
              </a:rPr>
              <a:t>Procesos y herramientas</a:t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3886200" y="576072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regular_664092.png" id="566" name="Google Shape;566;p2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069080" y="58887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3"/>
          <p:cNvSpPr txBox="1"/>
          <p:nvPr/>
        </p:nvSpPr>
        <p:spPr>
          <a:xfrm>
            <a:off x="4572000" y="576072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Software funcionando</a:t>
            </a:r>
            <a:endParaRPr/>
          </a:p>
        </p:txBody>
      </p:sp>
      <p:sp>
        <p:nvSpPr>
          <p:cNvPr id="568" name="Google Shape;568;p23"/>
          <p:cNvSpPr txBox="1"/>
          <p:nvPr/>
        </p:nvSpPr>
        <p:spPr>
          <a:xfrm>
            <a:off x="7452360" y="5760720"/>
            <a:ext cx="685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8138160" y="576072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-text_regular_7B7480.png" id="570" name="Google Shape;570;p2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321040" y="58887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3"/>
          <p:cNvSpPr txBox="1"/>
          <p:nvPr/>
        </p:nvSpPr>
        <p:spPr>
          <a:xfrm>
            <a:off x="8823960" y="576072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4F4F4F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3886200" y="649224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ndshake_regular_664092.png" id="573" name="Google Shape;573;p2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069080" y="66202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3"/>
          <p:cNvSpPr txBox="1"/>
          <p:nvPr/>
        </p:nvSpPr>
        <p:spPr>
          <a:xfrm>
            <a:off x="4572000" y="649224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endParaRPr/>
          </a:p>
        </p:txBody>
      </p:sp>
      <p:sp>
        <p:nvSpPr>
          <p:cNvPr id="575" name="Google Shape;575;p23"/>
          <p:cNvSpPr txBox="1"/>
          <p:nvPr/>
        </p:nvSpPr>
        <p:spPr>
          <a:xfrm>
            <a:off x="7452360" y="6492240"/>
            <a:ext cx="685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8138160" y="649224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gnature_regular_7B7480.png" id="577" name="Google Shape;577;p2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321040" y="66202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3"/>
          <p:cNvSpPr txBox="1"/>
          <p:nvPr/>
        </p:nvSpPr>
        <p:spPr>
          <a:xfrm>
            <a:off x="8823960" y="649224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4F4F4F"/>
                </a:solidFill>
                <a:latin typeface="Arial"/>
                <a:ea typeface="Arial"/>
                <a:cs typeface="Arial"/>
                <a:sym typeface="Arial"/>
              </a:rPr>
              <a:t>Acuerdos contractuales</a:t>
            </a: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3886200" y="722376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664092.png" id="580" name="Google Shape;580;p2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069080" y="735177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3"/>
          <p:cNvSpPr txBox="1"/>
          <p:nvPr/>
        </p:nvSpPr>
        <p:spPr>
          <a:xfrm>
            <a:off x="4572000" y="722376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al cambio</a:t>
            </a:r>
            <a:endParaRPr/>
          </a:p>
        </p:txBody>
      </p:sp>
      <p:sp>
        <p:nvSpPr>
          <p:cNvPr id="582" name="Google Shape;582;p23"/>
          <p:cNvSpPr txBox="1"/>
          <p:nvPr/>
        </p:nvSpPr>
        <p:spPr>
          <a:xfrm>
            <a:off x="7452360" y="7223760"/>
            <a:ext cx="685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8138160" y="7223760"/>
            <a:ext cx="3566160" cy="621792"/>
          </a:xfrm>
          <a:prstGeom prst="roundRect">
            <a:avLst>
              <a:gd fmla="val 29411" name="adj"/>
            </a:avLst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lendar-check_regular_7B7480.png" id="584" name="Google Shape;584;p2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321040" y="735177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3"/>
          <p:cNvSpPr txBox="1"/>
          <p:nvPr/>
        </p:nvSpPr>
        <p:spPr>
          <a:xfrm>
            <a:off x="8823960" y="722376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4F4F4F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586" name="Google Shape;586;p23"/>
          <p:cNvSpPr/>
          <p:nvPr/>
        </p:nvSpPr>
        <p:spPr>
          <a:xfrm>
            <a:off x="12115800" y="4343400"/>
            <a:ext cx="6126480" cy="1645920"/>
          </a:xfrm>
          <a:prstGeom prst="roundRect">
            <a:avLst>
              <a:gd fmla="val 12222" name="adj"/>
            </a:avLst>
          </a:prstGeom>
          <a:solidFill>
            <a:srgbClr val="FBF4F8"/>
          </a:solidFill>
          <a:ln cap="flat" cmpd="sng" w="15875">
            <a:solidFill>
              <a:srgbClr val="EBC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12344400" y="4526280"/>
            <a:ext cx="1005840" cy="384048"/>
          </a:xfrm>
          <a:prstGeom prst="roundRect">
            <a:avLst>
              <a:gd fmla="val 50000" name="adj"/>
            </a:avLst>
          </a:prstGeom>
          <a:solidFill>
            <a:srgbClr val="A71989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MITO</a:t>
            </a:r>
            <a:endParaRPr/>
          </a:p>
        </p:txBody>
      </p:sp>
      <p:sp>
        <p:nvSpPr>
          <p:cNvPr id="588" name="Google Shape;588;p23"/>
          <p:cNvSpPr txBox="1"/>
          <p:nvPr/>
        </p:nvSpPr>
        <p:spPr>
          <a:xfrm>
            <a:off x="13487400" y="44531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«Trabajar con agilidad significa no planificar.»</a:t>
            </a:r>
            <a:endParaRPr/>
          </a:p>
        </p:txBody>
      </p:sp>
      <p:sp>
        <p:nvSpPr>
          <p:cNvPr id="589" name="Google Shape;589;p23"/>
          <p:cNvSpPr txBox="1"/>
          <p:nvPr/>
        </p:nvSpPr>
        <p:spPr>
          <a:xfrm>
            <a:off x="12344400" y="5001768"/>
            <a:ext cx="5669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 agilidad no elimina la planificación. Permite que esta pueda revisarse y adaptarse a medida que obtenemos nueva información.</a:t>
            </a:r>
            <a:endParaRPr/>
          </a:p>
        </p:txBody>
      </p:sp>
      <p:sp>
        <p:nvSpPr>
          <p:cNvPr id="590" name="Google Shape;590;p23"/>
          <p:cNvSpPr/>
          <p:nvPr/>
        </p:nvSpPr>
        <p:spPr>
          <a:xfrm>
            <a:off x="12115800" y="6126480"/>
            <a:ext cx="6126480" cy="1645920"/>
          </a:xfrm>
          <a:prstGeom prst="roundRect">
            <a:avLst>
              <a:gd fmla="val 12222" name="adj"/>
            </a:avLst>
          </a:prstGeom>
          <a:solidFill>
            <a:srgbClr val="FBF4F8"/>
          </a:solidFill>
          <a:ln cap="flat" cmpd="sng" w="15875">
            <a:solidFill>
              <a:srgbClr val="EBC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12344400" y="6309360"/>
            <a:ext cx="1005840" cy="384048"/>
          </a:xfrm>
          <a:prstGeom prst="roundRect">
            <a:avLst>
              <a:gd fmla="val 50000" name="adj"/>
            </a:avLst>
          </a:prstGeom>
          <a:solidFill>
            <a:srgbClr val="A71989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MITO</a:t>
            </a:r>
            <a:endParaRPr/>
          </a:p>
        </p:txBody>
      </p:sp>
      <p:sp>
        <p:nvSpPr>
          <p:cNvPr id="592" name="Google Shape;592;p23"/>
          <p:cNvSpPr txBox="1"/>
          <p:nvPr/>
        </p:nvSpPr>
        <p:spPr>
          <a:xfrm>
            <a:off x="13487400" y="623620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«Ser ágiles significa trabajar sin documentación.»</a:t>
            </a:r>
            <a:endParaRPr/>
          </a:p>
        </p:txBody>
      </p:sp>
      <p:sp>
        <p:nvSpPr>
          <p:cNvPr id="593" name="Google Shape;593;p23"/>
          <p:cNvSpPr txBox="1"/>
          <p:nvPr/>
        </p:nvSpPr>
        <p:spPr>
          <a:xfrm>
            <a:off x="12344400" y="6784848"/>
            <a:ext cx="5669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El Manifiesto Ágil no rechaza la documentación; prioriza la obtención de resultados funcionales sobre una documentación exhaustiva.</a:t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3886200" y="8046720"/>
            <a:ext cx="14356080" cy="822960"/>
          </a:xfrm>
          <a:prstGeom prst="roundRect">
            <a:avLst>
              <a:gd fmla="val 33333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regular_FFFFFF.png" id="595" name="Google Shape;595;p2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206240" y="81747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3"/>
          <p:cNvSpPr txBox="1"/>
          <p:nvPr/>
        </p:nvSpPr>
        <p:spPr>
          <a:xfrm>
            <a:off x="5029200" y="8046720"/>
            <a:ext cx="12847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agilidad cambia nuestras prioridades, no elimina la disciplina del trabajo.</a:t>
            </a:r>
            <a:endParaRPr/>
          </a:p>
        </p:txBody>
      </p:sp>
      <p:sp>
        <p:nvSpPr>
          <p:cNvPr id="56" name="Google Shape;56;p2">
            <a:hlinkClick action="ppaction://hlinksldjump" r:id="rId31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31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4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4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4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4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4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467CF1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4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4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4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4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4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4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4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4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4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4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4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4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2" name="Google Shape;622;p24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4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3 · LOS 12 PRINCIPIOS</a:t>
            </a:r>
            <a:endParaRPr/>
          </a:p>
        </p:txBody>
      </p:sp>
      <p:sp>
        <p:nvSpPr>
          <p:cNvPr id="625" name="Google Shape;625;p24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De los valores a la acción</a:t>
            </a: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4"/>
          <p:cNvSpPr txBox="1"/>
          <p:nvPr/>
        </p:nvSpPr>
        <p:spPr>
          <a:xfrm>
            <a:off x="3886200" y="3246120"/>
            <a:ext cx="6309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Los cuatro valores expresan una orientación general. Pero surge una nueva pregunta: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s-CO" sz="21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¿Cómo llevamos estos valores a nuestra forma cotidiana de trabajar?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El Manifiesto Ágil los desarrolla mediante 12 principios, relacionados con la entrega de valor, la colaboración, la adaptación, la calidad y la mejora continua.</a:t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3886200" y="6812280"/>
            <a:ext cx="2103120" cy="64008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VALORES</a:t>
            </a:r>
            <a:endParaRPr/>
          </a:p>
        </p:txBody>
      </p:sp>
      <p:sp>
        <p:nvSpPr>
          <p:cNvPr id="634" name="Google Shape;634;p24"/>
          <p:cNvSpPr txBox="1"/>
          <p:nvPr/>
        </p:nvSpPr>
        <p:spPr>
          <a:xfrm>
            <a:off x="5989320" y="681228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6446520" y="6812280"/>
            <a:ext cx="1325880" cy="640080"/>
          </a:xfrm>
          <a:prstGeom prst="roundRect">
            <a:avLst>
              <a:gd fmla="val 50000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5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¿Cómo?</a:t>
            </a:r>
            <a:endParaRPr/>
          </a:p>
        </p:txBody>
      </p:sp>
      <p:sp>
        <p:nvSpPr>
          <p:cNvPr id="636" name="Google Shape;636;p24"/>
          <p:cNvSpPr txBox="1"/>
          <p:nvPr/>
        </p:nvSpPr>
        <p:spPr>
          <a:xfrm>
            <a:off x="7772400" y="6812280"/>
            <a:ext cx="411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8183880" y="6812280"/>
            <a:ext cx="2240280" cy="64008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12 PRINCIPIOS</a:t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10652760" y="3246120"/>
            <a:ext cx="365760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10652760" y="3520440"/>
            <a:ext cx="82296" cy="128016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10927080" y="3520440"/>
            <a:ext cx="640080" cy="64008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_regular_FFFFFF.png" id="641" name="Google Shape;641;p2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080699" y="36740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24"/>
          <p:cNvSpPr txBox="1"/>
          <p:nvPr/>
        </p:nvSpPr>
        <p:spPr>
          <a:xfrm>
            <a:off x="11704320" y="3520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Entregar valor</a:t>
            </a:r>
            <a:endParaRPr/>
          </a:p>
        </p:txBody>
      </p:sp>
      <p:sp>
        <p:nvSpPr>
          <p:cNvPr id="643" name="Google Shape;643;p24"/>
          <p:cNvSpPr txBox="1"/>
          <p:nvPr/>
        </p:nvSpPr>
        <p:spPr>
          <a:xfrm>
            <a:off x="10927080" y="4233672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Enfocar el trabajo en generar resultados útiles y significativos para las personas usuarias.</a:t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14584680" y="3246120"/>
            <a:ext cx="365760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4"/>
          <p:cNvSpPr/>
          <p:nvPr/>
        </p:nvSpPr>
        <p:spPr>
          <a:xfrm>
            <a:off x="14584680" y="3520440"/>
            <a:ext cx="82296" cy="128016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14859000" y="3520440"/>
            <a:ext cx="640080" cy="64008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ndshake_regular_FFFFFF.png" id="647" name="Google Shape;647;p2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012619" y="36740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24"/>
          <p:cNvSpPr txBox="1"/>
          <p:nvPr/>
        </p:nvSpPr>
        <p:spPr>
          <a:xfrm>
            <a:off x="15636240" y="35204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Colaborar</a:t>
            </a:r>
            <a:endParaRPr/>
          </a:p>
        </p:txBody>
      </p:sp>
      <p:sp>
        <p:nvSpPr>
          <p:cNvPr id="649" name="Google Shape;649;p24"/>
          <p:cNvSpPr txBox="1"/>
          <p:nvPr/>
        </p:nvSpPr>
        <p:spPr>
          <a:xfrm>
            <a:off x="14859000" y="4233672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Construir juntos, con confianza y comunicación constante, dentro y fuera del equipo.</a:t>
            </a:r>
            <a:endParaRPr/>
          </a:p>
        </p:txBody>
      </p:sp>
      <p:sp>
        <p:nvSpPr>
          <p:cNvPr id="650" name="Google Shape;650;p24"/>
          <p:cNvSpPr/>
          <p:nvPr/>
        </p:nvSpPr>
        <p:spPr>
          <a:xfrm>
            <a:off x="10652760" y="5303520"/>
            <a:ext cx="365760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4"/>
          <p:cNvSpPr/>
          <p:nvPr/>
        </p:nvSpPr>
        <p:spPr>
          <a:xfrm>
            <a:off x="10652760" y="5577840"/>
            <a:ext cx="82296" cy="128016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10927080" y="5577840"/>
            <a:ext cx="640080" cy="640080"/>
          </a:xfrm>
          <a:prstGeom prst="ellipse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FFFFFF.png" id="653" name="Google Shape;653;p2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1080699" y="57314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4"/>
          <p:cNvSpPr txBox="1"/>
          <p:nvPr/>
        </p:nvSpPr>
        <p:spPr>
          <a:xfrm>
            <a:off x="11704320" y="55778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Adaptarnos</a:t>
            </a:r>
            <a:endParaRPr/>
          </a:p>
        </p:txBody>
      </p:sp>
      <p:sp>
        <p:nvSpPr>
          <p:cNvPr id="655" name="Google Shape;655;p24"/>
          <p:cNvSpPr txBox="1"/>
          <p:nvPr/>
        </p:nvSpPr>
        <p:spPr>
          <a:xfrm>
            <a:off x="10927080" y="6291072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Responder al cambio con flexibilidad y apertura, ajustando el rumbo cuando sea necesario.</a:t>
            </a:r>
            <a:endParaRPr/>
          </a:p>
        </p:txBody>
      </p:sp>
      <p:sp>
        <p:nvSpPr>
          <p:cNvPr id="656" name="Google Shape;656;p24"/>
          <p:cNvSpPr/>
          <p:nvPr/>
        </p:nvSpPr>
        <p:spPr>
          <a:xfrm>
            <a:off x="14584680" y="5303520"/>
            <a:ext cx="365760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4"/>
          <p:cNvSpPr/>
          <p:nvPr/>
        </p:nvSpPr>
        <p:spPr>
          <a:xfrm>
            <a:off x="14584680" y="5577840"/>
            <a:ext cx="82296" cy="128016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14859000" y="5577840"/>
            <a:ext cx="640080" cy="640080"/>
          </a:xfrm>
          <a:prstGeom prst="ellipse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regular_FFFFFF.png" id="659" name="Google Shape;659;p2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5012619" y="57314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4"/>
          <p:cNvSpPr txBox="1"/>
          <p:nvPr/>
        </p:nvSpPr>
        <p:spPr>
          <a:xfrm>
            <a:off x="15636240" y="55778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Aprender y mejorar</a:t>
            </a:r>
            <a:endParaRPr/>
          </a:p>
        </p:txBody>
      </p:sp>
      <p:sp>
        <p:nvSpPr>
          <p:cNvPr id="661" name="Google Shape;661;p24"/>
          <p:cNvSpPr txBox="1"/>
          <p:nvPr/>
        </p:nvSpPr>
        <p:spPr>
          <a:xfrm>
            <a:off x="14859000" y="6291072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Incorporar la experiencia, reflexionar sobre lo hecho y buscar mejores formas de trabajar.</a:t>
            </a:r>
            <a:endParaRPr/>
          </a:p>
        </p:txBody>
      </p:sp>
      <p:sp>
        <p:nvSpPr>
          <p:cNvPr id="662" name="Google Shape;662;p24"/>
          <p:cNvSpPr/>
          <p:nvPr/>
        </p:nvSpPr>
        <p:spPr>
          <a:xfrm>
            <a:off x="3886200" y="7726680"/>
            <a:ext cx="14356080" cy="109728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regular_FFFFFF.png" id="663" name="Google Shape;663;p2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799185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4"/>
          <p:cNvSpPr txBox="1"/>
          <p:nvPr/>
        </p:nvSpPr>
        <p:spPr>
          <a:xfrm>
            <a:off x="5029200" y="7726680"/>
            <a:ext cx="1284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valores expresan qué priorizamos. </a:t>
            </a:r>
            <a:r>
              <a:rPr b="0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principios nos ayudan a comprender cómo llevar esas prioridades a la práctica.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5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5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5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5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5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5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5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5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467CF1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5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5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5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5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5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5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5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5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5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5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5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5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0" name="Google Shape;690;p25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25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5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3 · PRINCIPIOS 1 A 4</a:t>
            </a:r>
            <a:endParaRPr/>
          </a:p>
        </p:txBody>
      </p:sp>
      <p:sp>
        <p:nvSpPr>
          <p:cNvPr id="693" name="Google Shape;693;p25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Principios que orientan la agilidad</a:t>
            </a:r>
            <a:endParaRPr/>
          </a:p>
        </p:txBody>
      </p:sp>
      <p:sp>
        <p:nvSpPr>
          <p:cNvPr id="694" name="Google Shape;694;p25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5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5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5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5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5"/>
          <p:cNvSpPr txBox="1"/>
          <p:nvPr/>
        </p:nvSpPr>
        <p:spPr>
          <a:xfrm>
            <a:off x="3886200" y="3246120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Los principios ágiles llevan los valores a la práctica y orientan la manera en que generamos valor, colaboramos y respondemos al cambio.</a:t>
            </a:r>
            <a:endParaRPr/>
          </a:p>
        </p:txBody>
      </p:sp>
      <p:sp>
        <p:nvSpPr>
          <p:cNvPr id="701" name="Google Shape;701;p25"/>
          <p:cNvSpPr/>
          <p:nvPr/>
        </p:nvSpPr>
        <p:spPr>
          <a:xfrm>
            <a:off x="3886200" y="420624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5"/>
          <p:cNvSpPr/>
          <p:nvPr/>
        </p:nvSpPr>
        <p:spPr>
          <a:xfrm>
            <a:off x="4160520" y="4206240"/>
            <a:ext cx="2834640" cy="8229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4160520" y="4526280"/>
            <a:ext cx="822960" cy="82296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cket-launch_regular_FFFFFF.png" id="704" name="Google Shape;704;p2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58030" y="47237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5"/>
          <p:cNvSpPr txBox="1"/>
          <p:nvPr/>
        </p:nvSpPr>
        <p:spPr>
          <a:xfrm>
            <a:off x="5166360" y="45262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06" name="Google Shape;706;p25"/>
          <p:cNvSpPr txBox="1"/>
          <p:nvPr/>
        </p:nvSpPr>
        <p:spPr>
          <a:xfrm>
            <a:off x="4160520" y="5532120"/>
            <a:ext cx="2834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Entrega temprana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Generamos valor de manera continua.</a:t>
            </a:r>
            <a:endParaRPr/>
          </a:p>
        </p:txBody>
      </p:sp>
      <p:sp>
        <p:nvSpPr>
          <p:cNvPr id="707" name="Google Shape;707;p25"/>
          <p:cNvSpPr/>
          <p:nvPr/>
        </p:nvSpPr>
        <p:spPr>
          <a:xfrm>
            <a:off x="7543800" y="420624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5"/>
          <p:cNvSpPr/>
          <p:nvPr/>
        </p:nvSpPr>
        <p:spPr>
          <a:xfrm>
            <a:off x="7818120" y="4206240"/>
            <a:ext cx="2834640" cy="8229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7818120" y="4526280"/>
            <a:ext cx="822960" cy="82296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split_regular_FFFFFF.png" id="710" name="Google Shape;710;p2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015630" y="47237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25"/>
          <p:cNvSpPr txBox="1"/>
          <p:nvPr/>
        </p:nvSpPr>
        <p:spPr>
          <a:xfrm>
            <a:off x="8823960" y="45262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12" name="Google Shape;712;p25"/>
          <p:cNvSpPr txBox="1"/>
          <p:nvPr/>
        </p:nvSpPr>
        <p:spPr>
          <a:xfrm>
            <a:off x="7818120" y="5532120"/>
            <a:ext cx="2834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Apertura al cambio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Incorporamos cambios cuando aportan valor.</a:t>
            </a:r>
            <a:endParaRPr/>
          </a:p>
        </p:txBody>
      </p:sp>
      <p:sp>
        <p:nvSpPr>
          <p:cNvPr id="713" name="Google Shape;713;p25"/>
          <p:cNvSpPr/>
          <p:nvPr/>
        </p:nvSpPr>
        <p:spPr>
          <a:xfrm>
            <a:off x="11201400" y="420624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11475720" y="4206240"/>
            <a:ext cx="2834640" cy="8229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11475720" y="4526280"/>
            <a:ext cx="822960" cy="822960"/>
          </a:xfrm>
          <a:prstGeom prst="ellipse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_regular_FFFFFF.png" id="716" name="Google Shape;716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1673230" y="47237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25"/>
          <p:cNvSpPr txBox="1"/>
          <p:nvPr/>
        </p:nvSpPr>
        <p:spPr>
          <a:xfrm>
            <a:off x="12481560" y="45262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467CF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18" name="Google Shape;718;p25"/>
          <p:cNvSpPr txBox="1"/>
          <p:nvPr/>
        </p:nvSpPr>
        <p:spPr>
          <a:xfrm>
            <a:off x="11475720" y="5532120"/>
            <a:ext cx="2834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Entregas frecuentes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Avanzamos mediante resultados funcionales.</a:t>
            </a:r>
            <a:endParaRPr/>
          </a:p>
        </p:txBody>
      </p:sp>
      <p:sp>
        <p:nvSpPr>
          <p:cNvPr id="719" name="Google Shape;719;p25"/>
          <p:cNvSpPr/>
          <p:nvPr/>
        </p:nvSpPr>
        <p:spPr>
          <a:xfrm>
            <a:off x="14859000" y="4206240"/>
            <a:ext cx="3383280" cy="301752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5"/>
          <p:cNvSpPr/>
          <p:nvPr/>
        </p:nvSpPr>
        <p:spPr>
          <a:xfrm>
            <a:off x="15133320" y="4206240"/>
            <a:ext cx="2834640" cy="82296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5"/>
          <p:cNvSpPr/>
          <p:nvPr/>
        </p:nvSpPr>
        <p:spPr>
          <a:xfrm>
            <a:off x="15133320" y="4526280"/>
            <a:ext cx="822960" cy="822960"/>
          </a:xfrm>
          <a:prstGeom prst="ellipse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ndshake_regular_FFFFFF.png" id="722" name="Google Shape;722;p2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5330830" y="47237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5"/>
          <p:cNvSpPr txBox="1"/>
          <p:nvPr/>
        </p:nvSpPr>
        <p:spPr>
          <a:xfrm>
            <a:off x="16139160" y="45262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24" name="Google Shape;724;p25"/>
          <p:cNvSpPr txBox="1"/>
          <p:nvPr/>
        </p:nvSpPr>
        <p:spPr>
          <a:xfrm>
            <a:off x="15133320" y="5532120"/>
            <a:ext cx="2834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Negocio y equipo trabajan de manera cercana.</a:t>
            </a:r>
            <a:endParaRPr/>
          </a:p>
        </p:txBody>
      </p:sp>
      <p:sp>
        <p:nvSpPr>
          <p:cNvPr id="725" name="Google Shape;725;p25"/>
          <p:cNvSpPr/>
          <p:nvPr/>
        </p:nvSpPr>
        <p:spPr>
          <a:xfrm>
            <a:off x="3886200" y="7589520"/>
            <a:ext cx="14356080" cy="960120"/>
          </a:xfrm>
          <a:prstGeom prst="roundRect">
            <a:avLst>
              <a:gd fmla="val 47619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5"/>
          <p:cNvSpPr/>
          <p:nvPr/>
        </p:nvSpPr>
        <p:spPr>
          <a:xfrm>
            <a:off x="4983480" y="7726680"/>
            <a:ext cx="2514600" cy="6858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Entregar</a:t>
            </a:r>
            <a:endParaRPr/>
          </a:p>
        </p:txBody>
      </p:sp>
      <p:sp>
        <p:nvSpPr>
          <p:cNvPr id="727" name="Google Shape;727;p25"/>
          <p:cNvSpPr txBox="1"/>
          <p:nvPr/>
        </p:nvSpPr>
        <p:spPr>
          <a:xfrm>
            <a:off x="7498080" y="7726680"/>
            <a:ext cx="777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8275320" y="7726680"/>
            <a:ext cx="2514600" cy="685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Aprender</a:t>
            </a:r>
            <a:endParaRPr/>
          </a:p>
        </p:txBody>
      </p:sp>
      <p:sp>
        <p:nvSpPr>
          <p:cNvPr id="729" name="Google Shape;729;p25"/>
          <p:cNvSpPr txBox="1"/>
          <p:nvPr/>
        </p:nvSpPr>
        <p:spPr>
          <a:xfrm>
            <a:off x="10789920" y="7726680"/>
            <a:ext cx="777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30" name="Google Shape;730;p25"/>
          <p:cNvSpPr/>
          <p:nvPr/>
        </p:nvSpPr>
        <p:spPr>
          <a:xfrm>
            <a:off x="11567160" y="7726680"/>
            <a:ext cx="2514600" cy="685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Ajustar</a:t>
            </a:r>
            <a:endParaRPr/>
          </a:p>
        </p:txBody>
      </p:sp>
      <p:sp>
        <p:nvSpPr>
          <p:cNvPr id="731" name="Google Shape;731;p25"/>
          <p:cNvSpPr txBox="1"/>
          <p:nvPr/>
        </p:nvSpPr>
        <p:spPr>
          <a:xfrm>
            <a:off x="14081760" y="7726680"/>
            <a:ext cx="777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32" name="Google Shape;732;p25"/>
          <p:cNvSpPr/>
          <p:nvPr/>
        </p:nvSpPr>
        <p:spPr>
          <a:xfrm>
            <a:off x="14859000" y="7726680"/>
            <a:ext cx="2514600" cy="685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/>
          </a:p>
        </p:txBody>
      </p:sp>
      <p:sp>
        <p:nvSpPr>
          <p:cNvPr id="56" name="Google Shape;56;p2">
            <a:hlinkClick action="ppaction://hlinksldjump" r:id="rId26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6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6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6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6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6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6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6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6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6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6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6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6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6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6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6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6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6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6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6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8" name="Google Shape;758;p26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26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4 · PRINCIPIOS 5 A 8</a:t>
            </a:r>
            <a:endParaRPr/>
          </a:p>
        </p:txBody>
      </p:sp>
      <p:sp>
        <p:nvSpPr>
          <p:cNvPr id="761" name="Google Shape;761;p2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El factor humano en la agilidad</a:t>
            </a:r>
            <a:endParaRPr/>
          </a:p>
        </p:txBody>
      </p:sp>
      <p:sp>
        <p:nvSpPr>
          <p:cNvPr id="762" name="Google Shape;762;p2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6"/>
          <p:cNvSpPr txBox="1"/>
          <p:nvPr/>
        </p:nvSpPr>
        <p:spPr>
          <a:xfrm>
            <a:off x="3886200" y="3246120"/>
            <a:ext cx="1435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Los principios 5 a 8 ponen a las personas en el centro: su motivación, la manera en que se comunican, la forma de medir el avance y el ritmo con el que pueden trabajar de manera sostenible.</a:t>
            </a:r>
            <a:endParaRPr/>
          </a:p>
        </p:txBody>
      </p:sp>
      <p:sp>
        <p:nvSpPr>
          <p:cNvPr id="769" name="Google Shape;769;p26"/>
          <p:cNvSpPr/>
          <p:nvPr/>
        </p:nvSpPr>
        <p:spPr>
          <a:xfrm>
            <a:off x="3886200" y="4251960"/>
            <a:ext cx="3383280" cy="3383280"/>
          </a:xfrm>
          <a:prstGeom prst="roundRect">
            <a:avLst>
              <a:gd fmla="val 5945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6"/>
          <p:cNvSpPr/>
          <p:nvPr/>
        </p:nvSpPr>
        <p:spPr>
          <a:xfrm>
            <a:off x="4160520" y="4251960"/>
            <a:ext cx="2834640" cy="8229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6"/>
          <p:cNvSpPr/>
          <p:nvPr/>
        </p:nvSpPr>
        <p:spPr>
          <a:xfrm>
            <a:off x="4160520" y="4572000"/>
            <a:ext cx="822960" cy="82296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miley_regular_FFFFFF.png" id="772" name="Google Shape;772;p2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58030" y="47695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26"/>
          <p:cNvSpPr txBox="1"/>
          <p:nvPr/>
        </p:nvSpPr>
        <p:spPr>
          <a:xfrm>
            <a:off x="5166360" y="457200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74" name="Google Shape;774;p26"/>
          <p:cNvSpPr txBox="1"/>
          <p:nvPr/>
        </p:nvSpPr>
        <p:spPr>
          <a:xfrm>
            <a:off x="4160520" y="5577840"/>
            <a:ext cx="2834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Personas motivadas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Construimos los proyectos en torno a personas motivadas, con el entorno, el apoyo y la confianza que necesitan.</a:t>
            </a:r>
            <a:endParaRPr/>
          </a:p>
        </p:txBody>
      </p:sp>
      <p:sp>
        <p:nvSpPr>
          <p:cNvPr id="775" name="Google Shape;775;p26"/>
          <p:cNvSpPr/>
          <p:nvPr/>
        </p:nvSpPr>
        <p:spPr>
          <a:xfrm>
            <a:off x="7543800" y="4251960"/>
            <a:ext cx="3383280" cy="3383280"/>
          </a:xfrm>
          <a:prstGeom prst="roundRect">
            <a:avLst>
              <a:gd fmla="val 5945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6"/>
          <p:cNvSpPr/>
          <p:nvPr/>
        </p:nvSpPr>
        <p:spPr>
          <a:xfrm>
            <a:off x="7818120" y="4251960"/>
            <a:ext cx="2834640" cy="8229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7818120" y="4572000"/>
            <a:ext cx="822960" cy="82296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ts-circle_regular_FFFFFF.png" id="778" name="Google Shape;778;p2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015630" y="47695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26"/>
          <p:cNvSpPr txBox="1"/>
          <p:nvPr/>
        </p:nvSpPr>
        <p:spPr>
          <a:xfrm>
            <a:off x="8823960" y="457200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80" name="Google Shape;780;p26"/>
          <p:cNvSpPr txBox="1"/>
          <p:nvPr/>
        </p:nvSpPr>
        <p:spPr>
          <a:xfrm>
            <a:off x="7818120" y="5577840"/>
            <a:ext cx="2834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Conversación directa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 conversación cara a cara es la forma más eficiente de compartir información en el equipo.</a:t>
            </a:r>
            <a:endParaRPr/>
          </a:p>
        </p:txBody>
      </p:sp>
      <p:sp>
        <p:nvSpPr>
          <p:cNvPr id="781" name="Google Shape;781;p26"/>
          <p:cNvSpPr/>
          <p:nvPr/>
        </p:nvSpPr>
        <p:spPr>
          <a:xfrm>
            <a:off x="11201400" y="4251960"/>
            <a:ext cx="3383280" cy="3383280"/>
          </a:xfrm>
          <a:prstGeom prst="roundRect">
            <a:avLst>
              <a:gd fmla="val 5945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11475720" y="4251960"/>
            <a:ext cx="2834640" cy="8229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11475720" y="4572000"/>
            <a:ext cx="822960" cy="822960"/>
          </a:xfrm>
          <a:prstGeom prst="ellipse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square-offset_regular_FFFFFF.png" id="784" name="Google Shape;784;p2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1673230" y="47695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26"/>
          <p:cNvSpPr txBox="1"/>
          <p:nvPr/>
        </p:nvSpPr>
        <p:spPr>
          <a:xfrm>
            <a:off x="12481560" y="457200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467CF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786" name="Google Shape;786;p26"/>
          <p:cNvSpPr txBox="1"/>
          <p:nvPr/>
        </p:nvSpPr>
        <p:spPr>
          <a:xfrm>
            <a:off x="11475720" y="5577840"/>
            <a:ext cx="2834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Software funcionando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El resultado funcional es la principal medida de progreso.</a:t>
            </a:r>
            <a:endParaRPr/>
          </a:p>
        </p:txBody>
      </p:sp>
      <p:sp>
        <p:nvSpPr>
          <p:cNvPr id="787" name="Google Shape;787;p26"/>
          <p:cNvSpPr/>
          <p:nvPr/>
        </p:nvSpPr>
        <p:spPr>
          <a:xfrm>
            <a:off x="14859000" y="4251960"/>
            <a:ext cx="3383280" cy="3383280"/>
          </a:xfrm>
          <a:prstGeom prst="roundRect">
            <a:avLst>
              <a:gd fmla="val 5945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15133320" y="4251960"/>
            <a:ext cx="2834640" cy="82296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15133320" y="4572000"/>
            <a:ext cx="822960" cy="822960"/>
          </a:xfrm>
          <a:prstGeom prst="ellipse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eartbeat_regular_FFFFFF.png" id="790" name="Google Shape;790;p2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5330830" y="47695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26"/>
          <p:cNvSpPr txBox="1"/>
          <p:nvPr/>
        </p:nvSpPr>
        <p:spPr>
          <a:xfrm>
            <a:off x="16139160" y="457200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792" name="Google Shape;792;p26"/>
          <p:cNvSpPr txBox="1"/>
          <p:nvPr/>
        </p:nvSpPr>
        <p:spPr>
          <a:xfrm>
            <a:off x="15133320" y="5577840"/>
            <a:ext cx="2834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Ritmo sostenible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Promotores, equipo y usuarios deben poder mantener un ritmo constante de forma indefinida.</a:t>
            </a:r>
            <a:endParaRPr/>
          </a:p>
        </p:txBody>
      </p:sp>
      <p:sp>
        <p:nvSpPr>
          <p:cNvPr id="793" name="Google Shape;793;p26"/>
          <p:cNvSpPr/>
          <p:nvPr/>
        </p:nvSpPr>
        <p:spPr>
          <a:xfrm>
            <a:off x="3886200" y="7909560"/>
            <a:ext cx="14356080" cy="868680"/>
          </a:xfrm>
          <a:prstGeom prst="roundRect">
            <a:avLst>
              <a:gd fmla="val 31578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-three_regular_FFFFFF.png" id="794" name="Google Shape;794;p2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80604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26"/>
          <p:cNvSpPr txBox="1"/>
          <p:nvPr/>
        </p:nvSpPr>
        <p:spPr>
          <a:xfrm>
            <a:off x="5029200" y="7909560"/>
            <a:ext cx="1284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personas motivadas y bien comunicadas, ningún proceso ágil se sostiene.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7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7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7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7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7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7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7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7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7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7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7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7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7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7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7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7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7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7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7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7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7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1" name="Google Shape;821;p27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7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7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4 · PRINCIPIOS 9 A 12</a:t>
            </a:r>
            <a:endParaRPr/>
          </a:p>
        </p:txBody>
      </p:sp>
      <p:sp>
        <p:nvSpPr>
          <p:cNvPr id="824" name="Google Shape;824;p27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Calidad, simplicidad y mejora continua</a:t>
            </a:r>
            <a:endParaRPr/>
          </a:p>
        </p:txBody>
      </p:sp>
      <p:sp>
        <p:nvSpPr>
          <p:cNvPr id="825" name="Google Shape;825;p27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7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7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7"/>
          <p:cNvSpPr txBox="1"/>
          <p:nvPr/>
        </p:nvSpPr>
        <p:spPr>
          <a:xfrm>
            <a:off x="3886200" y="3246120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9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El cierre de los doce principios consolida las bases técnicas y metodológicas para construir soluciones sostenibles, eficientes y reflexivas.</a:t>
            </a:r>
            <a:endParaRPr/>
          </a:p>
        </p:txBody>
      </p:sp>
      <p:sp>
        <p:nvSpPr>
          <p:cNvPr id="832" name="Google Shape;832;p27"/>
          <p:cNvSpPr/>
          <p:nvPr/>
        </p:nvSpPr>
        <p:spPr>
          <a:xfrm>
            <a:off x="3886200" y="4160520"/>
            <a:ext cx="7018020" cy="155448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4160520" y="4503420"/>
            <a:ext cx="868680" cy="86868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ear_regular_FFFFFF.png" id="834" name="Google Shape;834;p2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69003" y="471190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27"/>
          <p:cNvSpPr txBox="1"/>
          <p:nvPr/>
        </p:nvSpPr>
        <p:spPr>
          <a:xfrm>
            <a:off x="5303520" y="4251960"/>
            <a:ext cx="53263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9. Excelencia técnica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 atención continua a la calidad y al buen diseño potencia la capacidad de adaptación.</a:t>
            </a:r>
            <a:endParaRPr/>
          </a:p>
        </p:txBody>
      </p:sp>
      <p:sp>
        <p:nvSpPr>
          <p:cNvPr id="836" name="Google Shape;836;p27"/>
          <p:cNvSpPr/>
          <p:nvPr/>
        </p:nvSpPr>
        <p:spPr>
          <a:xfrm>
            <a:off x="3886200" y="4434840"/>
            <a:ext cx="82296" cy="100584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7"/>
          <p:cNvSpPr/>
          <p:nvPr/>
        </p:nvSpPr>
        <p:spPr>
          <a:xfrm>
            <a:off x="11224260" y="4160520"/>
            <a:ext cx="7018020" cy="155448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11498580" y="4503420"/>
            <a:ext cx="868680" cy="86868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eather_regular_FFFFFF.png" id="839" name="Google Shape;839;p2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707063" y="471190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27"/>
          <p:cNvSpPr txBox="1"/>
          <p:nvPr/>
        </p:nvSpPr>
        <p:spPr>
          <a:xfrm>
            <a:off x="12641580" y="4251960"/>
            <a:ext cx="53263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10. Simplicidad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Maximizar la cantidad de trabajo no realizado es esencial para concentrar los recursos en lo relevante.</a:t>
            </a:r>
            <a:endParaRPr/>
          </a:p>
        </p:txBody>
      </p:sp>
      <p:sp>
        <p:nvSpPr>
          <p:cNvPr id="841" name="Google Shape;841;p27"/>
          <p:cNvSpPr/>
          <p:nvPr/>
        </p:nvSpPr>
        <p:spPr>
          <a:xfrm>
            <a:off x="11224260" y="4434840"/>
            <a:ext cx="82296" cy="100584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7"/>
          <p:cNvSpPr/>
          <p:nvPr/>
        </p:nvSpPr>
        <p:spPr>
          <a:xfrm>
            <a:off x="3886200" y="5943600"/>
            <a:ext cx="7018020" cy="155448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7"/>
          <p:cNvSpPr/>
          <p:nvPr/>
        </p:nvSpPr>
        <p:spPr>
          <a:xfrm>
            <a:off x="4160520" y="6286500"/>
            <a:ext cx="868680" cy="868680"/>
          </a:xfrm>
          <a:prstGeom prst="ellipse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-three_regular_FFFFFF.png" id="844" name="Google Shape;844;p2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369003" y="64949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27"/>
          <p:cNvSpPr txBox="1"/>
          <p:nvPr/>
        </p:nvSpPr>
        <p:spPr>
          <a:xfrm>
            <a:off x="5303520" y="6035040"/>
            <a:ext cx="53263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11. Autoorganización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Las mejores arquitecturas, requisitos y diseños emergen de equipos que gestionan su propio trabajo.</a:t>
            </a:r>
            <a:endParaRPr/>
          </a:p>
        </p:txBody>
      </p:sp>
      <p:sp>
        <p:nvSpPr>
          <p:cNvPr id="846" name="Google Shape;846;p27"/>
          <p:cNvSpPr/>
          <p:nvPr/>
        </p:nvSpPr>
        <p:spPr>
          <a:xfrm>
            <a:off x="3886200" y="6217920"/>
            <a:ext cx="82296" cy="100584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7"/>
          <p:cNvSpPr/>
          <p:nvPr/>
        </p:nvSpPr>
        <p:spPr>
          <a:xfrm>
            <a:off x="11224260" y="5943600"/>
            <a:ext cx="7018020" cy="1554480"/>
          </a:xfrm>
          <a:prstGeom prst="roundRect">
            <a:avLst>
              <a:gd fmla="val 12941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7"/>
          <p:cNvSpPr/>
          <p:nvPr/>
        </p:nvSpPr>
        <p:spPr>
          <a:xfrm>
            <a:off x="11498580" y="6286500"/>
            <a:ext cx="868680" cy="868680"/>
          </a:xfrm>
          <a:prstGeom prst="ellipse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FFFFFF.png" id="849" name="Google Shape;849;p2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1707063" y="649498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27"/>
          <p:cNvSpPr txBox="1"/>
          <p:nvPr/>
        </p:nvSpPr>
        <p:spPr>
          <a:xfrm>
            <a:off x="12641580" y="6035040"/>
            <a:ext cx="53263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12. Mejora continua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7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 intervalos regulares, el equipo reflexiona sobre cómo ser más eficaz y ajusta su comportamiento.</a:t>
            </a:r>
            <a:endParaRPr/>
          </a:p>
        </p:txBody>
      </p:sp>
      <p:sp>
        <p:nvSpPr>
          <p:cNvPr id="851" name="Google Shape;851;p27"/>
          <p:cNvSpPr/>
          <p:nvPr/>
        </p:nvSpPr>
        <p:spPr>
          <a:xfrm>
            <a:off x="11224260" y="6217920"/>
            <a:ext cx="82296" cy="100584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3886200" y="7726680"/>
            <a:ext cx="14356080" cy="109728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-line-up_regular_FFFFFF.png" id="853" name="Google Shape;853;p2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799185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27"/>
          <p:cNvSpPr txBox="1"/>
          <p:nvPr/>
        </p:nvSpPr>
        <p:spPr>
          <a:xfrm>
            <a:off x="5029200" y="7726680"/>
            <a:ext cx="1284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agilidad busca la eficiencia sin comprometer la calidad, aprendiendo en cada iteración para perfeccionar el resultado.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8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8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8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8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8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8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8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8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8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8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8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8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8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8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8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8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8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8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8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8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8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0" name="Google Shape;880;p28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28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8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4 · SÍNTESIS</a:t>
            </a:r>
            <a:endParaRPr/>
          </a:p>
        </p:txBody>
      </p:sp>
      <p:sp>
        <p:nvSpPr>
          <p:cNvPr id="883" name="Google Shape;883;p28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Una misma lógica</a:t>
            </a:r>
            <a:endParaRPr/>
          </a:p>
        </p:txBody>
      </p:sp>
      <p:sp>
        <p:nvSpPr>
          <p:cNvPr id="884" name="Google Shape;884;p28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8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8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8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28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8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8"/>
          <p:cNvSpPr txBox="1"/>
          <p:nvPr/>
        </p:nvSpPr>
        <p:spPr>
          <a:xfrm>
            <a:off x="3886200" y="3200400"/>
            <a:ext cx="1435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22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¿Qué tienen en común los valores y principios ágiles?</a:t>
            </a:r>
            <a:endParaRPr/>
          </a:p>
        </p:txBody>
      </p:sp>
      <p:sp>
        <p:nvSpPr>
          <p:cNvPr id="891" name="Google Shape;891;p28"/>
          <p:cNvSpPr/>
          <p:nvPr/>
        </p:nvSpPr>
        <p:spPr>
          <a:xfrm>
            <a:off x="3886200" y="3977640"/>
            <a:ext cx="5074920" cy="15087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28"/>
          <p:cNvSpPr/>
          <p:nvPr/>
        </p:nvSpPr>
        <p:spPr>
          <a:xfrm>
            <a:off x="4160520" y="4297680"/>
            <a:ext cx="868680" cy="86868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ndshake_regular_FFFFFF.png" id="893" name="Google Shape;893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69003" y="450616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28"/>
          <p:cNvSpPr txBox="1"/>
          <p:nvPr/>
        </p:nvSpPr>
        <p:spPr>
          <a:xfrm>
            <a:off x="5303520" y="406908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COLABORAR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Trabajamos con otros.</a:t>
            </a:r>
            <a:endParaRPr/>
          </a:p>
        </p:txBody>
      </p:sp>
      <p:sp>
        <p:nvSpPr>
          <p:cNvPr id="895" name="Google Shape;895;p28"/>
          <p:cNvSpPr/>
          <p:nvPr/>
        </p:nvSpPr>
        <p:spPr>
          <a:xfrm>
            <a:off x="3886200" y="4251960"/>
            <a:ext cx="82296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28"/>
          <p:cNvSpPr/>
          <p:nvPr/>
        </p:nvSpPr>
        <p:spPr>
          <a:xfrm>
            <a:off x="13167360" y="3977640"/>
            <a:ext cx="5074920" cy="15087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28"/>
          <p:cNvSpPr/>
          <p:nvPr/>
        </p:nvSpPr>
        <p:spPr>
          <a:xfrm>
            <a:off x="13441680" y="4297680"/>
            <a:ext cx="868680" cy="86868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_regular_FFFFFF.png" id="898" name="Google Shape;898;p2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3650163" y="450616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28"/>
          <p:cNvSpPr txBox="1"/>
          <p:nvPr/>
        </p:nvSpPr>
        <p:spPr>
          <a:xfrm>
            <a:off x="14584680" y="406908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GENERAR VALOR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Producimos resultados útiles.</a:t>
            </a:r>
            <a:endParaRPr/>
          </a:p>
        </p:txBody>
      </p:sp>
      <p:sp>
        <p:nvSpPr>
          <p:cNvPr id="900" name="Google Shape;900;p28"/>
          <p:cNvSpPr/>
          <p:nvPr/>
        </p:nvSpPr>
        <p:spPr>
          <a:xfrm>
            <a:off x="13167360" y="4251960"/>
            <a:ext cx="82296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8"/>
          <p:cNvSpPr/>
          <p:nvPr/>
        </p:nvSpPr>
        <p:spPr>
          <a:xfrm>
            <a:off x="3886200" y="5897880"/>
            <a:ext cx="5074920" cy="15087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28"/>
          <p:cNvSpPr/>
          <p:nvPr/>
        </p:nvSpPr>
        <p:spPr>
          <a:xfrm>
            <a:off x="4160520" y="6217920"/>
            <a:ext cx="868680" cy="868680"/>
          </a:xfrm>
          <a:prstGeom prst="ellipse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FFFFFF.png" id="903" name="Google Shape;903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369003" y="642640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28"/>
          <p:cNvSpPr txBox="1"/>
          <p:nvPr/>
        </p:nvSpPr>
        <p:spPr>
          <a:xfrm>
            <a:off x="5303520" y="598932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ADAPTARNOS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Respondemos a los cambios.</a:t>
            </a:r>
            <a:endParaRPr/>
          </a:p>
        </p:txBody>
      </p:sp>
      <p:sp>
        <p:nvSpPr>
          <p:cNvPr id="905" name="Google Shape;905;p28"/>
          <p:cNvSpPr/>
          <p:nvPr/>
        </p:nvSpPr>
        <p:spPr>
          <a:xfrm>
            <a:off x="3886200" y="6172200"/>
            <a:ext cx="82296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8"/>
          <p:cNvSpPr/>
          <p:nvPr/>
        </p:nvSpPr>
        <p:spPr>
          <a:xfrm>
            <a:off x="13167360" y="5897880"/>
            <a:ext cx="5074920" cy="15087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8"/>
          <p:cNvSpPr/>
          <p:nvPr/>
        </p:nvSpPr>
        <p:spPr>
          <a:xfrm>
            <a:off x="13441680" y="6217920"/>
            <a:ext cx="868680" cy="868680"/>
          </a:xfrm>
          <a:prstGeom prst="ellipse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regular_FFFFFF.png" id="908" name="Google Shape;908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3650163" y="6426403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28"/>
          <p:cNvSpPr txBox="1"/>
          <p:nvPr/>
        </p:nvSpPr>
        <p:spPr>
          <a:xfrm>
            <a:off x="14584680" y="598932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APRENDER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Revisamos y mejoramos.</a:t>
            </a:r>
            <a:endParaRPr/>
          </a:p>
        </p:txBody>
      </p:sp>
      <p:sp>
        <p:nvSpPr>
          <p:cNvPr id="910" name="Google Shape;910;p28"/>
          <p:cNvSpPr/>
          <p:nvPr/>
        </p:nvSpPr>
        <p:spPr>
          <a:xfrm>
            <a:off x="13167360" y="6172200"/>
            <a:ext cx="82296" cy="96012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8"/>
          <p:cNvSpPr/>
          <p:nvPr/>
        </p:nvSpPr>
        <p:spPr>
          <a:xfrm>
            <a:off x="9898380" y="4526280"/>
            <a:ext cx="2331720" cy="2331720"/>
          </a:xfrm>
          <a:prstGeom prst="ellipse">
            <a:avLst/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135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AGILIDAD</a:t>
            </a:r>
            <a:endParaRPr/>
          </a:p>
        </p:txBody>
      </p:sp>
      <p:sp>
        <p:nvSpPr>
          <p:cNvPr id="912" name="Google Shape;912;p28"/>
          <p:cNvSpPr/>
          <p:nvPr/>
        </p:nvSpPr>
        <p:spPr>
          <a:xfrm>
            <a:off x="9733788" y="4361688"/>
            <a:ext cx="2660904" cy="2660904"/>
          </a:xfrm>
          <a:prstGeom prst="ellipse">
            <a:avLst/>
          </a:prstGeom>
          <a:noFill/>
          <a:ln cap="flat" cmpd="sng" w="25400">
            <a:solidFill>
              <a:srgbClr val="C9B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8"/>
          <p:cNvSpPr/>
          <p:nvPr/>
        </p:nvSpPr>
        <p:spPr>
          <a:xfrm>
            <a:off x="3886200" y="7726680"/>
            <a:ext cx="14356080" cy="868680"/>
          </a:xfrm>
          <a:prstGeom prst="roundRect">
            <a:avLst>
              <a:gd fmla="val 31578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regular_FFFFFF.png" id="914" name="Google Shape;914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787755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28"/>
          <p:cNvSpPr txBox="1"/>
          <p:nvPr/>
        </p:nvSpPr>
        <p:spPr>
          <a:xfrm>
            <a:off x="5029200" y="7726680"/>
            <a:ext cx="1284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agilidad convierte el aprendizaje en parte del trabajo.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9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9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9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9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9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9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9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9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9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9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9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29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9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9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9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9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9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9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9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9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29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1" name="Google Shape;941;p29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29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9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5 · AGILIDAD EN LA PRÁCTICA</a:t>
            </a:r>
            <a:endParaRPr/>
          </a:p>
        </p:txBody>
      </p:sp>
      <p:sp>
        <p:nvSpPr>
          <p:cNvPr id="944" name="Google Shape;944;p29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Ágil y tradicional: dos lógicas de trabajo</a:t>
            </a:r>
            <a:endParaRPr/>
          </a:p>
        </p:txBody>
      </p:sp>
      <p:sp>
        <p:nvSpPr>
          <p:cNvPr id="945" name="Google Shape;945;p29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9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9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9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9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9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9"/>
          <p:cNvSpPr txBox="1"/>
          <p:nvPr/>
        </p:nvSpPr>
        <p:spPr>
          <a:xfrm>
            <a:off x="3886200" y="3200400"/>
            <a:ext cx="1435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20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¿Cuándo conviene planificar de forma predictiva y cuándo adoptar un enfoque adaptativo?</a:t>
            </a:r>
            <a:endParaRPr/>
          </a:p>
        </p:txBody>
      </p:sp>
      <p:sp>
        <p:nvSpPr>
          <p:cNvPr id="952" name="Google Shape;952;p29"/>
          <p:cNvSpPr/>
          <p:nvPr/>
        </p:nvSpPr>
        <p:spPr>
          <a:xfrm>
            <a:off x="6492240" y="3840480"/>
            <a:ext cx="5806440" cy="777240"/>
          </a:xfrm>
          <a:prstGeom prst="roundRect">
            <a:avLst>
              <a:gd fmla="val 23529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ENFOQUE TRADICIONAL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FFD900"/>
                </a:solidFill>
                <a:latin typeface="Arial"/>
                <a:ea typeface="Arial"/>
                <a:cs typeface="Arial"/>
                <a:sym typeface="Arial"/>
              </a:rPr>
              <a:t>Predicción y control</a:t>
            </a:r>
            <a:endParaRPr/>
          </a:p>
        </p:txBody>
      </p:sp>
      <p:sp>
        <p:nvSpPr>
          <p:cNvPr id="953" name="Google Shape;953;p29"/>
          <p:cNvSpPr/>
          <p:nvPr/>
        </p:nvSpPr>
        <p:spPr>
          <a:xfrm>
            <a:off x="12435840" y="3840480"/>
            <a:ext cx="5806440" cy="777240"/>
          </a:xfrm>
          <a:prstGeom prst="roundRect">
            <a:avLst>
              <a:gd fmla="val 23529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ENFOQUE ÁGIL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FFD900"/>
                </a:solidFill>
                <a:latin typeface="Arial"/>
                <a:ea typeface="Arial"/>
                <a:cs typeface="Arial"/>
                <a:sym typeface="Arial"/>
              </a:rPr>
              <a:t>Adaptación y valor continuo</a:t>
            </a:r>
            <a:endParaRPr/>
          </a:p>
        </p:txBody>
      </p:sp>
      <p:sp>
        <p:nvSpPr>
          <p:cNvPr id="954" name="Google Shape;954;p29"/>
          <p:cNvSpPr/>
          <p:nvPr/>
        </p:nvSpPr>
        <p:spPr>
          <a:xfrm>
            <a:off x="3886200" y="4727448"/>
            <a:ext cx="14356080" cy="713232"/>
          </a:xfrm>
          <a:prstGeom prst="roundRect">
            <a:avLst>
              <a:gd fmla="val 19230" name="adj"/>
            </a:avLst>
          </a:prstGeom>
          <a:solidFill>
            <a:srgbClr val="FAF9FB"/>
          </a:solidFill>
          <a:ln cap="flat" cmpd="sng" w="12700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lobe_regular_664092.png" id="955" name="Google Shape;955;p2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069080" y="48920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29"/>
          <p:cNvSpPr txBox="1"/>
          <p:nvPr/>
        </p:nvSpPr>
        <p:spPr>
          <a:xfrm>
            <a:off x="4572000" y="4727448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957" name="Google Shape;957;p29"/>
          <p:cNvSpPr txBox="1"/>
          <p:nvPr/>
        </p:nvSpPr>
        <p:spPr>
          <a:xfrm>
            <a:off x="6629400" y="4727448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Requisitos estables, conocidos y con baja incertidumbre.</a:t>
            </a:r>
            <a:endParaRPr/>
          </a:p>
        </p:txBody>
      </p:sp>
      <p:sp>
        <p:nvSpPr>
          <p:cNvPr id="958" name="Google Shape;958;p29"/>
          <p:cNvSpPr txBox="1"/>
          <p:nvPr/>
        </p:nvSpPr>
        <p:spPr>
          <a:xfrm>
            <a:off x="12573000" y="4727448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Entornos dinámicos, cambiantes y con alta incertidumbre.</a:t>
            </a:r>
            <a:endParaRPr/>
          </a:p>
        </p:txBody>
      </p:sp>
      <p:sp>
        <p:nvSpPr>
          <p:cNvPr id="959" name="Google Shape;959;p29"/>
          <p:cNvSpPr/>
          <p:nvPr/>
        </p:nvSpPr>
        <p:spPr>
          <a:xfrm>
            <a:off x="3886200" y="5495544"/>
            <a:ext cx="14356080" cy="713232"/>
          </a:xfrm>
          <a:prstGeom prst="roundRect">
            <a:avLst>
              <a:gd fmla="val 19230" name="adj"/>
            </a:avLst>
          </a:prstGeom>
          <a:solidFill>
            <a:srgbClr val="FFFFFF"/>
          </a:solidFill>
          <a:ln cap="flat" cmpd="sng" w="12700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lendar-check_regular_664092.png" id="960" name="Google Shape;960;p2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069080" y="56601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29"/>
          <p:cNvSpPr txBox="1"/>
          <p:nvPr/>
        </p:nvSpPr>
        <p:spPr>
          <a:xfrm>
            <a:off x="4572000" y="5495544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962" name="Google Shape;962;p29"/>
          <p:cNvSpPr txBox="1"/>
          <p:nvPr/>
        </p:nvSpPr>
        <p:spPr>
          <a:xfrm>
            <a:off x="6629400" y="5495544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Exhaustiva al inicio; el éxito se mide en cumplir el plan original.</a:t>
            </a:r>
            <a:endParaRPr/>
          </a:p>
        </p:txBody>
      </p:sp>
      <p:sp>
        <p:nvSpPr>
          <p:cNvPr id="963" name="Google Shape;963;p29"/>
          <p:cNvSpPr txBox="1"/>
          <p:nvPr/>
        </p:nvSpPr>
        <p:spPr>
          <a:xfrm>
            <a:off x="12573000" y="5495544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Modular y continua; el éxito se mide en el valor real generado.</a:t>
            </a:r>
            <a:endParaRPr/>
          </a:p>
        </p:txBody>
      </p:sp>
      <p:sp>
        <p:nvSpPr>
          <p:cNvPr id="964" name="Google Shape;964;p29"/>
          <p:cNvSpPr/>
          <p:nvPr/>
        </p:nvSpPr>
        <p:spPr>
          <a:xfrm>
            <a:off x="3886200" y="6263640"/>
            <a:ext cx="14356080" cy="713232"/>
          </a:xfrm>
          <a:prstGeom prst="roundRect">
            <a:avLst>
              <a:gd fmla="val 19230" name="adj"/>
            </a:avLst>
          </a:prstGeom>
          <a:solidFill>
            <a:srgbClr val="FAF9FB"/>
          </a:solidFill>
          <a:ln cap="flat" cmpd="sng" w="12700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_regular_664092.png" id="965" name="Google Shape;965;p2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069080" y="64282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29"/>
          <p:cNvSpPr txBox="1"/>
          <p:nvPr/>
        </p:nvSpPr>
        <p:spPr>
          <a:xfrm>
            <a:off x="4572000" y="626364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/>
          </a:p>
        </p:txBody>
      </p:sp>
      <p:sp>
        <p:nvSpPr>
          <p:cNvPr id="967" name="Google Shape;967;p29"/>
          <p:cNvSpPr txBox="1"/>
          <p:nvPr/>
        </p:nvSpPr>
        <p:spPr>
          <a:xfrm>
            <a:off x="6629400" y="6263640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Resultado único al final de un proceso secuencial.</a:t>
            </a:r>
            <a:endParaRPr/>
          </a:p>
        </p:txBody>
      </p:sp>
      <p:sp>
        <p:nvSpPr>
          <p:cNvPr id="968" name="Google Shape;968;p29"/>
          <p:cNvSpPr txBox="1"/>
          <p:nvPr/>
        </p:nvSpPr>
        <p:spPr>
          <a:xfrm>
            <a:off x="12573000" y="6263640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Incremental y temprana a lo largo de ciclos cortos.</a:t>
            </a:r>
            <a:endParaRPr/>
          </a:p>
        </p:txBody>
      </p:sp>
      <p:sp>
        <p:nvSpPr>
          <p:cNvPr id="969" name="Google Shape;969;p29"/>
          <p:cNvSpPr/>
          <p:nvPr/>
        </p:nvSpPr>
        <p:spPr>
          <a:xfrm>
            <a:off x="3886200" y="7031736"/>
            <a:ext cx="14356080" cy="713232"/>
          </a:xfrm>
          <a:prstGeom prst="roundRect">
            <a:avLst>
              <a:gd fmla="val 19230" name="adj"/>
            </a:avLst>
          </a:prstGeom>
          <a:solidFill>
            <a:srgbClr val="FFFFFF"/>
          </a:solidFill>
          <a:ln cap="flat" cmpd="sng" w="12700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clockwise_regular_664092.png" id="970" name="Google Shape;970;p2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069080" y="71963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29"/>
          <p:cNvSpPr txBox="1"/>
          <p:nvPr/>
        </p:nvSpPr>
        <p:spPr>
          <a:xfrm>
            <a:off x="4572000" y="7031736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Cambios</a:t>
            </a:r>
            <a:endParaRPr/>
          </a:p>
        </p:txBody>
      </p:sp>
      <p:sp>
        <p:nvSpPr>
          <p:cNvPr id="972" name="Google Shape;972;p29"/>
          <p:cNvSpPr txBox="1"/>
          <p:nvPr/>
        </p:nvSpPr>
        <p:spPr>
          <a:xfrm>
            <a:off x="6629400" y="7031736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Se consideran desviaciones que deben controlarse.</a:t>
            </a:r>
            <a:endParaRPr/>
          </a:p>
        </p:txBody>
      </p:sp>
      <p:sp>
        <p:nvSpPr>
          <p:cNvPr id="973" name="Google Shape;973;p29"/>
          <p:cNvSpPr txBox="1"/>
          <p:nvPr/>
        </p:nvSpPr>
        <p:spPr>
          <a:xfrm>
            <a:off x="12573000" y="7031736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Se aprovechan como oportunidades de aprendizaje y ajuste.</a:t>
            </a:r>
            <a:endParaRPr/>
          </a:p>
        </p:txBody>
      </p:sp>
      <p:sp>
        <p:nvSpPr>
          <p:cNvPr id="974" name="Google Shape;974;p29"/>
          <p:cNvSpPr/>
          <p:nvPr/>
        </p:nvSpPr>
        <p:spPr>
          <a:xfrm>
            <a:off x="3886200" y="7863840"/>
            <a:ext cx="14356080" cy="868680"/>
          </a:xfrm>
          <a:prstGeom prst="roundRect">
            <a:avLst>
              <a:gd fmla="val 31578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s_regular_FFFFFF.png" id="975" name="Google Shape;975;p2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801471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29"/>
          <p:cNvSpPr txBox="1"/>
          <p:nvPr/>
        </p:nvSpPr>
        <p:spPr>
          <a:xfrm>
            <a:off x="5029200" y="7863840"/>
            <a:ext cx="1284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Ningún enfoque es superior en sí mismo: </a:t>
            </a:r>
            <a:r>
              <a:rPr b="0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elección depende de la certidumbre del problema y de la necesidad de aprender sobre la marcha.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0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0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0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0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0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0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0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0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0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30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0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0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0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0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0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0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0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0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0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0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0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2" name="Google Shape;1002;p30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30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0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TEMA 5 · AGILIDAD EN LA PRÁCTICA</a:t>
            </a:r>
            <a:endParaRPr/>
          </a:p>
        </p:txBody>
      </p:sp>
      <p:sp>
        <p:nvSpPr>
          <p:cNvPr id="1005" name="Google Shape;1005;p30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Decidir y actuar en la práctica</a:t>
            </a: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0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0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0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0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0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0"/>
          <p:cNvSpPr txBox="1"/>
          <p:nvPr/>
        </p:nvSpPr>
        <p:spPr>
          <a:xfrm>
            <a:off x="3886200" y="3200400"/>
            <a:ext cx="1435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21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¿Cómo saber qué enfoque elegir para tu próximo proyecto?</a:t>
            </a:r>
            <a:endParaRPr/>
          </a:p>
        </p:txBody>
      </p:sp>
      <p:sp>
        <p:nvSpPr>
          <p:cNvPr id="1013" name="Google Shape;1013;p30"/>
          <p:cNvSpPr/>
          <p:nvPr/>
        </p:nvSpPr>
        <p:spPr>
          <a:xfrm>
            <a:off x="3886200" y="3886200"/>
            <a:ext cx="701802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0"/>
          <p:cNvSpPr/>
          <p:nvPr/>
        </p:nvSpPr>
        <p:spPr>
          <a:xfrm>
            <a:off x="3886200" y="4160520"/>
            <a:ext cx="82296" cy="128016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0"/>
          <p:cNvSpPr/>
          <p:nvPr/>
        </p:nvSpPr>
        <p:spPr>
          <a:xfrm>
            <a:off x="4160520" y="4114800"/>
            <a:ext cx="640080" cy="64008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-checks_regular_FFFFFF.png" id="1016" name="Google Shape;1016;p3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14139" y="42684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30"/>
          <p:cNvSpPr txBox="1"/>
          <p:nvPr/>
        </p:nvSpPr>
        <p:spPr>
          <a:xfrm>
            <a:off x="4937760" y="4114800"/>
            <a:ext cx="5829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1. Claridad de requisitos</a:t>
            </a:r>
            <a:endParaRPr/>
          </a:p>
        </p:txBody>
      </p:sp>
      <p:sp>
        <p:nvSpPr>
          <p:cNvPr id="1018" name="Google Shape;1018;p30"/>
          <p:cNvSpPr txBox="1"/>
          <p:nvPr/>
        </p:nvSpPr>
        <p:spPr>
          <a:xfrm>
            <a:off x="4160520" y="4800600"/>
            <a:ext cx="65608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Si el alcance es incierto o cambiante, elige agilidad; si los requisitos son estables y normados, planifica de forma predictiva.</a:t>
            </a: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11224260" y="3886200"/>
            <a:ext cx="701802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0"/>
          <p:cNvSpPr/>
          <p:nvPr/>
        </p:nvSpPr>
        <p:spPr>
          <a:xfrm>
            <a:off x="11224260" y="4160520"/>
            <a:ext cx="82296" cy="128016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0"/>
          <p:cNvSpPr/>
          <p:nvPr/>
        </p:nvSpPr>
        <p:spPr>
          <a:xfrm>
            <a:off x="11498580" y="4114800"/>
            <a:ext cx="640080" cy="640080"/>
          </a:xfrm>
          <a:prstGeom prst="ellipse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eat_regular_FFFFFF.png" id="1022" name="Google Shape;1022;p3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652199" y="42684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30"/>
          <p:cNvSpPr txBox="1"/>
          <p:nvPr/>
        </p:nvSpPr>
        <p:spPr>
          <a:xfrm>
            <a:off x="12275820" y="4114800"/>
            <a:ext cx="5829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2. Frecuencia de entrega</a:t>
            </a:r>
            <a:endParaRPr/>
          </a:p>
        </p:txBody>
      </p:sp>
      <p:sp>
        <p:nvSpPr>
          <p:cNvPr id="1024" name="Google Shape;1024;p30"/>
          <p:cNvSpPr txBox="1"/>
          <p:nvPr/>
        </p:nvSpPr>
        <p:spPr>
          <a:xfrm>
            <a:off x="11498580" y="4800600"/>
            <a:ext cx="65608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Si necesitas validar hipótesis pronto con usuarios reales, opta por ciclos iterativos; si el valor solo existe al completar la totalidad, trabaja por fases secuenciales.</a:t>
            </a:r>
            <a:endParaRPr/>
          </a:p>
        </p:txBody>
      </p:sp>
      <p:sp>
        <p:nvSpPr>
          <p:cNvPr id="1025" name="Google Shape;1025;p30"/>
          <p:cNvSpPr/>
          <p:nvPr/>
        </p:nvSpPr>
        <p:spPr>
          <a:xfrm>
            <a:off x="3886200" y="5943600"/>
            <a:ext cx="701802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0"/>
          <p:cNvSpPr/>
          <p:nvPr/>
        </p:nvSpPr>
        <p:spPr>
          <a:xfrm>
            <a:off x="3886200" y="6217920"/>
            <a:ext cx="82296" cy="128016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0"/>
          <p:cNvSpPr/>
          <p:nvPr/>
        </p:nvSpPr>
        <p:spPr>
          <a:xfrm>
            <a:off x="4160520" y="6172200"/>
            <a:ext cx="640080" cy="640080"/>
          </a:xfrm>
          <a:prstGeom prst="ellipse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_regular_FFFFFF.png" id="1028" name="Google Shape;1028;p3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314139" y="63258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30"/>
          <p:cNvSpPr txBox="1"/>
          <p:nvPr/>
        </p:nvSpPr>
        <p:spPr>
          <a:xfrm>
            <a:off x="4937760" y="6172200"/>
            <a:ext cx="5829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3. Cercanía con el usuario</a:t>
            </a:r>
            <a:endParaRPr/>
          </a:p>
        </p:txBody>
      </p:sp>
      <p:sp>
        <p:nvSpPr>
          <p:cNvPr id="1030" name="Google Shape;1030;p30"/>
          <p:cNvSpPr txBox="1"/>
          <p:nvPr/>
        </p:nvSpPr>
        <p:spPr>
          <a:xfrm>
            <a:off x="4160520" y="6858000"/>
            <a:ext cx="65608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 agilidad exige comunicación constante y retroalimentación frecuente. Si la relación es contractual y distante, el ciclo adaptativo pierde efectividad.</a:t>
            </a:r>
            <a:endParaRPr/>
          </a:p>
        </p:txBody>
      </p:sp>
      <p:sp>
        <p:nvSpPr>
          <p:cNvPr id="1031" name="Google Shape;1031;p30"/>
          <p:cNvSpPr/>
          <p:nvPr/>
        </p:nvSpPr>
        <p:spPr>
          <a:xfrm>
            <a:off x="11224260" y="5943600"/>
            <a:ext cx="7018020" cy="18288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0"/>
          <p:cNvSpPr/>
          <p:nvPr/>
        </p:nvSpPr>
        <p:spPr>
          <a:xfrm>
            <a:off x="11224260" y="6217920"/>
            <a:ext cx="82296" cy="128016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0"/>
          <p:cNvSpPr/>
          <p:nvPr/>
        </p:nvSpPr>
        <p:spPr>
          <a:xfrm>
            <a:off x="11498580" y="6172200"/>
            <a:ext cx="640080" cy="640080"/>
          </a:xfrm>
          <a:prstGeom prst="ellipse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s-out-cardinal_regular_FFFFFF.png" id="1034" name="Google Shape;1034;p3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1652199" y="63258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30"/>
          <p:cNvSpPr txBox="1"/>
          <p:nvPr/>
        </p:nvSpPr>
        <p:spPr>
          <a:xfrm>
            <a:off x="12275820" y="6172200"/>
            <a:ext cx="58293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4. Disposición al cambio</a:t>
            </a:r>
            <a:endParaRPr/>
          </a:p>
        </p:txBody>
      </p:sp>
      <p:sp>
        <p:nvSpPr>
          <p:cNvPr id="1036" name="Google Shape;1036;p30"/>
          <p:cNvSpPr txBox="1"/>
          <p:nvPr/>
        </p:nvSpPr>
        <p:spPr>
          <a:xfrm>
            <a:off x="11498580" y="6858000"/>
            <a:ext cx="65608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Adoptar agilidad requiere madurez para aceptar aprendizajes que modifiquen el plan inicial sin considerarlos fallos del proceso.</a:t>
            </a:r>
            <a:endParaRPr/>
          </a:p>
        </p:txBody>
      </p:sp>
      <p:sp>
        <p:nvSpPr>
          <p:cNvPr id="1037" name="Google Shape;1037;p30"/>
          <p:cNvSpPr/>
          <p:nvPr/>
        </p:nvSpPr>
        <p:spPr>
          <a:xfrm>
            <a:off x="3886200" y="8046720"/>
            <a:ext cx="14356080" cy="960120"/>
          </a:xfrm>
          <a:prstGeom prst="roundRect">
            <a:avLst>
              <a:gd fmla="val 28571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regular_FFFFFF.png" id="1038" name="Google Shape;1038;p3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206240" y="824331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30"/>
          <p:cNvSpPr txBox="1"/>
          <p:nvPr/>
        </p:nvSpPr>
        <p:spPr>
          <a:xfrm>
            <a:off x="5029200" y="8046720"/>
            <a:ext cx="12847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 ágil no es seguir una receta rígida ni correr más rápido: </a:t>
            </a:r>
            <a:r>
              <a:rPr b="0" i="0" lang="es-C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contar con la capacidad de comprender, colaborar y adaptarse para generar valor real de forma continua.</a:t>
            </a:r>
            <a:endParaRPr/>
          </a:p>
        </p:txBody>
      </p:sp>
      <p:sp>
        <p:nvSpPr>
          <p:cNvPr id="56" name="Google Shape;56;p2">
            <a:hlinkClick action="ppaction://hlinksldjump" r:id="rId27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7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1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1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1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1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1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1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1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1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1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1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1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1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1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1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1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1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1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31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5" name="Google Shape;1065;p31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31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1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COMPROBACIÓN</a:t>
            </a:r>
            <a:endParaRPr/>
          </a:p>
        </p:txBody>
      </p:sp>
      <p:sp>
        <p:nvSpPr>
          <p:cNvPr id="1068" name="Google Shape;1068;p31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¿Qué enfoque sería más adecuado en este caso?</a:t>
            </a:r>
            <a:endParaRPr/>
          </a:p>
        </p:txBody>
      </p:sp>
      <p:sp>
        <p:nvSpPr>
          <p:cNvPr id="1069" name="Google Shape;1069;p31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1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1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1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1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1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1"/>
          <p:cNvSpPr/>
          <p:nvPr/>
        </p:nvSpPr>
        <p:spPr>
          <a:xfrm>
            <a:off x="3886200" y="3246120"/>
            <a:ext cx="14356080" cy="1234440"/>
          </a:xfrm>
          <a:prstGeom prst="roundRect">
            <a:avLst>
              <a:gd fmla="val 22222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uildings_regular_FFFFFF.png" id="1076" name="Google Shape;1076;p3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206240" y="357987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31"/>
          <p:cNvSpPr txBox="1"/>
          <p:nvPr/>
        </p:nvSpPr>
        <p:spPr>
          <a:xfrm>
            <a:off x="5029200" y="3246120"/>
            <a:ext cx="12847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entidad pública necesita desarrollar un sistema interno de gestión documental. Los requisitos están claramente definidos, son estables y deben cumplir con normativa específica.</a:t>
            </a:r>
            <a:endParaRPr/>
          </a:p>
        </p:txBody>
      </p:sp>
      <p:sp>
        <p:nvSpPr>
          <p:cNvPr id="1078" name="Google Shape;1078;p31"/>
          <p:cNvSpPr txBox="1"/>
          <p:nvPr/>
        </p:nvSpPr>
        <p:spPr>
          <a:xfrm>
            <a:off x="3886200" y="4663440"/>
            <a:ext cx="1435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Selecciona una respuesta para comprobarla</a:t>
            </a:r>
            <a:endParaRPr/>
          </a:p>
        </p:txBody>
      </p:sp>
      <p:sp>
        <p:nvSpPr>
          <p:cNvPr id="1079" name="Google Shape;1079;p31">
            <a:hlinkClick action="ppaction://hlinksldjump" r:id="rId23"/>
          </p:cNvPr>
          <p:cNvSpPr/>
          <p:nvPr/>
        </p:nvSpPr>
        <p:spPr>
          <a:xfrm>
            <a:off x="4160520" y="5321808"/>
            <a:ext cx="13807440" cy="914400"/>
          </a:xfrm>
          <a:prstGeom prst="roundRect">
            <a:avLst>
              <a:gd fmla="val 18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1">
            <a:hlinkClick action="ppaction://hlinksldjump" r:id="rId24"/>
          </p:cNvPr>
          <p:cNvSpPr/>
          <p:nvPr/>
        </p:nvSpPr>
        <p:spPr>
          <a:xfrm>
            <a:off x="4160520" y="5257800"/>
            <a:ext cx="13807440" cy="9144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960100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Enfoque tradicional (predictivo), porque los requisitos son estables y existen normativas que deben cumplirse.</a:t>
            </a:r>
            <a:endParaRPr/>
          </a:p>
        </p:txBody>
      </p:sp>
      <p:sp>
        <p:nvSpPr>
          <p:cNvPr id="1081" name="Google Shape;1081;p31">
            <a:hlinkClick action="ppaction://hlinksldjump" r:id="rId25"/>
          </p:cNvPr>
          <p:cNvSpPr/>
          <p:nvPr/>
        </p:nvSpPr>
        <p:spPr>
          <a:xfrm>
            <a:off x="4389120" y="5440680"/>
            <a:ext cx="548640" cy="54864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082" name="Google Shape;1082;p31">
            <a:hlinkClick action="ppaction://hlinksldjump" r:id="rId26"/>
          </p:cNvPr>
          <p:cNvSpPr/>
          <p:nvPr/>
        </p:nvSpPr>
        <p:spPr>
          <a:xfrm>
            <a:off x="4160520" y="6419088"/>
            <a:ext cx="13807440" cy="914400"/>
          </a:xfrm>
          <a:prstGeom prst="roundRect">
            <a:avLst>
              <a:gd fmla="val 18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1">
            <a:hlinkClick action="ppaction://hlinksldjump" r:id="rId27"/>
          </p:cNvPr>
          <p:cNvSpPr/>
          <p:nvPr/>
        </p:nvSpPr>
        <p:spPr>
          <a:xfrm>
            <a:off x="4160520" y="6355080"/>
            <a:ext cx="13807440" cy="9144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960100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Enfoque ágil, porque cualquier proyecto de tecnología debería hacerse de forma iterativa.</a:t>
            </a:r>
            <a:endParaRPr/>
          </a:p>
        </p:txBody>
      </p:sp>
      <p:sp>
        <p:nvSpPr>
          <p:cNvPr id="1084" name="Google Shape;1084;p31">
            <a:hlinkClick action="ppaction://hlinksldjump" r:id="rId28"/>
          </p:cNvPr>
          <p:cNvSpPr/>
          <p:nvPr/>
        </p:nvSpPr>
        <p:spPr>
          <a:xfrm>
            <a:off x="4389120" y="6537960"/>
            <a:ext cx="548640" cy="54864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85" name="Google Shape;1085;p31">
            <a:hlinkClick action="ppaction://hlinksldjump" r:id="rId29"/>
          </p:cNvPr>
          <p:cNvSpPr/>
          <p:nvPr/>
        </p:nvSpPr>
        <p:spPr>
          <a:xfrm>
            <a:off x="4160520" y="7516368"/>
            <a:ext cx="13807440" cy="914400"/>
          </a:xfrm>
          <a:prstGeom prst="roundRect">
            <a:avLst>
              <a:gd fmla="val 18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1">
            <a:hlinkClick action="ppaction://hlinksldjump" r:id="rId30"/>
          </p:cNvPr>
          <p:cNvSpPr/>
          <p:nvPr/>
        </p:nvSpPr>
        <p:spPr>
          <a:xfrm>
            <a:off x="4160520" y="7452360"/>
            <a:ext cx="13807440" cy="9144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5875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960100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Una combinación de ambos enfoques, sin importar el contexto del proyecto.</a:t>
            </a:r>
            <a:endParaRPr/>
          </a:p>
        </p:txBody>
      </p:sp>
      <p:sp>
        <p:nvSpPr>
          <p:cNvPr id="1087" name="Google Shape;1087;p31">
            <a:hlinkClick action="ppaction://hlinksldjump" r:id="rId31"/>
          </p:cNvPr>
          <p:cNvSpPr/>
          <p:nvPr/>
        </p:nvSpPr>
        <p:spPr>
          <a:xfrm>
            <a:off x="4389120" y="7635240"/>
            <a:ext cx="548640" cy="548640"/>
          </a:xfrm>
          <a:prstGeom prst="ellipse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56" name="Google Shape;56;p2">
            <a:hlinkClick action="ppaction://hlinksldjump" r:id="rId32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32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2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2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2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2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2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2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2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2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32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2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2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2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2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2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2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2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2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2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32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32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2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16" name="Google Shape;1116;p32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¡La respuesta es correcta!</a:t>
            </a:r>
            <a:endParaRPr/>
          </a:p>
        </p:txBody>
      </p:sp>
      <p:sp>
        <p:nvSpPr>
          <p:cNvPr id="1117" name="Google Shape;1117;p32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2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2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2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_bold_3D2159.png" id="1124" name="Google Shape;1124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32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Correcto</a:t>
            </a:r>
            <a:endParaRPr/>
          </a:p>
        </p:txBody>
      </p:sp>
      <p:sp>
        <p:nvSpPr>
          <p:cNvPr id="1126" name="Google Shape;1126;p32"/>
          <p:cNvSpPr txBox="1"/>
          <p:nvPr/>
        </p:nvSpPr>
        <p:spPr>
          <a:xfrm>
            <a:off x="6812280" y="4160520"/>
            <a:ext cx="112471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3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Cuando los requisitos están claramente definidos, son estables y deben cumplir con una normativa específica, la planificación predictiva permite controlar el alcance y asegurar el cumplimiento.</a:t>
            </a:r>
            <a:endParaRPr/>
          </a:p>
        </p:txBody>
      </p:sp>
      <p:sp>
        <p:nvSpPr>
          <p:cNvPr id="1127" name="Google Shape;1127;p32"/>
          <p:cNvSpPr/>
          <p:nvPr/>
        </p:nvSpPr>
        <p:spPr>
          <a:xfrm>
            <a:off x="6812280" y="6446520"/>
            <a:ext cx="11247120" cy="960120"/>
          </a:xfrm>
          <a:prstGeom prst="roundRect">
            <a:avLst>
              <a:gd fmla="val 19047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2"/>
          <p:cNvSpPr/>
          <p:nvPr/>
        </p:nvSpPr>
        <p:spPr>
          <a:xfrm>
            <a:off x="6812280" y="661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regular_664092.png" id="1129" name="Google Shape;1129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132320" y="669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32"/>
          <p:cNvSpPr txBox="1"/>
          <p:nvPr/>
        </p:nvSpPr>
        <p:spPr>
          <a:xfrm>
            <a:off x="7818120" y="644652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Clave: </a:t>
            </a:r>
            <a:r>
              <a:rPr b="0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contexto + certidumbre + normativa.</a:t>
            </a:r>
            <a:endParaRPr/>
          </a:p>
        </p:txBody>
      </p:sp>
      <p:sp>
        <p:nvSpPr>
          <p:cNvPr id="1131" name="Google Shape;1131;p32">
            <a:hlinkClick action="ppaction://hlinksldjump" r:id="rId24"/>
          </p:cNvPr>
          <p:cNvSpPr/>
          <p:nvPr/>
        </p:nvSpPr>
        <p:spPr>
          <a:xfrm>
            <a:off x="6812280" y="7927848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2">
            <a:hlinkClick action="ppaction://hlinksldjump" r:id="rId25"/>
          </p:cNvPr>
          <p:cNvSpPr/>
          <p:nvPr/>
        </p:nvSpPr>
        <p:spPr>
          <a:xfrm>
            <a:off x="6812280" y="7863840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Continuar a la comprobación  →</a:t>
            </a:r>
            <a:endParaRPr/>
          </a:p>
        </p:txBody>
      </p:sp>
      <p:sp>
        <p:nvSpPr>
          <p:cNvPr id="56" name="Google Shape;56;p2">
            <a:hlinkClick action="ppaction://hlinksldjump" r:id="rId26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6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3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3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3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3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3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3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3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3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3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3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3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3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3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3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3">
            <a:hlinkClick action="ppaction://hlinksldjump" r:id="rId17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3">
            <a:hlinkClick action="ppaction://hlinksldjump" r:id="rId1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3">
            <a:hlinkClick action="ppaction://hlinksldjump" r:id="rId1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3">
            <a:hlinkClick action="ppaction://hlinksldjump" r:id="rId20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8" name="Google Shape;1158;p33" title="correcciones sapiencia.png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33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3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61" name="Google Shape;1161;p33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Revisa el contexto del caso</a:t>
            </a:r>
            <a:endParaRPr/>
          </a:p>
        </p:txBody>
      </p:sp>
      <p:sp>
        <p:nvSpPr>
          <p:cNvPr id="1162" name="Google Shape;1162;p33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3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3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3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3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3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3"/>
          <p:cNvSpPr/>
          <p:nvPr/>
        </p:nvSpPr>
        <p:spPr>
          <a:xfrm>
            <a:off x="4343400" y="3977640"/>
            <a:ext cx="1874520" cy="1874520"/>
          </a:xfrm>
          <a:prstGeom prst="ellipse">
            <a:avLst/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row-counter-clockwise_bold_664092.png" id="1169" name="Google Shape;1169;p3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812030" y="4446270"/>
            <a:ext cx="937260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33"/>
          <p:cNvSpPr txBox="1"/>
          <p:nvPr/>
        </p:nvSpPr>
        <p:spPr>
          <a:xfrm>
            <a:off x="6812280" y="3383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8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Aún no</a:t>
            </a:r>
            <a:endParaRPr/>
          </a:p>
        </p:txBody>
      </p:sp>
      <p:sp>
        <p:nvSpPr>
          <p:cNvPr id="1171" name="Google Shape;1171;p33"/>
          <p:cNvSpPr txBox="1"/>
          <p:nvPr/>
        </p:nvSpPr>
        <p:spPr>
          <a:xfrm>
            <a:off x="6812280" y="4160520"/>
            <a:ext cx="112471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3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La agilidad no es una regla universal ni una mezcla que se aplica sin mirar el contexto. La elección depende de qué tan estables son los requisitos y de la necesidad de aprender sobre la marcha.</a:t>
            </a:r>
            <a:endParaRPr/>
          </a:p>
        </p:txBody>
      </p:sp>
      <p:sp>
        <p:nvSpPr>
          <p:cNvPr id="1172" name="Google Shape;1172;p33"/>
          <p:cNvSpPr/>
          <p:nvPr/>
        </p:nvSpPr>
        <p:spPr>
          <a:xfrm>
            <a:off x="6812280" y="6446520"/>
            <a:ext cx="11247120" cy="960120"/>
          </a:xfrm>
          <a:prstGeom prst="roundRect">
            <a:avLst>
              <a:gd fmla="val 19047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3"/>
          <p:cNvSpPr/>
          <p:nvPr/>
        </p:nvSpPr>
        <p:spPr>
          <a:xfrm>
            <a:off x="6812280" y="6611112"/>
            <a:ext cx="73152" cy="630936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gnifying-glass_regular_664092.png" id="1174" name="Google Shape;1174;p3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132320" y="66979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33"/>
          <p:cNvSpPr txBox="1"/>
          <p:nvPr/>
        </p:nvSpPr>
        <p:spPr>
          <a:xfrm>
            <a:off x="7818120" y="644652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1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Pista: </a:t>
            </a:r>
            <a:r>
              <a:rPr b="0" i="0" lang="es-CO" sz="2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busca la opción que relacione el enfoque con las características del proyecto.</a:t>
            </a:r>
            <a:endParaRPr/>
          </a:p>
        </p:txBody>
      </p:sp>
      <p:sp>
        <p:nvSpPr>
          <p:cNvPr id="1176" name="Google Shape;1176;p33">
            <a:hlinkClick action="ppaction://hlinksldjump" r:id="rId24"/>
          </p:cNvPr>
          <p:cNvSpPr/>
          <p:nvPr/>
        </p:nvSpPr>
        <p:spPr>
          <a:xfrm>
            <a:off x="6812280" y="7927848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3">
            <a:hlinkClick action="ppaction://hlinksldjump" r:id="rId25"/>
          </p:cNvPr>
          <p:cNvSpPr/>
          <p:nvPr/>
        </p:nvSpPr>
        <p:spPr>
          <a:xfrm>
            <a:off x="6812280" y="7863840"/>
            <a:ext cx="4937760" cy="713232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Intentar de nuevo  ↺</a:t>
            </a:r>
            <a:endParaRPr/>
          </a:p>
        </p:txBody>
      </p:sp>
      <p:sp>
        <p:nvSpPr>
          <p:cNvPr id="56" name="Google Shape;56;p2">
            <a:hlinkClick action="ppaction://hlinksldjump" r:id="rId26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6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4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4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4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4">
            <a:hlinkClick action="ppaction://hlinksldjump" r:id="rId3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4">
            <a:hlinkClick action="ppaction://hlinksldjump" r:id="rId4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4">
            <a:hlinkClick action="ppaction://hlinksldjump" r:id="rId5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4">
            <a:hlinkClick action="ppaction://hlinksldjump" r:id="rId6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4">
            <a:hlinkClick action="ppaction://hlinksldjump" r:id="rId7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4">
            <a:hlinkClick action="ppaction://hlinksldjump" r:id="rId8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4">
            <a:hlinkClick action="ppaction://hlinksldjump" r:id="rId9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4">
            <a:hlinkClick action="ppaction://hlinksldjump" r:id="rId10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4">
            <a:hlinkClick action="ppaction://hlinksldjump" r:id="rId11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4">
            <a:hlinkClick action="ppaction://hlinksldjump" r:id="rId12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4">
            <a:hlinkClick action="ppaction://hlinksldjump" r:id="rId13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4">
            <a:hlinkClick action="ppaction://hlinksldjump" r:id="rId14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4">
            <a:hlinkClick action="ppaction://hlinksldjump" r:id="rId15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4">
            <a:hlinkClick action="ppaction://hlinksldjump" r:id="rId16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4">
            <a:hlinkClick action="ppaction://hlinksldjump" r:id="rId17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4">
            <a:hlinkClick action="ppaction://hlinksldjump" r:id="rId18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Google Shape;1201;p34" title="correcciones sapiencia.png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34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4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COMPROBACIÓN</a:t>
            </a:r>
            <a:endParaRPr/>
          </a:p>
        </p:txBody>
      </p:sp>
      <p:sp>
        <p:nvSpPr>
          <p:cNvPr id="1204" name="Google Shape;1204;p34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tu criterio ágil en la práctica</a:t>
            </a:r>
            <a:endParaRPr/>
          </a:p>
        </p:txBody>
      </p:sp>
      <p:sp>
        <p:nvSpPr>
          <p:cNvPr id="1205" name="Google Shape;1205;p34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4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4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4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4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4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4"/>
          <p:cNvSpPr/>
          <p:nvPr/>
        </p:nvSpPr>
        <p:spPr>
          <a:xfrm>
            <a:off x="3886200" y="3200400"/>
            <a:ext cx="14356080" cy="914400"/>
          </a:xfrm>
          <a:prstGeom prst="roundRect">
            <a:avLst>
              <a:gd fmla="val 30000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regular_FFFFFF.png" id="1212" name="Google Shape;1212;p3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206240" y="33741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34"/>
          <p:cNvSpPr txBox="1"/>
          <p:nvPr/>
        </p:nvSpPr>
        <p:spPr>
          <a:xfrm>
            <a:off x="5029200" y="3200400"/>
            <a:ext cx="1284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Escenario: </a:t>
            </a:r>
            <a:r>
              <a:rPr b="0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 equipo enfrenta requisitos cambiantes a mitad del cronograma. ¿Cómo aplicar los fundamentos ágiles para asegurar valor real?</a:t>
            </a:r>
            <a:endParaRPr/>
          </a:p>
        </p:txBody>
      </p:sp>
      <p:sp>
        <p:nvSpPr>
          <p:cNvPr id="1214" name="Google Shape;1214;p34"/>
          <p:cNvSpPr/>
          <p:nvPr/>
        </p:nvSpPr>
        <p:spPr>
          <a:xfrm>
            <a:off x="3886200" y="4297680"/>
            <a:ext cx="2710282" cy="594360"/>
          </a:xfrm>
          <a:prstGeom prst="roundRect">
            <a:avLst>
              <a:gd fmla="val 30769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regular_FFFFFF.png" id="1215" name="Google Shape;1215;p3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050792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34"/>
          <p:cNvSpPr txBox="1"/>
          <p:nvPr/>
        </p:nvSpPr>
        <p:spPr>
          <a:xfrm>
            <a:off x="4507992" y="4297680"/>
            <a:ext cx="20244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Sentido</a:t>
            </a:r>
            <a:endParaRPr/>
          </a:p>
        </p:txBody>
      </p:sp>
      <p:sp>
        <p:nvSpPr>
          <p:cNvPr id="1217" name="Google Shape;1217;p34"/>
          <p:cNvSpPr/>
          <p:nvPr/>
        </p:nvSpPr>
        <p:spPr>
          <a:xfrm>
            <a:off x="3886200" y="501091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circle_fill_664092.png" id="1218" name="Google Shape;1218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050792" y="51480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34"/>
          <p:cNvSpPr txBox="1"/>
          <p:nvPr/>
        </p:nvSpPr>
        <p:spPr>
          <a:xfrm>
            <a:off x="4453128" y="510235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Decisión ágil</a:t>
            </a:r>
            <a:endParaRPr/>
          </a:p>
        </p:txBody>
      </p:sp>
      <p:sp>
        <p:nvSpPr>
          <p:cNvPr id="1220" name="Google Shape;1220;p34"/>
          <p:cNvSpPr txBox="1"/>
          <p:nvPr/>
        </p:nvSpPr>
        <p:spPr>
          <a:xfrm>
            <a:off x="4050792" y="554126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Ciclos adaptativos para aprender con retroalimentación temprana.</a:t>
            </a:r>
            <a:endParaRPr/>
          </a:p>
        </p:txBody>
      </p:sp>
      <p:sp>
        <p:nvSpPr>
          <p:cNvPr id="1221" name="Google Shape;1221;p34"/>
          <p:cNvSpPr/>
          <p:nvPr/>
        </p:nvSpPr>
        <p:spPr>
          <a:xfrm>
            <a:off x="3886200" y="647395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B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x-circle_fill_A71989.png" id="1222" name="Google Shape;1222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050792" y="66111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34"/>
          <p:cNvSpPr txBox="1"/>
          <p:nvPr/>
        </p:nvSpPr>
        <p:spPr>
          <a:xfrm>
            <a:off x="4453128" y="656539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Desvío común</a:t>
            </a:r>
            <a:endParaRPr/>
          </a:p>
        </p:txBody>
      </p:sp>
      <p:sp>
        <p:nvSpPr>
          <p:cNvPr id="1224" name="Google Shape;1224;p34"/>
          <p:cNvSpPr txBox="1"/>
          <p:nvPr/>
        </p:nvSpPr>
        <p:spPr>
          <a:xfrm>
            <a:off x="4050792" y="700430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Acelerar el paso para cumplir fechas sin validar el producto.</a:t>
            </a:r>
            <a:endParaRPr/>
          </a:p>
        </p:txBody>
      </p:sp>
      <p:sp>
        <p:nvSpPr>
          <p:cNvPr id="1225" name="Google Shape;1225;p34"/>
          <p:cNvSpPr/>
          <p:nvPr/>
        </p:nvSpPr>
        <p:spPr>
          <a:xfrm>
            <a:off x="6797650" y="4297680"/>
            <a:ext cx="2710282" cy="594360"/>
          </a:xfrm>
          <a:prstGeom prst="roundRect">
            <a:avLst>
              <a:gd fmla="val 30769" name="adj"/>
            </a:avLst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s_regular_FFFFFF.png" id="1226" name="Google Shape;1226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962242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34"/>
          <p:cNvSpPr txBox="1"/>
          <p:nvPr/>
        </p:nvSpPr>
        <p:spPr>
          <a:xfrm>
            <a:off x="7419442" y="4297680"/>
            <a:ext cx="20244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Valores</a:t>
            </a:r>
            <a:endParaRPr/>
          </a:p>
        </p:txBody>
      </p:sp>
      <p:sp>
        <p:nvSpPr>
          <p:cNvPr id="1228" name="Google Shape;1228;p34"/>
          <p:cNvSpPr/>
          <p:nvPr/>
        </p:nvSpPr>
        <p:spPr>
          <a:xfrm>
            <a:off x="6797650" y="501091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circle_fill_664092.png" id="1229" name="Google Shape;1229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962242" y="51480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34"/>
          <p:cNvSpPr txBox="1"/>
          <p:nvPr/>
        </p:nvSpPr>
        <p:spPr>
          <a:xfrm>
            <a:off x="7364578" y="510235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Decisión ágil</a:t>
            </a:r>
            <a:endParaRPr/>
          </a:p>
        </p:txBody>
      </p:sp>
      <p:sp>
        <p:nvSpPr>
          <p:cNvPr id="1231" name="Google Shape;1231;p34"/>
          <p:cNvSpPr txBox="1"/>
          <p:nvPr/>
        </p:nvSpPr>
        <p:spPr>
          <a:xfrm>
            <a:off x="6962242" y="554126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Priorizar personas y software funcional sin eliminar procesos.</a:t>
            </a:r>
            <a:endParaRPr/>
          </a:p>
        </p:txBody>
      </p:sp>
      <p:sp>
        <p:nvSpPr>
          <p:cNvPr id="1232" name="Google Shape;1232;p34"/>
          <p:cNvSpPr/>
          <p:nvPr/>
        </p:nvSpPr>
        <p:spPr>
          <a:xfrm>
            <a:off x="6797650" y="647395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B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x-circle_fill_A71989.png" id="1233" name="Google Shape;1233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962242" y="66111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34"/>
          <p:cNvSpPr txBox="1"/>
          <p:nvPr/>
        </p:nvSpPr>
        <p:spPr>
          <a:xfrm>
            <a:off x="7364578" y="656539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Desvío común</a:t>
            </a:r>
            <a:endParaRPr/>
          </a:p>
        </p:txBody>
      </p:sp>
      <p:sp>
        <p:nvSpPr>
          <p:cNvPr id="1235" name="Google Shape;1235;p34"/>
          <p:cNvSpPr txBox="1"/>
          <p:nvPr/>
        </p:nvSpPr>
        <p:spPr>
          <a:xfrm>
            <a:off x="6962242" y="700430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Creer que la agilidad elimina la disciplina o la documentación.</a:t>
            </a:r>
            <a:endParaRPr/>
          </a:p>
        </p:txBody>
      </p:sp>
      <p:sp>
        <p:nvSpPr>
          <p:cNvPr id="1236" name="Google Shape;1236;p34"/>
          <p:cNvSpPr/>
          <p:nvPr/>
        </p:nvSpPr>
        <p:spPr>
          <a:xfrm>
            <a:off x="9709099" y="4297680"/>
            <a:ext cx="2710282" cy="594360"/>
          </a:xfrm>
          <a:prstGeom prst="roundRect">
            <a:avLst>
              <a:gd fmla="val 30769" name="adj"/>
            </a:avLst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-numbers_regular_FFFFFF.png" id="1237" name="Google Shape;1237;p3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873691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34"/>
          <p:cNvSpPr txBox="1"/>
          <p:nvPr/>
        </p:nvSpPr>
        <p:spPr>
          <a:xfrm>
            <a:off x="10330891" y="4297680"/>
            <a:ext cx="20244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Principios</a:t>
            </a:r>
            <a:endParaRPr/>
          </a:p>
        </p:txBody>
      </p:sp>
      <p:sp>
        <p:nvSpPr>
          <p:cNvPr id="1239" name="Google Shape;1239;p34"/>
          <p:cNvSpPr/>
          <p:nvPr/>
        </p:nvSpPr>
        <p:spPr>
          <a:xfrm>
            <a:off x="9709099" y="501091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circle_fill_664092.png" id="1240" name="Google Shape;1240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873691" y="51480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34"/>
          <p:cNvSpPr txBox="1"/>
          <p:nvPr/>
        </p:nvSpPr>
        <p:spPr>
          <a:xfrm>
            <a:off x="10276027" y="510235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Decisión ágil</a:t>
            </a:r>
            <a:endParaRPr/>
          </a:p>
        </p:txBody>
      </p:sp>
      <p:sp>
        <p:nvSpPr>
          <p:cNvPr id="1242" name="Google Shape;1242;p34"/>
          <p:cNvSpPr txBox="1"/>
          <p:nvPr/>
        </p:nvSpPr>
        <p:spPr>
          <a:xfrm>
            <a:off x="9873691" y="554126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Entregas frecuentes e incorporar cambios que aporten valor.</a:t>
            </a:r>
            <a:endParaRPr/>
          </a:p>
        </p:txBody>
      </p:sp>
      <p:sp>
        <p:nvSpPr>
          <p:cNvPr id="1243" name="Google Shape;1243;p34"/>
          <p:cNvSpPr/>
          <p:nvPr/>
        </p:nvSpPr>
        <p:spPr>
          <a:xfrm>
            <a:off x="9709099" y="647395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B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x-circle_fill_A71989.png" id="1244" name="Google Shape;1244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873691" y="66111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34"/>
          <p:cNvSpPr txBox="1"/>
          <p:nvPr/>
        </p:nvSpPr>
        <p:spPr>
          <a:xfrm>
            <a:off x="10276027" y="656539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Desvío común</a:t>
            </a:r>
            <a:endParaRPr/>
          </a:p>
        </p:txBody>
      </p:sp>
      <p:sp>
        <p:nvSpPr>
          <p:cNvPr id="1246" name="Google Shape;1246;p34"/>
          <p:cNvSpPr txBox="1"/>
          <p:nvPr/>
        </p:nvSpPr>
        <p:spPr>
          <a:xfrm>
            <a:off x="9873691" y="700430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Bloquear los requisitos para proteger un plan inicial estático.</a:t>
            </a:r>
            <a:endParaRPr/>
          </a:p>
        </p:txBody>
      </p:sp>
      <p:sp>
        <p:nvSpPr>
          <p:cNvPr id="1247" name="Google Shape;1247;p34"/>
          <p:cNvSpPr/>
          <p:nvPr/>
        </p:nvSpPr>
        <p:spPr>
          <a:xfrm>
            <a:off x="12620549" y="4297680"/>
            <a:ext cx="2710282" cy="594360"/>
          </a:xfrm>
          <a:prstGeom prst="roundRect">
            <a:avLst>
              <a:gd fmla="val 30769" name="adj"/>
            </a:avLst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-three_regular_FFFFFF.png" id="1248" name="Google Shape;1248;p3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2785141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34"/>
          <p:cNvSpPr txBox="1"/>
          <p:nvPr/>
        </p:nvSpPr>
        <p:spPr>
          <a:xfrm>
            <a:off x="13242341" y="4297680"/>
            <a:ext cx="20244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Personas</a:t>
            </a:r>
            <a:endParaRPr/>
          </a:p>
        </p:txBody>
      </p:sp>
      <p:sp>
        <p:nvSpPr>
          <p:cNvPr id="1250" name="Google Shape;1250;p34"/>
          <p:cNvSpPr/>
          <p:nvPr/>
        </p:nvSpPr>
        <p:spPr>
          <a:xfrm>
            <a:off x="12620549" y="501091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circle_fill_664092.png" id="1251" name="Google Shape;1251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2785141" y="51480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34"/>
          <p:cNvSpPr txBox="1"/>
          <p:nvPr/>
        </p:nvSpPr>
        <p:spPr>
          <a:xfrm>
            <a:off x="13187477" y="510235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Decisión ágil</a:t>
            </a:r>
            <a:endParaRPr/>
          </a:p>
        </p:txBody>
      </p:sp>
      <p:sp>
        <p:nvSpPr>
          <p:cNvPr id="1253" name="Google Shape;1253;p34"/>
          <p:cNvSpPr txBox="1"/>
          <p:nvPr/>
        </p:nvSpPr>
        <p:spPr>
          <a:xfrm>
            <a:off x="12785141" y="554126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Confianza, comunicación directa y ritmo sostenible.</a:t>
            </a:r>
            <a:endParaRPr/>
          </a:p>
        </p:txBody>
      </p:sp>
      <p:sp>
        <p:nvSpPr>
          <p:cNvPr id="1254" name="Google Shape;1254;p34"/>
          <p:cNvSpPr/>
          <p:nvPr/>
        </p:nvSpPr>
        <p:spPr>
          <a:xfrm>
            <a:off x="12620549" y="647395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B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x-circle_fill_A71989.png" id="1255" name="Google Shape;1255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2785141" y="66111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34"/>
          <p:cNvSpPr txBox="1"/>
          <p:nvPr/>
        </p:nvSpPr>
        <p:spPr>
          <a:xfrm>
            <a:off x="13187477" y="656539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Desvío común</a:t>
            </a:r>
            <a:endParaRPr/>
          </a:p>
        </p:txBody>
      </p:sp>
      <p:sp>
        <p:nvSpPr>
          <p:cNvPr id="1257" name="Google Shape;1257;p34"/>
          <p:cNvSpPr txBox="1"/>
          <p:nvPr/>
        </p:nvSpPr>
        <p:spPr>
          <a:xfrm>
            <a:off x="12785141" y="700430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Enfocarse solo en la herramienta ignorando la motivación del equipo.</a:t>
            </a:r>
            <a:endParaRPr/>
          </a:p>
        </p:txBody>
      </p:sp>
      <p:sp>
        <p:nvSpPr>
          <p:cNvPr id="1258" name="Google Shape;1258;p34"/>
          <p:cNvSpPr/>
          <p:nvPr/>
        </p:nvSpPr>
        <p:spPr>
          <a:xfrm>
            <a:off x="15531998" y="4297680"/>
            <a:ext cx="2710282" cy="594360"/>
          </a:xfrm>
          <a:prstGeom prst="roundRect">
            <a:avLst>
              <a:gd fmla="val 30769" name="adj"/>
            </a:avLst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th_regular_FFFFFF.png" id="1259" name="Google Shape;1259;p3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5696590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34"/>
          <p:cNvSpPr txBox="1"/>
          <p:nvPr/>
        </p:nvSpPr>
        <p:spPr>
          <a:xfrm>
            <a:off x="16153790" y="4297680"/>
            <a:ext cx="20244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Contexto</a:t>
            </a:r>
            <a:endParaRPr/>
          </a:p>
        </p:txBody>
      </p:sp>
      <p:sp>
        <p:nvSpPr>
          <p:cNvPr id="1261" name="Google Shape;1261;p34"/>
          <p:cNvSpPr/>
          <p:nvPr/>
        </p:nvSpPr>
        <p:spPr>
          <a:xfrm>
            <a:off x="15531998" y="501091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circle_fill_664092.png" id="1262" name="Google Shape;1262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5696590" y="51480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34"/>
          <p:cNvSpPr txBox="1"/>
          <p:nvPr/>
        </p:nvSpPr>
        <p:spPr>
          <a:xfrm>
            <a:off x="16098926" y="510235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Decisión ágil</a:t>
            </a:r>
            <a:endParaRPr/>
          </a:p>
        </p:txBody>
      </p:sp>
      <p:sp>
        <p:nvSpPr>
          <p:cNvPr id="1264" name="Google Shape;1264;p34"/>
          <p:cNvSpPr txBox="1"/>
          <p:nvPr/>
        </p:nvSpPr>
        <p:spPr>
          <a:xfrm>
            <a:off x="15696590" y="554126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Adoptar agilidad ante alta incertidumbre y necesidad de ajuste.</a:t>
            </a:r>
            <a:endParaRPr/>
          </a:p>
        </p:txBody>
      </p:sp>
      <p:sp>
        <p:nvSpPr>
          <p:cNvPr id="1265" name="Google Shape;1265;p34"/>
          <p:cNvSpPr/>
          <p:nvPr/>
        </p:nvSpPr>
        <p:spPr>
          <a:xfrm>
            <a:off x="15531998" y="6473952"/>
            <a:ext cx="2710282" cy="1371600"/>
          </a:xfrm>
          <a:prstGeom prst="roundRect">
            <a:avLst>
              <a:gd fmla="val 13333" name="adj"/>
            </a:avLst>
          </a:prstGeom>
          <a:solidFill>
            <a:srgbClr val="FB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x-circle_fill_A71989.png" id="1266" name="Google Shape;1266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696590" y="66111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34"/>
          <p:cNvSpPr txBox="1"/>
          <p:nvPr/>
        </p:nvSpPr>
        <p:spPr>
          <a:xfrm>
            <a:off x="16098926" y="6565392"/>
            <a:ext cx="207020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4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Desvío común</a:t>
            </a:r>
            <a:endParaRPr/>
          </a:p>
        </p:txBody>
      </p:sp>
      <p:sp>
        <p:nvSpPr>
          <p:cNvPr id="1268" name="Google Shape;1268;p34"/>
          <p:cNvSpPr txBox="1"/>
          <p:nvPr/>
        </p:nvSpPr>
        <p:spPr>
          <a:xfrm>
            <a:off x="15696590" y="7004304"/>
            <a:ext cx="24359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35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Aplicar metodologías ágiles por moda en procesos fijos y normados.</a:t>
            </a:r>
            <a:endParaRPr/>
          </a:p>
        </p:txBody>
      </p:sp>
      <p:sp>
        <p:nvSpPr>
          <p:cNvPr id="1269" name="Google Shape;1269;p34"/>
          <p:cNvSpPr/>
          <p:nvPr/>
        </p:nvSpPr>
        <p:spPr>
          <a:xfrm>
            <a:off x="3886200" y="7973568"/>
            <a:ext cx="14356080" cy="960120"/>
          </a:xfrm>
          <a:prstGeom prst="roundRect">
            <a:avLst>
              <a:gd fmla="val 28571" name="adj"/>
            </a:avLst>
          </a:prstGeom>
          <a:gradFill>
            <a:gsLst>
              <a:gs pos="0">
                <a:srgbClr val="467CF1"/>
              </a:gs>
              <a:gs pos="100000">
                <a:srgbClr val="66409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circle_regular_FFFFFF.png" id="1270" name="Google Shape;1270;p3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206240" y="8170164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34"/>
          <p:cNvSpPr txBox="1"/>
          <p:nvPr/>
        </p:nvSpPr>
        <p:spPr>
          <a:xfrm>
            <a:off x="5029200" y="7973568"/>
            <a:ext cx="12847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Aprender de la evidencia + Colaborar en equipo + Adaptar el plan = Entrega de valor real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tus decisiones equilibran la adaptabilidad con la disciplina del trabajo, estás gestionando con auténtico pensamiento ágil.</a:t>
            </a:r>
            <a:endParaRPr/>
          </a:p>
        </p:txBody>
      </p:sp>
      <p:sp>
        <p:nvSpPr>
          <p:cNvPr id="56" name="Google Shape;56;p2">
            <a:hlinkClick action="ppaction://hlinksldjump" r:id="rId28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8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>
            <a:hlinkClick action="ppaction://hlinksldjump" r:id="rId28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hlinkClick action="ppaction://hlinksldjump" r:id="rId28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1" i="0" sz="1578" u="sng" cap="none" strike="noStrik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2" name="Google Shape;1182;p34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4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4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4">
            <a:hlinkClick action="ppaction://hlinksldjump" r:id="rId2"/>
          </p:cNvPr>
          <p:cNvSpPr/>
          <p:nvPr/>
        </p:nvSpPr>
        <p:spPr>
          <a:xfrm>
            <a:off x="191751" y="1730000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2"/>
          </p:cNvPr>
          <p:cNvSpPr/>
          <p:nvPr/>
        </p:nvSpPr>
        <p:spPr>
          <a:xfrm>
            <a:off x="266783" y="1730000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6E0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Origen y sentido de la agilidad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4">
            <a:hlinkClick action="ppaction://hlinksldjump" r:id="rId3"/>
          </p:cNvPr>
          <p:cNvSpPr/>
          <p:nvPr/>
        </p:nvSpPr>
        <p:spPr>
          <a:xfrm>
            <a:off x="191751" y="2997813"/>
            <a:ext cx="75000" cy="1117697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>
            <a:hlinkClick action="ppaction://hlinksldjump" r:id="rId3"/>
          </p:cNvPr>
          <p:cNvSpPr/>
          <p:nvPr/>
        </p:nvSpPr>
        <p:spPr>
          <a:xfrm>
            <a:off x="266783" y="2997813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0DAE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4 valores fundamentales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4">
            <a:hlinkClick action="ppaction://hlinksldjump" r:id="rId4"/>
          </p:cNvPr>
          <p:cNvSpPr/>
          <p:nvPr/>
        </p:nvSpPr>
        <p:spPr>
          <a:xfrm>
            <a:off x="191751" y="4265626"/>
            <a:ext cx="75000" cy="1117697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4"/>
          </p:cNvPr>
          <p:cNvSpPr/>
          <p:nvPr/>
        </p:nvSpPr>
        <p:spPr>
          <a:xfrm>
            <a:off x="266783" y="4265626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E1EAFC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12 principios rectores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4">
            <a:hlinkClick action="ppaction://hlinksldjump" r:id="rId5"/>
          </p:cNvPr>
          <p:cNvSpPr/>
          <p:nvPr/>
        </p:nvSpPr>
        <p:spPr>
          <a:xfrm>
            <a:off x="191751" y="5533439"/>
            <a:ext cx="75000" cy="1117697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>
            <a:hlinkClick action="ppaction://hlinksldjump" r:id="rId5"/>
          </p:cNvPr>
          <p:cNvSpPr/>
          <p:nvPr/>
        </p:nvSpPr>
        <p:spPr>
          <a:xfrm>
            <a:off x="266783" y="5533439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FDBE4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 humano, calidad y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4">
            <a:hlinkClick action="ppaction://hlinksldjump" r:id="rId6"/>
          </p:cNvPr>
          <p:cNvSpPr/>
          <p:nvPr/>
        </p:nvSpPr>
        <p:spPr>
          <a:xfrm>
            <a:off x="191751" y="6801252"/>
            <a:ext cx="75000" cy="1117697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>
            <a:hlinkClick action="ppaction://hlinksldjump" r:id="rId6"/>
          </p:cNvPr>
          <p:cNvSpPr/>
          <p:nvPr/>
        </p:nvSpPr>
        <p:spPr>
          <a:xfrm>
            <a:off x="266783" y="6801252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D6E1ED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Tema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la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4">
            <a:hlinkClick action="ppaction://hlinksldjump" r:id="rId7"/>
          </p:cNvPr>
          <p:cNvSpPr/>
          <p:nvPr/>
        </p:nvSpPr>
        <p:spPr>
          <a:xfrm>
            <a:off x="191751" y="8069065"/>
            <a:ext cx="75000" cy="1117697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8069065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FFF8D6"/>
          </a:solidFill>
          <a:ln>
            <a:noFill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Comprueba lo aprendido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4">
            <a:hlinkClick action="ppaction://hlinksldjump" r:id="rId8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4">
            <a:hlinkClick action="ppaction://hlinksldjump" r:id="rId8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fmla="val 14000" name="adj"/>
            </a:avLst>
          </a:prstGeom>
          <a:solidFill>
            <a:srgbClr val="D1E0F2"/>
          </a:solidFill>
          <a:ln>
            <a:noFill/>
          </a:ln>
        </p:spPr>
        <p:txBody>
          <a:bodyPr anchorCtr="0" anchor="ctr" bIns="40000" lIns="160000" spcFirstLastPara="1" rIns="10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Picture 120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783" y="600314"/>
            <a:ext cx="486192" cy="486192"/>
          </a:xfrm>
          <a:prstGeom prst="rect">
            <a:avLst/>
          </a:prstGeom>
        </p:spPr>
      </p:pic>
      <p:sp>
        <p:nvSpPr>
          <p:cNvPr id="1202" name="Google Shape;1202;p34"/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Agilidad en acción</a:t>
            </a:r>
            <a:endParaRPr b="1" i="0" sz="12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s-CO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b="1" i="0" sz="1200" u="none" cap="none" strike="noStrik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4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/>
          </a:p>
        </p:txBody>
      </p:sp>
      <p:sp>
        <p:nvSpPr>
          <p:cNvPr id="1204" name="Google Shape;1204;p34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 de producción y postproducción</a:t>
            </a:r>
            <a:endParaRPr/>
          </a:p>
        </p:txBody>
      </p:sp>
      <p:sp>
        <p:nvSpPr>
          <p:cNvPr id="1205" name="Google Shape;1205;p34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4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4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4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4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4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10"/>
          </p:cNvPr>
          <p:cNvSpPr/>
          <p:nvPr/>
        </p:nvSpPr>
        <p:spPr>
          <a:xfrm>
            <a:off x="191751" y="9336878"/>
            <a:ext cx="75000" cy="1117697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10"/>
          </p:cNvPr>
          <p:cNvSpPr/>
          <p:nvPr/>
        </p:nvSpPr>
        <p:spPr>
          <a:xfrm>
            <a:off x="266783" y="9336878"/>
            <a:ext cx="2709600" cy="1117697"/>
          </a:xfrm>
          <a:prstGeom prst="roundRect">
            <a:avLst>
              <a:gd fmla="val 10000" name="adj"/>
            </a:avLst>
          </a:prstGeom>
          <a:solidFill>
            <a:srgbClr val="6640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0" lIns="180000" spcFirstLastPara="1" rIns="12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Equipo de 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4">
            <a:hlinkClick action="ppaction://hlinksldjump" r:id="rId11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4">
            <a:hlinkClick action="ppaction://hlinksldjump" r:id="rId11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664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25" lIns="148825" spcFirstLastPara="1" rIns="148825" wrap="square" tIns="595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b="1" i="0" lang="es-CO" sz="1578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3886200" y="3429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3886200" y="3429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8"/>
          <p:cNvSpPr txBox="1"/>
          <p:nvPr/>
        </p:nvSpPr>
        <p:spPr>
          <a:xfrm>
            <a:off x="4206240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843" name="Google Shape;843;p18"/>
          <p:cNvSpPr txBox="1"/>
          <p:nvPr/>
        </p:nvSpPr>
        <p:spPr>
          <a:xfrm>
            <a:off x="4206240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844" name="Google Shape;844;p18"/>
          <p:cNvSpPr/>
          <p:nvPr/>
        </p:nvSpPr>
        <p:spPr>
          <a:xfrm>
            <a:off x="11155680" y="3429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8"/>
          <p:cNvSpPr/>
          <p:nvPr/>
        </p:nvSpPr>
        <p:spPr>
          <a:xfrm>
            <a:off x="11155680" y="3429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8"/>
          <p:cNvSpPr txBox="1"/>
          <p:nvPr/>
        </p:nvSpPr>
        <p:spPr>
          <a:xfrm>
            <a:off x="11475719" y="3538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847" name="Google Shape;847;p18"/>
          <p:cNvSpPr txBox="1"/>
          <p:nvPr/>
        </p:nvSpPr>
        <p:spPr>
          <a:xfrm>
            <a:off x="11475719" y="3904487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</a:t>
            </a:r>
            <a:endParaRPr/>
          </a:p>
        </p:txBody>
      </p:sp>
      <p:sp>
        <p:nvSpPr>
          <p:cNvPr id="848" name="Google Shape;848;p18"/>
          <p:cNvSpPr/>
          <p:nvPr/>
        </p:nvSpPr>
        <p:spPr>
          <a:xfrm>
            <a:off x="3886200" y="4572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3886200" y="4572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8"/>
          <p:cNvSpPr txBox="1"/>
          <p:nvPr/>
        </p:nvSpPr>
        <p:spPr>
          <a:xfrm>
            <a:off x="4206240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851" name="Google Shape;851;p18"/>
          <p:cNvSpPr txBox="1"/>
          <p:nvPr/>
        </p:nvSpPr>
        <p:spPr>
          <a:xfrm>
            <a:off x="4206240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11155680" y="4572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8"/>
          <p:cNvSpPr/>
          <p:nvPr/>
        </p:nvSpPr>
        <p:spPr>
          <a:xfrm>
            <a:off x="11155680" y="4572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8"/>
          <p:cNvSpPr txBox="1"/>
          <p:nvPr/>
        </p:nvSpPr>
        <p:spPr>
          <a:xfrm>
            <a:off x="11475719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855" name="Google Shape;855;p18"/>
          <p:cNvSpPr txBox="1"/>
          <p:nvPr/>
        </p:nvSpPr>
        <p:spPr>
          <a:xfrm>
            <a:off x="11475719" y="5047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 y Sergio Andrés Ocampo Rivera</a:t>
            </a:r>
            <a:endParaRPr/>
          </a:p>
        </p:txBody>
      </p:sp>
      <p:sp>
        <p:nvSpPr>
          <p:cNvPr id="856" name="Google Shape;856;p18"/>
          <p:cNvSpPr/>
          <p:nvPr/>
        </p:nvSpPr>
        <p:spPr>
          <a:xfrm>
            <a:off x="3886200" y="5715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8"/>
          <p:cNvSpPr/>
          <p:nvPr/>
        </p:nvSpPr>
        <p:spPr>
          <a:xfrm>
            <a:off x="3886200" y="5715000"/>
            <a:ext cx="91440" cy="96012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8"/>
          <p:cNvSpPr txBox="1"/>
          <p:nvPr/>
        </p:nvSpPr>
        <p:spPr>
          <a:xfrm>
            <a:off x="4206240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859" name="Google Shape;859;p18"/>
          <p:cNvSpPr txBox="1"/>
          <p:nvPr/>
        </p:nvSpPr>
        <p:spPr>
          <a:xfrm>
            <a:off x="4206240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860" name="Google Shape;860;p18"/>
          <p:cNvSpPr/>
          <p:nvPr/>
        </p:nvSpPr>
        <p:spPr>
          <a:xfrm>
            <a:off x="11155680" y="5715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8"/>
          <p:cNvSpPr/>
          <p:nvPr/>
        </p:nvSpPr>
        <p:spPr>
          <a:xfrm>
            <a:off x="11155680" y="5715000"/>
            <a:ext cx="91440" cy="96012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8"/>
          <p:cNvSpPr txBox="1"/>
          <p:nvPr/>
        </p:nvSpPr>
        <p:spPr>
          <a:xfrm>
            <a:off x="11475719" y="5824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863" name="Google Shape;863;p18"/>
          <p:cNvSpPr txBox="1"/>
          <p:nvPr/>
        </p:nvSpPr>
        <p:spPr>
          <a:xfrm>
            <a:off x="11475719" y="6190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864" name="Google Shape;864;p18"/>
          <p:cNvSpPr/>
          <p:nvPr/>
        </p:nvSpPr>
        <p:spPr>
          <a:xfrm>
            <a:off x="3886200" y="6858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8"/>
          <p:cNvSpPr/>
          <p:nvPr/>
        </p:nvSpPr>
        <p:spPr>
          <a:xfrm>
            <a:off x="3886200" y="6858000"/>
            <a:ext cx="91440" cy="960120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8"/>
          <p:cNvSpPr txBox="1"/>
          <p:nvPr/>
        </p:nvSpPr>
        <p:spPr>
          <a:xfrm>
            <a:off x="4206240" y="6967728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b="1" lang="es-CO" sz="1300">
                <a:solidFill>
                  <a:srgbClr val="2A56C6"/>
                </a:solidFill>
              </a:rPr>
              <a:t>d</a:t>
            </a:r>
            <a:r>
              <a:rPr b="1" i="0" lang="es-CO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867" name="Google Shape;867;p18"/>
          <p:cNvSpPr txBox="1"/>
          <p:nvPr/>
        </p:nvSpPr>
        <p:spPr>
          <a:xfrm>
            <a:off x="4206240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868" name="Google Shape;868;p18"/>
          <p:cNvSpPr/>
          <p:nvPr/>
        </p:nvSpPr>
        <p:spPr>
          <a:xfrm>
            <a:off x="11155680" y="6858000"/>
            <a:ext cx="6949440" cy="96012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8"/>
          <p:cNvSpPr/>
          <p:nvPr/>
        </p:nvSpPr>
        <p:spPr>
          <a:xfrm>
            <a:off x="11155680" y="6858000"/>
            <a:ext cx="91440" cy="96012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8"/>
          <p:cNvSpPr txBox="1"/>
          <p:nvPr/>
        </p:nvSpPr>
        <p:spPr>
          <a:xfrm>
            <a:off x="11475719" y="6967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871" name="Google Shape;871;p18"/>
          <p:cNvSpPr txBox="1"/>
          <p:nvPr/>
        </p:nvSpPr>
        <p:spPr>
          <a:xfrm>
            <a:off x="11475719" y="733348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872" name="Google Shape;872;p18"/>
          <p:cNvSpPr txBox="1"/>
          <p:nvPr/>
        </p:nvSpPr>
        <p:spPr>
          <a:xfrm>
            <a:off x="3886200" y="8092440"/>
            <a:ext cx="1421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12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2026-08-27T19:14:29Z</dcterms:created>
  <dc:creator>Walnut Exporter</dc:creator>
</cp:coreProperties>
</file>