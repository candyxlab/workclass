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6484600" y="-1244600"/>
            <a:ext cx="3048000" cy="3048000"/>
          </a:xfrm>
          <a:prstGeom prst="donut">
            <a:avLst>
              <a:gd name="adj" fmla="val 24166"/>
            </a:avLst>
          </a:prstGeom>
          <a:gradFill rotWithShape="1">
            <a:gsLst>
              <a:gs pos="0">
                <a:srgbClr val="4A7DF0"/>
              </a:gs>
              <a:gs pos="100000">
                <a:srgbClr val="6CC9EC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1041400" y="9017000"/>
            <a:ext cx="3098800" cy="3098800"/>
          </a:xfrm>
          <a:prstGeom prst="donut">
            <a:avLst>
              <a:gd name="adj" fmla="val 24590"/>
            </a:avLst>
          </a:prstGeom>
          <a:gradFill rotWithShape="1">
            <a:gsLst>
              <a:gs pos="0">
                <a:srgbClr val="4A7DF0"/>
              </a:gs>
              <a:gs pos="100000">
                <a:srgbClr val="6CC9EC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062200" y="304800"/>
            <a:ext cx="28194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rgba_mm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0" y="457200"/>
            <a:ext cx="2489200" cy="560584"/>
          </a:xfrm>
          <a:prstGeom prst="rect">
            <a:avLst/>
          </a:prstGeom>
        </p:spPr>
      </p:pic>
      <p:pic>
        <p:nvPicPr>
          <p:cNvPr id="6" name="Picture 5" descr="rgba_mm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00" y="8966200"/>
            <a:ext cx="5334000" cy="8998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3900" y="838200"/>
            <a:ext cx="127000" cy="990600"/>
          </a:xfrm>
          <a:prstGeom prst="roundRect">
            <a:avLst>
              <a:gd name="adj" fmla="val 50000"/>
            </a:avLst>
          </a:prstGeom>
          <a:solidFill>
            <a:srgbClr val="467C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2200" y="889000"/>
            <a:ext cx="5969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00" b="1">
                <a:solidFill>
                  <a:srgbClr val="123A75"/>
                </a:solidFill>
                <a:latin typeface="Metropolis"/>
              </a:rPr>
              <a:t>METODOLOGÍA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10400" y="838200"/>
            <a:ext cx="0" cy="990600"/>
          </a:xfrm>
          <a:prstGeom prst="line">
            <a:avLst/>
          </a:prstGeom>
          <a:ln w="12700">
            <a:solidFill>
              <a:srgbClr val="C9D6E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391400" y="787400"/>
            <a:ext cx="736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455971"/>
                </a:solidFill>
                <a:latin typeface="Metropolis"/>
              </a:rPr>
              <a:t>Un recorrido metodológico para comprender el entorno y las personas antes de formular </a:t>
            </a:r>
            <a:r>
              <a:rPr sz="1900" b="1">
                <a:solidFill>
                  <a:srgbClr val="3B6FE0"/>
                </a:solidFill>
                <a:latin typeface="Metropolis"/>
              </a:rPr>
              <a:t>una respuesta fundamentada.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603500"/>
            <a:ext cx="4648200" cy="5168900"/>
          </a:xfrm>
          <a:prstGeom prst="roundRect">
            <a:avLst>
              <a:gd name="adj" fmla="val 2732"/>
            </a:avLst>
          </a:prstGeom>
          <a:solidFill>
            <a:srgbClr val="F5F9FF"/>
          </a:solidFill>
          <a:ln w="15875">
            <a:solidFill>
              <a:srgbClr val="DCE6F5"/>
            </a:solidFill>
          </a:ln>
          <a:effectLst/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3136900" y="2616200"/>
            <a:ext cx="0" cy="5143500"/>
          </a:xfrm>
          <a:prstGeom prst="line">
            <a:avLst/>
          </a:prstGeom>
          <a:ln w="15875">
            <a:solidFill>
              <a:srgbClr val="DCE6F5"/>
            </a:solidFill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2120900" y="2374900"/>
            <a:ext cx="20320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67CF1"/>
              </a:gs>
              <a:gs pos="100000">
                <a:srgbClr val="6CC2EC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APERTURA</a:t>
            </a:r>
          </a:p>
        </p:txBody>
      </p:sp>
      <p:sp>
        <p:nvSpPr>
          <p:cNvPr id="14" name="Oval 13"/>
          <p:cNvSpPr/>
          <p:nvPr/>
        </p:nvSpPr>
        <p:spPr>
          <a:xfrm>
            <a:off x="1314450" y="3048000"/>
            <a:ext cx="1320800" cy="1320800"/>
          </a:xfrm>
          <a:prstGeom prst="ellipse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" name="Picture 14" descr="building-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950" y="3365500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26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Situación de aprendizaje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6FD6"/>
                </a:solidFill>
                <a:latin typeface="Metropolis"/>
              </a:rPr>
              <a:t>Comprender el punto de partida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43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17081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20891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42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Partimos de una situación real que nos permite contextualizar el problema.</a:t>
            </a:r>
          </a:p>
        </p:txBody>
      </p:sp>
      <p:sp>
        <p:nvSpPr>
          <p:cNvPr id="21" name="Oval 20"/>
          <p:cNvSpPr/>
          <p:nvPr/>
        </p:nvSpPr>
        <p:spPr>
          <a:xfrm>
            <a:off x="3638550" y="3048000"/>
            <a:ext cx="1320800" cy="1320800"/>
          </a:xfrm>
          <a:prstGeom prst="ellipse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2" name="Picture 21" descr="circle-hel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050" y="336550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67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Pregunta orientadora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A6FD6"/>
                </a:solidFill>
                <a:latin typeface="Metropolis"/>
              </a:rPr>
              <a:t>Eje de indagación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084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25" name="Oval 24"/>
          <p:cNvSpPr/>
          <p:nvPr/>
        </p:nvSpPr>
        <p:spPr>
          <a:xfrm>
            <a:off x="40322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132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083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Planteamos la pregunta orientadora que articula todo el proceso de indagación.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700" y="2603500"/>
            <a:ext cx="4648200" cy="5168900"/>
          </a:xfrm>
          <a:prstGeom prst="roundRect">
            <a:avLst>
              <a:gd name="adj" fmla="val 2732"/>
            </a:avLst>
          </a:prstGeom>
          <a:solidFill>
            <a:srgbClr val="F4FCFD"/>
          </a:solidFill>
          <a:ln w="15875">
            <a:solidFill>
              <a:srgbClr val="DCE6F5"/>
            </a:solidFill>
          </a:ln>
          <a:effectLst/>
        </p:spPr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7924800" y="2616200"/>
            <a:ext cx="0" cy="5143500"/>
          </a:xfrm>
          <a:prstGeom prst="line">
            <a:avLst/>
          </a:prstGeom>
          <a:ln w="15875">
            <a:solidFill>
              <a:srgbClr val="DCE6F5"/>
            </a:solidFill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6908800" y="2374900"/>
            <a:ext cx="20320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67CF1"/>
              </a:gs>
              <a:gs pos="100000">
                <a:srgbClr val="6CC2EC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ANÁLISIS</a:t>
            </a:r>
          </a:p>
        </p:txBody>
      </p:sp>
      <p:sp>
        <p:nvSpPr>
          <p:cNvPr id="31" name="Oval 30"/>
          <p:cNvSpPr/>
          <p:nvPr/>
        </p:nvSpPr>
        <p:spPr>
          <a:xfrm>
            <a:off x="6102350" y="3048000"/>
            <a:ext cx="1320800" cy="1320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2" name="Picture 31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3365500"/>
            <a:ext cx="685800" cy="685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705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Tema 1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42A0"/>
                </a:solidFill>
                <a:latin typeface="Metropolis"/>
              </a:rPr>
              <a:t>Análisis del macroentorno · PESTEL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722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64960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8770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721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Mapeamos los factores externos del entorno con las 6 dimensiones PESTEL.</a:t>
            </a:r>
          </a:p>
        </p:txBody>
      </p:sp>
      <p:sp>
        <p:nvSpPr>
          <p:cNvPr id="38" name="Oval 37"/>
          <p:cNvSpPr/>
          <p:nvPr/>
        </p:nvSpPr>
        <p:spPr>
          <a:xfrm>
            <a:off x="8426450" y="3048000"/>
            <a:ext cx="1320800" cy="13208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9" name="Picture 38" descr="user-roun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950" y="3365500"/>
            <a:ext cx="685800" cy="685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9946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Tema 2 (parte 1)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42A0"/>
                </a:solidFill>
                <a:latin typeface="Metropolis"/>
              </a:rPr>
              <a:t>Comprensión del usuario · Perfil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963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42" name="Oval 41"/>
          <p:cNvSpPr/>
          <p:nvPr/>
        </p:nvSpPr>
        <p:spPr>
          <a:xfrm>
            <a:off x="88201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92011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0962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Caracterizamos las necesidades, expectativas y dolores del usuario.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88600" y="2603500"/>
            <a:ext cx="4648200" cy="5168900"/>
          </a:xfrm>
          <a:prstGeom prst="roundRect">
            <a:avLst>
              <a:gd name="adj" fmla="val 2732"/>
            </a:avLst>
          </a:prstGeom>
          <a:solidFill>
            <a:srgbClr val="FCF9FF"/>
          </a:solidFill>
          <a:ln w="15875">
            <a:solidFill>
              <a:srgbClr val="DCE6F5"/>
            </a:solidFill>
          </a:ln>
          <a:effectLst/>
        </p:spPr>
        <p:txBody>
          <a:bodyPr rtlCol="0" anchor="ctr"/>
          <a:lstStyle/>
          <a:p/>
        </p:txBody>
      </p:sp>
      <p:cxnSp>
        <p:nvCxnSpPr>
          <p:cNvPr id="46" name="Connector 45"/>
          <p:cNvCxnSpPr/>
          <p:nvPr/>
        </p:nvCxnSpPr>
        <p:spPr>
          <a:xfrm>
            <a:off x="12712700" y="2616200"/>
            <a:ext cx="0" cy="5143500"/>
          </a:xfrm>
          <a:prstGeom prst="line">
            <a:avLst/>
          </a:prstGeom>
          <a:ln w="15875">
            <a:solidFill>
              <a:srgbClr val="DCE6F5"/>
            </a:solidFill>
          </a:ln>
          <a:effectLst/>
        </p:spPr>
      </p:cxnSp>
      <p:sp>
        <p:nvSpPr>
          <p:cNvPr id="47" name="Rounded Rectangle 46"/>
          <p:cNvSpPr/>
          <p:nvPr/>
        </p:nvSpPr>
        <p:spPr>
          <a:xfrm>
            <a:off x="11696700" y="2374900"/>
            <a:ext cx="20320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67CF1"/>
              </a:gs>
              <a:gs pos="100000">
                <a:srgbClr val="6CC2EC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INTEGRACIÓN</a:t>
            </a:r>
          </a:p>
        </p:txBody>
      </p:sp>
      <p:sp>
        <p:nvSpPr>
          <p:cNvPr id="48" name="Oval 47"/>
          <p:cNvSpPr/>
          <p:nvPr/>
        </p:nvSpPr>
        <p:spPr>
          <a:xfrm>
            <a:off x="10890250" y="3048000"/>
            <a:ext cx="1320800" cy="1320800"/>
          </a:xfrm>
          <a:prstGeom prst="ellipse">
            <a:avLst/>
          </a:prstGeom>
          <a:solidFill>
            <a:srgbClr val="A014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9" name="Picture 48" descr="ey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7750" y="3365500"/>
            <a:ext cx="685800" cy="6858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4584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Tema 2 (parte 2)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A0148C"/>
                </a:solidFill>
                <a:latin typeface="Metropolis"/>
              </a:rPr>
              <a:t>Shadowing: observación real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3601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52" name="Oval 51"/>
          <p:cNvSpPr/>
          <p:nvPr/>
        </p:nvSpPr>
        <p:spPr>
          <a:xfrm>
            <a:off x="112839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116649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05600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Registramos conductas y comportamientos reales en campo con shadowing.</a:t>
            </a:r>
          </a:p>
        </p:txBody>
      </p:sp>
      <p:sp>
        <p:nvSpPr>
          <p:cNvPr id="55" name="Oval 54"/>
          <p:cNvSpPr/>
          <p:nvPr/>
        </p:nvSpPr>
        <p:spPr>
          <a:xfrm>
            <a:off x="13214350" y="3048000"/>
            <a:ext cx="1320800" cy="1320800"/>
          </a:xfrm>
          <a:prstGeom prst="ellipse">
            <a:avLst/>
          </a:prstGeom>
          <a:solidFill>
            <a:srgbClr val="A014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6" name="Picture 55" descr="puzz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31850" y="3365500"/>
            <a:ext cx="685800" cy="6858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7825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Aplicación integradora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A0148C"/>
                </a:solidFill>
                <a:latin typeface="Metropolis"/>
              </a:rPr>
              <a:t>Cruce: entorno + usuario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36842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59" name="Oval 58"/>
          <p:cNvSpPr/>
          <p:nvPr/>
        </p:nvSpPr>
        <p:spPr>
          <a:xfrm>
            <a:off x="136080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39890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28841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Integramos los hallazgos del macroentorno y el usuario para una visión holística.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176500" y="2603500"/>
            <a:ext cx="2324100" cy="5168900"/>
          </a:xfrm>
          <a:prstGeom prst="roundRect">
            <a:avLst>
              <a:gd name="adj" fmla="val 5464"/>
            </a:avLst>
          </a:prstGeom>
          <a:solidFill>
            <a:srgbClr val="F2F6FF"/>
          </a:solidFill>
          <a:ln w="15875">
            <a:solidFill>
              <a:srgbClr val="DCE6F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15322550" y="2374900"/>
            <a:ext cx="20320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67CF1"/>
              </a:gs>
              <a:gs pos="100000">
                <a:srgbClr val="6CC2EC"/>
              </a:gs>
            </a:gsLst>
            <a:lin scaled="0" ang="0"/>
          </a:gra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RESPUESTA</a:t>
            </a:r>
          </a:p>
        </p:txBody>
      </p:sp>
      <p:sp>
        <p:nvSpPr>
          <p:cNvPr id="64" name="Oval 63"/>
          <p:cNvSpPr/>
          <p:nvPr/>
        </p:nvSpPr>
        <p:spPr>
          <a:xfrm>
            <a:off x="15678150" y="3048000"/>
            <a:ext cx="1320800" cy="1320800"/>
          </a:xfrm>
          <a:prstGeom prst="ellipse">
            <a:avLst/>
          </a:prstGeom>
          <a:solidFill>
            <a:srgbClr val="F5C4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5" name="Picture 64" descr="badge-check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95650" y="3365500"/>
            <a:ext cx="685800" cy="685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5246350" y="4546600"/>
            <a:ext cx="2184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>
                <a:solidFill>
                  <a:srgbClr val="123A75"/>
                </a:solidFill>
                <a:latin typeface="Metropolis"/>
              </a:rPr>
              <a:t>Respuesta fundamentada a la pregunta orientadora</a:t>
            </a: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7042A0"/>
                </a:solidFill>
                <a:latin typeface="Metropolis"/>
              </a:rPr>
              <a:t>Definición del reto y formulación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6148050" y="6134100"/>
            <a:ext cx="381000" cy="0"/>
          </a:xfrm>
          <a:prstGeom prst="line">
            <a:avLst/>
          </a:prstGeom>
          <a:ln w="31750">
            <a:solidFill>
              <a:srgbClr val="8FB8F2"/>
            </a:solidFill>
          </a:ln>
          <a:effectLst/>
        </p:spPr>
      </p:cxnSp>
      <p:sp>
        <p:nvSpPr>
          <p:cNvPr id="68" name="Oval 67"/>
          <p:cNvSpPr/>
          <p:nvPr/>
        </p:nvSpPr>
        <p:spPr>
          <a:xfrm>
            <a:off x="16071850" y="6057900"/>
            <a:ext cx="152400" cy="152400"/>
          </a:xfrm>
          <a:prstGeom prst="ellipse">
            <a:avLst/>
          </a:prstGeom>
          <a:solidFill>
            <a:srgbClr val="7AD8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6452850" y="6057900"/>
            <a:ext cx="152400" cy="152400"/>
          </a:xfrm>
          <a:prstGeom prst="ellipse">
            <a:avLst/>
          </a:prstGeom>
          <a:solidFill>
            <a:srgbClr val="5698E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5347950" y="6400800"/>
            <a:ext cx="198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455971"/>
                </a:solidFill>
                <a:latin typeface="Metropolis"/>
              </a:rPr>
              <a:t>Construimos una respuesta fundamentada previa al diseño de la solución.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2800" y="8051800"/>
            <a:ext cx="16662400" cy="711200"/>
          </a:xfrm>
          <a:prstGeom prst="roundRect">
            <a:avLst>
              <a:gd name="adj" fmla="val 21428"/>
            </a:avLst>
          </a:prstGeom>
          <a:solidFill>
            <a:srgbClr val="F2F6FF"/>
          </a:solidFill>
          <a:ln w="12700">
            <a:solidFill>
              <a:srgbClr val="C9D6E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12800" y="8051800"/>
            <a:ext cx="101600" cy="711200"/>
          </a:xfrm>
          <a:prstGeom prst="rect">
            <a:avLst/>
          </a:prstGeom>
          <a:solidFill>
            <a:srgbClr val="467C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1092200" y="8204200"/>
            <a:ext cx="406400" cy="406400"/>
          </a:xfrm>
          <a:prstGeom prst="ellipse">
            <a:avLst/>
          </a:prstGeom>
          <a:solidFill>
            <a:srgbClr val="123A7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4" name="Picture 73" descr="lightbulb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8400" y="8280400"/>
            <a:ext cx="254000" cy="254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676400" y="8051800"/>
            <a:ext cx="15494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23A75"/>
                </a:solidFill>
                <a:latin typeface="Metropolis"/>
              </a:rPr>
              <a:t>Mensaje articulador: </a:t>
            </a:r>
            <a:r>
              <a:rPr sz="1500" b="0">
                <a:solidFill>
                  <a:srgbClr val="455971"/>
                </a:solidFill>
                <a:latin typeface="Metropolis"/>
              </a:rPr>
              <a:t>No buscaremos responder de inmediato: cada herramienta aporta elementos para construir una respuesta fundamentada.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62200" y="95504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44992"/>
                </a:solidFill>
                <a:latin typeface="Metropolis"/>
              </a:rPr>
              <a:t>Fuente: Elaboración propia.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