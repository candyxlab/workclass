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9"/>
  </p:sldIdLst>
  <p:sldSz cy="9525000" cx="1905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00">
          <p15:clr>
            <a:srgbClr val="A4A3A4"/>
          </p15:clr>
        </p15:guide>
        <p15:guide id="2" pos="600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3nNIqiLYkaKyew8MC0U2Dm8a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00" orient="horz"/>
        <p:guide pos="600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customschemas.google.com/relationships/presentationmetadata" Target="metadata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28" name="Google Shape;22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72" name="Google Shape;37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13" name="Google Shape;41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38234" y="1777023"/>
            <a:ext cx="8252354" cy="825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2857500" y="2114550"/>
            <a:ext cx="14001750" cy="4267200"/>
            <a:chOff x="2857500" y="2114550"/>
            <a:chExt cx="14001750" cy="4267200"/>
          </a:xfrm>
        </p:grpSpPr>
        <p:sp>
          <p:nvSpPr>
            <p:cNvPr id="18" name="Google Shape;18;p1"/>
            <p:cNvSpPr/>
            <p:nvPr/>
          </p:nvSpPr>
          <p:spPr>
            <a:xfrm>
              <a:off x="2857500" y="2114550"/>
              <a:ext cx="12763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Módulo 2 · Observación y análisis del usuario</a:t>
              </a: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57500" y="3019425"/>
              <a:ext cx="1400175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57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Del entorno al diagnóstico: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57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introducción al análisis PESTEL</a:t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905125" y="4953000"/>
              <a:ext cx="11477625" cy="953"/>
            </a:xfrm>
            <a:custGeom>
              <a:rect b="b" l="l" r="r" t="t"/>
              <a:pathLst>
                <a:path extrusionOk="0" h="953" w="11477625">
                  <a:moveTo>
                    <a:pt x="0" y="0"/>
                  </a:moveTo>
                  <a:lnTo>
                    <a:pt x="11477625" y="0"/>
                  </a:lnTo>
                </a:path>
              </a:pathLst>
            </a:custGeom>
            <a:noFill/>
            <a:ln cap="flat" cmpd="sng" w="57150">
              <a:solidFill>
                <a:srgbClr val="FFD9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" name="Google Shape;21;p1"/>
            <p:cNvSpPr/>
            <p:nvPr/>
          </p:nvSpPr>
          <p:spPr>
            <a:xfrm>
              <a:off x="2905125" y="5238750"/>
              <a:ext cx="13287375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8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Comprender las fuerzas externas que pueden favorecer,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8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restringir o transformar un proyecto.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2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30" name="Google Shape;30;p2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Antes de proponer, necesitamos mirar hacia afuera</a:t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02 / 12</a:t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876425" y="2819400"/>
              <a:ext cx="1525905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6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Todo proyecto interactúa con condiciones externas sobre las cuales, en muchos casos, no tenemos control directo.</a:t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895975" y="4381500"/>
              <a:ext cx="1524000" cy="1057275"/>
            </a:xfrm>
            <a:custGeom>
              <a:rect b="b" l="l" r="r" t="t"/>
              <a:pathLst>
                <a:path extrusionOk="0" h="1057275" w="1524000">
                  <a:moveTo>
                    <a:pt x="0" y="0"/>
                  </a:moveTo>
                  <a:lnTo>
                    <a:pt x="1524000" y="1057275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" name="Google Shape;36;p2"/>
            <p:cNvSpPr/>
            <p:nvPr/>
          </p:nvSpPr>
          <p:spPr>
            <a:xfrm>
              <a:off x="9629775" y="4381500"/>
              <a:ext cx="971550" cy="1057275"/>
            </a:xfrm>
            <a:custGeom>
              <a:rect b="b" l="l" r="r" t="t"/>
              <a:pathLst>
                <a:path extrusionOk="0" h="1057275" w="971550">
                  <a:moveTo>
                    <a:pt x="0" y="1057275"/>
                  </a:moveTo>
                  <a:lnTo>
                    <a:pt x="971550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" name="Google Shape;37;p2"/>
            <p:cNvSpPr/>
            <p:nvPr/>
          </p:nvSpPr>
          <p:spPr>
            <a:xfrm>
              <a:off x="5895975" y="5438775"/>
              <a:ext cx="1524000" cy="47625"/>
            </a:xfrm>
            <a:custGeom>
              <a:rect b="b" l="l" r="r" t="t"/>
              <a:pathLst>
                <a:path extrusionOk="0" h="47625" w="1524000">
                  <a:moveTo>
                    <a:pt x="0" y="47625"/>
                  </a:moveTo>
                  <a:lnTo>
                    <a:pt x="1524000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" name="Google Shape;38;p2"/>
            <p:cNvSpPr/>
            <p:nvPr/>
          </p:nvSpPr>
          <p:spPr>
            <a:xfrm>
              <a:off x="9629775" y="5438775"/>
              <a:ext cx="971550" cy="47625"/>
            </a:xfrm>
            <a:custGeom>
              <a:rect b="b" l="l" r="r" t="t"/>
              <a:pathLst>
                <a:path extrusionOk="0" h="47625" w="971550">
                  <a:moveTo>
                    <a:pt x="0" y="0"/>
                  </a:moveTo>
                  <a:lnTo>
                    <a:pt x="971550" y="47625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9" name="Google Shape;39;p2"/>
            <p:cNvSpPr/>
            <p:nvPr/>
          </p:nvSpPr>
          <p:spPr>
            <a:xfrm>
              <a:off x="5895975" y="5438775"/>
              <a:ext cx="1524000" cy="1152525"/>
            </a:xfrm>
            <a:custGeom>
              <a:rect b="b" l="l" r="r" t="t"/>
              <a:pathLst>
                <a:path extrusionOk="0" h="1152525" w="1524000">
                  <a:moveTo>
                    <a:pt x="0" y="1152525"/>
                  </a:moveTo>
                  <a:lnTo>
                    <a:pt x="1524000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" name="Google Shape;40;p2"/>
            <p:cNvSpPr/>
            <p:nvPr/>
          </p:nvSpPr>
          <p:spPr>
            <a:xfrm>
              <a:off x="9629775" y="5438775"/>
              <a:ext cx="971550" cy="1152525"/>
            </a:xfrm>
            <a:custGeom>
              <a:rect b="b" l="l" r="r" t="t"/>
              <a:pathLst>
                <a:path extrusionOk="0" h="1152525" w="971550">
                  <a:moveTo>
                    <a:pt x="0" y="0"/>
                  </a:moveTo>
                  <a:lnTo>
                    <a:pt x="971550" y="1152525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" name="Google Shape;41;p2"/>
            <p:cNvSpPr/>
            <p:nvPr/>
          </p:nvSpPr>
          <p:spPr>
            <a:xfrm>
              <a:off x="2000250" y="3971925"/>
              <a:ext cx="3867150" cy="857250"/>
            </a:xfrm>
            <a:prstGeom prst="roundRect">
              <a:avLst>
                <a:gd fmla="val 2444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90750" y="4152900"/>
              <a:ext cx="34861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Cambios en las políticas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gubernamentales</a:t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000250" y="5076825"/>
              <a:ext cx="3867150" cy="857250"/>
            </a:xfrm>
            <a:prstGeom prst="roundRect">
              <a:avLst>
                <a:gd fmla="val 2444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190750" y="5257800"/>
              <a:ext cx="34861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Condiciones económicas</a:t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000250" y="6181725"/>
              <a:ext cx="3867150" cy="857250"/>
            </a:xfrm>
            <a:prstGeom prst="roundRect">
              <a:avLst>
                <a:gd fmla="val 2444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90750" y="6362700"/>
              <a:ext cx="34861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Transformaciones sociales</a:t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0525125" y="3971925"/>
              <a:ext cx="3867150" cy="857250"/>
            </a:xfrm>
            <a:prstGeom prst="roundRect">
              <a:avLst>
                <a:gd fmla="val 2444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5625" y="4152900"/>
              <a:ext cx="34861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Innovaciones tecnológicas</a:t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525125" y="5076825"/>
              <a:ext cx="3867150" cy="857250"/>
            </a:xfrm>
            <a:prstGeom prst="roundRect">
              <a:avLst>
                <a:gd fmla="val 2444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0715625" y="5257800"/>
              <a:ext cx="34861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Preocupaciones ambientales</a:t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525125" y="6181725"/>
              <a:ext cx="3867150" cy="857250"/>
            </a:xfrm>
            <a:prstGeom prst="roundRect">
              <a:avLst>
                <a:gd fmla="val 2444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715625" y="6362700"/>
              <a:ext cx="34861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Modificaciones normativas</a:t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305675" y="4257675"/>
              <a:ext cx="2438400" cy="24384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477125" y="5210175"/>
              <a:ext cx="20955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6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PROYECTO</a:t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4859000" y="4010025"/>
              <a:ext cx="2276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Pueden</a:t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4820900" y="4552950"/>
              <a:ext cx="352425" cy="953"/>
            </a:xfrm>
            <a:custGeom>
              <a:rect b="b" l="l" r="r" t="t"/>
              <a:pathLst>
                <a:path extrusionOk="0" h="953"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cap="flat" cmpd="sng" w="38100">
              <a:solidFill>
                <a:srgbClr val="FFD9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7" name="Google Shape;57;p2"/>
            <p:cNvSpPr/>
            <p:nvPr/>
          </p:nvSpPr>
          <p:spPr>
            <a:xfrm>
              <a:off x="15335250" y="4295775"/>
              <a:ext cx="2124075" cy="828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Generar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oportunidades</a:t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4820900" y="5467350"/>
              <a:ext cx="352425" cy="953"/>
            </a:xfrm>
            <a:custGeom>
              <a:rect b="b" l="l" r="r" t="t"/>
              <a:pathLst>
                <a:path extrusionOk="0" h="953"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cap="flat" cmpd="sng" w="38100">
              <a:solidFill>
                <a:srgbClr val="FFD9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9" name="Google Shape;59;p2"/>
            <p:cNvSpPr/>
            <p:nvPr/>
          </p:nvSpPr>
          <p:spPr>
            <a:xfrm>
              <a:off x="15335250" y="5210175"/>
              <a:ext cx="2124075" cy="828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Introducir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restricciones</a:t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4820900" y="6381750"/>
              <a:ext cx="352425" cy="953"/>
            </a:xfrm>
            <a:custGeom>
              <a:rect b="b" l="l" r="r" t="t"/>
              <a:pathLst>
                <a:path extrusionOk="0" h="953"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cap="flat" cmpd="sng" w="38100">
              <a:solidFill>
                <a:srgbClr val="FFD9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1" name="Google Shape;61;p2"/>
            <p:cNvSpPr/>
            <p:nvPr/>
          </p:nvSpPr>
          <p:spPr>
            <a:xfrm>
              <a:off x="15335250" y="6124575"/>
              <a:ext cx="2124075" cy="828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Transformar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necesidades</a:t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Comprender el entorno nos ayuda a tomar decisiones menos dependientes de intuiciones o supuestos.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3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73" name="Google Shape;73;p3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PESTEL: seis dimensiones para leer el macroentorno</a:t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03 / 12</a:t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876425" y="2800350"/>
              <a:ext cx="15240000" cy="115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13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El análisis PESTEL es una herramienta que permite examinar de manera estructurada factores externos que pueden influir positiva o negativamente en una organización, proyecto, producto o servicio.</a:t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943600" y="4657725"/>
              <a:ext cx="3362325" cy="962025"/>
            </a:xfrm>
            <a:custGeom>
              <a:rect b="b" l="l" r="r" t="t"/>
              <a:pathLst>
                <a:path extrusionOk="0" h="962025" w="3362325">
                  <a:moveTo>
                    <a:pt x="0" y="0"/>
                  </a:moveTo>
                  <a:lnTo>
                    <a:pt x="3362325" y="962025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9" name="Google Shape;79;p3"/>
            <p:cNvSpPr/>
            <p:nvPr/>
          </p:nvSpPr>
          <p:spPr>
            <a:xfrm>
              <a:off x="9305925" y="4352925"/>
              <a:ext cx="953" cy="1266825"/>
            </a:xfrm>
            <a:custGeom>
              <a:rect b="b" l="l" r="r" t="t"/>
              <a:pathLst>
                <a:path extrusionOk="0" h="1266825" w="953">
                  <a:moveTo>
                    <a:pt x="0" y="0"/>
                  </a:moveTo>
                  <a:lnTo>
                    <a:pt x="0" y="1266825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0" name="Google Shape;80;p3"/>
            <p:cNvSpPr/>
            <p:nvPr/>
          </p:nvSpPr>
          <p:spPr>
            <a:xfrm>
              <a:off x="9305925" y="4657725"/>
              <a:ext cx="3362325" cy="962025"/>
            </a:xfrm>
            <a:custGeom>
              <a:rect b="b" l="l" r="r" t="t"/>
              <a:pathLst>
                <a:path extrusionOk="0" h="962025" w="3362325">
                  <a:moveTo>
                    <a:pt x="3362325" y="0"/>
                  </a:moveTo>
                  <a:lnTo>
                    <a:pt x="0" y="962025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1" name="Google Shape;81;p3"/>
            <p:cNvSpPr/>
            <p:nvPr/>
          </p:nvSpPr>
          <p:spPr>
            <a:xfrm>
              <a:off x="5943600" y="5619750"/>
              <a:ext cx="3362325" cy="1123950"/>
            </a:xfrm>
            <a:custGeom>
              <a:rect b="b" l="l" r="r" t="t"/>
              <a:pathLst>
                <a:path extrusionOk="0" h="1123950" w="3362325">
                  <a:moveTo>
                    <a:pt x="0" y="1123950"/>
                  </a:moveTo>
                  <a:lnTo>
                    <a:pt x="3362325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2" name="Google Shape;82;p3"/>
            <p:cNvSpPr/>
            <p:nvPr/>
          </p:nvSpPr>
          <p:spPr>
            <a:xfrm>
              <a:off x="9305925" y="5619750"/>
              <a:ext cx="953" cy="1304925"/>
            </a:xfrm>
            <a:custGeom>
              <a:rect b="b" l="l" r="r" t="t"/>
              <a:pathLst>
                <a:path extrusionOk="0" h="1304925" w="953">
                  <a:moveTo>
                    <a:pt x="0" y="1304925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3" name="Google Shape;83;p3"/>
            <p:cNvSpPr/>
            <p:nvPr/>
          </p:nvSpPr>
          <p:spPr>
            <a:xfrm>
              <a:off x="9305925" y="5619750"/>
              <a:ext cx="3362325" cy="1123950"/>
            </a:xfrm>
            <a:custGeom>
              <a:rect b="b" l="l" r="r" t="t"/>
              <a:pathLst>
                <a:path extrusionOk="0" h="1123950" w="3362325">
                  <a:moveTo>
                    <a:pt x="3362325" y="112395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4" name="Google Shape;84;p3"/>
            <p:cNvSpPr/>
            <p:nvPr/>
          </p:nvSpPr>
          <p:spPr>
            <a:xfrm>
              <a:off x="8591550" y="4905375"/>
              <a:ext cx="1428750" cy="14287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667750" y="5438775"/>
              <a:ext cx="127635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71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PROYECTO</a:t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4514850" y="4200525"/>
              <a:ext cx="2876550" cy="809625"/>
            </a:xfrm>
            <a:prstGeom prst="roundRect">
              <a:avLst>
                <a:gd fmla="val 2823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4667250" y="4314825"/>
              <a:ext cx="571500" cy="5715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4667250" y="4419600"/>
              <a:ext cx="571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381625" y="4448175"/>
              <a:ext cx="1924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Política</a:t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7877175" y="3895725"/>
              <a:ext cx="2876550" cy="809625"/>
            </a:xfrm>
            <a:prstGeom prst="roundRect">
              <a:avLst>
                <a:gd fmla="val 2823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8029575" y="4010025"/>
              <a:ext cx="571500" cy="57150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8029575" y="4114800"/>
              <a:ext cx="571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8743950" y="4143375"/>
              <a:ext cx="1924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Económica</a:t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1239500" y="4200525"/>
              <a:ext cx="2876550" cy="809625"/>
            </a:xfrm>
            <a:prstGeom prst="roundRect">
              <a:avLst>
                <a:gd fmla="val 2823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391900" y="4314825"/>
              <a:ext cx="571500" cy="571500"/>
            </a:xfrm>
            <a:prstGeom prst="ellipse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1391900" y="4419600"/>
              <a:ext cx="571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2106275" y="4448175"/>
              <a:ext cx="1924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Social</a:t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514850" y="6286500"/>
              <a:ext cx="2876550" cy="809625"/>
            </a:xfrm>
            <a:prstGeom prst="roundRect">
              <a:avLst>
                <a:gd fmla="val 2823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667250" y="6400800"/>
              <a:ext cx="571500" cy="5715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667250" y="6505575"/>
              <a:ext cx="571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5381625" y="6534150"/>
              <a:ext cx="1924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Tecnológica</a:t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7877175" y="6467475"/>
              <a:ext cx="2876550" cy="809625"/>
            </a:xfrm>
            <a:prstGeom prst="roundRect">
              <a:avLst>
                <a:gd fmla="val 2823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8029575" y="6581775"/>
              <a:ext cx="571500" cy="57150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8029575" y="6686550"/>
              <a:ext cx="571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8743950" y="6715125"/>
              <a:ext cx="1924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Ecológica</a:t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1239500" y="6286500"/>
              <a:ext cx="2876550" cy="809625"/>
            </a:xfrm>
            <a:prstGeom prst="roundRect">
              <a:avLst>
                <a:gd fmla="val 2823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1391900" y="6400800"/>
              <a:ext cx="571500" cy="571500"/>
            </a:xfrm>
            <a:prstGeom prst="ellipse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1391900" y="6505575"/>
              <a:ext cx="571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2106275" y="6534150"/>
              <a:ext cx="1924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Legal</a:t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Su valor no consiste únicamente en identificar acontecimientos externos, sino en analizar qué relación tienen con nuestro proyecto.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4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121" name="Google Shape;121;p4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75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 · ¿Qué decisiones públicas pueden afectar el proyecto?</a:t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04 / 12</a:t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1971675" y="2838450"/>
              <a:ext cx="85725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Qué observamos:</a:t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2047875" y="3743325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286000" y="360997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Políticas públicas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7000875" y="3743325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7239000" y="360997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Prioridades gubernamentales</a:t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2047875" y="4638675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2286000" y="450532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Programas de inversión</a:t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7000875" y="4638675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7239000" y="450532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Políticas tributarias</a:t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2047875" y="5534025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2286000" y="540067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Relaciones internacionales</a:t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7000875" y="5534025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7239000" y="540067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Acuerdos comerciales</a:t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047875" y="6429375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286000" y="629602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Estabilidad institucional</a:t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7000875" y="6429375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7239000" y="6296025"/>
              <a:ext cx="4533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94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Mecanismos de apoyo o regulación</a:t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2573000" y="3038475"/>
              <a:ext cx="4676775" cy="4010025"/>
            </a:xfrm>
            <a:prstGeom prst="roundRect">
              <a:avLst>
                <a:gd fmla="val 6651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14309598" y="3632073"/>
              <a:ext cx="694658" cy="694658"/>
            </a:xfrm>
            <a:prstGeom prst="ellipse">
              <a:avLst/>
            </a:prstGeom>
            <a:noFill/>
            <a:ln cap="flat" cmpd="sng" w="367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14445805" y="3768281"/>
              <a:ext cx="422243" cy="422243"/>
            </a:xfrm>
            <a:prstGeom prst="ellipse">
              <a:avLst/>
            </a:prstGeom>
            <a:noFill/>
            <a:ln cap="flat" cmpd="sng" w="367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14582013" y="3904488"/>
              <a:ext cx="149828" cy="149828"/>
            </a:xfrm>
            <a:prstGeom prst="ellipse">
              <a:avLst/>
            </a:prstGeom>
            <a:noFill/>
            <a:ln cap="flat" cmpd="sng" w="367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14663738" y="3604832"/>
              <a:ext cx="381381" cy="381381"/>
            </a:xfrm>
            <a:custGeom>
              <a:rect b="b" l="l" r="r" t="t"/>
              <a:pathLst>
                <a:path extrusionOk="0" h="381381" w="381381">
                  <a:moveTo>
                    <a:pt x="0" y="381381"/>
                  </a:moveTo>
                  <a:lnTo>
                    <a:pt x="381381" y="0"/>
                  </a:lnTo>
                </a:path>
              </a:pathLst>
            </a:custGeom>
            <a:noFill/>
            <a:ln cap="flat" cmpd="sng" w="408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4"/>
            <p:cNvSpPr/>
            <p:nvPr/>
          </p:nvSpPr>
          <p:spPr>
            <a:xfrm>
              <a:off x="14912667" y="3604832"/>
              <a:ext cx="132451" cy="132451"/>
            </a:xfrm>
            <a:custGeom>
              <a:rect b="b" l="l" r="r" t="t"/>
              <a:pathLst>
                <a:path extrusionOk="0" h="132451" w="132451">
                  <a:moveTo>
                    <a:pt x="100683" y="132451"/>
                  </a:moveTo>
                  <a:lnTo>
                    <a:pt x="132451" y="0"/>
                  </a:lnTo>
                  <a:lnTo>
                    <a:pt x="0" y="31768"/>
                  </a:lnTo>
                </a:path>
              </a:pathLst>
            </a:custGeom>
            <a:noFill/>
            <a:ln cap="flat" cmpd="sng" w="408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8" name="Google Shape;148;p4"/>
            <p:cNvSpPr/>
            <p:nvPr/>
          </p:nvSpPr>
          <p:spPr>
            <a:xfrm>
              <a:off x="12868275" y="4762500"/>
              <a:ext cx="40862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Pregunta orientadora</a:t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2868275" y="5314950"/>
              <a:ext cx="4086225" cy="1514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966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decisión, orientación o condición gubernamental tiene una relación significativa con nuestro proyecto y cuál podría ser su impacto?</a:t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No necesitamos acumular información política; necesitamos identificar la que resulta relevante para nuestras decisiones.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5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161" name="Google Shape;161;p5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6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 · ¿Qué condiciones económicas pueden modificar la viabilidad?</a:t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05 / 12</a:t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1971675" y="2781300"/>
              <a:ext cx="114300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Qué observamos:</a:t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971675" y="3343275"/>
              <a:ext cx="148971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Inflación · Tasas de interés · Empleo · Capacidad adquisitiva · Financiación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Comportamiento de precios · Crecimiento o contracción económica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7486650" y="4438650"/>
              <a:ext cx="4333875" cy="704850"/>
            </a:xfrm>
            <a:prstGeom prst="roundRect">
              <a:avLst>
                <a:gd fmla="val 27027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7629525" y="4610100"/>
              <a:ext cx="4048125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Entorno económico</a:t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5915025" y="4791075"/>
              <a:ext cx="1562100" cy="571500"/>
            </a:xfrm>
            <a:custGeom>
              <a:rect b="b" l="l" r="r" t="t"/>
              <a:pathLst>
                <a:path extrusionOk="0" h="571500" w="1562100">
                  <a:moveTo>
                    <a:pt x="1562100" y="0"/>
                  </a:moveTo>
                  <a:lnTo>
                    <a:pt x="0" y="571500"/>
                  </a:lnTo>
                </a:path>
              </a:pathLst>
            </a:custGeom>
            <a:noFill/>
            <a:ln cap="flat" cmpd="sng" w="3810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0" name="Google Shape;170;p5"/>
            <p:cNvSpPr/>
            <p:nvPr/>
          </p:nvSpPr>
          <p:spPr>
            <a:xfrm>
              <a:off x="5915025" y="5235662"/>
              <a:ext cx="158721" cy="158967"/>
            </a:xfrm>
            <a:custGeom>
              <a:rect b="b" l="l" r="r" t="t"/>
              <a:pathLst>
                <a:path extrusionOk="0" h="158967" w="158721">
                  <a:moveTo>
                    <a:pt x="100562" y="0"/>
                  </a:moveTo>
                  <a:lnTo>
                    <a:pt x="0" y="126913"/>
                  </a:lnTo>
                  <a:lnTo>
                    <a:pt x="158721" y="158967"/>
                  </a:lnTo>
                </a:path>
              </a:pathLst>
            </a:custGeom>
            <a:noFill/>
            <a:ln cap="flat" cmpd="sng" w="3810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1" name="Google Shape;171;p5"/>
            <p:cNvSpPr/>
            <p:nvPr/>
          </p:nvSpPr>
          <p:spPr>
            <a:xfrm>
              <a:off x="11839575" y="4791075"/>
              <a:ext cx="1638300" cy="571500"/>
            </a:xfrm>
            <a:custGeom>
              <a:rect b="b" l="l" r="r" t="t"/>
              <a:pathLst>
                <a:path extrusionOk="0" h="571500" w="1638300">
                  <a:moveTo>
                    <a:pt x="0" y="0"/>
                  </a:moveTo>
                  <a:lnTo>
                    <a:pt x="1638300" y="571500"/>
                  </a:lnTo>
                </a:path>
              </a:pathLst>
            </a:custGeom>
            <a:noFill/>
            <a:ln cap="flat" cmpd="sng" w="38100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2" name="Google Shape;172;p5"/>
            <p:cNvSpPr/>
            <p:nvPr/>
          </p:nvSpPr>
          <p:spPr>
            <a:xfrm>
              <a:off x="13319656" y="5237193"/>
              <a:ext cx="158219" cy="159827"/>
            </a:xfrm>
            <a:custGeom>
              <a:rect b="b" l="l" r="r" t="t"/>
              <a:pathLst>
                <a:path extrusionOk="0" h="159827" w="158219">
                  <a:moveTo>
                    <a:pt x="0" y="159827"/>
                  </a:moveTo>
                  <a:lnTo>
                    <a:pt x="158219" y="125382"/>
                  </a:lnTo>
                  <a:lnTo>
                    <a:pt x="55754" y="0"/>
                  </a:lnTo>
                </a:path>
              </a:pathLst>
            </a:custGeom>
            <a:noFill/>
            <a:ln cap="flat" cmpd="sng" w="38100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3" name="Google Shape;173;p5"/>
            <p:cNvSpPr/>
            <p:nvPr/>
          </p:nvSpPr>
          <p:spPr>
            <a:xfrm>
              <a:off x="2762250" y="5400675"/>
              <a:ext cx="6400800" cy="1847850"/>
            </a:xfrm>
            <a:prstGeom prst="roundRect">
              <a:avLst>
                <a:gd fmla="val 12371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2762250" y="5400675"/>
              <a:ext cx="6400800" cy="9525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3048000" y="5686425"/>
              <a:ext cx="582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Proyecto</a:t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048000" y="6267450"/>
              <a:ext cx="58293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¿Las condiciones económicas modifican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costos, inversión o financiación?</a:t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382250" y="5400675"/>
              <a:ext cx="6581775" cy="1847850"/>
            </a:xfrm>
            <a:prstGeom prst="roundRect">
              <a:avLst>
                <a:gd fmla="val 12371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382250" y="5400675"/>
              <a:ext cx="6581775" cy="9525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668000" y="5686425"/>
              <a:ext cx="60102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Usuarios y actores</a:t>
              </a: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10668000" y="6267450"/>
              <a:ext cx="6010275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¿Modifican el comportamiento de usuarios,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proveedores, aliados o financiadores?</a:t>
              </a: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Una necesidad puede existir aunque las personas no dispongan de recursos suficientes para acceder a la solución.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6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192" name="Google Shape;192;p6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S · Las necesidades también cambian con la sociedad</a:t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06 / 12</a:t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1971675" y="2847975"/>
              <a:ext cx="76200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Qué observamos:</a:t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009775" y="3695700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2247900" y="35623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Cambios demográficos</a:t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6605588" y="3695700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843713" y="35623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Estilos de vida</a:t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2009775" y="4533900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247900" y="44005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Valores culturales</a:t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6605588" y="4533900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843713" y="44005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Creencias</a:t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2009775" y="5372100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2247900" y="52387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Hábitos de consumo</a:t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6605588" y="5372100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6843713" y="52387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Estructuras familiares</a:t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2009775" y="6210300"/>
              <a:ext cx="95250" cy="952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2247900" y="60769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Niveles educativos</a:t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605588" y="6210300"/>
              <a:ext cx="95250" cy="9525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6843713" y="6076950"/>
              <a:ext cx="4176713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Nuevas formas de interacción social</a:t>
              </a: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13287375" y="3162300"/>
              <a:ext cx="1857375" cy="1857375"/>
            </a:xfrm>
            <a:prstGeom prst="ellipse">
              <a:avLst/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14067473" y="3589496"/>
              <a:ext cx="315754" cy="315754"/>
            </a:xfrm>
            <a:prstGeom prst="ellipse">
              <a:avLst/>
            </a:prstGeom>
            <a:noFill/>
            <a:ln cap="flat" cmpd="sng" w="501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13733145" y="3793808"/>
              <a:ext cx="222885" cy="222885"/>
            </a:xfrm>
            <a:prstGeom prst="ellipse">
              <a:avLst/>
            </a:prstGeom>
            <a:noFill/>
            <a:ln cap="flat" cmpd="sng" w="501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14494669" y="3793808"/>
              <a:ext cx="222885" cy="222885"/>
            </a:xfrm>
            <a:prstGeom prst="ellipse">
              <a:avLst/>
            </a:prstGeom>
            <a:noFill/>
            <a:ln cap="flat" cmpd="sng" w="501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13844588" y="4128135"/>
              <a:ext cx="742950" cy="371475"/>
            </a:xfrm>
            <a:custGeom>
              <a:rect b="b" l="l" r="r" t="t"/>
              <a:pathLst>
                <a:path extrusionOk="0" h="371475" w="742950">
                  <a:moveTo>
                    <a:pt x="0" y="371475"/>
                  </a:moveTo>
                  <a:lnTo>
                    <a:pt x="1414" y="339099"/>
                  </a:lnTo>
                  <a:lnTo>
                    <a:pt x="5644" y="306969"/>
                  </a:lnTo>
                  <a:lnTo>
                    <a:pt x="12658" y="275330"/>
                  </a:lnTo>
                  <a:lnTo>
                    <a:pt x="22403" y="244423"/>
                  </a:lnTo>
                  <a:lnTo>
                    <a:pt x="34804" y="214483"/>
                  </a:lnTo>
                  <a:lnTo>
                    <a:pt x="49768" y="185738"/>
                  </a:lnTo>
                  <a:lnTo>
                    <a:pt x="67180" y="158406"/>
                  </a:lnTo>
                  <a:lnTo>
                    <a:pt x="86909" y="132695"/>
                  </a:lnTo>
                  <a:lnTo>
                    <a:pt x="108803" y="108803"/>
                  </a:lnTo>
                  <a:lnTo>
                    <a:pt x="132695" y="86909"/>
                  </a:lnTo>
                  <a:lnTo>
                    <a:pt x="158406" y="67180"/>
                  </a:lnTo>
                  <a:lnTo>
                    <a:pt x="185738" y="49768"/>
                  </a:lnTo>
                  <a:lnTo>
                    <a:pt x="214483" y="34804"/>
                  </a:lnTo>
                  <a:lnTo>
                    <a:pt x="244423" y="22403"/>
                  </a:lnTo>
                  <a:lnTo>
                    <a:pt x="275330" y="12658"/>
                  </a:lnTo>
                  <a:lnTo>
                    <a:pt x="306969" y="5644"/>
                  </a:lnTo>
                  <a:lnTo>
                    <a:pt x="339099" y="1414"/>
                  </a:lnTo>
                  <a:lnTo>
                    <a:pt x="371475" y="0"/>
                  </a:lnTo>
                  <a:lnTo>
                    <a:pt x="403851" y="1414"/>
                  </a:lnTo>
                  <a:lnTo>
                    <a:pt x="435981" y="5644"/>
                  </a:lnTo>
                  <a:lnTo>
                    <a:pt x="467620" y="12658"/>
                  </a:lnTo>
                  <a:lnTo>
                    <a:pt x="498527" y="22403"/>
                  </a:lnTo>
                  <a:lnTo>
                    <a:pt x="528467" y="34804"/>
                  </a:lnTo>
                  <a:lnTo>
                    <a:pt x="557213" y="49768"/>
                  </a:lnTo>
                  <a:lnTo>
                    <a:pt x="584544" y="67180"/>
                  </a:lnTo>
                  <a:lnTo>
                    <a:pt x="610255" y="86909"/>
                  </a:lnTo>
                  <a:lnTo>
                    <a:pt x="634147" y="108803"/>
                  </a:lnTo>
                  <a:lnTo>
                    <a:pt x="656041" y="132695"/>
                  </a:lnTo>
                  <a:lnTo>
                    <a:pt x="675770" y="158406"/>
                  </a:lnTo>
                  <a:lnTo>
                    <a:pt x="693182" y="185738"/>
                  </a:lnTo>
                  <a:lnTo>
                    <a:pt x="708146" y="214483"/>
                  </a:lnTo>
                  <a:lnTo>
                    <a:pt x="720547" y="244423"/>
                  </a:lnTo>
                  <a:lnTo>
                    <a:pt x="730292" y="275330"/>
                  </a:lnTo>
                  <a:lnTo>
                    <a:pt x="737306" y="306969"/>
                  </a:lnTo>
                  <a:lnTo>
                    <a:pt x="741536" y="339099"/>
                  </a:lnTo>
                  <a:lnTo>
                    <a:pt x="742950" y="371475"/>
                  </a:lnTo>
                </a:path>
              </a:pathLst>
            </a:custGeom>
            <a:noFill/>
            <a:ln cap="flat" cmpd="sng" w="501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8" name="Google Shape;218;p6"/>
            <p:cNvSpPr/>
            <p:nvPr/>
          </p:nvSpPr>
          <p:spPr>
            <a:xfrm>
              <a:off x="13640276" y="4165324"/>
              <a:ext cx="261589" cy="222843"/>
            </a:xfrm>
            <a:custGeom>
              <a:rect b="b" l="l" r="r" t="t"/>
              <a:pathLst>
                <a:path extrusionOk="0" h="222843" w="261589">
                  <a:moveTo>
                    <a:pt x="0" y="222843"/>
                  </a:moveTo>
                  <a:lnTo>
                    <a:pt x="262" y="212042"/>
                  </a:lnTo>
                  <a:lnTo>
                    <a:pt x="1047" y="201265"/>
                  </a:lnTo>
                  <a:lnTo>
                    <a:pt x="2353" y="190540"/>
                  </a:lnTo>
                  <a:lnTo>
                    <a:pt x="4178" y="179890"/>
                  </a:lnTo>
                  <a:lnTo>
                    <a:pt x="6516" y="169342"/>
                  </a:lnTo>
                  <a:lnTo>
                    <a:pt x="9364" y="158919"/>
                  </a:lnTo>
                  <a:lnTo>
                    <a:pt x="12712" y="148646"/>
                  </a:lnTo>
                  <a:lnTo>
                    <a:pt x="16555" y="138548"/>
                  </a:lnTo>
                  <a:lnTo>
                    <a:pt x="20883" y="128648"/>
                  </a:lnTo>
                  <a:lnTo>
                    <a:pt x="25685" y="118969"/>
                  </a:lnTo>
                  <a:lnTo>
                    <a:pt x="30951" y="109534"/>
                  </a:lnTo>
                  <a:lnTo>
                    <a:pt x="36667" y="100366"/>
                  </a:lnTo>
                  <a:lnTo>
                    <a:pt x="42822" y="91485"/>
                  </a:lnTo>
                  <a:lnTo>
                    <a:pt x="49399" y="82913"/>
                  </a:lnTo>
                  <a:lnTo>
                    <a:pt x="56384" y="74670"/>
                  </a:lnTo>
                  <a:lnTo>
                    <a:pt x="63761" y="66775"/>
                  </a:lnTo>
                  <a:lnTo>
                    <a:pt x="71511" y="59247"/>
                  </a:lnTo>
                  <a:lnTo>
                    <a:pt x="79617" y="52103"/>
                  </a:lnTo>
                  <a:lnTo>
                    <a:pt x="88060" y="45361"/>
                  </a:lnTo>
                  <a:lnTo>
                    <a:pt x="96820" y="39035"/>
                  </a:lnTo>
                  <a:lnTo>
                    <a:pt x="105876" y="33142"/>
                  </a:lnTo>
                  <a:lnTo>
                    <a:pt x="115206" y="27694"/>
                  </a:lnTo>
                  <a:lnTo>
                    <a:pt x="124790" y="22705"/>
                  </a:lnTo>
                  <a:lnTo>
                    <a:pt x="134605" y="18186"/>
                  </a:lnTo>
                  <a:lnTo>
                    <a:pt x="144627" y="14149"/>
                  </a:lnTo>
                  <a:lnTo>
                    <a:pt x="154832" y="10601"/>
                  </a:lnTo>
                  <a:lnTo>
                    <a:pt x="165198" y="7553"/>
                  </a:lnTo>
                  <a:lnTo>
                    <a:pt x="175699" y="5010"/>
                  </a:lnTo>
                  <a:lnTo>
                    <a:pt x="186312" y="2979"/>
                  </a:lnTo>
                  <a:lnTo>
                    <a:pt x="197010" y="1465"/>
                  </a:lnTo>
                  <a:lnTo>
                    <a:pt x="207769" y="471"/>
                  </a:lnTo>
                  <a:lnTo>
                    <a:pt x="218563" y="0"/>
                  </a:lnTo>
                  <a:lnTo>
                    <a:pt x="229368" y="52"/>
                  </a:lnTo>
                  <a:lnTo>
                    <a:pt x="240157" y="628"/>
                  </a:lnTo>
                  <a:lnTo>
                    <a:pt x="250906" y="1726"/>
                  </a:lnTo>
                  <a:lnTo>
                    <a:pt x="261589" y="3344"/>
                  </a:lnTo>
                </a:path>
              </a:pathLst>
            </a:custGeom>
            <a:noFill/>
            <a:ln cap="flat" cmpd="sng" w="501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9" name="Google Shape;219;p6"/>
            <p:cNvSpPr/>
            <p:nvPr/>
          </p:nvSpPr>
          <p:spPr>
            <a:xfrm>
              <a:off x="14567408" y="4165324"/>
              <a:ext cx="261589" cy="222843"/>
            </a:xfrm>
            <a:custGeom>
              <a:rect b="b" l="l" r="r" t="t"/>
              <a:pathLst>
                <a:path extrusionOk="0" h="222843" w="261589">
                  <a:moveTo>
                    <a:pt x="0" y="3344"/>
                  </a:moveTo>
                  <a:lnTo>
                    <a:pt x="10683" y="1726"/>
                  </a:lnTo>
                  <a:lnTo>
                    <a:pt x="21432" y="628"/>
                  </a:lnTo>
                  <a:lnTo>
                    <a:pt x="32221" y="52"/>
                  </a:lnTo>
                  <a:lnTo>
                    <a:pt x="43026" y="0"/>
                  </a:lnTo>
                  <a:lnTo>
                    <a:pt x="53820" y="471"/>
                  </a:lnTo>
                  <a:lnTo>
                    <a:pt x="64579" y="1465"/>
                  </a:lnTo>
                  <a:lnTo>
                    <a:pt x="75277" y="2979"/>
                  </a:lnTo>
                  <a:lnTo>
                    <a:pt x="85889" y="5010"/>
                  </a:lnTo>
                  <a:lnTo>
                    <a:pt x="96390" y="7553"/>
                  </a:lnTo>
                  <a:lnTo>
                    <a:pt x="106756" y="10601"/>
                  </a:lnTo>
                  <a:lnTo>
                    <a:pt x="116962" y="14149"/>
                  </a:lnTo>
                  <a:lnTo>
                    <a:pt x="126984" y="18186"/>
                  </a:lnTo>
                  <a:lnTo>
                    <a:pt x="136798" y="22705"/>
                  </a:lnTo>
                  <a:lnTo>
                    <a:pt x="146382" y="27694"/>
                  </a:lnTo>
                  <a:lnTo>
                    <a:pt x="155713" y="33142"/>
                  </a:lnTo>
                  <a:lnTo>
                    <a:pt x="164769" y="39035"/>
                  </a:lnTo>
                  <a:lnTo>
                    <a:pt x="173528" y="45361"/>
                  </a:lnTo>
                  <a:lnTo>
                    <a:pt x="181971" y="52103"/>
                  </a:lnTo>
                  <a:lnTo>
                    <a:pt x="190077" y="59247"/>
                  </a:lnTo>
                  <a:lnTo>
                    <a:pt x="197828" y="66775"/>
                  </a:lnTo>
                  <a:lnTo>
                    <a:pt x="205204" y="74670"/>
                  </a:lnTo>
                  <a:lnTo>
                    <a:pt x="212189" y="82913"/>
                  </a:lnTo>
                  <a:lnTo>
                    <a:pt x="218767" y="91485"/>
                  </a:lnTo>
                  <a:lnTo>
                    <a:pt x="224921" y="100366"/>
                  </a:lnTo>
                  <a:lnTo>
                    <a:pt x="230638" y="109534"/>
                  </a:lnTo>
                  <a:lnTo>
                    <a:pt x="235904" y="118969"/>
                  </a:lnTo>
                  <a:lnTo>
                    <a:pt x="240706" y="128648"/>
                  </a:lnTo>
                  <a:lnTo>
                    <a:pt x="245034" y="138548"/>
                  </a:lnTo>
                  <a:lnTo>
                    <a:pt x="248876" y="148646"/>
                  </a:lnTo>
                  <a:lnTo>
                    <a:pt x="252225" y="158919"/>
                  </a:lnTo>
                  <a:lnTo>
                    <a:pt x="255072" y="169342"/>
                  </a:lnTo>
                  <a:lnTo>
                    <a:pt x="257411" y="179890"/>
                  </a:lnTo>
                  <a:lnTo>
                    <a:pt x="259235" y="190540"/>
                  </a:lnTo>
                  <a:lnTo>
                    <a:pt x="260542" y="201265"/>
                  </a:lnTo>
                  <a:lnTo>
                    <a:pt x="261327" y="212042"/>
                  </a:lnTo>
                  <a:lnTo>
                    <a:pt x="261589" y="222843"/>
                  </a:lnTo>
                </a:path>
              </a:pathLst>
            </a:custGeom>
            <a:noFill/>
            <a:ln cap="flat" cmpd="sng" w="501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0" name="Google Shape;220;p6"/>
            <p:cNvSpPr/>
            <p:nvPr/>
          </p:nvSpPr>
          <p:spPr>
            <a:xfrm>
              <a:off x="11696700" y="5162550"/>
              <a:ext cx="5095875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6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Los usuarios no existen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6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 manera aislada</a:t>
              </a: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11525250" y="6200775"/>
              <a:ext cx="5486400" cy="1057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Sus comportamientos están relacionados con el entorno social y cultural del que forman parte.</a:t>
              </a: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¿Qué transformación social podría cambiar las necesidades, expectativas o comportamientos relacionados con nuestro proyecto?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7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233" name="Google Shape;233;p7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6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T · Tecnología: oportunidad, pero también posible barrera</a:t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07 / 12</a:t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1971675" y="2781300"/>
              <a:ext cx="115252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Qué observamos:</a:t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1971675" y="3276600"/>
              <a:ext cx="15001875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Digitalización · Automatización · Acceso a internet · Disponibilidad de dispositivos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Nuevas plataformas · Costos de adopción · Velocidad de obsolescencia</a:t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2181225" y="4581525"/>
              <a:ext cx="6657975" cy="2409825"/>
            </a:xfrm>
            <a:prstGeom prst="roundRect">
              <a:avLst>
                <a:gd fmla="val 9486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2181225" y="4581525"/>
              <a:ext cx="6657975" cy="9525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2466975" y="4867275"/>
              <a:ext cx="60864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OPORTUNIDAD</a:t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2466975" y="5448300"/>
              <a:ext cx="6086475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Simplificar procesos · Ampliar cobertura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Disminuir costos · Crear nuevas soluciones</a:t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10477500" y="4581525"/>
              <a:ext cx="6667500" cy="2409825"/>
            </a:xfrm>
            <a:prstGeom prst="roundRect">
              <a:avLst>
                <a:gd fmla="val 9486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10477500" y="4581525"/>
              <a:ext cx="6667500" cy="9525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10763250" y="4867275"/>
              <a:ext cx="609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BARRERA</a:t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10763250" y="5448300"/>
              <a:ext cx="60960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Falta de conectividad · Dispositivos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Conocimientos · Habilidades</a:t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9134475" y="5676900"/>
              <a:ext cx="990600" cy="953"/>
            </a:xfrm>
            <a:custGeom>
              <a:rect b="b" l="l" r="r" t="t"/>
              <a:pathLst>
                <a:path extrusionOk="0" h="953"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cap="flat" cmpd="sng" w="476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8" name="Google Shape;248;p7"/>
            <p:cNvSpPr/>
            <p:nvPr/>
          </p:nvSpPr>
          <p:spPr>
            <a:xfrm>
              <a:off x="9978910" y="5587285"/>
              <a:ext cx="146165" cy="179229"/>
            </a:xfrm>
            <a:custGeom>
              <a:rect b="b" l="l" r="r" t="t"/>
              <a:pathLst>
                <a:path extrusionOk="0" h="179229" w="146165">
                  <a:moveTo>
                    <a:pt x="0" y="179229"/>
                  </a:moveTo>
                  <a:lnTo>
                    <a:pt x="146165" y="89615"/>
                  </a:lnTo>
                  <a:lnTo>
                    <a:pt x="0" y="0"/>
                  </a:lnTo>
                </a:path>
              </a:pathLst>
            </a:custGeom>
            <a:noFill/>
            <a:ln cap="flat" cmpd="sng" w="476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9" name="Google Shape;249;p7"/>
            <p:cNvSpPr/>
            <p:nvPr/>
          </p:nvSpPr>
          <p:spPr>
            <a:xfrm>
              <a:off x="9134475" y="5981700"/>
              <a:ext cx="990600" cy="953"/>
            </a:xfrm>
            <a:custGeom>
              <a:rect b="b" l="l" r="r" t="t"/>
              <a:pathLst>
                <a:path extrusionOk="0" h="953" w="990600">
                  <a:moveTo>
                    <a:pt x="9906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0" name="Google Shape;250;p7"/>
            <p:cNvSpPr/>
            <p:nvPr/>
          </p:nvSpPr>
          <p:spPr>
            <a:xfrm>
              <a:off x="9134475" y="5892085"/>
              <a:ext cx="146165" cy="179229"/>
            </a:xfrm>
            <a:custGeom>
              <a:rect b="b" l="l" r="r" t="t"/>
              <a:pathLst>
                <a:path extrusionOk="0" h="179229" w="146165">
                  <a:moveTo>
                    <a:pt x="146165" y="0"/>
                  </a:moveTo>
                  <a:lnTo>
                    <a:pt x="0" y="89615"/>
                  </a:lnTo>
                  <a:lnTo>
                    <a:pt x="146165" y="179229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1" name="Google Shape;251;p7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Incorporar tecnología no significa innovar automáticamente.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Debemos analizar si realmente responde al contexto y contribuye a resolver la necesidad identificada.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10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262" name="Google Shape;262;p10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6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 · El impacto ambiental también forma parte del diagnóstico</a:t>
              </a: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08 / 12</a:t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1971675" y="2762250"/>
              <a:ext cx="1114425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Qué observamos:</a:t>
              </a: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1971675" y="3248025"/>
              <a:ext cx="15097125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Recursos naturales · Residuos · Consumo energético · Emisiones · Materias primas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Condiciones climáticas · Sostenibilidad · Responsabilidad ambiental</a:t>
              </a: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2085975" y="4400550"/>
              <a:ext cx="142875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Impactos que debemos anticipar</a:t>
              </a: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2076450" y="5019675"/>
              <a:ext cx="2676525" cy="800100"/>
            </a:xfrm>
            <a:prstGeom prst="roundRect">
              <a:avLst>
                <a:gd fmla="val 2619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2171700" y="5238750"/>
              <a:ext cx="2486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4810125" y="5419725"/>
              <a:ext cx="276225" cy="953"/>
            </a:xfrm>
            <a:custGeom>
              <a:rect b="b" l="l" r="r" t="t"/>
              <a:pathLst>
                <a:path extrusionOk="0" h="953" w="2762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2" name="Google Shape;272;p10"/>
            <p:cNvSpPr/>
            <p:nvPr/>
          </p:nvSpPr>
          <p:spPr>
            <a:xfrm>
              <a:off x="5162550" y="5019675"/>
              <a:ext cx="2676525" cy="800100"/>
            </a:xfrm>
            <a:prstGeom prst="roundRect">
              <a:avLst>
                <a:gd fmla="val 2619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5257800" y="5238750"/>
              <a:ext cx="2486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Transporte</a:t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7896225" y="5419725"/>
              <a:ext cx="276225" cy="953"/>
            </a:xfrm>
            <a:custGeom>
              <a:rect b="b" l="l" r="r" t="t"/>
              <a:pathLst>
                <a:path extrusionOk="0" h="953" w="2762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5" name="Google Shape;275;p10"/>
            <p:cNvSpPr/>
            <p:nvPr/>
          </p:nvSpPr>
          <p:spPr>
            <a:xfrm>
              <a:off x="8248650" y="5019675"/>
              <a:ext cx="2676525" cy="800100"/>
            </a:xfrm>
            <a:prstGeom prst="roundRect">
              <a:avLst>
                <a:gd fmla="val 2619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8343900" y="5238750"/>
              <a:ext cx="2486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Empaques</a:t>
              </a: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10982325" y="5419725"/>
              <a:ext cx="276225" cy="953"/>
            </a:xfrm>
            <a:custGeom>
              <a:rect b="b" l="l" r="r" t="t"/>
              <a:pathLst>
                <a:path extrusionOk="0" h="953" w="2762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8" name="Google Shape;278;p10"/>
            <p:cNvSpPr/>
            <p:nvPr/>
          </p:nvSpPr>
          <p:spPr>
            <a:xfrm>
              <a:off x="11334750" y="5019675"/>
              <a:ext cx="2676525" cy="800100"/>
            </a:xfrm>
            <a:prstGeom prst="roundRect">
              <a:avLst>
                <a:gd fmla="val 2619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11430000" y="5238750"/>
              <a:ext cx="2486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Infraestructura</a:t>
              </a:r>
              <a:endParaRPr/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14068425" y="5419725"/>
              <a:ext cx="276225" cy="953"/>
            </a:xfrm>
            <a:custGeom>
              <a:rect b="b" l="l" r="r" t="t"/>
              <a:pathLst>
                <a:path extrusionOk="0" h="953" w="2762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1" name="Google Shape;281;p10"/>
            <p:cNvSpPr/>
            <p:nvPr/>
          </p:nvSpPr>
          <p:spPr>
            <a:xfrm>
              <a:off x="14420850" y="5019675"/>
              <a:ext cx="2676525" cy="800100"/>
            </a:xfrm>
            <a:prstGeom prst="roundRect">
              <a:avLst>
                <a:gd fmla="val 2619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14516100" y="5238750"/>
              <a:ext cx="2486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Consumo</a:t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2724150" y="6172200"/>
              <a:ext cx="14249400" cy="1181100"/>
            </a:xfrm>
            <a:prstGeom prst="roundRect">
              <a:avLst>
                <a:gd fmla="val 1935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3028950" y="6305550"/>
              <a:ext cx="1348740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Oportunidades que pueden aparecer:</a:t>
              </a: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3028950" y="6743700"/>
              <a:ext cx="135255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901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Nuevas preferencias · Políticas de sostenibilidad · Optimización de recursos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901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Nuevos productos y servicios</a:t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La dimensión ecológica no pertenece exclusivamente a los proyectos ambientales.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11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297" name="Google Shape;297;p11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 · ¿Qué reglas condicionan lo que podemos hacer?</a:t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09 / 12</a:t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1971675" y="2781300"/>
              <a:ext cx="11620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Qué observamos:</a:t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1971675" y="3286125"/>
              <a:ext cx="151447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Normas laborales · Comerciales · Tributarias · Sanitarias · Ambientales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Protección al consumidor · Propiedad intelectual · Tratamiento de datos · Licencias y permisos</a:t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724400" y="4495800"/>
              <a:ext cx="9715500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7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Importante: Política ≠ Legal</a:t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2733675" y="5324475"/>
              <a:ext cx="5857875" cy="1809750"/>
            </a:xfrm>
            <a:prstGeom prst="roundRect">
              <a:avLst>
                <a:gd fmla="val 1263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2733675" y="5324475"/>
              <a:ext cx="5857875" cy="9525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3019425" y="5610225"/>
              <a:ext cx="52863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Política</a:t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3019425" y="6191250"/>
              <a:ext cx="5286375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Orientaciones, decisiones 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prioridades gubernamentales.</a:t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9115425" y="5705475"/>
              <a:ext cx="10477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60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≠</a:t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10677525" y="5324475"/>
              <a:ext cx="6162675" cy="1809750"/>
            </a:xfrm>
            <a:prstGeom prst="roundRect">
              <a:avLst>
                <a:gd fmla="val 1263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10677525" y="5324475"/>
              <a:ext cx="6162675" cy="9525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10963275" y="5610225"/>
              <a:ext cx="55911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Legal</a:t>
              </a:r>
              <a:endParaRPr/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10963275" y="6191250"/>
              <a:ext cx="5591175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Reglas formales que regulan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determinadas actividades.</a:t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Una propuesta puede ser atractiva técnica o comercialmente y, aun así, enfrentar dificultades si desconoce los requisitos necesarios para operar legalmente.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12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324" name="Google Shape;324;p12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435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Identificar no es suficiente</a:t>
              </a:r>
              <a:endParaRPr/>
            </a:p>
          </p:txBody>
        </p:sp>
        <p:sp>
          <p:nvSpPr>
            <p:cNvPr id="326" name="Google Shape;326;p12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10 / 12</a:t>
              </a:r>
              <a:endParaRPr/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3209925" y="3295650"/>
              <a:ext cx="953" cy="209550"/>
            </a:xfrm>
            <a:custGeom>
              <a:rect b="b" l="l" r="r" t="t"/>
              <a:pathLst>
                <a:path extrusionOk="0" h="209550" w="953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9" name="Google Shape;329;p12"/>
            <p:cNvSpPr/>
            <p:nvPr/>
          </p:nvSpPr>
          <p:spPr>
            <a:xfrm>
              <a:off x="3160139" y="3423997"/>
              <a:ext cx="99572" cy="81203"/>
            </a:xfrm>
            <a:custGeom>
              <a:rect b="b" l="l" r="r" t="t"/>
              <a:pathLst>
                <a:path extrusionOk="0" h="81203" w="99572">
                  <a:moveTo>
                    <a:pt x="0" y="0"/>
                  </a:moveTo>
                  <a:lnTo>
                    <a:pt x="49786" y="81203"/>
                  </a:lnTo>
                  <a:lnTo>
                    <a:pt x="99572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0" name="Google Shape;330;p12"/>
            <p:cNvSpPr/>
            <p:nvPr/>
          </p:nvSpPr>
          <p:spPr>
            <a:xfrm>
              <a:off x="2867025" y="2619375"/>
              <a:ext cx="685800" cy="6858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2867025" y="2733675"/>
              <a:ext cx="6858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8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3962400" y="2571750"/>
              <a:ext cx="12906375" cy="838200"/>
            </a:xfrm>
            <a:prstGeom prst="roundRect">
              <a:avLst>
                <a:gd fmla="val 2386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4257675" y="2790825"/>
              <a:ext cx="44767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Identificamos el factor</a:t>
              </a:r>
              <a:endParaRPr/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9077325" y="2733675"/>
              <a:ext cx="953" cy="504825"/>
            </a:xfrm>
            <a:custGeom>
              <a:rect b="b" l="l" r="r" t="t"/>
              <a:pathLst>
                <a:path extrusionOk="0" h="504825" w="953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cap="flat" cmpd="sng" w="1905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5" name="Google Shape;335;p12"/>
            <p:cNvSpPr/>
            <p:nvPr/>
          </p:nvSpPr>
          <p:spPr>
            <a:xfrm>
              <a:off x="9439275" y="2733675"/>
              <a:ext cx="7105650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está ocurriendo?</a:t>
              </a:r>
              <a:endParaRPr/>
            </a:p>
          </p:txBody>
        </p:sp>
        <p:sp>
          <p:nvSpPr>
            <p:cNvPr id="336" name="Google Shape;336;p12"/>
            <p:cNvSpPr/>
            <p:nvPr/>
          </p:nvSpPr>
          <p:spPr>
            <a:xfrm>
              <a:off x="3209925" y="4248150"/>
              <a:ext cx="953" cy="209550"/>
            </a:xfrm>
            <a:custGeom>
              <a:rect b="b" l="l" r="r" t="t"/>
              <a:pathLst>
                <a:path extrusionOk="0" h="209550" w="953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cap="flat" cmpd="sng" w="2857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7" name="Google Shape;337;p12"/>
            <p:cNvSpPr/>
            <p:nvPr/>
          </p:nvSpPr>
          <p:spPr>
            <a:xfrm>
              <a:off x="3160139" y="4376497"/>
              <a:ext cx="99572" cy="81203"/>
            </a:xfrm>
            <a:custGeom>
              <a:rect b="b" l="l" r="r" t="t"/>
              <a:pathLst>
                <a:path extrusionOk="0" h="81203" w="99572">
                  <a:moveTo>
                    <a:pt x="0" y="0"/>
                  </a:moveTo>
                  <a:lnTo>
                    <a:pt x="49786" y="81203"/>
                  </a:lnTo>
                  <a:lnTo>
                    <a:pt x="99572" y="0"/>
                  </a:lnTo>
                </a:path>
              </a:pathLst>
            </a:custGeom>
            <a:noFill/>
            <a:ln cap="flat" cmpd="sng" w="2857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38" name="Google Shape;338;p12"/>
            <p:cNvSpPr/>
            <p:nvPr/>
          </p:nvSpPr>
          <p:spPr>
            <a:xfrm>
              <a:off x="2867025" y="3571875"/>
              <a:ext cx="685800" cy="68580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2"/>
            <p:cNvSpPr/>
            <p:nvPr/>
          </p:nvSpPr>
          <p:spPr>
            <a:xfrm>
              <a:off x="2867025" y="3686175"/>
              <a:ext cx="6858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8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40" name="Google Shape;340;p12"/>
            <p:cNvSpPr/>
            <p:nvPr/>
          </p:nvSpPr>
          <p:spPr>
            <a:xfrm>
              <a:off x="3962400" y="3524250"/>
              <a:ext cx="12906375" cy="838200"/>
            </a:xfrm>
            <a:prstGeom prst="roundRect">
              <a:avLst>
                <a:gd fmla="val 2386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4257675" y="3743325"/>
              <a:ext cx="44767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Analizamos su relación</a:t>
              </a:r>
              <a:endParaRPr/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9077325" y="3686175"/>
              <a:ext cx="953" cy="504825"/>
            </a:xfrm>
            <a:custGeom>
              <a:rect b="b" l="l" r="r" t="t"/>
              <a:pathLst>
                <a:path extrusionOk="0" h="504825" w="953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cap="flat" cmpd="sng" w="1905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3" name="Google Shape;343;p12"/>
            <p:cNvSpPr/>
            <p:nvPr/>
          </p:nvSpPr>
          <p:spPr>
            <a:xfrm>
              <a:off x="9439275" y="3686175"/>
              <a:ext cx="7105650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¿Cómo puede afectar nuestro proyecto?</a:t>
              </a:r>
              <a:endParaRPr/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3209925" y="5200650"/>
              <a:ext cx="953" cy="209550"/>
            </a:xfrm>
            <a:custGeom>
              <a:rect b="b" l="l" r="r" t="t"/>
              <a:pathLst>
                <a:path extrusionOk="0" h="209550" w="953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5" name="Google Shape;345;p12"/>
            <p:cNvSpPr/>
            <p:nvPr/>
          </p:nvSpPr>
          <p:spPr>
            <a:xfrm>
              <a:off x="3160139" y="5328997"/>
              <a:ext cx="99572" cy="81203"/>
            </a:xfrm>
            <a:custGeom>
              <a:rect b="b" l="l" r="r" t="t"/>
              <a:pathLst>
                <a:path extrusionOk="0" h="81203" w="99572">
                  <a:moveTo>
                    <a:pt x="0" y="0"/>
                  </a:moveTo>
                  <a:lnTo>
                    <a:pt x="49786" y="81203"/>
                  </a:lnTo>
                  <a:lnTo>
                    <a:pt x="99572" y="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46" name="Google Shape;346;p12"/>
            <p:cNvSpPr/>
            <p:nvPr/>
          </p:nvSpPr>
          <p:spPr>
            <a:xfrm>
              <a:off x="2867025" y="4524375"/>
              <a:ext cx="685800" cy="685800"/>
            </a:xfrm>
            <a:prstGeom prst="ellipse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2867025" y="4638675"/>
              <a:ext cx="6858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8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3962400" y="4476750"/>
              <a:ext cx="12906375" cy="838200"/>
            </a:xfrm>
            <a:prstGeom prst="roundRect">
              <a:avLst>
                <a:gd fmla="val 2386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4257675" y="4695825"/>
              <a:ext cx="44767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Interpretamos</a:t>
              </a:r>
              <a:endParaRPr/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9077325" y="4638675"/>
              <a:ext cx="953" cy="504825"/>
            </a:xfrm>
            <a:custGeom>
              <a:rect b="b" l="l" r="r" t="t"/>
              <a:pathLst>
                <a:path extrusionOk="0" h="504825" w="953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cap="flat" cmpd="sng" w="1905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1" name="Google Shape;351;p12"/>
            <p:cNvSpPr/>
            <p:nvPr/>
          </p:nvSpPr>
          <p:spPr>
            <a:xfrm>
              <a:off x="9439275" y="4638675"/>
              <a:ext cx="7105650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¿Representa una oportunidad, amenaza,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condición favorable o restricción?</a:t>
              </a:r>
              <a:endParaRPr/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3209925" y="6153150"/>
              <a:ext cx="953" cy="209550"/>
            </a:xfrm>
            <a:custGeom>
              <a:rect b="b" l="l" r="r" t="t"/>
              <a:pathLst>
                <a:path extrusionOk="0" h="209550" w="953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3" name="Google Shape;353;p12"/>
            <p:cNvSpPr/>
            <p:nvPr/>
          </p:nvSpPr>
          <p:spPr>
            <a:xfrm>
              <a:off x="3160139" y="6281497"/>
              <a:ext cx="99572" cy="81203"/>
            </a:xfrm>
            <a:custGeom>
              <a:rect b="b" l="l" r="r" t="t"/>
              <a:pathLst>
                <a:path extrusionOk="0" h="81203" w="99572">
                  <a:moveTo>
                    <a:pt x="0" y="0"/>
                  </a:moveTo>
                  <a:lnTo>
                    <a:pt x="49786" y="81203"/>
                  </a:lnTo>
                  <a:lnTo>
                    <a:pt x="99572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4" name="Google Shape;354;p12"/>
            <p:cNvSpPr/>
            <p:nvPr/>
          </p:nvSpPr>
          <p:spPr>
            <a:xfrm>
              <a:off x="2867025" y="5476875"/>
              <a:ext cx="685800" cy="6858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2"/>
            <p:cNvSpPr/>
            <p:nvPr/>
          </p:nvSpPr>
          <p:spPr>
            <a:xfrm>
              <a:off x="2867025" y="5591175"/>
              <a:ext cx="6858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8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3962400" y="5429250"/>
              <a:ext cx="12906375" cy="838200"/>
            </a:xfrm>
            <a:prstGeom prst="roundRect">
              <a:avLst>
                <a:gd fmla="val 23864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4257675" y="5648325"/>
              <a:ext cx="44767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Valoramos</a:t>
              </a:r>
              <a:endParaRPr/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9077325" y="5591175"/>
              <a:ext cx="953" cy="504825"/>
            </a:xfrm>
            <a:custGeom>
              <a:rect b="b" l="l" r="r" t="t"/>
              <a:pathLst>
                <a:path extrusionOk="0" h="504825" w="953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cap="flat" cmpd="sng" w="1905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9" name="Google Shape;359;p12"/>
            <p:cNvSpPr/>
            <p:nvPr/>
          </p:nvSpPr>
          <p:spPr>
            <a:xfrm>
              <a:off x="9439275" y="5591175"/>
              <a:ext cx="7105650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impacto puede tener y en qué horizonte temporal?</a:t>
              </a:r>
              <a:endParaRPr/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2867025" y="6429375"/>
              <a:ext cx="685800" cy="685800"/>
            </a:xfrm>
            <a:prstGeom prst="ellipse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2867025" y="6543675"/>
              <a:ext cx="6858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8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3962400" y="6381750"/>
              <a:ext cx="12906375" cy="838200"/>
            </a:xfrm>
            <a:prstGeom prst="roundRect">
              <a:avLst>
                <a:gd fmla="val 23864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4257675" y="6600825"/>
              <a:ext cx="44767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Decidimos</a:t>
              </a:r>
              <a:endParaRPr/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9077325" y="6543675"/>
              <a:ext cx="953" cy="504825"/>
            </a:xfrm>
            <a:custGeom>
              <a:rect b="b" l="l" r="r" t="t"/>
              <a:pathLst>
                <a:path extrusionOk="0" h="504825" w="953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cap="flat" cmpd="sng" w="1905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5" name="Google Shape;365;p12"/>
            <p:cNvSpPr/>
            <p:nvPr/>
          </p:nvSpPr>
          <p:spPr>
            <a:xfrm>
              <a:off x="9439275" y="6543675"/>
              <a:ext cx="7105650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debemos aprovechar, prevenir, ajustar o estudiar?</a:t>
              </a:r>
              <a:endParaRPr/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2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Una recopilación extensa de datos no garantiza por sí misma conocimiento útil para el proyecto.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13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377" name="Google Shape;377;p13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8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PESTEL no termina cuando completamos seis casillas</a:t>
              </a: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11 / 12</a:t>
              </a: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971675" y="2790825"/>
              <a:ext cx="146685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8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Los factores del macroentorno son dinámicos.</a:t>
              </a: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6610350" y="4267200"/>
              <a:ext cx="1247775" cy="952500"/>
            </a:xfrm>
            <a:custGeom>
              <a:rect b="b" l="l" r="r" t="t"/>
              <a:pathLst>
                <a:path extrusionOk="0" h="952500" w="1247775">
                  <a:moveTo>
                    <a:pt x="0" y="0"/>
                  </a:moveTo>
                  <a:lnTo>
                    <a:pt x="1247775" y="95250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3" name="Google Shape;383;p13"/>
            <p:cNvSpPr/>
            <p:nvPr/>
          </p:nvSpPr>
          <p:spPr>
            <a:xfrm>
              <a:off x="7697042" y="5068663"/>
              <a:ext cx="161083" cy="151037"/>
            </a:xfrm>
            <a:custGeom>
              <a:rect b="b" l="l" r="r" t="t"/>
              <a:pathLst>
                <a:path extrusionOk="0" h="151037" w="161083">
                  <a:moveTo>
                    <a:pt x="0" y="134550"/>
                  </a:moveTo>
                  <a:lnTo>
                    <a:pt x="161083" y="151037"/>
                  </a:lnTo>
                  <a:lnTo>
                    <a:pt x="102710" y="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4" name="Google Shape;384;p13"/>
            <p:cNvSpPr/>
            <p:nvPr/>
          </p:nvSpPr>
          <p:spPr>
            <a:xfrm>
              <a:off x="7162800" y="6124575"/>
              <a:ext cx="933450" cy="590550"/>
            </a:xfrm>
            <a:custGeom>
              <a:rect b="b" l="l" r="r" t="t"/>
              <a:pathLst>
                <a:path extrusionOk="0" h="590550" w="933450">
                  <a:moveTo>
                    <a:pt x="933450" y="0"/>
                  </a:moveTo>
                  <a:lnTo>
                    <a:pt x="0" y="590550"/>
                  </a:lnTo>
                </a:path>
              </a:pathLst>
            </a:custGeom>
            <a:noFill/>
            <a:ln cap="flat" cmpd="sng" w="476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5" name="Google Shape;385;p13"/>
            <p:cNvSpPr/>
            <p:nvPr/>
          </p:nvSpPr>
          <p:spPr>
            <a:xfrm>
              <a:off x="7162800" y="6569796"/>
              <a:ext cx="161909" cy="145329"/>
            </a:xfrm>
            <a:custGeom>
              <a:rect b="b" l="l" r="r" t="t"/>
              <a:pathLst>
                <a:path extrusionOk="0" h="145329" w="161909">
                  <a:moveTo>
                    <a:pt x="71409" y="0"/>
                  </a:moveTo>
                  <a:lnTo>
                    <a:pt x="0" y="145329"/>
                  </a:lnTo>
                  <a:lnTo>
                    <a:pt x="161909" y="143048"/>
                  </a:lnTo>
                </a:path>
              </a:pathLst>
            </a:custGeom>
            <a:noFill/>
            <a:ln cap="flat" cmpd="sng" w="476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6" name="Google Shape;386;p13"/>
            <p:cNvSpPr/>
            <p:nvPr/>
          </p:nvSpPr>
          <p:spPr>
            <a:xfrm>
              <a:off x="3276600" y="6172200"/>
              <a:ext cx="1409700" cy="981075"/>
            </a:xfrm>
            <a:custGeom>
              <a:rect b="b" l="l" r="r" t="t"/>
              <a:pathLst>
                <a:path extrusionOk="0" h="981075" w="1409700">
                  <a:moveTo>
                    <a:pt x="1409700" y="981075"/>
                  </a:moveTo>
                  <a:lnTo>
                    <a:pt x="0" y="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7" name="Google Shape;387;p13"/>
            <p:cNvSpPr/>
            <p:nvPr/>
          </p:nvSpPr>
          <p:spPr>
            <a:xfrm>
              <a:off x="3276600" y="6172200"/>
              <a:ext cx="161653" cy="148324"/>
            </a:xfrm>
            <a:custGeom>
              <a:rect b="b" l="l" r="r" t="t"/>
              <a:pathLst>
                <a:path extrusionOk="0" h="148324" w="161653">
                  <a:moveTo>
                    <a:pt x="161653" y="9386"/>
                  </a:moveTo>
                  <a:lnTo>
                    <a:pt x="0" y="0"/>
                  </a:lnTo>
                  <a:lnTo>
                    <a:pt x="64960" y="148324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8" name="Google Shape;388;p13"/>
            <p:cNvSpPr/>
            <p:nvPr/>
          </p:nvSpPr>
          <p:spPr>
            <a:xfrm>
              <a:off x="3352800" y="4324350"/>
              <a:ext cx="1295400" cy="914400"/>
            </a:xfrm>
            <a:custGeom>
              <a:rect b="b" l="l" r="r" t="t"/>
              <a:pathLst>
                <a:path extrusionOk="0" h="914400" w="1295400">
                  <a:moveTo>
                    <a:pt x="0" y="914400"/>
                  </a:moveTo>
                  <a:lnTo>
                    <a:pt x="1295400" y="0"/>
                  </a:lnTo>
                </a:path>
              </a:pathLst>
            </a:custGeom>
            <a:noFill/>
            <a:ln cap="flat" cmpd="sng" w="476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9" name="Google Shape;389;p13"/>
            <p:cNvSpPr/>
            <p:nvPr/>
          </p:nvSpPr>
          <p:spPr>
            <a:xfrm>
              <a:off x="4486613" y="4324350"/>
              <a:ext cx="161587" cy="148753"/>
            </a:xfrm>
            <a:custGeom>
              <a:rect b="b" l="l" r="r" t="t"/>
              <a:pathLst>
                <a:path extrusionOk="0" h="148753" w="161587">
                  <a:moveTo>
                    <a:pt x="97616" y="148753"/>
                  </a:moveTo>
                  <a:lnTo>
                    <a:pt x="161587" y="0"/>
                  </a:lnTo>
                  <a:lnTo>
                    <a:pt x="0" y="10463"/>
                  </a:lnTo>
                </a:path>
              </a:pathLst>
            </a:custGeom>
            <a:noFill/>
            <a:ln cap="flat" cmpd="sng" w="476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90" name="Google Shape;390;p13"/>
            <p:cNvSpPr/>
            <p:nvPr/>
          </p:nvSpPr>
          <p:spPr>
            <a:xfrm>
              <a:off x="4714875" y="3800475"/>
              <a:ext cx="2381250" cy="790575"/>
            </a:xfrm>
            <a:prstGeom prst="roundRect">
              <a:avLst>
                <a:gd fmla="val 43373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857750" y="4029075"/>
              <a:ext cx="2095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Observar</a:t>
              </a: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7400925" y="5305425"/>
              <a:ext cx="2381250" cy="790575"/>
            </a:xfrm>
            <a:prstGeom prst="roundRect">
              <a:avLst>
                <a:gd fmla="val 43373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7543800" y="5534025"/>
              <a:ext cx="2095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Interpretar</a:t>
              </a: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4714875" y="6543675"/>
              <a:ext cx="2381250" cy="790575"/>
            </a:xfrm>
            <a:prstGeom prst="roundRect">
              <a:avLst>
                <a:gd fmla="val 43373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4857750" y="6772275"/>
              <a:ext cx="2095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Decidir</a:t>
              </a: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2038350" y="5305425"/>
              <a:ext cx="2381250" cy="790575"/>
            </a:xfrm>
            <a:prstGeom prst="roundRect">
              <a:avLst>
                <a:gd fmla="val 43373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2181225" y="5534025"/>
              <a:ext cx="2095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Revisar</a:t>
              </a: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11115675" y="3752850"/>
              <a:ext cx="57150" cy="1019175"/>
            </a:xfrm>
            <a:prstGeom prst="rect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11430000" y="3714750"/>
              <a:ext cx="5695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Una tendencia social</a:t>
              </a: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11430000" y="4181475"/>
              <a:ext cx="562927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generar una oportunidad.</a:t>
              </a: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11115675" y="5019675"/>
              <a:ext cx="57150" cy="1019175"/>
            </a:xfrm>
            <a:prstGeom prst="rect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11430000" y="4981575"/>
              <a:ext cx="5695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Una restricción legal</a:t>
              </a: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11430000" y="5448300"/>
              <a:ext cx="562927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requerir modificaciones.</a:t>
              </a: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11115675" y="6286500"/>
              <a:ext cx="57150" cy="1019175"/>
            </a:xfrm>
            <a:prstGeom prst="rect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11430000" y="6248400"/>
              <a:ext cx="5695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Una tecnología emergente</a:t>
              </a: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11430000" y="6715125"/>
              <a:ext cx="562927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requerir analizar costos,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accesibilidad y pertinencia.</a:t>
              </a: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3095625" y="7410450"/>
              <a:ext cx="13858875" cy="781050"/>
            </a:xfrm>
            <a:prstGeom prst="roundRect">
              <a:avLst>
                <a:gd fmla="val 29268" name="adj"/>
              </a:avLst>
            </a:prstGeom>
            <a:solidFill>
              <a:srgbClr val="F6F4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095625" y="7496175"/>
              <a:ext cx="66675" cy="6096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3352800" y="7553325"/>
              <a:ext cx="133350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Interpretamos el entorno para fundamentar decisiones posteriores.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Por eso, el análisis puede requerir nuevas revisiones durante el desarrollo del proyecto.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14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418" name="Google Shape;418;p14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Análisis del macroentorno</a:t>
              </a: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435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¿Qué factor está en juego aquí?</a:t>
              </a: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11334750" y="8953500"/>
              <a:ext cx="11906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12 / 12</a:t>
              </a:r>
              <a:endParaRPr/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1971675" y="2819400"/>
              <a:ext cx="15097125" cy="1009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6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Ya conocemos las seis dimensiones del análisis PESTEL. Ahora pondremos nuestra mirada en diferentes situaciones del macroentorno.</a:t>
              </a:r>
              <a:endParaRPr/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1971675" y="4029075"/>
              <a:ext cx="15116175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Nuestro reto será reconocer si el factor predominante corresponde a:</a:t>
              </a:r>
              <a:endParaRPr/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2028825" y="4933950"/>
              <a:ext cx="2314575" cy="1247775"/>
            </a:xfrm>
            <a:prstGeom prst="roundRect">
              <a:avLst>
                <a:gd fmla="val 17557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2171700" y="5038725"/>
              <a:ext cx="20288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2114550" y="5619750"/>
              <a:ext cx="2143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Política</a:t>
              </a:r>
              <a:endParaRPr/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4600575" y="4933950"/>
              <a:ext cx="2314575" cy="1247775"/>
            </a:xfrm>
            <a:prstGeom prst="roundRect">
              <a:avLst>
                <a:gd fmla="val 17557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4743450" y="5038725"/>
              <a:ext cx="20288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4686300" y="5619750"/>
              <a:ext cx="2143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Económica</a:t>
              </a:r>
              <a:endParaRPr/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7172325" y="4933950"/>
              <a:ext cx="2314575" cy="1247775"/>
            </a:xfrm>
            <a:prstGeom prst="roundRect">
              <a:avLst>
                <a:gd fmla="val 17557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7315200" y="5038725"/>
              <a:ext cx="20288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7258050" y="5619750"/>
              <a:ext cx="2143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Social</a:t>
              </a:r>
              <a:endParaRPr/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9744075" y="4933950"/>
              <a:ext cx="2314575" cy="1247775"/>
            </a:xfrm>
            <a:prstGeom prst="roundRect">
              <a:avLst>
                <a:gd fmla="val 17557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9886950" y="5038725"/>
              <a:ext cx="20288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9829800" y="5619750"/>
              <a:ext cx="2143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Tecnológica</a:t>
              </a:r>
              <a:endParaRPr/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12315825" y="4933950"/>
              <a:ext cx="2314575" cy="1247775"/>
            </a:xfrm>
            <a:prstGeom prst="roundRect">
              <a:avLst>
                <a:gd fmla="val 17557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4"/>
            <p:cNvSpPr/>
            <p:nvPr/>
          </p:nvSpPr>
          <p:spPr>
            <a:xfrm>
              <a:off x="12458700" y="5038725"/>
              <a:ext cx="20288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12401550" y="5619750"/>
              <a:ext cx="2143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Ecológica</a:t>
              </a:r>
              <a:endParaRPr/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14887575" y="4933950"/>
              <a:ext cx="2314575" cy="1247775"/>
            </a:xfrm>
            <a:prstGeom prst="roundRect">
              <a:avLst>
                <a:gd fmla="val 17557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15030450" y="5038725"/>
              <a:ext cx="202882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14973300" y="5619750"/>
              <a:ext cx="2143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Legal</a:t>
              </a:r>
              <a:endParaRPr/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3448050" y="6629400"/>
              <a:ext cx="12515850" cy="953"/>
            </a:xfrm>
            <a:custGeom>
              <a:rect b="b" l="l" r="r" t="t"/>
              <a:pathLst>
                <a:path extrusionOk="0" h="953" w="12515850">
                  <a:moveTo>
                    <a:pt x="0" y="0"/>
                  </a:moveTo>
                  <a:lnTo>
                    <a:pt x="12515850" y="0"/>
                  </a:lnTo>
                </a:path>
              </a:pathLst>
            </a:custGeom>
            <a:noFill/>
            <a:ln cap="flat" cmpd="sng" w="47625">
              <a:solidFill>
                <a:srgbClr val="FF890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3" name="Google Shape;443;p14"/>
            <p:cNvSpPr/>
            <p:nvPr/>
          </p:nvSpPr>
          <p:spPr>
            <a:xfrm>
              <a:off x="3038475" y="6915150"/>
              <a:ext cx="13677900" cy="100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6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¿Qué cambia cuando dejamos de observar un factor aislado y empezamos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6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a preguntarnos cómo afecta nuestro proyecto?</a:t>
              </a:r>
              <a:endParaRPr/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7705725" y="8020050"/>
              <a:ext cx="3990975" cy="666750"/>
            </a:xfrm>
            <a:prstGeom prst="roundRect">
              <a:avLst>
                <a:gd fmla="val 50000" name="adj"/>
              </a:avLst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7781925" y="8179213"/>
              <a:ext cx="3838575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Ir a la actividad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7256" y="2240280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14"/>
          <p:cNvGrpSpPr/>
          <p:nvPr/>
        </p:nvGrpSpPr>
        <p:grpSpPr>
          <a:xfrm>
            <a:off x="1876425" y="857250"/>
            <a:ext cx="15716250" cy="8420100"/>
            <a:chOff x="1876425" y="857250"/>
            <a:chExt cx="15716250" cy="8420100"/>
          </a:xfrm>
        </p:grpSpPr>
        <p:sp>
          <p:nvSpPr>
            <p:cNvPr id="418" name="Google Shape;418;p14"/>
            <p:cNvSpPr/>
            <p:nvPr/>
          </p:nvSpPr>
          <p:spPr>
            <a:xfrm>
              <a:off x="1876425" y="857250"/>
              <a:ext cx="1257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CRÉDITOS · DEL ENTORNO AL DIAGNÓSTICO</a:t>
              </a: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1876425" y="1371600"/>
              <a:ext cx="1571625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435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Créditos de producción y postproducción</a:t>
              </a: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2905125" y="8953500"/>
              <a:ext cx="819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Análisis del macroentorno · PESTEL</a:t>
              </a:r>
              <a:endParaRPr/>
            </a:p>
          </p:txBody>
        </p:sp>
      </p:grpSp>
      <p:pic>
        <p:nvPicPr>
          <p:cNvPr id="170" name="Google Shape;170;h208d67e2cfb85e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934212"/>
            <a:ext cx="2218494" cy="17903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208d67e2cfb85eb7_0_0"/>
          <p:cNvSpPr/>
          <p:nvPr/>
        </p:nvSpPr>
        <p:spPr>
          <a:xfrm>
            <a:off x="1874519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8d67e2cfb85eb7_0_0"/>
          <p:cNvSpPr/>
          <p:nvPr/>
        </p:nvSpPr>
        <p:spPr>
          <a:xfrm>
            <a:off x="1874519" y="2697480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8d67e2cfb85eb7_0_0"/>
          <p:cNvSpPr txBox="1"/>
          <p:nvPr/>
        </p:nvSpPr>
        <p:spPr>
          <a:xfrm>
            <a:off x="2194560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174" name="Google Shape;174;h208d67e2cfb85eb7_0_0"/>
          <p:cNvSpPr txBox="1"/>
          <p:nvPr/>
        </p:nvSpPr>
        <p:spPr>
          <a:xfrm>
            <a:off x="2194560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175" name="Google Shape;175;h208d67e2cfb85eb7_0_0"/>
          <p:cNvSpPr/>
          <p:nvPr/>
        </p:nvSpPr>
        <p:spPr>
          <a:xfrm>
            <a:off x="9825227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8d67e2cfb85eb7_0_0"/>
          <p:cNvSpPr/>
          <p:nvPr/>
        </p:nvSpPr>
        <p:spPr>
          <a:xfrm>
            <a:off x="9825227" y="2697480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8d67e2cfb85eb7_0_0"/>
          <p:cNvSpPr txBox="1"/>
          <p:nvPr/>
        </p:nvSpPr>
        <p:spPr>
          <a:xfrm>
            <a:off x="10145267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178" name="Google Shape;178;h208d67e2cfb85eb7_0_0"/>
          <p:cNvSpPr txBox="1"/>
          <p:nvPr/>
        </p:nvSpPr>
        <p:spPr>
          <a:xfrm>
            <a:off x="10145267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179" name="Google Shape;179;h208d67e2cfb85eb7_0_0"/>
          <p:cNvSpPr/>
          <p:nvPr/>
        </p:nvSpPr>
        <p:spPr>
          <a:xfrm>
            <a:off x="1874519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8d67e2cfb85eb7_0_0"/>
          <p:cNvSpPr/>
          <p:nvPr/>
        </p:nvSpPr>
        <p:spPr>
          <a:xfrm>
            <a:off x="1874519" y="3776472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8d67e2cfb85eb7_0_0"/>
          <p:cNvSpPr txBox="1"/>
          <p:nvPr/>
        </p:nvSpPr>
        <p:spPr>
          <a:xfrm>
            <a:off x="2194560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182" name="Google Shape;182;h208d67e2cfb85eb7_0_0"/>
          <p:cNvSpPr txBox="1"/>
          <p:nvPr/>
        </p:nvSpPr>
        <p:spPr>
          <a:xfrm>
            <a:off x="2194560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183" name="Google Shape;183;h208d67e2cfb85eb7_0_0"/>
          <p:cNvSpPr/>
          <p:nvPr/>
        </p:nvSpPr>
        <p:spPr>
          <a:xfrm>
            <a:off x="9825227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8d67e2cfb85eb7_0_0"/>
          <p:cNvSpPr/>
          <p:nvPr/>
        </p:nvSpPr>
        <p:spPr>
          <a:xfrm>
            <a:off x="9825227" y="3776472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8d67e2cfb85eb7_0_0"/>
          <p:cNvSpPr txBox="1"/>
          <p:nvPr/>
        </p:nvSpPr>
        <p:spPr>
          <a:xfrm>
            <a:off x="10145267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186" name="Google Shape;186;h208d67e2cfb85eb7_0_0"/>
          <p:cNvSpPr txBox="1"/>
          <p:nvPr/>
        </p:nvSpPr>
        <p:spPr>
          <a:xfrm>
            <a:off x="10145267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Sergio Andrés Ocampo Rivera</a:t>
            </a:r>
            <a:endParaRPr/>
          </a:p>
        </p:txBody>
      </p:sp>
      <p:sp>
        <p:nvSpPr>
          <p:cNvPr id="187" name="Google Shape;187;h208d67e2cfb85eb7_0_0"/>
          <p:cNvSpPr/>
          <p:nvPr/>
        </p:nvSpPr>
        <p:spPr>
          <a:xfrm>
            <a:off x="1874519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8d67e2cfb85eb7_0_0"/>
          <p:cNvSpPr/>
          <p:nvPr/>
        </p:nvSpPr>
        <p:spPr>
          <a:xfrm>
            <a:off x="1874519" y="4855464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8d67e2cfb85eb7_0_0"/>
          <p:cNvSpPr txBox="1"/>
          <p:nvPr/>
        </p:nvSpPr>
        <p:spPr>
          <a:xfrm>
            <a:off x="2194560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190" name="Google Shape;190;h208d67e2cfb85eb7_0_0"/>
          <p:cNvSpPr txBox="1"/>
          <p:nvPr/>
        </p:nvSpPr>
        <p:spPr>
          <a:xfrm>
            <a:off x="2194560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191" name="Google Shape;191;h208d67e2cfb85eb7_0_0"/>
          <p:cNvSpPr/>
          <p:nvPr/>
        </p:nvSpPr>
        <p:spPr>
          <a:xfrm>
            <a:off x="9825227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8d67e2cfb85eb7_0_0"/>
          <p:cNvSpPr/>
          <p:nvPr/>
        </p:nvSpPr>
        <p:spPr>
          <a:xfrm>
            <a:off x="9825227" y="4855464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8d67e2cfb85eb7_0_0"/>
          <p:cNvSpPr txBox="1"/>
          <p:nvPr/>
        </p:nvSpPr>
        <p:spPr>
          <a:xfrm>
            <a:off x="10145267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194" name="Google Shape;194;h208d67e2cfb85eb7_0_0"/>
          <p:cNvSpPr txBox="1"/>
          <p:nvPr/>
        </p:nvSpPr>
        <p:spPr>
          <a:xfrm>
            <a:off x="10145267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195" name="Google Shape;195;h208d67e2cfb85eb7_0_0"/>
          <p:cNvSpPr/>
          <p:nvPr/>
        </p:nvSpPr>
        <p:spPr>
          <a:xfrm>
            <a:off x="1874519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8d67e2cfb85eb7_0_0"/>
          <p:cNvSpPr/>
          <p:nvPr/>
        </p:nvSpPr>
        <p:spPr>
          <a:xfrm>
            <a:off x="1874519" y="5934456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8d67e2cfb85eb7_0_0"/>
          <p:cNvSpPr txBox="1"/>
          <p:nvPr/>
        </p:nvSpPr>
        <p:spPr>
          <a:xfrm>
            <a:off x="2194560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MX" sz="1300">
                <a:solidFill>
                  <a:srgbClr val="2A56C6"/>
                </a:solidFill>
              </a:rPr>
              <a:t>d</a:t>
            </a: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198" name="Google Shape;198;h208d67e2cfb85eb7_0_0"/>
          <p:cNvSpPr txBox="1"/>
          <p:nvPr/>
        </p:nvSpPr>
        <p:spPr>
          <a:xfrm>
            <a:off x="2194560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199" name="Google Shape;199;h208d67e2cfb85eb7_0_0"/>
          <p:cNvSpPr/>
          <p:nvPr/>
        </p:nvSpPr>
        <p:spPr>
          <a:xfrm>
            <a:off x="9825227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8d67e2cfb85eb7_0_0"/>
          <p:cNvSpPr/>
          <p:nvPr/>
        </p:nvSpPr>
        <p:spPr>
          <a:xfrm>
            <a:off x="9825227" y="5934456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8d67e2cfb85eb7_0_0"/>
          <p:cNvSpPr txBox="1"/>
          <p:nvPr/>
        </p:nvSpPr>
        <p:spPr>
          <a:xfrm>
            <a:off x="10145267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202" name="Google Shape;202;h208d67e2cfb85eb7_0_0"/>
          <p:cNvSpPr txBox="1"/>
          <p:nvPr/>
        </p:nvSpPr>
        <p:spPr>
          <a:xfrm>
            <a:off x="10145267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203" name="Google Shape;203;h208d67e2cfb85eb7_0_0"/>
          <p:cNvSpPr txBox="1"/>
          <p:nvPr/>
        </p:nvSpPr>
        <p:spPr>
          <a:xfrm>
            <a:off x="1874519" y="7059168"/>
            <a:ext cx="15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2026-08-27T19:14:18Z</dcterms:created>
  <dc:creator>Walnut Exporter</dc:creator>
</cp:coreProperties>
</file>