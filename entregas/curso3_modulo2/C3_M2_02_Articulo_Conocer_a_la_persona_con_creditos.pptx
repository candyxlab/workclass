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9906000" cx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hTjKT8mZjVTzguj3nFCqOvOyBx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AB2F9B2-BFED-4E7E-9DBD-0984B3419176}">
  <a:tblStyle styleId="{CAB2F9B2-BFED-4E7E-9DBD-0984B341917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fill>
          <a:solidFill>
            <a:srgbClr val="CAD1D8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D1D8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461963" y="0"/>
            <a:ext cx="2076450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461963" y="0"/>
            <a:ext cx="2076450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/>
          <p:nvPr>
            <p:ph idx="2" type="sldImg"/>
          </p:nvPr>
        </p:nvSpPr>
        <p:spPr>
          <a:xfrm>
            <a:off x="461963" y="0"/>
            <a:ext cx="2076450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" name="Google Shape;59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" name="Google Shape;60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/>
          <p:cNvSpPr/>
          <p:nvPr>
            <p:ph idx="2" type="sldImg"/>
          </p:nvPr>
        </p:nvSpPr>
        <p:spPr>
          <a:xfrm>
            <a:off x="461963" y="0"/>
            <a:ext cx="2076450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" name="Google Shape;89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" name="Google Shape;90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/>
          <p:nvPr>
            <p:ph idx="2" type="sldImg"/>
          </p:nvPr>
        </p:nvSpPr>
        <p:spPr>
          <a:xfrm>
            <a:off x="461963" y="0"/>
            <a:ext cx="2076450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/>
          <p:nvPr>
            <p:ph idx="2" type="sldImg"/>
          </p:nvPr>
        </p:nvSpPr>
        <p:spPr>
          <a:xfrm>
            <a:off x="461963" y="0"/>
            <a:ext cx="2076450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9" name="Google Shape;169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0" name="Google Shape;170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/>
          <p:nvPr>
            <p:ph idx="2" type="sldImg"/>
          </p:nvPr>
        </p:nvSpPr>
        <p:spPr>
          <a:xfrm>
            <a:off x="461963" y="0"/>
            <a:ext cx="2076450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8" name="Google Shape;198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9" name="Google Shape;199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8:notes"/>
          <p:cNvSpPr/>
          <p:nvPr>
            <p:ph idx="2" type="sldImg"/>
          </p:nvPr>
        </p:nvSpPr>
        <p:spPr>
          <a:xfrm>
            <a:off x="461963" y="0"/>
            <a:ext cx="2076450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0" name="Google Shape;220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9:notes"/>
          <p:cNvSpPr/>
          <p:nvPr>
            <p:ph idx="2" type="sldImg"/>
          </p:nvPr>
        </p:nvSpPr>
        <p:spPr>
          <a:xfrm>
            <a:off x="461963" y="0"/>
            <a:ext cx="2076450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9" name="Google Shape;269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0" name="Google Shape;270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2:notes"/>
          <p:cNvSpPr/>
          <p:nvPr>
            <p:ph idx="2" type="sldImg"/>
          </p:nvPr>
        </p:nvSpPr>
        <p:spPr>
          <a:xfrm>
            <a:off x="461963" y="0"/>
            <a:ext cx="2076450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3" name="Google Shape;303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4" name="Google Shape;304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3:notes"/>
          <p:cNvSpPr/>
          <p:nvPr>
            <p:ph idx="2" type="sldImg"/>
          </p:nvPr>
        </p:nvSpPr>
        <p:spPr>
          <a:xfrm>
            <a:off x="461963" y="0"/>
            <a:ext cx="2076450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8" name="Google Shape;338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9" name="Google Shape;339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4:notes"/>
          <p:cNvSpPr/>
          <p:nvPr>
            <p:ph idx="2" type="sldImg"/>
          </p:nvPr>
        </p:nvSpPr>
        <p:spPr>
          <a:xfrm>
            <a:off x="461963" y="0"/>
            <a:ext cx="2076450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9" name="Google Shape;369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0" name="Google Shape;370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5:notes"/>
          <p:cNvSpPr/>
          <p:nvPr>
            <p:ph idx="2" type="sldImg"/>
          </p:nvPr>
        </p:nvSpPr>
        <p:spPr>
          <a:xfrm>
            <a:off x="461963" y="0"/>
            <a:ext cx="2076450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1" name="Google Shape;381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2" name="Google Shape;382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hyperlink" Target="https://asociaciondec.org/blog-dec/en-que-consiste-el-shadowing-y-como-aplicarlo/64795/?utm_source=gemini" TargetMode="External"/><Relationship Id="rId5" Type="http://schemas.openxmlformats.org/officeDocument/2006/relationships/hyperlink" Target="https://asociaciondec.org/blog-dec/en-que-consiste-el-shadowing-y-como-aplicarlo/64795/?utm_source=gemini" TargetMode="External"/><Relationship Id="rId6" Type="http://schemas.openxmlformats.org/officeDocument/2006/relationships/hyperlink" Target="https://www.crehana.com/blog/transformacion-digital/que-son-arquetipos/?utm_source=gemini" TargetMode="External"/><Relationship Id="rId7" Type="http://schemas.openxmlformats.org/officeDocument/2006/relationships/hyperlink" Target="https://www.crehana.com/blog/transformacion-digital/que-son-arquetipos/?utm_source=gemini" TargetMode="External"/><Relationship Id="rId8" Type="http://schemas.openxmlformats.org/officeDocument/2006/relationships/hyperlink" Target="https://blog.hubspot.es/marketing/que-son-buyer-personas?utm_source=gemini" TargetMode="External"/><Relationship Id="rId9" Type="http://schemas.openxmlformats.org/officeDocument/2006/relationships/hyperlink" Target="https://blog.hubspot.es/marketing/que-son-buyer-personas?utm_source=gemini" TargetMode="External"/><Relationship Id="rId10" Type="http://schemas.openxmlformats.org/officeDocument/2006/relationships/hyperlink" Target="https://blog.hubspot.es/marketing/que-son-buyer-personas?utm_source=gemini" TargetMode="External"/><Relationship Id="rId11" Type="http://schemas.openxmlformats.org/officeDocument/2006/relationships/hyperlink" Target="https://blog.hubspot.es/marketing/que-son-buyer-personas?utm_source=gemini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989513" y="1306833"/>
            <a:ext cx="2000250" cy="323850"/>
          </a:xfrm>
          <a:prstGeom prst="roundRect">
            <a:avLst>
              <a:gd fmla="val 50000" name="adj"/>
            </a:avLst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1122863" y="1392558"/>
            <a:ext cx="17335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-CO" sz="900" u="none" cap="none" strike="noStrike">
                <a:solidFill>
                  <a:srgbClr val="24212A"/>
                </a:solidFill>
                <a:latin typeface="Arial"/>
                <a:ea typeface="Arial"/>
                <a:cs typeface="Arial"/>
                <a:sym typeface="Arial"/>
              </a:rPr>
              <a:t>Artículo educativo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877393" y="6934748"/>
            <a:ext cx="1066800" cy="114300"/>
          </a:xfrm>
          <a:prstGeom prst="roundRect">
            <a:avLst>
              <a:gd fmla="val 50000" name="adj"/>
            </a:avLst>
          </a:prstGeom>
          <a:solidFill>
            <a:srgbClr val="FFD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" name="Google Shape;20;p1"/>
          <p:cNvGrpSpPr/>
          <p:nvPr/>
        </p:nvGrpSpPr>
        <p:grpSpPr>
          <a:xfrm>
            <a:off x="876300" y="5076825"/>
            <a:ext cx="5362575" cy="3276600"/>
            <a:chOff x="876300" y="5076825"/>
            <a:chExt cx="5362575" cy="3276600"/>
          </a:xfrm>
        </p:grpSpPr>
        <p:sp>
          <p:nvSpPr>
            <p:cNvPr id="21" name="Google Shape;21;p1"/>
            <p:cNvSpPr/>
            <p:nvPr/>
          </p:nvSpPr>
          <p:spPr>
            <a:xfrm>
              <a:off x="876300" y="5076825"/>
              <a:ext cx="5362575" cy="1390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s-CO" sz="24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Conocer a la persona: perfil de usuario y seguimiento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1"/>
            <p:cNvSpPr/>
            <p:nvPr/>
          </p:nvSpPr>
          <p:spPr>
            <a:xfrm>
              <a:off x="876300" y="7153275"/>
              <a:ext cx="5362575" cy="1200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0" lang="es-CO" sz="17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De lo que suponemos sobre las personas a lo que podemos comprender de su experiencia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3" name="Google Shape;23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6522" y="1705421"/>
            <a:ext cx="4844955" cy="32299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836364" y="720632"/>
            <a:ext cx="4114227" cy="172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1" i="0" lang="es-CO" sz="825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Artículo educativo · Perfil de usuario y seguimiento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542109" y="9242515"/>
            <a:ext cx="4000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O" sz="1000" u="none" cap="none" strike="noStrike">
                <a:solidFill>
                  <a:srgbClr val="B31686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" name="Google Shape;31;p2"/>
          <p:cNvGrpSpPr/>
          <p:nvPr/>
        </p:nvGrpSpPr>
        <p:grpSpPr>
          <a:xfrm>
            <a:off x="838200" y="1066800"/>
            <a:ext cx="5429250" cy="6858000"/>
            <a:chOff x="838200" y="1066800"/>
            <a:chExt cx="5429250" cy="6858000"/>
          </a:xfrm>
        </p:grpSpPr>
        <p:sp>
          <p:nvSpPr>
            <p:cNvPr id="32" name="Google Shape;32;p2"/>
            <p:cNvSpPr/>
            <p:nvPr/>
          </p:nvSpPr>
          <p:spPr>
            <a:xfrm>
              <a:off x="838200" y="1066800"/>
              <a:ext cx="5429250" cy="10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s-CO" sz="24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Mapa de lectura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838200" y="2143125"/>
              <a:ext cx="876300" cy="95250"/>
            </a:xfrm>
            <a:prstGeom prst="roundRect">
              <a:avLst>
                <a:gd fmla="val 50000" name="adj"/>
              </a:avLst>
            </a:prstGeom>
            <a:solidFill>
              <a:srgbClr val="FFDA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838200" y="2371725"/>
              <a:ext cx="5429250" cy="1552575"/>
            </a:xfrm>
            <a:prstGeom prst="roundRect">
              <a:avLst>
                <a:gd fmla="val 13497" name="adj"/>
              </a:avLst>
            </a:prstGeom>
            <a:solidFill>
              <a:srgbClr val="FFE7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1076325" y="2581275"/>
              <a:ext cx="4953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0" lang="es-CO" sz="17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Resultado de aprendizaje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1076325" y="2990850"/>
              <a:ext cx="4992688" cy="790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s-CO" sz="12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Comprender cómo el perfil de usuario y el sombreado permiten aproximarnos a las necesidades, comportamientos y experiencias de las personas, contrastando las hipótesis iniciales con información obtenida en contextos reales.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838200" y="4257675"/>
              <a:ext cx="5429250" cy="752475"/>
            </a:xfrm>
            <a:prstGeom prst="roundRect">
              <a:avLst>
                <a:gd fmla="val 22785" name="adj"/>
              </a:avLst>
            </a:prstGeom>
            <a:solidFill>
              <a:srgbClr val="FFFFFF"/>
            </a:solidFill>
            <a:ln cap="flat" cmpd="sng" w="9525">
              <a:solidFill>
                <a:srgbClr val="D7CCD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838200" y="4257675"/>
              <a:ext cx="723900" cy="752475"/>
            </a:xfrm>
            <a:prstGeom prst="roundRect">
              <a:avLst>
                <a:gd fmla="val 23684" name="adj"/>
              </a:avLst>
            </a:prstGeom>
            <a:solidFill>
              <a:srgbClr val="FF88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933450" y="4495800"/>
              <a:ext cx="533400" cy="285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0" lang="es-CO" sz="17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1790700" y="4371975"/>
              <a:ext cx="4191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0" lang="es-CO" sz="17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Comprender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1790700" y="4724400"/>
              <a:ext cx="4191000" cy="247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-CO" sz="12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Del usuario genérico al perfil.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838200" y="5229225"/>
              <a:ext cx="5429250" cy="752475"/>
            </a:xfrm>
            <a:prstGeom prst="roundRect">
              <a:avLst>
                <a:gd fmla="val 22785" name="adj"/>
              </a:avLst>
            </a:prstGeom>
            <a:solidFill>
              <a:srgbClr val="FFFFFF"/>
            </a:solidFill>
            <a:ln cap="flat" cmpd="sng" w="9525">
              <a:solidFill>
                <a:srgbClr val="D7CCD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838200" y="5229225"/>
              <a:ext cx="723900" cy="752475"/>
            </a:xfrm>
            <a:prstGeom prst="roundRect">
              <a:avLst>
                <a:gd fmla="val 23684" name="adj"/>
              </a:avLst>
            </a:prstGeom>
            <a:solidFill>
              <a:srgbClr val="A7198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933450" y="5467350"/>
              <a:ext cx="533400" cy="285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0" lang="es-CO" sz="17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1790700" y="5343525"/>
              <a:ext cx="4191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0" lang="es-CO" sz="17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Representar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1790700" y="5695950"/>
              <a:ext cx="4191000" cy="247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1" lang="es-CO" sz="12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Storytelling</a:t>
              </a:r>
              <a:r>
                <a:rPr b="0" i="0" lang="es-CO" sz="12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 y arquetipos.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838200" y="6200775"/>
              <a:ext cx="5429250" cy="752475"/>
            </a:xfrm>
            <a:prstGeom prst="roundRect">
              <a:avLst>
                <a:gd fmla="val 22785" name="adj"/>
              </a:avLst>
            </a:prstGeom>
            <a:solidFill>
              <a:srgbClr val="FFFFFF"/>
            </a:solidFill>
            <a:ln cap="flat" cmpd="sng" w="9525">
              <a:solidFill>
                <a:srgbClr val="D7CCD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838200" y="6200775"/>
              <a:ext cx="723900" cy="752475"/>
            </a:xfrm>
            <a:prstGeom prst="roundRect">
              <a:avLst>
                <a:gd fmla="val 23684" name="adj"/>
              </a:avLst>
            </a:prstGeom>
            <a:solidFill>
              <a:srgbClr val="66409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933450" y="6438900"/>
              <a:ext cx="533400" cy="285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0" lang="es-CO" sz="17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1790700" y="6315075"/>
              <a:ext cx="4191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0" lang="es-CO" sz="17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Observar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1790700" y="6667500"/>
              <a:ext cx="4191000" cy="247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-CO" sz="12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Sombreado en contexto.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838200" y="7172325"/>
              <a:ext cx="5429250" cy="752475"/>
            </a:xfrm>
            <a:prstGeom prst="roundRect">
              <a:avLst>
                <a:gd fmla="val 22785" name="adj"/>
              </a:avLst>
            </a:prstGeom>
            <a:solidFill>
              <a:srgbClr val="FFFFFF"/>
            </a:solidFill>
            <a:ln cap="flat" cmpd="sng" w="9525">
              <a:solidFill>
                <a:srgbClr val="D7CCD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838200" y="7172325"/>
              <a:ext cx="723900" cy="752475"/>
            </a:xfrm>
            <a:prstGeom prst="roundRect">
              <a:avLst>
                <a:gd fmla="val 23684" name="adj"/>
              </a:avLst>
            </a:prstGeom>
            <a:solidFill>
              <a:srgbClr val="FFDA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933450" y="7410450"/>
              <a:ext cx="533400" cy="285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0" lang="es-CO" sz="17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1790700" y="7286625"/>
              <a:ext cx="4191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0" lang="es-CO" sz="17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Contrastar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1790700" y="7639050"/>
              <a:ext cx="4191000" cy="247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-CO" sz="12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De la hipótesis a los hallazgos.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"/>
          <p:cNvSpPr/>
          <p:nvPr/>
        </p:nvSpPr>
        <p:spPr>
          <a:xfrm>
            <a:off x="836364" y="720632"/>
            <a:ext cx="4114227" cy="172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1" i="0" lang="es-CO" sz="825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Artículo educativo · Perfil de usuario y seguimiento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542109" y="9242515"/>
            <a:ext cx="4000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O" sz="1000" u="none" cap="none" strike="noStrike">
                <a:solidFill>
                  <a:srgbClr val="B31686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" name="Google Shape;64;p3"/>
          <p:cNvGrpSpPr/>
          <p:nvPr/>
        </p:nvGrpSpPr>
        <p:grpSpPr>
          <a:xfrm>
            <a:off x="838200" y="1066800"/>
            <a:ext cx="5464175" cy="7448550"/>
            <a:chOff x="838200" y="1066800"/>
            <a:chExt cx="5464175" cy="7448550"/>
          </a:xfrm>
        </p:grpSpPr>
        <p:sp>
          <p:nvSpPr>
            <p:cNvPr id="65" name="Google Shape;65;p3"/>
            <p:cNvSpPr/>
            <p:nvPr/>
          </p:nvSpPr>
          <p:spPr>
            <a:xfrm>
              <a:off x="838200" y="1066800"/>
              <a:ext cx="5449888" cy="10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s-CO" sz="24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Conocer al usuario exige ir más allá de una categoría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838200" y="2143125"/>
              <a:ext cx="876300" cy="95250"/>
            </a:xfrm>
            <a:prstGeom prst="roundRect">
              <a:avLst>
                <a:gd fmla="val 50000" name="adj"/>
              </a:avLst>
            </a:prstGeom>
            <a:solidFill>
              <a:srgbClr val="FFDA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838200" y="2286000"/>
              <a:ext cx="5464175" cy="1304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-CO" sz="12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Después de analizar el contexto externo en el que se desarrolla un proyecto, necesitamos acercarnos a las personas relacionadas con la situación que buscamos comprender. Categorías generales como “jóvenes”, “familias”, “estudiantes” o “adultos mayores” pueden ofrecer una primera delimitación, pero no nos permiten reconocer suficientemente cómo viven las personas, qué dificultades enfrentan, qué decisiones toman o qué esperan encontrar en una posible solución.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838200" y="3733800"/>
              <a:ext cx="5429250" cy="942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-CO" sz="12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El perfil del cliente o usuario es una representación estructurada que reúne las características relevantes de las personas para quienes formulamos un producto, servicio, intervención o proyecto. Nos permite aproximarnos a sus condiciones, necesidades, comportamientos, intereses, frustraciones y expectativas.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838200" y="4848225"/>
              <a:ext cx="542925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-CO" sz="12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Construir este perfil nos ayuda a orientar las decisiones hacia personas concretas y a reducir el riesgo de diseñar soluciones únicamente desde los gustos, experiencias o supuestos del equipo formulador.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838200" y="5819775"/>
              <a:ext cx="542925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0" lang="es-CO" sz="17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Figura 1. Cliente y usuario: relacionados, pero no siempre iguales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838200" y="6486525"/>
              <a:ext cx="2457450" cy="1295400"/>
            </a:xfrm>
            <a:prstGeom prst="roundRect">
              <a:avLst>
                <a:gd fmla="val 13235" name="adj"/>
              </a:avLst>
            </a:prstGeom>
            <a:solidFill>
              <a:srgbClr val="FFFFFF"/>
            </a:solidFill>
            <a:ln cap="flat" cmpd="sng" w="9525">
              <a:solidFill>
                <a:srgbClr val="D7CCD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838200" y="6486525"/>
              <a:ext cx="66675" cy="1295400"/>
            </a:xfrm>
            <a:prstGeom prst="roundRect">
              <a:avLst>
                <a:gd fmla="val 42857" name="adj"/>
              </a:avLst>
            </a:prstGeom>
            <a:solidFill>
              <a:srgbClr val="A7198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1019175" y="6638925"/>
              <a:ext cx="21145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0" lang="es-CO" sz="1700" u="none" cap="none" strike="noStrike">
                  <a:solidFill>
                    <a:srgbClr val="A71989"/>
                  </a:solidFill>
                  <a:latin typeface="Arial"/>
                  <a:ea typeface="Arial"/>
                  <a:cs typeface="Arial"/>
                  <a:sym typeface="Arial"/>
                </a:rPr>
                <a:t>CLIENTE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1019175" y="7181850"/>
              <a:ext cx="2114550" cy="514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-CO" sz="12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Participa en la decisión de adquisición o pago.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3810000" y="6486525"/>
              <a:ext cx="2457450" cy="1295400"/>
            </a:xfrm>
            <a:prstGeom prst="roundRect">
              <a:avLst>
                <a:gd fmla="val 13235" name="adj"/>
              </a:avLst>
            </a:prstGeom>
            <a:solidFill>
              <a:srgbClr val="FFFFFF"/>
            </a:solidFill>
            <a:ln cap="flat" cmpd="sng" w="9525">
              <a:solidFill>
                <a:srgbClr val="D7CCD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3"/>
            <p:cNvSpPr/>
            <p:nvPr/>
          </p:nvSpPr>
          <p:spPr>
            <a:xfrm>
              <a:off x="3810000" y="6486525"/>
              <a:ext cx="66675" cy="1295400"/>
            </a:xfrm>
            <a:prstGeom prst="roundRect">
              <a:avLst>
                <a:gd fmla="val 42857" name="adj"/>
              </a:avLst>
            </a:prstGeom>
            <a:solidFill>
              <a:srgbClr val="66409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3990975" y="6638925"/>
              <a:ext cx="21145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0" lang="es-CO" sz="17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USUARIO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3990975" y="7181850"/>
              <a:ext cx="2114550" cy="514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-CO" sz="12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Emplea o experimenta directamente la solución.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3"/>
            <p:cNvSpPr/>
            <p:nvPr/>
          </p:nvSpPr>
          <p:spPr>
            <a:xfrm>
              <a:off x="3381375" y="7105650"/>
              <a:ext cx="342900" cy="953"/>
            </a:xfrm>
            <a:custGeom>
              <a:rect b="b" l="l" r="r" t="t"/>
              <a:pathLst>
                <a:path extrusionOk="0" h="953" w="342900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cap="flat" cmpd="sng" w="1522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3"/>
            <p:cNvSpPr/>
            <p:nvPr/>
          </p:nvSpPr>
          <p:spPr>
            <a:xfrm>
              <a:off x="3675553" y="7105650"/>
              <a:ext cx="48722" cy="29872"/>
            </a:xfrm>
            <a:custGeom>
              <a:rect b="b" l="l" r="r" t="t"/>
              <a:pathLst>
                <a:path extrusionOk="0" h="29872" w="48722">
                  <a:moveTo>
                    <a:pt x="48722" y="0"/>
                  </a:moveTo>
                  <a:lnTo>
                    <a:pt x="0" y="29872"/>
                  </a:lnTo>
                </a:path>
              </a:pathLst>
            </a:custGeom>
            <a:noFill/>
            <a:ln cap="flat" cmpd="sng" w="1522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3"/>
            <p:cNvSpPr/>
            <p:nvPr/>
          </p:nvSpPr>
          <p:spPr>
            <a:xfrm>
              <a:off x="3675553" y="7075778"/>
              <a:ext cx="48722" cy="29872"/>
            </a:xfrm>
            <a:custGeom>
              <a:rect b="b" l="l" r="r" t="t"/>
              <a:pathLst>
                <a:path extrusionOk="0" h="29872" w="48722">
                  <a:moveTo>
                    <a:pt x="48722" y="29872"/>
                  </a:moveTo>
                  <a:lnTo>
                    <a:pt x="0" y="0"/>
                  </a:lnTo>
                </a:path>
              </a:pathLst>
            </a:custGeom>
            <a:noFill/>
            <a:ln cap="flat" cmpd="sng" w="1522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3"/>
            <p:cNvSpPr/>
            <p:nvPr/>
          </p:nvSpPr>
          <p:spPr>
            <a:xfrm>
              <a:off x="3381375" y="7105650"/>
              <a:ext cx="342900" cy="953"/>
            </a:xfrm>
            <a:custGeom>
              <a:rect b="b" l="l" r="r" t="t"/>
              <a:pathLst>
                <a:path extrusionOk="0" h="953" w="342900">
                  <a:moveTo>
                    <a:pt x="342900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522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3"/>
            <p:cNvSpPr/>
            <p:nvPr/>
          </p:nvSpPr>
          <p:spPr>
            <a:xfrm>
              <a:off x="3381375" y="7075778"/>
              <a:ext cx="48722" cy="29872"/>
            </a:xfrm>
            <a:custGeom>
              <a:rect b="b" l="l" r="r" t="t"/>
              <a:pathLst>
                <a:path extrusionOk="0" h="29872" w="48722">
                  <a:moveTo>
                    <a:pt x="0" y="29872"/>
                  </a:moveTo>
                  <a:lnTo>
                    <a:pt x="48722" y="0"/>
                  </a:lnTo>
                </a:path>
              </a:pathLst>
            </a:custGeom>
            <a:noFill/>
            <a:ln cap="flat" cmpd="sng" w="1522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3"/>
            <p:cNvSpPr/>
            <p:nvPr/>
          </p:nvSpPr>
          <p:spPr>
            <a:xfrm>
              <a:off x="3381375" y="7105650"/>
              <a:ext cx="48722" cy="29872"/>
            </a:xfrm>
            <a:custGeom>
              <a:rect b="b" l="l" r="r" t="t"/>
              <a:pathLst>
                <a:path extrusionOk="0" h="29872" w="48722">
                  <a:moveTo>
                    <a:pt x="0" y="0"/>
                  </a:moveTo>
                  <a:lnTo>
                    <a:pt x="48722" y="29872"/>
                  </a:lnTo>
                </a:path>
              </a:pathLst>
            </a:custGeom>
            <a:noFill/>
            <a:ln cap="flat" cmpd="sng" w="1522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838200" y="7972425"/>
              <a:ext cx="1589088" cy="295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0" lang="es-CO" sz="1700" u="none" cap="none" strike="noStrike">
                  <a:solidFill>
                    <a:srgbClr val="A71989"/>
                  </a:solidFill>
                  <a:latin typeface="Arial"/>
                  <a:ea typeface="Arial"/>
                  <a:cs typeface="Arial"/>
                  <a:sym typeface="Arial"/>
                </a:rPr>
                <a:t>Ejemplo aplicado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3"/>
            <p:cNvSpPr/>
            <p:nvPr/>
          </p:nvSpPr>
          <p:spPr>
            <a:xfrm>
              <a:off x="2571750" y="7972425"/>
              <a:ext cx="3695700" cy="542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-CO" sz="12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Una institución adquiere una plataforma educativa → docentes y estudiantes la utilizan.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"/>
          <p:cNvSpPr/>
          <p:nvPr/>
        </p:nvSpPr>
        <p:spPr>
          <a:xfrm>
            <a:off x="836364" y="720632"/>
            <a:ext cx="4114227" cy="172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1" i="0" lang="es-CO" sz="825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Artículo educativo · Perfil de usuario y seguimiento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542109" y="9242515"/>
            <a:ext cx="4000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O" sz="1000" u="none" cap="none" strike="noStrike">
                <a:solidFill>
                  <a:srgbClr val="B31686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4" name="Google Shape;94;p4"/>
          <p:cNvGrpSpPr/>
          <p:nvPr/>
        </p:nvGrpSpPr>
        <p:grpSpPr>
          <a:xfrm>
            <a:off x="722603" y="1066800"/>
            <a:ext cx="5573422" cy="7762875"/>
            <a:chOff x="722603" y="1066800"/>
            <a:chExt cx="5573422" cy="7762875"/>
          </a:xfrm>
        </p:grpSpPr>
        <p:sp>
          <p:nvSpPr>
            <p:cNvPr id="95" name="Google Shape;95;p4"/>
            <p:cNvSpPr/>
            <p:nvPr/>
          </p:nvSpPr>
          <p:spPr>
            <a:xfrm>
              <a:off x="838200" y="1066800"/>
              <a:ext cx="5429250" cy="10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1" lang="es-CO" sz="24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Storytelling</a:t>
              </a:r>
              <a:r>
                <a:rPr b="1" i="0" lang="es-CO" sz="24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: convertir datos en una experiencia comprensible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4"/>
            <p:cNvSpPr/>
            <p:nvPr/>
          </p:nvSpPr>
          <p:spPr>
            <a:xfrm>
              <a:off x="838200" y="2143125"/>
              <a:ext cx="876300" cy="95250"/>
            </a:xfrm>
            <a:prstGeom prst="roundRect">
              <a:avLst>
                <a:gd fmla="val 50000" name="adj"/>
              </a:avLst>
            </a:prstGeom>
            <a:solidFill>
              <a:srgbClr val="FFDA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4"/>
            <p:cNvSpPr/>
            <p:nvPr/>
          </p:nvSpPr>
          <p:spPr>
            <a:xfrm>
              <a:off x="838200" y="2276475"/>
              <a:ext cx="542925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-CO" sz="12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El </a:t>
              </a:r>
              <a:r>
                <a:rPr b="0" i="1" lang="es-CO" sz="12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storytelling</a:t>
              </a:r>
              <a:r>
                <a:rPr b="0" i="0" lang="es-CO" sz="12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 nos permite organizar la información mediante una estructura narrativa capaz de representar experiencias, acontecimientos y relaciones. Aplicado al análisis del usuario, n</a:t>
              </a:r>
              <a:r>
                <a:rPr lang="es-CO" sz="1200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os </a:t>
              </a:r>
              <a:r>
                <a:rPr b="0" i="0" lang="es-CO" sz="12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ayuda a transformar datos aislados en una historia que muestra cómo una persona vive determinada situación.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4"/>
            <p:cNvSpPr/>
            <p:nvPr/>
          </p:nvSpPr>
          <p:spPr>
            <a:xfrm>
              <a:off x="838200" y="3333750"/>
              <a:ext cx="5429250" cy="11334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-CO" sz="12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Decir que alguien “necesita ahorrar tiempo”, por ejemplo, proporciona información limitada. En cambio, conocer las actividades que realiza durante un día habitual, los momentos en los que aparecen dificultades y las decisiones que debe tomar permite comprender con mayor precisión por qué el tiempo constituye un problema y qué consecuencias produce en su experiencia.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4"/>
            <p:cNvSpPr/>
            <p:nvPr/>
          </p:nvSpPr>
          <p:spPr>
            <a:xfrm>
              <a:off x="838200" y="4572000"/>
              <a:ext cx="5429250" cy="619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-CO" sz="12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Una narrativa puede integrar el contexto cotidiano, las responsabilidades, los objetivos que intenta alcanzar, los obstáculos que encuentra y las soluciones que utiliza actualmente.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4"/>
            <p:cNvSpPr/>
            <p:nvPr/>
          </p:nvSpPr>
          <p:spPr>
            <a:xfrm>
              <a:off x="838200" y="5334000"/>
              <a:ext cx="5457825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0" lang="es-CO" sz="17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Figura 2. Del dato aislado a la comprensión de la experiencia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4"/>
            <p:cNvSpPr/>
            <p:nvPr/>
          </p:nvSpPr>
          <p:spPr>
            <a:xfrm>
              <a:off x="838200" y="5962650"/>
              <a:ext cx="5429250" cy="400050"/>
            </a:xfrm>
            <a:prstGeom prst="roundRect">
              <a:avLst>
                <a:gd fmla="val 23810" name="adj"/>
              </a:avLst>
            </a:prstGeom>
            <a:solidFill>
              <a:srgbClr val="FFE7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4"/>
            <p:cNvSpPr/>
            <p:nvPr/>
          </p:nvSpPr>
          <p:spPr>
            <a:xfrm>
              <a:off x="962025" y="6067425"/>
              <a:ext cx="1381125" cy="247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s-CO" sz="12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DATO AISLADO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4"/>
            <p:cNvSpPr/>
            <p:nvPr/>
          </p:nvSpPr>
          <p:spPr>
            <a:xfrm>
              <a:off x="2400300" y="6010275"/>
              <a:ext cx="3733800" cy="3619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-CO" sz="12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“Necesita ahorrar tiempo”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4"/>
            <p:cNvSpPr/>
            <p:nvPr/>
          </p:nvSpPr>
          <p:spPr>
            <a:xfrm>
              <a:off x="752475" y="6181725"/>
              <a:ext cx="953" cy="428625"/>
            </a:xfrm>
            <a:custGeom>
              <a:rect b="b" l="l" r="r" t="t"/>
              <a:pathLst>
                <a:path extrusionOk="0" h="428625" w="953">
                  <a:moveTo>
                    <a:pt x="0" y="0"/>
                  </a:moveTo>
                  <a:lnTo>
                    <a:pt x="0" y="428625"/>
                  </a:lnTo>
                </a:path>
              </a:pathLst>
            </a:custGeom>
            <a:noFill/>
            <a:ln cap="flat" cmpd="sng" w="15225">
              <a:solidFill>
                <a:srgbClr val="A719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4"/>
            <p:cNvSpPr/>
            <p:nvPr/>
          </p:nvSpPr>
          <p:spPr>
            <a:xfrm>
              <a:off x="722603" y="6561628"/>
              <a:ext cx="29872" cy="48722"/>
            </a:xfrm>
            <a:custGeom>
              <a:rect b="b" l="l" r="r" t="t"/>
              <a:pathLst>
                <a:path extrusionOk="0" h="48722" w="29872">
                  <a:moveTo>
                    <a:pt x="29872" y="48722"/>
                  </a:moveTo>
                  <a:lnTo>
                    <a:pt x="0" y="0"/>
                  </a:lnTo>
                </a:path>
              </a:pathLst>
            </a:custGeom>
            <a:noFill/>
            <a:ln cap="flat" cmpd="sng" w="15225">
              <a:solidFill>
                <a:srgbClr val="A719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4"/>
            <p:cNvSpPr/>
            <p:nvPr/>
          </p:nvSpPr>
          <p:spPr>
            <a:xfrm>
              <a:off x="752475" y="6561628"/>
              <a:ext cx="29872" cy="48722"/>
            </a:xfrm>
            <a:custGeom>
              <a:rect b="b" l="l" r="r" t="t"/>
              <a:pathLst>
                <a:path extrusionOk="0" h="48722" w="29872">
                  <a:moveTo>
                    <a:pt x="0" y="48722"/>
                  </a:moveTo>
                  <a:lnTo>
                    <a:pt x="29872" y="0"/>
                  </a:lnTo>
                </a:path>
              </a:pathLst>
            </a:custGeom>
            <a:noFill/>
            <a:ln cap="flat" cmpd="sng" w="15225">
              <a:solidFill>
                <a:srgbClr val="A719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4"/>
            <p:cNvSpPr/>
            <p:nvPr/>
          </p:nvSpPr>
          <p:spPr>
            <a:xfrm>
              <a:off x="838200" y="6419850"/>
              <a:ext cx="5429250" cy="400050"/>
            </a:xfrm>
            <a:prstGeom prst="roundRect">
              <a:avLst>
                <a:gd fmla="val 23810" name="adj"/>
              </a:avLst>
            </a:prstGeom>
            <a:solidFill>
              <a:srgbClr val="F4F0F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4"/>
            <p:cNvSpPr/>
            <p:nvPr/>
          </p:nvSpPr>
          <p:spPr>
            <a:xfrm>
              <a:off x="962025" y="6524625"/>
              <a:ext cx="1381125" cy="247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s-CO" sz="12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CONTEXTO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4"/>
            <p:cNvSpPr/>
            <p:nvPr/>
          </p:nvSpPr>
          <p:spPr>
            <a:xfrm>
              <a:off x="2400300" y="6467475"/>
              <a:ext cx="3733800" cy="3619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-CO" sz="12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¿Qué actividades realizan durante un día habitual?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4"/>
            <p:cNvSpPr/>
            <p:nvPr/>
          </p:nvSpPr>
          <p:spPr>
            <a:xfrm>
              <a:off x="752475" y="6638925"/>
              <a:ext cx="953" cy="428625"/>
            </a:xfrm>
            <a:custGeom>
              <a:rect b="b" l="l" r="r" t="t"/>
              <a:pathLst>
                <a:path extrusionOk="0" h="428625" w="953">
                  <a:moveTo>
                    <a:pt x="0" y="0"/>
                  </a:moveTo>
                  <a:lnTo>
                    <a:pt x="0" y="428625"/>
                  </a:lnTo>
                </a:path>
              </a:pathLst>
            </a:custGeom>
            <a:noFill/>
            <a:ln cap="flat" cmpd="sng" w="15225">
              <a:solidFill>
                <a:srgbClr val="A719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4"/>
            <p:cNvSpPr/>
            <p:nvPr/>
          </p:nvSpPr>
          <p:spPr>
            <a:xfrm>
              <a:off x="722603" y="7018828"/>
              <a:ext cx="29872" cy="48722"/>
            </a:xfrm>
            <a:custGeom>
              <a:rect b="b" l="l" r="r" t="t"/>
              <a:pathLst>
                <a:path extrusionOk="0" h="48722" w="29872">
                  <a:moveTo>
                    <a:pt x="29872" y="48722"/>
                  </a:moveTo>
                  <a:lnTo>
                    <a:pt x="0" y="0"/>
                  </a:lnTo>
                </a:path>
              </a:pathLst>
            </a:custGeom>
            <a:noFill/>
            <a:ln cap="flat" cmpd="sng" w="15225">
              <a:solidFill>
                <a:srgbClr val="A719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4"/>
            <p:cNvSpPr/>
            <p:nvPr/>
          </p:nvSpPr>
          <p:spPr>
            <a:xfrm>
              <a:off x="752475" y="7018828"/>
              <a:ext cx="29872" cy="48722"/>
            </a:xfrm>
            <a:custGeom>
              <a:rect b="b" l="l" r="r" t="t"/>
              <a:pathLst>
                <a:path extrusionOk="0" h="48722" w="29872">
                  <a:moveTo>
                    <a:pt x="0" y="48722"/>
                  </a:moveTo>
                  <a:lnTo>
                    <a:pt x="29872" y="0"/>
                  </a:lnTo>
                </a:path>
              </a:pathLst>
            </a:custGeom>
            <a:noFill/>
            <a:ln cap="flat" cmpd="sng" w="15225">
              <a:solidFill>
                <a:srgbClr val="A719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838200" y="6877050"/>
              <a:ext cx="5429250" cy="400050"/>
            </a:xfrm>
            <a:prstGeom prst="roundRect">
              <a:avLst>
                <a:gd fmla="val 23810" name="adj"/>
              </a:avLst>
            </a:prstGeom>
            <a:solidFill>
              <a:srgbClr val="FFE7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962025" y="6981825"/>
              <a:ext cx="1381125" cy="247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s-CO" sz="12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EXPERIENCIA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4"/>
            <p:cNvSpPr/>
            <p:nvPr/>
          </p:nvSpPr>
          <p:spPr>
            <a:xfrm>
              <a:off x="2400300" y="6924675"/>
              <a:ext cx="3733800" cy="3619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-CO" sz="12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¿Dónde aparecen dificultades y qué decisiones debe tomar?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4"/>
            <p:cNvSpPr/>
            <p:nvPr/>
          </p:nvSpPr>
          <p:spPr>
            <a:xfrm>
              <a:off x="752475" y="7096125"/>
              <a:ext cx="953" cy="428625"/>
            </a:xfrm>
            <a:custGeom>
              <a:rect b="b" l="l" r="r" t="t"/>
              <a:pathLst>
                <a:path extrusionOk="0" h="428625" w="953">
                  <a:moveTo>
                    <a:pt x="0" y="0"/>
                  </a:moveTo>
                  <a:lnTo>
                    <a:pt x="0" y="428625"/>
                  </a:lnTo>
                </a:path>
              </a:pathLst>
            </a:custGeom>
            <a:noFill/>
            <a:ln cap="flat" cmpd="sng" w="15225">
              <a:solidFill>
                <a:srgbClr val="A719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4"/>
            <p:cNvSpPr/>
            <p:nvPr/>
          </p:nvSpPr>
          <p:spPr>
            <a:xfrm>
              <a:off x="722603" y="7476028"/>
              <a:ext cx="29872" cy="48722"/>
            </a:xfrm>
            <a:custGeom>
              <a:rect b="b" l="l" r="r" t="t"/>
              <a:pathLst>
                <a:path extrusionOk="0" h="48722" w="29872">
                  <a:moveTo>
                    <a:pt x="29872" y="48722"/>
                  </a:moveTo>
                  <a:lnTo>
                    <a:pt x="0" y="0"/>
                  </a:lnTo>
                </a:path>
              </a:pathLst>
            </a:custGeom>
            <a:noFill/>
            <a:ln cap="flat" cmpd="sng" w="15225">
              <a:solidFill>
                <a:srgbClr val="A719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4"/>
            <p:cNvSpPr/>
            <p:nvPr/>
          </p:nvSpPr>
          <p:spPr>
            <a:xfrm>
              <a:off x="752475" y="7476028"/>
              <a:ext cx="29872" cy="48722"/>
            </a:xfrm>
            <a:custGeom>
              <a:rect b="b" l="l" r="r" t="t"/>
              <a:pathLst>
                <a:path extrusionOk="0" h="48722" w="29872">
                  <a:moveTo>
                    <a:pt x="0" y="48722"/>
                  </a:moveTo>
                  <a:lnTo>
                    <a:pt x="29872" y="0"/>
                  </a:lnTo>
                </a:path>
              </a:pathLst>
            </a:custGeom>
            <a:noFill/>
            <a:ln cap="flat" cmpd="sng" w="15225">
              <a:solidFill>
                <a:srgbClr val="A719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4"/>
            <p:cNvSpPr/>
            <p:nvPr/>
          </p:nvSpPr>
          <p:spPr>
            <a:xfrm>
              <a:off x="838200" y="7334250"/>
              <a:ext cx="5429250" cy="400050"/>
            </a:xfrm>
            <a:prstGeom prst="roundRect">
              <a:avLst>
                <a:gd fmla="val 23810" name="adj"/>
              </a:avLst>
            </a:prstGeom>
            <a:solidFill>
              <a:srgbClr val="F4F0F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4"/>
            <p:cNvSpPr/>
            <p:nvPr/>
          </p:nvSpPr>
          <p:spPr>
            <a:xfrm>
              <a:off x="962025" y="7439025"/>
              <a:ext cx="1381125" cy="247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s-CO" sz="12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COMPRENSIÓN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4"/>
            <p:cNvSpPr/>
            <p:nvPr/>
          </p:nvSpPr>
          <p:spPr>
            <a:xfrm>
              <a:off x="2400300" y="7381875"/>
              <a:ext cx="3733800" cy="3619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-CO" sz="12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¿Por qué el tiempo constituye un problema y cómo afecta su experiencia?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4"/>
            <p:cNvSpPr/>
            <p:nvPr/>
          </p:nvSpPr>
          <p:spPr>
            <a:xfrm>
              <a:off x="838200" y="7896225"/>
              <a:ext cx="5429250" cy="933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-CO" sz="12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Sin embargo, el </a:t>
              </a:r>
              <a:r>
                <a:rPr b="0" i="1" lang="es-CO" sz="12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storytelling</a:t>
              </a:r>
              <a:r>
                <a:rPr b="0" i="0" lang="es-CO" sz="12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 no debe convertirse en una construcción puramente ficticia. Su utilidad depende de que represente situaciones coherentes con la información disponible. Inventar comportamientos o necesidades para fortalecer una idea puede llevarnos a justificar artificialmente una solución que todavía no h</a:t>
              </a:r>
              <a:r>
                <a:rPr lang="es-CO" sz="1200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emos </a:t>
              </a:r>
              <a:r>
                <a:rPr b="0" i="0" lang="es-CO" sz="12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validad</a:t>
              </a:r>
              <a:r>
                <a:rPr lang="es-CO" sz="1200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r>
                <a:rPr b="0" i="0" lang="es-CO" sz="12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/>
          <p:cNvSpPr/>
          <p:nvPr/>
        </p:nvSpPr>
        <p:spPr>
          <a:xfrm>
            <a:off x="836364" y="720632"/>
            <a:ext cx="4114227" cy="172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1" i="0" lang="es-CO" sz="825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Artículo educativo · Perfil de usuario y seguimiento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542109" y="9242515"/>
            <a:ext cx="4000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O" sz="1000" u="none" cap="none" strike="noStrike">
                <a:solidFill>
                  <a:srgbClr val="B31686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0" name="Google Shape;130;p5"/>
          <p:cNvGrpSpPr/>
          <p:nvPr/>
        </p:nvGrpSpPr>
        <p:grpSpPr>
          <a:xfrm>
            <a:off x="838200" y="1066800"/>
            <a:ext cx="5461000" cy="7848600"/>
            <a:chOff x="838200" y="1066800"/>
            <a:chExt cx="5461000" cy="7848600"/>
          </a:xfrm>
        </p:grpSpPr>
        <p:sp>
          <p:nvSpPr>
            <p:cNvPr id="131" name="Google Shape;131;p5"/>
            <p:cNvSpPr/>
            <p:nvPr/>
          </p:nvSpPr>
          <p:spPr>
            <a:xfrm>
              <a:off x="838200" y="1066800"/>
              <a:ext cx="5429250" cy="10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s-CO" sz="24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Arquetipos: reconocer patrones sin convertirlos en estereotipos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5"/>
            <p:cNvSpPr/>
            <p:nvPr/>
          </p:nvSpPr>
          <p:spPr>
            <a:xfrm>
              <a:off x="838200" y="2143125"/>
              <a:ext cx="876300" cy="95250"/>
            </a:xfrm>
            <a:prstGeom prst="roundRect">
              <a:avLst>
                <a:gd fmla="val 50000" name="adj"/>
              </a:avLst>
            </a:prstGeom>
            <a:solidFill>
              <a:srgbClr val="FFDA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5"/>
            <p:cNvSpPr/>
            <p:nvPr/>
          </p:nvSpPr>
          <p:spPr>
            <a:xfrm>
              <a:off x="838200" y="2257425"/>
              <a:ext cx="5429250" cy="923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-CO" sz="12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Un arquetipo de usuario reúne características y patrones compartidos por determinados tipos de personas. Puede sintetizar motivaciones, necesidades, comportamientos, expectativas y dificultades frecuentes, ofreciendo una referencia común para analizar las decisiones relacionadas con el proyecto.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5"/>
            <p:cNvSpPr/>
            <p:nvPr/>
          </p:nvSpPr>
          <p:spPr>
            <a:xfrm>
              <a:off x="838200" y="3295650"/>
              <a:ext cx="5461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-CO" sz="12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Esto no significa que todas las personas pertenecientes a un grupo sean iguales. Ningún personaje puede representar completamente la diversidad de una población.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5"/>
            <p:cNvSpPr/>
            <p:nvPr/>
          </p:nvSpPr>
          <p:spPr>
            <a:xfrm>
              <a:off x="838200" y="3990975"/>
              <a:ext cx="1524000" cy="276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0" lang="es-CO" sz="1700" u="none" cap="none" strike="noStrike">
                  <a:solidFill>
                    <a:srgbClr val="A71989"/>
                  </a:solidFill>
                  <a:latin typeface="Arial"/>
                  <a:ea typeface="Arial"/>
                  <a:cs typeface="Arial"/>
                  <a:sym typeface="Arial"/>
                </a:rPr>
                <a:t>Destacado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5"/>
            <p:cNvSpPr/>
            <p:nvPr/>
          </p:nvSpPr>
          <p:spPr>
            <a:xfrm>
              <a:off x="838200" y="4333875"/>
              <a:ext cx="5429250" cy="952500"/>
            </a:xfrm>
            <a:prstGeom prst="roundRect">
              <a:avLst>
                <a:gd fmla="val 18000" name="adj"/>
              </a:avLst>
            </a:prstGeom>
            <a:solidFill>
              <a:srgbClr val="A7198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5"/>
            <p:cNvSpPr/>
            <p:nvPr/>
          </p:nvSpPr>
          <p:spPr>
            <a:xfrm>
              <a:off x="1019175" y="4448175"/>
              <a:ext cx="5048250" cy="276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0" lang="es-CO" sz="17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Arquetipo ≠ descripción rígida de un grupo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5"/>
            <p:cNvSpPr/>
            <p:nvPr/>
          </p:nvSpPr>
          <p:spPr>
            <a:xfrm>
              <a:off x="1019175" y="4781550"/>
              <a:ext cx="504825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-CO" sz="12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Los arquetipos funcionan como modelos orientadores y debemos revisarlos conforme aparece nueva información.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5"/>
            <p:cNvSpPr/>
            <p:nvPr/>
          </p:nvSpPr>
          <p:spPr>
            <a:xfrm>
              <a:off x="838200" y="5372100"/>
              <a:ext cx="54292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0" lang="es-CO" sz="17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Figura 3. Construimos una hipótesis de usuario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5"/>
            <p:cNvSpPr/>
            <p:nvPr/>
          </p:nvSpPr>
          <p:spPr>
            <a:xfrm>
              <a:off x="2057400" y="5781675"/>
              <a:ext cx="2971800" cy="381000"/>
            </a:xfrm>
            <a:prstGeom prst="roundRect">
              <a:avLst>
                <a:gd fmla="val 45000" name="adj"/>
              </a:avLst>
            </a:prstGeom>
            <a:solidFill>
              <a:srgbClr val="66409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5"/>
            <p:cNvSpPr/>
            <p:nvPr/>
          </p:nvSpPr>
          <p:spPr>
            <a:xfrm>
              <a:off x="2133600" y="5886450"/>
              <a:ext cx="28194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s-CO" sz="11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USUARIO REPRESENTATIVO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5"/>
            <p:cNvSpPr/>
            <p:nvPr/>
          </p:nvSpPr>
          <p:spPr>
            <a:xfrm>
              <a:off x="1466850" y="6238875"/>
              <a:ext cx="953" cy="600075"/>
            </a:xfrm>
            <a:custGeom>
              <a:rect b="b" l="l" r="r" t="t"/>
              <a:pathLst>
                <a:path extrusionOk="0" h="600075" w="953">
                  <a:moveTo>
                    <a:pt x="0" y="0"/>
                  </a:moveTo>
                  <a:lnTo>
                    <a:pt x="0" y="600075"/>
                  </a:lnTo>
                </a:path>
              </a:pathLst>
            </a:custGeom>
            <a:noFill/>
            <a:ln cap="flat" cmpd="sng" w="15225">
              <a:solidFill>
                <a:srgbClr val="D7CCD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5"/>
            <p:cNvSpPr/>
            <p:nvPr/>
          </p:nvSpPr>
          <p:spPr>
            <a:xfrm>
              <a:off x="2847975" y="6238875"/>
              <a:ext cx="953" cy="600075"/>
            </a:xfrm>
            <a:custGeom>
              <a:rect b="b" l="l" r="r" t="t"/>
              <a:pathLst>
                <a:path extrusionOk="0" h="600075" w="953">
                  <a:moveTo>
                    <a:pt x="0" y="0"/>
                  </a:moveTo>
                  <a:lnTo>
                    <a:pt x="0" y="600075"/>
                  </a:lnTo>
                </a:path>
              </a:pathLst>
            </a:custGeom>
            <a:noFill/>
            <a:ln cap="flat" cmpd="sng" w="15225">
              <a:solidFill>
                <a:srgbClr val="D7CCD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5"/>
            <p:cNvSpPr/>
            <p:nvPr/>
          </p:nvSpPr>
          <p:spPr>
            <a:xfrm>
              <a:off x="4229100" y="6238875"/>
              <a:ext cx="953" cy="600075"/>
            </a:xfrm>
            <a:custGeom>
              <a:rect b="b" l="l" r="r" t="t"/>
              <a:pathLst>
                <a:path extrusionOk="0" h="600075" w="953">
                  <a:moveTo>
                    <a:pt x="0" y="0"/>
                  </a:moveTo>
                  <a:lnTo>
                    <a:pt x="0" y="600075"/>
                  </a:lnTo>
                </a:path>
              </a:pathLst>
            </a:custGeom>
            <a:noFill/>
            <a:ln cap="flat" cmpd="sng" w="15225">
              <a:solidFill>
                <a:srgbClr val="D7CCD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5"/>
            <p:cNvSpPr/>
            <p:nvPr/>
          </p:nvSpPr>
          <p:spPr>
            <a:xfrm>
              <a:off x="5610225" y="6238875"/>
              <a:ext cx="953" cy="600075"/>
            </a:xfrm>
            <a:custGeom>
              <a:rect b="b" l="l" r="r" t="t"/>
              <a:pathLst>
                <a:path extrusionOk="0" h="600075" w="953">
                  <a:moveTo>
                    <a:pt x="0" y="0"/>
                  </a:moveTo>
                  <a:lnTo>
                    <a:pt x="0" y="600075"/>
                  </a:lnTo>
                </a:path>
              </a:pathLst>
            </a:custGeom>
            <a:noFill/>
            <a:ln cap="flat" cmpd="sng" w="15225">
              <a:solidFill>
                <a:srgbClr val="D7CCD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5"/>
            <p:cNvSpPr/>
            <p:nvPr/>
          </p:nvSpPr>
          <p:spPr>
            <a:xfrm>
              <a:off x="838200" y="6353175"/>
              <a:ext cx="1285875" cy="409575"/>
            </a:xfrm>
            <a:prstGeom prst="roundRect">
              <a:avLst>
                <a:gd fmla="val 25581" name="adj"/>
              </a:avLst>
            </a:prstGeom>
            <a:solidFill>
              <a:srgbClr val="F4F0F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5"/>
            <p:cNvSpPr/>
            <p:nvPr/>
          </p:nvSpPr>
          <p:spPr>
            <a:xfrm>
              <a:off x="914400" y="6381750"/>
              <a:ext cx="1133475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s-CO" sz="12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Contexto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5"/>
            <p:cNvSpPr/>
            <p:nvPr/>
          </p:nvSpPr>
          <p:spPr>
            <a:xfrm>
              <a:off x="2219325" y="6353175"/>
              <a:ext cx="1285875" cy="409575"/>
            </a:xfrm>
            <a:prstGeom prst="roundRect">
              <a:avLst>
                <a:gd fmla="val 25581" name="adj"/>
              </a:avLst>
            </a:prstGeom>
            <a:solidFill>
              <a:srgbClr val="F4F0F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5"/>
            <p:cNvSpPr/>
            <p:nvPr/>
          </p:nvSpPr>
          <p:spPr>
            <a:xfrm>
              <a:off x="2295525" y="6381750"/>
              <a:ext cx="1133475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s-CO" sz="12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Ocupación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5"/>
            <p:cNvSpPr/>
            <p:nvPr/>
          </p:nvSpPr>
          <p:spPr>
            <a:xfrm>
              <a:off x="3600450" y="6353175"/>
              <a:ext cx="1285875" cy="409575"/>
            </a:xfrm>
            <a:prstGeom prst="roundRect">
              <a:avLst>
                <a:gd fmla="val 25581" name="adj"/>
              </a:avLst>
            </a:prstGeom>
            <a:solidFill>
              <a:srgbClr val="F4F0F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5"/>
            <p:cNvSpPr/>
            <p:nvPr/>
          </p:nvSpPr>
          <p:spPr>
            <a:xfrm>
              <a:off x="3676650" y="6381750"/>
              <a:ext cx="1133475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s-CO" sz="12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Hábitos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5"/>
            <p:cNvSpPr/>
            <p:nvPr/>
          </p:nvSpPr>
          <p:spPr>
            <a:xfrm>
              <a:off x="4981575" y="6353175"/>
              <a:ext cx="1285875" cy="409575"/>
            </a:xfrm>
            <a:prstGeom prst="roundRect">
              <a:avLst>
                <a:gd fmla="val 25581" name="adj"/>
              </a:avLst>
            </a:prstGeom>
            <a:solidFill>
              <a:srgbClr val="F4F0F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5"/>
            <p:cNvSpPr/>
            <p:nvPr/>
          </p:nvSpPr>
          <p:spPr>
            <a:xfrm>
              <a:off x="5057775" y="6381750"/>
              <a:ext cx="1133475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s-CO" sz="12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Rutina cotidiana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5"/>
            <p:cNvSpPr/>
            <p:nvPr/>
          </p:nvSpPr>
          <p:spPr>
            <a:xfrm>
              <a:off x="838200" y="6838950"/>
              <a:ext cx="1285875" cy="409575"/>
            </a:xfrm>
            <a:prstGeom prst="roundRect">
              <a:avLst>
                <a:gd fmla="val 25581" name="adj"/>
              </a:avLst>
            </a:prstGeom>
            <a:solidFill>
              <a:srgbClr val="F4F0F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5"/>
            <p:cNvSpPr/>
            <p:nvPr/>
          </p:nvSpPr>
          <p:spPr>
            <a:xfrm>
              <a:off x="914400" y="6867525"/>
              <a:ext cx="1133475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s-CO" sz="12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Aspiraciones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5"/>
            <p:cNvSpPr/>
            <p:nvPr/>
          </p:nvSpPr>
          <p:spPr>
            <a:xfrm>
              <a:off x="2219325" y="6838950"/>
              <a:ext cx="1285875" cy="409575"/>
            </a:xfrm>
            <a:prstGeom prst="roundRect">
              <a:avLst>
                <a:gd fmla="val 25581" name="adj"/>
              </a:avLst>
            </a:prstGeom>
            <a:solidFill>
              <a:srgbClr val="F4F0F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5"/>
            <p:cNvSpPr/>
            <p:nvPr/>
          </p:nvSpPr>
          <p:spPr>
            <a:xfrm>
              <a:off x="2295525" y="6867525"/>
              <a:ext cx="1133475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s-CO" sz="12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Frustraciones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5"/>
            <p:cNvSpPr/>
            <p:nvPr/>
          </p:nvSpPr>
          <p:spPr>
            <a:xfrm>
              <a:off x="3600450" y="6838950"/>
              <a:ext cx="1285875" cy="409575"/>
            </a:xfrm>
            <a:prstGeom prst="roundRect">
              <a:avLst>
                <a:gd fmla="val 25581" name="adj"/>
              </a:avLst>
            </a:prstGeom>
            <a:solidFill>
              <a:srgbClr val="F4F0F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5"/>
            <p:cNvSpPr/>
            <p:nvPr/>
          </p:nvSpPr>
          <p:spPr>
            <a:xfrm>
              <a:off x="3676650" y="6867525"/>
              <a:ext cx="1133475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s-CO" sz="12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Intereses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5"/>
            <p:cNvSpPr/>
            <p:nvPr/>
          </p:nvSpPr>
          <p:spPr>
            <a:xfrm>
              <a:off x="4981575" y="6838950"/>
              <a:ext cx="1285875" cy="409575"/>
            </a:xfrm>
            <a:prstGeom prst="roundRect">
              <a:avLst>
                <a:gd fmla="val 25581" name="adj"/>
              </a:avLst>
            </a:prstGeom>
            <a:solidFill>
              <a:srgbClr val="F4F0F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5"/>
            <p:cNvSpPr/>
            <p:nvPr/>
          </p:nvSpPr>
          <p:spPr>
            <a:xfrm>
              <a:off x="5057775" y="6867525"/>
              <a:ext cx="1133475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s-CO" sz="12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Relación con el problema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5"/>
            <p:cNvSpPr/>
            <p:nvPr/>
          </p:nvSpPr>
          <p:spPr>
            <a:xfrm>
              <a:off x="1457325" y="6238875"/>
              <a:ext cx="4133850" cy="953"/>
            </a:xfrm>
            <a:custGeom>
              <a:rect b="b" l="l" r="r" t="t"/>
              <a:pathLst>
                <a:path extrusionOk="0" h="953" w="4133850">
                  <a:moveTo>
                    <a:pt x="0" y="0"/>
                  </a:moveTo>
                  <a:lnTo>
                    <a:pt x="4133850" y="0"/>
                  </a:lnTo>
                </a:path>
              </a:pathLst>
            </a:custGeom>
            <a:noFill/>
            <a:ln cap="flat" cmpd="sng" w="15225">
              <a:solidFill>
                <a:srgbClr val="D7CCD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5"/>
            <p:cNvSpPr/>
            <p:nvPr/>
          </p:nvSpPr>
          <p:spPr>
            <a:xfrm>
              <a:off x="3543300" y="6162675"/>
              <a:ext cx="953" cy="76200"/>
            </a:xfrm>
            <a:custGeom>
              <a:rect b="b" l="l" r="r" t="t"/>
              <a:pathLst>
                <a:path extrusionOk="0" h="76200" w="953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noFill/>
            <a:ln cap="flat" cmpd="sng" w="15225">
              <a:solidFill>
                <a:srgbClr val="D7CCD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5"/>
            <p:cNvSpPr/>
            <p:nvPr/>
          </p:nvSpPr>
          <p:spPr>
            <a:xfrm>
              <a:off x="838200" y="7381875"/>
              <a:ext cx="542925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-CO" sz="12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No necesitamos incorporar todas las variables posibles. Seleccionamos aquellas que ayudan a comprender cómo la persona experimenta la necesidad y cómo podría relacionarse con la solución.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5"/>
            <p:cNvSpPr/>
            <p:nvPr/>
          </p:nvSpPr>
          <p:spPr>
            <a:xfrm>
              <a:off x="838200" y="8039100"/>
              <a:ext cx="54292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s-CO" sz="1200" u="none" cap="none" strike="noStrike">
                  <a:solidFill>
                    <a:srgbClr val="A71989"/>
                  </a:solidFill>
                  <a:latin typeface="Arial"/>
                  <a:ea typeface="Arial"/>
                  <a:cs typeface="Arial"/>
                  <a:sym typeface="Arial"/>
                </a:rPr>
                <a:t>Hipótesis inicial → posteriormente debe contrastarse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5"/>
            <p:cNvSpPr/>
            <p:nvPr/>
          </p:nvSpPr>
          <p:spPr>
            <a:xfrm>
              <a:off x="838200" y="8362950"/>
              <a:ext cx="5429250" cy="552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-CO" sz="12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El personaje construido inicialmente no constituye una descripción definitiva. En las primeras etapas funciona como una hipótesis de usuario que posteriormente deberá contrastarse mediante observaciones, entrevistas u otras técnicas de validación.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"/>
          <p:cNvSpPr/>
          <p:nvPr/>
        </p:nvSpPr>
        <p:spPr>
          <a:xfrm>
            <a:off x="836364" y="720632"/>
            <a:ext cx="4114227" cy="172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1" i="0" lang="es-CO" sz="825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Artículo educativo · Perfil de usuario y seguimiento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542109" y="9242515"/>
            <a:ext cx="4000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O" sz="1000" u="none" cap="none" strike="noStrike">
                <a:solidFill>
                  <a:srgbClr val="B31686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4" name="Google Shape;174;p6"/>
          <p:cNvGrpSpPr/>
          <p:nvPr/>
        </p:nvGrpSpPr>
        <p:grpSpPr>
          <a:xfrm>
            <a:off x="838200" y="1066800"/>
            <a:ext cx="5453063" cy="7677150"/>
            <a:chOff x="838200" y="1066800"/>
            <a:chExt cx="5453063" cy="7677150"/>
          </a:xfrm>
        </p:grpSpPr>
        <p:sp>
          <p:nvSpPr>
            <p:cNvPr id="175" name="Google Shape;175;p6"/>
            <p:cNvSpPr/>
            <p:nvPr/>
          </p:nvSpPr>
          <p:spPr>
            <a:xfrm>
              <a:off x="838200" y="1066800"/>
              <a:ext cx="5453063" cy="10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1" lang="es-CO" sz="24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Shadowing</a:t>
              </a:r>
              <a:r>
                <a:rPr b="1" i="0" lang="es-CO" sz="24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: acercarnos a lo que realmente ocurre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6"/>
            <p:cNvSpPr/>
            <p:nvPr/>
          </p:nvSpPr>
          <p:spPr>
            <a:xfrm>
              <a:off x="838200" y="2143125"/>
              <a:ext cx="876300" cy="95250"/>
            </a:xfrm>
            <a:prstGeom prst="roundRect">
              <a:avLst>
                <a:gd fmla="val 50000" name="adj"/>
              </a:avLst>
            </a:prstGeom>
            <a:solidFill>
              <a:srgbClr val="FFDA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6"/>
            <p:cNvSpPr/>
            <p:nvPr/>
          </p:nvSpPr>
          <p:spPr>
            <a:xfrm>
              <a:off x="838200" y="2305050"/>
              <a:ext cx="5429250" cy="11334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-CO" sz="12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Comprender al usuario no puede depender exclusivamente de aquello que manifiesta verbalmente. Algunas acciones cotidianas se realizan de manera automática y determinados obstáculos solo aparecen cuando observamos a las personas interactuando con un espacio, producto, procedimiento o servicio.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6"/>
            <p:cNvSpPr/>
            <p:nvPr/>
          </p:nvSpPr>
          <p:spPr>
            <a:xfrm>
              <a:off x="838200" y="3629025"/>
              <a:ext cx="5429250" cy="11334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-CO" sz="12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El sombreado o sombra del usuario (</a:t>
              </a:r>
              <a:r>
                <a:rPr lang="es-CO" sz="1200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o </a:t>
              </a:r>
              <a:r>
                <a:rPr i="1" lang="es-CO" sz="1200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shadowing</a:t>
              </a:r>
              <a:r>
                <a:rPr lang="es-CO" sz="1200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) </a:t>
              </a:r>
              <a:r>
                <a:rPr b="0" i="0" lang="es-CO" sz="12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es una técnica de investigación basada en acompañar y observar a una persona mientras desarrolla actividades en su contexto habitual. Durante este proceso buscamos identificar comportamientos, secuencias, interacciones, dificultades y decisiones que nos permitan comprender mejor su experiencia.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6"/>
            <p:cNvSpPr/>
            <p:nvPr/>
          </p:nvSpPr>
          <p:spPr>
            <a:xfrm>
              <a:off x="838200" y="5048250"/>
              <a:ext cx="542925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0" lang="es-CO" sz="17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Lo que la persona expresa ↔ Lo que observamos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6"/>
            <p:cNvSpPr/>
            <p:nvPr/>
          </p:nvSpPr>
          <p:spPr>
            <a:xfrm>
              <a:off x="838200" y="5848350"/>
              <a:ext cx="2457450" cy="1657350"/>
            </a:xfrm>
            <a:prstGeom prst="roundRect">
              <a:avLst>
                <a:gd fmla="val 10345" name="adj"/>
              </a:avLst>
            </a:prstGeom>
            <a:solidFill>
              <a:srgbClr val="FFFFFF"/>
            </a:solidFill>
            <a:ln cap="flat" cmpd="sng" w="9525">
              <a:solidFill>
                <a:srgbClr val="D7CCD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6"/>
            <p:cNvSpPr/>
            <p:nvPr/>
          </p:nvSpPr>
          <p:spPr>
            <a:xfrm>
              <a:off x="838200" y="5848350"/>
              <a:ext cx="66675" cy="1657350"/>
            </a:xfrm>
            <a:prstGeom prst="roundRect">
              <a:avLst>
                <a:gd fmla="val 42857" name="adj"/>
              </a:avLst>
            </a:prstGeom>
            <a:solidFill>
              <a:srgbClr val="A7198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6"/>
            <p:cNvSpPr/>
            <p:nvPr/>
          </p:nvSpPr>
          <p:spPr>
            <a:xfrm>
              <a:off x="1019175" y="6000750"/>
              <a:ext cx="21145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0" lang="es-CO" sz="1400" u="none" cap="none" strike="noStrike">
                  <a:solidFill>
                    <a:srgbClr val="A71989"/>
                  </a:solidFill>
                  <a:latin typeface="Arial"/>
                  <a:ea typeface="Arial"/>
                  <a:cs typeface="Arial"/>
                  <a:sym typeface="Arial"/>
                </a:rPr>
                <a:t>LO QUE LA PERSONA EXPRESA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6"/>
            <p:cNvSpPr/>
            <p:nvPr/>
          </p:nvSpPr>
          <p:spPr>
            <a:xfrm>
              <a:off x="1019175" y="6543675"/>
              <a:ext cx="2114550" cy="87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-CO" sz="12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Nos aproximamos a su percepción y explicación de la experiencia.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6"/>
            <p:cNvSpPr/>
            <p:nvPr/>
          </p:nvSpPr>
          <p:spPr>
            <a:xfrm>
              <a:off x="3810000" y="5848350"/>
              <a:ext cx="2457450" cy="1657350"/>
            </a:xfrm>
            <a:prstGeom prst="roundRect">
              <a:avLst>
                <a:gd fmla="val 10345" name="adj"/>
              </a:avLst>
            </a:prstGeom>
            <a:solidFill>
              <a:srgbClr val="FFFFFF"/>
            </a:solidFill>
            <a:ln cap="flat" cmpd="sng" w="9525">
              <a:solidFill>
                <a:srgbClr val="D7CCD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6"/>
            <p:cNvSpPr/>
            <p:nvPr/>
          </p:nvSpPr>
          <p:spPr>
            <a:xfrm>
              <a:off x="3810000" y="5848350"/>
              <a:ext cx="66675" cy="1657350"/>
            </a:xfrm>
            <a:prstGeom prst="roundRect">
              <a:avLst>
                <a:gd fmla="val 42857" name="adj"/>
              </a:avLst>
            </a:prstGeom>
            <a:solidFill>
              <a:srgbClr val="66409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6"/>
            <p:cNvSpPr/>
            <p:nvPr/>
          </p:nvSpPr>
          <p:spPr>
            <a:xfrm>
              <a:off x="3990975" y="6000750"/>
              <a:ext cx="21145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0" lang="es-CO" sz="14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LO QUE OBSERVAMOS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6"/>
            <p:cNvSpPr/>
            <p:nvPr/>
          </p:nvSpPr>
          <p:spPr>
            <a:xfrm>
              <a:off x="3990975" y="6543675"/>
              <a:ext cx="2114550" cy="87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-CO" sz="12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Nos permite reconocer qué ocurre mientras desarrolla realmente la actividad.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6"/>
            <p:cNvSpPr/>
            <p:nvPr/>
          </p:nvSpPr>
          <p:spPr>
            <a:xfrm>
              <a:off x="3381375" y="6648450"/>
              <a:ext cx="333375" cy="953"/>
            </a:xfrm>
            <a:custGeom>
              <a:rect b="b" l="l" r="r" t="t"/>
              <a:pathLst>
                <a:path extrusionOk="0" h="953" w="333375">
                  <a:moveTo>
                    <a:pt x="0" y="0"/>
                  </a:moveTo>
                  <a:lnTo>
                    <a:pt x="333375" y="0"/>
                  </a:lnTo>
                </a:path>
              </a:pathLst>
            </a:custGeom>
            <a:noFill/>
            <a:ln cap="flat" cmpd="sng" w="1522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6"/>
            <p:cNvSpPr/>
            <p:nvPr/>
          </p:nvSpPr>
          <p:spPr>
            <a:xfrm>
              <a:off x="3666028" y="6648450"/>
              <a:ext cx="48722" cy="29872"/>
            </a:xfrm>
            <a:custGeom>
              <a:rect b="b" l="l" r="r" t="t"/>
              <a:pathLst>
                <a:path extrusionOk="0" h="29872" w="48722">
                  <a:moveTo>
                    <a:pt x="48722" y="0"/>
                  </a:moveTo>
                  <a:lnTo>
                    <a:pt x="0" y="29872"/>
                  </a:lnTo>
                </a:path>
              </a:pathLst>
            </a:custGeom>
            <a:noFill/>
            <a:ln cap="flat" cmpd="sng" w="1522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6"/>
            <p:cNvSpPr/>
            <p:nvPr/>
          </p:nvSpPr>
          <p:spPr>
            <a:xfrm>
              <a:off x="3666028" y="6618578"/>
              <a:ext cx="48722" cy="29872"/>
            </a:xfrm>
            <a:custGeom>
              <a:rect b="b" l="l" r="r" t="t"/>
              <a:pathLst>
                <a:path extrusionOk="0" h="29872" w="48722">
                  <a:moveTo>
                    <a:pt x="48722" y="29872"/>
                  </a:moveTo>
                  <a:lnTo>
                    <a:pt x="0" y="0"/>
                  </a:lnTo>
                </a:path>
              </a:pathLst>
            </a:custGeom>
            <a:noFill/>
            <a:ln cap="flat" cmpd="sng" w="1522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6"/>
            <p:cNvSpPr/>
            <p:nvPr/>
          </p:nvSpPr>
          <p:spPr>
            <a:xfrm>
              <a:off x="3381375" y="6648450"/>
              <a:ext cx="333375" cy="953"/>
            </a:xfrm>
            <a:custGeom>
              <a:rect b="b" l="l" r="r" t="t"/>
              <a:pathLst>
                <a:path extrusionOk="0" h="953" w="333375">
                  <a:moveTo>
                    <a:pt x="333375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522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6"/>
            <p:cNvSpPr/>
            <p:nvPr/>
          </p:nvSpPr>
          <p:spPr>
            <a:xfrm>
              <a:off x="3381375" y="6618578"/>
              <a:ext cx="48722" cy="29872"/>
            </a:xfrm>
            <a:custGeom>
              <a:rect b="b" l="l" r="r" t="t"/>
              <a:pathLst>
                <a:path extrusionOk="0" h="29872" w="48722">
                  <a:moveTo>
                    <a:pt x="0" y="29872"/>
                  </a:moveTo>
                  <a:lnTo>
                    <a:pt x="48722" y="0"/>
                  </a:lnTo>
                </a:path>
              </a:pathLst>
            </a:custGeom>
            <a:noFill/>
            <a:ln cap="flat" cmpd="sng" w="1522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6"/>
            <p:cNvSpPr/>
            <p:nvPr/>
          </p:nvSpPr>
          <p:spPr>
            <a:xfrm>
              <a:off x="3381375" y="6648450"/>
              <a:ext cx="48722" cy="29872"/>
            </a:xfrm>
            <a:custGeom>
              <a:rect b="b" l="l" r="r" t="t"/>
              <a:pathLst>
                <a:path extrusionOk="0" h="29872" w="48722">
                  <a:moveTo>
                    <a:pt x="0" y="0"/>
                  </a:moveTo>
                  <a:lnTo>
                    <a:pt x="48722" y="29872"/>
                  </a:lnTo>
                </a:path>
              </a:pathLst>
            </a:custGeom>
            <a:noFill/>
            <a:ln cap="flat" cmpd="sng" w="1522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6"/>
            <p:cNvSpPr/>
            <p:nvPr/>
          </p:nvSpPr>
          <p:spPr>
            <a:xfrm>
              <a:off x="838200" y="7734300"/>
              <a:ext cx="5429250" cy="276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0" lang="es-CO" sz="17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Son miradas complementarias.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6"/>
            <p:cNvSpPr/>
            <p:nvPr/>
          </p:nvSpPr>
          <p:spPr>
            <a:xfrm>
              <a:off x="838200" y="8172450"/>
              <a:ext cx="542925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-CO" sz="12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Una persona puede explicar qué cree que hace y </a:t>
              </a:r>
              <a:r>
                <a:rPr lang="es-CO" sz="1200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nuestra</a:t>
              </a:r>
              <a:r>
                <a:rPr b="0" i="0" lang="es-CO" sz="12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 observación revelará detalles adicionales sobre cómo ejecuta realmente la actividad.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"/>
          <p:cNvSpPr/>
          <p:nvPr/>
        </p:nvSpPr>
        <p:spPr>
          <a:xfrm>
            <a:off x="836364" y="720632"/>
            <a:ext cx="4114227" cy="172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1" i="0" lang="es-CO" sz="825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Artículo educativo · Perfil de usuario y seguimiento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542109" y="9242515"/>
            <a:ext cx="4000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O" sz="1000" u="none" cap="none" strike="noStrike">
                <a:solidFill>
                  <a:srgbClr val="B31686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3" name="Google Shape;203;p7"/>
          <p:cNvGrpSpPr/>
          <p:nvPr/>
        </p:nvGrpSpPr>
        <p:grpSpPr>
          <a:xfrm>
            <a:off x="838200" y="1066800"/>
            <a:ext cx="5429250" cy="7705725"/>
            <a:chOff x="838200" y="1066800"/>
            <a:chExt cx="5429250" cy="7705725"/>
          </a:xfrm>
        </p:grpSpPr>
        <p:sp>
          <p:nvSpPr>
            <p:cNvPr id="204" name="Google Shape;204;p7"/>
            <p:cNvSpPr/>
            <p:nvPr/>
          </p:nvSpPr>
          <p:spPr>
            <a:xfrm>
              <a:off x="838200" y="1066800"/>
              <a:ext cx="5429250" cy="10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s-CO" sz="24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No existe una única manera de hacer sombreado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7"/>
            <p:cNvSpPr/>
            <p:nvPr/>
          </p:nvSpPr>
          <p:spPr>
            <a:xfrm>
              <a:off x="838200" y="2143125"/>
              <a:ext cx="876300" cy="95250"/>
            </a:xfrm>
            <a:prstGeom prst="roundRect">
              <a:avLst>
                <a:gd fmla="val 50000" name="adj"/>
              </a:avLst>
            </a:prstGeom>
            <a:solidFill>
              <a:srgbClr val="FFDA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7"/>
            <p:cNvSpPr/>
            <p:nvPr/>
          </p:nvSpPr>
          <p:spPr>
            <a:xfrm>
              <a:off x="838200" y="2276475"/>
              <a:ext cx="5429250" cy="581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-CO" sz="12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La observación puede adoptar diferentes modalidades según el propósito del análisis y el grado de interacción con la persona.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7"/>
            <p:cNvSpPr/>
            <p:nvPr/>
          </p:nvSpPr>
          <p:spPr>
            <a:xfrm>
              <a:off x="838200" y="3152775"/>
              <a:ext cx="66675" cy="1295400"/>
            </a:xfrm>
            <a:prstGeom prst="roundRect">
              <a:avLst>
                <a:gd fmla="val 42857" name="adj"/>
              </a:avLst>
            </a:prstGeom>
            <a:solidFill>
              <a:srgbClr val="FF88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7"/>
            <p:cNvSpPr/>
            <p:nvPr/>
          </p:nvSpPr>
          <p:spPr>
            <a:xfrm>
              <a:off x="1066800" y="3181350"/>
              <a:ext cx="5105400" cy="333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0" lang="es-CO" sz="17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01 · Intervención mínima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7"/>
            <p:cNvSpPr/>
            <p:nvPr/>
          </p:nvSpPr>
          <p:spPr>
            <a:xfrm>
              <a:off x="1066800" y="3619500"/>
              <a:ext cx="5143500" cy="819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-CO" sz="12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Acompañamos procurando no alterar el desarrollo habitual de la actividad. Esta modalidad resulta pertinente cuando buscamos observar secuencias espontáneas.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7"/>
            <p:cNvSpPr/>
            <p:nvPr/>
          </p:nvSpPr>
          <p:spPr>
            <a:xfrm>
              <a:off x="838200" y="4743450"/>
              <a:ext cx="66675" cy="1295400"/>
            </a:xfrm>
            <a:prstGeom prst="roundRect">
              <a:avLst>
                <a:gd fmla="val 42857" name="adj"/>
              </a:avLst>
            </a:prstGeom>
            <a:solidFill>
              <a:srgbClr val="A7198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7"/>
            <p:cNvSpPr/>
            <p:nvPr/>
          </p:nvSpPr>
          <p:spPr>
            <a:xfrm>
              <a:off x="1066800" y="4772025"/>
              <a:ext cx="5105400" cy="333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0" lang="es-CO" sz="17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02 · Preguntas puntuales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7"/>
            <p:cNvSpPr/>
            <p:nvPr/>
          </p:nvSpPr>
          <p:spPr>
            <a:xfrm>
              <a:off x="1066800" y="5210175"/>
              <a:ext cx="5105400" cy="819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-CO" sz="12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Podemos solicitar aclaraciones sobre determinadas decisiones o comportamientos durante la observación. Esto nos aporta información que no siempre puede deducirse únicamente de lo observado, aunque debemos evitar interrumpir excesivamente la actividad.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7"/>
            <p:cNvSpPr/>
            <p:nvPr/>
          </p:nvSpPr>
          <p:spPr>
            <a:xfrm>
              <a:off x="838200" y="6334125"/>
              <a:ext cx="66675" cy="1295400"/>
            </a:xfrm>
            <a:prstGeom prst="roundRect">
              <a:avLst>
                <a:gd fmla="val 42857" name="adj"/>
              </a:avLst>
            </a:prstGeom>
            <a:solidFill>
              <a:srgbClr val="66409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7"/>
            <p:cNvSpPr/>
            <p:nvPr/>
          </p:nvSpPr>
          <p:spPr>
            <a:xfrm>
              <a:off x="1066800" y="6362700"/>
              <a:ext cx="5105400" cy="333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0" lang="es-CO" sz="17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03 · Mayor participación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7"/>
            <p:cNvSpPr/>
            <p:nvPr/>
          </p:nvSpPr>
          <p:spPr>
            <a:xfrm>
              <a:off x="1066800" y="6800850"/>
              <a:ext cx="5105400" cy="819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-CO" sz="12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Algunos contextos pueden requerir un involucramiento más cercano. En estos casos resulta especialmente importante diferenciar aquello que observamos de las interpretaciones que surgen de nuestra interacción.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7"/>
            <p:cNvSpPr/>
            <p:nvPr/>
          </p:nvSpPr>
          <p:spPr>
            <a:xfrm>
              <a:off x="838200" y="8048625"/>
              <a:ext cx="5429250" cy="723900"/>
            </a:xfrm>
            <a:prstGeom prst="roundRect">
              <a:avLst>
                <a:gd fmla="val 23684" name="adj"/>
              </a:avLst>
            </a:prstGeom>
            <a:solidFill>
              <a:srgbClr val="FFE7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7"/>
            <p:cNvSpPr/>
            <p:nvPr/>
          </p:nvSpPr>
          <p:spPr>
            <a:xfrm>
              <a:off x="1047750" y="8191500"/>
              <a:ext cx="5010150" cy="476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s-CO" sz="12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La modalidad que seleccionamos depende del propósito, la actividad, el entorno y las condiciones éticas o prácticas existentes.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8"/>
          <p:cNvSpPr/>
          <p:nvPr/>
        </p:nvSpPr>
        <p:spPr>
          <a:xfrm>
            <a:off x="836364" y="720632"/>
            <a:ext cx="4114227" cy="172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1" i="0" lang="es-CO" sz="825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Artículo educativo · Perfil de usuario y seguimiento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542109" y="9242515"/>
            <a:ext cx="4000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O" sz="1000" u="none" cap="none" strike="noStrike">
                <a:solidFill>
                  <a:srgbClr val="B31686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5" name="Google Shape;225;p8"/>
          <p:cNvGrpSpPr/>
          <p:nvPr/>
        </p:nvGrpSpPr>
        <p:grpSpPr>
          <a:xfrm>
            <a:off x="836364" y="1066800"/>
            <a:ext cx="5431086" cy="7877175"/>
            <a:chOff x="836364" y="1066800"/>
            <a:chExt cx="5431086" cy="7877175"/>
          </a:xfrm>
        </p:grpSpPr>
        <p:sp>
          <p:nvSpPr>
            <p:cNvPr id="226" name="Google Shape;226;p8"/>
            <p:cNvSpPr/>
            <p:nvPr/>
          </p:nvSpPr>
          <p:spPr>
            <a:xfrm>
              <a:off x="838200" y="1066800"/>
              <a:ext cx="5429250" cy="10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s-CO" sz="24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Observar con propósito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8"/>
            <p:cNvSpPr/>
            <p:nvPr/>
          </p:nvSpPr>
          <p:spPr>
            <a:xfrm>
              <a:off x="836364" y="1612218"/>
              <a:ext cx="876300" cy="95250"/>
            </a:xfrm>
            <a:prstGeom prst="roundRect">
              <a:avLst>
                <a:gd fmla="val 50000" name="adj"/>
              </a:avLst>
            </a:prstGeom>
            <a:solidFill>
              <a:srgbClr val="FFDA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8"/>
            <p:cNvSpPr/>
            <p:nvPr/>
          </p:nvSpPr>
          <p:spPr>
            <a:xfrm>
              <a:off x="838200" y="1771101"/>
              <a:ext cx="5429250" cy="7524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-CO" sz="12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Una observación sin un foco definido puede producir mucha información difícil de analizar. Por eso, el sombreado comienza estableciendo qué actividad queremos observar y qué interrogantes necesitamos explorar.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8"/>
            <p:cNvSpPr/>
            <p:nvPr/>
          </p:nvSpPr>
          <p:spPr>
            <a:xfrm>
              <a:off x="838200" y="3181350"/>
              <a:ext cx="5429250" cy="3143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0" lang="es-CO" sz="17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Figura 4. Ruta para observar con propósito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8"/>
            <p:cNvSpPr/>
            <p:nvPr/>
          </p:nvSpPr>
          <p:spPr>
            <a:xfrm>
              <a:off x="1019175" y="3648075"/>
              <a:ext cx="5248275" cy="514350"/>
            </a:xfrm>
            <a:prstGeom prst="roundRect">
              <a:avLst>
                <a:gd fmla="val 18519" name="adj"/>
              </a:avLst>
            </a:prstGeom>
            <a:solidFill>
              <a:srgbClr val="FFE7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8"/>
            <p:cNvSpPr/>
            <p:nvPr/>
          </p:nvSpPr>
          <p:spPr>
            <a:xfrm>
              <a:off x="1181100" y="3695700"/>
              <a:ext cx="49339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s-CO" sz="12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1. DEFINIR EL PROPÓSITO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8"/>
            <p:cNvSpPr/>
            <p:nvPr/>
          </p:nvSpPr>
          <p:spPr>
            <a:xfrm>
              <a:off x="1181100" y="3924300"/>
              <a:ext cx="4933950" cy="219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-CO" sz="12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¿Qué necesitamos comprender?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8"/>
            <p:cNvSpPr/>
            <p:nvPr/>
          </p:nvSpPr>
          <p:spPr>
            <a:xfrm>
              <a:off x="914400" y="3914775"/>
              <a:ext cx="953" cy="561975"/>
            </a:xfrm>
            <a:custGeom>
              <a:rect b="b" l="l" r="r" t="t"/>
              <a:pathLst>
                <a:path extrusionOk="0" h="561975" w="953">
                  <a:moveTo>
                    <a:pt x="0" y="0"/>
                  </a:moveTo>
                  <a:lnTo>
                    <a:pt x="0" y="561975"/>
                  </a:lnTo>
                </a:path>
              </a:pathLst>
            </a:custGeom>
            <a:noFill/>
            <a:ln cap="flat" cmpd="sng" w="15225">
              <a:solidFill>
                <a:srgbClr val="A719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8"/>
            <p:cNvSpPr/>
            <p:nvPr/>
          </p:nvSpPr>
          <p:spPr>
            <a:xfrm>
              <a:off x="884528" y="4428028"/>
              <a:ext cx="29872" cy="48722"/>
            </a:xfrm>
            <a:custGeom>
              <a:rect b="b" l="l" r="r" t="t"/>
              <a:pathLst>
                <a:path extrusionOk="0" h="48722" w="29872">
                  <a:moveTo>
                    <a:pt x="29872" y="48722"/>
                  </a:moveTo>
                  <a:lnTo>
                    <a:pt x="0" y="0"/>
                  </a:lnTo>
                </a:path>
              </a:pathLst>
            </a:custGeom>
            <a:noFill/>
            <a:ln cap="flat" cmpd="sng" w="15225">
              <a:solidFill>
                <a:srgbClr val="A719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8"/>
            <p:cNvSpPr/>
            <p:nvPr/>
          </p:nvSpPr>
          <p:spPr>
            <a:xfrm>
              <a:off x="914400" y="4428028"/>
              <a:ext cx="29872" cy="48722"/>
            </a:xfrm>
            <a:custGeom>
              <a:rect b="b" l="l" r="r" t="t"/>
              <a:pathLst>
                <a:path extrusionOk="0" h="48722" w="29872">
                  <a:moveTo>
                    <a:pt x="0" y="48722"/>
                  </a:moveTo>
                  <a:lnTo>
                    <a:pt x="29872" y="0"/>
                  </a:lnTo>
                </a:path>
              </a:pathLst>
            </a:custGeom>
            <a:noFill/>
            <a:ln cap="flat" cmpd="sng" w="15225">
              <a:solidFill>
                <a:srgbClr val="A719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8"/>
            <p:cNvSpPr/>
            <p:nvPr/>
          </p:nvSpPr>
          <p:spPr>
            <a:xfrm>
              <a:off x="1019175" y="4248150"/>
              <a:ext cx="5248275" cy="514350"/>
            </a:xfrm>
            <a:prstGeom prst="roundRect">
              <a:avLst>
                <a:gd fmla="val 18519" name="adj"/>
              </a:avLst>
            </a:prstGeom>
            <a:solidFill>
              <a:srgbClr val="F4F0F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8"/>
            <p:cNvSpPr/>
            <p:nvPr/>
          </p:nvSpPr>
          <p:spPr>
            <a:xfrm>
              <a:off x="1181100" y="4295775"/>
              <a:ext cx="49339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s-CO" sz="12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2. SELECCIONAR USUARIO Y CONTEXTO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8"/>
            <p:cNvSpPr/>
            <p:nvPr/>
          </p:nvSpPr>
          <p:spPr>
            <a:xfrm>
              <a:off x="1181100" y="4524375"/>
              <a:ext cx="4933950" cy="219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-CO" sz="12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¿A quién y dónde necesitamos observar?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8"/>
            <p:cNvSpPr/>
            <p:nvPr/>
          </p:nvSpPr>
          <p:spPr>
            <a:xfrm>
              <a:off x="914400" y="4514850"/>
              <a:ext cx="953" cy="561975"/>
            </a:xfrm>
            <a:custGeom>
              <a:rect b="b" l="l" r="r" t="t"/>
              <a:pathLst>
                <a:path extrusionOk="0" h="561975" w="953">
                  <a:moveTo>
                    <a:pt x="0" y="0"/>
                  </a:moveTo>
                  <a:lnTo>
                    <a:pt x="0" y="561975"/>
                  </a:lnTo>
                </a:path>
              </a:pathLst>
            </a:custGeom>
            <a:noFill/>
            <a:ln cap="flat" cmpd="sng" w="15225">
              <a:solidFill>
                <a:srgbClr val="A719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8"/>
            <p:cNvSpPr/>
            <p:nvPr/>
          </p:nvSpPr>
          <p:spPr>
            <a:xfrm>
              <a:off x="884528" y="5028103"/>
              <a:ext cx="29872" cy="48722"/>
            </a:xfrm>
            <a:custGeom>
              <a:rect b="b" l="l" r="r" t="t"/>
              <a:pathLst>
                <a:path extrusionOk="0" h="48722" w="29872">
                  <a:moveTo>
                    <a:pt x="29872" y="48722"/>
                  </a:moveTo>
                  <a:lnTo>
                    <a:pt x="0" y="0"/>
                  </a:lnTo>
                </a:path>
              </a:pathLst>
            </a:custGeom>
            <a:noFill/>
            <a:ln cap="flat" cmpd="sng" w="15225">
              <a:solidFill>
                <a:srgbClr val="A719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8"/>
            <p:cNvSpPr/>
            <p:nvPr/>
          </p:nvSpPr>
          <p:spPr>
            <a:xfrm>
              <a:off x="914400" y="5028103"/>
              <a:ext cx="29872" cy="48722"/>
            </a:xfrm>
            <a:custGeom>
              <a:rect b="b" l="l" r="r" t="t"/>
              <a:pathLst>
                <a:path extrusionOk="0" h="48722" w="29872">
                  <a:moveTo>
                    <a:pt x="0" y="48722"/>
                  </a:moveTo>
                  <a:lnTo>
                    <a:pt x="29872" y="0"/>
                  </a:lnTo>
                </a:path>
              </a:pathLst>
            </a:custGeom>
            <a:noFill/>
            <a:ln cap="flat" cmpd="sng" w="15225">
              <a:solidFill>
                <a:srgbClr val="A719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8"/>
            <p:cNvSpPr/>
            <p:nvPr/>
          </p:nvSpPr>
          <p:spPr>
            <a:xfrm>
              <a:off x="1019175" y="4848225"/>
              <a:ext cx="5248275" cy="514350"/>
            </a:xfrm>
            <a:prstGeom prst="roundRect">
              <a:avLst>
                <a:gd fmla="val 18519" name="adj"/>
              </a:avLst>
            </a:prstGeom>
            <a:solidFill>
              <a:srgbClr val="FFE7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8"/>
            <p:cNvSpPr/>
            <p:nvPr/>
          </p:nvSpPr>
          <p:spPr>
            <a:xfrm>
              <a:off x="1181100" y="4895850"/>
              <a:ext cx="49339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s-CO" sz="12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3. OBSERVAR Y REGISTRAR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8"/>
            <p:cNvSpPr/>
            <p:nvPr/>
          </p:nvSpPr>
          <p:spPr>
            <a:xfrm>
              <a:off x="1181100" y="5124450"/>
              <a:ext cx="5040000" cy="219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-CO" sz="105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Acciones, esperas, interrupciones, dificultades, decisiones e interacciones.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8"/>
            <p:cNvSpPr/>
            <p:nvPr/>
          </p:nvSpPr>
          <p:spPr>
            <a:xfrm>
              <a:off x="914400" y="5114925"/>
              <a:ext cx="953" cy="561975"/>
            </a:xfrm>
            <a:custGeom>
              <a:rect b="b" l="l" r="r" t="t"/>
              <a:pathLst>
                <a:path extrusionOk="0" h="561975" w="953">
                  <a:moveTo>
                    <a:pt x="0" y="0"/>
                  </a:moveTo>
                  <a:lnTo>
                    <a:pt x="0" y="561975"/>
                  </a:lnTo>
                </a:path>
              </a:pathLst>
            </a:custGeom>
            <a:noFill/>
            <a:ln cap="flat" cmpd="sng" w="15225">
              <a:solidFill>
                <a:srgbClr val="A719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8"/>
            <p:cNvSpPr/>
            <p:nvPr/>
          </p:nvSpPr>
          <p:spPr>
            <a:xfrm>
              <a:off x="884528" y="5628178"/>
              <a:ext cx="29872" cy="48722"/>
            </a:xfrm>
            <a:custGeom>
              <a:rect b="b" l="l" r="r" t="t"/>
              <a:pathLst>
                <a:path extrusionOk="0" h="48722" w="29872">
                  <a:moveTo>
                    <a:pt x="29872" y="48722"/>
                  </a:moveTo>
                  <a:lnTo>
                    <a:pt x="0" y="0"/>
                  </a:lnTo>
                </a:path>
              </a:pathLst>
            </a:custGeom>
            <a:noFill/>
            <a:ln cap="flat" cmpd="sng" w="15225">
              <a:solidFill>
                <a:srgbClr val="A719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8"/>
            <p:cNvSpPr/>
            <p:nvPr/>
          </p:nvSpPr>
          <p:spPr>
            <a:xfrm>
              <a:off x="914400" y="5628178"/>
              <a:ext cx="29872" cy="48722"/>
            </a:xfrm>
            <a:custGeom>
              <a:rect b="b" l="l" r="r" t="t"/>
              <a:pathLst>
                <a:path extrusionOk="0" h="48722" w="29872">
                  <a:moveTo>
                    <a:pt x="0" y="48722"/>
                  </a:moveTo>
                  <a:lnTo>
                    <a:pt x="29872" y="0"/>
                  </a:lnTo>
                </a:path>
              </a:pathLst>
            </a:custGeom>
            <a:noFill/>
            <a:ln cap="flat" cmpd="sng" w="15225">
              <a:solidFill>
                <a:srgbClr val="A719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8"/>
            <p:cNvSpPr/>
            <p:nvPr/>
          </p:nvSpPr>
          <p:spPr>
            <a:xfrm>
              <a:off x="1019175" y="5448300"/>
              <a:ext cx="5248275" cy="514350"/>
            </a:xfrm>
            <a:prstGeom prst="roundRect">
              <a:avLst>
                <a:gd fmla="val 18519" name="adj"/>
              </a:avLst>
            </a:prstGeom>
            <a:solidFill>
              <a:srgbClr val="F4F0F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8"/>
            <p:cNvSpPr/>
            <p:nvPr/>
          </p:nvSpPr>
          <p:spPr>
            <a:xfrm>
              <a:off x="1181100" y="5495925"/>
              <a:ext cx="49339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s-CO" sz="12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4. DIFERENCIAR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8"/>
            <p:cNvSpPr/>
            <p:nvPr/>
          </p:nvSpPr>
          <p:spPr>
            <a:xfrm>
              <a:off x="1181100" y="5724525"/>
              <a:ext cx="4933950" cy="219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-CO" sz="12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¿Qué observamos y qué estamos interpretando?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8"/>
            <p:cNvSpPr/>
            <p:nvPr/>
          </p:nvSpPr>
          <p:spPr>
            <a:xfrm>
              <a:off x="914400" y="5715000"/>
              <a:ext cx="953" cy="561975"/>
            </a:xfrm>
            <a:custGeom>
              <a:rect b="b" l="l" r="r" t="t"/>
              <a:pathLst>
                <a:path extrusionOk="0" h="561975" w="953">
                  <a:moveTo>
                    <a:pt x="0" y="0"/>
                  </a:moveTo>
                  <a:lnTo>
                    <a:pt x="0" y="561975"/>
                  </a:lnTo>
                </a:path>
              </a:pathLst>
            </a:custGeom>
            <a:noFill/>
            <a:ln cap="flat" cmpd="sng" w="15225">
              <a:solidFill>
                <a:srgbClr val="A719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8"/>
            <p:cNvSpPr/>
            <p:nvPr/>
          </p:nvSpPr>
          <p:spPr>
            <a:xfrm>
              <a:off x="884528" y="6228253"/>
              <a:ext cx="29872" cy="48722"/>
            </a:xfrm>
            <a:custGeom>
              <a:rect b="b" l="l" r="r" t="t"/>
              <a:pathLst>
                <a:path extrusionOk="0" h="48722" w="29872">
                  <a:moveTo>
                    <a:pt x="29872" y="48722"/>
                  </a:moveTo>
                  <a:lnTo>
                    <a:pt x="0" y="0"/>
                  </a:lnTo>
                </a:path>
              </a:pathLst>
            </a:custGeom>
            <a:noFill/>
            <a:ln cap="flat" cmpd="sng" w="15225">
              <a:solidFill>
                <a:srgbClr val="A719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8"/>
            <p:cNvSpPr/>
            <p:nvPr/>
          </p:nvSpPr>
          <p:spPr>
            <a:xfrm>
              <a:off x="914400" y="6228253"/>
              <a:ext cx="29872" cy="48722"/>
            </a:xfrm>
            <a:custGeom>
              <a:rect b="b" l="l" r="r" t="t"/>
              <a:pathLst>
                <a:path extrusionOk="0" h="48722" w="29872">
                  <a:moveTo>
                    <a:pt x="0" y="48722"/>
                  </a:moveTo>
                  <a:lnTo>
                    <a:pt x="29872" y="0"/>
                  </a:lnTo>
                </a:path>
              </a:pathLst>
            </a:custGeom>
            <a:noFill/>
            <a:ln cap="flat" cmpd="sng" w="15225">
              <a:solidFill>
                <a:srgbClr val="A719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8"/>
            <p:cNvSpPr/>
            <p:nvPr/>
          </p:nvSpPr>
          <p:spPr>
            <a:xfrm>
              <a:off x="1019175" y="6048375"/>
              <a:ext cx="5248275" cy="514350"/>
            </a:xfrm>
            <a:prstGeom prst="roundRect">
              <a:avLst>
                <a:gd fmla="val 18519" name="adj"/>
              </a:avLst>
            </a:prstGeom>
            <a:solidFill>
              <a:srgbClr val="FFE7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8"/>
            <p:cNvSpPr/>
            <p:nvPr/>
          </p:nvSpPr>
          <p:spPr>
            <a:xfrm>
              <a:off x="1181100" y="6096000"/>
              <a:ext cx="49339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s-CO" sz="12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5. ORGANIZAR HALLAZGOS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8"/>
            <p:cNvSpPr/>
            <p:nvPr/>
          </p:nvSpPr>
          <p:spPr>
            <a:xfrm>
              <a:off x="1181100" y="6324600"/>
              <a:ext cx="5040000" cy="219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-CO" sz="105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¿Qué recurrencias, contradicciones o situaciones significativas aparecen?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8"/>
            <p:cNvSpPr/>
            <p:nvPr/>
          </p:nvSpPr>
          <p:spPr>
            <a:xfrm>
              <a:off x="838200" y="6772275"/>
              <a:ext cx="5429250" cy="390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-CO" sz="12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Durante el proceso también debemos considerar la privacidad, el consentimiento y el manejo responsable de la información.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8"/>
            <p:cNvSpPr/>
            <p:nvPr/>
          </p:nvSpPr>
          <p:spPr>
            <a:xfrm>
              <a:off x="838200" y="7315200"/>
              <a:ext cx="5429250" cy="295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0" lang="es-CO" sz="17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Observar no es interpretar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8"/>
            <p:cNvSpPr/>
            <p:nvPr/>
          </p:nvSpPr>
          <p:spPr>
            <a:xfrm>
              <a:off x="838200" y="7715250"/>
              <a:ext cx="2457450" cy="752475"/>
            </a:xfrm>
            <a:prstGeom prst="roundRect">
              <a:avLst>
                <a:gd fmla="val 15190" name="adj"/>
              </a:avLst>
            </a:prstGeom>
            <a:solidFill>
              <a:srgbClr val="F4F0F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8"/>
            <p:cNvSpPr/>
            <p:nvPr/>
          </p:nvSpPr>
          <p:spPr>
            <a:xfrm>
              <a:off x="3810000" y="7715250"/>
              <a:ext cx="2457450" cy="752475"/>
            </a:xfrm>
            <a:prstGeom prst="roundRect">
              <a:avLst>
                <a:gd fmla="val 15190" name="adj"/>
              </a:avLst>
            </a:prstGeom>
            <a:solidFill>
              <a:srgbClr val="FFE7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8"/>
            <p:cNvSpPr/>
            <p:nvPr/>
          </p:nvSpPr>
          <p:spPr>
            <a:xfrm>
              <a:off x="962025" y="7800975"/>
              <a:ext cx="2209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s-CO" sz="12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HECHO OBSERVADO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8"/>
            <p:cNvSpPr/>
            <p:nvPr/>
          </p:nvSpPr>
          <p:spPr>
            <a:xfrm>
              <a:off x="962025" y="8067675"/>
              <a:ext cx="22098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-CO" sz="12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“La persona intentó tres veces completar un formulario”.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8"/>
            <p:cNvSpPr/>
            <p:nvPr/>
          </p:nvSpPr>
          <p:spPr>
            <a:xfrm>
              <a:off x="3933825" y="7800975"/>
              <a:ext cx="2209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s-CO" sz="12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INTERPRETACIÓN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8"/>
            <p:cNvSpPr/>
            <p:nvPr/>
          </p:nvSpPr>
          <p:spPr>
            <a:xfrm>
              <a:off x="3933825" y="8067675"/>
              <a:ext cx="22098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-CO" sz="12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“La persona estaba confundida”.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8"/>
            <p:cNvSpPr/>
            <p:nvPr/>
          </p:nvSpPr>
          <p:spPr>
            <a:xfrm>
              <a:off x="3390900" y="7896225"/>
              <a:ext cx="333375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s-CO" sz="2400" u="none" cap="none" strike="noStrike">
                  <a:solidFill>
                    <a:srgbClr val="A71989"/>
                  </a:solidFill>
                  <a:latin typeface="Arial"/>
                  <a:ea typeface="Arial"/>
                  <a:cs typeface="Arial"/>
                  <a:sym typeface="Arial"/>
                </a:rPr>
                <a:t>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8"/>
            <p:cNvSpPr/>
            <p:nvPr/>
          </p:nvSpPr>
          <p:spPr>
            <a:xfrm>
              <a:off x="838200" y="8572500"/>
              <a:ext cx="5429250" cy="3714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-CO" sz="12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La interpretación necesita ser contrastada antes de convertirse en una conclusión.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9"/>
          <p:cNvSpPr/>
          <p:nvPr/>
        </p:nvSpPr>
        <p:spPr>
          <a:xfrm>
            <a:off x="836364" y="720632"/>
            <a:ext cx="4114227" cy="172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1" i="0" lang="es-CO" sz="825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Artículo educativo · Perfil de usuario y seguimiento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542109" y="9242515"/>
            <a:ext cx="4000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O" sz="1000" u="none" cap="none" strike="noStrike">
                <a:solidFill>
                  <a:srgbClr val="B31686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4" name="Google Shape;274;p9"/>
          <p:cNvGrpSpPr/>
          <p:nvPr/>
        </p:nvGrpSpPr>
        <p:grpSpPr>
          <a:xfrm>
            <a:off x="836364" y="1066800"/>
            <a:ext cx="5431086" cy="7600950"/>
            <a:chOff x="836364" y="1066800"/>
            <a:chExt cx="5431086" cy="7600950"/>
          </a:xfrm>
        </p:grpSpPr>
        <p:sp>
          <p:nvSpPr>
            <p:cNvPr id="275" name="Google Shape;275;p9"/>
            <p:cNvSpPr/>
            <p:nvPr/>
          </p:nvSpPr>
          <p:spPr>
            <a:xfrm>
              <a:off x="838200" y="1066800"/>
              <a:ext cx="5429250" cy="10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s-CO" sz="24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Lo que aporta y lo que debemos cuidar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9"/>
            <p:cNvSpPr/>
            <p:nvPr/>
          </p:nvSpPr>
          <p:spPr>
            <a:xfrm>
              <a:off x="836364" y="2143125"/>
              <a:ext cx="876300" cy="95250"/>
            </a:xfrm>
            <a:prstGeom prst="roundRect">
              <a:avLst>
                <a:gd fmla="val 50000" name="adj"/>
              </a:avLst>
            </a:prstGeom>
            <a:solidFill>
              <a:srgbClr val="FFDA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9"/>
            <p:cNvSpPr/>
            <p:nvPr/>
          </p:nvSpPr>
          <p:spPr>
            <a:xfrm>
              <a:off x="838200" y="2305050"/>
              <a:ext cx="5429250" cy="942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-CO" sz="12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El sombreado nos permite aproximarnos al comportamiento del usuario dentro de su contexto, identificar necesidades que posiblemente no aparecerían mediante una entrevista, comprender secuencias e interacciones y reconocer soluciones improvisadas por las propias personas.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9"/>
            <p:cNvSpPr/>
            <p:nvPr/>
          </p:nvSpPr>
          <p:spPr>
            <a:xfrm>
              <a:off x="838200" y="3581400"/>
              <a:ext cx="2590800" cy="3000375"/>
            </a:xfrm>
            <a:prstGeom prst="roundRect">
              <a:avLst>
                <a:gd fmla="val 6618" name="adj"/>
              </a:avLst>
            </a:prstGeom>
            <a:solidFill>
              <a:srgbClr val="F4F0F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9"/>
            <p:cNvSpPr/>
            <p:nvPr/>
          </p:nvSpPr>
          <p:spPr>
            <a:xfrm>
              <a:off x="1028700" y="3790950"/>
              <a:ext cx="2209800" cy="323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0" lang="es-CO" sz="17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Ventajas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9"/>
            <p:cNvSpPr/>
            <p:nvPr/>
          </p:nvSpPr>
          <p:spPr>
            <a:xfrm>
              <a:off x="1028700" y="4438650"/>
              <a:ext cx="47625" cy="238125"/>
            </a:xfrm>
            <a:prstGeom prst="roundRect">
              <a:avLst>
                <a:gd fmla="val 40000" name="adj"/>
              </a:avLst>
            </a:prstGeom>
            <a:solidFill>
              <a:srgbClr val="A7198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9"/>
            <p:cNvSpPr/>
            <p:nvPr/>
          </p:nvSpPr>
          <p:spPr>
            <a:xfrm>
              <a:off x="1200150" y="4400550"/>
              <a:ext cx="2038350" cy="466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-CO" sz="12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Comportamiento en contexto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9"/>
            <p:cNvSpPr/>
            <p:nvPr/>
          </p:nvSpPr>
          <p:spPr>
            <a:xfrm>
              <a:off x="1028700" y="4943475"/>
              <a:ext cx="47625" cy="238125"/>
            </a:xfrm>
            <a:prstGeom prst="roundRect">
              <a:avLst>
                <a:gd fmla="val 40000" name="adj"/>
              </a:avLst>
            </a:prstGeom>
            <a:solidFill>
              <a:srgbClr val="A7198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9"/>
            <p:cNvSpPr/>
            <p:nvPr/>
          </p:nvSpPr>
          <p:spPr>
            <a:xfrm>
              <a:off x="1200150" y="4905375"/>
              <a:ext cx="2038350" cy="466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-CO" sz="12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Necesidades no verbalizadas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9"/>
            <p:cNvSpPr/>
            <p:nvPr/>
          </p:nvSpPr>
          <p:spPr>
            <a:xfrm>
              <a:off x="1028700" y="5448300"/>
              <a:ext cx="47625" cy="238125"/>
            </a:xfrm>
            <a:prstGeom prst="roundRect">
              <a:avLst>
                <a:gd fmla="val 40000" name="adj"/>
              </a:avLst>
            </a:prstGeom>
            <a:solidFill>
              <a:srgbClr val="A7198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9"/>
            <p:cNvSpPr/>
            <p:nvPr/>
          </p:nvSpPr>
          <p:spPr>
            <a:xfrm>
              <a:off x="1200150" y="5410200"/>
              <a:ext cx="2038350" cy="466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-CO" sz="12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Secuencias e interacciones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9"/>
            <p:cNvSpPr/>
            <p:nvPr/>
          </p:nvSpPr>
          <p:spPr>
            <a:xfrm>
              <a:off x="1028700" y="5953125"/>
              <a:ext cx="47625" cy="238125"/>
            </a:xfrm>
            <a:prstGeom prst="roundRect">
              <a:avLst>
                <a:gd fmla="val 40000" name="adj"/>
              </a:avLst>
            </a:prstGeom>
            <a:solidFill>
              <a:srgbClr val="A7198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9"/>
            <p:cNvSpPr/>
            <p:nvPr/>
          </p:nvSpPr>
          <p:spPr>
            <a:xfrm>
              <a:off x="1200150" y="5915025"/>
              <a:ext cx="2038350" cy="466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-CO" sz="12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Soluciones improvisadas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9"/>
            <p:cNvSpPr/>
            <p:nvPr/>
          </p:nvSpPr>
          <p:spPr>
            <a:xfrm>
              <a:off x="3676650" y="3581400"/>
              <a:ext cx="2590800" cy="3000375"/>
            </a:xfrm>
            <a:prstGeom prst="roundRect">
              <a:avLst>
                <a:gd fmla="val 6618" name="adj"/>
              </a:avLst>
            </a:prstGeom>
            <a:solidFill>
              <a:srgbClr val="FFE7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9"/>
            <p:cNvSpPr/>
            <p:nvPr/>
          </p:nvSpPr>
          <p:spPr>
            <a:xfrm>
              <a:off x="3867150" y="3790950"/>
              <a:ext cx="2209800" cy="323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0" lang="es-CO" sz="17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Limitaciones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9"/>
            <p:cNvSpPr/>
            <p:nvPr/>
          </p:nvSpPr>
          <p:spPr>
            <a:xfrm>
              <a:off x="3867150" y="4438650"/>
              <a:ext cx="47625" cy="238125"/>
            </a:xfrm>
            <a:prstGeom prst="roundRect">
              <a:avLst>
                <a:gd fmla="val 40000" name="adj"/>
              </a:avLst>
            </a:prstGeom>
            <a:solidFill>
              <a:srgbClr val="FF88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9"/>
            <p:cNvSpPr/>
            <p:nvPr/>
          </p:nvSpPr>
          <p:spPr>
            <a:xfrm>
              <a:off x="4038600" y="4400550"/>
              <a:ext cx="2038350" cy="466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-CO" sz="12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Efecto de la presencia del observador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9"/>
            <p:cNvSpPr/>
            <p:nvPr/>
          </p:nvSpPr>
          <p:spPr>
            <a:xfrm>
              <a:off x="3867150" y="4943475"/>
              <a:ext cx="47625" cy="238125"/>
            </a:xfrm>
            <a:prstGeom prst="roundRect">
              <a:avLst>
                <a:gd fmla="val 40000" name="adj"/>
              </a:avLst>
            </a:prstGeom>
            <a:solidFill>
              <a:srgbClr val="FF88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9"/>
            <p:cNvSpPr/>
            <p:nvPr/>
          </p:nvSpPr>
          <p:spPr>
            <a:xfrm>
              <a:off x="4038600" y="4905375"/>
              <a:ext cx="2038350" cy="466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-CO" sz="12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Tiempo requerido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9"/>
            <p:cNvSpPr/>
            <p:nvPr/>
          </p:nvSpPr>
          <p:spPr>
            <a:xfrm>
              <a:off x="3867150" y="5448300"/>
              <a:ext cx="47625" cy="238125"/>
            </a:xfrm>
            <a:prstGeom prst="roundRect">
              <a:avLst>
                <a:gd fmla="val 40000" name="adj"/>
              </a:avLst>
            </a:prstGeom>
            <a:solidFill>
              <a:srgbClr val="FF88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9"/>
            <p:cNvSpPr/>
            <p:nvPr/>
          </p:nvSpPr>
          <p:spPr>
            <a:xfrm>
              <a:off x="4038600" y="5410200"/>
              <a:ext cx="2038350" cy="466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-CO" sz="12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Generalización limitada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9"/>
            <p:cNvSpPr/>
            <p:nvPr/>
          </p:nvSpPr>
          <p:spPr>
            <a:xfrm>
              <a:off x="3867150" y="5953125"/>
              <a:ext cx="47625" cy="238125"/>
            </a:xfrm>
            <a:prstGeom prst="roundRect">
              <a:avLst>
                <a:gd fmla="val 40000" name="adj"/>
              </a:avLst>
            </a:prstGeom>
            <a:solidFill>
              <a:srgbClr val="FF88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9"/>
            <p:cNvSpPr/>
            <p:nvPr/>
          </p:nvSpPr>
          <p:spPr>
            <a:xfrm>
              <a:off x="4038600" y="5915025"/>
              <a:ext cx="2038350" cy="466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-CO" sz="12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Privacidad, seguridad y confidencialidad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9"/>
            <p:cNvSpPr/>
            <p:nvPr/>
          </p:nvSpPr>
          <p:spPr>
            <a:xfrm>
              <a:off x="838200" y="6915150"/>
              <a:ext cx="5429250" cy="685800"/>
            </a:xfrm>
            <a:prstGeom prst="roundRect">
              <a:avLst>
                <a:gd fmla="val 25000" name="adj"/>
              </a:avLst>
            </a:prstGeom>
            <a:solidFill>
              <a:srgbClr val="FFE7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9"/>
            <p:cNvSpPr/>
            <p:nvPr/>
          </p:nvSpPr>
          <p:spPr>
            <a:xfrm>
              <a:off x="1047750" y="7058025"/>
              <a:ext cx="5010150" cy="438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s-CO" sz="12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Una conducta observada constituye inicialmente un indicio; no necesariamente un patrón.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9"/>
            <p:cNvSpPr/>
            <p:nvPr/>
          </p:nvSpPr>
          <p:spPr>
            <a:xfrm>
              <a:off x="838200" y="7905750"/>
              <a:ext cx="542925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-CO" sz="12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El propósito del seguimiento no es proporcionar una descripción estadística de toda una población, sino proporcionarnos una comprensión profunda y contextualizada de determinadas experiencias.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2"/>
          <p:cNvSpPr/>
          <p:nvPr/>
        </p:nvSpPr>
        <p:spPr>
          <a:xfrm>
            <a:off x="836364" y="720632"/>
            <a:ext cx="4114227" cy="172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1" i="0" lang="es-CO" sz="825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Artículo educativo · Perfil de usuario y seguimiento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2"/>
          <p:cNvSpPr/>
          <p:nvPr/>
        </p:nvSpPr>
        <p:spPr>
          <a:xfrm>
            <a:off x="542109" y="9242515"/>
            <a:ext cx="4000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O" sz="1000" u="none" cap="none" strike="noStrike">
                <a:solidFill>
                  <a:srgbClr val="B31686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8" name="Google Shape;308;p12"/>
          <p:cNvGrpSpPr/>
          <p:nvPr/>
        </p:nvGrpSpPr>
        <p:grpSpPr>
          <a:xfrm>
            <a:off x="838200" y="1066800"/>
            <a:ext cx="5429250" cy="7534275"/>
            <a:chOff x="838200" y="1066800"/>
            <a:chExt cx="5429250" cy="7534275"/>
          </a:xfrm>
        </p:grpSpPr>
        <p:sp>
          <p:nvSpPr>
            <p:cNvPr id="309" name="Google Shape;309;p12"/>
            <p:cNvSpPr/>
            <p:nvPr/>
          </p:nvSpPr>
          <p:spPr>
            <a:xfrm>
              <a:off x="838200" y="1066800"/>
              <a:ext cx="5429250" cy="10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s-CO" sz="24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Del perfil a una comprensión más sustentada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12"/>
            <p:cNvSpPr/>
            <p:nvPr/>
          </p:nvSpPr>
          <p:spPr>
            <a:xfrm>
              <a:off x="838200" y="2143125"/>
              <a:ext cx="876300" cy="95250"/>
            </a:xfrm>
            <a:prstGeom prst="roundRect">
              <a:avLst>
                <a:gd fmla="val 50000" name="adj"/>
              </a:avLst>
            </a:prstGeom>
            <a:solidFill>
              <a:srgbClr val="FFDA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12"/>
            <p:cNvSpPr/>
            <p:nvPr/>
          </p:nvSpPr>
          <p:spPr>
            <a:xfrm>
              <a:off x="838200" y="2276475"/>
              <a:ext cx="542925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-CO" sz="12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Los registros de observación no se convierten automáticamente en conocimiento útil. Necesitamos revisar comportamientos recurrentes, momentos críticos, dificultades, contradicciones y soluciones improvisadas.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12"/>
            <p:cNvSpPr/>
            <p:nvPr/>
          </p:nvSpPr>
          <p:spPr>
            <a:xfrm>
              <a:off x="838200" y="3171825"/>
              <a:ext cx="5429250" cy="400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-CO" sz="12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También podemos contrastar estos resultados con el perfil construido previamente.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12"/>
            <p:cNvSpPr/>
            <p:nvPr/>
          </p:nvSpPr>
          <p:spPr>
            <a:xfrm>
              <a:off x="838200" y="3790950"/>
              <a:ext cx="5429250" cy="552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0" lang="es-CO" sz="17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Figura 5. Del perfil a una comprensión más sustentada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12"/>
            <p:cNvSpPr/>
            <p:nvPr/>
          </p:nvSpPr>
          <p:spPr>
            <a:xfrm>
              <a:off x="1304925" y="4524375"/>
              <a:ext cx="4486275" cy="619125"/>
            </a:xfrm>
            <a:prstGeom prst="roundRect">
              <a:avLst>
                <a:gd fmla="val 21538" name="adj"/>
              </a:avLst>
            </a:prstGeom>
            <a:solidFill>
              <a:srgbClr val="FFE7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12"/>
            <p:cNvSpPr/>
            <p:nvPr/>
          </p:nvSpPr>
          <p:spPr>
            <a:xfrm>
              <a:off x="1485900" y="4600575"/>
              <a:ext cx="4095750" cy="247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s-CO" sz="12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PERFIL DE USUARIO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12"/>
            <p:cNvSpPr/>
            <p:nvPr/>
          </p:nvSpPr>
          <p:spPr>
            <a:xfrm>
              <a:off x="1485900" y="4857750"/>
              <a:ext cx="4095750" cy="257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-CO" sz="12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Construimos una hipótesis.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12"/>
            <p:cNvSpPr/>
            <p:nvPr/>
          </p:nvSpPr>
          <p:spPr>
            <a:xfrm>
              <a:off x="3533775" y="5172075"/>
              <a:ext cx="953" cy="104775"/>
            </a:xfrm>
            <a:custGeom>
              <a:rect b="b" l="l" r="r" t="t"/>
              <a:pathLst>
                <a:path extrusionOk="0" h="104775" w="953">
                  <a:moveTo>
                    <a:pt x="0" y="0"/>
                  </a:moveTo>
                  <a:lnTo>
                    <a:pt x="0" y="104775"/>
                  </a:lnTo>
                </a:path>
              </a:pathLst>
            </a:custGeom>
            <a:noFill/>
            <a:ln cap="flat" cmpd="sng" w="15225">
              <a:solidFill>
                <a:srgbClr val="A719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12"/>
            <p:cNvSpPr/>
            <p:nvPr/>
          </p:nvSpPr>
          <p:spPr>
            <a:xfrm>
              <a:off x="3503903" y="5228128"/>
              <a:ext cx="29872" cy="48722"/>
            </a:xfrm>
            <a:custGeom>
              <a:rect b="b" l="l" r="r" t="t"/>
              <a:pathLst>
                <a:path extrusionOk="0" h="48722" w="29872">
                  <a:moveTo>
                    <a:pt x="29872" y="48722"/>
                  </a:moveTo>
                  <a:lnTo>
                    <a:pt x="0" y="0"/>
                  </a:lnTo>
                </a:path>
              </a:pathLst>
            </a:custGeom>
            <a:noFill/>
            <a:ln cap="flat" cmpd="sng" w="15225">
              <a:solidFill>
                <a:srgbClr val="A719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12"/>
            <p:cNvSpPr/>
            <p:nvPr/>
          </p:nvSpPr>
          <p:spPr>
            <a:xfrm>
              <a:off x="3533775" y="5228128"/>
              <a:ext cx="29872" cy="48722"/>
            </a:xfrm>
            <a:custGeom>
              <a:rect b="b" l="l" r="r" t="t"/>
              <a:pathLst>
                <a:path extrusionOk="0" h="48722" w="29872">
                  <a:moveTo>
                    <a:pt x="0" y="48722"/>
                  </a:moveTo>
                  <a:lnTo>
                    <a:pt x="29872" y="0"/>
                  </a:lnTo>
                </a:path>
              </a:pathLst>
            </a:custGeom>
            <a:noFill/>
            <a:ln cap="flat" cmpd="sng" w="15225">
              <a:solidFill>
                <a:srgbClr val="A719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12"/>
            <p:cNvSpPr/>
            <p:nvPr/>
          </p:nvSpPr>
          <p:spPr>
            <a:xfrm>
              <a:off x="1304925" y="5305425"/>
              <a:ext cx="4486275" cy="619125"/>
            </a:xfrm>
            <a:prstGeom prst="roundRect">
              <a:avLst>
                <a:gd fmla="val 21538" name="adj"/>
              </a:avLst>
            </a:prstGeom>
            <a:solidFill>
              <a:srgbClr val="F4F0F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12"/>
            <p:cNvSpPr/>
            <p:nvPr/>
          </p:nvSpPr>
          <p:spPr>
            <a:xfrm>
              <a:off x="1485900" y="5381625"/>
              <a:ext cx="4095750" cy="247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s-CO" sz="12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SOMBRA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12"/>
            <p:cNvSpPr/>
            <p:nvPr/>
          </p:nvSpPr>
          <p:spPr>
            <a:xfrm>
              <a:off x="1485900" y="5638800"/>
              <a:ext cx="4095750" cy="257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-CO" sz="12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Observamos la experiencia.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12"/>
            <p:cNvSpPr/>
            <p:nvPr/>
          </p:nvSpPr>
          <p:spPr>
            <a:xfrm>
              <a:off x="3533775" y="5953125"/>
              <a:ext cx="953" cy="104775"/>
            </a:xfrm>
            <a:custGeom>
              <a:rect b="b" l="l" r="r" t="t"/>
              <a:pathLst>
                <a:path extrusionOk="0" h="104775" w="953">
                  <a:moveTo>
                    <a:pt x="0" y="0"/>
                  </a:moveTo>
                  <a:lnTo>
                    <a:pt x="0" y="104775"/>
                  </a:lnTo>
                </a:path>
              </a:pathLst>
            </a:custGeom>
            <a:noFill/>
            <a:ln cap="flat" cmpd="sng" w="15225">
              <a:solidFill>
                <a:srgbClr val="A719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12"/>
            <p:cNvSpPr/>
            <p:nvPr/>
          </p:nvSpPr>
          <p:spPr>
            <a:xfrm>
              <a:off x="3503903" y="6009178"/>
              <a:ext cx="29872" cy="48722"/>
            </a:xfrm>
            <a:custGeom>
              <a:rect b="b" l="l" r="r" t="t"/>
              <a:pathLst>
                <a:path extrusionOk="0" h="48722" w="29872">
                  <a:moveTo>
                    <a:pt x="29872" y="48722"/>
                  </a:moveTo>
                  <a:lnTo>
                    <a:pt x="0" y="0"/>
                  </a:lnTo>
                </a:path>
              </a:pathLst>
            </a:custGeom>
            <a:noFill/>
            <a:ln cap="flat" cmpd="sng" w="15225">
              <a:solidFill>
                <a:srgbClr val="A719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12"/>
            <p:cNvSpPr/>
            <p:nvPr/>
          </p:nvSpPr>
          <p:spPr>
            <a:xfrm>
              <a:off x="3533775" y="6009178"/>
              <a:ext cx="29872" cy="48722"/>
            </a:xfrm>
            <a:custGeom>
              <a:rect b="b" l="l" r="r" t="t"/>
              <a:pathLst>
                <a:path extrusionOk="0" h="48722" w="29872">
                  <a:moveTo>
                    <a:pt x="0" y="48722"/>
                  </a:moveTo>
                  <a:lnTo>
                    <a:pt x="29872" y="0"/>
                  </a:lnTo>
                </a:path>
              </a:pathLst>
            </a:custGeom>
            <a:noFill/>
            <a:ln cap="flat" cmpd="sng" w="15225">
              <a:solidFill>
                <a:srgbClr val="A719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12"/>
            <p:cNvSpPr/>
            <p:nvPr/>
          </p:nvSpPr>
          <p:spPr>
            <a:xfrm>
              <a:off x="1304925" y="6086475"/>
              <a:ext cx="4486275" cy="619125"/>
            </a:xfrm>
            <a:prstGeom prst="roundRect">
              <a:avLst>
                <a:gd fmla="val 21538" name="adj"/>
              </a:avLst>
            </a:prstGeom>
            <a:solidFill>
              <a:srgbClr val="FFE7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12"/>
            <p:cNvSpPr/>
            <p:nvPr/>
          </p:nvSpPr>
          <p:spPr>
            <a:xfrm>
              <a:off x="1485900" y="6162675"/>
              <a:ext cx="4095750" cy="247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s-CO" sz="12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CONTRASTE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12"/>
            <p:cNvSpPr/>
            <p:nvPr/>
          </p:nvSpPr>
          <p:spPr>
            <a:xfrm>
              <a:off x="1485900" y="6419850"/>
              <a:ext cx="4095750" cy="257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-CO" sz="12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¿Qué se confirma? ¿Qué necesitamos modificar?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12"/>
            <p:cNvSpPr/>
            <p:nvPr/>
          </p:nvSpPr>
          <p:spPr>
            <a:xfrm>
              <a:off x="3533775" y="6734175"/>
              <a:ext cx="953" cy="104775"/>
            </a:xfrm>
            <a:custGeom>
              <a:rect b="b" l="l" r="r" t="t"/>
              <a:pathLst>
                <a:path extrusionOk="0" h="104775" w="953">
                  <a:moveTo>
                    <a:pt x="0" y="0"/>
                  </a:moveTo>
                  <a:lnTo>
                    <a:pt x="0" y="104775"/>
                  </a:lnTo>
                </a:path>
              </a:pathLst>
            </a:custGeom>
            <a:noFill/>
            <a:ln cap="flat" cmpd="sng" w="15225">
              <a:solidFill>
                <a:srgbClr val="A719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12"/>
            <p:cNvSpPr/>
            <p:nvPr/>
          </p:nvSpPr>
          <p:spPr>
            <a:xfrm>
              <a:off x="3503903" y="6790228"/>
              <a:ext cx="29872" cy="48722"/>
            </a:xfrm>
            <a:custGeom>
              <a:rect b="b" l="l" r="r" t="t"/>
              <a:pathLst>
                <a:path extrusionOk="0" h="48722" w="29872">
                  <a:moveTo>
                    <a:pt x="29872" y="48722"/>
                  </a:moveTo>
                  <a:lnTo>
                    <a:pt x="0" y="0"/>
                  </a:lnTo>
                </a:path>
              </a:pathLst>
            </a:custGeom>
            <a:noFill/>
            <a:ln cap="flat" cmpd="sng" w="15225">
              <a:solidFill>
                <a:srgbClr val="A719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12"/>
            <p:cNvSpPr/>
            <p:nvPr/>
          </p:nvSpPr>
          <p:spPr>
            <a:xfrm>
              <a:off x="3533775" y="6790228"/>
              <a:ext cx="29872" cy="48722"/>
            </a:xfrm>
            <a:custGeom>
              <a:rect b="b" l="l" r="r" t="t"/>
              <a:pathLst>
                <a:path extrusionOk="0" h="48722" w="29872">
                  <a:moveTo>
                    <a:pt x="0" y="48722"/>
                  </a:moveTo>
                  <a:lnTo>
                    <a:pt x="29872" y="0"/>
                  </a:lnTo>
                </a:path>
              </a:pathLst>
            </a:custGeom>
            <a:noFill/>
            <a:ln cap="flat" cmpd="sng" w="15225">
              <a:solidFill>
                <a:srgbClr val="A719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12"/>
            <p:cNvSpPr/>
            <p:nvPr/>
          </p:nvSpPr>
          <p:spPr>
            <a:xfrm>
              <a:off x="1304925" y="6867525"/>
              <a:ext cx="4486275" cy="619125"/>
            </a:xfrm>
            <a:prstGeom prst="roundRect">
              <a:avLst>
                <a:gd fmla="val 21538" name="adj"/>
              </a:avLst>
            </a:prstGeom>
            <a:solidFill>
              <a:srgbClr val="F4F0F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12"/>
            <p:cNvSpPr/>
            <p:nvPr/>
          </p:nvSpPr>
          <p:spPr>
            <a:xfrm>
              <a:off x="1485900" y="6943725"/>
              <a:ext cx="4095750" cy="247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s-CO" sz="12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HALLAZGOS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12"/>
            <p:cNvSpPr/>
            <p:nvPr/>
          </p:nvSpPr>
          <p:spPr>
            <a:xfrm>
              <a:off x="1485900" y="7200900"/>
              <a:ext cx="4095750" cy="257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-CO" sz="12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Construimos una comprensión progresivamente más sustentada.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12"/>
            <p:cNvSpPr/>
            <p:nvPr/>
          </p:nvSpPr>
          <p:spPr>
            <a:xfrm>
              <a:off x="838200" y="7848600"/>
              <a:ext cx="5429250" cy="7524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-CO" sz="12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La observación puede confirmar algunos supuestos, pero también transformarlos. Aquello que inicialmente considerábamos la principal dificultad del usuario puede resultar secundario cuando observamos su experiencia real.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3"/>
          <p:cNvSpPr/>
          <p:nvPr/>
        </p:nvSpPr>
        <p:spPr>
          <a:xfrm>
            <a:off x="836364" y="720632"/>
            <a:ext cx="4114227" cy="172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1" i="0" lang="es-CO" sz="825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Artículo educativo · Perfil de usuario y seguimiento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3"/>
          <p:cNvSpPr/>
          <p:nvPr/>
        </p:nvSpPr>
        <p:spPr>
          <a:xfrm>
            <a:off x="542109" y="9242515"/>
            <a:ext cx="4000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O" sz="1000" u="none" cap="none" strike="noStrike">
                <a:solidFill>
                  <a:srgbClr val="B31686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3" name="Google Shape;343;p13"/>
          <p:cNvGrpSpPr/>
          <p:nvPr/>
        </p:nvGrpSpPr>
        <p:grpSpPr>
          <a:xfrm>
            <a:off x="838200" y="1066800"/>
            <a:ext cx="5429250" cy="7829550"/>
            <a:chOff x="838200" y="1066800"/>
            <a:chExt cx="5429250" cy="7829550"/>
          </a:xfrm>
        </p:grpSpPr>
        <p:sp>
          <p:nvSpPr>
            <p:cNvPr id="344" name="Google Shape;344;p13"/>
            <p:cNvSpPr/>
            <p:nvPr/>
          </p:nvSpPr>
          <p:spPr>
            <a:xfrm>
              <a:off x="838200" y="1066800"/>
              <a:ext cx="5429250" cy="10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s-CO" sz="24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Tres miradas para comprender antes de formular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13"/>
            <p:cNvSpPr/>
            <p:nvPr/>
          </p:nvSpPr>
          <p:spPr>
            <a:xfrm>
              <a:off x="838200" y="2143125"/>
              <a:ext cx="876300" cy="95250"/>
            </a:xfrm>
            <a:prstGeom prst="roundRect">
              <a:avLst>
                <a:gd fmla="val 50000" name="adj"/>
              </a:avLst>
            </a:prstGeom>
            <a:solidFill>
              <a:srgbClr val="FFDA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13"/>
            <p:cNvSpPr/>
            <p:nvPr/>
          </p:nvSpPr>
          <p:spPr>
            <a:xfrm>
              <a:off x="838200" y="2295525"/>
              <a:ext cx="54292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-CO" sz="12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PESTEL, el perfil de usuario y el sombreado abordan dimensiones diferentes pero complementarias.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13"/>
            <p:cNvSpPr/>
            <p:nvPr/>
          </p:nvSpPr>
          <p:spPr>
            <a:xfrm>
              <a:off x="838200" y="2952750"/>
              <a:ext cx="5429250" cy="876300"/>
            </a:xfrm>
            <a:prstGeom prst="roundRect">
              <a:avLst>
                <a:gd fmla="val 17391" name="adj"/>
              </a:avLst>
            </a:prstGeom>
            <a:solidFill>
              <a:srgbClr val="FFFFFF"/>
            </a:solidFill>
            <a:ln cap="flat" cmpd="sng" w="9525">
              <a:solidFill>
                <a:srgbClr val="D7CCD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13"/>
            <p:cNvSpPr/>
            <p:nvPr/>
          </p:nvSpPr>
          <p:spPr>
            <a:xfrm>
              <a:off x="838200" y="2952750"/>
              <a:ext cx="66675" cy="876300"/>
            </a:xfrm>
            <a:prstGeom prst="roundRect">
              <a:avLst>
                <a:gd fmla="val 42857" name="adj"/>
              </a:avLst>
            </a:prstGeom>
            <a:solidFill>
              <a:srgbClr val="FF88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13"/>
            <p:cNvSpPr/>
            <p:nvPr/>
          </p:nvSpPr>
          <p:spPr>
            <a:xfrm>
              <a:off x="1028700" y="3086100"/>
              <a:ext cx="5029200" cy="257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0" lang="es-CO" sz="1700" u="none" cap="none" strike="noStrike">
                  <a:solidFill>
                    <a:srgbClr val="FF8800"/>
                  </a:solidFill>
                  <a:latin typeface="Arial"/>
                  <a:ea typeface="Arial"/>
                  <a:cs typeface="Arial"/>
                  <a:sym typeface="Arial"/>
                </a:rPr>
                <a:t>PESTEL → ENTORNO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13"/>
            <p:cNvSpPr/>
            <p:nvPr/>
          </p:nvSpPr>
          <p:spPr>
            <a:xfrm>
              <a:off x="1028700" y="3438525"/>
              <a:ext cx="5029200" cy="3619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-CO" sz="12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¿Qué fuerzas externas pueden afectar la iniciativa?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13"/>
            <p:cNvSpPr/>
            <p:nvPr/>
          </p:nvSpPr>
          <p:spPr>
            <a:xfrm>
              <a:off x="838200" y="4019550"/>
              <a:ext cx="5429250" cy="876300"/>
            </a:xfrm>
            <a:prstGeom prst="roundRect">
              <a:avLst>
                <a:gd fmla="val 17391" name="adj"/>
              </a:avLst>
            </a:prstGeom>
            <a:solidFill>
              <a:srgbClr val="FFFFFF"/>
            </a:solidFill>
            <a:ln cap="flat" cmpd="sng" w="9525">
              <a:solidFill>
                <a:srgbClr val="D7CCD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13"/>
            <p:cNvSpPr/>
            <p:nvPr/>
          </p:nvSpPr>
          <p:spPr>
            <a:xfrm>
              <a:off x="838200" y="4019550"/>
              <a:ext cx="66675" cy="876300"/>
            </a:xfrm>
            <a:prstGeom prst="roundRect">
              <a:avLst>
                <a:gd fmla="val 42857" name="adj"/>
              </a:avLst>
            </a:prstGeom>
            <a:solidFill>
              <a:srgbClr val="A7198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13"/>
            <p:cNvSpPr/>
            <p:nvPr/>
          </p:nvSpPr>
          <p:spPr>
            <a:xfrm>
              <a:off x="1028700" y="4152900"/>
              <a:ext cx="5029200" cy="257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0" lang="es-CO" sz="1700" u="none" cap="none" strike="noStrike">
                  <a:solidFill>
                    <a:srgbClr val="A71989"/>
                  </a:solidFill>
                  <a:latin typeface="Arial"/>
                  <a:ea typeface="Arial"/>
                  <a:cs typeface="Arial"/>
                  <a:sym typeface="Arial"/>
                </a:rPr>
                <a:t>PERFIL DE USUARIO → PERSONA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13"/>
            <p:cNvSpPr/>
            <p:nvPr/>
          </p:nvSpPr>
          <p:spPr>
            <a:xfrm>
              <a:off x="1028700" y="4505325"/>
              <a:ext cx="5029200" cy="3619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-CO" sz="12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¿Quién experimenta la situación y qué necesitamos comprender sobre ella?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13"/>
            <p:cNvSpPr/>
            <p:nvPr/>
          </p:nvSpPr>
          <p:spPr>
            <a:xfrm>
              <a:off x="838200" y="5086350"/>
              <a:ext cx="5429250" cy="876300"/>
            </a:xfrm>
            <a:prstGeom prst="roundRect">
              <a:avLst>
                <a:gd fmla="val 17391" name="adj"/>
              </a:avLst>
            </a:prstGeom>
            <a:solidFill>
              <a:srgbClr val="FFFFFF"/>
            </a:solidFill>
            <a:ln cap="flat" cmpd="sng" w="9525">
              <a:solidFill>
                <a:srgbClr val="D7CCD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13"/>
            <p:cNvSpPr/>
            <p:nvPr/>
          </p:nvSpPr>
          <p:spPr>
            <a:xfrm>
              <a:off x="838200" y="5086350"/>
              <a:ext cx="66675" cy="876300"/>
            </a:xfrm>
            <a:prstGeom prst="roundRect">
              <a:avLst>
                <a:gd fmla="val 42857" name="adj"/>
              </a:avLst>
            </a:prstGeom>
            <a:solidFill>
              <a:srgbClr val="66409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13"/>
            <p:cNvSpPr/>
            <p:nvPr/>
          </p:nvSpPr>
          <p:spPr>
            <a:xfrm>
              <a:off x="1028700" y="5219700"/>
              <a:ext cx="5029200" cy="257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0" lang="es-CO" sz="17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SOMBRA → EXPERIENCIA SITUADA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13"/>
            <p:cNvSpPr/>
            <p:nvPr/>
          </p:nvSpPr>
          <p:spPr>
            <a:xfrm>
              <a:off x="1028700" y="5572125"/>
              <a:ext cx="5029200" cy="3619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-CO" sz="12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¿Qué ocurre realmente cuando la persona desarrolla sus actividades en contexto?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13"/>
            <p:cNvSpPr/>
            <p:nvPr/>
          </p:nvSpPr>
          <p:spPr>
            <a:xfrm>
              <a:off x="3552825" y="5991225"/>
              <a:ext cx="953" cy="285750"/>
            </a:xfrm>
            <a:custGeom>
              <a:rect b="b" l="l" r="r" t="t"/>
              <a:pathLst>
                <a:path extrusionOk="0" h="285750" w="953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cap="flat" cmpd="sng" w="15225">
              <a:solidFill>
                <a:srgbClr val="A719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13"/>
            <p:cNvSpPr/>
            <p:nvPr/>
          </p:nvSpPr>
          <p:spPr>
            <a:xfrm>
              <a:off x="3522953" y="6228253"/>
              <a:ext cx="29872" cy="48722"/>
            </a:xfrm>
            <a:custGeom>
              <a:rect b="b" l="l" r="r" t="t"/>
              <a:pathLst>
                <a:path extrusionOk="0" h="48722" w="29872">
                  <a:moveTo>
                    <a:pt x="29872" y="48722"/>
                  </a:moveTo>
                  <a:lnTo>
                    <a:pt x="0" y="0"/>
                  </a:lnTo>
                </a:path>
              </a:pathLst>
            </a:custGeom>
            <a:noFill/>
            <a:ln cap="flat" cmpd="sng" w="15225">
              <a:solidFill>
                <a:srgbClr val="A719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13"/>
            <p:cNvSpPr/>
            <p:nvPr/>
          </p:nvSpPr>
          <p:spPr>
            <a:xfrm>
              <a:off x="3552825" y="6228253"/>
              <a:ext cx="29872" cy="48722"/>
            </a:xfrm>
            <a:custGeom>
              <a:rect b="b" l="l" r="r" t="t"/>
              <a:pathLst>
                <a:path extrusionOk="0" h="48722" w="29872">
                  <a:moveTo>
                    <a:pt x="0" y="48722"/>
                  </a:moveTo>
                  <a:lnTo>
                    <a:pt x="29872" y="0"/>
                  </a:lnTo>
                </a:path>
              </a:pathLst>
            </a:custGeom>
            <a:noFill/>
            <a:ln cap="flat" cmpd="sng" w="15225">
              <a:solidFill>
                <a:srgbClr val="A719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13"/>
            <p:cNvSpPr/>
            <p:nvPr/>
          </p:nvSpPr>
          <p:spPr>
            <a:xfrm>
              <a:off x="838200" y="6391275"/>
              <a:ext cx="5429250" cy="838200"/>
            </a:xfrm>
            <a:prstGeom prst="roundRect">
              <a:avLst>
                <a:gd fmla="val 20455" name="adj"/>
              </a:avLst>
            </a:prstGeom>
            <a:solidFill>
              <a:srgbClr val="A7198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13"/>
            <p:cNvSpPr/>
            <p:nvPr/>
          </p:nvSpPr>
          <p:spPr>
            <a:xfrm>
              <a:off x="1047750" y="6534150"/>
              <a:ext cx="5010150" cy="295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0" lang="es-CO" sz="17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COMPRENSIÓN MÁS FUNDAMENTADA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13"/>
            <p:cNvSpPr/>
            <p:nvPr/>
          </p:nvSpPr>
          <p:spPr>
            <a:xfrm>
              <a:off x="1047750" y="6915150"/>
              <a:ext cx="5010150" cy="247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-CO" sz="12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Antes de definir el reto y formular una solución.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13"/>
            <p:cNvSpPr/>
            <p:nvPr/>
          </p:nvSpPr>
          <p:spPr>
            <a:xfrm>
              <a:off x="838200" y="7477125"/>
              <a:ext cx="542925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-CO" sz="12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Comprender al usuario no significa confirmar que nuestra propuesta inicial es correcta. Significa reunir información suficiente para cuestionarla, ajustarla o incluso descartarla cuando las evidencias muestran que no responde adecuadamente al contexto de las personas.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13"/>
            <p:cNvSpPr/>
            <p:nvPr/>
          </p:nvSpPr>
          <p:spPr>
            <a:xfrm>
              <a:off x="838200" y="8420100"/>
              <a:ext cx="5429250" cy="476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-CO" sz="12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De esta manera reducimos progresivamente la incertidumbre antes de avanzar hacia la definición del reto y la formulación del proyecto.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4"/>
          <p:cNvSpPr/>
          <p:nvPr/>
        </p:nvSpPr>
        <p:spPr>
          <a:xfrm>
            <a:off x="836364" y="720632"/>
            <a:ext cx="4114227" cy="172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1" i="0" lang="es-CO" sz="825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Artículo educativo · Perfil de usuario y seguimiento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4"/>
          <p:cNvSpPr/>
          <p:nvPr/>
        </p:nvSpPr>
        <p:spPr>
          <a:xfrm>
            <a:off x="542109" y="9242515"/>
            <a:ext cx="4000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O" sz="1000" u="none" cap="none" strike="noStrike">
                <a:solidFill>
                  <a:srgbClr val="B31686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4" name="Google Shape;374;p14"/>
          <p:cNvGrpSpPr/>
          <p:nvPr/>
        </p:nvGrpSpPr>
        <p:grpSpPr>
          <a:xfrm>
            <a:off x="838200" y="1066800"/>
            <a:ext cx="5429250" cy="5829300"/>
            <a:chOff x="838200" y="1066800"/>
            <a:chExt cx="5429250" cy="5829300"/>
          </a:xfrm>
        </p:grpSpPr>
        <p:sp>
          <p:nvSpPr>
            <p:cNvPr id="375" name="Google Shape;375;p14"/>
            <p:cNvSpPr/>
            <p:nvPr/>
          </p:nvSpPr>
          <p:spPr>
            <a:xfrm>
              <a:off x="838200" y="1066800"/>
              <a:ext cx="5429250" cy="10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s-CO" sz="2400" u="none" cap="none" strike="noStrike">
                  <a:solidFill>
                    <a:srgbClr val="26232C"/>
                  </a:solidFill>
                  <a:latin typeface="Arial"/>
                  <a:ea typeface="Arial"/>
                  <a:cs typeface="Arial"/>
                  <a:sym typeface="Arial"/>
                </a:rPr>
                <a:t>Referencias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14"/>
            <p:cNvSpPr/>
            <p:nvPr/>
          </p:nvSpPr>
          <p:spPr>
            <a:xfrm>
              <a:off x="838200" y="2143125"/>
              <a:ext cx="876300" cy="95250"/>
            </a:xfrm>
            <a:prstGeom prst="roundRect">
              <a:avLst>
                <a:gd fmla="val 50000" name="adj"/>
              </a:avLst>
            </a:prstGeom>
            <a:solidFill>
              <a:srgbClr val="FFDA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14"/>
            <p:cNvSpPr/>
            <p:nvPr/>
          </p:nvSpPr>
          <p:spPr>
            <a:xfrm>
              <a:off x="838200" y="2447925"/>
              <a:ext cx="5429250" cy="4448175"/>
            </a:xfrm>
            <a:prstGeom prst="roundRect">
              <a:avLst>
                <a:gd fmla="val 5139" name="adj"/>
              </a:avLst>
            </a:prstGeom>
            <a:solidFill>
              <a:srgbClr val="FFE7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14"/>
            <p:cNvSpPr/>
            <p:nvPr/>
          </p:nvSpPr>
          <p:spPr>
            <a:xfrm>
              <a:off x="1066800" y="2724150"/>
              <a:ext cx="4953000" cy="306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CO" sz="1100">
                  <a:solidFill>
                    <a:schemeClr val="dk1"/>
                  </a:solidFill>
                </a:rPr>
                <a:t>Asociación para el Desarrollo de la Experiencia de Cliente. (2024, 10 de abril). </a:t>
              </a:r>
              <a:r>
                <a:rPr i="1" lang="es-CO" sz="1100">
                  <a:solidFill>
                    <a:schemeClr val="dk1"/>
                  </a:solidFill>
                </a:rPr>
                <a:t>¿En qué consiste el shadowing y cómo aplicarlo?</a:t>
              </a:r>
              <a:r>
                <a:rPr lang="es-CO" sz="1100">
                  <a:solidFill>
                    <a:schemeClr val="dk1"/>
                  </a:solidFill>
                  <a:uFill>
                    <a:noFill/>
                  </a:uFill>
                  <a:hlinkClick r:id="rId4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 </a:t>
              </a:r>
              <a:r>
                <a:rPr lang="es-CO" sz="1100" u="sng">
                  <a:solidFill>
                    <a:schemeClr val="hlink"/>
                  </a:solidFill>
                  <a:hlinkClick r:id="rId5"/>
                </a:rPr>
                <a:t>https://asociaciondec.org/blog-dec/en-que-consiste-el-shadowing-y-como-aplicarlo/64795/</a:t>
              </a:r>
              <a:endParaRPr sz="1100" u="sng">
                <a:solidFill>
                  <a:schemeClr val="hlink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CO" sz="1100">
                  <a:solidFill>
                    <a:schemeClr val="dk1"/>
                  </a:solidFill>
                </a:rPr>
                <a:t>Crehana. (s. f.). </a:t>
              </a:r>
              <a:r>
                <a:rPr i="1" lang="es-CO" sz="1100">
                  <a:solidFill>
                    <a:schemeClr val="dk1"/>
                  </a:solidFill>
                </a:rPr>
                <a:t>¿Qué son los arquetipos?</a:t>
              </a:r>
              <a:r>
                <a:rPr lang="es-CO" sz="1100">
                  <a:solidFill>
                    <a:schemeClr val="dk1"/>
                  </a:solidFill>
                  <a:uFill>
                    <a:noFill/>
                  </a:uFill>
                  <a:hlinkClick r:id="rId6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 </a:t>
              </a:r>
              <a:r>
                <a:rPr lang="es-CO" sz="1100" u="sng">
                  <a:solidFill>
                    <a:schemeClr val="hlink"/>
                  </a:solidFill>
                  <a:hlinkClick r:id="rId7"/>
                </a:rPr>
                <a:t>https://www.crehana.com/blog/transformacion-digital/que-son-arquetipos/</a:t>
              </a:r>
              <a:endParaRPr sz="1100" u="sng">
                <a:solidFill>
                  <a:schemeClr val="hlink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CO" sz="1100">
                  <a:solidFill>
                    <a:schemeClr val="dk1"/>
                  </a:solidFill>
                </a:rPr>
                <a:t>HubSpot. (s. f.). </a:t>
              </a:r>
              <a:r>
                <a:rPr i="1" lang="es-CO" sz="1100">
                  <a:solidFill>
                    <a:schemeClr val="dk1"/>
                  </a:solidFill>
                </a:rPr>
                <a:t>Qué es un buyer persona y cómo crearlo (con plantillas gratis).</a:t>
              </a:r>
              <a:r>
                <a:rPr lang="es-CO" sz="1100">
                  <a:solidFill>
                    <a:schemeClr val="dk1"/>
                  </a:solidFill>
                  <a:uFill>
                    <a:noFill/>
                  </a:uFill>
                  <a:hlinkClick r:id="rId8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 </a:t>
              </a:r>
              <a:r>
                <a:rPr lang="es-CO" sz="1100" u="sng">
                  <a:solidFill>
                    <a:schemeClr val="hlink"/>
                  </a:solidFill>
                  <a:hlinkClick r:id="rId9"/>
                </a:rPr>
                <a:t>https://blog.hubspot.es/marketing/que-son-buyer-personas</a:t>
              </a:r>
              <a:endParaRPr sz="1100" u="sng">
                <a:solidFill>
                  <a:schemeClr val="hlink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CO" sz="1100">
                  <a:solidFill>
                    <a:schemeClr val="dk1"/>
                  </a:solidFill>
                </a:rPr>
                <a:t>Pursell, S. (2026, 26 de agosto). </a:t>
              </a:r>
              <a:r>
                <a:rPr i="1" lang="es-CO" sz="1100">
                  <a:solidFill>
                    <a:schemeClr val="dk1"/>
                  </a:solidFill>
                </a:rPr>
                <a:t>Qué es un buyer persona y cómo crearlo (con plantillas gratis).</a:t>
              </a:r>
              <a:r>
                <a:rPr lang="es-CO" sz="1100">
                  <a:solidFill>
                    <a:schemeClr val="dk1"/>
                  </a:solidFill>
                </a:rPr>
                <a:t> HubSpot.</a:t>
              </a:r>
              <a:r>
                <a:rPr lang="es-CO" sz="1100">
                  <a:solidFill>
                    <a:schemeClr val="dk1"/>
                  </a:solidFill>
                  <a:uFill>
                    <a:noFill/>
                  </a:uFill>
                  <a:hlinkClick r:id="rId10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 </a:t>
              </a:r>
              <a:r>
                <a:rPr lang="es-CO" sz="1100" u="sng">
                  <a:solidFill>
                    <a:schemeClr val="hlink"/>
                  </a:solidFill>
                  <a:hlinkClick r:id="rId11"/>
                </a:rPr>
                <a:t>https://blog.hubspot.es/marketing/que-son-buyer-personas</a:t>
              </a:r>
              <a:endParaRPr sz="1100" u="sng">
                <a:solidFill>
                  <a:schemeClr val="hlink"/>
                </a:solidFill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Arial"/>
                <a:buNone/>
              </a:pPr>
              <a:r>
                <a:t/>
              </a:r>
              <a:endParaRPr sz="1050">
                <a:solidFill>
                  <a:srgbClr val="24212A"/>
                </a:solidFill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5"/>
          <p:cNvSpPr/>
          <p:nvPr/>
        </p:nvSpPr>
        <p:spPr>
          <a:xfrm>
            <a:off x="826226" y="720637"/>
            <a:ext cx="4095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1" i="0" lang="es-CO" sz="825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Artículo educativo · Perfil de usuario y seguimiento</a:t>
            </a:r>
            <a:endParaRPr b="1" i="0" sz="825" u="none" cap="none" strike="noStrike">
              <a:solidFill>
                <a:srgbClr val="6640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5"/>
          <p:cNvSpPr/>
          <p:nvPr/>
        </p:nvSpPr>
        <p:spPr>
          <a:xfrm>
            <a:off x="826226" y="1101637"/>
            <a:ext cx="5048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s-CO" sz="1700" u="none" cap="none" strike="noStrike">
                <a:solidFill>
                  <a:srgbClr val="B31686"/>
                </a:solidFill>
                <a:latin typeface="Arial"/>
                <a:ea typeface="Arial"/>
                <a:cs typeface="Arial"/>
                <a:sym typeface="Arial"/>
              </a:rPr>
              <a:t>Créditos</a:t>
            </a:r>
            <a:endParaRPr b="1" i="0" sz="1700" u="none" cap="none" strike="noStrike">
              <a:solidFill>
                <a:srgbClr val="B3168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5"/>
          <p:cNvSpPr/>
          <p:nvPr/>
        </p:nvSpPr>
        <p:spPr>
          <a:xfrm>
            <a:off x="826226" y="1406437"/>
            <a:ext cx="542925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CO" sz="2400" u="none" cap="none" strike="noStrike">
                <a:solidFill>
                  <a:srgbClr val="24212A"/>
                </a:solidFill>
                <a:latin typeface="Arial"/>
                <a:ea typeface="Arial"/>
                <a:cs typeface="Arial"/>
                <a:sym typeface="Arial"/>
              </a:rPr>
              <a:t>Sobre este documento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87" name="Google Shape;387;p15"/>
          <p:cNvGraphicFramePr/>
          <p:nvPr/>
        </p:nvGraphicFramePr>
        <p:xfrm>
          <a:off x="876300" y="1989302"/>
          <a:ext cx="3000000" cy="5000000"/>
        </p:xfrm>
        <a:graphic>
          <a:graphicData uri="http://schemas.openxmlformats.org/drawingml/2006/table">
            <a:tbl>
              <a:tblPr>
                <a:noFill/>
                <a:tableStyleId>{CAB2F9B2-BFED-4E7E-9DBD-0984B3419176}</a:tableStyleId>
              </a:tblPr>
              <a:tblGrid>
                <a:gridCol w="2628125"/>
                <a:gridCol w="2705875"/>
              </a:tblGrid>
              <a:tr h="5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CO" sz="1200" u="none" cap="none" strike="noStrike">
                          <a:solidFill>
                            <a:srgbClr val="26232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Proyecto</a:t>
                      </a:r>
                      <a:endParaRPr sz="1400" u="none" cap="none" strike="noStrike"/>
                    </a:p>
                  </a:txBody>
                  <a:tcPr marT="137150" marB="137150" marR="137150" marL="137150">
                    <a:solidFill>
                      <a:srgbClr val="FFE7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20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s-CO" sz="1200" u="none" cap="none" strike="noStrike">
                          <a:solidFill>
                            <a:srgbClr val="26232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@Medellín — SAPIENCIA</a:t>
                      </a:r>
                      <a:endParaRPr sz="1400" u="none" cap="none" strike="noStrike"/>
                    </a:p>
                  </a:txBody>
                  <a:tcPr marT="137150" marB="137150" marR="137150" marL="137150">
                    <a:solidFill>
                      <a:srgbClr val="FFE7C9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CO" sz="1200" u="none" cap="none" strike="noStrike">
                          <a:solidFill>
                            <a:srgbClr val="26232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Tipo de recurso</a:t>
                      </a:r>
                      <a:endParaRPr sz="1400" u="none" cap="none" strike="noStrike"/>
                    </a:p>
                  </a:txBody>
                  <a:tcPr marT="137150" marB="137150" marR="137150" marL="137150">
                    <a:solidFill>
                      <a:srgbClr val="FFE7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20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s-CO" sz="1200" u="none" cap="none" strike="noStrike">
                          <a:solidFill>
                            <a:srgbClr val="26232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Artículo educativo</a:t>
                      </a:r>
                      <a:endParaRPr sz="1400" u="none" cap="none" strike="noStrike"/>
                    </a:p>
                  </a:txBody>
                  <a:tcPr marT="137150" marB="137150" marR="137150" marL="137150">
                    <a:solidFill>
                      <a:srgbClr val="FFE7C9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CO" sz="1200" u="none" cap="none" strike="noStrike">
                          <a:solidFill>
                            <a:srgbClr val="26232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Coordinación general:</a:t>
                      </a:r>
                      <a:endParaRPr sz="1400" u="none" cap="none" strike="noStrike"/>
                    </a:p>
                  </a:txBody>
                  <a:tcPr marT="137150" marB="137150" marR="137150" marL="137150">
                    <a:solidFill>
                      <a:srgbClr val="FFE7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20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s-CO" sz="1200" u="none" cap="none" strike="noStrike">
                          <a:solidFill>
                            <a:srgbClr val="26232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Luz Dary Morales Galvis</a:t>
                      </a:r>
                      <a:endParaRPr sz="1400" u="none" cap="none" strike="noStrike"/>
                    </a:p>
                  </a:txBody>
                  <a:tcPr marT="137150" marB="137150" marR="137150" marL="137150">
                    <a:solidFill>
                      <a:srgbClr val="FFE7C9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CO" sz="1200" u="none" cap="none" strike="noStrike">
                          <a:solidFill>
                            <a:srgbClr val="26232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Experto temático:</a:t>
                      </a:r>
                      <a:endParaRPr sz="1400" u="none" cap="none" strike="noStrike"/>
                    </a:p>
                  </a:txBody>
                  <a:tcPr marT="137150" marB="137150" marR="137150" marL="137150">
                    <a:solidFill>
                      <a:srgbClr val="FFE7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20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s-CO" sz="1200" u="none" cap="none" strike="noStrike">
                          <a:solidFill>
                            <a:srgbClr val="26232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Diana María Velázquez García</a:t>
                      </a:r>
                      <a:endParaRPr sz="1400" u="none" cap="none" strike="noStrike"/>
                    </a:p>
                  </a:txBody>
                  <a:tcPr marT="137150" marB="137150" marR="137150" marL="137150">
                    <a:solidFill>
                      <a:srgbClr val="FFE7C9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CO" sz="1200" u="none" cap="none" strike="noStrike">
                          <a:solidFill>
                            <a:srgbClr val="26232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Diseñador de la experiencia virtual de aprendizaje:</a:t>
                      </a:r>
                      <a:endParaRPr sz="1400" u="none" cap="none" strike="noStrike"/>
                    </a:p>
                  </a:txBody>
                  <a:tcPr marT="137150" marB="137150" marR="137150" marL="137150">
                    <a:solidFill>
                      <a:srgbClr val="FFE7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20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s-CO" sz="1200" u="none" cap="none" strike="noStrike">
                          <a:solidFill>
                            <a:srgbClr val="26232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Julieta Márquez Gutiérrez</a:t>
                      </a:r>
                      <a:endParaRPr sz="1400" u="none" cap="none" strike="noStrike"/>
                    </a:p>
                  </a:txBody>
                  <a:tcPr marT="137150" marB="137150" marR="137150" marL="137150">
                    <a:solidFill>
                      <a:srgbClr val="FFE7C9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CO" sz="1200" u="none" cap="none" strike="noStrike">
                          <a:solidFill>
                            <a:srgbClr val="26232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Corrección de estilo:</a:t>
                      </a:r>
                      <a:endParaRPr sz="1400" u="none" cap="none" strike="noStrike"/>
                    </a:p>
                  </a:txBody>
                  <a:tcPr marT="137150" marB="137150" marR="137150" marL="137150">
                    <a:solidFill>
                      <a:srgbClr val="FFE7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20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s-CO" sz="1200" u="none" cap="none" strike="noStrike">
                          <a:solidFill>
                            <a:srgbClr val="26232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Sergio Andrés Ocampo Rivera</a:t>
                      </a:r>
                      <a:endParaRPr sz="1400" u="none" cap="none" strike="noStrike"/>
                    </a:p>
                  </a:txBody>
                  <a:tcPr marT="137150" marB="137150" marR="137150" marL="137150">
                    <a:solidFill>
                      <a:srgbClr val="FFE7C9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CO" sz="1200" u="none" cap="none" strike="noStrike">
                          <a:solidFill>
                            <a:srgbClr val="26232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Validación pedagógica:</a:t>
                      </a:r>
                      <a:endParaRPr sz="1400" u="none" cap="none" strike="noStrike"/>
                    </a:p>
                  </a:txBody>
                  <a:tcPr marT="137150" marB="137150" marR="137150" marL="137150">
                    <a:solidFill>
                      <a:srgbClr val="FFE7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20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s-CO" sz="1200" u="none" cap="none" strike="noStrike">
                          <a:solidFill>
                            <a:srgbClr val="26232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Sandra Patricia Hoyos Sepúlveda</a:t>
                      </a:r>
                      <a:endParaRPr sz="1400" u="none" cap="none" strike="noStrike"/>
                    </a:p>
                  </a:txBody>
                  <a:tcPr marT="137150" marB="137150" marR="137150" marL="137150">
                    <a:solidFill>
                      <a:srgbClr val="FFE7C9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CO" sz="1200" u="none" cap="none" strike="noStrike">
                          <a:solidFill>
                            <a:srgbClr val="26232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Diseño gráfico:</a:t>
                      </a:r>
                      <a:endParaRPr sz="1400" u="none" cap="none" strike="noStrike"/>
                    </a:p>
                  </a:txBody>
                  <a:tcPr marT="137150" marB="137150" marR="137150" marL="137150">
                    <a:solidFill>
                      <a:srgbClr val="FFE7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20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s-CO" sz="1200" u="none" cap="none" strike="noStrike">
                          <a:solidFill>
                            <a:srgbClr val="26232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Andrea Valentina Roa Orozco</a:t>
                      </a:r>
                      <a:endParaRPr sz="1400" u="none" cap="none" strike="noStrike"/>
                    </a:p>
                  </a:txBody>
                  <a:tcPr marT="137150" marB="137150" marR="137150" marL="137150">
                    <a:solidFill>
                      <a:srgbClr val="FFE7C9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CO" sz="1200" u="none" cap="none" strike="noStrike">
                          <a:solidFill>
                            <a:srgbClr val="26232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Disposición y ensamble:</a:t>
                      </a:r>
                      <a:endParaRPr sz="1400" u="none" cap="none" strike="noStrike"/>
                    </a:p>
                  </a:txBody>
                  <a:tcPr marT="137150" marB="137150" marR="137150" marL="137150">
                    <a:solidFill>
                      <a:srgbClr val="FFE7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20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s-CO" sz="1200" u="none" cap="none" strike="noStrike">
                          <a:solidFill>
                            <a:srgbClr val="26232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Samayda Herrera Betancur</a:t>
                      </a:r>
                      <a:endParaRPr sz="1400" u="none" cap="none" strike="noStrike"/>
                    </a:p>
                  </a:txBody>
                  <a:tcPr marT="137150" marB="137150" marR="137150" marL="137150">
                    <a:solidFill>
                      <a:srgbClr val="FFE7C9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CO" sz="1200" u="none" cap="none" strike="noStrike">
                          <a:solidFill>
                            <a:srgbClr val="26232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Última actualización</a:t>
                      </a:r>
                      <a:endParaRPr sz="1400" u="none" cap="none" strike="noStrike"/>
                    </a:p>
                  </a:txBody>
                  <a:tcPr marT="137150" marB="137150" marR="137150" marL="137150">
                    <a:solidFill>
                      <a:srgbClr val="FFE7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20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s-CO" sz="1200" u="none" cap="none" strike="noStrike">
                          <a:solidFill>
                            <a:srgbClr val="26232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Octubre de 2026</a:t>
                      </a:r>
                      <a:endParaRPr sz="1400" u="none" cap="none" strike="noStrike"/>
                    </a:p>
                  </a:txBody>
                  <a:tcPr marT="137150" marB="137150" marR="137150" marL="137150">
                    <a:solidFill>
                      <a:srgbClr val="FFE7C9"/>
                    </a:solidFill>
                  </a:tcPr>
                </a:tc>
              </a:tr>
            </a:tbl>
          </a:graphicData>
        </a:graphic>
      </p:graphicFrame>
      <p:sp>
        <p:nvSpPr>
          <p:cNvPr id="388" name="Google Shape;388;p15"/>
          <p:cNvSpPr/>
          <p:nvPr/>
        </p:nvSpPr>
        <p:spPr>
          <a:xfrm>
            <a:off x="876300" y="8401050"/>
            <a:ext cx="5105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s-CO" sz="975" u="none" cap="none" strike="noStrike">
                <a:solidFill>
                  <a:srgbClr val="7B7480"/>
                </a:solidFill>
                <a:latin typeface="Arial"/>
                <a:ea typeface="Arial"/>
                <a:cs typeface="Arial"/>
                <a:sym typeface="Arial"/>
              </a:rPr>
              <a:t>Copyright 2026. Todos los derechos reservados.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5"/>
          <p:cNvSpPr/>
          <p:nvPr/>
        </p:nvSpPr>
        <p:spPr>
          <a:xfrm>
            <a:off x="542109" y="9242515"/>
            <a:ext cx="4000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O" sz="1000" u="none" cap="none" strike="noStrike">
                <a:solidFill>
                  <a:srgbClr val="B31686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2026-08-28T21:01:11Z</dcterms:created>
  <dc:creator>Walnut Exporter</dc:creator>
</cp:coreProperties>
</file>