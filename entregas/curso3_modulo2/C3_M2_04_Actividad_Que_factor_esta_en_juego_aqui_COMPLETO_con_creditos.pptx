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8" r:id="rId13"/>
    <p:sldId id="279" r:id="rId14"/>
    <p:sldId id="274" r:id="rId20"/>
    <p:sldId id="275" r:id="rId21"/>
    <p:sldId id="277" r:id="rId23"/>
  </p:sldIdLst>
  <p:sldSz cx="19050000" cy="109347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44">
          <p15:clr>
            <a:srgbClr val="A4A3A4"/>
          </p15:clr>
        </p15:guide>
        <p15:guide id="2" pos="5002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RLobvM1VNIuYSNzRCYEg55T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0" y="-90"/>
      </p:cViewPr>
      <p:guideLst>
        <p:guide orient="horz" pos="3444"/>
        <p:guide pos="5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3"/>
              <a:buFont typeface="Arial"/>
              <a:buNone/>
            </a:pPr>
            <a:endParaRPr sz="28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12838" y="0"/>
            <a:ext cx="522605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702332"/>
            <a:ext cx="19050000" cy="152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45987" y="570075"/>
            <a:ext cx="6219825" cy="96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19.xml"/><Relationship Id="rId16" Type="http://schemas.openxmlformats.org/officeDocument/2006/relationships/slide" Target="slide22.xml"/><Relationship Id="rId17" Type="http://schemas.openxmlformats.org/officeDocument/2006/relationships/slide" Target="slide1.xml"/><Relationship Id="rId2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22.xml"/><Relationship Id="rId14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22.xml"/><Relationship Id="rId14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5" Type="http://schemas.openxmlformats.org/officeDocument/2006/relationships/slide" Target="slide20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slide" Target="slide1.xml"/><Relationship Id="rId11" Type="http://schemas.openxmlformats.org/officeDocument/2006/relationships/image" Target="../media/image12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slide" Target="slide1.xml"/><Relationship Id="rId11" Type="http://schemas.openxmlformats.org/officeDocument/2006/relationships/image" Target="../media/image12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9.xml"/><Relationship Id="rId6" Type="http://schemas.openxmlformats.org/officeDocument/2006/relationships/slide" Target="slide22.xml"/><Relationship Id="rId7" Type="http://schemas.openxmlformats.org/officeDocument/2006/relationships/slide" Target="slide1.xml"/><Relationship Id="rId8" Type="http://schemas.openxmlformats.org/officeDocument/2006/relationships/slide" Target="slide20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4425" y="-177800"/>
            <a:ext cx="17123301" cy="11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4">
            <a:alphaModFix amt="35000"/>
          </a:blip>
          <a:srcRect l="27082"/>
          <a:stretch/>
        </p:blipFill>
        <p:spPr>
          <a:xfrm>
            <a:off x="2801486" y="-120650"/>
            <a:ext cx="9058927" cy="1117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0402" y="1245308"/>
            <a:ext cx="12845207" cy="876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6400" y="-114301"/>
            <a:ext cx="9058926" cy="1116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658" y="4595812"/>
            <a:ext cx="2263176" cy="1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6115750" y="5449075"/>
            <a:ext cx="9369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2800" b="0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Actividad formativa · Tema 1. Análisis del macroentorno · PESTEL</a:t>
            </a:r>
            <a:endParaRPr sz="2800" b="0" i="0" u="none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hlinkClick action="ppaction://hlinksldjump" r:id="rId13"/>
          </p:cNvPr>
          <p:cNvSpPr/>
          <p:nvPr/>
        </p:nvSpPr>
        <p:spPr>
          <a:xfrm>
            <a:off x="6202428" y="8028299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action="ppaction://hlinksldjump" r:id="rId13"/>
          </p:cNvPr>
          <p:cNvSpPr/>
          <p:nvPr/>
        </p:nvSpPr>
        <p:spPr>
          <a:xfrm>
            <a:off x="6202428" y="7968768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lang="es-CO" sz="1992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Comenzar</a:t>
            </a:r>
            <a:endParaRPr sz="1992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75859" y="1067484"/>
            <a:ext cx="1191145" cy="118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78363" y="9342537"/>
            <a:ext cx="5185456" cy="87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65645" y="420404"/>
            <a:ext cx="2398173" cy="5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6115751" y="1777100"/>
            <a:ext cx="1241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¿Qué factor está en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juego aquí?</a:t>
            </a:r>
            <a:endParaRPr sz="7200" b="1" i="0" u="none" strike="noStrike" cap="none">
              <a:solidFill>
                <a:srgbClr val="0247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525915" y="10310812"/>
            <a:ext cx="1040267" cy="10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hlinkClick action="ppaction://hlinksldjump" r:id="rId17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hlinkClick action="ppaction://hlinksldjump" r:id="rId17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" title="correcciones sapiencia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>
            <a:hlinkClick action="ppaction://hlinksldjump" r:id="rId17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3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3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4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4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5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5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16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16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4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4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1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1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 para llevar a cabo el cuestionario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10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10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1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1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13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13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886200" y="3246120"/>
            <a:ext cx="1435608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3D2159"/>
                </a:solidFill>
                <a:latin typeface="Arial"/>
              </a:rPr>
              <a:t>A continuación, encontraremos diferentes situaciones relacionadas con el entorno de un proyecto. Leamos atentamente cada situación y emparejémosla con la dimensión del análisis PESTEL que corresponda: política, económica, social, tecnológica, ecológica o legal.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3D2159"/>
                </a:solidFill>
                <a:latin typeface="Arial"/>
              </a:rPr>
              <a:t>Para responder, seleccionaremos en cada caso la opción que represente el factor externo predominante. Una vez finalizados todos los emparejamientos, enviaremos nuestras respuestas para recibir la retroalimentación correspondiente.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886200" y="5346120"/>
            <a:ext cx="14356080" cy="1400000"/>
          </a:xfrm>
          <a:prstGeom prst="rect">
            <a:avLst/>
          </a:prstGeom>
          <a:solidFill>
            <a:srgbClr val="F1EB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886200" y="5346120"/>
            <a:ext cx="73152" cy="14000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206200" y="5496120"/>
            <a:ext cx="1385608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664092"/>
                </a:solidFill>
                <a:latin typeface="Arial"/>
              </a:rPr>
              <a:t>Resultado de aprendizaje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00" y="5846120"/>
            <a:ext cx="1385608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Identificar las dimensiones del análisis PESTEL mediante el análisis de situaciones del macroentorno, reconociendo los factores externos que pueden influir en la formulación de un proyecto.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86200" y="6906120"/>
            <a:ext cx="1435608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71989"/>
                </a:solidFill>
                <a:latin typeface="Arial"/>
              </a:rPr>
              <a:t>Opciones de respuesta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886200" y="733612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886200" y="73361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Política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09360" y="733612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09360" y="73361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Económica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732520" y="733612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732520" y="73361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Social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155680" y="733612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155680" y="73361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Tecnológica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3578840" y="733612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578840" y="73361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Ecológica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6002000" y="733612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6002000" y="73361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664092"/>
                </a:solidFill>
                <a:latin typeface="Arial"/>
              </a:rPr>
              <a:t>Legal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0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0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2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2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4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4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4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EMPAREJAMIENTO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¿Qué factor está en juego aquí?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0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0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1">
            <a:hlinkClick action="ppaction://hlinksldjump" r:id="rId11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1">
            <a:hlinkClick action="ppaction://hlinksldjump" r:id="rId11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13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13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TextBox 1058"/>
          <p:cNvSpPr txBox="1"/>
          <p:nvPr/>
        </p:nvSpPr>
        <p:spPr>
          <a:xfrm>
            <a:off x="3886200" y="3246120"/>
            <a:ext cx="1435608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3D2159"/>
                </a:solidFill>
                <a:latin typeface="Arial"/>
              </a:rPr>
              <a:t>Analizaremos diferentes situaciones relacionadas con el entorno de un proyecto. Emparejemos cada situación con la dimensión PESTEL que corresponda principalmente al factor descrito.</a:t>
            </a:r>
          </a:p>
        </p:txBody>
      </p:sp>
      <p:sp>
        <p:nvSpPr>
          <p:cNvPr id="1060" name="Rounded Rectangle 1059"/>
          <p:cNvSpPr/>
          <p:nvPr/>
        </p:nvSpPr>
        <p:spPr>
          <a:xfrm>
            <a:off x="3886200" y="4146120"/>
            <a:ext cx="11064240" cy="78278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4046200" y="430891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2" name="TextBox 1061"/>
          <p:cNvSpPr txBox="1"/>
          <p:nvPr/>
        </p:nvSpPr>
        <p:spPr>
          <a:xfrm>
            <a:off x="4046200" y="430891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4686200" y="4146120"/>
            <a:ext cx="10104240" cy="782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Una alcaldía crea un programa de apoyo para nuevos emprendimientos.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15133320" y="424033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5" name="TextBox 1064"/>
          <p:cNvSpPr txBox="1"/>
          <p:nvPr/>
        </p:nvSpPr>
        <p:spPr>
          <a:xfrm>
            <a:off x="15333320" y="424033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66" name="Rounded Rectangle 1065"/>
          <p:cNvSpPr/>
          <p:nvPr/>
        </p:nvSpPr>
        <p:spPr>
          <a:xfrm>
            <a:off x="3886200" y="5020340"/>
            <a:ext cx="11064240" cy="78278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4046200" y="518313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4046200" y="518313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69" name="TextBox 1068"/>
          <p:cNvSpPr txBox="1"/>
          <p:nvPr/>
        </p:nvSpPr>
        <p:spPr>
          <a:xfrm>
            <a:off x="4686200" y="5020340"/>
            <a:ext cx="10104240" cy="782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Aumentan los costos de transporte y distribución de productos.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15133320" y="511455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1" name="TextBox 1070"/>
          <p:cNvSpPr txBox="1"/>
          <p:nvPr/>
        </p:nvSpPr>
        <p:spPr>
          <a:xfrm>
            <a:off x="15333320" y="511455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72" name="Rounded Rectangle 1071"/>
          <p:cNvSpPr/>
          <p:nvPr/>
        </p:nvSpPr>
        <p:spPr>
          <a:xfrm>
            <a:off x="3886200" y="5894560"/>
            <a:ext cx="11064240" cy="78278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4046200" y="605735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4" name="TextBox 1073"/>
          <p:cNvSpPr txBox="1"/>
          <p:nvPr/>
        </p:nvSpPr>
        <p:spPr>
          <a:xfrm>
            <a:off x="4046200" y="605735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4686200" y="5894560"/>
            <a:ext cx="10104240" cy="782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Los consumidores muestran mayor interés por adquirir productos locales.</a:t>
            </a:r>
          </a:p>
        </p:txBody>
      </p:sp>
      <p:sp>
        <p:nvSpPr>
          <p:cNvPr id="1076" name="Rounded Rectangle 1075"/>
          <p:cNvSpPr/>
          <p:nvPr/>
        </p:nvSpPr>
        <p:spPr>
          <a:xfrm>
            <a:off x="15133320" y="598877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7" name="TextBox 1076"/>
          <p:cNvSpPr txBox="1"/>
          <p:nvPr/>
        </p:nvSpPr>
        <p:spPr>
          <a:xfrm>
            <a:off x="15333320" y="598877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78" name="Rounded Rectangle 1077"/>
          <p:cNvSpPr/>
          <p:nvPr/>
        </p:nvSpPr>
        <p:spPr>
          <a:xfrm>
            <a:off x="3886200" y="6768780"/>
            <a:ext cx="11064240" cy="78278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4046200" y="693157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4046200" y="69315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81" name="TextBox 1080"/>
          <p:cNvSpPr txBox="1"/>
          <p:nvPr/>
        </p:nvSpPr>
        <p:spPr>
          <a:xfrm>
            <a:off x="4686200" y="6768780"/>
            <a:ext cx="10104240" cy="782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Mejora la infraestructura de conectividad y acceso a internet en zonas rurales.</a:t>
            </a:r>
          </a:p>
        </p:txBody>
      </p:sp>
      <p:sp>
        <p:nvSpPr>
          <p:cNvPr id="1082" name="Rounded Rectangle 1081"/>
          <p:cNvSpPr/>
          <p:nvPr/>
        </p:nvSpPr>
        <p:spPr>
          <a:xfrm>
            <a:off x="15133320" y="686299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3" name="TextBox 1082"/>
          <p:cNvSpPr txBox="1"/>
          <p:nvPr/>
        </p:nvSpPr>
        <p:spPr>
          <a:xfrm>
            <a:off x="15333320" y="686299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84" name="Rounded Rectangle 1083"/>
          <p:cNvSpPr/>
          <p:nvPr/>
        </p:nvSpPr>
        <p:spPr>
          <a:xfrm>
            <a:off x="3886200" y="7643000"/>
            <a:ext cx="11064240" cy="78278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4046200" y="780579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6" name="TextBox 1085"/>
          <p:cNvSpPr txBox="1"/>
          <p:nvPr/>
        </p:nvSpPr>
        <p:spPr>
          <a:xfrm>
            <a:off x="4046200" y="780579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4686200" y="7643000"/>
            <a:ext cx="10104240" cy="782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Una sequía prolongada reduce la disponibilidad de agua para actividades productivas.</a:t>
            </a:r>
          </a:p>
        </p:txBody>
      </p:sp>
      <p:sp>
        <p:nvSpPr>
          <p:cNvPr id="1088" name="Rounded Rectangle 1087"/>
          <p:cNvSpPr/>
          <p:nvPr/>
        </p:nvSpPr>
        <p:spPr>
          <a:xfrm>
            <a:off x="15133320" y="773721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9" name="TextBox 1088"/>
          <p:cNvSpPr txBox="1"/>
          <p:nvPr/>
        </p:nvSpPr>
        <p:spPr>
          <a:xfrm>
            <a:off x="15333320" y="773721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90" name="Rounded Rectangle 1089"/>
          <p:cNvSpPr/>
          <p:nvPr/>
        </p:nvSpPr>
        <p:spPr>
          <a:xfrm>
            <a:off x="3886200" y="8517220"/>
            <a:ext cx="11064240" cy="782780"/>
          </a:xfrm>
          <a:prstGeom prst="roundRect">
            <a:avLst>
              <a:gd name="adj" fmla="val 12000"/>
            </a:avLst>
          </a:prstGeom>
          <a:solidFill>
            <a:srgbClr val="F7F5FA"/>
          </a:solidFill>
          <a:ln w="12700">
            <a:solidFill>
              <a:srgbClr val="E3DD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4046200" y="8680010"/>
            <a:ext cx="457200" cy="4572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2" name="TextBox 1091"/>
          <p:cNvSpPr txBox="1"/>
          <p:nvPr/>
        </p:nvSpPr>
        <p:spPr>
          <a:xfrm>
            <a:off x="4046200" y="868001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4686200" y="8517220"/>
            <a:ext cx="10104240" cy="782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3D2159"/>
                </a:solidFill>
                <a:latin typeface="Arial"/>
              </a:rPr>
              <a:t>Entra en vigencia una norma que establece nuevos requisitos para comercializar alimentos.</a:t>
            </a:r>
          </a:p>
        </p:txBody>
      </p:sp>
      <p:sp>
        <p:nvSpPr>
          <p:cNvPr id="1094" name="Rounded Rectangle 1093"/>
          <p:cNvSpPr/>
          <p:nvPr/>
        </p:nvSpPr>
        <p:spPr>
          <a:xfrm>
            <a:off x="15133320" y="8611430"/>
            <a:ext cx="31089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6409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5" name="TextBox 1094"/>
          <p:cNvSpPr txBox="1"/>
          <p:nvPr/>
        </p:nvSpPr>
        <p:spPr>
          <a:xfrm>
            <a:off x="15333320" y="8611430"/>
            <a:ext cx="27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575"/>
                </a:solidFill>
                <a:latin typeface="Arial"/>
              </a:rPr>
              <a:t>Selecciona la opción</a:t>
            </a:r>
            <a:r>
              <a:rPr sz="1600" b="1">
                <a:solidFill>
                  <a:srgbClr val="664092"/>
                </a:solidFill>
                <a:latin typeface="Arial"/>
              </a:rPr>
              <a:t>   ▾</a:t>
            </a:r>
          </a:p>
        </p:txBody>
      </p:sp>
      <p:sp>
        <p:nvSpPr>
          <p:cNvPr id="1096" name="Rounded Rectangle 1095">
            <a:hlinkClick action="ppaction://hlinksldjump" r:id="rId12"/>
          </p:cNvPr>
          <p:cNvSpPr/>
          <p:nvPr/>
        </p:nvSpPr>
        <p:spPr>
          <a:xfrm>
            <a:off x="8580000" y="9647639"/>
            <a:ext cx="3300000" cy="476400"/>
          </a:xfrm>
          <a:prstGeom prst="roundRect">
            <a:avLst>
              <a:gd name="adj" fmla="val 50000"/>
            </a:avLst>
          </a:prstGeom>
          <a:solidFill>
            <a:srgbClr val="C9B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7" name="Rounded Rectangle 1096">
            <a:hlinkClick action="ppaction://hlinksldjump" r:id="rId12"/>
          </p:cNvPr>
          <p:cNvSpPr/>
          <p:nvPr/>
        </p:nvSpPr>
        <p:spPr>
          <a:xfrm>
            <a:off x="8580000" y="9588108"/>
            <a:ext cx="33000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3D2159"/>
                </a:solidFill>
                <a:latin typeface="Arial"/>
              </a:rPr>
              <a:t>Comprobar respuestas 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2">
            <a:hlinkClick action="ppaction://hlinksldjump" r:id="rId7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2">
            <a:hlinkClick action="ppaction://hlinksldjump" r:id="rId7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2">
            <a:hlinkClick action="ppaction://hlinksldjump" r:id="rId5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2">
            <a:hlinkClick action="ppaction://hlinksldjump" r:id="rId5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2">
            <a:hlinkClick action="ppaction://hlinksldjump" r:id="rId10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2">
            <a:hlinkClick action="ppaction://hlinksldjump" r:id="rId1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32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2">
            <a:hlinkClick action="ppaction://hlinksldjump" r:id="rId10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16" name="Google Shape;1116;p3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correcta</a:t>
            </a:r>
            <a:endParaRPr/>
          </a:p>
        </p:txBody>
      </p:sp>
      <p:sp>
        <p:nvSpPr>
          <p:cNvPr id="1117" name="Google Shape;1117;p3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2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4" name="Google Shape;1124;p32" descr="check_bold_3D2159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32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¡Muy bien!</a:t>
            </a:r>
            <a:endParaRPr/>
          </a:p>
        </p:txBody>
      </p:sp>
      <p:sp>
        <p:nvSpPr>
          <p:cNvPr id="1126" name="Google Shape;1126;p32"/>
          <p:cNvSpPr txBox="1"/>
          <p:nvPr/>
        </p:nvSpPr>
        <p:spPr>
          <a:xfrm>
            <a:off x="6812280" y="4160520"/>
            <a:ext cx="112471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Hemos reconocido adecuadamente los factores del macroentorno y los hemos relacionado con las seis dimensiones del análisis PESTEL.</a:t>
            </a:r>
            <a:endParaRPr/>
          </a:p>
        </p:txBody>
      </p:sp>
      <p:sp>
        <p:nvSpPr>
          <p:cNvPr id="1127" name="Google Shape;1127;p32"/>
          <p:cNvSpPr/>
          <p:nvPr/>
        </p:nvSpPr>
        <p:spPr>
          <a:xfrm>
            <a:off x="6812280" y="6446520"/>
            <a:ext cx="11247120" cy="960120"/>
          </a:xfrm>
          <a:prstGeom prst="roundRect">
            <a:avLst>
              <a:gd name="adj" fmla="val 19047"/>
            </a:avLst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6812280" y="661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9" name="Google Shape;1129;p32" descr="lightbulb_regular_664092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32320" y="669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32"/>
          <p:cNvSpPr txBox="1"/>
          <p:nvPr/>
        </p:nvSpPr>
        <p:spPr>
          <a:xfrm>
            <a:off x="7818120" y="644652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Respuestas: 1 Política · 2 Económica · 3 Social · 4 Tecnológica · 5 Ecológica · 6 Legal.</a:t>
            </a:r>
            <a:endParaRPr/>
          </a:p>
        </p:txBody>
      </p:sp>
      <p:sp>
        <p:nvSpPr>
          <p:cNvPr id="1131" name="Google Shape;1131;p32">
            <a:hlinkClick action="ppaction://hlinksldjump" r:id="rId9"/>
          </p:cNvPr>
          <p:cNvSpPr/>
          <p:nvPr/>
        </p:nvSpPr>
        <p:spPr>
          <a:xfrm>
            <a:off x="6812280" y="7927848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2">
            <a:hlinkClick action="ppaction://hlinksldjump" r:id="rId9"/>
          </p:cNvPr>
          <p:cNvSpPr/>
          <p:nvPr/>
        </p:nvSpPr>
        <p:spPr>
          <a:xfrm>
            <a:off x="6812280" y="7863840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Continuar  →</a:t>
            </a:r>
            <a:endParaRPr/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9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9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3">
            <a:hlinkClick action="ppaction://hlinksldjump" r:id="rId8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3">
            <a:hlinkClick action="ppaction://hlinksldjump" r:id="rId8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3">
            <a:hlinkClick action="ppaction://hlinksldjump" r:id="rId9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3">
            <a:hlinkClick action="ppaction://hlinksldjump" r:id="rId9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3">
            <a:hlinkClick action="ppaction://hlinksldjump" r:id="rId10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3">
            <a:hlinkClick action="ppaction://hlinksldjump" r:id="rId1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8" name="Google Shape;1158;p33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3">
            <a:hlinkClick action="ppaction://hlinksldjump" r:id="rId10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3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61" name="Google Shape;1161;p33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con errores</a:t>
            </a:r>
            <a:endParaRPr/>
          </a:p>
        </p:txBody>
      </p:sp>
      <p:sp>
        <p:nvSpPr>
          <p:cNvPr id="1162" name="Google Shape;1162;p33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3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3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3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3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3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3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9" name="Google Shape;1169;p33" descr="arrow-counter-clockwise_bold_664092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33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nuevamente las situaciones.</a:t>
            </a:r>
            <a:endParaRPr/>
          </a:p>
        </p:txBody>
      </p:sp>
      <p:sp>
        <p:nvSpPr>
          <p:cNvPr id="1171" name="Google Shape;1171;p33"/>
          <p:cNvSpPr txBox="1"/>
          <p:nvPr/>
        </p:nvSpPr>
        <p:spPr>
          <a:xfrm>
            <a:off x="6812280" y="4160520"/>
            <a:ext cx="1124712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300" b="0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Para realizar el emparejamiento, debemos identificar qué factor externo predomina en cada caso y relacionarlo con la dimensión política, económica, social, tecnológica, ecológica o legal correspondiente.</a:t>
            </a:r>
            <a:endParaRPr/>
          </a:p>
        </p:txBody>
      </p:sp>
      <p:sp>
        <p:nvSpPr>
          <p:cNvPr id="1172" name="Google Shape;1172;p33"/>
          <p:cNvSpPr/>
          <p:nvPr/>
        </p:nvSpPr>
        <p:spPr>
          <a:xfrm>
            <a:off x="6812280" y="6446520"/>
            <a:ext cx="11247120" cy="960120"/>
          </a:xfrm>
          <a:prstGeom prst="roundRect">
            <a:avLst>
              <a:gd name="adj" fmla="val 19047"/>
            </a:avLst>
          </a:prstGeom>
          <a:solidFill>
            <a:srgbClr val="F1E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3"/>
          <p:cNvSpPr/>
          <p:nvPr/>
        </p:nvSpPr>
        <p:spPr>
          <a:xfrm>
            <a:off x="6812280" y="661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4" name="Google Shape;1174;p33" descr="magnifying-glass_regular_664092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32320" y="669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33"/>
          <p:cNvSpPr txBox="1"/>
          <p:nvPr/>
        </p:nvSpPr>
        <p:spPr>
          <a:xfrm>
            <a:off x="7818120" y="644652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Dimensiones: política · económica · social · tecnológica · ecológica · legal.</a:t>
            </a:r>
            <a:endParaRPr/>
          </a:p>
        </p:txBody>
      </p:sp>
      <p:sp>
        <p:nvSpPr>
          <p:cNvPr id="1176" name="Google Shape;1176;p33">
            <a:hlinkClick action="ppaction://hlinksldjump" r:id="rId7"/>
          </p:cNvPr>
          <p:cNvSpPr/>
          <p:nvPr/>
        </p:nvSpPr>
        <p:spPr>
          <a:xfrm>
            <a:off x="6812280" y="7927848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3">
            <a:hlinkClick action="ppaction://hlinksldjump" r:id="rId7"/>
          </p:cNvPr>
          <p:cNvSpPr/>
          <p:nvPr/>
        </p:nvSpPr>
        <p:spPr>
          <a:xfrm>
            <a:off x="6812280" y="7863840"/>
            <a:ext cx="4937760" cy="713232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Intentar de nuevo  ↺</a:t>
            </a:r>
            <a:endParaRPr/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56;p2">
            <a:hlinkClick action="ppaction://hlinksldjump" r:id="rId9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7;p2">
            <a:hlinkClick action="ppaction://hlinksldjump" r:id="rId9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4">
            <a:hlinkClick action="ppaction://hlinksldjump" r:id="rId7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4">
            <a:hlinkClick action="ppaction://hlinksldjump" r:id="rId7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Picture 120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83" y="600314"/>
            <a:ext cx="486192" cy="486192"/>
          </a:xfrm>
          <a:prstGeom prst="rect">
            <a:avLst/>
          </a:prstGeom>
        </p:spPr>
      </p:pic>
      <p:sp>
        <p:nvSpPr>
          <p:cNvPr id="1202" name="Google Shape;1202;p34">
            <a:hlinkClick action="ppaction://hlinksldjump" r:id="rId7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4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/>
          </a:p>
        </p:txBody>
      </p:sp>
      <p:sp>
        <p:nvSpPr>
          <p:cNvPr id="1204" name="Google Shape;1204;p34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/>
          </a:p>
        </p:txBody>
      </p:sp>
      <p:sp>
        <p:nvSpPr>
          <p:cNvPr id="1205" name="Google Shape;1205;p34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4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4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4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4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4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4">
            <a:hlinkClick action="ppaction://hlinksldjump" r:id="rId8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4">
            <a:hlinkClick action="ppaction://hlinksldjump" r:id="rId8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3886200" y="3429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3886200" y="3429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8"/>
          <p:cNvSpPr txBox="1"/>
          <p:nvPr/>
        </p:nvSpPr>
        <p:spPr>
          <a:xfrm>
            <a:off x="4206240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843" name="Google Shape;843;p18"/>
          <p:cNvSpPr txBox="1"/>
          <p:nvPr/>
        </p:nvSpPr>
        <p:spPr>
          <a:xfrm>
            <a:off x="4206240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844" name="Google Shape;844;p18"/>
          <p:cNvSpPr/>
          <p:nvPr/>
        </p:nvSpPr>
        <p:spPr>
          <a:xfrm>
            <a:off x="11155680" y="3429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8"/>
          <p:cNvSpPr/>
          <p:nvPr/>
        </p:nvSpPr>
        <p:spPr>
          <a:xfrm>
            <a:off x="11155680" y="3429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8"/>
          <p:cNvSpPr txBox="1"/>
          <p:nvPr/>
        </p:nvSpPr>
        <p:spPr>
          <a:xfrm>
            <a:off x="11475719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847" name="Google Shape;847;p18"/>
          <p:cNvSpPr txBox="1"/>
          <p:nvPr/>
        </p:nvSpPr>
        <p:spPr>
          <a:xfrm>
            <a:off x="11475719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3886200" y="4572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3886200" y="4572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4206240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851" name="Google Shape;851;p18"/>
          <p:cNvSpPr txBox="1"/>
          <p:nvPr/>
        </p:nvSpPr>
        <p:spPr>
          <a:xfrm>
            <a:off x="4206240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11155680" y="4572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11155680" y="4572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8"/>
          <p:cNvSpPr txBox="1"/>
          <p:nvPr/>
        </p:nvSpPr>
        <p:spPr>
          <a:xfrm>
            <a:off x="11475719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855" name="Google Shape;855;p18"/>
          <p:cNvSpPr txBox="1"/>
          <p:nvPr/>
        </p:nvSpPr>
        <p:spPr>
          <a:xfrm>
            <a:off x="11475719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Sergio Andrés Ocampo Rivera</a:t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3886200" y="5715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3886200" y="5715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8"/>
          <p:cNvSpPr txBox="1"/>
          <p:nvPr/>
        </p:nvSpPr>
        <p:spPr>
          <a:xfrm>
            <a:off x="4206240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859" name="Google Shape;859;p18"/>
          <p:cNvSpPr txBox="1"/>
          <p:nvPr/>
        </p:nvSpPr>
        <p:spPr>
          <a:xfrm>
            <a:off x="4206240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11155680" y="5715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8"/>
          <p:cNvSpPr/>
          <p:nvPr/>
        </p:nvSpPr>
        <p:spPr>
          <a:xfrm>
            <a:off x="11155680" y="5715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8"/>
          <p:cNvSpPr txBox="1"/>
          <p:nvPr/>
        </p:nvSpPr>
        <p:spPr>
          <a:xfrm>
            <a:off x="11475719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863" name="Google Shape;863;p18"/>
          <p:cNvSpPr txBox="1"/>
          <p:nvPr/>
        </p:nvSpPr>
        <p:spPr>
          <a:xfrm>
            <a:off x="11475719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3886200" y="6858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8"/>
          <p:cNvSpPr/>
          <p:nvPr/>
        </p:nvSpPr>
        <p:spPr>
          <a:xfrm>
            <a:off x="3886200" y="6858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8"/>
          <p:cNvSpPr txBox="1"/>
          <p:nvPr/>
        </p:nvSpPr>
        <p:spPr>
          <a:xfrm>
            <a:off x="4206240" y="6967728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lang="es-CO" sz="1300" b="1">
                <a:solidFill>
                  <a:srgbClr val="2A56C6"/>
                </a:solidFill>
              </a:rPr>
              <a:t>d</a:t>
            </a:r>
            <a:r>
              <a:rPr lang="es-CO" sz="1300" b="1" i="0" u="none" strike="noStrike" cap="non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867" name="Google Shape;867;p18"/>
          <p:cNvSpPr txBox="1"/>
          <p:nvPr/>
        </p:nvSpPr>
        <p:spPr>
          <a:xfrm>
            <a:off x="4206240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868" name="Google Shape;868;p18"/>
          <p:cNvSpPr/>
          <p:nvPr/>
        </p:nvSpPr>
        <p:spPr>
          <a:xfrm>
            <a:off x="11155680" y="6858000"/>
            <a:ext cx="6949440" cy="960120"/>
          </a:xfrm>
          <a:prstGeom prst="roundRect">
            <a:avLst>
              <a:gd name="adj" fmla="val 12000"/>
            </a:avLst>
          </a:prstGeom>
          <a:solidFill>
            <a:srgbClr val="F5F3FA"/>
          </a:solidFill>
          <a:ln w="12700" cap="flat" cmpd="sng">
            <a:solidFill>
              <a:srgbClr val="D8D2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8"/>
          <p:cNvSpPr/>
          <p:nvPr/>
        </p:nvSpPr>
        <p:spPr>
          <a:xfrm>
            <a:off x="11155680" y="6858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8"/>
          <p:cNvSpPr txBox="1"/>
          <p:nvPr/>
        </p:nvSpPr>
        <p:spPr>
          <a:xfrm>
            <a:off x="11475719" y="6967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871" name="Google Shape;871;p18"/>
          <p:cNvSpPr txBox="1"/>
          <p:nvPr/>
        </p:nvSpPr>
        <p:spPr>
          <a:xfrm>
            <a:off x="11475719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872" name="Google Shape;872;p18"/>
          <p:cNvSpPr txBox="1"/>
          <p:nvPr/>
        </p:nvSpPr>
        <p:spPr>
          <a:xfrm>
            <a:off x="3886200" y="8092440"/>
            <a:ext cx="1421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1" u="none" strike="noStrike" cap="non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  <p:sp>
        <p:nvSpPr>
          <p:cNvPr id="56" name="Google Shape;56;p2">
            <a:hlinkClick action="ppaction://hlinksldjump" r:id="rId3"/>
          </p:cNvPr>
          <p:cNvSpPr/>
          <p:nvPr/>
        </p:nvSpPr>
        <p:spPr>
          <a:xfrm>
            <a:off x="191751" y="1730000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3"/>
          </p:cNvPr>
          <p:cNvSpPr/>
          <p:nvPr/>
        </p:nvSpPr>
        <p:spPr>
          <a:xfrm>
            <a:off x="266783" y="1730000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4"/>
          </p:cNvPr>
          <p:cNvSpPr/>
          <p:nvPr/>
        </p:nvSpPr>
        <p:spPr>
          <a:xfrm>
            <a:off x="191751" y="3948674"/>
            <a:ext cx="75000" cy="2068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4"/>
          </p:cNvPr>
          <p:cNvSpPr/>
          <p:nvPr/>
        </p:nvSpPr>
        <p:spPr>
          <a:xfrm>
            <a:off x="266783" y="3948674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5"/>
          </p:cNvPr>
          <p:cNvSpPr/>
          <p:nvPr/>
        </p:nvSpPr>
        <p:spPr>
          <a:xfrm>
            <a:off x="191751" y="6167348"/>
            <a:ext cx="75000" cy="2068558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5"/>
          </p:cNvPr>
          <p:cNvSpPr/>
          <p:nvPr/>
        </p:nvSpPr>
        <p:spPr>
          <a:xfrm>
            <a:off x="266783" y="6167348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6"/>
          </p:cNvPr>
          <p:cNvSpPr/>
          <p:nvPr/>
        </p:nvSpPr>
        <p:spPr>
          <a:xfrm>
            <a:off x="191751" y="8386022"/>
            <a:ext cx="75000" cy="2068558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6"/>
          </p:cNvPr>
          <p:cNvSpPr/>
          <p:nvPr/>
        </p:nvSpPr>
        <p:spPr>
          <a:xfrm>
            <a:off x="266783" y="8386022"/>
            <a:ext cx="2709600" cy="2068558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Microsoft Office PowerPoint</Application>
  <PresentationFormat>Personalizado</PresentationFormat>
  <Paragraphs>733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Walnut Exporter</dc:creator>
  <cp:lastModifiedBy>Valentina Orozco</cp:lastModifiedBy>
  <cp:revision>1</cp:revision>
  <dcterms:created xsi:type="dcterms:W3CDTF">2026-08-27T19:14:29Z</dcterms:created>
  <dcterms:modified xsi:type="dcterms:W3CDTF">2026-10-03T00:59:45Z</dcterms:modified>
</cp:coreProperties>
</file>