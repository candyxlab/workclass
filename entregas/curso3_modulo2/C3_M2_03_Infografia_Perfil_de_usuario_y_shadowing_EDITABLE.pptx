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6687800" y="-1371600"/>
            <a:ext cx="2946400" cy="2946400"/>
          </a:xfrm>
          <a:prstGeom prst="donut">
            <a:avLst>
              <a:gd name="adj" fmla="val 24137"/>
            </a:avLst>
          </a:prstGeom>
          <a:gradFill rotWithShape="1">
            <a:gsLst>
              <a:gs pos="0">
                <a:srgbClr val="8E2C9A"/>
              </a:gs>
              <a:gs pos="100000">
                <a:srgbClr val="C92F8C"/>
              </a:gs>
            </a:gsLst>
            <a:lin scaled="0" ang="18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-990600" y="9118600"/>
            <a:ext cx="2997200" cy="2997200"/>
          </a:xfrm>
          <a:prstGeom prst="donut">
            <a:avLst>
              <a:gd name="adj" fmla="val 24576"/>
            </a:avLst>
          </a:prstGeom>
          <a:gradFill rotWithShape="1">
            <a:gsLst>
              <a:gs pos="0">
                <a:srgbClr val="8E2C9A"/>
              </a:gs>
              <a:gs pos="100000">
                <a:srgbClr val="C92F8C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62200" y="304800"/>
            <a:ext cx="2819400" cy="889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rgba_mi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0" y="457200"/>
            <a:ext cx="2489200" cy="562299"/>
          </a:xfrm>
          <a:prstGeom prst="rect">
            <a:avLst/>
          </a:prstGeom>
        </p:spPr>
      </p:pic>
      <p:pic>
        <p:nvPicPr>
          <p:cNvPr id="6" name="Picture 5" descr="rgba_mm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500" y="9042400"/>
            <a:ext cx="5207000" cy="8784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000" y="431800"/>
            <a:ext cx="114300" cy="660400"/>
          </a:xfrm>
          <a:prstGeom prst="roundRect">
            <a:avLst>
              <a:gd name="adj" fmla="val 44444"/>
            </a:avLst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9800" y="381000"/>
            <a:ext cx="1397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123A75"/>
                </a:solidFill>
                <a:latin typeface="Metropolis"/>
              </a:rPr>
              <a:t>Perfil de usuario y shadowing: dos miradas complementarias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889000"/>
            <a:ext cx="139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4A4752"/>
                </a:solidFill>
                <a:latin typeface="Metropolis"/>
              </a:rPr>
              <a:t>Del arquetipo declarado a la conducta en contexto: cómo conectar quién es el usuario con lo que realmente hace.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422400"/>
            <a:ext cx="3810000" cy="37084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E3DD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08000" y="1422400"/>
            <a:ext cx="3810000" cy="812800"/>
          </a:xfrm>
          <a:prstGeom prst="roundRect">
            <a:avLst>
              <a:gd name="adj" fmla="val 1875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8000" y="1930400"/>
            <a:ext cx="3810000" cy="304800"/>
          </a:xfrm>
          <a:prstGeom prst="rect">
            <a:avLst/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85800" y="1549400"/>
            <a:ext cx="558800" cy="5588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" name="Picture 13" descr="user-rou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36" y="1672336"/>
            <a:ext cx="312928" cy="312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1600" y="1524000"/>
            <a:ext cx="28448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664092"/>
                </a:solidFill>
                <a:latin typeface="Metropolis"/>
              </a:rPr>
              <a:t>Perfil de usuario</a:t>
            </a:r>
          </a:p>
          <a:p>
            <a:pPr algn="l"/>
            <a:r>
              <a:rPr sz="1150" b="0">
                <a:solidFill>
                  <a:srgbClr val="3D2159"/>
                </a:solidFill>
                <a:latin typeface="Metropolis"/>
              </a:rPr>
              <a:t>La mirada sintética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2387600"/>
            <a:ext cx="340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A4752"/>
                </a:solidFill>
                <a:latin typeface="Metropolis"/>
              </a:rPr>
              <a:t>Arquetipo basado en patrones de comportamiento, motivaciones, metas y puntos de dolor.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200" y="3124200"/>
            <a:ext cx="1498600" cy="279400"/>
          </a:xfrm>
          <a:prstGeom prst="roundRect">
            <a:avLst>
              <a:gd name="adj" fmla="val 50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3124200"/>
            <a:ext cx="1498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664092"/>
                </a:solidFill>
                <a:latin typeface="Metropolis"/>
              </a:rPr>
              <a:t>Origen del dato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479800"/>
            <a:ext cx="3403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Encuestas, entrevistas, análisis y datos demográficos/psicográficos.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1200" y="4064000"/>
            <a:ext cx="1498600" cy="279400"/>
          </a:xfrm>
          <a:prstGeom prst="roundRect">
            <a:avLst>
              <a:gd name="adj" fmla="val 50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1200" y="4064000"/>
            <a:ext cx="1498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664092"/>
                </a:solidFill>
                <a:latin typeface="Metropolis"/>
              </a:rPr>
              <a:t>Pregunta clave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4419600"/>
            <a:ext cx="34036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D2159"/>
                </a:solidFill>
                <a:latin typeface="Metropolis"/>
              </a:rPr>
              <a:t>¿Quién es y qué declara que necesita?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0400" y="1422400"/>
            <a:ext cx="3810000" cy="37084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E3DD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470400" y="1422400"/>
            <a:ext cx="3810000" cy="812800"/>
          </a:xfrm>
          <a:prstGeom prst="roundRect">
            <a:avLst>
              <a:gd name="adj" fmla="val 18750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470400" y="1930400"/>
            <a:ext cx="3810000" cy="304800"/>
          </a:xfrm>
          <a:prstGeom prst="rect">
            <a:avLst/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648200" y="1549400"/>
            <a:ext cx="558800" cy="558800"/>
          </a:xfrm>
          <a:prstGeom prst="ellipse">
            <a:avLst/>
          </a:prstGeom>
          <a:solidFill>
            <a:srgbClr val="B4198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7" name="Picture 26" descr="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136" y="1672336"/>
            <a:ext cx="312928" cy="3129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4000" y="1524000"/>
            <a:ext cx="28448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B41987"/>
                </a:solidFill>
                <a:latin typeface="Metropolis"/>
              </a:rPr>
              <a:t>Shadowing</a:t>
            </a:r>
          </a:p>
          <a:p>
            <a:pPr algn="l"/>
            <a:r>
              <a:rPr sz="1150" b="0">
                <a:solidFill>
                  <a:srgbClr val="3D2159"/>
                </a:solidFill>
                <a:latin typeface="Metropolis"/>
              </a:rPr>
              <a:t>La mirada contextual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3600" y="2387600"/>
            <a:ext cx="34036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A4752"/>
                </a:solidFill>
                <a:latin typeface="Metropolis"/>
              </a:rPr>
              <a:t>Observación encubierta: técnica de inmersión donde el investigador acompaña y observa al usuario en su entorno real sin intervenir.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3600" y="3124200"/>
            <a:ext cx="1498600" cy="279400"/>
          </a:xfrm>
          <a:prstGeom prst="roundRect">
            <a:avLst>
              <a:gd name="adj" fmla="val 50000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73600" y="3124200"/>
            <a:ext cx="1498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B41987"/>
                </a:solidFill>
                <a:latin typeface="Metropolis"/>
              </a:rPr>
              <a:t>Origen del dato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3600" y="3479800"/>
            <a:ext cx="3403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Notas de campo, grabaciones, microinteracciones y lenguaje no verbal.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73600" y="4064000"/>
            <a:ext cx="1498600" cy="279400"/>
          </a:xfrm>
          <a:prstGeom prst="roundRect">
            <a:avLst>
              <a:gd name="adj" fmla="val 50000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673600" y="4064000"/>
            <a:ext cx="1498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B41987"/>
                </a:solidFill>
                <a:latin typeface="Metropolis"/>
              </a:rPr>
              <a:t>Pregunta clave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3600" y="4419600"/>
            <a:ext cx="34036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D2159"/>
                </a:solidFill>
                <a:latin typeface="Metropolis"/>
              </a:rPr>
              <a:t>¿Cómo actúa realmente cuando nadie le pregunta?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83600" y="1422400"/>
            <a:ext cx="9296400" cy="37084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E3DDE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686800" y="1524000"/>
            <a:ext cx="1778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23A75"/>
                </a:solidFill>
                <a:latin typeface="Metropolis"/>
              </a:rPr>
              <a:t>Comparativa directa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39400" y="1549400"/>
            <a:ext cx="3543300" cy="406400"/>
          </a:xfrm>
          <a:prstGeom prst="roundRect">
            <a:avLst>
              <a:gd name="adj" fmla="val 25000"/>
            </a:avLst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9" name="Picture 38" descr="user-rou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1638300"/>
            <a:ext cx="228600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96600" y="1549400"/>
            <a:ext cx="30099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tropolis"/>
              </a:rPr>
              <a:t>Perfil de usuario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135100" y="1549400"/>
            <a:ext cx="3543300" cy="406400"/>
          </a:xfrm>
          <a:prstGeom prst="roundRect">
            <a:avLst>
              <a:gd name="adj" fmla="val 25000"/>
            </a:avLst>
          </a:prstGeom>
          <a:solidFill>
            <a:srgbClr val="B4198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2" name="Picture 41" descr="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1638300"/>
            <a:ext cx="228600" cy="2286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592300" y="1549400"/>
            <a:ext cx="30099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tropolis"/>
              </a:rPr>
              <a:t>Shadowing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85200" y="2057400"/>
            <a:ext cx="9093200" cy="584200"/>
          </a:xfrm>
          <a:prstGeom prst="roundRect">
            <a:avLst>
              <a:gd name="adj" fmla="val 13043"/>
            </a:avLst>
          </a:prstGeom>
          <a:solidFill>
            <a:srgbClr val="F8F6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86800" y="2057400"/>
            <a:ext cx="1752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3D2159"/>
                </a:solidFill>
                <a:latin typeface="Metropolis"/>
              </a:rPr>
              <a:t>Naturaleza del dato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1000" y="20574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Lo que el usuario dice o cree que hace.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36700" y="20574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Lo que el usuario hace en la práctica.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097000" y="2159000"/>
            <a:ext cx="15240" cy="381000"/>
          </a:xfrm>
          <a:prstGeom prst="rect">
            <a:avLst/>
          </a:prstGeom>
          <a:solidFill>
            <a:srgbClr val="D9D2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686800" y="2654300"/>
            <a:ext cx="1752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3D2159"/>
                </a:solidFill>
                <a:latin typeface="Metropolis"/>
              </a:rPr>
              <a:t>Entorno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41000" y="26543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Descontextualizado (sala de pruebas, formulario).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36700" y="26543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Contexto real (aula, hogar, puesto de trabajo).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097000" y="2755900"/>
            <a:ext cx="15240" cy="381000"/>
          </a:xfrm>
          <a:prstGeom prst="rect">
            <a:avLst/>
          </a:prstGeom>
          <a:solidFill>
            <a:srgbClr val="D9D2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585200" y="3251200"/>
            <a:ext cx="9093200" cy="584200"/>
          </a:xfrm>
          <a:prstGeom prst="roundRect">
            <a:avLst>
              <a:gd name="adj" fmla="val 13043"/>
            </a:avLst>
          </a:prstGeom>
          <a:solidFill>
            <a:srgbClr val="F8F6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686800" y="3251200"/>
            <a:ext cx="1752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3D2159"/>
                </a:solidFill>
                <a:latin typeface="Metropolis"/>
              </a:rPr>
              <a:t>Fuente de sesgo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41000" y="32512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Sesgo de deseabilidad social o memoria.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36700" y="32512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Sesgo del observador (efecto Hawthorne).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097000" y="3352800"/>
            <a:ext cx="15240" cy="381000"/>
          </a:xfrm>
          <a:prstGeom prst="rect">
            <a:avLst/>
          </a:prstGeom>
          <a:solidFill>
            <a:srgbClr val="D9D2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686800" y="3848100"/>
            <a:ext cx="1752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3D2159"/>
                </a:solidFill>
                <a:latin typeface="Metropolis"/>
              </a:rPr>
              <a:t>Entregable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41000" y="38481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Persona Canvas, mapa de empatía.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36700" y="38481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Bitácora de campo, mapa de viaje de fricciones.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097000" y="3949700"/>
            <a:ext cx="15240" cy="381000"/>
          </a:xfrm>
          <a:prstGeom prst="rect">
            <a:avLst/>
          </a:prstGeom>
          <a:solidFill>
            <a:srgbClr val="D9D2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8585200" y="4445000"/>
            <a:ext cx="9093200" cy="584200"/>
          </a:xfrm>
          <a:prstGeom prst="roundRect">
            <a:avLst>
              <a:gd name="adj" fmla="val 13043"/>
            </a:avLst>
          </a:prstGeom>
          <a:solidFill>
            <a:srgbClr val="F8F6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686800" y="4445000"/>
            <a:ext cx="17526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3D2159"/>
                </a:solidFill>
                <a:latin typeface="Metropolis"/>
              </a:rPr>
              <a:t>Aporte central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41000" y="44450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Claridad en metas y diseño del arquetipo.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236700" y="4445000"/>
            <a:ext cx="33655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Detección de atajos, frustraciones y hábitos tácitos.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097000" y="4546600"/>
            <a:ext cx="15240" cy="381000"/>
          </a:xfrm>
          <a:prstGeom prst="rect">
            <a:avLst/>
          </a:prstGeom>
          <a:solidFill>
            <a:srgbClr val="D9D2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508000" y="5346700"/>
            <a:ext cx="63500" cy="254000"/>
          </a:xfrm>
          <a:prstGeom prst="roundRect">
            <a:avLst>
              <a:gd name="adj" fmla="val 40000"/>
            </a:avLst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85800" y="5308600"/>
            <a:ext cx="7620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23A75"/>
                </a:solidFill>
                <a:latin typeface="Metropolis"/>
              </a:rPr>
              <a:t>La brecha entre el decir y el hacer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8000" y="5740400"/>
            <a:ext cx="3556000" cy="1422400"/>
          </a:xfrm>
          <a:prstGeom prst="roundRect">
            <a:avLst>
              <a:gd name="adj" fmla="val 8928"/>
            </a:avLst>
          </a:prstGeom>
          <a:solidFill>
            <a:srgbClr val="F1EBF6"/>
          </a:solidFill>
          <a:ln w="12700">
            <a:solidFill>
              <a:srgbClr val="D8CCE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11200" y="58674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64092"/>
                </a:solidFill>
                <a:latin typeface="Metropolis"/>
              </a:rPr>
              <a:t>EL DICHO (PERFIL)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200" y="6146800"/>
            <a:ext cx="31750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3D2159"/>
                </a:solidFill>
                <a:latin typeface="Metropolis"/>
              </a:rPr>
              <a:t>“Reviso todo el material formativo antes de iniciar las entregas.”</a:t>
            </a:r>
          </a:p>
        </p:txBody>
      </p:sp>
      <p:sp>
        <p:nvSpPr>
          <p:cNvPr id="72" name="Oval 71"/>
          <p:cNvSpPr/>
          <p:nvPr/>
        </p:nvSpPr>
        <p:spPr>
          <a:xfrm>
            <a:off x="4165600" y="6248400"/>
            <a:ext cx="406400" cy="4064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165600" y="62484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D2159"/>
                </a:solidFill>
                <a:latin typeface="DejaVu Sans"/>
              </a:rPr>
              <a:t>≠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73600" y="5740400"/>
            <a:ext cx="3606800" cy="1422400"/>
          </a:xfrm>
          <a:prstGeom prst="roundRect">
            <a:avLst>
              <a:gd name="adj" fmla="val 8928"/>
            </a:avLst>
          </a:prstGeom>
          <a:solidFill>
            <a:srgbClr val="F6EBF3"/>
          </a:solidFill>
          <a:ln w="12700">
            <a:solidFill>
              <a:srgbClr val="EBCF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876800" y="58674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B41987"/>
                </a:solidFill>
                <a:latin typeface="Metropolis"/>
              </a:rPr>
              <a:t>EL HECHO (SHADOWING)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76800" y="6146800"/>
            <a:ext cx="3251200" cy="9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Abre primero la rúbrica de evaluación, salta el contenido teórico y va directo a resolver dudas por canales informales.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8000" y="7289800"/>
            <a:ext cx="7772400" cy="787400"/>
          </a:xfrm>
          <a:prstGeom prst="rect">
            <a:avLst/>
          </a:prstGeom>
          <a:solidFill>
            <a:srgbClr val="FFF6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660400" y="7467600"/>
            <a:ext cx="431800" cy="4318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9" name="Picture 78" descr="lightbulb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396" y="7562596"/>
            <a:ext cx="241808" cy="24180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244600" y="7340600"/>
            <a:ext cx="690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75"/>
                </a:solidFill>
                <a:latin typeface="Metropolis"/>
              </a:rPr>
              <a:t>El insight · </a:t>
            </a:r>
            <a:r>
              <a:rPr sz="1100" b="0">
                <a:solidFill>
                  <a:srgbClr val="4A4752"/>
                </a:solidFill>
                <a:latin typeface="Metropolis"/>
              </a:rPr>
              <a:t>Las personas racionalizan sus acciones al explicarlas, pero improvisan soluciones prácticas cuando interactúan con un entorno o interfaz real.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483600" y="5346700"/>
            <a:ext cx="63500" cy="254000"/>
          </a:xfrm>
          <a:prstGeom prst="roundRect">
            <a:avLst>
              <a:gd name="adj" fmla="val 40000"/>
            </a:avLst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8661400" y="530860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23A75"/>
                </a:solidFill>
                <a:latin typeface="Metropolis"/>
              </a:rPr>
              <a:t>La complementariedad en el proceso de diseño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483600" y="5740400"/>
            <a:ext cx="2819400" cy="23368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9050">
            <a:solidFill>
              <a:srgbClr val="66409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8661400" y="5918200"/>
            <a:ext cx="431800" cy="4318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661400" y="5918200"/>
            <a:ext cx="43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tropolis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94800" y="5867400"/>
            <a:ext cx="19812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664092"/>
                </a:solidFill>
                <a:latin typeface="Metropolis"/>
              </a:rPr>
              <a:t>Definir el marco con el perfil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61400" y="6527800"/>
            <a:ext cx="2463800" cy="147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Permite segmentar, definir audiencias clave y establecer hipótesis sobre sus necesidades y expectativas.</a:t>
            </a:r>
          </a:p>
        </p:txBody>
      </p:sp>
      <p:sp>
        <p:nvSpPr>
          <p:cNvPr id="88" name="Isosceles Triangle 87"/>
          <p:cNvSpPr/>
          <p:nvPr/>
        </p:nvSpPr>
        <p:spPr>
          <a:xfrm rot="5400000">
            <a:off x="11417300" y="6756400"/>
            <a:ext cx="203200" cy="279400"/>
          </a:xfrm>
          <a:prstGeom prst="triangle">
            <a:avLst/>
          </a:prstGeom>
          <a:solidFill>
            <a:srgbClr val="B9CC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1722100" y="5740400"/>
            <a:ext cx="2819400" cy="23368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9050">
            <a:solidFill>
              <a:srgbClr val="B4198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11899900" y="5918200"/>
            <a:ext cx="431800" cy="431800"/>
          </a:xfrm>
          <a:prstGeom prst="ellipse">
            <a:avLst/>
          </a:prstGeom>
          <a:solidFill>
            <a:srgbClr val="B4198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11899900" y="5918200"/>
            <a:ext cx="43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tropolis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433300" y="5867400"/>
            <a:ext cx="19812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B41987"/>
                </a:solidFill>
                <a:latin typeface="Metropolis"/>
              </a:rPr>
              <a:t>Contrastar en terreno con shadowing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899900" y="6527800"/>
            <a:ext cx="2463800" cy="147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Valida o refuta esas hipótesis observando la fricción real, las distracciones del entorno y las adaptaciones espontáneas.</a:t>
            </a:r>
          </a:p>
        </p:txBody>
      </p:sp>
      <p:sp>
        <p:nvSpPr>
          <p:cNvPr id="94" name="Isosceles Triangle 93"/>
          <p:cNvSpPr/>
          <p:nvPr/>
        </p:nvSpPr>
        <p:spPr>
          <a:xfrm rot="5400000">
            <a:off x="14655800" y="6756400"/>
            <a:ext cx="203200" cy="279400"/>
          </a:xfrm>
          <a:prstGeom prst="triangle">
            <a:avLst/>
          </a:prstGeom>
          <a:solidFill>
            <a:srgbClr val="B9CC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4960600" y="5740400"/>
            <a:ext cx="2819400" cy="23368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9050">
            <a:solidFill>
              <a:srgbClr val="02479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15138400" y="5918200"/>
            <a:ext cx="431800" cy="431800"/>
          </a:xfrm>
          <a:prstGeom prst="ellipse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5138400" y="5918200"/>
            <a:ext cx="431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tropolis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671800" y="5867400"/>
            <a:ext cx="19812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024791"/>
                </a:solidFill>
                <a:latin typeface="Metropolis"/>
              </a:rPr>
              <a:t>Refinar la solución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138400" y="6527800"/>
            <a:ext cx="2463800" cy="147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A4752"/>
                </a:solidFill>
                <a:latin typeface="Metropolis"/>
              </a:rPr>
              <a:t>Ajusta la experiencia para responder tanto a las motivaciones profundas (perfil) como a la usabilidad operativa cotidiana (shadowing).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8000" y="8458200"/>
            <a:ext cx="17272000" cy="482600"/>
          </a:xfrm>
          <a:prstGeom prst="roundRect">
            <a:avLst>
              <a:gd name="adj" fmla="val 50000"/>
            </a:avLst>
          </a:prstGeom>
          <a:solidFill>
            <a:srgbClr val="3D21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635000" y="8521700"/>
            <a:ext cx="355600" cy="355600"/>
          </a:xfrm>
          <a:prstGeom prst="ellipse">
            <a:avLst/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2" name="Picture 101" descr="compass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8599932"/>
            <a:ext cx="199136" cy="19913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117600" y="8458200"/>
            <a:ext cx="10668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D900"/>
                </a:solidFill>
                <a:latin typeface="Metropolis"/>
              </a:rPr>
              <a:t>IDEA DE CIERRE  </a:t>
            </a:r>
            <a:r>
              <a:rPr sz="1250" b="1">
                <a:solidFill>
                  <a:srgbClr val="FFFFFF"/>
                </a:solidFill>
                <a:latin typeface="Metropolis"/>
              </a:rPr>
              <a:t>El perfil de usuario define la brújula; el shadowing revela los obstáculos reales del camino.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11400" y="9550400"/>
            <a:ext cx="635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41987"/>
                </a:solidFill>
                <a:latin typeface="Metropolis"/>
              </a:rPr>
              <a:t>Fuente: Elaboración propia.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