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metadata" ContentType="application/binary"/>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9"/>
  </p:notesMasterIdLst>
  <p:sldIdLst>
    <p:sldId id="256" r:id="rId2"/>
    <p:sldId id="257" r:id="rId3"/>
    <p:sldId id="272" r:id="rId4"/>
    <p:sldId id="271" r:id="rId5"/>
    <p:sldId id="270" r:id="rId6"/>
    <p:sldId id="269" r:id="rId7"/>
    <p:sldId id="268" r:id="rId8"/>
    <p:sldId id="273" r:id="rId14"/>
  </p:sldIdLst>
  <p:sldSz cx="19050000" cy="9525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000">
          <p15:clr>
            <a:srgbClr val="A4A3A4"/>
          </p15:clr>
        </p15:guide>
        <p15:guide id="2" pos="600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5" roundtripDataSignature="AMtx7midYhJTyk5Wl6Aw+H8Uxe4AokdYV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71989"/>
    <a:srgbClr val="F1EBF6"/>
    <a:srgbClr val="FFFFFF"/>
    <a:srgbClr val="7AE0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2" d="100"/>
          <a:sy n="52" d="100"/>
        </p:scale>
        <p:origin x="108" y="1884"/>
      </p:cViewPr>
      <p:guideLst>
        <p:guide orient="horz" pos="3000"/>
        <p:guide pos="600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4" Type="http://schemas.openxmlformats.org/officeDocument/2006/relationships/slide" Target="slides/slide8.xml"/><Relationship Id="rId15" Type="http://customschemas.google.com/relationships/presentationmetadata" Target="metadata"/><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 name="Google Shape;6;n"/>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lvl="1" indent="-228600">
              <a:spcBef>
                <a:spcPts val="0"/>
              </a:spcBef>
              <a:spcAft>
                <a:spcPts val="0"/>
              </a:spcAft>
              <a:buSzPts val="1400"/>
              <a:buNone/>
              <a:defRPr sz="1800"/>
            </a:lvl2pPr>
            <a:lvl3pPr marL="1371600" lvl="2" indent="-228600">
              <a:spcBef>
                <a:spcPts val="0"/>
              </a:spcBef>
              <a:spcAft>
                <a:spcPts val="0"/>
              </a:spcAft>
              <a:buSzPts val="1400"/>
              <a:buNone/>
              <a:defRPr sz="1800"/>
            </a:lvl3pPr>
            <a:lvl4pPr marL="1828800" lvl="3" indent="-228600">
              <a:spcBef>
                <a:spcPts val="0"/>
              </a:spcBef>
              <a:spcAft>
                <a:spcPts val="0"/>
              </a:spcAft>
              <a:buSzPts val="1400"/>
              <a:buNone/>
              <a:defRPr sz="1800"/>
            </a:lvl4pPr>
            <a:lvl5pPr marL="2286000" lvl="4" indent="-228600">
              <a:spcBef>
                <a:spcPts val="0"/>
              </a:spcBef>
              <a:spcAft>
                <a:spcPts val="0"/>
              </a:spcAft>
              <a:buSzPts val="1400"/>
              <a:buNone/>
              <a:defRPr sz="1800"/>
            </a:lvl5pPr>
            <a:lvl6pPr marL="2743200" lvl="5" indent="-228600">
              <a:spcBef>
                <a:spcPts val="0"/>
              </a:spcBef>
              <a:spcAft>
                <a:spcPts val="0"/>
              </a:spcAft>
              <a:buSzPts val="1400"/>
              <a:buNone/>
              <a:defRPr sz="1800"/>
            </a:lvl6pPr>
            <a:lvl7pPr marL="3200400" lvl="6" indent="-228600">
              <a:spcBef>
                <a:spcPts val="0"/>
              </a:spcBef>
              <a:spcAft>
                <a:spcPts val="0"/>
              </a:spcAft>
              <a:buSzPts val="1400"/>
              <a:buNone/>
              <a:defRPr sz="1800"/>
            </a:lvl7pPr>
            <a:lvl8pPr marL="3657600" lvl="7" indent="-228600">
              <a:spcBef>
                <a:spcPts val="0"/>
              </a:spcBef>
              <a:spcAft>
                <a:spcPts val="0"/>
              </a:spcAft>
              <a:buSzPts val="1400"/>
              <a:buNone/>
              <a:defRPr sz="1800"/>
            </a:lvl8pPr>
            <a:lvl9pPr marL="4114800" lvl="8" indent="-228600">
              <a:spcBef>
                <a:spcPts val="0"/>
              </a:spcBef>
              <a:spcAft>
                <a:spcPts val="0"/>
              </a:spcAft>
              <a:buSzPts val="1400"/>
              <a:buNone/>
              <a:defRPr sz="1800"/>
            </a:lvl9pPr>
          </a:lstStyle>
          <a:p>
            <a:endParaRPr/>
          </a:p>
        </p:txBody>
      </p:sp>
      <p:sp>
        <p:nvSpPr>
          <p:cNvPr id="7" name="Google Shape;7;n"/>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70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pic>
        <p:nvPicPr>
          <p:cNvPr id="3" name="Gráfico 2">
            <a:extLst>
              <a:ext uri="{FF2B5EF4-FFF2-40B4-BE49-F238E27FC236}">
                <a16:creationId xmlns:a16="http://schemas.microsoft.com/office/drawing/2014/main" id="{9BC3B92F-5B01-4603-83DC-0ECC7E32942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9050000" cy="9525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2" name="TextBox 1"/>
          <p:cNvSpPr txBox="1"/>
          <p:nvPr/>
        </p:nvSpPr>
        <p:spPr>
          <a:xfrm>
            <a:off x="2037292" y="1200000"/>
            <a:ext cx="15505112" cy="1500000"/>
          </a:xfrm>
          <a:prstGeom prst="rect">
            <a:avLst/>
          </a:prstGeom>
          <a:noFill/>
        </p:spPr>
        <p:txBody>
          <a:bodyPr wrap="square" lIns="0" tIns="0" rIns="0" bIns="0" anchor="t">
            <a:spAutoFit/>
          </a:bodyPr>
          <a:lstStyle/>
          <a:p>
            <a:pPr algn="l">
              <a:lnSpc>
                <a:spcPct val="105000"/>
              </a:lnSpc>
            </a:pPr>
            <a:r>
              <a:rPr sz="5800" b="1" i="0">
                <a:solidFill>
                  <a:srgbClr val="31478B"/>
                </a:solidFill>
                <a:latin typeface="Arial"/>
              </a:rPr>
              <a:t>Operadores en programación</a:t>
            </a:r>
          </a:p>
        </p:txBody>
      </p:sp>
      <p:sp>
        <p:nvSpPr>
          <p:cNvPr id="3" name="TextBox 2"/>
          <p:cNvSpPr txBox="1"/>
          <p:nvPr/>
        </p:nvSpPr>
        <p:spPr>
          <a:xfrm>
            <a:off x="2090209" y="3300000"/>
            <a:ext cx="13000000" cy="900000"/>
          </a:xfrm>
          <a:prstGeom prst="rect">
            <a:avLst/>
          </a:prstGeom>
          <a:noFill/>
        </p:spPr>
        <p:txBody>
          <a:bodyPr wrap="square" lIns="0" tIns="0" rIns="0" bIns="0" anchor="t">
            <a:spAutoFit/>
          </a:bodyPr>
          <a:lstStyle/>
          <a:p>
            <a:pPr algn="l">
              <a:lnSpc>
                <a:spcPct val="120000"/>
              </a:lnSpc>
            </a:pPr>
            <a:r>
              <a:rPr sz="2000" b="1" i="0">
                <a:solidFill>
                  <a:srgbClr val="595959"/>
                </a:solidFill>
                <a:latin typeface="Arial"/>
              </a:rPr>
              <a:t>Calcular, comparar y relacionar información dentro de un algoritmo</a:t>
            </a:r>
          </a:p>
        </p:txBody>
      </p:sp>
      <p:pic>
        <p:nvPicPr>
          <p:cNvPr id="4" name="Picture 3">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090209" y="4600575"/>
            <a:ext cx="2087935" cy="168500"/>
          </a:xfrm>
          <a:prstGeom prst="rect">
            <a:avLst/>
          </a:prstGeom>
        </p:spPr>
      </p:pic>
      <p:sp>
        <p:nvSpPr>
          <p:cNvPr id="5" name="TextBox 4"/>
          <p:cNvSpPr txBox="1"/>
          <p:nvPr/>
        </p:nvSpPr>
        <p:spPr>
          <a:xfrm>
            <a:off x="2090209" y="5169650"/>
            <a:ext cx="8000000" cy="370417"/>
          </a:xfrm>
          <a:prstGeom prst="rect">
            <a:avLst/>
          </a:prstGeom>
          <a:noFill/>
        </p:spPr>
        <p:txBody>
          <a:bodyPr wrap="square" lIns="0" tIns="0" rIns="0" bIns="0" anchor="t">
            <a:spAutoFit/>
          </a:bodyPr>
          <a:lstStyle/>
          <a:p>
            <a:pPr algn="l">
              <a:lnSpc>
                <a:spcPct val="100000"/>
              </a:lnSpc>
            </a:pPr>
            <a:r>
              <a:rPr sz="2000" b="0" i="0" dirty="0" err="1">
                <a:solidFill>
                  <a:srgbClr val="4F4F4F"/>
                </a:solidFill>
                <a:latin typeface="Arial"/>
              </a:rPr>
              <a:t>Estructuras de datos y algoritmos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6214" y="856420"/>
            <a:ext cx="105833" cy="1270000"/>
          </a:xfrm>
          <a:prstGeom prst="rect">
            <a:avLst/>
          </a:prstGeom>
          <a:solidFill>
            <a:srgbClr val="664092"/>
          </a:solidFill>
          <a:ln>
            <a:noFill/>
          </a:ln>
          <a:effectLst/>
        </p:spPr>
        <p:txBody>
          <a:bodyPr rtlCol="0" anchor="ctr"/>
          <a:lstStyle/>
          <a:p>
            <a:pPr algn="ctr"/>
            <a:endParaRPr/>
          </a:p>
        </p:txBody>
      </p:sp>
      <p:sp>
        <p:nvSpPr>
          <p:cNvPr id="3" name="TextBox 2"/>
          <p:cNvSpPr txBox="1"/>
          <p:nvPr/>
        </p:nvSpPr>
        <p:spPr>
          <a:xfrm>
            <a:off x="1877256" y="856420"/>
            <a:ext cx="12000000" cy="317500"/>
          </a:xfrm>
          <a:prstGeom prst="rect">
            <a:avLst/>
          </a:prstGeom>
          <a:noFill/>
        </p:spPr>
        <p:txBody>
          <a:bodyPr wrap="square" lIns="0" tIns="0" rIns="0" bIns="0" anchor="t">
            <a:spAutoFit/>
          </a:bodyPr>
          <a:lstStyle/>
          <a:p>
            <a:pPr algn="l">
              <a:lnSpc>
                <a:spcPct val="100000"/>
              </a:lnSpc>
            </a:pPr>
            <a:r>
              <a:rPr sz="1460" b="1" i="0">
                <a:solidFill>
                  <a:srgbClr val="664092"/>
                </a:solidFill>
                <a:latin typeface="Arial"/>
              </a:rPr>
              <a:t>¿Qué son los operadores?</a:t>
            </a:r>
          </a:p>
        </p:txBody>
      </p:sp>
      <p:sp>
        <p:nvSpPr>
          <p:cNvPr id="4" name="TextBox 3"/>
          <p:cNvSpPr txBox="1"/>
          <p:nvPr/>
        </p:nvSpPr>
        <p:spPr>
          <a:xfrm>
            <a:off x="1877256" y="1306212"/>
            <a:ext cx="15584188" cy="822960"/>
          </a:xfrm>
          <a:prstGeom prst="rect">
            <a:avLst/>
          </a:prstGeom>
          <a:noFill/>
        </p:spPr>
        <p:txBody>
          <a:bodyPr wrap="square" lIns="0" tIns="0" rIns="0" bIns="0" anchor="t">
            <a:spAutoFit/>
          </a:bodyPr>
          <a:lstStyle/>
          <a:p>
            <a:pPr algn="l">
              <a:lnSpc>
                <a:spcPct val="105000"/>
              </a:lnSpc>
            </a:pPr>
            <a:r>
              <a:rPr sz="3200" b="1" i="0">
                <a:solidFill>
                  <a:srgbClr val="3D2159"/>
                </a:solidFill>
                <a:latin typeface="Arial"/>
              </a:rPr>
              <a:t>Los datos no trabajan solos</a:t>
            </a:r>
          </a:p>
        </p:txBody>
      </p:sp>
      <p:pic>
        <p:nvPicPr>
          <p:cNvPr id="5" name="Picture 4">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877256" y="2240280"/>
            <a:ext cx="2218494" cy="179036"/>
          </a:xfrm>
          <a:prstGeom prst="rect">
            <a:avLst/>
          </a:prstGeom>
        </p:spPr>
      </p:pic>
      <p:sp>
        <p:nvSpPr>
          <p:cNvPr id="6" name="TextBox 5"/>
          <p:cNvSpPr txBox="1"/>
          <p:nvPr/>
        </p:nvSpPr>
        <p:spPr>
          <a:xfrm>
            <a:off x="2910427" y="8916458"/>
            <a:ext cx="12000000" cy="264583"/>
          </a:xfrm>
          <a:prstGeom prst="rect">
            <a:avLst/>
          </a:prstGeom>
          <a:noFill/>
        </p:spPr>
        <p:txBody>
          <a:bodyPr wrap="square" lIns="0" tIns="0" rIns="0" bIns="0" anchor="t">
            <a:spAutoFit/>
          </a:bodyPr>
          <a:lstStyle/>
          <a:p>
            <a:pPr algn="l">
              <a:lnSpc>
                <a:spcPct val="100000"/>
              </a:lnSpc>
            </a:pPr>
            <a:r>
              <a:rPr sz="1350" b="1" i="0">
                <a:solidFill>
                  <a:srgbClr val="756F79"/>
                </a:solidFill>
                <a:latin typeface="Arial"/>
              </a:rPr>
              <a:t>Operadores en programación · Estructuras de datos y algoritmos</a:t>
            </a:r>
          </a:p>
        </p:txBody>
      </p:sp>
      <p:sp>
        <p:nvSpPr>
          <p:cNvPr id="7" name="TextBox 6"/>
          <p:cNvSpPr txBox="1"/>
          <p:nvPr/>
        </p:nvSpPr>
        <p:spPr>
          <a:xfrm>
            <a:off x="1874519" y="2606040"/>
            <a:ext cx="15581376" cy="822960"/>
          </a:xfrm>
          <a:prstGeom prst="rect">
            <a:avLst/>
          </a:prstGeom>
          <a:noFill/>
        </p:spPr>
        <p:txBody>
          <a:bodyPr wrap="square" lIns="0" tIns="0" rIns="0" bIns="0" anchor="t">
            <a:spAutoFit/>
          </a:bodyPr>
          <a:lstStyle/>
          <a:p>
            <a:pPr algn="l">
              <a:lnSpc>
                <a:spcPct val="120000"/>
              </a:lnSpc>
            </a:pPr>
            <a:r>
              <a:rPr sz="1700" b="0" i="0">
                <a:solidFill>
                  <a:srgbClr val="332F37"/>
                </a:solidFill>
                <a:latin typeface="Arial"/>
              </a:rPr>
              <a:t>Los operadores permiten trabajar con los datos dentro de un algoritmo. Se usan tanto en pseudocódigo como en los lenguajes de programación, aunque pueden escribirse de forma diferente según la herramienta o el lenguaje utilizado.</a:t>
            </a:r>
          </a:p>
        </p:txBody>
      </p:sp>
      <p:sp>
        <p:nvSpPr>
          <p:cNvPr id="8" name="TextBox 7"/>
          <p:cNvSpPr txBox="1"/>
          <p:nvPr/>
        </p:nvSpPr>
        <p:spPr>
          <a:xfrm>
            <a:off x="1874519" y="3703320"/>
            <a:ext cx="15581376" cy="365760"/>
          </a:xfrm>
          <a:prstGeom prst="rect">
            <a:avLst/>
          </a:prstGeom>
          <a:noFill/>
        </p:spPr>
        <p:txBody>
          <a:bodyPr wrap="square" lIns="0" tIns="0" rIns="0" bIns="0" anchor="t">
            <a:spAutoFit/>
          </a:bodyPr>
          <a:lstStyle/>
          <a:p>
            <a:pPr algn="l">
              <a:lnSpc>
                <a:spcPct val="110000"/>
              </a:lnSpc>
            </a:pPr>
            <a:r>
              <a:rPr sz="1700" b="1" i="0">
                <a:solidFill>
                  <a:srgbClr val="3D2159"/>
                </a:solidFill>
                <a:latin typeface="Arial"/>
              </a:rPr>
              <a:t>Su función principal es:</a:t>
            </a:r>
          </a:p>
        </p:txBody>
      </p:sp>
      <p:sp>
        <p:nvSpPr>
          <p:cNvPr id="9" name="Rounded Rectangle 8">
            <a:extLst>
              <a:ext uri="{C183D7F6-B498-43B3-948B-1728B52AA6E4}">
                <adec:decorative xmlns:adec="http://schemas.microsoft.com/office/drawing/2017/decorative" val="1"/>
              </a:ext>
            </a:extLst>
          </p:cNvPr>
          <p:cNvSpPr/>
          <p:nvPr/>
        </p:nvSpPr>
        <p:spPr>
          <a:xfrm>
            <a:off x="1874519" y="4251960"/>
            <a:ext cx="4949952" cy="2331720"/>
          </a:xfrm>
          <a:prstGeom prst="roundRect">
            <a:avLst>
              <a:gd name="adj" fmla="val 8000"/>
            </a:avLst>
          </a:prstGeom>
          <a:solidFill>
            <a:srgbClr val="FFFFFF"/>
          </a:solidFill>
          <a:ln w="15875">
            <a:solidFill>
              <a:srgbClr val="DDD6E8"/>
            </a:solidFill>
          </a:ln>
          <a:effectLst/>
        </p:spPr>
        <p:txBody>
          <a:bodyPr rtlCol="0" anchor="ctr"/>
          <a:lstStyle/>
          <a:p>
            <a:pPr algn="ctr"/>
            <a:endParaRPr/>
          </a:p>
        </p:txBody>
      </p:sp>
      <p:sp>
        <p:nvSpPr>
          <p:cNvPr id="10" name="Rectangle 9">
            <a:extLst>
              <a:ext uri="{C183D7F6-B498-43B3-948B-1728B52AA6E4}">
                <adec:decorative xmlns:adec="http://schemas.microsoft.com/office/drawing/2017/decorative" val="1"/>
              </a:ext>
            </a:extLst>
          </p:cNvPr>
          <p:cNvSpPr/>
          <p:nvPr/>
        </p:nvSpPr>
        <p:spPr>
          <a:xfrm>
            <a:off x="1874519" y="4251960"/>
            <a:ext cx="4949952" cy="91440"/>
          </a:xfrm>
          <a:prstGeom prst="rect">
            <a:avLst/>
          </a:prstGeom>
          <a:solidFill>
            <a:srgbClr val="664092"/>
          </a:solidFill>
          <a:ln>
            <a:noFill/>
          </a:ln>
          <a:effectLst/>
        </p:spPr>
        <p:txBody>
          <a:bodyPr rtlCol="0" anchor="ctr"/>
          <a:lstStyle/>
          <a:p>
            <a:pPr algn="ctr"/>
            <a:endParaRPr/>
          </a:p>
        </p:txBody>
      </p:sp>
      <p:sp>
        <p:nvSpPr>
          <p:cNvPr id="11" name="Oval 10">
            <a:extLst>
              <a:ext uri="{C183D7F6-B498-43B3-948B-1728B52AA6E4}">
                <adec:decorative xmlns:adec="http://schemas.microsoft.com/office/drawing/2017/decorative" val="1"/>
              </a:ext>
            </a:extLst>
          </p:cNvPr>
          <p:cNvSpPr/>
          <p:nvPr/>
        </p:nvSpPr>
        <p:spPr>
          <a:xfrm>
            <a:off x="2194560" y="4617720"/>
            <a:ext cx="731520" cy="731520"/>
          </a:xfrm>
          <a:prstGeom prst="ellipse">
            <a:avLst/>
          </a:prstGeom>
          <a:solidFill>
            <a:srgbClr val="F1EBF6"/>
          </a:solidFill>
          <a:ln>
            <a:noFill/>
          </a:ln>
          <a:effectLst/>
        </p:spPr>
        <p:txBody>
          <a:bodyPr rtlCol="0" anchor="ctr"/>
          <a:lstStyle/>
          <a:p>
            <a:pPr algn="ctr"/>
            <a:endParaRPr/>
          </a:p>
        </p:txBody>
      </p:sp>
      <p:pic>
        <p:nvPicPr>
          <p:cNvPr id="12" name="Picture 11">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340863" y="4764024"/>
            <a:ext cx="438912" cy="438912"/>
          </a:xfrm>
          <a:prstGeom prst="rect">
            <a:avLst/>
          </a:prstGeom>
        </p:spPr>
      </p:pic>
      <p:sp>
        <p:nvSpPr>
          <p:cNvPr id="13" name="TextBox 12"/>
          <p:cNvSpPr txBox="1"/>
          <p:nvPr/>
        </p:nvSpPr>
        <p:spPr>
          <a:xfrm>
            <a:off x="3108960" y="4617720"/>
            <a:ext cx="3486911" cy="731520"/>
          </a:xfrm>
          <a:prstGeom prst="rect">
            <a:avLst/>
          </a:prstGeom>
          <a:noFill/>
        </p:spPr>
        <p:txBody>
          <a:bodyPr wrap="square" lIns="0" tIns="0" rIns="0" bIns="0" anchor="ctr">
            <a:spAutoFit/>
          </a:bodyPr>
          <a:lstStyle/>
          <a:p>
            <a:pPr algn="l">
              <a:lnSpc>
                <a:spcPct val="100000"/>
              </a:lnSpc>
            </a:pPr>
            <a:r>
              <a:rPr sz="1900" b="1" i="0">
                <a:solidFill>
                  <a:srgbClr val="664092"/>
                </a:solidFill>
                <a:latin typeface="Arial"/>
              </a:rPr>
              <a:t>Calcular</a:t>
            </a:r>
          </a:p>
        </p:txBody>
      </p:sp>
      <p:sp>
        <p:nvSpPr>
          <p:cNvPr id="14" name="TextBox 13"/>
          <p:cNvSpPr txBox="1"/>
          <p:nvPr/>
        </p:nvSpPr>
        <p:spPr>
          <a:xfrm>
            <a:off x="2194560" y="5577840"/>
            <a:ext cx="4309872" cy="822960"/>
          </a:xfrm>
          <a:prstGeom prst="rect">
            <a:avLst/>
          </a:prstGeom>
          <a:noFill/>
        </p:spPr>
        <p:txBody>
          <a:bodyPr wrap="square" lIns="0" tIns="0" rIns="0" bIns="0" anchor="t">
            <a:spAutoFit/>
          </a:bodyPr>
          <a:lstStyle/>
          <a:p>
            <a:pPr algn="l">
              <a:lnSpc>
                <a:spcPct val="110000"/>
              </a:lnSpc>
            </a:pPr>
            <a:r>
              <a:rPr sz="1600" b="0" i="0">
                <a:solidFill>
                  <a:srgbClr val="332F37"/>
                </a:solidFill>
                <a:latin typeface="Arial"/>
              </a:rPr>
              <a:t>Calcular información numérica.</a:t>
            </a:r>
          </a:p>
        </p:txBody>
      </p:sp>
      <p:sp>
        <p:nvSpPr>
          <p:cNvPr id="15" name="Rounded Rectangle 14">
            <a:extLst>
              <a:ext uri="{C183D7F6-B498-43B3-948B-1728B52AA6E4}">
                <adec:decorative xmlns:adec="http://schemas.microsoft.com/office/drawing/2017/decorative" val="1"/>
              </a:ext>
            </a:extLst>
          </p:cNvPr>
          <p:cNvSpPr/>
          <p:nvPr/>
        </p:nvSpPr>
        <p:spPr>
          <a:xfrm>
            <a:off x="7190232" y="4251960"/>
            <a:ext cx="4949952" cy="2331720"/>
          </a:xfrm>
          <a:prstGeom prst="roundRect">
            <a:avLst>
              <a:gd name="adj" fmla="val 8000"/>
            </a:avLst>
          </a:prstGeom>
          <a:solidFill>
            <a:srgbClr val="FFFFFF"/>
          </a:solidFill>
          <a:ln w="15875">
            <a:solidFill>
              <a:srgbClr val="DDD6E8"/>
            </a:solidFill>
          </a:ln>
          <a:effectLst/>
        </p:spPr>
        <p:txBody>
          <a:bodyPr rtlCol="0" anchor="ctr"/>
          <a:lstStyle/>
          <a:p>
            <a:pPr algn="ctr"/>
            <a:endParaRPr/>
          </a:p>
        </p:txBody>
      </p:sp>
      <p:sp>
        <p:nvSpPr>
          <p:cNvPr id="16" name="Rectangle 15">
            <a:extLst>
              <a:ext uri="{C183D7F6-B498-43B3-948B-1728B52AA6E4}">
                <adec:decorative xmlns:adec="http://schemas.microsoft.com/office/drawing/2017/decorative" val="1"/>
              </a:ext>
            </a:extLst>
          </p:cNvPr>
          <p:cNvSpPr/>
          <p:nvPr/>
        </p:nvSpPr>
        <p:spPr>
          <a:xfrm>
            <a:off x="7190232" y="4251960"/>
            <a:ext cx="4949952" cy="91440"/>
          </a:xfrm>
          <a:prstGeom prst="rect">
            <a:avLst/>
          </a:prstGeom>
          <a:solidFill>
            <a:srgbClr val="A71989"/>
          </a:solidFill>
          <a:ln>
            <a:noFill/>
          </a:ln>
          <a:effectLst/>
        </p:spPr>
        <p:txBody>
          <a:bodyPr rtlCol="0" anchor="ctr"/>
          <a:lstStyle/>
          <a:p>
            <a:pPr algn="ctr"/>
            <a:endParaRPr/>
          </a:p>
        </p:txBody>
      </p:sp>
      <p:sp>
        <p:nvSpPr>
          <p:cNvPr id="17" name="Oval 16">
            <a:extLst>
              <a:ext uri="{C183D7F6-B498-43B3-948B-1728B52AA6E4}">
                <adec:decorative xmlns:adec="http://schemas.microsoft.com/office/drawing/2017/decorative" val="1"/>
              </a:ext>
            </a:extLst>
          </p:cNvPr>
          <p:cNvSpPr/>
          <p:nvPr/>
        </p:nvSpPr>
        <p:spPr>
          <a:xfrm>
            <a:off x="7510272" y="4617720"/>
            <a:ext cx="731520" cy="731520"/>
          </a:xfrm>
          <a:prstGeom prst="ellipse">
            <a:avLst/>
          </a:prstGeom>
          <a:solidFill>
            <a:srgbClr val="F6EBF3"/>
          </a:solidFill>
          <a:ln>
            <a:noFill/>
          </a:ln>
          <a:effectLst/>
        </p:spPr>
        <p:txBody>
          <a:bodyPr rtlCol="0" anchor="ctr"/>
          <a:lstStyle/>
          <a:p>
            <a:pPr algn="ctr"/>
            <a:endParaRPr/>
          </a:p>
        </p:txBody>
      </p:sp>
      <p:pic>
        <p:nvPicPr>
          <p:cNvPr id="18" name="Picture 17">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656576" y="4764024"/>
            <a:ext cx="438912" cy="438912"/>
          </a:xfrm>
          <a:prstGeom prst="rect">
            <a:avLst/>
          </a:prstGeom>
        </p:spPr>
      </p:pic>
      <p:sp>
        <p:nvSpPr>
          <p:cNvPr id="19" name="TextBox 18"/>
          <p:cNvSpPr txBox="1"/>
          <p:nvPr/>
        </p:nvSpPr>
        <p:spPr>
          <a:xfrm>
            <a:off x="8424672" y="4617720"/>
            <a:ext cx="3486911" cy="731520"/>
          </a:xfrm>
          <a:prstGeom prst="rect">
            <a:avLst/>
          </a:prstGeom>
          <a:noFill/>
        </p:spPr>
        <p:txBody>
          <a:bodyPr wrap="square" lIns="0" tIns="0" rIns="0" bIns="0" anchor="ctr">
            <a:spAutoFit/>
          </a:bodyPr>
          <a:lstStyle/>
          <a:p>
            <a:pPr algn="l">
              <a:lnSpc>
                <a:spcPct val="100000"/>
              </a:lnSpc>
            </a:pPr>
            <a:r>
              <a:rPr sz="1900" b="1" i="0">
                <a:solidFill>
                  <a:srgbClr val="A71989"/>
                </a:solidFill>
                <a:latin typeface="Arial"/>
              </a:rPr>
              <a:t>Comparar</a:t>
            </a:r>
          </a:p>
        </p:txBody>
      </p:sp>
      <p:sp>
        <p:nvSpPr>
          <p:cNvPr id="20" name="TextBox 19"/>
          <p:cNvSpPr txBox="1"/>
          <p:nvPr/>
        </p:nvSpPr>
        <p:spPr>
          <a:xfrm>
            <a:off x="7510272" y="5577840"/>
            <a:ext cx="4309872" cy="822960"/>
          </a:xfrm>
          <a:prstGeom prst="rect">
            <a:avLst/>
          </a:prstGeom>
          <a:noFill/>
        </p:spPr>
        <p:txBody>
          <a:bodyPr wrap="square" lIns="0" tIns="0" rIns="0" bIns="0" anchor="t">
            <a:spAutoFit/>
          </a:bodyPr>
          <a:lstStyle/>
          <a:p>
            <a:pPr algn="l">
              <a:lnSpc>
                <a:spcPct val="110000"/>
              </a:lnSpc>
            </a:pPr>
            <a:r>
              <a:rPr sz="1600" b="0" i="0">
                <a:solidFill>
                  <a:srgbClr val="332F37"/>
                </a:solidFill>
                <a:latin typeface="Arial"/>
              </a:rPr>
              <a:t>Comparar valores entre sí.</a:t>
            </a:r>
          </a:p>
        </p:txBody>
      </p:sp>
      <p:sp>
        <p:nvSpPr>
          <p:cNvPr id="21" name="Rounded Rectangle 20">
            <a:extLst>
              <a:ext uri="{C183D7F6-B498-43B3-948B-1728B52AA6E4}">
                <adec:decorative xmlns:adec="http://schemas.microsoft.com/office/drawing/2017/decorative" val="1"/>
              </a:ext>
            </a:extLst>
          </p:cNvPr>
          <p:cNvSpPr/>
          <p:nvPr/>
        </p:nvSpPr>
        <p:spPr>
          <a:xfrm>
            <a:off x="12505944" y="4251960"/>
            <a:ext cx="4949952" cy="2331720"/>
          </a:xfrm>
          <a:prstGeom prst="roundRect">
            <a:avLst>
              <a:gd name="adj" fmla="val 8000"/>
            </a:avLst>
          </a:prstGeom>
          <a:solidFill>
            <a:srgbClr val="FFFFFF"/>
          </a:solidFill>
          <a:ln w="15875">
            <a:solidFill>
              <a:srgbClr val="DDD6E8"/>
            </a:solidFill>
          </a:ln>
          <a:effectLst/>
        </p:spPr>
        <p:txBody>
          <a:bodyPr rtlCol="0" anchor="ctr"/>
          <a:lstStyle/>
          <a:p>
            <a:pPr algn="ctr"/>
            <a:endParaRPr/>
          </a:p>
        </p:txBody>
      </p:sp>
      <p:sp>
        <p:nvSpPr>
          <p:cNvPr id="22" name="Rectangle 21">
            <a:extLst>
              <a:ext uri="{C183D7F6-B498-43B3-948B-1728B52AA6E4}">
                <adec:decorative xmlns:adec="http://schemas.microsoft.com/office/drawing/2017/decorative" val="1"/>
              </a:ext>
            </a:extLst>
          </p:cNvPr>
          <p:cNvSpPr/>
          <p:nvPr/>
        </p:nvSpPr>
        <p:spPr>
          <a:xfrm>
            <a:off x="12505944" y="4251960"/>
            <a:ext cx="4949952" cy="91440"/>
          </a:xfrm>
          <a:prstGeom prst="rect">
            <a:avLst/>
          </a:prstGeom>
          <a:solidFill>
            <a:srgbClr val="2A56C6"/>
          </a:solidFill>
          <a:ln>
            <a:noFill/>
          </a:ln>
          <a:effectLst/>
        </p:spPr>
        <p:txBody>
          <a:bodyPr rtlCol="0" anchor="ctr"/>
          <a:lstStyle/>
          <a:p>
            <a:pPr algn="ctr"/>
            <a:endParaRPr/>
          </a:p>
        </p:txBody>
      </p:sp>
      <p:sp>
        <p:nvSpPr>
          <p:cNvPr id="23" name="Oval 22">
            <a:extLst>
              <a:ext uri="{C183D7F6-B498-43B3-948B-1728B52AA6E4}">
                <adec:decorative xmlns:adec="http://schemas.microsoft.com/office/drawing/2017/decorative" val="1"/>
              </a:ext>
            </a:extLst>
          </p:cNvPr>
          <p:cNvSpPr/>
          <p:nvPr/>
        </p:nvSpPr>
        <p:spPr>
          <a:xfrm>
            <a:off x="12825983" y="4617720"/>
            <a:ext cx="731520" cy="731520"/>
          </a:xfrm>
          <a:prstGeom prst="ellipse">
            <a:avLst/>
          </a:prstGeom>
          <a:solidFill>
            <a:srgbClr val="E8F1FB"/>
          </a:solidFill>
          <a:ln>
            <a:noFill/>
          </a:ln>
          <a:effectLst/>
        </p:spPr>
        <p:txBody>
          <a:bodyPr rtlCol="0" anchor="ctr"/>
          <a:lstStyle/>
          <a:p>
            <a:pPr algn="ctr"/>
            <a:endParaRPr/>
          </a:p>
        </p:txBody>
      </p:sp>
      <p:pic>
        <p:nvPicPr>
          <p:cNvPr id="24" name="Picture 23">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12972288" y="4764024"/>
            <a:ext cx="438912" cy="438912"/>
          </a:xfrm>
          <a:prstGeom prst="rect">
            <a:avLst/>
          </a:prstGeom>
        </p:spPr>
      </p:pic>
      <p:sp>
        <p:nvSpPr>
          <p:cNvPr id="25" name="TextBox 24"/>
          <p:cNvSpPr txBox="1"/>
          <p:nvPr/>
        </p:nvSpPr>
        <p:spPr>
          <a:xfrm>
            <a:off x="13740383" y="4617720"/>
            <a:ext cx="3486911" cy="731520"/>
          </a:xfrm>
          <a:prstGeom prst="rect">
            <a:avLst/>
          </a:prstGeom>
          <a:noFill/>
        </p:spPr>
        <p:txBody>
          <a:bodyPr wrap="square" lIns="0" tIns="0" rIns="0" bIns="0" anchor="ctr">
            <a:spAutoFit/>
          </a:bodyPr>
          <a:lstStyle/>
          <a:p>
            <a:pPr algn="l">
              <a:lnSpc>
                <a:spcPct val="100000"/>
              </a:lnSpc>
            </a:pPr>
            <a:r>
              <a:rPr sz="1900" b="1" i="0">
                <a:solidFill>
                  <a:srgbClr val="2A56C6"/>
                </a:solidFill>
                <a:latin typeface="Arial"/>
              </a:rPr>
              <a:t>Relacionar información en la memoria</a:t>
            </a:r>
          </a:p>
        </p:txBody>
      </p:sp>
      <p:sp>
        <p:nvSpPr>
          <p:cNvPr id="26" name="TextBox 25"/>
          <p:cNvSpPr txBox="1"/>
          <p:nvPr/>
        </p:nvSpPr>
        <p:spPr>
          <a:xfrm>
            <a:off x="12825983" y="5577840"/>
            <a:ext cx="4309872" cy="822960"/>
          </a:xfrm>
          <a:prstGeom prst="rect">
            <a:avLst/>
          </a:prstGeom>
          <a:noFill/>
        </p:spPr>
        <p:txBody>
          <a:bodyPr wrap="square" lIns="0" tIns="0" rIns="0" bIns="0" anchor="t">
            <a:spAutoFit/>
          </a:bodyPr>
          <a:lstStyle/>
          <a:p>
            <a:pPr algn="l">
              <a:lnSpc>
                <a:spcPct val="110000"/>
              </a:lnSpc>
            </a:pPr>
            <a:r>
              <a:rPr sz="1600" b="0" i="0">
                <a:solidFill>
                  <a:srgbClr val="332F37"/>
                </a:solidFill>
                <a:latin typeface="Arial"/>
              </a:rPr>
              <a:t>Relacionar o negar condiciones lógicas.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6214" y="856420"/>
            <a:ext cx="105833" cy="1270000"/>
          </a:xfrm>
          <a:prstGeom prst="rect">
            <a:avLst/>
          </a:prstGeom>
          <a:solidFill>
            <a:srgbClr val="664092"/>
          </a:solidFill>
          <a:ln>
            <a:noFill/>
          </a:ln>
          <a:effectLst/>
        </p:spPr>
        <p:txBody>
          <a:bodyPr rtlCol="0" anchor="ctr"/>
          <a:lstStyle/>
          <a:p>
            <a:pPr algn="ctr"/>
            <a:endParaRPr/>
          </a:p>
        </p:txBody>
      </p:sp>
      <p:sp>
        <p:nvSpPr>
          <p:cNvPr id="3" name="TextBox 2"/>
          <p:cNvSpPr txBox="1"/>
          <p:nvPr/>
        </p:nvSpPr>
        <p:spPr>
          <a:xfrm>
            <a:off x="1877256" y="856420"/>
            <a:ext cx="12000000" cy="317500"/>
          </a:xfrm>
          <a:prstGeom prst="rect">
            <a:avLst/>
          </a:prstGeom>
          <a:noFill/>
        </p:spPr>
        <p:txBody>
          <a:bodyPr wrap="square" lIns="0" tIns="0" rIns="0" bIns="0" anchor="t">
            <a:spAutoFit/>
          </a:bodyPr>
          <a:lstStyle/>
          <a:p>
            <a:pPr algn="l">
              <a:lnSpc>
                <a:spcPct val="100000"/>
              </a:lnSpc>
            </a:pPr>
            <a:r>
              <a:rPr sz="1460" b="1" i="0">
                <a:solidFill>
                  <a:srgbClr val="664092"/>
                </a:solidFill>
                <a:latin typeface="Arial"/>
              </a:rPr>
              <a:t>Operadores aritméticos o algebraicos</a:t>
            </a:r>
          </a:p>
        </p:txBody>
      </p:sp>
      <p:sp>
        <p:nvSpPr>
          <p:cNvPr id="4" name="TextBox 3"/>
          <p:cNvSpPr txBox="1"/>
          <p:nvPr/>
        </p:nvSpPr>
        <p:spPr>
          <a:xfrm>
            <a:off x="1877256" y="1306212"/>
            <a:ext cx="15584188" cy="822960"/>
          </a:xfrm>
          <a:prstGeom prst="rect">
            <a:avLst/>
          </a:prstGeom>
          <a:noFill/>
        </p:spPr>
        <p:txBody>
          <a:bodyPr wrap="square" lIns="0" tIns="0" rIns="0" bIns="0" anchor="t">
            <a:spAutoFit/>
          </a:bodyPr>
          <a:lstStyle/>
          <a:p>
            <a:pPr algn="l">
              <a:lnSpc>
                <a:spcPct val="105000"/>
              </a:lnSpc>
            </a:pPr>
            <a:r>
              <a:rPr sz="3200" b="1" i="0">
                <a:solidFill>
                  <a:srgbClr val="3D2159"/>
                </a:solidFill>
                <a:latin typeface="Arial"/>
              </a:rPr>
              <a:t>Realizan cálculos con datos numéricos</a:t>
            </a:r>
          </a:p>
        </p:txBody>
      </p:sp>
      <p:pic>
        <p:nvPicPr>
          <p:cNvPr id="5" name="Picture 4">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877256" y="2240280"/>
            <a:ext cx="2218494" cy="179036"/>
          </a:xfrm>
          <a:prstGeom prst="rect">
            <a:avLst/>
          </a:prstGeom>
        </p:spPr>
      </p:pic>
      <p:sp>
        <p:nvSpPr>
          <p:cNvPr id="6" name="TextBox 5"/>
          <p:cNvSpPr txBox="1"/>
          <p:nvPr/>
        </p:nvSpPr>
        <p:spPr>
          <a:xfrm>
            <a:off x="2910427" y="8916458"/>
            <a:ext cx="12000000" cy="264583"/>
          </a:xfrm>
          <a:prstGeom prst="rect">
            <a:avLst/>
          </a:prstGeom>
          <a:noFill/>
        </p:spPr>
        <p:txBody>
          <a:bodyPr wrap="square" lIns="0" tIns="0" rIns="0" bIns="0" anchor="t">
            <a:spAutoFit/>
          </a:bodyPr>
          <a:lstStyle/>
          <a:p>
            <a:pPr algn="l">
              <a:lnSpc>
                <a:spcPct val="100000"/>
              </a:lnSpc>
            </a:pPr>
            <a:r>
              <a:rPr sz="1350" b="1" i="0">
                <a:solidFill>
                  <a:srgbClr val="756F79"/>
                </a:solidFill>
                <a:latin typeface="Arial"/>
              </a:rPr>
              <a:t>Operadores en programación · Estructuras de datos y algoritmos</a:t>
            </a:r>
          </a:p>
        </p:txBody>
      </p:sp>
      <p:sp>
        <p:nvSpPr>
          <p:cNvPr id="7" name="TextBox 6"/>
          <p:cNvSpPr txBox="1"/>
          <p:nvPr/>
        </p:nvSpPr>
        <p:spPr>
          <a:xfrm>
            <a:off x="1874519" y="2606040"/>
            <a:ext cx="15581376" cy="822960"/>
          </a:xfrm>
          <a:prstGeom prst="rect">
            <a:avLst/>
          </a:prstGeom>
          <a:noFill/>
        </p:spPr>
        <p:txBody>
          <a:bodyPr wrap="square" lIns="0" tIns="0" rIns="0" bIns="0" anchor="t">
            <a:spAutoFit/>
          </a:bodyPr>
          <a:lstStyle/>
          <a:p>
            <a:pPr algn="l">
              <a:lnSpc>
                <a:spcPct val="120000"/>
              </a:lnSpc>
            </a:pPr>
            <a:r>
              <a:rPr sz="1700" b="0" i="0">
                <a:solidFill>
                  <a:srgbClr val="332F37"/>
                </a:solidFill>
                <a:latin typeface="Arial"/>
              </a:rPr>
              <a:t>Permiten hacer operaciones matemáticas básicas sobre valores numéricos dentro de un proceso o algoritmo.</a:t>
            </a:r>
          </a:p>
        </p:txBody>
      </p:sp>
      <p:graphicFrame>
        <p:nvGraphicFramePr>
          <p:cNvPr id="8" name="Table 7"/>
          <p:cNvGraphicFramePr>
            <a:graphicFrameLocks noGrp="1"/>
          </p:cNvGraphicFramePr>
          <p:nvPr/>
        </p:nvGraphicFramePr>
        <p:xfrm>
          <a:off x="1874519" y="3657600"/>
          <a:ext cx="15581376" cy="3401568"/>
        </p:xfrm>
        <a:graphic>
          <a:graphicData uri="http://schemas.openxmlformats.org/drawingml/2006/table">
            <a:tbl>
              <a:tblPr firstRow="1">
                <a:tableStyleId>{5C22544A-7EE6-4342-B048-85BDC9FD1C3A}</a:tableStyleId>
              </a:tblPr>
              <a:tblGrid>
                <a:gridCol w="27432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gridCol w="6894576">
                  <a:extLst>
                    <a:ext uri="{9D8B030D-6E8A-4147-A177-3AD203B41FA5}">
                      <a16:colId xmlns:a16="http://schemas.microsoft.com/office/drawing/2014/main" val="20002"/>
                    </a:ext>
                  </a:extLst>
                </a:gridCol>
              </a:tblGrid>
              <a:tr h="566928">
                <a:tc>
                  <a:txBody>
                    <a:bodyPr/>
                    <a:lstStyle/>
                    <a:p>
                      <a:r>
                        <a:rPr sz="1500" b="1">
                          <a:solidFill>
                            <a:srgbClr val="FFFFFF"/>
                          </a:solidFill>
                          <a:latin typeface="Arial"/>
                        </a:rPr>
                        <a:t>Operador</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664092"/>
                    </a:solidFill>
                  </a:tcPr>
                </a:tc>
                <a:tc>
                  <a:txBody>
                    <a:bodyPr/>
                    <a:lstStyle/>
                    <a:p>
                      <a:r>
                        <a:rPr sz="1500" b="1">
                          <a:solidFill>
                            <a:srgbClr val="FFFFFF"/>
                          </a:solidFill>
                          <a:latin typeface="Arial"/>
                        </a:rPr>
                        <a:t>Significado</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664092"/>
                    </a:solidFill>
                  </a:tcPr>
                </a:tc>
                <a:tc>
                  <a:txBody>
                    <a:bodyPr/>
                    <a:lstStyle/>
                    <a:p>
                      <a:r>
                        <a:rPr sz="1500" b="1">
                          <a:solidFill>
                            <a:srgbClr val="FFFFFF"/>
                          </a:solidFill>
                          <a:latin typeface="Arial"/>
                        </a:rPr>
                        <a:t>Ejemplos</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664092"/>
                    </a:solidFill>
                  </a:tcPr>
                </a:tc>
                <a:extLst>
                  <a:ext uri="{0D108BD9-81ED-4DB2-BD59-A6C34878D82A}">
                    <a16:rowId xmlns:a16="http://schemas.microsoft.com/office/drawing/2014/main" val="10000"/>
                  </a:ext>
                </a:extLst>
              </a:tr>
              <a:tr h="566928">
                <a:tc>
                  <a:txBody>
                    <a:bodyPr/>
                    <a:lstStyle/>
                    <a:p>
                      <a:r>
                        <a:rPr sz="1500" b="1">
                          <a:solidFill>
                            <a:srgbClr val="664092"/>
                          </a:solidFill>
                          <a:latin typeface="Courier New"/>
                        </a:rPr>
                        <a:t>+</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FFFFFF"/>
                    </a:solidFill>
                  </a:tcPr>
                </a:tc>
                <a:tc>
                  <a:txBody>
                    <a:bodyPr/>
                    <a:lstStyle/>
                    <a:p>
                      <a:r>
                        <a:rPr sz="1500" b="0">
                          <a:solidFill>
                            <a:srgbClr val="332F37"/>
                          </a:solidFill>
                          <a:latin typeface="Arial"/>
                        </a:rPr>
                        <a:t>Suma</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FFFFFF"/>
                    </a:solidFill>
                  </a:tcPr>
                </a:tc>
                <a:tc>
                  <a:txBody>
                    <a:bodyPr/>
                    <a:lstStyle/>
                    <a:p>
                      <a:r>
                        <a:rPr sz="1500" b="0">
                          <a:solidFill>
                            <a:srgbClr val="024791"/>
                          </a:solidFill>
                          <a:latin typeface="Courier New"/>
                        </a:rPr>
                        <a:t>total &lt;- cant1 + cant2</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FFFFFF"/>
                    </a:solidFill>
                  </a:tcPr>
                </a:tc>
                <a:extLst>
                  <a:ext uri="{0D108BD9-81ED-4DB2-BD59-A6C34878D82A}">
                    <a16:rowId xmlns:a16="http://schemas.microsoft.com/office/drawing/2014/main" val="10001"/>
                  </a:ext>
                </a:extLst>
              </a:tr>
              <a:tr h="566928">
                <a:tc>
                  <a:txBody>
                    <a:bodyPr/>
                    <a:lstStyle/>
                    <a:p>
                      <a:r>
                        <a:rPr sz="1500" b="1">
                          <a:solidFill>
                            <a:srgbClr val="664092"/>
                          </a:solidFill>
                          <a:latin typeface="Courier New"/>
                        </a:rPr>
                        <a:t>-</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F8F6FB"/>
                    </a:solidFill>
                  </a:tcPr>
                </a:tc>
                <a:tc>
                  <a:txBody>
                    <a:bodyPr/>
                    <a:lstStyle/>
                    <a:p>
                      <a:r>
                        <a:rPr sz="1500" b="0">
                          <a:solidFill>
                            <a:srgbClr val="332F37"/>
                          </a:solidFill>
                          <a:latin typeface="Arial"/>
                        </a:rPr>
                        <a:t>Resta</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F8F6FB"/>
                    </a:solidFill>
                  </a:tcPr>
                </a:tc>
                <a:tc>
                  <a:txBody>
                    <a:bodyPr/>
                    <a:lstStyle/>
                    <a:p>
                      <a:r>
                        <a:rPr sz="1500" b="0">
                          <a:solidFill>
                            <a:srgbClr val="024791"/>
                          </a:solidFill>
                          <a:latin typeface="Courier New"/>
                        </a:rPr>
                        <a:t>ver &lt;- num1 - num2</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F8F6FB"/>
                    </a:solidFill>
                  </a:tcPr>
                </a:tc>
                <a:extLst>
                  <a:ext uri="{0D108BD9-81ED-4DB2-BD59-A6C34878D82A}">
                    <a16:rowId xmlns:a16="http://schemas.microsoft.com/office/drawing/2014/main" val="10002"/>
                  </a:ext>
                </a:extLst>
              </a:tr>
              <a:tr h="566928">
                <a:tc>
                  <a:txBody>
                    <a:bodyPr/>
                    <a:lstStyle/>
                    <a:p>
                      <a:r>
                        <a:rPr sz="1500" b="1">
                          <a:solidFill>
                            <a:srgbClr val="664092"/>
                          </a:solidFill>
                          <a:latin typeface="Courier New"/>
                        </a:rPr>
                        <a:t>*</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FFFFFF"/>
                    </a:solidFill>
                  </a:tcPr>
                </a:tc>
                <a:tc>
                  <a:txBody>
                    <a:bodyPr/>
                    <a:lstStyle/>
                    <a:p>
                      <a:r>
                        <a:rPr sz="1500" b="0">
                          <a:solidFill>
                            <a:srgbClr val="332F37"/>
                          </a:solidFill>
                          <a:latin typeface="Arial"/>
                        </a:rPr>
                        <a:t>Multiplicación</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FFFFFF"/>
                    </a:solidFill>
                  </a:tcPr>
                </a:tc>
                <a:tc>
                  <a:txBody>
                    <a:bodyPr/>
                    <a:lstStyle/>
                    <a:p>
                      <a:r>
                        <a:rPr sz="1500" b="0">
                          <a:solidFill>
                            <a:srgbClr val="024791"/>
                          </a:solidFill>
                          <a:latin typeface="Courier New"/>
                        </a:rPr>
                        <a:t>area &lt;- base * altura</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FFFFFF"/>
                    </a:solidFill>
                  </a:tcPr>
                </a:tc>
                <a:extLst>
                  <a:ext uri="{0D108BD9-81ED-4DB2-BD59-A6C34878D82A}">
                    <a16:rowId xmlns:a16="http://schemas.microsoft.com/office/drawing/2014/main" val="10003"/>
                  </a:ext>
                </a:extLst>
              </a:tr>
              <a:tr h="566928">
                <a:tc>
                  <a:txBody>
                    <a:bodyPr/>
                    <a:lstStyle/>
                    <a:p>
                      <a:r>
                        <a:rPr sz="1500" b="1">
                          <a:solidFill>
                            <a:srgbClr val="664092"/>
                          </a:solidFill>
                          <a:latin typeface="Courier New"/>
                        </a:rPr>
                        <a:t>/</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F8F6FB"/>
                    </a:solidFill>
                  </a:tcPr>
                </a:tc>
                <a:tc>
                  <a:txBody>
                    <a:bodyPr/>
                    <a:lstStyle/>
                    <a:p>
                      <a:r>
                        <a:rPr sz="1500" b="0">
                          <a:solidFill>
                            <a:srgbClr val="332F37"/>
                          </a:solidFill>
                          <a:latin typeface="Arial"/>
                        </a:rPr>
                        <a:t>División</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F8F6FB"/>
                    </a:solidFill>
                  </a:tcPr>
                </a:tc>
                <a:tc>
                  <a:txBody>
                    <a:bodyPr/>
                    <a:lstStyle/>
                    <a:p>
                      <a:r>
                        <a:rPr sz="1500" b="0">
                          <a:solidFill>
                            <a:srgbClr val="024791"/>
                          </a:solidFill>
                          <a:latin typeface="Courier New"/>
                        </a:rPr>
                        <a:t>sal_diario &lt;- salario / dias</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F8F6FB"/>
                    </a:solidFill>
                  </a:tcPr>
                </a:tc>
                <a:extLst>
                  <a:ext uri="{0D108BD9-81ED-4DB2-BD59-A6C34878D82A}">
                    <a16:rowId xmlns:a16="http://schemas.microsoft.com/office/drawing/2014/main" val="10004"/>
                  </a:ext>
                </a:extLst>
              </a:tr>
              <a:tr h="566928">
                <a:tc>
                  <a:txBody>
                    <a:bodyPr/>
                    <a:lstStyle/>
                    <a:p>
                      <a:r>
                        <a:rPr sz="1500" b="1">
                          <a:solidFill>
                            <a:srgbClr val="664092"/>
                          </a:solidFill>
                          <a:latin typeface="Courier New"/>
                        </a:rPr>
                        <a:t>Mod / %</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FFFFFF"/>
                    </a:solidFill>
                  </a:tcPr>
                </a:tc>
                <a:tc>
                  <a:txBody>
                    <a:bodyPr/>
                    <a:lstStyle/>
                    <a:p>
                      <a:r>
                        <a:rPr sz="1500" b="0">
                          <a:solidFill>
                            <a:srgbClr val="332F37"/>
                          </a:solidFill>
                          <a:latin typeface="Arial"/>
                        </a:rPr>
                        <a:t>Módulo (resto de la división entera)</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FFFFFF"/>
                    </a:solidFill>
                  </a:tcPr>
                </a:tc>
                <a:tc>
                  <a:txBody>
                    <a:bodyPr/>
                    <a:lstStyle/>
                    <a:p>
                      <a:r>
                        <a:rPr sz="1500" b="0">
                          <a:solidFill>
                            <a:srgbClr val="024791"/>
                          </a:solidFill>
                          <a:latin typeface="Courier New"/>
                        </a:rPr>
                        <a:t>resto &lt;- num MOD div</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6214" y="856420"/>
            <a:ext cx="105833" cy="1270000"/>
          </a:xfrm>
          <a:prstGeom prst="rect">
            <a:avLst/>
          </a:prstGeom>
          <a:solidFill>
            <a:srgbClr val="664092"/>
          </a:solidFill>
          <a:ln>
            <a:noFill/>
          </a:ln>
          <a:effectLst/>
        </p:spPr>
        <p:txBody>
          <a:bodyPr rtlCol="0" anchor="ctr"/>
          <a:lstStyle/>
          <a:p>
            <a:pPr algn="ctr"/>
            <a:endParaRPr/>
          </a:p>
        </p:txBody>
      </p:sp>
      <p:sp>
        <p:nvSpPr>
          <p:cNvPr id="3" name="TextBox 2"/>
          <p:cNvSpPr txBox="1"/>
          <p:nvPr/>
        </p:nvSpPr>
        <p:spPr>
          <a:xfrm>
            <a:off x="1877256" y="856420"/>
            <a:ext cx="12000000" cy="317500"/>
          </a:xfrm>
          <a:prstGeom prst="rect">
            <a:avLst/>
          </a:prstGeom>
          <a:noFill/>
        </p:spPr>
        <p:txBody>
          <a:bodyPr wrap="square" lIns="0" tIns="0" rIns="0" bIns="0" anchor="t">
            <a:spAutoFit/>
          </a:bodyPr>
          <a:lstStyle/>
          <a:p>
            <a:pPr algn="l">
              <a:lnSpc>
                <a:spcPct val="100000"/>
              </a:lnSpc>
            </a:pPr>
            <a:r>
              <a:rPr sz="1460" b="1" i="0">
                <a:solidFill>
                  <a:srgbClr val="664092"/>
                </a:solidFill>
                <a:latin typeface="Arial"/>
              </a:rPr>
              <a:t>Operadores relacionales</a:t>
            </a:r>
          </a:p>
        </p:txBody>
      </p:sp>
      <p:sp>
        <p:nvSpPr>
          <p:cNvPr id="4" name="TextBox 3"/>
          <p:cNvSpPr txBox="1"/>
          <p:nvPr/>
        </p:nvSpPr>
        <p:spPr>
          <a:xfrm>
            <a:off x="1877256" y="1306212"/>
            <a:ext cx="15584188" cy="822960"/>
          </a:xfrm>
          <a:prstGeom prst="rect">
            <a:avLst/>
          </a:prstGeom>
          <a:noFill/>
        </p:spPr>
        <p:txBody>
          <a:bodyPr wrap="square" lIns="0" tIns="0" rIns="0" bIns="0" anchor="t">
            <a:spAutoFit/>
          </a:bodyPr>
          <a:lstStyle/>
          <a:p>
            <a:pPr algn="l">
              <a:lnSpc>
                <a:spcPct val="105000"/>
              </a:lnSpc>
            </a:pPr>
            <a:r>
              <a:rPr sz="3200" b="1" i="0">
                <a:solidFill>
                  <a:srgbClr val="3D2159"/>
                </a:solidFill>
                <a:latin typeface="Arial"/>
              </a:rPr>
              <a:t>Comparan valores para obtener certezas lógicas</a:t>
            </a:r>
          </a:p>
        </p:txBody>
      </p:sp>
      <p:pic>
        <p:nvPicPr>
          <p:cNvPr id="5" name="Picture 4">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877256" y="2240280"/>
            <a:ext cx="2218494" cy="179036"/>
          </a:xfrm>
          <a:prstGeom prst="rect">
            <a:avLst/>
          </a:prstGeom>
        </p:spPr>
      </p:pic>
      <p:sp>
        <p:nvSpPr>
          <p:cNvPr id="6" name="TextBox 5"/>
          <p:cNvSpPr txBox="1"/>
          <p:nvPr/>
        </p:nvSpPr>
        <p:spPr>
          <a:xfrm>
            <a:off x="2910427" y="8916458"/>
            <a:ext cx="12000000" cy="264583"/>
          </a:xfrm>
          <a:prstGeom prst="rect">
            <a:avLst/>
          </a:prstGeom>
          <a:noFill/>
        </p:spPr>
        <p:txBody>
          <a:bodyPr wrap="square" lIns="0" tIns="0" rIns="0" bIns="0" anchor="t">
            <a:spAutoFit/>
          </a:bodyPr>
          <a:lstStyle/>
          <a:p>
            <a:pPr algn="l">
              <a:lnSpc>
                <a:spcPct val="100000"/>
              </a:lnSpc>
            </a:pPr>
            <a:r>
              <a:rPr sz="1350" b="1" i="0">
                <a:solidFill>
                  <a:srgbClr val="756F79"/>
                </a:solidFill>
                <a:latin typeface="Arial"/>
              </a:rPr>
              <a:t>Operadores en programación · Estructuras de datos y algoritmos</a:t>
            </a:r>
          </a:p>
        </p:txBody>
      </p:sp>
      <p:sp>
        <p:nvSpPr>
          <p:cNvPr id="7" name="TextBox 6"/>
          <p:cNvSpPr txBox="1"/>
          <p:nvPr/>
        </p:nvSpPr>
        <p:spPr>
          <a:xfrm>
            <a:off x="1874519" y="2606040"/>
            <a:ext cx="15581376" cy="822960"/>
          </a:xfrm>
          <a:prstGeom prst="rect">
            <a:avLst/>
          </a:prstGeom>
          <a:noFill/>
        </p:spPr>
        <p:txBody>
          <a:bodyPr wrap="square" lIns="0" tIns="0" rIns="0" bIns="0" anchor="t">
            <a:spAutoFit/>
          </a:bodyPr>
          <a:lstStyle/>
          <a:p>
            <a:pPr algn="l">
              <a:lnSpc>
                <a:spcPct val="120000"/>
              </a:lnSpc>
            </a:pPr>
            <a:r>
              <a:rPr sz="1700" b="0" i="0">
                <a:solidFill>
                  <a:srgbClr val="332F37"/>
                </a:solidFill>
                <a:latin typeface="Arial"/>
              </a:rPr>
              <a:t>Permiten comparar dos valores entre sí. El resultado de esta comparación siempre arroja un valor lógico: verdadero o falso (por ejemplo, saber si una hora es mayor que otra).</a:t>
            </a:r>
          </a:p>
        </p:txBody>
      </p:sp>
      <p:graphicFrame>
        <p:nvGraphicFramePr>
          <p:cNvPr id="8" name="Table 7"/>
          <p:cNvGraphicFramePr>
            <a:graphicFrameLocks noGrp="1"/>
          </p:cNvGraphicFramePr>
          <p:nvPr/>
        </p:nvGraphicFramePr>
        <p:xfrm>
          <a:off x="1874519" y="3657600"/>
          <a:ext cx="15581376" cy="3401568"/>
        </p:xfrm>
        <a:graphic>
          <a:graphicData uri="http://schemas.openxmlformats.org/drawingml/2006/table">
            <a:tbl>
              <a:tblPr firstRow="1">
                <a:tableStyleId>{5C22544A-7EE6-4342-B048-85BDC9FD1C3A}</a:tableStyleId>
              </a:tblPr>
              <a:tblGrid>
                <a:gridCol w="27432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gridCol w="6894576">
                  <a:extLst>
                    <a:ext uri="{9D8B030D-6E8A-4147-A177-3AD203B41FA5}">
                      <a16:colId xmlns:a16="http://schemas.microsoft.com/office/drawing/2014/main" val="20002"/>
                    </a:ext>
                  </a:extLst>
                </a:gridCol>
              </a:tblGrid>
              <a:tr h="566928">
                <a:tc>
                  <a:txBody>
                    <a:bodyPr/>
                    <a:lstStyle/>
                    <a:p>
                      <a:r>
                        <a:rPr sz="1500" b="1">
                          <a:solidFill>
                            <a:srgbClr val="FFFFFF"/>
                          </a:solidFill>
                          <a:latin typeface="Arial"/>
                        </a:rPr>
                        <a:t>Operador</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A71989"/>
                    </a:solidFill>
                  </a:tcPr>
                </a:tc>
                <a:tc>
                  <a:txBody>
                    <a:bodyPr/>
                    <a:lstStyle/>
                    <a:p>
                      <a:r>
                        <a:rPr sz="1500" b="1">
                          <a:solidFill>
                            <a:srgbClr val="FFFFFF"/>
                          </a:solidFill>
                          <a:latin typeface="Arial"/>
                        </a:rPr>
                        <a:t>Significado</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A71989"/>
                    </a:solidFill>
                  </a:tcPr>
                </a:tc>
                <a:tc>
                  <a:txBody>
                    <a:bodyPr/>
                    <a:lstStyle/>
                    <a:p>
                      <a:r>
                        <a:rPr sz="1500" b="1">
                          <a:solidFill>
                            <a:srgbClr val="FFFFFF"/>
                          </a:solidFill>
                          <a:latin typeface="Arial"/>
                        </a:rPr>
                        <a:t>Ejemplos</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A71989"/>
                    </a:solidFill>
                  </a:tcPr>
                </a:tc>
                <a:extLst>
                  <a:ext uri="{0D108BD9-81ED-4DB2-BD59-A6C34878D82A}">
                    <a16:rowId xmlns:a16="http://schemas.microsoft.com/office/drawing/2014/main" val="10000"/>
                  </a:ext>
                </a:extLst>
              </a:tr>
              <a:tr h="566928">
                <a:tc>
                  <a:txBody>
                    <a:bodyPr/>
                    <a:lstStyle/>
                    <a:p>
                      <a:r>
                        <a:rPr sz="1500" b="1">
                          <a:solidFill>
                            <a:srgbClr val="A71989"/>
                          </a:solidFill>
                          <a:latin typeface="Courier New"/>
                        </a:rPr>
                        <a:t>&gt;</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FFFFFF"/>
                    </a:solidFill>
                  </a:tcPr>
                </a:tc>
                <a:tc>
                  <a:txBody>
                    <a:bodyPr/>
                    <a:lstStyle/>
                    <a:p>
                      <a:r>
                        <a:rPr sz="1500" b="0">
                          <a:solidFill>
                            <a:srgbClr val="332F37"/>
                          </a:solidFill>
                          <a:latin typeface="Arial"/>
                        </a:rPr>
                        <a:t>Mayor que</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FFFFFF"/>
                    </a:solidFill>
                  </a:tcPr>
                </a:tc>
                <a:tc>
                  <a:txBody>
                    <a:bodyPr/>
                    <a:lstStyle/>
                    <a:p>
                      <a:r>
                        <a:rPr sz="1500" b="0">
                          <a:solidFill>
                            <a:srgbClr val="024791"/>
                          </a:solidFill>
                          <a:latin typeface="Courier New"/>
                        </a:rPr>
                        <a:t>3 &gt; 2</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FFFFFF"/>
                    </a:solidFill>
                  </a:tcPr>
                </a:tc>
                <a:extLst>
                  <a:ext uri="{0D108BD9-81ED-4DB2-BD59-A6C34878D82A}">
                    <a16:rowId xmlns:a16="http://schemas.microsoft.com/office/drawing/2014/main" val="10001"/>
                  </a:ext>
                </a:extLst>
              </a:tr>
              <a:tr h="566928">
                <a:tc>
                  <a:txBody>
                    <a:bodyPr/>
                    <a:lstStyle/>
                    <a:p>
                      <a:r>
                        <a:rPr sz="1500" b="1">
                          <a:solidFill>
                            <a:srgbClr val="A71989"/>
                          </a:solidFill>
                          <a:latin typeface="Courier New"/>
                        </a:rPr>
                        <a:t>&lt;</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F8F6FB"/>
                    </a:solidFill>
                  </a:tcPr>
                </a:tc>
                <a:tc>
                  <a:txBody>
                    <a:bodyPr/>
                    <a:lstStyle/>
                    <a:p>
                      <a:r>
                        <a:rPr sz="1500" b="0">
                          <a:solidFill>
                            <a:srgbClr val="332F37"/>
                          </a:solidFill>
                          <a:latin typeface="Arial"/>
                        </a:rPr>
                        <a:t>Menor que</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F8F6FB"/>
                    </a:solidFill>
                  </a:tcPr>
                </a:tc>
                <a:tc>
                  <a:txBody>
                    <a:bodyPr/>
                    <a:lstStyle/>
                    <a:p>
                      <a:r>
                        <a:rPr sz="1500" b="0">
                          <a:solidFill>
                            <a:srgbClr val="024791"/>
                          </a:solidFill>
                          <a:latin typeface="Courier New"/>
                        </a:rPr>
                        <a:t>'ABC' &lt; 'abc'</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F8F6FB"/>
                    </a:solidFill>
                  </a:tcPr>
                </a:tc>
                <a:extLst>
                  <a:ext uri="{0D108BD9-81ED-4DB2-BD59-A6C34878D82A}">
                    <a16:rowId xmlns:a16="http://schemas.microsoft.com/office/drawing/2014/main" val="10002"/>
                  </a:ext>
                </a:extLst>
              </a:tr>
              <a:tr h="566928">
                <a:tc>
                  <a:txBody>
                    <a:bodyPr/>
                    <a:lstStyle/>
                    <a:p>
                      <a:r>
                        <a:rPr sz="1500" b="1">
                          <a:solidFill>
                            <a:srgbClr val="A71989"/>
                          </a:solidFill>
                          <a:latin typeface="Courier New"/>
                        </a:rPr>
                        <a:t>=</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FFFFFF"/>
                    </a:solidFill>
                  </a:tcPr>
                </a:tc>
                <a:tc>
                  <a:txBody>
                    <a:bodyPr/>
                    <a:lstStyle/>
                    <a:p>
                      <a:r>
                        <a:rPr sz="1500" b="0">
                          <a:solidFill>
                            <a:srgbClr val="332F37"/>
                          </a:solidFill>
                          <a:latin typeface="Arial"/>
                        </a:rPr>
                        <a:t>Igual a</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FFFFFF"/>
                    </a:solidFill>
                  </a:tcPr>
                </a:tc>
                <a:tc>
                  <a:txBody>
                    <a:bodyPr/>
                    <a:lstStyle/>
                    <a:p>
                      <a:r>
                        <a:rPr sz="1500" b="0">
                          <a:solidFill>
                            <a:srgbClr val="024791"/>
                          </a:solidFill>
                          <a:latin typeface="Courier New"/>
                        </a:rPr>
                        <a:t>a = 'b'</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FFFFFF"/>
                    </a:solidFill>
                  </a:tcPr>
                </a:tc>
                <a:extLst>
                  <a:ext uri="{0D108BD9-81ED-4DB2-BD59-A6C34878D82A}">
                    <a16:rowId xmlns:a16="http://schemas.microsoft.com/office/drawing/2014/main" val="10003"/>
                  </a:ext>
                </a:extLst>
              </a:tr>
              <a:tr h="566928">
                <a:tc>
                  <a:txBody>
                    <a:bodyPr/>
                    <a:lstStyle/>
                    <a:p>
                      <a:r>
                        <a:rPr sz="1500" b="1">
                          <a:solidFill>
                            <a:srgbClr val="A71989"/>
                          </a:solidFill>
                          <a:latin typeface="Courier New"/>
                        </a:rPr>
                        <a:t>&lt;=</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F8F6FB"/>
                    </a:solidFill>
                  </a:tcPr>
                </a:tc>
                <a:tc>
                  <a:txBody>
                    <a:bodyPr/>
                    <a:lstStyle/>
                    <a:p>
                      <a:r>
                        <a:rPr sz="1500" b="0">
                          <a:solidFill>
                            <a:srgbClr val="332F37"/>
                          </a:solidFill>
                          <a:latin typeface="Arial"/>
                        </a:rPr>
                        <a:t>Menor o igual que</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F8F6FB"/>
                    </a:solidFill>
                  </a:tcPr>
                </a:tc>
                <a:tc>
                  <a:txBody>
                    <a:bodyPr/>
                    <a:lstStyle/>
                    <a:p>
                      <a:r>
                        <a:rPr sz="1500" b="0">
                          <a:solidFill>
                            <a:srgbClr val="024791"/>
                          </a:solidFill>
                          <a:latin typeface="Courier New"/>
                        </a:rPr>
                        <a:t>4 &lt;= 5</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F8F6FB"/>
                    </a:solidFill>
                  </a:tcPr>
                </a:tc>
                <a:extLst>
                  <a:ext uri="{0D108BD9-81ED-4DB2-BD59-A6C34878D82A}">
                    <a16:rowId xmlns:a16="http://schemas.microsoft.com/office/drawing/2014/main" val="10004"/>
                  </a:ext>
                </a:extLst>
              </a:tr>
              <a:tr h="566928">
                <a:tc>
                  <a:txBody>
                    <a:bodyPr/>
                    <a:lstStyle/>
                    <a:p>
                      <a:r>
                        <a:rPr sz="1500" b="1">
                          <a:solidFill>
                            <a:srgbClr val="A71989"/>
                          </a:solidFill>
                          <a:latin typeface="Courier New"/>
                        </a:rPr>
                        <a:t>&gt;=</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FFFFFF"/>
                    </a:solidFill>
                  </a:tcPr>
                </a:tc>
                <a:tc>
                  <a:txBody>
                    <a:bodyPr/>
                    <a:lstStyle/>
                    <a:p>
                      <a:r>
                        <a:rPr sz="1500" b="0">
                          <a:solidFill>
                            <a:srgbClr val="332F37"/>
                          </a:solidFill>
                          <a:latin typeface="Arial"/>
                        </a:rPr>
                        <a:t>Mayor o igual que</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FFFFFF"/>
                    </a:solidFill>
                  </a:tcPr>
                </a:tc>
                <a:tc>
                  <a:txBody>
                    <a:bodyPr/>
                    <a:lstStyle/>
                    <a:p>
                      <a:r>
                        <a:rPr sz="1500" b="0">
                          <a:solidFill>
                            <a:srgbClr val="024791"/>
                          </a:solidFill>
                          <a:latin typeface="Courier New"/>
                        </a:rPr>
                        <a:t>'erick' &gt;= 'Erick'</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6214" y="856420"/>
            <a:ext cx="105833" cy="1270000"/>
          </a:xfrm>
          <a:prstGeom prst="rect">
            <a:avLst/>
          </a:prstGeom>
          <a:solidFill>
            <a:srgbClr val="664092"/>
          </a:solidFill>
          <a:ln>
            <a:noFill/>
          </a:ln>
          <a:effectLst/>
        </p:spPr>
        <p:txBody>
          <a:bodyPr rtlCol="0" anchor="ctr"/>
          <a:lstStyle/>
          <a:p>
            <a:pPr algn="ctr"/>
            <a:endParaRPr/>
          </a:p>
        </p:txBody>
      </p:sp>
      <p:sp>
        <p:nvSpPr>
          <p:cNvPr id="3" name="TextBox 2"/>
          <p:cNvSpPr txBox="1"/>
          <p:nvPr/>
        </p:nvSpPr>
        <p:spPr>
          <a:xfrm>
            <a:off x="1877256" y="856420"/>
            <a:ext cx="12000000" cy="317500"/>
          </a:xfrm>
          <a:prstGeom prst="rect">
            <a:avLst/>
          </a:prstGeom>
          <a:noFill/>
        </p:spPr>
        <p:txBody>
          <a:bodyPr wrap="square" lIns="0" tIns="0" rIns="0" bIns="0" anchor="t">
            <a:spAutoFit/>
          </a:bodyPr>
          <a:lstStyle/>
          <a:p>
            <a:pPr algn="l">
              <a:lnSpc>
                <a:spcPct val="100000"/>
              </a:lnSpc>
            </a:pPr>
            <a:r>
              <a:rPr sz="1460" b="1" i="0">
                <a:solidFill>
                  <a:srgbClr val="664092"/>
                </a:solidFill>
                <a:latin typeface="Arial"/>
              </a:rPr>
              <a:t>Operadores lógicos</a:t>
            </a:r>
          </a:p>
        </p:txBody>
      </p:sp>
      <p:sp>
        <p:nvSpPr>
          <p:cNvPr id="4" name="TextBox 3"/>
          <p:cNvSpPr txBox="1"/>
          <p:nvPr/>
        </p:nvSpPr>
        <p:spPr>
          <a:xfrm>
            <a:off x="1877256" y="1306212"/>
            <a:ext cx="15584188" cy="822960"/>
          </a:xfrm>
          <a:prstGeom prst="rect">
            <a:avLst/>
          </a:prstGeom>
          <a:noFill/>
        </p:spPr>
        <p:txBody>
          <a:bodyPr wrap="square" lIns="0" tIns="0" rIns="0" bIns="0" anchor="t">
            <a:spAutoFit/>
          </a:bodyPr>
          <a:lstStyle/>
          <a:p>
            <a:pPr algn="l">
              <a:lnSpc>
                <a:spcPct val="105000"/>
              </a:lnSpc>
            </a:pPr>
            <a:r>
              <a:rPr sz="3200" b="1" i="0">
                <a:solidFill>
                  <a:srgbClr val="3D2159"/>
                </a:solidFill>
                <a:latin typeface="Arial"/>
              </a:rPr>
              <a:t>Relacionan y niegan condiciones complejas</a:t>
            </a:r>
          </a:p>
        </p:txBody>
      </p:sp>
      <p:pic>
        <p:nvPicPr>
          <p:cNvPr id="5" name="Picture 4">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877256" y="2240280"/>
            <a:ext cx="2218494" cy="179036"/>
          </a:xfrm>
          <a:prstGeom prst="rect">
            <a:avLst/>
          </a:prstGeom>
        </p:spPr>
      </p:pic>
      <p:sp>
        <p:nvSpPr>
          <p:cNvPr id="6" name="TextBox 5"/>
          <p:cNvSpPr txBox="1"/>
          <p:nvPr/>
        </p:nvSpPr>
        <p:spPr>
          <a:xfrm>
            <a:off x="2910427" y="8916458"/>
            <a:ext cx="12000000" cy="264583"/>
          </a:xfrm>
          <a:prstGeom prst="rect">
            <a:avLst/>
          </a:prstGeom>
          <a:noFill/>
        </p:spPr>
        <p:txBody>
          <a:bodyPr wrap="square" lIns="0" tIns="0" rIns="0" bIns="0" anchor="t">
            <a:spAutoFit/>
          </a:bodyPr>
          <a:lstStyle/>
          <a:p>
            <a:pPr algn="l">
              <a:lnSpc>
                <a:spcPct val="100000"/>
              </a:lnSpc>
            </a:pPr>
            <a:r>
              <a:rPr sz="1350" b="1" i="0">
                <a:solidFill>
                  <a:srgbClr val="756F79"/>
                </a:solidFill>
                <a:latin typeface="Arial"/>
              </a:rPr>
              <a:t>Operadores en programación · Estructuras de datos y algoritmos</a:t>
            </a:r>
          </a:p>
        </p:txBody>
      </p:sp>
      <p:sp>
        <p:nvSpPr>
          <p:cNvPr id="7" name="TextBox 6"/>
          <p:cNvSpPr txBox="1"/>
          <p:nvPr/>
        </p:nvSpPr>
        <p:spPr>
          <a:xfrm>
            <a:off x="1874519" y="2606040"/>
            <a:ext cx="15581376" cy="822960"/>
          </a:xfrm>
          <a:prstGeom prst="rect">
            <a:avLst/>
          </a:prstGeom>
          <a:noFill/>
        </p:spPr>
        <p:txBody>
          <a:bodyPr wrap="square" lIns="0" tIns="0" rIns="0" bIns="0" anchor="t">
            <a:spAutoFit/>
          </a:bodyPr>
          <a:lstStyle/>
          <a:p>
            <a:pPr algn="l">
              <a:lnSpc>
                <a:spcPct val="120000"/>
              </a:lnSpc>
            </a:pPr>
            <a:r>
              <a:rPr sz="1700" b="0" i="0">
                <a:solidFill>
                  <a:srgbClr val="332F37"/>
                </a:solidFill>
                <a:latin typeface="Arial"/>
              </a:rPr>
              <a:t>Permiten relacionar o negar condiciones lógicas complejas. En pseudocódigo suelen escribirse como Y, O y NO. Su sintaxis varía en otros lenguajes, pero cumplen exactamente la misma función.</a:t>
            </a:r>
          </a:p>
        </p:txBody>
      </p:sp>
      <p:graphicFrame>
        <p:nvGraphicFramePr>
          <p:cNvPr id="8" name="Table 7"/>
          <p:cNvGraphicFramePr>
            <a:graphicFrameLocks noGrp="1"/>
          </p:cNvGraphicFramePr>
          <p:nvPr/>
        </p:nvGraphicFramePr>
        <p:xfrm>
          <a:off x="1874519" y="3657600"/>
          <a:ext cx="15581376" cy="2926080"/>
        </p:xfrm>
        <a:graphic>
          <a:graphicData uri="http://schemas.openxmlformats.org/drawingml/2006/table">
            <a:tbl>
              <a:tblPr firstRow="1">
                <a:tableStyleId>{5C22544A-7EE6-4342-B048-85BDC9FD1C3A}</a:tableStyleId>
              </a:tblPr>
              <a:tblGrid>
                <a:gridCol w="274320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gridCol w="6437376">
                  <a:extLst>
                    <a:ext uri="{9D8B030D-6E8A-4147-A177-3AD203B41FA5}">
                      <a16:colId xmlns:a16="http://schemas.microsoft.com/office/drawing/2014/main" val="20002"/>
                    </a:ext>
                  </a:extLst>
                </a:gridCol>
              </a:tblGrid>
              <a:tr h="731520">
                <a:tc>
                  <a:txBody>
                    <a:bodyPr/>
                    <a:lstStyle/>
                    <a:p>
                      <a:r>
                        <a:rPr sz="1500" b="1">
                          <a:solidFill>
                            <a:srgbClr val="FFFFFF"/>
                          </a:solidFill>
                          <a:latin typeface="Arial"/>
                        </a:rPr>
                        <a:t>Operador</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2A56C6"/>
                    </a:solidFill>
                  </a:tcPr>
                </a:tc>
                <a:tc>
                  <a:txBody>
                    <a:bodyPr/>
                    <a:lstStyle/>
                    <a:p>
                      <a:r>
                        <a:rPr sz="1500" b="1">
                          <a:solidFill>
                            <a:srgbClr val="FFFFFF"/>
                          </a:solidFill>
                          <a:latin typeface="Arial"/>
                        </a:rPr>
                        <a:t>Significado</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2A56C6"/>
                    </a:solidFill>
                  </a:tcPr>
                </a:tc>
                <a:tc>
                  <a:txBody>
                    <a:bodyPr/>
                    <a:lstStyle/>
                    <a:p>
                      <a:r>
                        <a:rPr sz="1500" b="1">
                          <a:solidFill>
                            <a:srgbClr val="FFFFFF"/>
                          </a:solidFill>
                          <a:latin typeface="Arial"/>
                        </a:rPr>
                        <a:t>Ejemplos</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2A56C6"/>
                    </a:solidFill>
                  </a:tcPr>
                </a:tc>
                <a:extLst>
                  <a:ext uri="{0D108BD9-81ED-4DB2-BD59-A6C34878D82A}">
                    <a16:rowId xmlns:a16="http://schemas.microsoft.com/office/drawing/2014/main" val="10000"/>
                  </a:ext>
                </a:extLst>
              </a:tr>
              <a:tr h="731520">
                <a:tc>
                  <a:txBody>
                    <a:bodyPr/>
                    <a:lstStyle/>
                    <a:p>
                      <a:r>
                        <a:rPr sz="1500" b="1">
                          <a:solidFill>
                            <a:srgbClr val="2A56C6"/>
                          </a:solidFill>
                          <a:latin typeface="Courier New"/>
                        </a:rPr>
                        <a:t>&amp; / Y</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FFFFFF"/>
                    </a:solidFill>
                  </a:tcPr>
                </a:tc>
                <a:tc>
                  <a:txBody>
                    <a:bodyPr/>
                    <a:lstStyle/>
                    <a:p>
                      <a:r>
                        <a:rPr sz="1500" b="0">
                          <a:solidFill>
                            <a:srgbClr val="332F37"/>
                          </a:solidFill>
                          <a:latin typeface="Arial"/>
                        </a:rPr>
                        <a:t>Conjunción (ambas condiciones se cumplen)</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FFFFFF"/>
                    </a:solidFill>
                  </a:tcPr>
                </a:tc>
                <a:tc>
                  <a:txBody>
                    <a:bodyPr/>
                    <a:lstStyle/>
                    <a:p>
                      <a:r>
                        <a:rPr sz="1500" b="0">
                          <a:solidFill>
                            <a:srgbClr val="024791"/>
                          </a:solidFill>
                          <a:latin typeface="Courier New"/>
                        </a:rPr>
                        <a:t>(7 &gt; 4) &amp; (2 = 1) // da falso</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FFFFFF"/>
                    </a:solidFill>
                  </a:tcPr>
                </a:tc>
                <a:extLst>
                  <a:ext uri="{0D108BD9-81ED-4DB2-BD59-A6C34878D82A}">
                    <a16:rowId xmlns:a16="http://schemas.microsoft.com/office/drawing/2014/main" val="10001"/>
                  </a:ext>
                </a:extLst>
              </a:tr>
              <a:tr h="731520">
                <a:tc>
                  <a:txBody>
                    <a:bodyPr/>
                    <a:lstStyle/>
                    <a:p>
                      <a:r>
                        <a:rPr sz="1500" b="1">
                          <a:solidFill>
                            <a:srgbClr val="2A56C6"/>
                          </a:solidFill>
                          <a:latin typeface="Courier New"/>
                        </a:rPr>
                        <a:t>| / O</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F8F6FB"/>
                    </a:solidFill>
                  </a:tcPr>
                </a:tc>
                <a:tc>
                  <a:txBody>
                    <a:bodyPr/>
                    <a:lstStyle/>
                    <a:p>
                      <a:r>
                        <a:rPr sz="1500" b="0">
                          <a:solidFill>
                            <a:srgbClr val="332F37"/>
                          </a:solidFill>
                          <a:latin typeface="Arial"/>
                        </a:rPr>
                        <a:t>Disyunción (al menos una condición se cumple)</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F8F6FB"/>
                    </a:solidFill>
                  </a:tcPr>
                </a:tc>
                <a:tc>
                  <a:txBody>
                    <a:bodyPr/>
                    <a:lstStyle/>
                    <a:p>
                      <a:r>
                        <a:rPr sz="1500" b="0">
                          <a:solidFill>
                            <a:srgbClr val="024791"/>
                          </a:solidFill>
                          <a:latin typeface="Courier New"/>
                        </a:rPr>
                        <a:t>(7 &gt; 4) | (2 = 1) // da verdadero</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F8F6FB"/>
                    </a:solidFill>
                  </a:tcPr>
                </a:tc>
                <a:extLst>
                  <a:ext uri="{0D108BD9-81ED-4DB2-BD59-A6C34878D82A}">
                    <a16:rowId xmlns:a16="http://schemas.microsoft.com/office/drawing/2014/main" val="10002"/>
                  </a:ext>
                </a:extLst>
              </a:tr>
              <a:tr h="731520">
                <a:tc>
                  <a:txBody>
                    <a:bodyPr/>
                    <a:lstStyle/>
                    <a:p>
                      <a:r>
                        <a:rPr sz="1500" b="1">
                          <a:solidFill>
                            <a:srgbClr val="2A56C6"/>
                          </a:solidFill>
                          <a:latin typeface="Courier New"/>
                        </a:rPr>
                        <a:t>NO</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FFFFFF"/>
                    </a:solidFill>
                  </a:tcPr>
                </a:tc>
                <a:tc>
                  <a:txBody>
                    <a:bodyPr/>
                    <a:lstStyle/>
                    <a:p>
                      <a:r>
                        <a:rPr sz="1500" b="0">
                          <a:solidFill>
                            <a:srgbClr val="332F37"/>
                          </a:solidFill>
                          <a:latin typeface="Arial"/>
                        </a:rPr>
                        <a:t>Negación (invierte el valor actual)</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FFFFFF"/>
                    </a:solidFill>
                  </a:tcPr>
                </a:tc>
                <a:tc>
                  <a:txBody>
                    <a:bodyPr/>
                    <a:lstStyle/>
                    <a:p>
                      <a:r>
                        <a:rPr sz="1500" b="0">
                          <a:solidFill>
                            <a:srgbClr val="024791"/>
                          </a:solidFill>
                          <a:latin typeface="Courier New"/>
                        </a:rPr>
                        <a:t>no (2 &lt; 5) // da falso</a:t>
                      </a:r>
                    </a:p>
                  </a:txBody>
                  <a:tcPr marL="182880" anchor="ctr">
                    <a:lnL w="9525">
                      <a:solidFill>
                        <a:srgbClr val="E4E0EA"/>
                      </a:solidFill>
                    </a:lnL>
                    <a:lnR w="9525">
                      <a:solidFill>
                        <a:srgbClr val="E4E0EA"/>
                      </a:solidFill>
                    </a:lnR>
                    <a:lnT w="9525">
                      <a:solidFill>
                        <a:srgbClr val="E4E0EA"/>
                      </a:solidFill>
                    </a:lnT>
                    <a:lnB w="9525">
                      <a:solidFill>
                        <a:srgbClr val="E4E0EA"/>
                      </a:solidFill>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6214" y="856420"/>
            <a:ext cx="105833" cy="1270000"/>
          </a:xfrm>
          <a:prstGeom prst="rect">
            <a:avLst/>
          </a:prstGeom>
          <a:solidFill>
            <a:srgbClr val="664092"/>
          </a:solidFill>
          <a:ln>
            <a:noFill/>
          </a:ln>
          <a:effectLst/>
        </p:spPr>
        <p:txBody>
          <a:bodyPr rtlCol="0" anchor="ctr"/>
          <a:lstStyle/>
          <a:p>
            <a:pPr algn="ctr"/>
            <a:endParaRPr/>
          </a:p>
        </p:txBody>
      </p:sp>
      <p:sp>
        <p:nvSpPr>
          <p:cNvPr id="3" name="TextBox 2"/>
          <p:cNvSpPr txBox="1"/>
          <p:nvPr/>
        </p:nvSpPr>
        <p:spPr>
          <a:xfrm>
            <a:off x="1877256" y="856420"/>
            <a:ext cx="12000000" cy="317500"/>
          </a:xfrm>
          <a:prstGeom prst="rect">
            <a:avLst/>
          </a:prstGeom>
          <a:noFill/>
        </p:spPr>
        <p:txBody>
          <a:bodyPr wrap="square" lIns="0" tIns="0" rIns="0" bIns="0" anchor="t">
            <a:spAutoFit/>
          </a:bodyPr>
          <a:lstStyle/>
          <a:p>
            <a:pPr algn="l">
              <a:lnSpc>
                <a:spcPct val="100000"/>
              </a:lnSpc>
            </a:pPr>
            <a:r>
              <a:rPr sz="1460" b="1" i="0">
                <a:solidFill>
                  <a:srgbClr val="664092"/>
                </a:solidFill>
                <a:latin typeface="Arial"/>
              </a:rPr>
              <a:t>Espacio de práctica</a:t>
            </a:r>
          </a:p>
        </p:txBody>
      </p:sp>
      <p:sp>
        <p:nvSpPr>
          <p:cNvPr id="4" name="TextBox 3"/>
          <p:cNvSpPr txBox="1"/>
          <p:nvPr/>
        </p:nvSpPr>
        <p:spPr>
          <a:xfrm>
            <a:off x="1877256" y="1306212"/>
            <a:ext cx="15584188" cy="822960"/>
          </a:xfrm>
          <a:prstGeom prst="rect">
            <a:avLst/>
          </a:prstGeom>
          <a:noFill/>
        </p:spPr>
        <p:txBody>
          <a:bodyPr wrap="square" lIns="0" tIns="0" rIns="0" bIns="0" anchor="t">
            <a:spAutoFit/>
          </a:bodyPr>
          <a:lstStyle/>
          <a:p>
            <a:pPr algn="l">
              <a:lnSpc>
                <a:spcPct val="105000"/>
              </a:lnSpc>
            </a:pPr>
            <a:r>
              <a:rPr sz="3200" b="1" i="0">
                <a:solidFill>
                  <a:srgbClr val="3D2159"/>
                </a:solidFill>
                <a:latin typeface="Arial"/>
              </a:rPr>
              <a:t>Pongamos a prueba lo aprendido</a:t>
            </a:r>
          </a:p>
        </p:txBody>
      </p:sp>
      <p:pic>
        <p:nvPicPr>
          <p:cNvPr id="5" name="Picture 4">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877256" y="2240280"/>
            <a:ext cx="2218494" cy="179036"/>
          </a:xfrm>
          <a:prstGeom prst="rect">
            <a:avLst/>
          </a:prstGeom>
        </p:spPr>
      </p:pic>
      <p:sp>
        <p:nvSpPr>
          <p:cNvPr id="6" name="TextBox 5"/>
          <p:cNvSpPr txBox="1"/>
          <p:nvPr/>
        </p:nvSpPr>
        <p:spPr>
          <a:xfrm>
            <a:off x="2910427" y="8916458"/>
            <a:ext cx="12000000" cy="264583"/>
          </a:xfrm>
          <a:prstGeom prst="rect">
            <a:avLst/>
          </a:prstGeom>
          <a:noFill/>
        </p:spPr>
        <p:txBody>
          <a:bodyPr wrap="square" lIns="0" tIns="0" rIns="0" bIns="0" anchor="t">
            <a:spAutoFit/>
          </a:bodyPr>
          <a:lstStyle/>
          <a:p>
            <a:pPr algn="l">
              <a:lnSpc>
                <a:spcPct val="100000"/>
              </a:lnSpc>
            </a:pPr>
            <a:r>
              <a:rPr sz="1350" b="1" i="0">
                <a:solidFill>
                  <a:srgbClr val="756F79"/>
                </a:solidFill>
                <a:latin typeface="Arial"/>
              </a:rPr>
              <a:t>Operadores en programación · Estructuras de datos y algoritmos</a:t>
            </a:r>
          </a:p>
        </p:txBody>
      </p:sp>
      <p:sp>
        <p:nvSpPr>
          <p:cNvPr id="7" name="TextBox 6"/>
          <p:cNvSpPr txBox="1"/>
          <p:nvPr/>
        </p:nvSpPr>
        <p:spPr>
          <a:xfrm>
            <a:off x="1874519" y="2606040"/>
            <a:ext cx="15581376" cy="822960"/>
          </a:xfrm>
          <a:prstGeom prst="rect">
            <a:avLst/>
          </a:prstGeom>
          <a:noFill/>
        </p:spPr>
        <p:txBody>
          <a:bodyPr wrap="square" lIns="0" tIns="0" rIns="0" bIns="0" anchor="t">
            <a:spAutoFit/>
          </a:bodyPr>
          <a:lstStyle/>
          <a:p>
            <a:pPr algn="l">
              <a:lnSpc>
                <a:spcPct val="120000"/>
              </a:lnSpc>
            </a:pPr>
            <a:r>
              <a:rPr sz="1700" b="0" i="0">
                <a:solidFill>
                  <a:srgbClr val="332F37"/>
                </a:solidFill>
                <a:latin typeface="Arial"/>
              </a:rPr>
              <a:t>Evaluemos nuestros conocimientos conceptuales resolviendo los siguientes retos y criterios de análisis sobre los operadores vistos:</a:t>
            </a:r>
          </a:p>
        </p:txBody>
      </p:sp>
      <p:sp>
        <p:nvSpPr>
          <p:cNvPr id="8" name="Rounded Rectangle 7">
            <a:extLst>
              <a:ext uri="{C183D7F6-B498-43B3-948B-1728B52AA6E4}">
                <adec:decorative xmlns:adec="http://schemas.microsoft.com/office/drawing/2017/decorative" val="1"/>
              </a:ext>
            </a:extLst>
          </p:cNvPr>
          <p:cNvSpPr/>
          <p:nvPr/>
        </p:nvSpPr>
        <p:spPr>
          <a:xfrm>
            <a:off x="1874519" y="3426214"/>
            <a:ext cx="7607808" cy="4480560"/>
          </a:xfrm>
          <a:prstGeom prst="roundRect">
            <a:avLst>
              <a:gd name="adj" fmla="val 6000"/>
            </a:avLst>
          </a:prstGeom>
          <a:solidFill>
            <a:srgbClr val="F1EBF6"/>
          </a:solidFill>
          <a:ln>
            <a:noFill/>
          </a:ln>
          <a:effectLst/>
        </p:spPr>
        <p:txBody>
          <a:bodyPr rtlCol="0" anchor="ctr"/>
          <a:lstStyle/>
          <a:p>
            <a:pPr algn="ctr"/>
            <a:endParaRPr/>
          </a:p>
        </p:txBody>
      </p:sp>
      <p:sp>
        <p:nvSpPr>
          <p:cNvPr id="9" name="TextBox 8"/>
          <p:cNvSpPr txBox="1"/>
          <p:nvPr/>
        </p:nvSpPr>
        <p:spPr>
          <a:xfrm>
            <a:off x="2240279" y="3700534"/>
            <a:ext cx="6876288" cy="365760"/>
          </a:xfrm>
          <a:prstGeom prst="rect">
            <a:avLst/>
          </a:prstGeom>
          <a:noFill/>
        </p:spPr>
        <p:txBody>
          <a:bodyPr wrap="square" lIns="0" tIns="0" rIns="0" bIns="0" anchor="t">
            <a:spAutoFit/>
          </a:bodyPr>
          <a:lstStyle/>
          <a:p>
            <a:pPr algn="l">
              <a:lnSpc>
                <a:spcPct val="110000"/>
              </a:lnSpc>
            </a:pPr>
            <a:r>
              <a:rPr sz="1900" b="1" i="0">
                <a:solidFill>
                  <a:srgbClr val="664092"/>
                </a:solidFill>
                <a:latin typeface="Arial"/>
              </a:rPr>
              <a:t>Retos</a:t>
            </a:r>
          </a:p>
        </p:txBody>
      </p:sp>
      <p:sp>
        <p:nvSpPr>
          <p:cNvPr id="10" name="Rounded Rectangle 9">
            <a:extLst>
              <a:ext uri="{C183D7F6-B498-43B3-948B-1728B52AA6E4}">
                <adec:decorative xmlns:adec="http://schemas.microsoft.com/office/drawing/2017/decorative" val="1"/>
              </a:ext>
            </a:extLst>
          </p:cNvPr>
          <p:cNvSpPr/>
          <p:nvPr/>
        </p:nvSpPr>
        <p:spPr>
          <a:xfrm>
            <a:off x="2240279" y="4340614"/>
            <a:ext cx="6876288" cy="1234440"/>
          </a:xfrm>
          <a:prstGeom prst="roundRect">
            <a:avLst>
              <a:gd name="adj" fmla="val 10000"/>
            </a:avLst>
          </a:prstGeom>
          <a:solidFill>
            <a:srgbClr val="FFFFFF"/>
          </a:solidFill>
          <a:ln>
            <a:noFill/>
          </a:ln>
          <a:effectLst/>
        </p:spPr>
        <p:txBody>
          <a:bodyPr rtlCol="0" anchor="ctr"/>
          <a:lstStyle/>
          <a:p>
            <a:pPr algn="ctr"/>
            <a:endParaRPr/>
          </a:p>
        </p:txBody>
      </p:sp>
      <p:sp>
        <p:nvSpPr>
          <p:cNvPr id="11" name="Oval 10">
            <a:extLst>
              <a:ext uri="{C183D7F6-B498-43B3-948B-1728B52AA6E4}">
                <adec:decorative xmlns:adec="http://schemas.microsoft.com/office/drawing/2017/decorative" val="1"/>
              </a:ext>
            </a:extLst>
          </p:cNvPr>
          <p:cNvSpPr/>
          <p:nvPr/>
        </p:nvSpPr>
        <p:spPr>
          <a:xfrm>
            <a:off x="2423160" y="4706374"/>
            <a:ext cx="502920" cy="502920"/>
          </a:xfrm>
          <a:prstGeom prst="ellipse">
            <a:avLst/>
          </a:prstGeom>
          <a:solidFill>
            <a:srgbClr val="664092"/>
          </a:solidFill>
          <a:ln>
            <a:noFill/>
          </a:ln>
          <a:effectLst/>
        </p:spPr>
        <p:txBody>
          <a:bodyPr rtlCol="0" anchor="ctr"/>
          <a:lstStyle/>
          <a:p>
            <a:pPr algn="ctr"/>
            <a:endParaRPr/>
          </a:p>
        </p:txBody>
      </p:sp>
      <p:sp>
        <p:nvSpPr>
          <p:cNvPr id="12" name="TextBox 11"/>
          <p:cNvSpPr txBox="1"/>
          <p:nvPr/>
        </p:nvSpPr>
        <p:spPr>
          <a:xfrm>
            <a:off x="2423160" y="4706374"/>
            <a:ext cx="502920" cy="502920"/>
          </a:xfrm>
          <a:prstGeom prst="rect">
            <a:avLst/>
          </a:prstGeom>
          <a:noFill/>
        </p:spPr>
        <p:txBody>
          <a:bodyPr wrap="square" lIns="0" tIns="0" rIns="0" bIns="0" anchor="ctr">
            <a:spAutoFit/>
          </a:bodyPr>
          <a:lstStyle/>
          <a:p>
            <a:pPr algn="ctr">
              <a:lnSpc>
                <a:spcPct val="110000"/>
              </a:lnSpc>
            </a:pPr>
            <a:r>
              <a:rPr sz="1600" b="1" i="0">
                <a:solidFill>
                  <a:srgbClr val="FFFFFF"/>
                </a:solidFill>
                <a:latin typeface="Arial"/>
              </a:rPr>
              <a:t>1</a:t>
            </a:r>
          </a:p>
        </p:txBody>
      </p:sp>
      <p:sp>
        <p:nvSpPr>
          <p:cNvPr id="13" name="TextBox 12"/>
          <p:cNvSpPr txBox="1"/>
          <p:nvPr/>
        </p:nvSpPr>
        <p:spPr>
          <a:xfrm>
            <a:off x="3108960" y="4340614"/>
            <a:ext cx="5779008" cy="1234440"/>
          </a:xfrm>
          <a:prstGeom prst="rect">
            <a:avLst/>
          </a:prstGeom>
          <a:noFill/>
        </p:spPr>
        <p:txBody>
          <a:bodyPr wrap="square" lIns="0" tIns="0" rIns="0" bIns="0" anchor="ctr">
            <a:spAutoFit/>
          </a:bodyPr>
          <a:lstStyle/>
          <a:p>
            <a:pPr algn="l">
              <a:lnSpc>
                <a:spcPct val="110000"/>
              </a:lnSpc>
            </a:pPr>
            <a:r>
              <a:rPr sz="1600" b="1" i="0">
                <a:solidFill>
                  <a:srgbClr val="3D2159"/>
                </a:solidFill>
                <a:latin typeface="Arial"/>
              </a:rPr>
              <a:t>¿Cuál es el resultado de la expresión lógica: (5 &gt; 3) Y (10 &lt; 2)?</a:t>
            </a:r>
          </a:p>
        </p:txBody>
      </p:sp>
      <p:sp>
        <p:nvSpPr>
          <p:cNvPr id="14" name="Rounded Rectangle 13">
            <a:extLst>
              <a:ext uri="{C183D7F6-B498-43B3-948B-1728B52AA6E4}">
                <adec:decorative xmlns:adec="http://schemas.microsoft.com/office/drawing/2017/decorative" val="1"/>
              </a:ext>
            </a:extLst>
          </p:cNvPr>
          <p:cNvSpPr/>
          <p:nvPr/>
        </p:nvSpPr>
        <p:spPr>
          <a:xfrm>
            <a:off x="2240279" y="5803654"/>
            <a:ext cx="6876288" cy="1234440"/>
          </a:xfrm>
          <a:prstGeom prst="roundRect">
            <a:avLst>
              <a:gd name="adj" fmla="val 10000"/>
            </a:avLst>
          </a:prstGeom>
          <a:solidFill>
            <a:srgbClr val="FFFFFF"/>
          </a:solidFill>
          <a:ln>
            <a:noFill/>
          </a:ln>
          <a:effectLst/>
        </p:spPr>
        <p:txBody>
          <a:bodyPr rtlCol="0" anchor="ctr"/>
          <a:lstStyle/>
          <a:p>
            <a:pPr algn="ctr"/>
            <a:endParaRPr/>
          </a:p>
        </p:txBody>
      </p:sp>
      <p:sp>
        <p:nvSpPr>
          <p:cNvPr id="15" name="Oval 14">
            <a:extLst>
              <a:ext uri="{C183D7F6-B498-43B3-948B-1728B52AA6E4}">
                <adec:decorative xmlns:adec="http://schemas.microsoft.com/office/drawing/2017/decorative" val="1"/>
              </a:ext>
            </a:extLst>
          </p:cNvPr>
          <p:cNvSpPr/>
          <p:nvPr/>
        </p:nvSpPr>
        <p:spPr>
          <a:xfrm>
            <a:off x="2423160" y="6169414"/>
            <a:ext cx="502920" cy="502920"/>
          </a:xfrm>
          <a:prstGeom prst="ellipse">
            <a:avLst/>
          </a:prstGeom>
          <a:solidFill>
            <a:srgbClr val="664092"/>
          </a:solidFill>
          <a:ln>
            <a:noFill/>
          </a:ln>
          <a:effectLst/>
        </p:spPr>
        <p:txBody>
          <a:bodyPr rtlCol="0" anchor="ctr"/>
          <a:lstStyle/>
          <a:p>
            <a:pPr algn="ctr"/>
            <a:endParaRPr/>
          </a:p>
        </p:txBody>
      </p:sp>
      <p:sp>
        <p:nvSpPr>
          <p:cNvPr id="16" name="TextBox 15"/>
          <p:cNvSpPr txBox="1"/>
          <p:nvPr/>
        </p:nvSpPr>
        <p:spPr>
          <a:xfrm>
            <a:off x="2423160" y="6169414"/>
            <a:ext cx="502920" cy="502920"/>
          </a:xfrm>
          <a:prstGeom prst="rect">
            <a:avLst/>
          </a:prstGeom>
          <a:noFill/>
        </p:spPr>
        <p:txBody>
          <a:bodyPr wrap="square" lIns="0" tIns="0" rIns="0" bIns="0" anchor="ctr">
            <a:spAutoFit/>
          </a:bodyPr>
          <a:lstStyle/>
          <a:p>
            <a:pPr algn="ctr">
              <a:lnSpc>
                <a:spcPct val="110000"/>
              </a:lnSpc>
            </a:pPr>
            <a:r>
              <a:rPr sz="1600" b="1" i="0">
                <a:solidFill>
                  <a:srgbClr val="FFFFFF"/>
                </a:solidFill>
                <a:latin typeface="Arial"/>
              </a:rPr>
              <a:t>2</a:t>
            </a:r>
          </a:p>
        </p:txBody>
      </p:sp>
      <p:sp>
        <p:nvSpPr>
          <p:cNvPr id="17" name="TextBox 16"/>
          <p:cNvSpPr txBox="1"/>
          <p:nvPr/>
        </p:nvSpPr>
        <p:spPr>
          <a:xfrm>
            <a:off x="3108960" y="5803654"/>
            <a:ext cx="5779008" cy="1234440"/>
          </a:xfrm>
          <a:prstGeom prst="rect">
            <a:avLst/>
          </a:prstGeom>
          <a:noFill/>
        </p:spPr>
        <p:txBody>
          <a:bodyPr wrap="square" lIns="0" tIns="0" rIns="0" bIns="0" anchor="ctr">
            <a:spAutoFit/>
          </a:bodyPr>
          <a:lstStyle/>
          <a:p>
            <a:pPr algn="l">
              <a:lnSpc>
                <a:spcPct val="110000"/>
              </a:lnSpc>
            </a:pPr>
            <a:r>
              <a:rPr sz="1600" b="1" i="0">
                <a:solidFill>
                  <a:srgbClr val="3D2159"/>
                </a:solidFill>
                <a:latin typeface="Arial"/>
              </a:rPr>
              <a:t>Si a = 7 y b = 4, ¿qué devuelve la operación a MOD b?</a:t>
            </a:r>
          </a:p>
        </p:txBody>
      </p:sp>
      <p:sp>
        <p:nvSpPr>
          <p:cNvPr id="18" name="Rounded Rectangle 17">
            <a:extLst>
              <a:ext uri="{C183D7F6-B498-43B3-948B-1728B52AA6E4}">
                <adec:decorative xmlns:adec="http://schemas.microsoft.com/office/drawing/2017/decorative" val="1"/>
              </a:ext>
            </a:extLst>
          </p:cNvPr>
          <p:cNvSpPr/>
          <p:nvPr/>
        </p:nvSpPr>
        <p:spPr>
          <a:xfrm>
            <a:off x="9848088" y="3426214"/>
            <a:ext cx="7607808" cy="4480560"/>
          </a:xfrm>
          <a:prstGeom prst="roundRect">
            <a:avLst>
              <a:gd name="adj" fmla="val 6000"/>
            </a:avLst>
          </a:prstGeom>
          <a:solidFill>
            <a:srgbClr val="FFFFFF"/>
          </a:solidFill>
          <a:ln w="15875">
            <a:solidFill>
              <a:srgbClr val="DDD6E8"/>
            </a:solidFill>
          </a:ln>
          <a:effectLst/>
        </p:spPr>
        <p:txBody>
          <a:bodyPr rtlCol="0" anchor="ctr"/>
          <a:lstStyle/>
          <a:p>
            <a:pPr algn="ctr"/>
            <a:endParaRPr/>
          </a:p>
        </p:txBody>
      </p:sp>
      <p:sp>
        <p:nvSpPr>
          <p:cNvPr id="19" name="TextBox 18"/>
          <p:cNvSpPr txBox="1"/>
          <p:nvPr/>
        </p:nvSpPr>
        <p:spPr>
          <a:xfrm>
            <a:off x="10213848" y="3700534"/>
            <a:ext cx="6876288" cy="365760"/>
          </a:xfrm>
          <a:prstGeom prst="rect">
            <a:avLst/>
          </a:prstGeom>
          <a:noFill/>
        </p:spPr>
        <p:txBody>
          <a:bodyPr wrap="square" lIns="0" tIns="0" rIns="0" bIns="0" anchor="t">
            <a:spAutoFit/>
          </a:bodyPr>
          <a:lstStyle/>
          <a:p>
            <a:pPr algn="l">
              <a:lnSpc>
                <a:spcPct val="110000"/>
              </a:lnSpc>
            </a:pPr>
            <a:r>
              <a:rPr sz="1900" b="1" i="0">
                <a:solidFill>
                  <a:srgbClr val="024791"/>
                </a:solidFill>
                <a:latin typeface="Arial"/>
              </a:rPr>
              <a:t>Criterios</a:t>
            </a:r>
          </a:p>
        </p:txBody>
      </p:sp>
      <p:sp>
        <p:nvSpPr>
          <p:cNvPr id="20" name="Oval 19">
            <a:extLst>
              <a:ext uri="{C183D7F6-B498-43B3-948B-1728B52AA6E4}">
                <adec:decorative xmlns:adec="http://schemas.microsoft.com/office/drawing/2017/decorative" val="1"/>
              </a:ext>
            </a:extLst>
          </p:cNvPr>
          <p:cNvSpPr/>
          <p:nvPr/>
        </p:nvSpPr>
        <p:spPr>
          <a:xfrm>
            <a:off x="10213848" y="4432054"/>
            <a:ext cx="201168" cy="201168"/>
          </a:xfrm>
          <a:prstGeom prst="ellipse">
            <a:avLst/>
          </a:prstGeom>
          <a:solidFill>
            <a:srgbClr val="FFD900"/>
          </a:solidFill>
          <a:ln>
            <a:noFill/>
          </a:ln>
          <a:effectLst/>
        </p:spPr>
        <p:txBody>
          <a:bodyPr rtlCol="0" anchor="ctr"/>
          <a:lstStyle/>
          <a:p>
            <a:pPr algn="ctr"/>
            <a:endParaRPr/>
          </a:p>
        </p:txBody>
      </p:sp>
      <p:sp>
        <p:nvSpPr>
          <p:cNvPr id="21" name="TextBox 20"/>
          <p:cNvSpPr txBox="1"/>
          <p:nvPr/>
        </p:nvSpPr>
        <p:spPr>
          <a:xfrm>
            <a:off x="10579608" y="4340614"/>
            <a:ext cx="6510528" cy="1005840"/>
          </a:xfrm>
          <a:prstGeom prst="rect">
            <a:avLst/>
          </a:prstGeom>
          <a:noFill/>
        </p:spPr>
        <p:txBody>
          <a:bodyPr wrap="square" lIns="0" tIns="0" rIns="0" bIns="0" anchor="t">
            <a:spAutoFit/>
          </a:bodyPr>
          <a:lstStyle/>
          <a:p>
            <a:pPr algn="l">
              <a:lnSpc>
                <a:spcPct val="110000"/>
              </a:lnSpc>
            </a:pPr>
            <a:r>
              <a:rPr sz="1550" b="0" i="0">
                <a:solidFill>
                  <a:srgbClr val="332F37"/>
                </a:solidFill>
                <a:latin typeface="Arial"/>
              </a:rPr>
              <a:t>Identificar claramente el tipo de operador utilizado (aritmético, relacional o lógico).</a:t>
            </a:r>
          </a:p>
        </p:txBody>
      </p:sp>
      <p:sp>
        <p:nvSpPr>
          <p:cNvPr id="22" name="Oval 21">
            <a:extLst>
              <a:ext uri="{C183D7F6-B498-43B3-948B-1728B52AA6E4}">
                <adec:decorative xmlns:adec="http://schemas.microsoft.com/office/drawing/2017/decorative" val="1"/>
              </a:ext>
            </a:extLst>
          </p:cNvPr>
          <p:cNvSpPr/>
          <p:nvPr/>
        </p:nvSpPr>
        <p:spPr>
          <a:xfrm>
            <a:off x="10213848" y="5575054"/>
            <a:ext cx="201168" cy="201168"/>
          </a:xfrm>
          <a:prstGeom prst="ellipse">
            <a:avLst/>
          </a:prstGeom>
          <a:solidFill>
            <a:srgbClr val="FFD900"/>
          </a:solidFill>
          <a:ln>
            <a:noFill/>
          </a:ln>
          <a:effectLst/>
        </p:spPr>
        <p:txBody>
          <a:bodyPr rtlCol="0" anchor="ctr"/>
          <a:lstStyle/>
          <a:p>
            <a:pPr algn="ctr"/>
            <a:endParaRPr/>
          </a:p>
        </p:txBody>
      </p:sp>
      <p:sp>
        <p:nvSpPr>
          <p:cNvPr id="23" name="TextBox 22"/>
          <p:cNvSpPr txBox="1"/>
          <p:nvPr/>
        </p:nvSpPr>
        <p:spPr>
          <a:xfrm>
            <a:off x="10579608" y="5483614"/>
            <a:ext cx="6510528" cy="1005840"/>
          </a:xfrm>
          <a:prstGeom prst="rect">
            <a:avLst/>
          </a:prstGeom>
          <a:noFill/>
        </p:spPr>
        <p:txBody>
          <a:bodyPr wrap="square" lIns="0" tIns="0" rIns="0" bIns="0" anchor="t">
            <a:spAutoFit/>
          </a:bodyPr>
          <a:lstStyle/>
          <a:p>
            <a:pPr algn="l">
              <a:lnSpc>
                <a:spcPct val="110000"/>
              </a:lnSpc>
            </a:pPr>
            <a:r>
              <a:rPr sz="1550" b="0" i="0">
                <a:solidFill>
                  <a:srgbClr val="332F37"/>
                </a:solidFill>
                <a:latin typeface="Arial"/>
              </a:rPr>
              <a:t>Interpretar correctamente el dominio de datos sobre el cual operan las variables en memoria.</a:t>
            </a:r>
          </a:p>
        </p:txBody>
      </p:sp>
      <p:sp>
        <p:nvSpPr>
          <p:cNvPr id="24" name="Oval 23">
            <a:extLst>
              <a:ext uri="{C183D7F6-B498-43B3-948B-1728B52AA6E4}">
                <adec:decorative xmlns:adec="http://schemas.microsoft.com/office/drawing/2017/decorative" val="1"/>
              </a:ext>
            </a:extLst>
          </p:cNvPr>
          <p:cNvSpPr/>
          <p:nvPr/>
        </p:nvSpPr>
        <p:spPr>
          <a:xfrm>
            <a:off x="10213848" y="6718054"/>
            <a:ext cx="201168" cy="201168"/>
          </a:xfrm>
          <a:prstGeom prst="ellipse">
            <a:avLst/>
          </a:prstGeom>
          <a:solidFill>
            <a:srgbClr val="FFD900"/>
          </a:solidFill>
          <a:ln>
            <a:noFill/>
          </a:ln>
          <a:effectLst/>
        </p:spPr>
        <p:txBody>
          <a:bodyPr rtlCol="0" anchor="ctr"/>
          <a:lstStyle/>
          <a:p>
            <a:pPr algn="ctr"/>
            <a:endParaRPr/>
          </a:p>
        </p:txBody>
      </p:sp>
      <p:sp>
        <p:nvSpPr>
          <p:cNvPr id="25" name="TextBox 24"/>
          <p:cNvSpPr txBox="1"/>
          <p:nvPr/>
        </p:nvSpPr>
        <p:spPr>
          <a:xfrm>
            <a:off x="10579608" y="6626614"/>
            <a:ext cx="6510528" cy="1005840"/>
          </a:xfrm>
          <a:prstGeom prst="rect">
            <a:avLst/>
          </a:prstGeom>
          <a:noFill/>
        </p:spPr>
        <p:txBody>
          <a:bodyPr wrap="square" lIns="0" tIns="0" rIns="0" bIns="0" anchor="t">
            <a:spAutoFit/>
          </a:bodyPr>
          <a:lstStyle/>
          <a:p>
            <a:pPr algn="l">
              <a:lnSpc>
                <a:spcPct val="110000"/>
              </a:lnSpc>
            </a:pPr>
            <a:r>
              <a:rPr sz="1550" b="0" i="0">
                <a:solidFill>
                  <a:srgbClr val="332F37"/>
                </a:solidFill>
                <a:latin typeface="Arial"/>
              </a:rPr>
              <a:t>Comprender por qué el resultado siempre arroja un valor determinista (numérico o lógico).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6214" y="856420"/>
            <a:ext cx="105833" cy="1270000"/>
          </a:xfrm>
          <a:prstGeom prst="rect">
            <a:avLst/>
          </a:prstGeom>
          <a:solidFill>
            <a:srgbClr val="664092"/>
          </a:solidFill>
          <a:ln>
            <a:noFill/>
          </a:ln>
          <a:effectLst/>
        </p:spPr>
        <p:txBody>
          <a:bodyPr rtlCol="0" anchor="ctr"/>
          <a:lstStyle/>
          <a:p>
            <a:pPr algn="ctr"/>
            <a:endParaRPr/>
          </a:p>
        </p:txBody>
      </p:sp>
      <p:sp>
        <p:nvSpPr>
          <p:cNvPr id="3" name="TextBox 2"/>
          <p:cNvSpPr txBox="1"/>
          <p:nvPr/>
        </p:nvSpPr>
        <p:spPr>
          <a:xfrm>
            <a:off x="1877256" y="856420"/>
            <a:ext cx="12000000" cy="317500"/>
          </a:xfrm>
          <a:prstGeom prst="rect">
            <a:avLst/>
          </a:prstGeom>
          <a:noFill/>
        </p:spPr>
        <p:txBody>
          <a:bodyPr wrap="square" lIns="0" tIns="0" rIns="0" bIns="0" anchor="t">
            <a:spAutoFit/>
          </a:bodyPr>
          <a:lstStyle/>
          <a:p>
            <a:pPr algn="l">
              <a:lnSpc>
                <a:spcPct val="100000"/>
              </a:lnSpc>
            </a:pPr>
            <a:r>
              <a:rPr sz="1460" b="1" i="0">
                <a:solidFill>
                  <a:srgbClr val="664092"/>
                </a:solidFill>
                <a:latin typeface="Arial"/>
              </a:rPr>
              <a:t>Base conceptual y próximos pasos</a:t>
            </a:r>
          </a:p>
        </p:txBody>
      </p:sp>
      <p:sp>
        <p:nvSpPr>
          <p:cNvPr id="4" name="TextBox 3"/>
          <p:cNvSpPr txBox="1"/>
          <p:nvPr/>
        </p:nvSpPr>
        <p:spPr>
          <a:xfrm>
            <a:off x="1877256" y="1306212"/>
            <a:ext cx="15584188" cy="822960"/>
          </a:xfrm>
          <a:prstGeom prst="rect">
            <a:avLst/>
          </a:prstGeom>
          <a:noFill/>
        </p:spPr>
        <p:txBody>
          <a:bodyPr wrap="square" lIns="0" tIns="0" rIns="0" bIns="0" anchor="t">
            <a:spAutoFit/>
          </a:bodyPr>
          <a:lstStyle/>
          <a:p>
            <a:pPr algn="l">
              <a:lnSpc>
                <a:spcPct val="105000"/>
              </a:lnSpc>
            </a:pPr>
            <a:r>
              <a:rPr sz="3200" b="1" i="0">
                <a:solidFill>
                  <a:srgbClr val="3D2159"/>
                </a:solidFill>
                <a:latin typeface="Arial"/>
              </a:rPr>
              <a:t>¿Hasta dónde llegamos en esta unidad?</a:t>
            </a:r>
          </a:p>
        </p:txBody>
      </p:sp>
      <p:pic>
        <p:nvPicPr>
          <p:cNvPr id="5" name="Picture 4">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877256" y="2240280"/>
            <a:ext cx="2218494" cy="179036"/>
          </a:xfrm>
          <a:prstGeom prst="rect">
            <a:avLst/>
          </a:prstGeom>
        </p:spPr>
      </p:pic>
      <p:sp>
        <p:nvSpPr>
          <p:cNvPr id="6" name="TextBox 5"/>
          <p:cNvSpPr txBox="1"/>
          <p:nvPr/>
        </p:nvSpPr>
        <p:spPr>
          <a:xfrm>
            <a:off x="2910427" y="8916458"/>
            <a:ext cx="12000000" cy="264583"/>
          </a:xfrm>
          <a:prstGeom prst="rect">
            <a:avLst/>
          </a:prstGeom>
          <a:noFill/>
        </p:spPr>
        <p:txBody>
          <a:bodyPr wrap="square" lIns="0" tIns="0" rIns="0" bIns="0" anchor="t">
            <a:spAutoFit/>
          </a:bodyPr>
          <a:lstStyle/>
          <a:p>
            <a:pPr algn="l">
              <a:lnSpc>
                <a:spcPct val="100000"/>
              </a:lnSpc>
            </a:pPr>
            <a:r>
              <a:rPr sz="1350" b="1" i="0">
                <a:solidFill>
                  <a:srgbClr val="756F79"/>
                </a:solidFill>
                <a:latin typeface="Arial"/>
              </a:rPr>
              <a:t>Operadores en programación · Estructuras de datos y algoritmos</a:t>
            </a:r>
          </a:p>
        </p:txBody>
      </p:sp>
      <p:sp>
        <p:nvSpPr>
          <p:cNvPr id="7" name="TextBox 6"/>
          <p:cNvSpPr txBox="1"/>
          <p:nvPr/>
        </p:nvSpPr>
        <p:spPr>
          <a:xfrm>
            <a:off x="1874519" y="2606040"/>
            <a:ext cx="15581376" cy="822960"/>
          </a:xfrm>
          <a:prstGeom prst="rect">
            <a:avLst/>
          </a:prstGeom>
          <a:noFill/>
        </p:spPr>
        <p:txBody>
          <a:bodyPr wrap="square" lIns="0" tIns="0" rIns="0" bIns="0" anchor="t">
            <a:spAutoFit/>
          </a:bodyPr>
          <a:lstStyle/>
          <a:p>
            <a:pPr algn="l">
              <a:lnSpc>
                <a:spcPct val="120000"/>
              </a:lnSpc>
            </a:pPr>
            <a:r>
              <a:rPr sz="1700" b="0" i="0">
                <a:solidFill>
                  <a:srgbClr val="332F37"/>
                </a:solidFill>
                <a:latin typeface="Arial"/>
              </a:rPr>
              <a:t>En esta unidad, los operadores relacionales y lógicos se presentan estrictamente como base conceptual para reconocer su función.</a:t>
            </a:r>
          </a:p>
        </p:txBody>
      </p:sp>
      <p:sp>
        <p:nvSpPr>
          <p:cNvPr id="8" name="Rounded Rectangle 7">
            <a:extLst>
              <a:ext uri="{C183D7F6-B498-43B3-948B-1728B52AA6E4}">
                <adec:decorative xmlns:adec="http://schemas.microsoft.com/office/drawing/2017/decorative" val="1"/>
              </a:ext>
            </a:extLst>
          </p:cNvPr>
          <p:cNvSpPr/>
          <p:nvPr/>
        </p:nvSpPr>
        <p:spPr>
          <a:xfrm>
            <a:off x="1874519" y="3931920"/>
            <a:ext cx="15581376" cy="1463040"/>
          </a:xfrm>
          <a:prstGeom prst="roundRect">
            <a:avLst>
              <a:gd name="adj" fmla="val 10000"/>
            </a:avLst>
          </a:prstGeom>
          <a:solidFill>
            <a:srgbClr val="F1EBF6"/>
          </a:solidFill>
          <a:ln>
            <a:noFill/>
          </a:ln>
          <a:effectLst/>
        </p:spPr>
        <p:txBody>
          <a:bodyPr rtlCol="0" anchor="ctr"/>
          <a:lstStyle/>
          <a:p>
            <a:pPr algn="ctr"/>
            <a:endParaRPr/>
          </a:p>
        </p:txBody>
      </p:sp>
      <p:sp>
        <p:nvSpPr>
          <p:cNvPr id="9" name="Rectangle 8">
            <a:extLst>
              <a:ext uri="{C183D7F6-B498-43B3-948B-1728B52AA6E4}">
                <adec:decorative xmlns:adec="http://schemas.microsoft.com/office/drawing/2017/decorative" val="1"/>
              </a:ext>
            </a:extLst>
          </p:cNvPr>
          <p:cNvSpPr/>
          <p:nvPr/>
        </p:nvSpPr>
        <p:spPr>
          <a:xfrm>
            <a:off x="1874519" y="3931920"/>
            <a:ext cx="109728" cy="1463040"/>
          </a:xfrm>
          <a:prstGeom prst="rect">
            <a:avLst/>
          </a:prstGeom>
          <a:solidFill>
            <a:srgbClr val="664092"/>
          </a:solidFill>
          <a:ln>
            <a:noFill/>
          </a:ln>
          <a:effectLst/>
        </p:spPr>
        <p:txBody>
          <a:bodyPr rtlCol="0" anchor="ctr"/>
          <a:lstStyle/>
          <a:p>
            <a:pPr algn="ctr"/>
            <a:endParaRPr/>
          </a:p>
        </p:txBody>
      </p:sp>
      <p:sp>
        <p:nvSpPr>
          <p:cNvPr id="10" name="Oval 9">
            <a:extLst>
              <a:ext uri="{C183D7F6-B498-43B3-948B-1728B52AA6E4}">
                <adec:decorative xmlns:adec="http://schemas.microsoft.com/office/drawing/2017/decorative" val="1"/>
              </a:ext>
            </a:extLst>
          </p:cNvPr>
          <p:cNvSpPr/>
          <p:nvPr/>
        </p:nvSpPr>
        <p:spPr>
          <a:xfrm>
            <a:off x="2286000" y="4343400"/>
            <a:ext cx="640080" cy="640080"/>
          </a:xfrm>
          <a:prstGeom prst="ellipse">
            <a:avLst/>
          </a:prstGeom>
          <a:solidFill>
            <a:srgbClr val="FFD900"/>
          </a:solidFill>
          <a:ln>
            <a:noFill/>
          </a:ln>
          <a:effectLst/>
        </p:spPr>
        <p:txBody>
          <a:bodyPr rtlCol="0" anchor="ctr"/>
          <a:lstStyle/>
          <a:p>
            <a:pPr algn="ctr"/>
            <a:endParaRPr/>
          </a:p>
        </p:txBody>
      </p:sp>
      <p:pic>
        <p:nvPicPr>
          <p:cNvPr id="11" name="Picture 10">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423160" y="4480559"/>
            <a:ext cx="365760" cy="365760"/>
          </a:xfrm>
          <a:prstGeom prst="rect">
            <a:avLst/>
          </a:prstGeom>
        </p:spPr>
      </p:pic>
      <p:sp>
        <p:nvSpPr>
          <p:cNvPr id="12" name="TextBox 11"/>
          <p:cNvSpPr txBox="1"/>
          <p:nvPr/>
        </p:nvSpPr>
        <p:spPr>
          <a:xfrm>
            <a:off x="3200400" y="3931920"/>
            <a:ext cx="13935455" cy="1463040"/>
          </a:xfrm>
          <a:prstGeom prst="rect">
            <a:avLst/>
          </a:prstGeom>
          <a:noFill/>
        </p:spPr>
        <p:txBody>
          <a:bodyPr wrap="square" lIns="0" tIns="0" rIns="0" bIns="0" anchor="ctr">
            <a:spAutoFit/>
          </a:bodyPr>
          <a:lstStyle/>
          <a:p>
            <a:pPr algn="l">
              <a:lnSpc>
                <a:spcPct val="110000"/>
              </a:lnSpc>
            </a:pPr>
            <a:r>
              <a:rPr sz="1700" b="1" i="0">
                <a:solidFill>
                  <a:srgbClr val="3D2159"/>
                </a:solidFill>
                <a:latin typeface="Arial"/>
              </a:rPr>
              <a:t>Aún no construiremos estructuras condicionales con ellos; las decisiones automáticas (como evaluar si una tarea está pendiente para mostrar una alerta) se desarrollarán formalmente en la Unidad 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586214" y="856420"/>
            <a:ext cx="105833" cy="1270000"/>
          </a:xfrm>
          <a:prstGeom prst="rect">
            <a:avLst/>
          </a:prstGeom>
          <a:solidFill>
            <a:srgbClr val="664092"/>
          </a:solidFill>
          <a:ln>
            <a:noFill/>
          </a:ln>
          <a:effectLst/>
        </p:spPr>
        <p:txBody>
          <a:bodyPr rtlCol="0" anchor="ctr"/>
          <a:lstStyle/>
          <a:p>
            <a:pPr algn="ctr"/>
            <a:endParaRPr/>
          </a:p>
        </p:txBody>
      </p:sp>
      <p:sp>
        <p:nvSpPr>
          <p:cNvPr id="3" name="TextBox 2"/>
          <p:cNvSpPr txBox="1"/>
          <p:nvPr/>
        </p:nvSpPr>
        <p:spPr>
          <a:xfrm>
            <a:off x="1877256" y="856420"/>
            <a:ext cx="12000000" cy="317500"/>
          </a:xfrm>
          <a:prstGeom prst="rect">
            <a:avLst/>
          </a:prstGeom>
          <a:noFill/>
        </p:spPr>
        <p:txBody>
          <a:bodyPr wrap="square" lIns="0" tIns="0" rIns="0" bIns="0" anchor="t">
            <a:spAutoFit/>
          </a:bodyPr>
          <a:lstStyle/>
          <a:p>
            <a:pPr algn="l">
              <a:lnSpc>
                <a:spcPct val="100000"/>
              </a:lnSpc>
            </a:pPr>
            <a:r>
              <a:rPr sz="1460" b="1" i="0">
                <a:solidFill>
                  <a:srgbClr val="664092"/>
                </a:solidFill>
                <a:latin typeface="Arial"/>
              </a:rPr>
              <a:t>CRÉDITOS · OPERADORES EN PROGRAMACIÓN</a:t>
            </a:r>
          </a:p>
        </p:txBody>
      </p:sp>
      <p:sp>
        <p:nvSpPr>
          <p:cNvPr id="4" name="TextBox 3"/>
          <p:cNvSpPr txBox="1"/>
          <p:nvPr/>
        </p:nvSpPr>
        <p:spPr>
          <a:xfrm>
            <a:off x="1877256" y="1306212"/>
            <a:ext cx="15584188" cy="822960"/>
          </a:xfrm>
          <a:prstGeom prst="rect">
            <a:avLst/>
          </a:prstGeom>
          <a:noFill/>
        </p:spPr>
        <p:txBody>
          <a:bodyPr wrap="square" lIns="0" tIns="0" rIns="0" bIns="0" anchor="t">
            <a:spAutoFit/>
          </a:bodyPr>
          <a:lstStyle/>
          <a:p>
            <a:pPr algn="l">
              <a:lnSpc>
                <a:spcPct val="105000"/>
              </a:lnSpc>
            </a:pPr>
            <a:r>
              <a:rPr sz="3200" b="1" i="0">
                <a:solidFill>
                  <a:srgbClr val="3D2159"/>
                </a:solidFill>
                <a:latin typeface="Arial"/>
              </a:rPr>
              <a:t>Créditos de producción y postproducción</a:t>
            </a:r>
          </a:p>
        </p:txBody>
      </p:sp>
      <p:pic>
        <p:nvPicPr>
          <p:cNvPr id="5" name="Picture 4" descr="image.png"/>
          <p:cNvPicPr>
            <a:picLocks noChangeAspect="1"/>
          </p:cNvPicPr>
          <p:nvPr/>
        </p:nvPicPr>
        <p:blipFill>
          <a:blip r:embed="rId2"/>
          <a:stretch>
            <a:fillRect/>
          </a:stretch>
        </p:blipFill>
        <p:spPr>
          <a:xfrm>
            <a:off x="1877256" y="2240280"/>
            <a:ext cx="2218494" cy="179036"/>
          </a:xfrm>
          <a:prstGeom prst="rect">
            <a:avLst/>
          </a:prstGeom>
        </p:spPr>
      </p:pic>
      <p:sp>
        <p:nvSpPr>
          <p:cNvPr id="6" name="TextBox 5"/>
          <p:cNvSpPr txBox="1"/>
          <p:nvPr/>
        </p:nvSpPr>
        <p:spPr>
          <a:xfrm>
            <a:off x="2910427" y="8916458"/>
            <a:ext cx="12000000" cy="264583"/>
          </a:xfrm>
          <a:prstGeom prst="rect">
            <a:avLst/>
          </a:prstGeom>
          <a:noFill/>
        </p:spPr>
        <p:txBody>
          <a:bodyPr wrap="square" lIns="0" tIns="0" rIns="0" bIns="0" anchor="t">
            <a:spAutoFit/>
          </a:bodyPr>
          <a:lstStyle/>
          <a:p>
            <a:pPr algn="l">
              <a:lnSpc>
                <a:spcPct val="100000"/>
              </a:lnSpc>
            </a:pPr>
            <a:r>
              <a:rPr sz="1350" b="1" i="0">
                <a:solidFill>
                  <a:srgbClr val="756F79"/>
                </a:solidFill>
                <a:latin typeface="Arial"/>
              </a:rPr>
              <a:t>Operadores en programación · Estructuras de datos y algoritmos</a:t>
            </a:r>
          </a:p>
        </p:txBody>
      </p:sp>
      <p:sp>
        <p:nvSpPr>
          <p:cNvPr id="171" name="Google Shape;171;h208d67e2cfb85eb7_0_0"/>
          <p:cNvSpPr/>
          <p:nvPr/>
        </p:nvSpPr>
        <p:spPr>
          <a:xfrm>
            <a:off x="1874519" y="2697480"/>
            <a:ext cx="7630800" cy="914400"/>
          </a:xfrm>
          <a:prstGeom prst="roundRect">
            <a:avLst>
              <a:gd fmla="val 12000" name="adj"/>
            </a:avLst>
          </a:prstGeom>
          <a:solidFill>
            <a:srgbClr val="F5F3FA"/>
          </a:solidFill>
          <a:ln cap="flat" cmpd="sng" w="12700">
            <a:solidFill>
              <a:srgbClr val="D8D2D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2" name="Google Shape;172;h208d67e2cfb85eb7_0_0"/>
          <p:cNvSpPr/>
          <p:nvPr/>
        </p:nvSpPr>
        <p:spPr>
          <a:xfrm>
            <a:off x="1874519" y="2697480"/>
            <a:ext cx="91500" cy="914400"/>
          </a:xfrm>
          <a:prstGeom prst="rect">
            <a:avLst/>
          </a:prstGeom>
          <a:solidFill>
            <a:srgbClr val="66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3" name="Google Shape;173;h208d67e2cfb85eb7_0_0"/>
          <p:cNvSpPr txBox="1"/>
          <p:nvPr/>
        </p:nvSpPr>
        <p:spPr>
          <a:xfrm>
            <a:off x="2194560" y="2788920"/>
            <a:ext cx="7082100" cy="200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MX" sz="1300" u="none" cap="none" strike="noStrike">
                <a:solidFill>
                  <a:srgbClr val="664092"/>
                </a:solidFill>
                <a:latin typeface="Arial"/>
                <a:ea typeface="Arial"/>
                <a:cs typeface="Arial"/>
                <a:sym typeface="Arial"/>
              </a:rPr>
              <a:t>Coordinación general</a:t>
            </a:r>
            <a:endParaRPr/>
          </a:p>
        </p:txBody>
      </p:sp>
      <p:sp>
        <p:nvSpPr>
          <p:cNvPr id="174" name="Google Shape;174;h208d67e2cfb85eb7_0_0"/>
          <p:cNvSpPr txBox="1"/>
          <p:nvPr/>
        </p:nvSpPr>
        <p:spPr>
          <a:xfrm>
            <a:off x="2194560" y="3154680"/>
            <a:ext cx="7082100" cy="246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MX" sz="1600" u="none" cap="none" strike="noStrike">
                <a:solidFill>
                  <a:srgbClr val="3D2159"/>
                </a:solidFill>
                <a:latin typeface="Arial"/>
                <a:ea typeface="Arial"/>
                <a:cs typeface="Arial"/>
                <a:sym typeface="Arial"/>
              </a:rPr>
              <a:t>Luz Dary Morales Galvis</a:t>
            </a:r>
            <a:endParaRPr/>
          </a:p>
        </p:txBody>
      </p:sp>
      <p:sp>
        <p:nvSpPr>
          <p:cNvPr id="175" name="Google Shape;175;h208d67e2cfb85eb7_0_0"/>
          <p:cNvSpPr/>
          <p:nvPr/>
        </p:nvSpPr>
        <p:spPr>
          <a:xfrm>
            <a:off x="9825227" y="2697480"/>
            <a:ext cx="7630800" cy="914400"/>
          </a:xfrm>
          <a:prstGeom prst="roundRect">
            <a:avLst>
              <a:gd fmla="val 12000" name="adj"/>
            </a:avLst>
          </a:prstGeom>
          <a:solidFill>
            <a:srgbClr val="F5F3FA"/>
          </a:solidFill>
          <a:ln cap="flat" cmpd="sng" w="12700">
            <a:solidFill>
              <a:srgbClr val="D8D2D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6" name="Google Shape;176;h208d67e2cfb85eb7_0_0"/>
          <p:cNvSpPr/>
          <p:nvPr/>
        </p:nvSpPr>
        <p:spPr>
          <a:xfrm>
            <a:off x="9825227" y="2697480"/>
            <a:ext cx="91500" cy="914400"/>
          </a:xfrm>
          <a:prstGeom prst="rect">
            <a:avLst/>
          </a:prstGeom>
          <a:solidFill>
            <a:srgbClr val="A7198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7" name="Google Shape;177;h208d67e2cfb85eb7_0_0"/>
          <p:cNvSpPr txBox="1"/>
          <p:nvPr/>
        </p:nvSpPr>
        <p:spPr>
          <a:xfrm>
            <a:off x="10145267" y="2788920"/>
            <a:ext cx="7082100" cy="200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MX" sz="1300" u="none" cap="none" strike="noStrike">
                <a:solidFill>
                  <a:srgbClr val="A71989"/>
                </a:solidFill>
                <a:latin typeface="Arial"/>
                <a:ea typeface="Arial"/>
                <a:cs typeface="Arial"/>
                <a:sym typeface="Arial"/>
              </a:rPr>
              <a:t>Experto temático</a:t>
            </a:r>
            <a:endParaRPr/>
          </a:p>
        </p:txBody>
      </p:sp>
      <p:sp>
        <p:nvSpPr>
          <p:cNvPr id="178" name="Google Shape;178;h208d67e2cfb85eb7_0_0"/>
          <p:cNvSpPr txBox="1"/>
          <p:nvPr/>
        </p:nvSpPr>
        <p:spPr>
          <a:xfrm>
            <a:off x="10145267" y="3154680"/>
            <a:ext cx="7082100" cy="246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MX" sz="1600" u="none" cap="none" strike="noStrike">
                <a:solidFill>
                  <a:srgbClr val="3D2159"/>
                </a:solidFill>
                <a:latin typeface="Arial"/>
                <a:ea typeface="Arial"/>
                <a:cs typeface="Arial"/>
                <a:sym typeface="Arial"/>
              </a:rPr>
              <a:t>Érika Andrea Sánchez Salazar</a:t>
            </a:r>
            <a:endParaRPr/>
          </a:p>
        </p:txBody>
      </p:sp>
      <p:sp>
        <p:nvSpPr>
          <p:cNvPr id="179" name="Google Shape;179;h208d67e2cfb85eb7_0_0"/>
          <p:cNvSpPr/>
          <p:nvPr/>
        </p:nvSpPr>
        <p:spPr>
          <a:xfrm>
            <a:off x="1874519" y="3776472"/>
            <a:ext cx="7630800" cy="914400"/>
          </a:xfrm>
          <a:prstGeom prst="roundRect">
            <a:avLst>
              <a:gd fmla="val 12000" name="adj"/>
            </a:avLst>
          </a:prstGeom>
          <a:solidFill>
            <a:srgbClr val="F5F3FA"/>
          </a:solidFill>
          <a:ln cap="flat" cmpd="sng" w="12700">
            <a:solidFill>
              <a:srgbClr val="D8D2D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0" name="Google Shape;180;h208d67e2cfb85eb7_0_0"/>
          <p:cNvSpPr/>
          <p:nvPr/>
        </p:nvSpPr>
        <p:spPr>
          <a:xfrm>
            <a:off x="1874519" y="3776472"/>
            <a:ext cx="91500" cy="914400"/>
          </a:xfrm>
          <a:prstGeom prst="rect">
            <a:avLst/>
          </a:prstGeom>
          <a:solidFill>
            <a:srgbClr val="2A56C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1" name="Google Shape;181;h208d67e2cfb85eb7_0_0"/>
          <p:cNvSpPr txBox="1"/>
          <p:nvPr/>
        </p:nvSpPr>
        <p:spPr>
          <a:xfrm>
            <a:off x="2194560" y="3867911"/>
            <a:ext cx="7082100" cy="200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MX" sz="1300" u="none" cap="none" strike="noStrike">
                <a:solidFill>
                  <a:srgbClr val="2A56C6"/>
                </a:solidFill>
                <a:latin typeface="Arial"/>
                <a:ea typeface="Arial"/>
                <a:cs typeface="Arial"/>
                <a:sym typeface="Arial"/>
              </a:rPr>
              <a:t>Diseñador de la experiencia virtual de aprendizaje</a:t>
            </a:r>
            <a:endParaRPr/>
          </a:p>
        </p:txBody>
      </p:sp>
      <p:sp>
        <p:nvSpPr>
          <p:cNvPr id="182" name="Google Shape;182;h208d67e2cfb85eb7_0_0"/>
          <p:cNvSpPr txBox="1"/>
          <p:nvPr/>
        </p:nvSpPr>
        <p:spPr>
          <a:xfrm>
            <a:off x="2194560" y="4233672"/>
            <a:ext cx="7082100" cy="246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MX" sz="1600" u="none" cap="none" strike="noStrike">
                <a:solidFill>
                  <a:srgbClr val="3D2159"/>
                </a:solidFill>
                <a:latin typeface="Arial"/>
                <a:ea typeface="Arial"/>
                <a:cs typeface="Arial"/>
                <a:sym typeface="Arial"/>
              </a:rPr>
              <a:t>Stevenson Rodas Gómez</a:t>
            </a:r>
            <a:endParaRPr/>
          </a:p>
        </p:txBody>
      </p:sp>
      <p:sp>
        <p:nvSpPr>
          <p:cNvPr id="183" name="Google Shape;183;h208d67e2cfb85eb7_0_0"/>
          <p:cNvSpPr/>
          <p:nvPr/>
        </p:nvSpPr>
        <p:spPr>
          <a:xfrm>
            <a:off x="9825227" y="3776472"/>
            <a:ext cx="7630800" cy="914400"/>
          </a:xfrm>
          <a:prstGeom prst="roundRect">
            <a:avLst>
              <a:gd fmla="val 12000" name="adj"/>
            </a:avLst>
          </a:prstGeom>
          <a:solidFill>
            <a:srgbClr val="F5F3FA"/>
          </a:solidFill>
          <a:ln cap="flat" cmpd="sng" w="12700">
            <a:solidFill>
              <a:srgbClr val="D8D2D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4" name="Google Shape;184;h208d67e2cfb85eb7_0_0"/>
          <p:cNvSpPr/>
          <p:nvPr/>
        </p:nvSpPr>
        <p:spPr>
          <a:xfrm>
            <a:off x="9825227" y="3776472"/>
            <a:ext cx="91500" cy="914400"/>
          </a:xfrm>
          <a:prstGeom prst="rect">
            <a:avLst/>
          </a:prstGeom>
          <a:solidFill>
            <a:srgbClr val="3D21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5" name="Google Shape;185;h208d67e2cfb85eb7_0_0"/>
          <p:cNvSpPr txBox="1"/>
          <p:nvPr/>
        </p:nvSpPr>
        <p:spPr>
          <a:xfrm>
            <a:off x="10145267" y="3867911"/>
            <a:ext cx="7082100" cy="200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MX" sz="1300" u="none" cap="none" strike="noStrike">
                <a:solidFill>
                  <a:srgbClr val="3D2159"/>
                </a:solidFill>
                <a:latin typeface="Arial"/>
                <a:ea typeface="Arial"/>
                <a:cs typeface="Arial"/>
                <a:sym typeface="Arial"/>
              </a:rPr>
              <a:t>Corrección de estilo</a:t>
            </a:r>
            <a:endParaRPr/>
          </a:p>
        </p:txBody>
      </p:sp>
      <p:sp>
        <p:nvSpPr>
          <p:cNvPr id="186" name="Google Shape;186;h208d67e2cfb85eb7_0_0"/>
          <p:cNvSpPr txBox="1"/>
          <p:nvPr/>
        </p:nvSpPr>
        <p:spPr>
          <a:xfrm>
            <a:off x="10145267" y="4233672"/>
            <a:ext cx="7082100" cy="246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MX" sz="1600" u="none" cap="none" strike="noStrike">
                <a:solidFill>
                  <a:srgbClr val="3D2159"/>
                </a:solidFill>
                <a:latin typeface="Arial"/>
                <a:ea typeface="Arial"/>
                <a:cs typeface="Arial"/>
                <a:sym typeface="Arial"/>
              </a:rPr>
              <a:t>Sergio Andrés Ocampo Rivera</a:t>
            </a:r>
            <a:endParaRPr/>
          </a:p>
        </p:txBody>
      </p:sp>
      <p:sp>
        <p:nvSpPr>
          <p:cNvPr id="187" name="Google Shape;187;h208d67e2cfb85eb7_0_0"/>
          <p:cNvSpPr/>
          <p:nvPr/>
        </p:nvSpPr>
        <p:spPr>
          <a:xfrm>
            <a:off x="1874519" y="4855464"/>
            <a:ext cx="7630800" cy="914400"/>
          </a:xfrm>
          <a:prstGeom prst="roundRect">
            <a:avLst>
              <a:gd fmla="val 12000" name="adj"/>
            </a:avLst>
          </a:prstGeom>
          <a:solidFill>
            <a:srgbClr val="F5F3FA"/>
          </a:solidFill>
          <a:ln cap="flat" cmpd="sng" w="12700">
            <a:solidFill>
              <a:srgbClr val="D8D2D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8" name="Google Shape;188;h208d67e2cfb85eb7_0_0"/>
          <p:cNvSpPr/>
          <p:nvPr/>
        </p:nvSpPr>
        <p:spPr>
          <a:xfrm>
            <a:off x="1874519" y="4855464"/>
            <a:ext cx="91500" cy="914400"/>
          </a:xfrm>
          <a:prstGeom prst="rect">
            <a:avLst/>
          </a:prstGeom>
          <a:solidFill>
            <a:srgbClr val="6640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9" name="Google Shape;189;h208d67e2cfb85eb7_0_0"/>
          <p:cNvSpPr txBox="1"/>
          <p:nvPr/>
        </p:nvSpPr>
        <p:spPr>
          <a:xfrm>
            <a:off x="2194560" y="4946904"/>
            <a:ext cx="7082100" cy="200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MX" sz="1300" u="none" cap="none" strike="noStrike">
                <a:solidFill>
                  <a:srgbClr val="664092"/>
                </a:solidFill>
                <a:latin typeface="Arial"/>
                <a:ea typeface="Arial"/>
                <a:cs typeface="Arial"/>
                <a:sym typeface="Arial"/>
              </a:rPr>
              <a:t>Validación pedagógica</a:t>
            </a:r>
            <a:endParaRPr/>
          </a:p>
        </p:txBody>
      </p:sp>
      <p:sp>
        <p:nvSpPr>
          <p:cNvPr id="190" name="Google Shape;190;h208d67e2cfb85eb7_0_0"/>
          <p:cNvSpPr txBox="1"/>
          <p:nvPr/>
        </p:nvSpPr>
        <p:spPr>
          <a:xfrm>
            <a:off x="2194560" y="5312664"/>
            <a:ext cx="7082100" cy="246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MX" sz="1600" u="none" cap="none" strike="noStrike">
                <a:solidFill>
                  <a:srgbClr val="3D2159"/>
                </a:solidFill>
                <a:latin typeface="Arial"/>
                <a:ea typeface="Arial"/>
                <a:cs typeface="Arial"/>
                <a:sym typeface="Arial"/>
              </a:rPr>
              <a:t>Sandra Patricia Hoyos Sepúlveda</a:t>
            </a:r>
            <a:endParaRPr/>
          </a:p>
        </p:txBody>
      </p:sp>
      <p:sp>
        <p:nvSpPr>
          <p:cNvPr id="191" name="Google Shape;191;h208d67e2cfb85eb7_0_0"/>
          <p:cNvSpPr/>
          <p:nvPr/>
        </p:nvSpPr>
        <p:spPr>
          <a:xfrm>
            <a:off x="9825227" y="4855464"/>
            <a:ext cx="7630800" cy="914400"/>
          </a:xfrm>
          <a:prstGeom prst="roundRect">
            <a:avLst>
              <a:gd fmla="val 12000" name="adj"/>
            </a:avLst>
          </a:prstGeom>
          <a:solidFill>
            <a:srgbClr val="F5F3FA"/>
          </a:solidFill>
          <a:ln cap="flat" cmpd="sng" w="12700">
            <a:solidFill>
              <a:srgbClr val="D8D2D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2" name="Google Shape;192;h208d67e2cfb85eb7_0_0"/>
          <p:cNvSpPr/>
          <p:nvPr/>
        </p:nvSpPr>
        <p:spPr>
          <a:xfrm>
            <a:off x="9825227" y="4855464"/>
            <a:ext cx="91500" cy="914400"/>
          </a:xfrm>
          <a:prstGeom prst="rect">
            <a:avLst/>
          </a:prstGeom>
          <a:solidFill>
            <a:srgbClr val="A7198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3" name="Google Shape;193;h208d67e2cfb85eb7_0_0"/>
          <p:cNvSpPr txBox="1"/>
          <p:nvPr/>
        </p:nvSpPr>
        <p:spPr>
          <a:xfrm>
            <a:off x="10145267" y="4946904"/>
            <a:ext cx="7082100" cy="200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MX" sz="1300" u="none" cap="none" strike="noStrike">
                <a:solidFill>
                  <a:srgbClr val="A71989"/>
                </a:solidFill>
                <a:latin typeface="Arial"/>
                <a:ea typeface="Arial"/>
                <a:cs typeface="Arial"/>
                <a:sym typeface="Arial"/>
              </a:rPr>
              <a:t>Diseño gráfico</a:t>
            </a:r>
            <a:endParaRPr/>
          </a:p>
        </p:txBody>
      </p:sp>
      <p:sp>
        <p:nvSpPr>
          <p:cNvPr id="194" name="Google Shape;194;h208d67e2cfb85eb7_0_0"/>
          <p:cNvSpPr txBox="1"/>
          <p:nvPr/>
        </p:nvSpPr>
        <p:spPr>
          <a:xfrm>
            <a:off x="10145267" y="5312664"/>
            <a:ext cx="7082100" cy="246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MX" sz="1600" u="none" cap="none" strike="noStrike">
                <a:solidFill>
                  <a:srgbClr val="3D2159"/>
                </a:solidFill>
                <a:latin typeface="Arial"/>
                <a:ea typeface="Arial"/>
                <a:cs typeface="Arial"/>
                <a:sym typeface="Arial"/>
              </a:rPr>
              <a:t>Andrea Valentina Roa Orozco</a:t>
            </a:r>
            <a:endParaRPr/>
          </a:p>
        </p:txBody>
      </p:sp>
      <p:sp>
        <p:nvSpPr>
          <p:cNvPr id="195" name="Google Shape;195;h208d67e2cfb85eb7_0_0"/>
          <p:cNvSpPr/>
          <p:nvPr/>
        </p:nvSpPr>
        <p:spPr>
          <a:xfrm>
            <a:off x="1874519" y="5934456"/>
            <a:ext cx="7630800" cy="914400"/>
          </a:xfrm>
          <a:prstGeom prst="roundRect">
            <a:avLst>
              <a:gd fmla="val 12000" name="adj"/>
            </a:avLst>
          </a:prstGeom>
          <a:solidFill>
            <a:srgbClr val="F5F3FA"/>
          </a:solidFill>
          <a:ln cap="flat" cmpd="sng" w="12700">
            <a:solidFill>
              <a:srgbClr val="D8D2D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6" name="Google Shape;196;h208d67e2cfb85eb7_0_0"/>
          <p:cNvSpPr/>
          <p:nvPr/>
        </p:nvSpPr>
        <p:spPr>
          <a:xfrm>
            <a:off x="1874519" y="5934456"/>
            <a:ext cx="91500" cy="914400"/>
          </a:xfrm>
          <a:prstGeom prst="rect">
            <a:avLst/>
          </a:prstGeom>
          <a:solidFill>
            <a:srgbClr val="2A56C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7" name="Google Shape;197;h208d67e2cfb85eb7_0_0"/>
          <p:cNvSpPr txBox="1"/>
          <p:nvPr/>
        </p:nvSpPr>
        <p:spPr>
          <a:xfrm>
            <a:off x="2194560" y="6025896"/>
            <a:ext cx="7082100" cy="200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MX" sz="1300" u="none" cap="none" strike="noStrike">
                <a:solidFill>
                  <a:srgbClr val="2A56C6"/>
                </a:solidFill>
                <a:latin typeface="Arial"/>
                <a:ea typeface="Arial"/>
                <a:cs typeface="Arial"/>
                <a:sym typeface="Arial"/>
              </a:rPr>
              <a:t>Desarrollo </a:t>
            </a:r>
            <a:r>
              <a:rPr b="1" lang="es-MX" sz="1300">
                <a:solidFill>
                  <a:srgbClr val="2A56C6"/>
                </a:solidFill>
              </a:rPr>
              <a:t>d</a:t>
            </a:r>
            <a:r>
              <a:rPr b="1" i="0" lang="es-MX" sz="1300" u="none" cap="none" strike="noStrike">
                <a:solidFill>
                  <a:srgbClr val="2A56C6"/>
                </a:solidFill>
                <a:latin typeface="Arial"/>
                <a:ea typeface="Arial"/>
                <a:cs typeface="Arial"/>
                <a:sym typeface="Arial"/>
              </a:rPr>
              <a:t>e interactivos</a:t>
            </a:r>
            <a:endParaRPr/>
          </a:p>
        </p:txBody>
      </p:sp>
      <p:sp>
        <p:nvSpPr>
          <p:cNvPr id="198" name="Google Shape;198;h208d67e2cfb85eb7_0_0"/>
          <p:cNvSpPr txBox="1"/>
          <p:nvPr/>
        </p:nvSpPr>
        <p:spPr>
          <a:xfrm>
            <a:off x="2194560" y="6391656"/>
            <a:ext cx="7082100" cy="246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MX" sz="1600" u="none" cap="none" strike="noStrike">
                <a:solidFill>
                  <a:srgbClr val="3D2159"/>
                </a:solidFill>
                <a:latin typeface="Arial"/>
                <a:ea typeface="Arial"/>
                <a:cs typeface="Arial"/>
                <a:sym typeface="Arial"/>
              </a:rPr>
              <a:t>Paola Andrea Quintero Aguilar</a:t>
            </a:r>
            <a:endParaRPr/>
          </a:p>
        </p:txBody>
      </p:sp>
      <p:sp>
        <p:nvSpPr>
          <p:cNvPr id="199" name="Google Shape;199;h208d67e2cfb85eb7_0_0"/>
          <p:cNvSpPr/>
          <p:nvPr/>
        </p:nvSpPr>
        <p:spPr>
          <a:xfrm>
            <a:off x="9825227" y="5934456"/>
            <a:ext cx="7630800" cy="914400"/>
          </a:xfrm>
          <a:prstGeom prst="roundRect">
            <a:avLst>
              <a:gd fmla="val 12000" name="adj"/>
            </a:avLst>
          </a:prstGeom>
          <a:solidFill>
            <a:srgbClr val="F5F3FA"/>
          </a:solidFill>
          <a:ln cap="flat" cmpd="sng" w="12700">
            <a:solidFill>
              <a:srgbClr val="D8D2D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0" name="Google Shape;200;h208d67e2cfb85eb7_0_0"/>
          <p:cNvSpPr/>
          <p:nvPr/>
        </p:nvSpPr>
        <p:spPr>
          <a:xfrm>
            <a:off x="9825227" y="5934456"/>
            <a:ext cx="91500" cy="914400"/>
          </a:xfrm>
          <a:prstGeom prst="rect">
            <a:avLst/>
          </a:prstGeom>
          <a:solidFill>
            <a:srgbClr val="3D215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1" name="Google Shape;201;h208d67e2cfb85eb7_0_0"/>
          <p:cNvSpPr txBox="1"/>
          <p:nvPr/>
        </p:nvSpPr>
        <p:spPr>
          <a:xfrm>
            <a:off x="10145267" y="6025896"/>
            <a:ext cx="7082100" cy="200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s-MX" sz="1300" u="none" cap="none" strike="noStrike">
                <a:solidFill>
                  <a:srgbClr val="3D2159"/>
                </a:solidFill>
                <a:latin typeface="Arial"/>
                <a:ea typeface="Arial"/>
                <a:cs typeface="Arial"/>
                <a:sym typeface="Arial"/>
              </a:rPr>
              <a:t>Disposición y ensamble</a:t>
            </a:r>
            <a:endParaRPr/>
          </a:p>
        </p:txBody>
      </p:sp>
      <p:sp>
        <p:nvSpPr>
          <p:cNvPr id="202" name="Google Shape;202;h208d67e2cfb85eb7_0_0"/>
          <p:cNvSpPr txBox="1"/>
          <p:nvPr/>
        </p:nvSpPr>
        <p:spPr>
          <a:xfrm>
            <a:off x="10145267" y="6391656"/>
            <a:ext cx="7082100" cy="246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s-MX" sz="1600" u="none" cap="none" strike="noStrike">
                <a:solidFill>
                  <a:srgbClr val="3D2159"/>
                </a:solidFill>
                <a:latin typeface="Arial"/>
                <a:ea typeface="Arial"/>
                <a:cs typeface="Arial"/>
                <a:sym typeface="Arial"/>
              </a:rPr>
              <a:t>Samayda Herrera Betancur</a:t>
            </a:r>
            <a:endParaRPr/>
          </a:p>
        </p:txBody>
      </p:sp>
      <p:sp>
        <p:nvSpPr>
          <p:cNvPr id="203" name="Google Shape;203;h208d67e2cfb85eb7_0_0"/>
          <p:cNvSpPr txBox="1"/>
          <p:nvPr/>
        </p:nvSpPr>
        <p:spPr>
          <a:xfrm>
            <a:off x="1874519" y="7059168"/>
            <a:ext cx="15581400" cy="184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1" lang="es-MX" sz="1200" u="none" cap="none" strike="noStrike">
                <a:solidFill>
                  <a:srgbClr val="6B6570"/>
                </a:solidFill>
                <a:latin typeface="Arial"/>
                <a:ea typeface="Arial"/>
                <a:cs typeface="Arial"/>
                <a:sym typeface="Arial"/>
              </a:rPr>
              <a:t>Proyecto C.I. 278 de 2026 · @Medellín — SAPIENCIA · Última actualización: octubre de 2026</a:t>
            </a:r>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TotalTime>
  <Words>592</Words>
  <Application>Microsoft Office PowerPoint</Application>
  <PresentationFormat>Personalizado</PresentationFormat>
  <Paragraphs>92</Paragraphs>
  <Slides>7</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7</vt:i4>
      </vt:variant>
    </vt:vector>
  </HeadingPairs>
  <TitlesOfParts>
    <vt:vector size="11" baseType="lpstr">
      <vt:lpstr>Arial</vt:lpstr>
      <vt:lpstr>Calibri</vt:lpstr>
      <vt:lpstr>Courier New</vt:lpstr>
      <vt:lpstr>ChatGPT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Walnut Exporter</dc:creator>
  <cp:lastModifiedBy>Valentina Orozco</cp:lastModifiedBy>
  <cp:revision>6</cp:revision>
  <dcterms:created xsi:type="dcterms:W3CDTF">2026-08-27T19:14:18Z</dcterms:created>
  <dcterms:modified xsi:type="dcterms:W3CDTF">2026-09-29T06:35:58Z</dcterms:modified>
</cp:coreProperties>
</file>