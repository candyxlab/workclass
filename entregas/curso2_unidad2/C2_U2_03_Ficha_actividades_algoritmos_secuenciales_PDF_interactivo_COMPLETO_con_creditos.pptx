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5" r:id="rId4"/>
    <p:sldId id="264" r:id="rId5"/>
    <p:sldId id="263" r:id="rId6"/>
    <p:sldId id="262" r:id="rId7"/>
    <p:sldId id="261" r:id="rId8"/>
    <p:sldId id="266" r:id="rId11"/>
  </p:sldIdLst>
  <p:sldSz cx="7562850" cy="106965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o0ZwlubTpy9GDc98BO9twiCAr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306A95-C54D-4C8E-BF64-4230B31BDBE8}">
  <a:tblStyle styleId="{71306A95-C54D-4C8E-BF64-4230B31BDB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1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ed19985fffdbe1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h6ed19985fffdbe1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slide" Target="slide1.xml"/><Relationship Id="rId5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6.xml"/><Relationship Id="rId4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ed19985fffdbe18_0_4"/>
          <p:cNvSpPr txBox="1"/>
          <p:nvPr/>
        </p:nvSpPr>
        <p:spPr>
          <a:xfrm>
            <a:off x="1399800" y="1550000"/>
            <a:ext cx="3694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600" b="1" i="0" u="none" strike="noStrike" cap="none">
                <a:solidFill>
                  <a:srgbClr val="A4C7D1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300" b="0" i="0" u="none" strike="noStrike" cap="none">
              <a:solidFill>
                <a:srgbClr val="A4C7D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6ed19985fffdbe18_0_4"/>
          <p:cNvSpPr txBox="1"/>
          <p:nvPr/>
        </p:nvSpPr>
        <p:spPr>
          <a:xfrm>
            <a:off x="1399800" y="200345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Ficha de actividades con IA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600" b="1">
                <a:solidFill>
                  <a:srgbClr val="2F6FED"/>
                </a:solidFill>
                <a:latin typeface="Arial"/>
              </a:rPr>
              <a:t>Algoritmos secuenciales</a:t>
            </a:r>
          </a:p>
        </p:txBody>
      </p:sp>
      <p:sp>
        <p:nvSpPr>
          <p:cNvPr id="86" name="Google Shape;86;h6ed19985fffdbe18_0_4"/>
          <p:cNvSpPr txBox="1"/>
          <p:nvPr/>
        </p:nvSpPr>
        <p:spPr>
          <a:xfrm>
            <a:off x="1399800" y="3618925"/>
            <a:ext cx="5189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Entre el tablero y la programación secuencial — Diseñemos una ruta posible de aprendizaje para nuestro asistente digital.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h6ed19985fffdbe18_0_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9799" y="3310128"/>
            <a:ext cx="1528409" cy="1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I. Contexto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Contexto y planteamiento del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03120"/>
            <a:ext cx="1249275" cy="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TextBox 121"/>
          <p:cNvSpPr txBox="1"/>
          <p:nvPr/>
        </p:nvSpPr>
        <p:spPr>
          <a:xfrm>
            <a:off x="612648" y="2514600"/>
            <a:ext cx="63459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El asistente digital de tareas y recordatorios ya fue analizado en la Unidad 1 como una secuencia básica de pasos. Sin embargo, para que esa solución pueda construirse de forma real en PSeInt y conectarse más adelante con lenguajes de programación del mundo laboral, necesita manejar información de manera mucho más precisa.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2648" y="3822191"/>
            <a:ext cx="63459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El reto de esta unidad consiste en construir una versión básica y estable del asistente que permita registrar una tarea y mostrar sus datos principales de forma organizada, evitando errores comunes como usar variables sin definir, cambiar nombres de variables, confundir tipos de datos o intentar operar datos incompatibles.</a:t>
            </a:r>
          </a:p>
        </p:txBody>
      </p:sp>
      <p:sp>
        <p:nvSpPr>
          <p:cNvPr id="124" name="Rounded Rectangle 1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5129783"/>
            <a:ext cx="6345936" cy="210312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5129783"/>
            <a:ext cx="45720" cy="21031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77240" y="5239512"/>
            <a:ext cx="5980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II. Secuencia autogestionable para resolver el laboratorio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14984" y="5586983"/>
            <a:ext cx="5705856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Para superar este desafío de programación, implementaremos una ruta de trabajo autónomo dividida en tres pasos metodológicos estrictos. Utilicemos los siguientes espacios interactivos para documentar nuestro proceso: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Paso 1. Diagnóstico, filtro histórico y mapeo conceptual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Paso 2. Cocreación y optimización con inteligencia artificial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Paso 3. El sello 4RI y análisis del filtro humano</a:t>
            </a:r>
          </a:p>
        </p:txBody>
      </p:sp>
      <p:sp>
        <p:nvSpPr>
          <p:cNvPr id="128" name="Botón Anterior sombra">
            <a:hlinkClick r:id="rId4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Botón Anterior">
            <a:hlinkClick r:id="rId4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30" name="Botón Siguiente sombra">
            <a:hlinkClick r:id="rId5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Botón Siguiente">
            <a:hlinkClick r:id="rId5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Paso 1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Diagnóstico, filtro histórico y mapeo conceptual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468879"/>
            <a:ext cx="1249275" cy="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Rounded Rectangle 1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2880359"/>
            <a:ext cx="6345936" cy="1883664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2880359"/>
            <a:ext cx="45720" cy="18836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77240" y="2990087"/>
            <a:ext cx="5980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Instrucción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4984" y="3337559"/>
            <a:ext cx="5705856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Revisemos el caso del asistente de la Unidad 1 e identifiquemos los datos necesarios para registrar una tarea. Propongamos nombres claros para nuestras variables, definamos su tipo de dato nativo en PSeInt y relacionémoslo con los tipos estándar de los lenguajes de programación (enteros, decimales, caracteres, booleanos y strings). Organicemos conceptualmente nuestra solución en entrada, proceso y salida.</a:t>
            </a:r>
          </a:p>
        </p:txBody>
      </p:sp>
      <p:sp>
        <p:nvSpPr>
          <p:cNvPr id="126" name="Rounded Rectangle 1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4992623"/>
            <a:ext cx="6345936" cy="45537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B748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5129783"/>
            <a:ext cx="256032" cy="256032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9808" y="51297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3D2159"/>
                </a:solidFill>
                <a:latin typeface="Arial"/>
              </a:rPr>
              <a:t>★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06424" y="5138927"/>
            <a:ext cx="5705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Preguntas orientadoras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6424" y="5468110"/>
            <a:ext cx="566013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¿Qué datos necesita registrar el asistente? ¿Qué nombre adecuado e informativo daremos a cada variable? ¿Qué información entra al algoritmo y qué salida organizada debe mostrar?</a:t>
            </a:r>
          </a:p>
        </p:txBody>
      </p:sp>
      <p:sp>
        <p:nvSpPr>
          <p:cNvPr id="131" name="Rounded Rectangle 1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6309358"/>
            <a:ext cx="6071616" cy="3008377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68680" y="6400798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Escribe aquí...</a:t>
            </a:r>
          </a:p>
        </p:txBody>
      </p:sp>
      <p:sp>
        <p:nvSpPr>
          <p:cNvPr id="133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35" name="Botón Siguiente sombra">
            <a:hlinkClick r:id="rId4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Botón Siguiente">
            <a:hlinkClick r:id="rId4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Paso 2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Cocreación y optimización con inteligencia artificial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468879"/>
            <a:ext cx="1249275" cy="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TextBox 121"/>
          <p:cNvSpPr txBox="1"/>
          <p:nvPr/>
        </p:nvSpPr>
        <p:spPr>
          <a:xfrm>
            <a:off x="612648" y="2880359"/>
            <a:ext cx="6345936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32F37"/>
                </a:solidFill>
                <a:latin typeface="Arial"/>
              </a:rPr>
              <a:t>Abramos el entorno PSeInt, escribamos nuestro pseudocódigo secuencial completo, ejecutémoslo para revisar errores y generemos su diagrama de flujo. Una vez que nuestro código funcione, ingresemos a la herramienta de IA generativa de nuestra preferencia (ChatGPT, Claude, Copilot o Gemini) e interactuemos con ella ingresando exactamente el siguiente comando para buscar mejoras:</a:t>
            </a:r>
          </a:p>
        </p:txBody>
      </p:sp>
      <p:sp>
        <p:nvSpPr>
          <p:cNvPr id="123" name="Rounded 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4140326"/>
            <a:ext cx="6345936" cy="1773936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4140326"/>
            <a:ext cx="45720" cy="177393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77240" y="4250054"/>
            <a:ext cx="5980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Prompt a utilizar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4" y="4597526"/>
            <a:ext cx="5705856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2F37"/>
                </a:solidFill>
                <a:latin typeface="Arial"/>
              </a:rPr>
              <a:t>"Actúa como alguien experto en ingeniería de software y fundamentos de programación. He construido un algoritmo secuencial básico en PSeInt para un asistente de tareas y quiero que revises la claridad de mi código. Analiza si los nombres de mis variables son óptimos o si presentan ambigüedades, y sugiéreme mejoras en la estructura de entrada, proceso y salida sin cambiar la lógica secuencial ni añadir funciones avanzadas."</a:t>
            </a:r>
          </a:p>
        </p:txBody>
      </p:sp>
      <p:sp>
        <p:nvSpPr>
          <p:cNvPr id="127" name="Rounded Rectangle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6142862"/>
            <a:ext cx="6345936" cy="34583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B748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6280022"/>
            <a:ext cx="256032" cy="256032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49808" y="628002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3D2159"/>
                </a:solidFill>
                <a:latin typeface="Arial"/>
              </a:rPr>
              <a:t>★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6424" y="6289166"/>
            <a:ext cx="5705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Bitácora de cocreación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" y="6618349"/>
            <a:ext cx="5660136" cy="438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Peguemos aquí la bitácora de cocreación (el prompt enviado y la respuesta inicial entregada por la IA).</a:t>
            </a:r>
          </a:p>
        </p:txBody>
      </p:sp>
      <p:sp>
        <p:nvSpPr>
          <p:cNvPr id="132" name="Rounded Rectangle 1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7240141"/>
            <a:ext cx="6071616" cy="2132458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68680" y="7331581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Escribe aquí...</a:t>
            </a:r>
          </a:p>
        </p:txBody>
      </p:sp>
      <p:sp>
        <p:nvSpPr>
          <p:cNvPr id="134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36" name="Botón Siguiente sombra">
            <a:hlinkClick r:id="rId4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Botón Siguiente">
            <a:hlinkClick r:id="rId4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Paso 3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 sello 4RI y análisis del filtro humano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468879"/>
            <a:ext cx="1249275" cy="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Rounded Rectangle 1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2880359"/>
            <a:ext cx="6345936" cy="1444751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2880359"/>
            <a:ext cx="45720" cy="1444751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77240" y="2990087"/>
            <a:ext cx="5980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Instrucción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4984" y="3337559"/>
            <a:ext cx="5705856" cy="94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Revisemos detalladamente la propuesta que te entregó la IA. No la aceptaremos de forma automática ni copiaremos una solución que no comprendamos. Escribamos una reflexión crítica de 80 a 120 palabras evaluando la viabilidad técnica de su respuesta y consolidando nuestros ajustes finales.</a:t>
            </a:r>
          </a:p>
        </p:txBody>
      </p:sp>
      <p:sp>
        <p:nvSpPr>
          <p:cNvPr id="126" name="Rounded Rectangle 1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4553711"/>
            <a:ext cx="6345936" cy="49926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B748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4690871"/>
            <a:ext cx="256032" cy="256032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9808" y="469087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3D2159"/>
                </a:solidFill>
                <a:latin typeface="Arial"/>
              </a:rPr>
              <a:t>★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06424" y="4700015"/>
            <a:ext cx="5705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3D2159"/>
                </a:solidFill>
                <a:latin typeface="Arial"/>
              </a:rPr>
              <a:t>Preguntas orientadoras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6424" y="5029199"/>
            <a:ext cx="566013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¿Qué ideas de la IA son realmente útiles y cuáles son poco realistas para PSeInt? Expliquemos brevemente qué guarda cada variable final y por qué el tipo elegido es el adecuado.</a:t>
            </a:r>
          </a:p>
        </p:txBody>
      </p:sp>
      <p:sp>
        <p:nvSpPr>
          <p:cNvPr id="131" name="Rounded Rectangle 1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5870447"/>
            <a:ext cx="6071616" cy="3447288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68680" y="5961886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Escribe aquí...</a:t>
            </a:r>
          </a:p>
        </p:txBody>
      </p:sp>
      <p:sp>
        <p:nvSpPr>
          <p:cNvPr id="133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35" name="Botón Siguiente sombra">
            <a:hlinkClick r:id="rId4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Botón Siguiente">
            <a:hlinkClick r:id="rId4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III. Producto esperado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Producto esperado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103120"/>
            <a:ext cx="1249275" cy="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TextBox 121"/>
          <p:cNvSpPr txBox="1"/>
          <p:nvPr/>
        </p:nvSpPr>
        <p:spPr>
          <a:xfrm>
            <a:off x="612648" y="2514600"/>
            <a:ext cx="63459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El documento final adjunto debería tener la siguiente forma, tal cual está organizada a continuación. Así que, cuando tomemos el reto, asegurémonos de seguir esta estructura:</a:t>
            </a:r>
          </a:p>
        </p:txBody>
      </p:sp>
      <p:sp>
        <p:nvSpPr>
          <p:cNvPr id="123" name="Rounded 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3364991"/>
            <a:ext cx="6345936" cy="73152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529584"/>
            <a:ext cx="402336" cy="402336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77240" y="352958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44168" y="3364991"/>
            <a:ext cx="54315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Pseudocódigo secuencial definitivo con definición estricta de variables y tipos de datos.</a:t>
            </a:r>
          </a:p>
        </p:txBody>
      </p:sp>
      <p:sp>
        <p:nvSpPr>
          <p:cNvPr id="127" name="Rounded Rectangle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4233672"/>
            <a:ext cx="6345936" cy="73152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398264"/>
            <a:ext cx="402336" cy="402336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77240" y="43982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44168" y="4233672"/>
            <a:ext cx="54315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Diagrama de flujo generado en PSeInt o representado gráficamente.</a:t>
            </a:r>
          </a:p>
        </p:txBody>
      </p:sp>
      <p:sp>
        <p:nvSpPr>
          <p:cNvPr id="131" name="Rounded Rectangle 1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5102352"/>
            <a:ext cx="6345936" cy="96012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381244"/>
            <a:ext cx="402336" cy="402336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77240" y="53812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44168" y="5102352"/>
            <a:ext cx="54315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2F37"/>
                </a:solidFill>
                <a:latin typeface="Arial"/>
              </a:rPr>
              <a:t>El bloque del «Filtro humano» (80-120 palabras) explicando la relación de las variables con los tipos comunes en lenguajes de programación (int, float, char, bool, string).</a:t>
            </a:r>
          </a:p>
        </p:txBody>
      </p:sp>
      <p:sp>
        <p:nvSpPr>
          <p:cNvPr id="135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37" name="Botón Siguiente sombra">
            <a:hlinkClick r:id="rId4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Botón Siguiente">
            <a:hlinkClick r:id="rId4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IV. Cierre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Nuestro siguiente gran salto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103120"/>
            <a:ext cx="1249275" cy="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TextBox 121"/>
          <p:cNvSpPr txBox="1"/>
          <p:nvPr/>
        </p:nvSpPr>
        <p:spPr>
          <a:xfrm>
            <a:off x="612648" y="2514600"/>
            <a:ext cx="6345936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32F37"/>
                </a:solidFill>
                <a:latin typeface="Arial"/>
              </a:rPr>
              <a:t>¡Felicidades por completar este laboratorio práctico! Al afrontar este reto, hemos demostrado que la programación también consiste en desarrollar la agilidad mental para estructurar, organizar y validar la información que transforma nuestro entorno digital.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2648" y="3555492"/>
            <a:ext cx="6345936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32F37"/>
                </a:solidFill>
                <a:latin typeface="Arial"/>
              </a:rPr>
              <a:t>Diseñar este asistente digital, definir sus habitaciones de memoria y aplicar un filtro humano crítico sobre las sugerencias de la inteligencia artificial nos saca del grupo de quienes copian a ciegas y nos posiciona como creadores conscientes de tecnología. Recuerda que cada error de sintaxis corregido en PSeInt y cada diagrama de flujo analizado son pequeños bloques de construcción hacia nuestro perfil como talento de la industria.</a:t>
            </a:r>
          </a:p>
        </p:txBody>
      </p:sp>
      <p:sp>
        <p:nvSpPr>
          <p:cNvPr id="124" name="Rounded Rectangle 1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5034534"/>
            <a:ext cx="6345936" cy="8686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" y="5034534"/>
            <a:ext cx="45720" cy="8686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86968" y="5034534"/>
            <a:ext cx="57972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1">
                <a:solidFill>
                  <a:srgbClr val="3D2159"/>
                </a:solidFill>
                <a:latin typeface="Arial"/>
              </a:rPr>
              <a:t>«El software no transforma el mundo por las instrucciones que ejecuta, sino por el criterio humano de quien lo diseña».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2648" y="6131814"/>
            <a:ext cx="6345936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32F37"/>
                </a:solidFill>
                <a:latin typeface="Arial"/>
              </a:rPr>
              <a:t>Mantengamos encendido nuestro entorno de desarrollo, sigamos experimentando con nuevas variables y preparémonos para la Unidad 3, donde nuestro asistente digital cobrará verdadera autonomía al aprender a tomar sus primeras decisiones automáticas.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2648" y="6953631"/>
            <a:ext cx="6345936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6FED"/>
                </a:solidFill>
                <a:latin typeface="Arial"/>
              </a:rPr>
              <a:t>¡El viaje hacia el desarrollo de software profesional apenas comienza!</a:t>
            </a:r>
          </a:p>
        </p:txBody>
      </p:sp>
      <p:sp>
        <p:nvSpPr>
          <p:cNvPr id="129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37" name="Botón Siguiente sombra">
            <a:hlinkClick action="ppaction://hlinksldjump" r:id="rId4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Botón Siguiente">
            <a:hlinkClick action="ppaction://hlinksldjump" r:id="rId4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3"/>
          <p:cNvSpPr txBox="1"/>
          <p:nvPr/>
        </p:nvSpPr>
        <p:spPr>
          <a:xfrm>
            <a:off x="609600" y="850000"/>
            <a:ext cx="6344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09600" y="1180000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FED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2F6F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" y="1603971"/>
            <a:ext cx="634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3120"/>
            <a:ext cx="1249275" cy="114025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609600" y="2617145"/>
          <a:ext cx="6344400" cy="4620000"/>
        </p:xfrm>
        <a:graphic>
          <a:graphicData uri="http://schemas.openxmlformats.org/drawingml/2006/table">
            <a:tbl>
              <a:tblPr/>
              <a:tblGrid>
                <a:gridCol w="2918424"/>
                <a:gridCol w="3425976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Proyecto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@Medellín — SAPIENCIA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Tipo de recurso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PDF interactivo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Coordinación general: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Luz Dary Morales Galvis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Experto temático: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Érika Andrea Sánchez Salazar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Diseñador de la experiencia virtual de aprendizaje: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Stevenson Rodas Gómez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Corrección de estilo: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Sergio Andrés Ocampo Rivera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Validación pedagógica: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Sandra Patricia Hoyos Sepúlveda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Diseño gráfico: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Andrea Valentina Roa Orozco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Desarrollo de interactivos: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Paola Andrea Quintero Aguilar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Disposición y ensamble: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Samayda Herrera Betancur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Última actualización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Octubre de 2026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129" name="Botón Anterior sombra">
            <a:hlinkClick action="ppaction://hlinksldjump" r:id="rId3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Botón Anterior">
            <a:hlinkClick action="ppaction://hlinksldjump" r:id="rId3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Microsoft Office PowerPoint</Application>
  <PresentationFormat>Personalizado</PresentationFormat>
  <Paragraphs>71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Valentina Orozco</cp:lastModifiedBy>
  <cp:revision>1</cp:revision>
  <dcterms:created xsi:type="dcterms:W3CDTF">2013-01-27T09:14:16Z</dcterms:created>
  <dcterms:modified xsi:type="dcterms:W3CDTF">2026-09-29T07:08:54Z</dcterms:modified>
</cp:coreProperties>
</file>