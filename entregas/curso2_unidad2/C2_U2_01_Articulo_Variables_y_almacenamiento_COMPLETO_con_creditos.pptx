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75" r:id="rId5"/>
    <p:sldId id="274" r:id="rId6"/>
    <p:sldId id="273" r:id="rId7"/>
    <p:sldId id="272" r:id="rId8"/>
    <p:sldId id="271" r:id="rId9"/>
    <p:sldId id="270" r:id="rId10"/>
    <p:sldId id="269" r:id="rId11"/>
    <p:sldId id="266" r:id="rId12"/>
  </p:sldIdLst>
  <p:sldSz cx="6858000" cy="9906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genMjU0+fRZwN/NuzqUJuhg6qy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DFEC95-054E-49BE-8BDD-6741B6522B9B}">
  <a:tblStyle styleId="{A6DFEC95-054E-49BE-8BDD-6741B6522B9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894" y="13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20" Type="http://customschemas.google.com/relationships/presentationmetadata" Target="meta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1963" y="0"/>
            <a:ext cx="2076450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1963" y="0"/>
            <a:ext cx="2076450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1963" y="0"/>
            <a:ext cx="2076450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61963" y="0"/>
            <a:ext cx="2076450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descr="Ilustración de un hotel con sistemas digitales que representa la memoria del computador"/>
          <p:cNvPicPr preferRelativeResize="0"/>
          <p:nvPr/>
        </p:nvPicPr>
        <p:blipFill rotWithShape="1">
          <a:blip r:embed="rId4">
            <a:alphaModFix/>
          </a:blip>
          <a:srcRect r="32002"/>
          <a:stretch/>
        </p:blipFill>
        <p:spPr>
          <a:xfrm>
            <a:off x="876300" y="876300"/>
            <a:ext cx="5105400" cy="4095750"/>
          </a:xfrm>
          <a:prstGeom prst="roundRect">
            <a:avLst>
              <a:gd name="adj" fmla="val 6512"/>
            </a:avLst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1066800" y="1123950"/>
            <a:ext cx="2038350" cy="323850"/>
          </a:xfrm>
          <a:prstGeom prst="roundRect">
            <a:avLst>
              <a:gd name="adj" fmla="val 50000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200150" y="1209675"/>
            <a:ext cx="17716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Artículo educativo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76300" y="5324475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Herramientas de programación 4RI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76300" y="5648325"/>
            <a:ext cx="51054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25"/>
              <a:buFont typeface="Arial"/>
              <a:buNone/>
            </a:pPr>
            <a:r>
              <a:rPr lang="en-US" sz="2925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Variables y almacenamiento</a:t>
            </a:r>
            <a:endParaRPr sz="2925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76300" y="6758940"/>
            <a:ext cx="523875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1" i="0" u="none" strike="noStrike" cap="none" dirty="0" err="1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Comprender</a:t>
            </a:r>
            <a:r>
              <a:rPr lang="en-US" sz="1500" b="1" i="0" u="none" strike="noStrike" cap="none" dirty="0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 las variables y </a:t>
            </a:r>
            <a:r>
              <a:rPr lang="en-US" sz="1500" b="1" i="0" u="none" strike="noStrike" cap="none" dirty="0" err="1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500" b="1" i="0" u="none" strike="noStrike" cap="none" dirty="0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almacenamiento</a:t>
            </a:r>
            <a:r>
              <a:rPr lang="en-US" sz="1500" b="1" i="0" u="none" strike="noStrike" cap="none" dirty="0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500" b="1" i="0" u="none" strike="noStrike" cap="none" dirty="0" err="1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r>
              <a:rPr lang="en-US" sz="1500" b="1" i="0" u="none" strike="noStrike" cap="none" dirty="0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1500" b="1" i="0" u="none" strike="noStrike" cap="none" dirty="0" err="1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construir</a:t>
            </a:r>
            <a:r>
              <a:rPr lang="en-US" sz="1500" b="1" i="0" u="none" strike="noStrike" cap="none" dirty="0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algoritmos</a:t>
            </a:r>
            <a:r>
              <a:rPr lang="en-US" sz="1500" b="1" i="0" u="none" strike="noStrike" cap="none" dirty="0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eficientes</a:t>
            </a:r>
            <a:r>
              <a:rPr lang="en-US" sz="1500" b="1" i="0" u="none" strike="noStrike" cap="none" dirty="0">
                <a:solidFill>
                  <a:srgbClr val="66409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1" descr="Ilustración de un hotel con sistemas digitales que representa la memoria del computad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6301" y="6547587"/>
            <a:ext cx="1131794" cy="9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876300" y="723900"/>
            <a:ext cx="5029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9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Herramientas para la Programación 4RI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876300" y="11049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00" b="1" i="0" u="none" strike="noStrike" cap="non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Mapa de lectura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76300" y="1409700"/>
            <a:ext cx="5105400" cy="69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lang="en-US" sz="2325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La arquitectura de la información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76301" y="2219515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038225" y="2219515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200150" y="2219515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362075" y="2219515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524000" y="2219515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685926" y="2219515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76300" y="2634423"/>
            <a:ext cx="5105400" cy="1143000"/>
          </a:xfrm>
          <a:prstGeom prst="roundRect">
            <a:avLst>
              <a:gd name="adj" fmla="val 18033"/>
            </a:avLst>
          </a:prstGeom>
          <a:solidFill>
            <a:srgbClr val="EAF0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04900" y="2853879"/>
            <a:ext cx="4629150" cy="133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Resultado de aprendizaje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104900" y="3079050"/>
            <a:ext cx="462915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9"/>
              <a:buFont typeface="Arial"/>
              <a:buNone/>
            </a:pPr>
            <a:r>
              <a:rPr lang="en-US" sz="1050" b="1" i="0" u="none" strike="noStrike" cap="none">
                <a:solidFill>
                  <a:srgbClr val="332F37"/>
                </a:solidFill>
                <a:latin typeface="Arial"/>
                <a:ea typeface="Arial"/>
                <a:cs typeface="Arial"/>
                <a:sym typeface="Arial"/>
              </a:rPr>
              <a:t>Definir y nombrar variables de forma correcta en pseudocódigo, identificando sus restricciones de nomenclatura para evitar errores de sintaxis en la resolución de problemas lógicos.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95350" y="3877111"/>
            <a:ext cx="5067300" cy="742950"/>
          </a:xfrm>
          <a:prstGeom prst="roundRect">
            <a:avLst>
              <a:gd name="adj" fmla="val 25641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76300" y="3829486"/>
            <a:ext cx="5105400" cy="74295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 cap="flat" cmpd="sng">
            <a:solidFill>
              <a:srgbClr val="DDD8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76300" y="3829486"/>
            <a:ext cx="723900" cy="742950"/>
          </a:xfrm>
          <a:prstGeom prst="roundRect">
            <a:avLst>
              <a:gd name="adj" fmla="val 26316"/>
            </a:avLst>
          </a:prstGeom>
          <a:solidFill>
            <a:srgbClr val="6640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76300" y="4048561"/>
            <a:ext cx="723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4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828800" y="3953310"/>
            <a:ext cx="3714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1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La analogía del hotel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828800" y="4239061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00" b="0" i="0" u="none" strike="noStrike" cap="non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¿Qué es una variable?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95350" y="4867711"/>
            <a:ext cx="5067300" cy="742950"/>
          </a:xfrm>
          <a:prstGeom prst="roundRect">
            <a:avLst>
              <a:gd name="adj" fmla="val 25641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76300" y="4820086"/>
            <a:ext cx="5105400" cy="74295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 cap="flat" cmpd="sng">
            <a:solidFill>
              <a:srgbClr val="DDD8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76300" y="4820086"/>
            <a:ext cx="723900" cy="742950"/>
          </a:xfrm>
          <a:prstGeom prst="roundRect">
            <a:avLst>
              <a:gd name="adj" fmla="val 26316"/>
            </a:avLst>
          </a:prstGeom>
          <a:solidFill>
            <a:srgbClr val="B316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76300" y="5039161"/>
            <a:ext cx="723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4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828800" y="4943911"/>
            <a:ext cx="3714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1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Las reglas del juego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828800" y="5229661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00" b="0" i="0" u="none" strike="noStrike" cap="non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Nomenclatura y errores comunes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95350" y="5858311"/>
            <a:ext cx="5067300" cy="742950"/>
          </a:xfrm>
          <a:prstGeom prst="roundRect">
            <a:avLst>
              <a:gd name="adj" fmla="val 25641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76300" y="5810686"/>
            <a:ext cx="5105400" cy="74295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 cap="flat" cmpd="sng">
            <a:solidFill>
              <a:srgbClr val="DDD8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76300" y="5810686"/>
            <a:ext cx="723900" cy="742950"/>
          </a:xfrm>
          <a:prstGeom prst="roundRect">
            <a:avLst>
              <a:gd name="adj" fmla="val 26316"/>
            </a:avLst>
          </a:prstGeom>
          <a:solidFill>
            <a:srgbClr val="467C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76300" y="6029761"/>
            <a:ext cx="723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4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828800" y="5934511"/>
            <a:ext cx="3714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1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Tipos de datos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828800" y="6220261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00" b="0" i="0" u="none" strike="noStrike" cap="non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Su relación con la memoria del computador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895350" y="6848911"/>
            <a:ext cx="5067300" cy="742950"/>
          </a:xfrm>
          <a:prstGeom prst="roundRect">
            <a:avLst>
              <a:gd name="adj" fmla="val 25641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hape 64"/>
          <p:cNvSpPr/>
          <p:nvPr/>
        </p:nvSpPr>
        <p:spPr>
          <a:xfrm>
            <a:off x="895350" y="7836463"/>
            <a:ext cx="5067300" cy="742950"/>
          </a:xfrm>
          <a:prstGeom prst="roundRect">
            <a:avLst>
              <a:gd name="adj" fmla="val 25641"/>
            </a:avLst>
          </a:prstGeom>
          <a:solidFill>
            <a:srgbClr val="D8D2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76300" y="6801286"/>
            <a:ext cx="5105400" cy="74295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 cap="flat" cmpd="sng">
            <a:solidFill>
              <a:srgbClr val="DDD8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Shape 65"/>
          <p:cNvSpPr/>
          <p:nvPr/>
        </p:nvSpPr>
        <p:spPr>
          <a:xfrm>
            <a:off x="876300" y="7788837"/>
            <a:ext cx="5105400" cy="74295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9525" cap="flat" cmpd="sng">
            <a:solidFill>
              <a:srgbClr val="DDD8E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876300" y="6801286"/>
            <a:ext cx="723900" cy="742950"/>
          </a:xfrm>
          <a:prstGeom prst="roundRect">
            <a:avLst>
              <a:gd name="adj" fmla="val 26316"/>
            </a:avLst>
          </a:prstGeom>
          <a:solidFill>
            <a:srgbClr val="0247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Shape 66"/>
          <p:cNvSpPr/>
          <p:nvPr/>
        </p:nvSpPr>
        <p:spPr>
          <a:xfrm>
            <a:off x="876300" y="7788837"/>
            <a:ext cx="723900" cy="742950"/>
          </a:xfrm>
          <a:prstGeom prst="roundRect">
            <a:avLst>
              <a:gd name="adj" fmla="val 26316"/>
            </a:avLst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876300" y="7020361"/>
            <a:ext cx="723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4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Shape 67"/>
          <p:cNvSpPr/>
          <p:nvPr/>
        </p:nvSpPr>
        <p:spPr>
          <a:xfrm>
            <a:off x="876300" y="8007913"/>
            <a:ext cx="723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45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300" b="0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828800" y="6925111"/>
            <a:ext cx="3714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1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El circuito del algoritmo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Shape 68"/>
          <p:cNvSpPr/>
          <p:nvPr/>
        </p:nvSpPr>
        <p:spPr>
          <a:xfrm>
            <a:off x="1828800" y="7912663"/>
            <a:ext cx="3714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1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Código en acción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Shape 63"/>
          <p:cNvSpPr/>
          <p:nvPr/>
        </p:nvSpPr>
        <p:spPr>
          <a:xfrm>
            <a:off x="1828800" y="7216954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00" b="0" i="0" u="none" strike="noStrike" cap="non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Entrada, proceso y salida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Shape 69"/>
          <p:cNvSpPr/>
          <p:nvPr/>
        </p:nvSpPr>
        <p:spPr>
          <a:xfrm>
            <a:off x="1828800" y="8204506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00" b="0" i="0" u="none" strike="noStrike" cap="none">
                <a:solidFill>
                  <a:srgbClr val="7B7480"/>
                </a:solidFill>
                <a:latin typeface="Arial"/>
                <a:ea typeface="Arial"/>
                <a:cs typeface="Arial"/>
                <a:sym typeface="Arial"/>
              </a:rPr>
              <a:t>Ejemplo aplicado en PSeInt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876300" y="723900"/>
            <a:ext cx="5029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9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Herramientas para la Programación 4RI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76300" y="11049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00" b="1" i="0" u="none" strike="noStrike" cap="non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1 · La analogía del hotel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76300" y="1409700"/>
            <a:ext cx="51054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lang="en-US" sz="2325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Habitaciones dinámicas en la memoria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76301" y="2290572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038225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200150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362075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524000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685926" y="2290572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77824" y="2729484"/>
            <a:ext cx="510235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dirty="0">
                <a:solidFill>
                  <a:srgbClr val="353646"/>
                </a:solidFill>
                <a:latin typeface="Arial"/>
              </a:rPr>
              <a:t>Una variable es un </a:t>
            </a:r>
            <a:r>
              <a:rPr sz="1100" b="0" i="0" dirty="0" err="1">
                <a:solidFill>
                  <a:srgbClr val="353646"/>
                </a:solidFill>
                <a:latin typeface="Arial"/>
              </a:rPr>
              <a:t>espacio</a:t>
            </a:r>
            <a:r>
              <a:rPr sz="1100" b="0" i="0" dirty="0">
                <a:solidFill>
                  <a:srgbClr val="35364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353646"/>
                </a:solidFill>
                <a:latin typeface="Arial"/>
              </a:rPr>
              <a:t>reservado</a:t>
            </a:r>
            <a:r>
              <a:rPr sz="1100" b="0" i="0" dirty="0">
                <a:solidFill>
                  <a:srgbClr val="35364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353646"/>
                </a:solidFill>
                <a:latin typeface="Arial"/>
              </a:rPr>
              <a:t>en</a:t>
            </a:r>
            <a:r>
              <a:rPr sz="1100" b="0" i="0" dirty="0">
                <a:solidFill>
                  <a:srgbClr val="353646"/>
                </a:solidFill>
                <a:latin typeface="Arial"/>
              </a:rPr>
              <a:t> la </a:t>
            </a:r>
            <a:r>
              <a:rPr sz="1100" b="0" i="0" dirty="0" err="1">
                <a:solidFill>
                  <a:srgbClr val="353646"/>
                </a:solidFill>
                <a:latin typeface="Arial"/>
              </a:rPr>
              <a:t>memoria</a:t>
            </a:r>
            <a:r>
              <a:rPr sz="1100" b="0" i="0" dirty="0">
                <a:solidFill>
                  <a:srgbClr val="353646"/>
                </a:solidFill>
                <a:latin typeface="Arial"/>
              </a:rPr>
              <a:t> del </a:t>
            </a:r>
            <a:r>
              <a:rPr sz="1100" b="0" i="0" dirty="0" err="1">
                <a:solidFill>
                  <a:srgbClr val="353646"/>
                </a:solidFill>
                <a:latin typeface="Arial"/>
              </a:rPr>
              <a:t>computador</a:t>
            </a:r>
            <a:r>
              <a:rPr sz="1100" b="0" i="0" dirty="0">
                <a:solidFill>
                  <a:srgbClr val="353646"/>
                </a:solidFill>
                <a:latin typeface="Arial"/>
              </a:rPr>
              <a:t> que </a:t>
            </a:r>
            <a:r>
              <a:rPr sz="1100" b="0" i="0" dirty="0" err="1">
                <a:solidFill>
                  <a:srgbClr val="353646"/>
                </a:solidFill>
                <a:latin typeface="Arial"/>
              </a:rPr>
              <a:t>posee</a:t>
            </a:r>
            <a:r>
              <a:rPr sz="1100" b="0" i="0" dirty="0">
                <a:solidFill>
                  <a:srgbClr val="353646"/>
                </a:solidFill>
                <a:latin typeface="Arial"/>
              </a:rPr>
              <a:t> un </a:t>
            </a:r>
            <a:r>
              <a:rPr sz="1100" b="0" i="0" dirty="0" err="1">
                <a:solidFill>
                  <a:srgbClr val="353646"/>
                </a:solidFill>
                <a:latin typeface="Arial"/>
              </a:rPr>
              <a:t>nombre</a:t>
            </a:r>
            <a:r>
              <a:rPr sz="1100" b="0" i="0" dirty="0">
                <a:solidFill>
                  <a:srgbClr val="35364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353646"/>
                </a:solidFill>
                <a:latin typeface="Arial"/>
              </a:rPr>
              <a:t>único</a:t>
            </a:r>
            <a:r>
              <a:rPr sz="1100" b="0" i="0" dirty="0">
                <a:solidFill>
                  <a:srgbClr val="353646"/>
                </a:solidFill>
                <a:latin typeface="Arial"/>
              </a:rPr>
              <a:t> y </a:t>
            </a:r>
            <a:r>
              <a:rPr sz="1100" b="0" i="0" dirty="0" err="1">
                <a:solidFill>
                  <a:srgbClr val="353646"/>
                </a:solidFill>
                <a:latin typeface="Arial"/>
              </a:rPr>
              <a:t>guarda</a:t>
            </a:r>
            <a:r>
              <a:rPr sz="1100" b="0" i="0" dirty="0">
                <a:solidFill>
                  <a:srgbClr val="353646"/>
                </a:solidFill>
                <a:latin typeface="Arial"/>
              </a:rPr>
              <a:t> un valor que </a:t>
            </a:r>
            <a:r>
              <a:rPr sz="1100" b="0" i="0" dirty="0" err="1">
                <a:solidFill>
                  <a:srgbClr val="353646"/>
                </a:solidFill>
                <a:latin typeface="Arial"/>
              </a:rPr>
              <a:t>puede</a:t>
            </a:r>
            <a:r>
              <a:rPr sz="1100" b="0" i="0" dirty="0">
                <a:solidFill>
                  <a:srgbClr val="353646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353646"/>
                </a:solidFill>
                <a:latin typeface="Arial"/>
              </a:rPr>
              <a:t>cambiar</a:t>
            </a:r>
            <a:r>
              <a:rPr sz="1100" b="0" i="0" dirty="0">
                <a:solidFill>
                  <a:srgbClr val="353646"/>
                </a:solidFill>
                <a:latin typeface="Arial"/>
              </a:rPr>
              <a:t> a lo largo del </a:t>
            </a:r>
            <a:r>
              <a:rPr sz="1100" b="0" i="0" dirty="0" err="1">
                <a:solidFill>
                  <a:srgbClr val="353646"/>
                </a:solidFill>
                <a:latin typeface="Arial"/>
              </a:rPr>
              <a:t>tiempo</a:t>
            </a:r>
            <a:r>
              <a:rPr sz="1100" b="0" i="0" dirty="0">
                <a:solidFill>
                  <a:srgbClr val="353646"/>
                </a:solidFill>
                <a:latin typeface="Arial"/>
              </a:rPr>
              <a:t>.</a:t>
            </a:r>
          </a:p>
        </p:txBody>
      </p:sp>
      <p:pic>
        <p:nvPicPr>
          <p:cNvPr id="78" name="Picture 77" descr="Pasillo de hotel con puertas numeradas: cada habitación representa una variable en la memor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541014"/>
            <a:ext cx="5102352" cy="2783333"/>
          </a:xfrm>
          <a:prstGeom prst="roundRect">
            <a:avLst>
              <a:gd name="adj" fmla="val 9836"/>
            </a:avLst>
          </a:prstGeom>
        </p:spPr>
      </p:pic>
      <p:sp>
        <p:nvSpPr>
          <p:cNvPr id="79" name="Rounded Rectangle 7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6598667"/>
            <a:ext cx="5102352" cy="1903094"/>
          </a:xfrm>
          <a:prstGeom prst="roundRect">
            <a:avLst>
              <a:gd name="adj" fmla="val 8000"/>
            </a:avLst>
          </a:prstGeom>
          <a:solidFill>
            <a:srgbClr val="F1EB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106424" y="6781547"/>
            <a:ext cx="46451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664092"/>
                </a:solidFill>
                <a:latin typeface="Arial"/>
              </a:rPr>
              <a:t>En la vida cotidiana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6424" y="7010147"/>
            <a:ext cx="4645152" cy="144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2159"/>
                </a:solidFill>
                <a:latin typeface="Arial"/>
              </a:rPr>
              <a:t>Una variable puede entenderse como una habitación dentro de un hotel. El hotel completo representa el espacio total de la memoria donde se guarda la información, y cada habitación tiene una identificación o número único que permite ubicarla. Dentro de esa habitación puede alojarse un contenido (un huésped), pero ese contenido no siempre será el mismo; puede cambiar según el momento, la necesidad o la situación del día.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876300" y="723900"/>
            <a:ext cx="5029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9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Herramientas para la Programación 4RI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76300" y="11049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00" b="1" i="0" u="none" strike="noStrike" cap="non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1 · La analogía del hotel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76300" y="1409700"/>
            <a:ext cx="51054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lang="en-US" sz="2325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Las habitaciones de nuestro asistente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76301" y="2290572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038225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200150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362075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524000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685926" y="2290572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77824" y="2729484"/>
            <a:ext cx="510235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53646"/>
                </a:solidFill>
                <a:latin typeface="Arial"/>
              </a:rPr>
              <a:t>En nuestro asistente digital de tareas, utilizaremos estas habitaciones de memoria para guardar datos específicos:</a:t>
            </a:r>
          </a:p>
        </p:txBody>
      </p:sp>
      <p:sp>
        <p:nvSpPr>
          <p:cNvPr id="78" name="Rounded Rectangle 7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3331464"/>
            <a:ext cx="510235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6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3331464"/>
            <a:ext cx="73152" cy="713232"/>
          </a:xfrm>
          <a:prstGeom prst="rect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152144" y="3422904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664092"/>
                </a:solidFill>
                <a:latin typeface="Courier New"/>
              </a:rPr>
              <a:t>nombre_tarea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52144" y="373380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53646"/>
                </a:solidFill>
                <a:latin typeface="Arial"/>
              </a:rPr>
              <a:t>Guarda la descripción textual del deber.</a:t>
            </a:r>
          </a:p>
        </p:txBody>
      </p:sp>
      <p:sp>
        <p:nvSpPr>
          <p:cNvPr id="83" name="Rounded Rectangle 8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4154424"/>
            <a:ext cx="510235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6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4154424"/>
            <a:ext cx="73152" cy="713232"/>
          </a:xfrm>
          <a:prstGeom prst="rect">
            <a:avLst/>
          </a:prstGeom>
          <a:solidFill>
            <a:srgbClr val="B316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152144" y="4245864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B31686"/>
                </a:solidFill>
                <a:latin typeface="Courier New"/>
              </a:rPr>
              <a:t>fecha_recordatorio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52144" y="455676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53646"/>
                </a:solidFill>
                <a:latin typeface="Arial"/>
              </a:rPr>
              <a:t>Almacena el momento de la alerta.</a:t>
            </a:r>
          </a:p>
        </p:txBody>
      </p:sp>
      <p:sp>
        <p:nvSpPr>
          <p:cNvPr id="88" name="Rounded Rectangle 8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4977384"/>
            <a:ext cx="510235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6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4977384"/>
            <a:ext cx="73152" cy="713232"/>
          </a:xfrm>
          <a:prstGeom prst="rect">
            <a:avLst/>
          </a:prstGeom>
          <a:solidFill>
            <a:srgbClr val="0247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152144" y="5068824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24791"/>
                </a:solidFill>
                <a:latin typeface="Courier New"/>
              </a:rPr>
              <a:t>prioridad_tarea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52144" y="537972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53646"/>
                </a:solidFill>
                <a:latin typeface="Arial"/>
              </a:rPr>
              <a:t>Registra el nivel de urgencia.</a:t>
            </a:r>
          </a:p>
        </p:txBody>
      </p:sp>
      <p:sp>
        <p:nvSpPr>
          <p:cNvPr id="93" name="Rounded Rectangle 9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5800344"/>
            <a:ext cx="510235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6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5800344"/>
            <a:ext cx="73152" cy="713232"/>
          </a:xfrm>
          <a:prstGeom prst="rect">
            <a:avLst/>
          </a:prstGeom>
          <a:solidFill>
            <a:srgbClr val="3D215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152144" y="5891784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D2159"/>
                </a:solidFill>
                <a:latin typeface="Courier New"/>
              </a:rPr>
              <a:t>tiempo_estimado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52144" y="6202680"/>
            <a:ext cx="4645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53646"/>
                </a:solidFill>
                <a:latin typeface="Arial"/>
              </a:rPr>
              <a:t>Guarda las horas requeridas para la ejecución.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876300" y="723900"/>
            <a:ext cx="5029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9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Herramientas para la Programación 4RI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76300" y="11049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00" b="1" i="0" u="none" strike="noStrike" cap="non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2 · Las reglas del juego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76300" y="1409700"/>
            <a:ext cx="51054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lang="en-US" sz="2325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El rigor de nombrar y el espacio de uso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76301" y="2290572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038225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200150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362075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524000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685926" y="2290572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77824" y="2729484"/>
            <a:ext cx="510235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53646"/>
                </a:solidFill>
                <a:latin typeface="Arial"/>
              </a:rPr>
              <a:t>Un algoritmo interpretará como elementos completamente diferentes dos nombres que tengan variaciones de mayúsculas, guiones o caracteres.</a:t>
            </a:r>
          </a:p>
        </p:txBody>
      </p:sp>
      <p:sp>
        <p:nvSpPr>
          <p:cNvPr id="78" name="Rounded Rectangle 7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3541014"/>
            <a:ext cx="5102352" cy="13030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106424" y="3769614"/>
            <a:ext cx="4645152" cy="845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53646"/>
                </a:solidFill>
                <a:latin typeface="Arial"/>
              </a:rPr>
              <a:t>Por ejemplo, si definimos </a:t>
            </a:r>
            <a:r>
              <a:rPr sz="1050" b="1" i="0">
                <a:solidFill>
                  <a:srgbClr val="664092"/>
                </a:solidFill>
                <a:latin typeface="Arial"/>
              </a:rPr>
              <a:t>nombre_tarea</a:t>
            </a:r>
            <a:r>
              <a:rPr sz="1050" b="0" i="0">
                <a:solidFill>
                  <a:srgbClr val="353646"/>
                </a:solidFill>
                <a:latin typeface="Arial"/>
              </a:rPr>
              <a:t>, pero luego en otra línea escribimos </a:t>
            </a:r>
            <a:r>
              <a:rPr sz="1050" b="1" i="0">
                <a:solidFill>
                  <a:srgbClr val="664092"/>
                </a:solidFill>
                <a:latin typeface="Arial"/>
              </a:rPr>
              <a:t>nombreTarea</a:t>
            </a:r>
            <a:r>
              <a:rPr sz="1050" b="0" i="0">
                <a:solidFill>
                  <a:srgbClr val="353646"/>
                </a:solidFill>
                <a:latin typeface="Arial"/>
              </a:rPr>
              <a:t> o </a:t>
            </a:r>
            <a:r>
              <a:rPr sz="1050" b="1" i="0">
                <a:solidFill>
                  <a:srgbClr val="664092"/>
                </a:solidFill>
                <a:latin typeface="Arial"/>
              </a:rPr>
              <a:t>tarea_nombre</a:t>
            </a:r>
            <a:r>
              <a:rPr sz="1050" b="0" i="0">
                <a:solidFill>
                  <a:srgbClr val="353646"/>
                </a:solidFill>
                <a:latin typeface="Arial"/>
              </a:rPr>
              <a:t>, el algoritmo interpretará que se trata de habitaciones distintas, rompiendo la lógica de la solución.</a:t>
            </a:r>
          </a:p>
        </p:txBody>
      </p:sp>
      <p:sp>
        <p:nvSpPr>
          <p:cNvPr id="80" name="Rounded Rectangle 7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5072634"/>
            <a:ext cx="5102352" cy="1503045"/>
          </a:xfrm>
          <a:prstGeom prst="roundRect">
            <a:avLst>
              <a:gd name="adj" fmla="val 8000"/>
            </a:avLst>
          </a:prstGeom>
          <a:solidFill>
            <a:srgbClr val="F6EB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0704" y="525551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2" name="Picture 8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337810"/>
            <a:ext cx="292608" cy="29260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655064" y="5255514"/>
            <a:ext cx="41422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B31686"/>
                </a:solidFill>
                <a:latin typeface="Arial"/>
              </a:rPr>
              <a:t>Un aspecto clave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55064" y="5484114"/>
            <a:ext cx="4142232" cy="104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2159"/>
                </a:solidFill>
                <a:latin typeface="Arial"/>
              </a:rPr>
              <a:t>Una variable jamás debe usarse sin haber sido definida explícitamente antes. Uno de los errores más frecuentes al iniciar en programación es llamar a una variable que todavía no existe o escribir su nombre de una manera diferente en el desarrollo del código.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7824" y="6804279"/>
            <a:ext cx="510235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53646"/>
                </a:solidFill>
                <a:latin typeface="Arial"/>
              </a:rPr>
              <a:t>Aunque en esta unidad no trabajaremos funciones avanzadas, debemos comprender que una variable opera dentro de un espacio determinado del algoritmo.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77824" y="7615808"/>
            <a:ext cx="510235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D2159"/>
                </a:solidFill>
                <a:latin typeface="Arial"/>
              </a:rPr>
              <a:t>Por eso, antes de escribirla, debemos tener total claridad sobre cuál es su nombre exacto, qué dato guarda, qué tipo necesita y para qué se va a utilizar.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876300" y="723900"/>
            <a:ext cx="5029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9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Herramientas para la Programación 4RI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76300" y="11049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00" b="1" i="0" u="none" strike="noStrike" cap="non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3 · Tipos de datos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76300" y="1409700"/>
            <a:ext cx="5105400" cy="40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lang="en-US" sz="2325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La clasificación de la información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76301" y="1936242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038225" y="193624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200150" y="193624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362075" y="193624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524000" y="193624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685926" y="1936242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77824" y="2375154"/>
            <a:ext cx="510235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53646"/>
                </a:solidFill>
                <a:latin typeface="Arial"/>
              </a:rPr>
              <a:t>Los tipos de variables existen porque la memoria necesita saber qué clase de datos está manejando para reservar el espacio adecuado.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7824" y="2977134"/>
            <a:ext cx="510235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53646"/>
                </a:solidFill>
                <a:latin typeface="Arial"/>
              </a:rPr>
              <a:t>En la mayoría de lenguajes formales se encuentran las siguientes categorías, mapeadas directamente a nuestro asistente digital:</a:t>
            </a:r>
          </a:p>
        </p:txBody>
      </p:sp>
      <p:sp>
        <p:nvSpPr>
          <p:cNvPr id="79" name="Rounded Rectangle 7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3579114"/>
            <a:ext cx="5102352" cy="310896"/>
          </a:xfrm>
          <a:prstGeom prst="roundRect">
            <a:avLst>
              <a:gd name="adj" fmla="val 20000"/>
            </a:avLst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87552" y="3579114"/>
            <a:ext cx="10515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Tipo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66543" y="3579114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En PSeInt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26664" y="3579114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¿Qué guarda? · Ejemplo</a:t>
            </a:r>
          </a:p>
        </p:txBody>
      </p:sp>
      <p:sp>
        <p:nvSpPr>
          <p:cNvPr id="83" name="Rectangle 8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3944874"/>
            <a:ext cx="5102352" cy="713232"/>
          </a:xfrm>
          <a:prstGeom prst="rect">
            <a:avLst/>
          </a:prstGeom>
          <a:solidFill>
            <a:srgbClr val="F8F6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87552" y="4036314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64092"/>
                </a:solidFill>
                <a:latin typeface="Courier New"/>
              </a:rPr>
              <a:t>int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66543" y="403631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3D2159"/>
                </a:solidFill>
                <a:latin typeface="Arial"/>
              </a:rPr>
              <a:t>Entero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26664" y="4018026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353646"/>
                </a:solidFill>
                <a:latin typeface="Arial"/>
              </a:rPr>
              <a:t>Números sin decimales para contar elementos.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26664" y="4347210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6B6570"/>
                </a:solidFill>
                <a:latin typeface="Arial"/>
              </a:rPr>
              <a:t>Ejemplo: </a:t>
            </a:r>
            <a:r>
              <a:rPr sz="950" b="1" i="0">
                <a:solidFill>
                  <a:srgbClr val="024791"/>
                </a:solidFill>
                <a:latin typeface="Courier New"/>
              </a:rPr>
              <a:t>cantidad_tareas &lt;- 3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87552" y="4749546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64092"/>
                </a:solidFill>
                <a:latin typeface="Courier New"/>
              </a:rPr>
              <a:t>float o double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66543" y="474954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3D2159"/>
                </a:solidFill>
                <a:latin typeface="Arial"/>
              </a:rPr>
              <a:t>Real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26664" y="4731258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353646"/>
                </a:solidFill>
                <a:latin typeface="Arial"/>
              </a:rPr>
              <a:t>Números con decimales para mayor precisión.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26664" y="5060442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6B6570"/>
                </a:solidFill>
                <a:latin typeface="Arial"/>
              </a:rPr>
              <a:t>Ejemplo: </a:t>
            </a:r>
            <a:r>
              <a:rPr sz="950" b="1" i="0">
                <a:solidFill>
                  <a:srgbClr val="024791"/>
                </a:solidFill>
                <a:latin typeface="Courier New"/>
              </a:rPr>
              <a:t>tiempo_estimado &lt;- 1.5</a:t>
            </a:r>
          </a:p>
        </p:txBody>
      </p:sp>
      <p:sp>
        <p:nvSpPr>
          <p:cNvPr id="92" name="Rectangle 9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5371338"/>
            <a:ext cx="5102352" cy="713232"/>
          </a:xfrm>
          <a:prstGeom prst="rect">
            <a:avLst/>
          </a:prstGeom>
          <a:solidFill>
            <a:srgbClr val="F8F6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87552" y="5462778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64092"/>
                </a:solidFill>
                <a:latin typeface="Courier New"/>
              </a:rPr>
              <a:t>char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66543" y="546277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3D2159"/>
                </a:solidFill>
                <a:latin typeface="Arial"/>
              </a:rPr>
              <a:t>Caracter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26664" y="5444490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353646"/>
                </a:solidFill>
                <a:latin typeface="Arial"/>
              </a:rPr>
              <a:t>Un solo carácter, símbolo o letra de prioridad.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026664" y="5773674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6B6570"/>
                </a:solidFill>
                <a:latin typeface="Arial"/>
              </a:rPr>
              <a:t>Ejemplo: </a:t>
            </a:r>
            <a:r>
              <a:rPr sz="950" b="1" i="0">
                <a:solidFill>
                  <a:srgbClr val="024791"/>
                </a:solidFill>
                <a:latin typeface="Courier New"/>
              </a:rPr>
              <a:t>prioridad_tarea &lt;- "A"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87552" y="617601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64092"/>
                </a:solidFill>
                <a:latin typeface="Courier New"/>
              </a:rPr>
              <a:t>bool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66543" y="617601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3D2159"/>
                </a:solidFill>
                <a:latin typeface="Arial"/>
              </a:rPr>
              <a:t>Logico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26664" y="6157722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353646"/>
                </a:solidFill>
                <a:latin typeface="Arial"/>
              </a:rPr>
              <a:t>Valores lógicos de verdadero o falso.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026664" y="6486906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6B6570"/>
                </a:solidFill>
                <a:latin typeface="Arial"/>
              </a:rPr>
              <a:t>Ejemplo: </a:t>
            </a:r>
            <a:r>
              <a:rPr sz="950" b="1" i="0">
                <a:solidFill>
                  <a:srgbClr val="024791"/>
                </a:solidFill>
                <a:latin typeface="Courier New"/>
              </a:rPr>
              <a:t>tarea_completada &lt;- Falso</a:t>
            </a:r>
          </a:p>
        </p:txBody>
      </p:sp>
      <p:sp>
        <p:nvSpPr>
          <p:cNvPr id="101" name="Rectangle 10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6797802"/>
            <a:ext cx="5102352" cy="713232"/>
          </a:xfrm>
          <a:prstGeom prst="rect">
            <a:avLst/>
          </a:prstGeom>
          <a:solidFill>
            <a:srgbClr val="F8F6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87552" y="688924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64092"/>
                </a:solidFill>
                <a:latin typeface="Courier New"/>
              </a:rPr>
              <a:t>string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66543" y="688924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3D2159"/>
                </a:solidFill>
                <a:latin typeface="Arial"/>
              </a:rPr>
              <a:t>Cadena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026664" y="6870954"/>
            <a:ext cx="2880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353646"/>
                </a:solidFill>
                <a:latin typeface="Arial"/>
              </a:rPr>
              <a:t>Cadenas de texto para palabras o frases extensas.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026664" y="7200138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1">
                <a:solidFill>
                  <a:srgbClr val="6B6570"/>
                </a:solidFill>
                <a:latin typeface="Arial"/>
              </a:rPr>
              <a:t>Ejemplo: </a:t>
            </a:r>
            <a:r>
              <a:rPr sz="950" b="1" i="0">
                <a:solidFill>
                  <a:srgbClr val="024791"/>
                </a:solidFill>
                <a:latin typeface="Courier New"/>
              </a:rPr>
              <a:t>nombre_tarea &lt;- «Enviar informe»</a:t>
            </a:r>
          </a:p>
        </p:txBody>
      </p:sp>
      <p:sp>
        <p:nvSpPr>
          <p:cNvPr id="106" name="Rounded Rectangle 10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7739634"/>
            <a:ext cx="5102352" cy="1264920"/>
          </a:xfrm>
          <a:prstGeom prst="roundRect">
            <a:avLst>
              <a:gd name="adj" fmla="val 8000"/>
            </a:avLst>
          </a:prstGeom>
          <a:solidFill>
            <a:srgbClr val="F6EB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0704" y="792251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08" name="Picture 10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8004810"/>
            <a:ext cx="292608" cy="292608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1655064" y="7922514"/>
            <a:ext cx="41422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B31686"/>
                </a:solidFill>
                <a:latin typeface="Arial"/>
              </a:rPr>
              <a:t>Atención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655064" y="8151114"/>
            <a:ext cx="4142232" cy="80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3D2159"/>
                </a:solidFill>
                <a:latin typeface="Arial"/>
              </a:rPr>
              <a:t>Almacenar datos en un tipo que no corresponde (como un decimal en una variable entera) causa pérdida de precisión o fallas críticas. Si guardas un número como texto, no podrá operar matemáticamente.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876300" y="723900"/>
            <a:ext cx="5029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9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Herramientas para la Programación 4RI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76300" y="11049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00" b="1" i="0" u="none" strike="noStrike" cap="non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4 · El circuito del algoritmo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76300" y="1409700"/>
            <a:ext cx="51054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lang="en-US" sz="2325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Los tres momentos de una solución secuencial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76301" y="2290572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038225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200150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362075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524000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685926" y="2290572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77824" y="2729484"/>
            <a:ext cx="510235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53646"/>
                </a:solidFill>
                <a:latin typeface="Arial"/>
              </a:rPr>
              <a:t>Estructurar un algoritmo bajo un flujo ordenado evita saltos lógicos o instrucciones ciegas antes de escribir código en PSeInt.</a:t>
            </a:r>
          </a:p>
        </p:txBody>
      </p:sp>
      <p:sp>
        <p:nvSpPr>
          <p:cNvPr id="78" name="Rounded Rectangle 7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3422904"/>
            <a:ext cx="5102352" cy="1234440"/>
          </a:xfrm>
          <a:prstGeom prst="roundRect">
            <a:avLst>
              <a:gd name="adj" fmla="val 10000"/>
            </a:avLst>
          </a:prstGeom>
          <a:solidFill>
            <a:srgbClr val="F1EB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3697224"/>
            <a:ext cx="566928" cy="566928"/>
          </a:xfrm>
          <a:prstGeom prst="ellipse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78992" y="369722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83664" y="3569208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664092"/>
                </a:solidFill>
                <a:latin typeface="Arial"/>
              </a:rPr>
              <a:t>Entrada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83664" y="3861816"/>
            <a:ext cx="391363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53646"/>
                </a:solidFill>
                <a:latin typeface="Arial"/>
              </a:rPr>
              <a:t>Corresponde a la información que recibe el algoritmo, ingresada por el usuario (como </a:t>
            </a:r>
            <a:r>
              <a:rPr sz="1000" b="1" i="0">
                <a:solidFill>
                  <a:srgbClr val="664092"/>
                </a:solidFill>
                <a:latin typeface="Arial"/>
              </a:rPr>
              <a:t>nombre_tarea</a:t>
            </a:r>
            <a:r>
              <a:rPr sz="1000" b="0" i="0">
                <a:solidFill>
                  <a:srgbClr val="353646"/>
                </a:solidFill>
                <a:latin typeface="Arial"/>
              </a:rPr>
              <a:t> o </a:t>
            </a:r>
            <a:r>
              <a:rPr sz="1000" b="1" i="0">
                <a:solidFill>
                  <a:srgbClr val="664092"/>
                </a:solidFill>
                <a:latin typeface="Arial"/>
              </a:rPr>
              <a:t>tiempo_estimado</a:t>
            </a:r>
            <a:r>
              <a:rPr sz="1000" b="0" i="0">
                <a:solidFill>
                  <a:srgbClr val="353646"/>
                </a:solidFill>
                <a:latin typeface="Arial"/>
              </a:rPr>
              <a:t>), la cual se captura y se aloja de forma inmediata en las variables.</a:t>
            </a:r>
          </a:p>
        </p:txBody>
      </p:sp>
      <p:sp>
        <p:nvSpPr>
          <p:cNvPr id="83" name="Down Arrow 8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98448" y="4648200"/>
            <a:ext cx="128016" cy="128016"/>
          </a:xfrm>
          <a:prstGeom prst="downArrow">
            <a:avLst/>
          </a:prstGeom>
          <a:solidFill>
            <a:srgbClr val="B9A7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4767072"/>
            <a:ext cx="5102352" cy="1234440"/>
          </a:xfrm>
          <a:prstGeom prst="roundRect">
            <a:avLst>
              <a:gd name="adj" fmla="val 10000"/>
            </a:avLst>
          </a:prstGeom>
          <a:solidFill>
            <a:srgbClr val="F6EB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5041392"/>
            <a:ext cx="566928" cy="566928"/>
          </a:xfrm>
          <a:prstGeom prst="ellipse">
            <a:avLst/>
          </a:prstGeom>
          <a:solidFill>
            <a:srgbClr val="B316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78992" y="504139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83664" y="4913376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B31686"/>
                </a:solidFill>
                <a:latin typeface="Arial"/>
              </a:rPr>
              <a:t>Proceso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83664" y="5205984"/>
            <a:ext cx="391363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53646"/>
                </a:solidFill>
                <a:latin typeface="Arial"/>
              </a:rPr>
              <a:t>Corresponde a las acciones secuenciales que se realizan con esa información. En esta unidad, las instrucciones se ejecutan una después de la otra, en el mismo orden en que fueron escritas.</a:t>
            </a:r>
          </a:p>
        </p:txBody>
      </p:sp>
      <p:sp>
        <p:nvSpPr>
          <p:cNvPr id="89" name="Down Arrow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98448" y="5992368"/>
            <a:ext cx="128016" cy="128016"/>
          </a:xfrm>
          <a:prstGeom prst="downArrow">
            <a:avLst/>
          </a:prstGeom>
          <a:solidFill>
            <a:srgbClr val="B9A7CF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6111240"/>
            <a:ext cx="5102352" cy="1234440"/>
          </a:xfrm>
          <a:prstGeom prst="roundRect">
            <a:avLst>
              <a:gd name="adj" fmla="val 10000"/>
            </a:avLst>
          </a:prstGeom>
          <a:solidFill>
            <a:srgbClr val="E8F1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8992" y="6385560"/>
            <a:ext cx="566928" cy="566928"/>
          </a:xfrm>
          <a:prstGeom prst="ellipse">
            <a:avLst/>
          </a:prstGeom>
          <a:solidFill>
            <a:srgbClr val="0247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78992" y="63855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883664" y="6257544"/>
            <a:ext cx="3913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24791"/>
                </a:solidFill>
                <a:latin typeface="Arial"/>
              </a:rPr>
              <a:t>Salida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83664" y="6550152"/>
            <a:ext cx="391363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53646"/>
                </a:solidFill>
                <a:latin typeface="Arial"/>
              </a:rPr>
              <a:t>Corresponde al resultado final o mensaje que se entrega y muestra de manera organizada al usuario en su pantalla.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876300" y="723900"/>
            <a:ext cx="5029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9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Herramientas para la Programación 4RI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76300" y="11049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00" b="1" i="0" u="none" strike="noStrike" cap="non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5 · Código en acción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76300" y="1409700"/>
            <a:ext cx="510540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lang="en-US" sz="2325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Definición y lectura en pseudocódigo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76301" y="2290572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038225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200150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362075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524000" y="229057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685926" y="2290572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77824" y="2729484"/>
            <a:ext cx="510235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53646"/>
                </a:solidFill>
                <a:latin typeface="Arial"/>
              </a:rPr>
              <a:t>La secuencia correcta de un dato requiere ser definido, solicitarse al usuario y capturarse en la memoria antes de ser operado.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7824" y="3331464"/>
            <a:ext cx="510235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53646"/>
                </a:solidFill>
                <a:latin typeface="Arial"/>
              </a:rPr>
              <a:t>Si nuestro asistente digital solicita al usuario el nombre de una tarea, la estructura correcta en pseudocódigo para PSeInt es la siguiente:</a:t>
            </a:r>
          </a:p>
        </p:txBody>
      </p:sp>
      <p:sp>
        <p:nvSpPr>
          <p:cNvPr id="79" name="Rounded Rectangle 7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4142994"/>
            <a:ext cx="5102352" cy="860107"/>
          </a:xfrm>
          <a:prstGeom prst="roundRect">
            <a:avLst>
              <a:gd name="adj" fmla="val 6000"/>
            </a:avLst>
          </a:prstGeom>
          <a:solidFill>
            <a:srgbClr val="1E1B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106424" y="4307586"/>
            <a:ext cx="4645152" cy="585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F1F8"/>
                </a:solidFill>
                <a:latin typeface="Courier New"/>
              </a:rPr>
              <a:t>Definir nombre_tarea Como Cadena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F1F8"/>
                </a:solidFill>
                <a:latin typeface="Courier New"/>
              </a:rPr>
              <a:t>Escribir "Ingrese el nombre de la tarea:"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4F1F8"/>
                </a:solidFill>
                <a:latin typeface="Courier New"/>
              </a:rPr>
              <a:t>Leer nombre_tarea</a:t>
            </a:r>
          </a:p>
        </p:txBody>
      </p:sp>
      <p:sp>
        <p:nvSpPr>
          <p:cNvPr id="81" name="Oval 8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5231701"/>
            <a:ext cx="329184" cy="329184"/>
          </a:xfrm>
          <a:prstGeom prst="ellipse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77824" y="5231701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380744" y="5259133"/>
            <a:ext cx="459943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53646"/>
                </a:solidFill>
                <a:latin typeface="Arial"/>
              </a:rPr>
              <a:t>Observemos que primero definimos la variable </a:t>
            </a:r>
            <a:r>
              <a:rPr sz="1050" b="1" i="0">
                <a:solidFill>
                  <a:srgbClr val="664092"/>
                </a:solidFill>
                <a:latin typeface="Arial"/>
              </a:rPr>
              <a:t>nombre_tarea</a:t>
            </a:r>
            <a:r>
              <a:rPr sz="1050" b="0" i="0">
                <a:solidFill>
                  <a:srgbClr val="353646"/>
                </a:solidFill>
                <a:latin typeface="Arial"/>
              </a:rPr>
              <a:t> para reservar la habitación en el hotel de la memoria.</a:t>
            </a:r>
          </a:p>
        </p:txBody>
      </p:sp>
      <p:sp>
        <p:nvSpPr>
          <p:cNvPr id="84" name="Oval 8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5768911"/>
            <a:ext cx="329184" cy="329184"/>
          </a:xfrm>
          <a:prstGeom prst="ellipse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77824" y="5768911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80744" y="5796343"/>
            <a:ext cx="459943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53646"/>
                </a:solidFill>
                <a:latin typeface="Arial"/>
              </a:rPr>
              <a:t>Luego, mostramos un mensaje en pantalla mediante la instrucción </a:t>
            </a:r>
            <a:r>
              <a:rPr sz="1050" b="1" i="0">
                <a:solidFill>
                  <a:srgbClr val="664092"/>
                </a:solidFill>
                <a:latin typeface="Arial"/>
              </a:rPr>
              <a:t>Escribir</a:t>
            </a:r>
            <a:r>
              <a:rPr sz="1050" b="0" i="0">
                <a:solidFill>
                  <a:srgbClr val="353646"/>
                </a:solidFill>
                <a:latin typeface="Arial"/>
              </a:rPr>
              <a:t>.</a:t>
            </a:r>
          </a:p>
        </p:txBody>
      </p:sp>
      <p:sp>
        <p:nvSpPr>
          <p:cNvPr id="87" name="Oval 8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6306121"/>
            <a:ext cx="329184" cy="329184"/>
          </a:xfrm>
          <a:prstGeom prst="ellipse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7824" y="6306121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80744" y="6333553"/>
            <a:ext cx="459943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53646"/>
                </a:solidFill>
                <a:latin typeface="Arial"/>
              </a:rPr>
              <a:t>Finalmente, capturamos el texto ingresado por el teclado con la instrucción </a:t>
            </a:r>
            <a:r>
              <a:rPr sz="1050" b="1" i="0">
                <a:solidFill>
                  <a:srgbClr val="664092"/>
                </a:solidFill>
                <a:latin typeface="Arial"/>
              </a:rPr>
              <a:t>Leer</a:t>
            </a:r>
            <a:r>
              <a:rPr sz="1050" b="0" i="0">
                <a:solidFill>
                  <a:srgbClr val="353646"/>
                </a:solidFill>
                <a:latin typeface="Arial"/>
              </a:rPr>
              <a:t>.</a:t>
            </a:r>
          </a:p>
        </p:txBody>
      </p:sp>
      <p:sp>
        <p:nvSpPr>
          <p:cNvPr id="90" name="Rounded Rectangle 8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6934771"/>
            <a:ext cx="5102352" cy="1102995"/>
          </a:xfrm>
          <a:prstGeom prst="roundRect">
            <a:avLst>
              <a:gd name="adj" fmla="val 8000"/>
            </a:avLst>
          </a:prstGeom>
          <a:solidFill>
            <a:srgbClr val="F6EB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0704" y="7117651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92" name="Picture 9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7199947"/>
            <a:ext cx="292608" cy="292608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655064" y="7117651"/>
            <a:ext cx="41422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B31686"/>
                </a:solidFill>
                <a:latin typeface="Arial"/>
              </a:rPr>
              <a:t>Atención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55064" y="7346251"/>
            <a:ext cx="4142232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2159"/>
                </a:solidFill>
                <a:latin typeface="Arial"/>
              </a:rPr>
              <a:t>Si intentamos usar o leer la variable antes de su definición, el entorno de PSeInt arrojará un error de ejecución inmediato.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876300" y="723900"/>
            <a:ext cx="5029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9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Herramientas para la Programación 4RI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76300" y="11049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00" b="1" i="0" u="none" strike="noStrike" cap="non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Síntesis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76300" y="1409700"/>
            <a:ext cx="5105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lang="en-US" sz="17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Un dato se convierte en información y evidencia cuando se organiza y procesa con propósito dentro del algoritmo.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76301" y="2359152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038225" y="235915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200150" y="235915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362075" y="235915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524000" y="235915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685926" y="2359152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Rounded Rectangle 7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2798064"/>
            <a:ext cx="5102352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6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2798064"/>
            <a:ext cx="731520" cy="1143000"/>
          </a:xfrm>
          <a:prstGeom prst="roundRect">
            <a:avLst>
              <a:gd name="adj" fmla="val 10000"/>
            </a:avLst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5024" y="2798064"/>
            <a:ext cx="274320" cy="1143000"/>
          </a:xfrm>
          <a:prstGeom prst="rect">
            <a:avLst/>
          </a:prstGeom>
          <a:solidFill>
            <a:srgbClr val="66409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77824" y="2798064"/>
            <a:ext cx="73152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92224" y="2907792"/>
            <a:ext cx="40050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664092"/>
                </a:solidFill>
                <a:latin typeface="Arial"/>
              </a:rPr>
              <a:t>Dato </a:t>
            </a:r>
            <a:r>
              <a:rPr sz="1150" b="0" i="1">
                <a:solidFill>
                  <a:srgbClr val="6B6570"/>
                </a:solidFill>
                <a:latin typeface="Arial"/>
              </a:rPr>
              <a:t>(¿Qué se registró?)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792224" y="3209544"/>
            <a:ext cx="400507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53646"/>
                </a:solidFill>
                <a:latin typeface="Arial"/>
              </a:rPr>
              <a:t>Representación mínima de una característica en memoria (Ejemplo: El registro aislado «1.5» o «A»).</a:t>
            </a:r>
          </a:p>
        </p:txBody>
      </p:sp>
      <p:sp>
        <p:nvSpPr>
          <p:cNvPr id="83" name="Rounded Rectangle 8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4078224"/>
            <a:ext cx="5102352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6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4078224"/>
            <a:ext cx="731520" cy="1143000"/>
          </a:xfrm>
          <a:prstGeom prst="roundRect">
            <a:avLst>
              <a:gd name="adj" fmla="val 10000"/>
            </a:avLst>
          </a:prstGeom>
          <a:solidFill>
            <a:srgbClr val="B316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5024" y="4078224"/>
            <a:ext cx="274320" cy="1143000"/>
          </a:xfrm>
          <a:prstGeom prst="rect">
            <a:avLst/>
          </a:prstGeom>
          <a:solidFill>
            <a:srgbClr val="B3168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77824" y="4078224"/>
            <a:ext cx="73152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92224" y="4187952"/>
            <a:ext cx="40050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B31686"/>
                </a:solidFill>
                <a:latin typeface="Arial"/>
              </a:rPr>
              <a:t>Información </a:t>
            </a:r>
            <a:r>
              <a:rPr sz="1150" b="0" i="1">
                <a:solidFill>
                  <a:srgbClr val="6B6570"/>
                </a:solidFill>
                <a:latin typeface="Arial"/>
              </a:rPr>
              <a:t>(¿Qué patrón aparece?)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92224" y="4489704"/>
            <a:ext cx="400507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53646"/>
                </a:solidFill>
                <a:latin typeface="Arial"/>
              </a:rPr>
              <a:t>El dato organizado alrededor de una pregunta y un contexto (Ejemplo: el dato 1.5 guardado en la variable tiempo_estimado de tipo Real).</a:t>
            </a:r>
          </a:p>
        </p:txBody>
      </p:sp>
      <p:sp>
        <p:nvSpPr>
          <p:cNvPr id="89" name="Rounded 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5358383"/>
            <a:ext cx="5102352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6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5358383"/>
            <a:ext cx="731520" cy="1143000"/>
          </a:xfrm>
          <a:prstGeom prst="roundRect">
            <a:avLst>
              <a:gd name="adj" fmla="val 10000"/>
            </a:avLst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5024" y="5358383"/>
            <a:ext cx="274320" cy="1143000"/>
          </a:xfrm>
          <a:prstGeom prst="rect">
            <a:avLst/>
          </a:prstGeom>
          <a:solidFill>
            <a:srgbClr val="2A56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77824" y="5358383"/>
            <a:ext cx="73152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792224" y="5468112"/>
            <a:ext cx="40050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A56C6"/>
                </a:solidFill>
                <a:latin typeface="Arial"/>
              </a:rPr>
              <a:t>Evidencia </a:t>
            </a:r>
            <a:r>
              <a:rPr sz="1150" b="0" i="1">
                <a:solidFill>
                  <a:srgbClr val="6B6570"/>
                </a:solidFill>
                <a:latin typeface="Arial"/>
              </a:rPr>
              <a:t>(¿Qué respalda?)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792224" y="5769864"/>
            <a:ext cx="400507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53646"/>
                </a:solidFill>
                <a:latin typeface="Arial"/>
              </a:rPr>
              <a:t>Datos procesados que sustentan una afirmación mediante un método claro (Ejemplo: comprobar que el asistente calcula que el tiempo estimado total supera la jornada disponible).</a:t>
            </a:r>
          </a:p>
        </p:txBody>
      </p:sp>
      <p:sp>
        <p:nvSpPr>
          <p:cNvPr id="95" name="Rounded Rectangle 9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6638544"/>
            <a:ext cx="5102352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D6E8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6638544"/>
            <a:ext cx="731520" cy="1143000"/>
          </a:xfrm>
          <a:prstGeom prst="roundRect">
            <a:avLst>
              <a:gd name="adj" fmla="val 10000"/>
            </a:avLst>
          </a:prstGeom>
          <a:solidFill>
            <a:srgbClr val="0247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5024" y="6638544"/>
            <a:ext cx="274320" cy="1143000"/>
          </a:xfrm>
          <a:prstGeom prst="rect">
            <a:avLst/>
          </a:prstGeom>
          <a:solidFill>
            <a:srgbClr val="02479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77824" y="6638544"/>
            <a:ext cx="73152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792224" y="6748272"/>
            <a:ext cx="40050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24791"/>
                </a:solidFill>
                <a:latin typeface="Arial"/>
              </a:rPr>
              <a:t>Decisión </a:t>
            </a:r>
            <a:r>
              <a:rPr sz="1150" b="0" i="1">
                <a:solidFill>
                  <a:srgbClr val="6B6570"/>
                </a:solidFill>
                <a:latin typeface="Arial"/>
              </a:rPr>
              <a:t>(¿Qué acción conviene?)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792224" y="7050024"/>
            <a:ext cx="4005072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53646"/>
                </a:solidFill>
                <a:latin typeface="Arial"/>
              </a:rPr>
              <a:t>La acción o resultado que el algoritmo entrega al usuario basado en la evidencia (Ejemplo: mostrar la alerta en pantalla «Tiempo excedido»).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876300" y="723900"/>
            <a:ext cx="5029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9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Herramientas para la Programación 4RI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76300" y="11049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00" b="1" i="0" u="none" strike="noStrike" cap="non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Síntesis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76300" y="1409700"/>
            <a:ext cx="5105400" cy="40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lang="en-US" sz="2325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Pon a prueba tu pensamiento lógico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876301" y="1936242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038225" y="193624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200150" y="193624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362075" y="193624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524000" y="1936242"/>
            <a:ext cx="57150" cy="57150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685926" y="1936242"/>
            <a:ext cx="85725" cy="85725"/>
          </a:xfrm>
          <a:prstGeom prst="ellipse">
            <a:avLst/>
          </a:prstGeom>
          <a:solidFill>
            <a:srgbClr val="FFD9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877824" y="2375154"/>
            <a:ext cx="510235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53646"/>
                </a:solidFill>
                <a:latin typeface="Arial"/>
              </a:rPr>
              <a:t>Para comprender los datos, debemos tener claro que el contexto y los metadatos explican las condiciones en las que un registro adquiere significado real.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77824" y="3186684"/>
            <a:ext cx="510235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353646"/>
                </a:solidFill>
                <a:latin typeface="Arial"/>
              </a:rPr>
              <a:t>Antes de avanzar, reflexionemos sobre la calidad y el diseño de nuestros propios datos respondiendo las siguientes preguntas:</a:t>
            </a:r>
          </a:p>
        </p:txBody>
      </p:sp>
      <p:sp>
        <p:nvSpPr>
          <p:cNvPr id="79" name="Rounded Rectangle 7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3788664"/>
            <a:ext cx="5102352" cy="1102995"/>
          </a:xfrm>
          <a:prstGeom prst="roundRect">
            <a:avLst>
              <a:gd name="adj" fmla="val 8000"/>
            </a:avLst>
          </a:prstGeom>
          <a:solidFill>
            <a:srgbClr val="FFF6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0704" y="397154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81" name="Picture 8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053840"/>
            <a:ext cx="292608" cy="29260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655064" y="3971544"/>
            <a:ext cx="41422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3D2159"/>
                </a:solidFill>
                <a:latin typeface="Arial"/>
              </a:rPr>
              <a:t>Elijamos una variable de tu asistente digital (por ejemplo: prioridad_tarea)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55064" y="4200144"/>
            <a:ext cx="4142232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2159"/>
                </a:solidFill>
                <a:latin typeface="Arial"/>
              </a:rPr>
              <a:t>¿Qué datos cuantitativos (cantidades) o cualitativos (categorías) almacena, quién los produce y con qué propósito específico se recolectan en nuestra aplicación?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7824" y="5120259"/>
            <a:ext cx="5102352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353646"/>
                </a:solidFill>
                <a:latin typeface="Arial"/>
              </a:rPr>
              <a:t>La calidad significa que el dato es adecuado para su uso previsto y que sus límites están documentados. Analiza tu variable elegida bajo estos tres filtros de control:</a:t>
            </a:r>
          </a:p>
        </p:txBody>
      </p:sp>
      <p:sp>
        <p:nvSpPr>
          <p:cNvPr id="85" name="Rounded Rectangle 8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5857494"/>
            <a:ext cx="5102352" cy="603504"/>
          </a:xfrm>
          <a:prstGeom prst="roundRect">
            <a:avLst>
              <a:gd name="adj" fmla="val 15000"/>
            </a:avLst>
          </a:prstGeom>
          <a:solidFill>
            <a:srgbClr val="F1EB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106424" y="5857494"/>
            <a:ext cx="464515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64092"/>
                </a:solidFill>
                <a:latin typeface="Arial"/>
              </a:rPr>
              <a:t>¿Es precisa? </a:t>
            </a:r>
            <a:r>
              <a:rPr sz="1000" b="0" i="0">
                <a:solidFill>
                  <a:srgbClr val="353646"/>
                </a:solidFill>
                <a:latin typeface="Arial"/>
              </a:rPr>
              <a:t>(El dato representa con exactitud la realidad).</a:t>
            </a:r>
          </a:p>
        </p:txBody>
      </p:sp>
      <p:sp>
        <p:nvSpPr>
          <p:cNvPr id="87" name="Rounded Rectangle 8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6552438"/>
            <a:ext cx="5102352" cy="603504"/>
          </a:xfrm>
          <a:prstGeom prst="roundRect">
            <a:avLst>
              <a:gd name="adj" fmla="val 15000"/>
            </a:avLst>
          </a:prstGeom>
          <a:solidFill>
            <a:srgbClr val="F1EB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106424" y="6552438"/>
            <a:ext cx="464515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64092"/>
                </a:solidFill>
                <a:latin typeface="Arial"/>
              </a:rPr>
              <a:t>¿Es reciente y pertinente? </a:t>
            </a:r>
            <a:r>
              <a:rPr sz="1000" b="0" i="0">
                <a:solidFill>
                  <a:srgbClr val="353646"/>
                </a:solidFill>
                <a:latin typeface="Arial"/>
              </a:rPr>
              <a:t>(Llega a tiempo y aporta valor a la solución).</a:t>
            </a:r>
          </a:p>
        </p:txBody>
      </p:sp>
      <p:sp>
        <p:nvSpPr>
          <p:cNvPr id="89" name="Rounded 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" y="7247382"/>
            <a:ext cx="5102352" cy="603504"/>
          </a:xfrm>
          <a:prstGeom prst="roundRect">
            <a:avLst>
              <a:gd name="adj" fmla="val 15000"/>
            </a:avLst>
          </a:prstGeom>
          <a:solidFill>
            <a:srgbClr val="F1EB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106424" y="7247382"/>
            <a:ext cx="464515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664092"/>
                </a:solidFill>
                <a:latin typeface="Arial"/>
              </a:rPr>
              <a:t>¿Es accesible? </a:t>
            </a:r>
            <a:r>
              <a:rPr sz="1000" b="0" i="0">
                <a:solidFill>
                  <a:srgbClr val="353646"/>
                </a:solidFill>
                <a:latin typeface="Arial"/>
              </a:rPr>
              <a:t>(El algoritmo puede leerla e interpretarla fácilmente sin generar confusión de tipos).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/>
          <p:nvPr/>
        </p:nvSpPr>
        <p:spPr>
          <a:xfrm>
            <a:off x="876300" y="723900"/>
            <a:ext cx="5029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"/>
              <a:buFont typeface="Arial"/>
              <a:buNone/>
            </a:pPr>
            <a:r>
              <a:rPr lang="en-US" sz="900" b="1" i="0" u="none" strike="noStrike" cap="none">
                <a:solidFill>
                  <a:srgbClr val="024791"/>
                </a:solidFill>
                <a:latin typeface="Arial"/>
                <a:ea typeface="Arial"/>
                <a:cs typeface="Arial"/>
                <a:sym typeface="Arial"/>
              </a:rPr>
              <a:t>Artículo educativo · Herramientas para la Programación 4RI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876300" y="11049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lang="en-US" sz="900" b="1" i="0" u="none" strike="noStrike" cap="none">
                <a:solidFill>
                  <a:srgbClr val="B31686"/>
                </a:solidFill>
                <a:latin typeface="Arial"/>
                <a:ea typeface="Arial"/>
                <a:cs typeface="Arial"/>
                <a:sym typeface="Arial"/>
              </a:rPr>
              <a:t>Créditos</a:t>
            </a:r>
            <a:endParaRPr sz="900" b="1" i="0" u="none" strike="noStrike" cap="none">
              <a:solidFill>
                <a:srgbClr val="B3168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876300" y="1409700"/>
            <a:ext cx="510540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lang="en-US" sz="2000" b="1" i="0" u="none" strike="noStrike" cap="none">
                <a:solidFill>
                  <a:srgbClr val="3D2159"/>
                </a:solidFill>
                <a:latin typeface="Arial"/>
                <a:ea typeface="Arial"/>
                <a:cs typeface="Arial"/>
                <a:sym typeface="Arial"/>
              </a:rPr>
              <a:t>Créditos de producción y postproducción</a:t>
            </a:r>
            <a:endParaRPr sz="2325" b="1" i="0" u="none" strike="noStrike" cap="none">
              <a:solidFill>
                <a:srgbClr val="3D21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" name="Google Shape;140;p9">
            <a:extLst>
              <a:ext uri="{FF2B5EF4-FFF2-40B4-BE49-F238E27FC236}">
                <a16:creationId xmlns:a16="http://schemas.microsoft.com/office/drawing/2014/main" id="{5A8AF1EF-CB1D-4EAC-BC33-78D4DDC7F3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0038722"/>
              </p:ext>
            </p:extLst>
          </p:nvPr>
        </p:nvGraphicFramePr>
        <p:xfrm>
          <a:off x="877824" y="2190750"/>
          <a:ext cx="5102351" cy="56881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13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Proyecto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@Medellín — SAPIENCIA</a:t>
                      </a:r>
                      <a:endParaRPr sz="1100" u="none" strike="noStrike" cap="non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recurso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Artículo educativo</a:t>
                      </a:r>
                      <a:endParaRPr sz="1100" u="none" strike="noStrike" cap="non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Coordinación general: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Luz Dary Morales Galvis</a:t>
                      </a:r>
                      <a:endParaRPr sz="1100" u="none" strike="noStrike" cap="non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Experto temático: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Érika Andrea Sánchez Salazar</a:t>
                      </a:r>
                      <a:endParaRPr sz="1100" u="none" strike="noStrike" cap="non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Diseñador de la experiencia virtual de aprendizaje: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Stevenson Rodas Gómez</a:t>
                      </a:r>
                      <a:endParaRPr sz="1100" u="none" strike="noStrike" cap="non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Corrección de estilo: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Sergio Andrés Ocampo Rivera</a:t>
                      </a:r>
                      <a:endParaRPr sz="1100" u="none" strike="noStrike" cap="non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Validación pedagógica: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Sandra Patricia Hoyos Sepúlveda</a:t>
                      </a:r>
                      <a:endParaRPr sz="1100" u="none" strike="noStrike" cap="non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Diseño gráfico: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Andrea Valentina Roa Orozco</a:t>
                      </a:r>
                      <a:endParaRPr sz="1100" u="none" strike="noStrike" cap="non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Disposición y ensamble: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Samayda Herrera Betancur</a:t>
                      </a:r>
                      <a:endParaRPr sz="1100" u="none" strike="noStrike" cap="non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Última actualización</a:t>
                      </a:r>
                      <a:endParaRPr sz="11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95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Octubre de 2026</a:t>
                      </a:r>
                      <a:endParaRPr sz="1100" u="none" strike="noStrike" cap="none">
                        <a:solidFill>
                          <a:srgbClr val="2D253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37150" marR="137150" marT="137150" marB="137150">
                    <a:lnL w="9525">
                      <a:solidFill>
                        <a:srgbClr val="DDD6E8"/>
                      </a:solidFill>
                    </a:lnL>
                    <a:lnR w="9525">
                      <a:solidFill>
                        <a:srgbClr val="DDD6E8"/>
                      </a:solidFill>
                    </a:lnR>
                    <a:lnT w="9525">
                      <a:solidFill>
                        <a:srgbClr val="DDD6E8"/>
                      </a:solidFill>
                    </a:lnT>
                    <a:lnB w="9525">
                      <a:solidFill>
                        <a:srgbClr val="DDD6E8"/>
                      </a:solidFill>
                    </a:lnB>
                    <a:solidFill>
                      <a:srgbClr val="F1EB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1456</Words>
  <Application>Microsoft Office PowerPoint</Application>
  <PresentationFormat>A4 (210 x 297 mm)</PresentationFormat>
  <Paragraphs>171</Paragraphs>
  <Slides>11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Walnut Exporter</dc:creator>
  <cp:lastModifiedBy>Valentina Orozco</cp:lastModifiedBy>
  <cp:revision>2</cp:revision>
  <dcterms:created xsi:type="dcterms:W3CDTF">2026-08-28T21:01:11Z</dcterms:created>
  <dcterms:modified xsi:type="dcterms:W3CDTF">2026-09-30T07:36:20Z</dcterms:modified>
</cp:coreProperties>
</file>