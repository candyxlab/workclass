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4"/>
  </p:sldIdLst>
  <p:sldSz cy="10934700" cx="1905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444">
          <p15:clr>
            <a:srgbClr val="A4A3A4"/>
          </p15:clr>
        </p15:guide>
        <p15:guide id="2" pos="5002">
          <p15:clr>
            <a:srgbClr val="000000"/>
          </p15:clr>
        </p15:guide>
      </p15:sldGuideLst>
    </p:ext>
    <p:ext uri="GoogleSlidesCustomDataVersion2">
      <go:slidesCustomData xmlns:go="http://customooxmlschemas.google.com/" r:id="rId13" roundtripDataSignature="AMtx7mikqxe7FuDmV3vAOBNJPKuFn35M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444" orient="horz"/>
        <p:guide pos="500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customschemas.google.com/relationships/presentationmetadata" Target="metadata"/><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49453" y="0"/>
            <a:ext cx="25011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89"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2833"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33"/>
              <a:buFont typeface="Arial"/>
              <a:buNone/>
            </a:pPr>
            <a:r>
              <a:t/>
            </a:r>
            <a:endParaRPr b="0" i="0" sz="2833"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 name="Google Shape;15;p1:notes"/>
          <p:cNvSpPr/>
          <p:nvPr>
            <p:ph idx="2" type="sldImg"/>
          </p:nvPr>
        </p:nvSpPr>
        <p:spPr>
          <a:xfrm>
            <a:off x="-1112838" y="0"/>
            <a:ext cx="5226051" cy="30003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1112838" y="0"/>
            <a:ext cx="522605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 name="Google Shape;5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2:notes"/>
          <p:cNvSpPr/>
          <p:nvPr>
            <p:ph idx="2" type="sldImg"/>
          </p:nvPr>
        </p:nvSpPr>
        <p:spPr>
          <a:xfrm>
            <a:off x="249453" y="0"/>
            <a:ext cx="25011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6:notes"/>
          <p:cNvSpPr/>
          <p:nvPr>
            <p:ph idx="2" type="sldImg"/>
          </p:nvPr>
        </p:nvSpPr>
        <p:spPr>
          <a:xfrm>
            <a:off x="249453" y="0"/>
            <a:ext cx="25011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7:notes"/>
          <p:cNvSpPr/>
          <p:nvPr>
            <p:ph idx="2" type="sldImg"/>
          </p:nvPr>
        </p:nvSpPr>
        <p:spPr>
          <a:xfrm>
            <a:off x="249453" y="0"/>
            <a:ext cx="25011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8: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8:notes"/>
          <p:cNvSpPr/>
          <p:nvPr>
            <p:ph idx="2" type="sldImg"/>
          </p:nvPr>
        </p:nvSpPr>
        <p:spPr>
          <a:xfrm>
            <a:off x="249453" y="0"/>
            <a:ext cx="25011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19:notes"/>
          <p:cNvSpPr/>
          <p:nvPr>
            <p:ph idx="2" type="sldImg"/>
          </p:nvPr>
        </p:nvSpPr>
        <p:spPr>
          <a:xfrm>
            <a:off x="249453" y="0"/>
            <a:ext cx="25011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3.png"/><Relationship Id="rId3"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4"/>
          <p:cNvPicPr preferRelativeResize="0"/>
          <p:nvPr/>
        </p:nvPicPr>
        <p:blipFill rotWithShape="1">
          <a:blip r:embed="rId1">
            <a:alphaModFix/>
          </a:blip>
          <a:srcRect b="0" l="0" r="0" t="0"/>
          <a:stretch/>
        </p:blipFill>
        <p:spPr>
          <a:xfrm>
            <a:off x="12341906" y="571499"/>
            <a:ext cx="6219825" cy="9429750"/>
          </a:xfrm>
          <a:prstGeom prst="rect">
            <a:avLst/>
          </a:prstGeom>
          <a:noFill/>
          <a:ln>
            <a:noFill/>
          </a:ln>
        </p:spPr>
      </p:pic>
      <p:pic>
        <p:nvPicPr>
          <p:cNvPr id="11" name="Google Shape;11;p14"/>
          <p:cNvPicPr preferRelativeResize="0"/>
          <p:nvPr/>
        </p:nvPicPr>
        <p:blipFill rotWithShape="1">
          <a:blip r:embed="rId2">
            <a:alphaModFix/>
          </a:blip>
          <a:srcRect b="0" l="0" r="0" t="0"/>
          <a:stretch/>
        </p:blipFill>
        <p:spPr>
          <a:xfrm>
            <a:off x="0" y="9446571"/>
            <a:ext cx="19050000" cy="152846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12.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slide" Target="slide2.xml"/><Relationship Id="rId9" Type="http://schemas.openxmlformats.org/officeDocument/2006/relationships/image" Target="../media/image5.png"/><Relationship Id="rId10" Type="http://schemas.openxmlformats.org/officeDocument/2006/relationships/image" Target="../media/image8.png"/><Relationship Id="rId11" Type="http://schemas.openxmlformats.org/officeDocument/2006/relationships/image" Target="../media/image1.png"/><Relationship Id="rId12" Type="http://schemas.openxmlformats.org/officeDocument/2006/relationships/slide" Target="slide2.xml"/><Relationship Id="rId13" Type="http://schemas.openxmlformats.org/officeDocument/2006/relationships/slide" Target="slide3.xml"/><Relationship Id="rId14" Type="http://schemas.openxmlformats.org/officeDocument/2006/relationships/slide" Target="slide4.xml"/><Relationship Id="rId15" Type="http://schemas.openxmlformats.org/officeDocument/2006/relationships/slide" Target="slide5.xml"/><Relationship Id="rId16" Type="http://schemas.openxmlformats.org/officeDocument/2006/relationships/slide" Target="slide6.xml"/><Relationship Id="rId17" Type="http://schemas.openxmlformats.org/officeDocument/2006/relationships/slide" Target="slide7.xml"/><Relationship Id="rId18" Type="http://schemas.openxmlformats.org/officeDocument/2006/relationships/image" Target="../media/image7.png"/><Relationship Id="rId19" Type="http://schemas.openxmlformats.org/officeDocument/2006/relationships/slide" Target="slide1.xml"/><Relationship Id="rId20" Type="http://schemas.openxmlformats.org/officeDocument/2006/relationships/image" Target="../media/image15.png"/><Relationship Id="rId21" Type="http://schemas.openxmlformats.org/officeDocument/2006/relationships/slide" Target="slide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6.xml"/><Relationship Id="rId8" Type="http://schemas.openxmlformats.org/officeDocument/2006/relationships/slide" Target="slide7.xml"/><Relationship Id="rId9" Type="http://schemas.openxmlformats.org/officeDocument/2006/relationships/slide" Target="slide1.xml"/><Relationship Id="rId10" Type="http://schemas.openxmlformats.org/officeDocument/2006/relationships/slide" Target="slide3.xml"/><Relationship Id="rId11" Type="http://schemas.openxmlformats.org/officeDocument/2006/relationships/image" Target="../media/image7.png"/><Relationship Id="rId12" Type="http://schemas.openxmlformats.org/officeDocument/2006/relationships/slide" Target="slide1.xml"/><Relationship Id="rId13" Type="http://schemas.openxmlformats.org/officeDocument/2006/relationships/image" Target="../media/image24.png"/><Relationship Id="rId14" Type="http://schemas.openxmlformats.org/officeDocument/2006/relationships/image" Target="../media/image10.png"/><Relationship Id="rId15" Type="http://schemas.openxmlformats.org/officeDocument/2006/relationships/image" Target="../media/image11.png"/><Relationship Id="rId16" Type="http://schemas.openxmlformats.org/officeDocument/2006/relationships/image" Target="../media/image9.png"/><Relationship Id="rId17" Type="http://schemas.openxmlformats.org/officeDocument/2006/relationships/slide" Target="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6.xml"/><Relationship Id="rId8" Type="http://schemas.openxmlformats.org/officeDocument/2006/relationships/slide" Target="slide7.xml"/><Relationship Id="rId9" Type="http://schemas.openxmlformats.org/officeDocument/2006/relationships/slide" Target="slide2.xml"/><Relationship Id="rId10" Type="http://schemas.openxmlformats.org/officeDocument/2006/relationships/slide" Target="slide4.xml"/><Relationship Id="rId11" Type="http://schemas.openxmlformats.org/officeDocument/2006/relationships/image" Target="../media/image7.png"/><Relationship Id="rId12" Type="http://schemas.openxmlformats.org/officeDocument/2006/relationships/slide" Target="slide1.xml"/><Relationship Id="rId13" Type="http://schemas.openxmlformats.org/officeDocument/2006/relationships/image" Target="../media/image14.png"/><Relationship Id="rId14" Type="http://schemas.openxmlformats.org/officeDocument/2006/relationships/image" Target="../media/image16.png"/><Relationship Id="rId15" Type="http://schemas.openxmlformats.org/officeDocument/2006/relationships/image" Target="../media/image22.png"/><Relationship Id="rId16" Type="http://schemas.openxmlformats.org/officeDocument/2006/relationships/slide" Target="slide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6.xml"/><Relationship Id="rId8" Type="http://schemas.openxmlformats.org/officeDocument/2006/relationships/slide" Target="slide7.xml"/><Relationship Id="rId9" Type="http://schemas.openxmlformats.org/officeDocument/2006/relationships/slide" Target="slide3.xml"/><Relationship Id="rId10" Type="http://schemas.openxmlformats.org/officeDocument/2006/relationships/slide" Target="slide5.xml"/><Relationship Id="rId11" Type="http://schemas.openxmlformats.org/officeDocument/2006/relationships/image" Target="../media/image7.png"/><Relationship Id="rId12" Type="http://schemas.openxmlformats.org/officeDocument/2006/relationships/slide" Target="slide1.xml"/><Relationship Id="rId13" Type="http://schemas.openxmlformats.org/officeDocument/2006/relationships/image" Target="../media/image17.png"/><Relationship Id="rId14" Type="http://schemas.openxmlformats.org/officeDocument/2006/relationships/slide" Target="slide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6.xml"/><Relationship Id="rId8" Type="http://schemas.openxmlformats.org/officeDocument/2006/relationships/slide" Target="slide7.xml"/><Relationship Id="rId9" Type="http://schemas.openxmlformats.org/officeDocument/2006/relationships/slide" Target="slide4.xml"/><Relationship Id="rId10" Type="http://schemas.openxmlformats.org/officeDocument/2006/relationships/slide" Target="slide6.xml"/><Relationship Id="rId11" Type="http://schemas.openxmlformats.org/officeDocument/2006/relationships/image" Target="../media/image7.png"/><Relationship Id="rId12" Type="http://schemas.openxmlformats.org/officeDocument/2006/relationships/slide" Target="slide1.xml"/><Relationship Id="rId13" Type="http://schemas.openxmlformats.org/officeDocument/2006/relationships/image" Target="../media/image17.png"/><Relationship Id="rId14" Type="http://schemas.openxmlformats.org/officeDocument/2006/relationships/slide" Target="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6.xml"/><Relationship Id="rId8" Type="http://schemas.openxmlformats.org/officeDocument/2006/relationships/slide" Target="slide7.xml"/><Relationship Id="rId9" Type="http://schemas.openxmlformats.org/officeDocument/2006/relationships/slide" Target="slide5.xml"/><Relationship Id="rId10" Type="http://schemas.openxmlformats.org/officeDocument/2006/relationships/slide" Target="slide7.xml"/><Relationship Id="rId11" Type="http://schemas.openxmlformats.org/officeDocument/2006/relationships/image" Target="../media/image7.png"/><Relationship Id="rId12" Type="http://schemas.openxmlformats.org/officeDocument/2006/relationships/slide" Target="slide1.xml"/><Relationship Id="rId13" Type="http://schemas.openxmlformats.org/officeDocument/2006/relationships/slide" Target="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6.xml"/><Relationship Id="rId8" Type="http://schemas.openxmlformats.org/officeDocument/2006/relationships/slide" Target="slide7.xml"/><Relationship Id="rId9" Type="http://schemas.openxmlformats.org/officeDocument/2006/relationships/slide" Target="slide6.xml"/><Relationship Id="rId10" Type="http://schemas.openxmlformats.org/officeDocument/2006/relationships/image" Target="../media/image7.png"/><Relationship Id="rId11" Type="http://schemas.openxmlformats.org/officeDocument/2006/relationships/slide" Target="slide1.xml"/><Relationship Id="rId12" Type="http://schemas.openxmlformats.org/officeDocument/2006/relationships/image" Target="../media/image20.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1.png"/><Relationship Id="rId16"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slide" Target="slide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5.xml"/><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slide" Target="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 name="Shape 16"/>
        <p:cNvGrpSpPr/>
        <p:nvPr/>
      </p:nvGrpSpPr>
      <p:grpSpPr>
        <a:xfrm>
          <a:off x="0" y="0"/>
          <a:ext cx="0" cy="0"/>
          <a:chOff x="0" y="0"/>
          <a:chExt cx="0" cy="0"/>
        </a:xfrm>
      </p:grpSpPr>
      <p:pic>
        <p:nvPicPr>
          <p:cNvPr id="17" name="Google Shape;17;p1"/>
          <p:cNvPicPr preferRelativeResize="0"/>
          <p:nvPr/>
        </p:nvPicPr>
        <p:blipFill rotWithShape="1">
          <a:blip r:embed="rId3">
            <a:alphaModFix/>
          </a:blip>
          <a:srcRect b="0" l="0" r="0" t="0"/>
          <a:stretch/>
        </p:blipFill>
        <p:spPr>
          <a:xfrm>
            <a:off x="3034425" y="-177800"/>
            <a:ext cx="17123301" cy="11169650"/>
          </a:xfrm>
          <a:prstGeom prst="rect">
            <a:avLst/>
          </a:prstGeom>
          <a:noFill/>
          <a:ln>
            <a:noFill/>
          </a:ln>
        </p:spPr>
      </p:pic>
      <p:pic>
        <p:nvPicPr>
          <p:cNvPr id="18" name="Google Shape;18;p1"/>
          <p:cNvPicPr preferRelativeResize="0"/>
          <p:nvPr/>
        </p:nvPicPr>
        <p:blipFill rotWithShape="1">
          <a:blip r:embed="rId4">
            <a:alphaModFix amt="35000"/>
          </a:blip>
          <a:srcRect b="0" l="27082" r="0" t="0"/>
          <a:stretch/>
        </p:blipFill>
        <p:spPr>
          <a:xfrm>
            <a:off x="2801486" y="-120650"/>
            <a:ext cx="9058927" cy="11175997"/>
          </a:xfrm>
          <a:prstGeom prst="rect">
            <a:avLst/>
          </a:prstGeom>
          <a:noFill/>
          <a:ln>
            <a:noFill/>
          </a:ln>
        </p:spPr>
      </p:pic>
      <p:pic>
        <p:nvPicPr>
          <p:cNvPr id="19" name="Google Shape;19;p1"/>
          <p:cNvPicPr preferRelativeResize="0"/>
          <p:nvPr/>
        </p:nvPicPr>
        <p:blipFill rotWithShape="1">
          <a:blip r:embed="rId5">
            <a:alphaModFix/>
          </a:blip>
          <a:srcRect b="0" l="0" r="0" t="0"/>
          <a:stretch/>
        </p:blipFill>
        <p:spPr>
          <a:xfrm>
            <a:off x="5360402" y="1245308"/>
            <a:ext cx="12845207" cy="8762293"/>
          </a:xfrm>
          <a:prstGeom prst="rect">
            <a:avLst/>
          </a:prstGeom>
          <a:noFill/>
          <a:ln>
            <a:noFill/>
          </a:ln>
        </p:spPr>
      </p:pic>
      <p:pic>
        <p:nvPicPr>
          <p:cNvPr id="20" name="Google Shape;20;p1"/>
          <p:cNvPicPr preferRelativeResize="0"/>
          <p:nvPr/>
        </p:nvPicPr>
        <p:blipFill rotWithShape="1">
          <a:blip r:embed="rId6">
            <a:alphaModFix/>
          </a:blip>
          <a:srcRect b="0" l="0" r="0" t="0"/>
          <a:stretch/>
        </p:blipFill>
        <p:spPr>
          <a:xfrm>
            <a:off x="10296400" y="-114301"/>
            <a:ext cx="9058926" cy="11169647"/>
          </a:xfrm>
          <a:prstGeom prst="rect">
            <a:avLst/>
          </a:prstGeom>
          <a:noFill/>
          <a:ln>
            <a:noFill/>
          </a:ln>
        </p:spPr>
      </p:pic>
      <p:pic>
        <p:nvPicPr>
          <p:cNvPr id="21" name="Google Shape;21;p1"/>
          <p:cNvPicPr preferRelativeResize="0"/>
          <p:nvPr/>
        </p:nvPicPr>
        <p:blipFill rotWithShape="1">
          <a:blip r:embed="rId7">
            <a:alphaModFix/>
          </a:blip>
          <a:srcRect b="0" l="0" r="0" t="0"/>
          <a:stretch/>
        </p:blipFill>
        <p:spPr>
          <a:xfrm>
            <a:off x="6467658" y="4595812"/>
            <a:ext cx="2263176" cy="182642"/>
          </a:xfrm>
          <a:prstGeom prst="rect">
            <a:avLst/>
          </a:prstGeom>
          <a:noFill/>
          <a:ln>
            <a:noFill/>
          </a:ln>
        </p:spPr>
      </p:pic>
      <p:sp>
        <p:nvSpPr>
          <p:cNvPr id="22" name="Google Shape;22;p1"/>
          <p:cNvSpPr txBox="1"/>
          <p:nvPr/>
        </p:nvSpPr>
        <p:spPr>
          <a:xfrm>
            <a:off x="6115750" y="5449075"/>
            <a:ext cx="93699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s-CO" sz="2800" u="none" cap="none" strike="noStrike">
                <a:solidFill>
                  <a:srgbClr val="663D8F"/>
                </a:solidFill>
                <a:latin typeface="Arial"/>
                <a:ea typeface="Arial"/>
                <a:cs typeface="Arial"/>
                <a:sym typeface="Arial"/>
              </a:rPr>
              <a:t>Un recorrido breve para comprender, reflexionar y aplicar cómo nos relacionamos con los demás.</a:t>
            </a:r>
            <a:endParaRPr b="0" i="0" sz="2800" u="none" cap="none" strike="noStrike">
              <a:solidFill>
                <a:srgbClr val="663D8F"/>
              </a:solidFill>
              <a:latin typeface="Arial"/>
              <a:ea typeface="Arial"/>
              <a:cs typeface="Arial"/>
              <a:sym typeface="Arial"/>
            </a:endParaRPr>
          </a:p>
        </p:txBody>
      </p:sp>
      <p:sp>
        <p:nvSpPr>
          <p:cNvPr id="23" name="Google Shape;23;p1"/>
          <p:cNvSpPr/>
          <p:nvPr/>
        </p:nvSpPr>
        <p:spPr>
          <a:xfrm>
            <a:off x="6202428" y="8028299"/>
            <a:ext cx="3225900" cy="863100"/>
          </a:xfrm>
          <a:prstGeom prst="roundRect">
            <a:avLst>
              <a:gd fmla="val 27586" name="adj"/>
            </a:avLst>
          </a:prstGeom>
          <a:solidFill>
            <a:srgbClr val="C8A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1">
            <a:hlinkClick action="ppaction://hlinksldjump" r:id="rId8"/>
          </p:cNvPr>
          <p:cNvSpPr/>
          <p:nvPr/>
        </p:nvSpPr>
        <p:spPr>
          <a:xfrm>
            <a:off x="6202428" y="7968768"/>
            <a:ext cx="3225900" cy="863100"/>
          </a:xfrm>
          <a:prstGeom prst="roundRect">
            <a:avLst>
              <a:gd fmla="val 27586" name="adj"/>
            </a:avLst>
          </a:prstGeom>
          <a:solidFill>
            <a:srgbClr val="FFD900"/>
          </a:solidFill>
          <a:ln>
            <a:noFill/>
          </a:ln>
        </p:spPr>
        <p:txBody>
          <a:bodyPr anchorCtr="0" anchor="ctr" bIns="59525" lIns="148825" spcFirstLastPara="1" rIns="148825" wrap="square" tIns="59525">
            <a:normAutofit/>
          </a:bodyPr>
          <a:lstStyle/>
          <a:p>
            <a:pPr indent="0" lvl="0" marL="0" marR="0" rtl="0" algn="ctr">
              <a:lnSpc>
                <a:spcPct val="100000"/>
              </a:lnSpc>
              <a:spcBef>
                <a:spcPts val="0"/>
              </a:spcBef>
              <a:spcAft>
                <a:spcPts val="0"/>
              </a:spcAft>
              <a:buClr>
                <a:srgbClr val="000000"/>
              </a:buClr>
              <a:buSzPts val="1992"/>
              <a:buFont typeface="Arial"/>
              <a:buNone/>
            </a:pPr>
            <a:r>
              <a:rPr b="1" i="0" lang="es-CO" sz="1992" u="sng" cap="none" strike="noStrike">
                <a:solidFill>
                  <a:srgbClr val="663D8F"/>
                </a:solidFill>
                <a:latin typeface="Arial"/>
                <a:ea typeface="Arial"/>
                <a:cs typeface="Arial"/>
                <a:sym typeface="Arial"/>
              </a:rPr>
              <a:t>Comenzar</a:t>
            </a:r>
            <a:endParaRPr b="1" i="0" sz="1992" u="sng" cap="none" strike="noStrike">
              <a:solidFill>
                <a:srgbClr val="663D8F"/>
              </a:solidFill>
              <a:latin typeface="Arial"/>
              <a:ea typeface="Arial"/>
              <a:cs typeface="Arial"/>
              <a:sym typeface="Arial"/>
            </a:endParaRPr>
          </a:p>
        </p:txBody>
      </p:sp>
      <p:pic>
        <p:nvPicPr>
          <p:cNvPr id="25" name="Google Shape;25;p1"/>
          <p:cNvPicPr preferRelativeResize="0"/>
          <p:nvPr/>
        </p:nvPicPr>
        <p:blipFill rotWithShape="1">
          <a:blip r:embed="rId9">
            <a:alphaModFix/>
          </a:blip>
          <a:srcRect b="0" l="0" r="0" t="0"/>
          <a:stretch/>
        </p:blipFill>
        <p:spPr>
          <a:xfrm>
            <a:off x="1275859" y="1067484"/>
            <a:ext cx="1191145" cy="1183205"/>
          </a:xfrm>
          <a:prstGeom prst="rect">
            <a:avLst/>
          </a:prstGeom>
          <a:noFill/>
          <a:ln>
            <a:noFill/>
          </a:ln>
        </p:spPr>
      </p:pic>
      <p:pic>
        <p:nvPicPr>
          <p:cNvPr id="26" name="Google Shape;26;p1"/>
          <p:cNvPicPr preferRelativeResize="0"/>
          <p:nvPr/>
        </p:nvPicPr>
        <p:blipFill rotWithShape="1">
          <a:blip r:embed="rId10">
            <a:alphaModFix/>
          </a:blip>
          <a:srcRect b="0" l="0" r="0" t="0"/>
          <a:stretch/>
        </p:blipFill>
        <p:spPr>
          <a:xfrm>
            <a:off x="15865645" y="420404"/>
            <a:ext cx="2398173" cy="539986"/>
          </a:xfrm>
          <a:prstGeom prst="rect">
            <a:avLst/>
          </a:prstGeom>
          <a:noFill/>
          <a:ln>
            <a:noFill/>
          </a:ln>
        </p:spPr>
      </p:pic>
      <p:sp>
        <p:nvSpPr>
          <p:cNvPr id="27" name="Google Shape;27;p1"/>
          <p:cNvSpPr txBox="1"/>
          <p:nvPr/>
        </p:nvSpPr>
        <p:spPr>
          <a:xfrm>
            <a:off x="6115751" y="1777100"/>
            <a:ext cx="124101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CO" sz="7200" u="none" cap="none" strike="noStrike">
                <a:solidFill>
                  <a:srgbClr val="024791"/>
                </a:solidFill>
                <a:latin typeface="Arial"/>
                <a:ea typeface="Arial"/>
                <a:cs typeface="Arial"/>
                <a:sym typeface="Arial"/>
              </a:rPr>
              <a:t>Inteligencia social</a:t>
            </a:r>
            <a:endParaRPr b="0" i="0" sz="7200" u="none" cap="none" strike="noStrike">
              <a:solidFill>
                <a:srgbClr val="000000"/>
              </a:solidFill>
              <a:latin typeface="Arial"/>
              <a:ea typeface="Arial"/>
              <a:cs typeface="Arial"/>
              <a:sym typeface="Arial"/>
            </a:endParaRPr>
          </a:p>
        </p:txBody>
      </p:sp>
      <p:pic>
        <p:nvPicPr>
          <p:cNvPr id="28" name="Google Shape;28;p1"/>
          <p:cNvPicPr preferRelativeResize="0"/>
          <p:nvPr/>
        </p:nvPicPr>
        <p:blipFill rotWithShape="1">
          <a:blip r:embed="rId11">
            <a:alphaModFix/>
          </a:blip>
          <a:srcRect b="0" l="0" r="0" t="0"/>
          <a:stretch/>
        </p:blipFill>
        <p:spPr>
          <a:xfrm>
            <a:off x="18525915" y="10310812"/>
            <a:ext cx="1040267" cy="1040267"/>
          </a:xfrm>
          <a:prstGeom prst="rect">
            <a:avLst/>
          </a:prstGeom>
          <a:noFill/>
          <a:ln>
            <a:noFill/>
          </a:ln>
        </p:spPr>
      </p:pic>
      <p:sp>
        <p:nvSpPr>
          <p:cNvPr id="29" name="Google Shape;29;p1"/>
          <p:cNvSpPr/>
          <p:nvPr/>
        </p:nvSpPr>
        <p:spPr>
          <a:xfrm>
            <a:off x="0" y="0"/>
            <a:ext cx="3168000" cy="10934700"/>
          </a:xfrm>
          <a:prstGeom prst="rect">
            <a:avLst/>
          </a:prstGeom>
          <a:solidFill>
            <a:srgbClr val="F5F3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1"/>
          <p:cNvSpPr/>
          <p:nvPr/>
        </p:nvSpPr>
        <p:spPr>
          <a:xfrm>
            <a:off x="3153046" y="0"/>
            <a:ext cx="15000" cy="10934700"/>
          </a:xfrm>
          <a:prstGeom prst="rect">
            <a:avLst/>
          </a:prstGeom>
          <a:solidFill>
            <a:srgbClr val="E0DA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1"/>
          <p:cNvSpPr/>
          <p:nvPr/>
        </p:nvSpPr>
        <p:spPr>
          <a:xfrm>
            <a:off x="191751" y="1550000"/>
            <a:ext cx="2784600" cy="14100"/>
          </a:xfrm>
          <a:prstGeom prst="rect">
            <a:avLst/>
          </a:prstGeom>
          <a:solidFill>
            <a:srgbClr val="D8D2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
          <p:cNvSpPr/>
          <p:nvPr/>
        </p:nvSpPr>
        <p:spPr>
          <a:xfrm>
            <a:off x="191751" y="1730000"/>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
            <a:hlinkClick action="ppaction://hlinksldjump" r:id="rId12"/>
          </p:cNvPr>
          <p:cNvSpPr/>
          <p:nvPr/>
        </p:nvSpPr>
        <p:spPr>
          <a:xfrm>
            <a:off x="266783" y="1730000"/>
            <a:ext cx="2709600" cy="1117697"/>
          </a:xfrm>
          <a:prstGeom prst="roundRect">
            <a:avLst>
              <a:gd fmla="val 10000" name="adj"/>
            </a:avLst>
          </a:prstGeom>
          <a:solidFill>
            <a:srgbClr val="E6E0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¿Qué es la inteligencia social?</a:t>
            </a:r>
            <a:endParaRPr b="0" i="0" sz="1400" u="none" cap="none" strike="noStrike">
              <a:solidFill>
                <a:srgbClr val="000000"/>
              </a:solidFill>
              <a:latin typeface="Arial"/>
              <a:ea typeface="Arial"/>
              <a:cs typeface="Arial"/>
              <a:sym typeface="Arial"/>
            </a:endParaRPr>
          </a:p>
        </p:txBody>
      </p:sp>
      <p:sp>
        <p:nvSpPr>
          <p:cNvPr id="34" name="Google Shape;34;p1"/>
          <p:cNvSpPr/>
          <p:nvPr/>
        </p:nvSpPr>
        <p:spPr>
          <a:xfrm>
            <a:off x="191751" y="2997813"/>
            <a:ext cx="75000" cy="1117697"/>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1">
            <a:hlinkClick action="ppaction://hlinksldjump" r:id="rId13"/>
          </p:cNvPr>
          <p:cNvSpPr/>
          <p:nvPr/>
        </p:nvSpPr>
        <p:spPr>
          <a:xfrm>
            <a:off x="266783" y="2997813"/>
            <a:ext cx="2709600" cy="1117697"/>
          </a:xfrm>
          <a:prstGeom prst="roundRect">
            <a:avLst>
              <a:gd fmla="val 10000" name="adj"/>
            </a:avLst>
          </a:prstGeom>
          <a:solidFill>
            <a:srgbClr val="F0DAEC"/>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Tres claves para relacionarnos</a:t>
            </a:r>
            <a:endParaRPr b="0" i="0" sz="1400" u="none" cap="none" strike="noStrike">
              <a:solidFill>
                <a:srgbClr val="000000"/>
              </a:solidFill>
              <a:latin typeface="Arial"/>
              <a:ea typeface="Arial"/>
              <a:cs typeface="Arial"/>
              <a:sym typeface="Arial"/>
            </a:endParaRPr>
          </a:p>
        </p:txBody>
      </p:sp>
      <p:sp>
        <p:nvSpPr>
          <p:cNvPr id="36" name="Google Shape;36;p1"/>
          <p:cNvSpPr/>
          <p:nvPr/>
        </p:nvSpPr>
        <p:spPr>
          <a:xfrm>
            <a:off x="191751" y="4265626"/>
            <a:ext cx="75000" cy="1117697"/>
          </a:xfrm>
          <a:prstGeom prst="rect">
            <a:avLst/>
          </a:prstGeom>
          <a:solidFill>
            <a:srgbClr val="467C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
            <a:hlinkClick action="ppaction://hlinksldjump" r:id="rId14"/>
          </p:cNvPr>
          <p:cNvSpPr/>
          <p:nvPr/>
        </p:nvSpPr>
        <p:spPr>
          <a:xfrm>
            <a:off x="266783" y="4265626"/>
            <a:ext cx="2709600" cy="1117697"/>
          </a:xfrm>
          <a:prstGeom prst="roundRect">
            <a:avLst>
              <a:gd fmla="val 10000" name="adj"/>
            </a:avLst>
          </a:prstGeom>
          <a:solidFill>
            <a:srgbClr val="E1EAFC"/>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Lo que se activa en nosotros</a:t>
            </a:r>
            <a:endParaRPr b="0" i="0" sz="1400" u="none" cap="none" strike="noStrike">
              <a:solidFill>
                <a:srgbClr val="000000"/>
              </a:solidFill>
              <a:latin typeface="Arial"/>
              <a:ea typeface="Arial"/>
              <a:cs typeface="Arial"/>
              <a:sym typeface="Arial"/>
            </a:endParaRPr>
          </a:p>
        </p:txBody>
      </p:sp>
      <p:sp>
        <p:nvSpPr>
          <p:cNvPr id="38" name="Google Shape;38;p1"/>
          <p:cNvSpPr/>
          <p:nvPr/>
        </p:nvSpPr>
        <p:spPr>
          <a:xfrm>
            <a:off x="191751" y="5533439"/>
            <a:ext cx="75000" cy="1117697"/>
          </a:xfrm>
          <a:prstGeom prst="rect">
            <a:avLst/>
          </a:prstGeom>
          <a:solidFill>
            <a:srgbClr val="3D2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
            <a:hlinkClick action="ppaction://hlinksldjump" r:id="rId15"/>
          </p:cNvPr>
          <p:cNvSpPr/>
          <p:nvPr/>
        </p:nvSpPr>
        <p:spPr>
          <a:xfrm>
            <a:off x="266783" y="5533439"/>
            <a:ext cx="2709600" cy="1117697"/>
          </a:xfrm>
          <a:prstGeom prst="roundRect">
            <a:avLst>
              <a:gd fmla="val 10000" name="adj"/>
            </a:avLst>
          </a:prstGeom>
          <a:solidFill>
            <a:srgbClr val="DFDBE4"/>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Practiquemos la empatía</a:t>
            </a:r>
            <a:endParaRPr b="0" i="0" sz="1400" u="none" cap="none" strike="noStrike">
              <a:solidFill>
                <a:srgbClr val="000000"/>
              </a:solidFill>
              <a:latin typeface="Arial"/>
              <a:ea typeface="Arial"/>
              <a:cs typeface="Arial"/>
              <a:sym typeface="Arial"/>
            </a:endParaRPr>
          </a:p>
        </p:txBody>
      </p:sp>
      <p:sp>
        <p:nvSpPr>
          <p:cNvPr id="40" name="Google Shape;40;p1"/>
          <p:cNvSpPr/>
          <p:nvPr/>
        </p:nvSpPr>
        <p:spPr>
          <a:xfrm>
            <a:off x="191751" y="6801252"/>
            <a:ext cx="75000" cy="1117697"/>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
            <a:hlinkClick action="ppaction://hlinksldjump" r:id="rId16"/>
          </p:cNvPr>
          <p:cNvSpPr/>
          <p:nvPr/>
        </p:nvSpPr>
        <p:spPr>
          <a:xfrm>
            <a:off x="266783" y="6801252"/>
            <a:ext cx="2709600" cy="1117697"/>
          </a:xfrm>
          <a:prstGeom prst="roundRect">
            <a:avLst>
              <a:gd fmla="val 10000" name="adj"/>
            </a:avLst>
          </a:prstGeom>
          <a:solidFill>
            <a:srgbClr val="D6E1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¿Cómo nos comunicamos?</a:t>
            </a:r>
            <a:endParaRPr b="0" i="0" sz="1400" u="none" cap="none" strike="noStrike">
              <a:solidFill>
                <a:srgbClr val="000000"/>
              </a:solidFill>
              <a:latin typeface="Arial"/>
              <a:ea typeface="Arial"/>
              <a:cs typeface="Arial"/>
              <a:sym typeface="Arial"/>
            </a:endParaRPr>
          </a:p>
        </p:txBody>
      </p:sp>
      <p:sp>
        <p:nvSpPr>
          <p:cNvPr id="42" name="Google Shape;42;p1"/>
          <p:cNvSpPr/>
          <p:nvPr/>
        </p:nvSpPr>
        <p:spPr>
          <a:xfrm>
            <a:off x="191751" y="8069065"/>
            <a:ext cx="75000" cy="1117697"/>
          </a:xfrm>
          <a:prstGeom prst="rect">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
            <a:hlinkClick action="ppaction://hlinksldjump" r:id="rId17"/>
          </p:cNvPr>
          <p:cNvSpPr/>
          <p:nvPr/>
        </p:nvSpPr>
        <p:spPr>
          <a:xfrm>
            <a:off x="266783" y="8069065"/>
            <a:ext cx="2709600" cy="1117697"/>
          </a:xfrm>
          <a:prstGeom prst="roundRect">
            <a:avLst>
              <a:gd fmla="val 10000" name="adj"/>
            </a:avLst>
          </a:prstGeom>
          <a:solidFill>
            <a:srgbClr val="FFF8D6"/>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Antes de una conversación difícil</a:t>
            </a:r>
            <a:endParaRPr b="0" i="0" sz="1400" u="none" cap="none" strike="noStrike">
              <a:solidFill>
                <a:srgbClr val="000000"/>
              </a:solidFill>
              <a:latin typeface="Arial"/>
              <a:ea typeface="Arial"/>
              <a:cs typeface="Arial"/>
              <a:sym typeface="Arial"/>
            </a:endParaRPr>
          </a:p>
        </p:txBody>
      </p:sp>
      <p:sp>
        <p:nvSpPr>
          <p:cNvPr id="44" name="Google Shape;44;p1">
            <a:hlinkClick action="ppaction://hlinksldjump" r:id="rId19"/>
          </p:cNvPr>
          <p:cNvSpPr/>
          <p:nvPr/>
        </p:nvSpPr>
        <p:spPr>
          <a:xfrm>
            <a:off x="191792" y="399700"/>
            <a:ext cx="75000" cy="984000"/>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
            <a:hlinkClick action="ppaction://hlinksldjump" r:id="rId19"/>
          </p:cNvPr>
          <p:cNvSpPr/>
          <p:nvPr/>
        </p:nvSpPr>
        <p:spPr>
          <a:xfrm>
            <a:off x="266825" y="399900"/>
            <a:ext cx="2709300" cy="984000"/>
          </a:xfrm>
          <a:prstGeom prst="roundRect">
            <a:avLst>
              <a:gd fmla="val 14000" name="adj"/>
            </a:avLst>
          </a:prstGeom>
          <a:solidFill>
            <a:srgbClr val="D1E0F2"/>
          </a:solidFill>
          <a:ln>
            <a:noFill/>
          </a:ln>
        </p:spPr>
        <p:txBody>
          <a:bodyPr anchorCtr="0" anchor="ctr" bIns="40000" lIns="160000" spcFirstLastPara="1" rIns="100000" wrap="square" tIns="40000">
            <a:noAutofit/>
          </a:bodyPr>
          <a:lstStyle/>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rgbClr val="000000"/>
              </a:solidFill>
              <a:latin typeface="Arial"/>
              <a:ea typeface="Arial"/>
              <a:cs typeface="Arial"/>
              <a:sym typeface="Arial"/>
            </a:endParaRPr>
          </a:p>
        </p:txBody>
      </p:sp>
      <p:pic>
        <p:nvPicPr>
          <p:cNvPr id="46" name="Google Shape;46;p1" title="correcciones sapiencia.png">
            <a:hlinkClick action="ppaction://hlinksldjump" r:id="rId19"/>
          </p:cNvPr>
          <p:cNvPicPr preferRelativeResize="0"/>
          <p:nvPr/>
        </p:nvPicPr>
        <p:blipFill rotWithShape="1">
          <a:blip r:embed="rId18">
            <a:alphaModFix/>
          </a:blip>
          <a:srcRect b="0" l="0" r="0" t="0"/>
          <a:stretch/>
        </p:blipFill>
        <p:spPr>
          <a:xfrm>
            <a:off x="266783" y="600314"/>
            <a:ext cx="486192" cy="486192"/>
          </a:xfrm>
          <a:prstGeom prst="rect">
            <a:avLst/>
          </a:prstGeom>
          <a:noFill/>
          <a:ln>
            <a:noFill/>
          </a:ln>
        </p:spPr>
      </p:pic>
      <p:sp>
        <p:nvSpPr>
          <p:cNvPr id="47" name="Google Shape;47;p1">
            <a:hlinkClick action="ppaction://hlinksldjump" r:id="rId19"/>
          </p:cNvPr>
          <p:cNvSpPr txBox="1"/>
          <p:nvPr/>
        </p:nvSpPr>
        <p:spPr>
          <a:xfrm>
            <a:off x="939099" y="660838"/>
            <a:ext cx="1541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s-CO" sz="1200" u="none" cap="none" strike="noStrike">
                <a:solidFill>
                  <a:srgbClr val="3D2159"/>
                </a:solidFill>
                <a:latin typeface="Arial"/>
                <a:ea typeface="Arial"/>
                <a:cs typeface="Arial"/>
                <a:sym typeface="Arial"/>
              </a:rPr>
              <a:t>Inteligencia social</a:t>
            </a:r>
            <a:endParaRPr b="1" i="0" sz="1200" u="none" cap="none" strike="noStrike">
              <a:solidFill>
                <a:srgbClr val="3D215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1" lang="es-CO" sz="1200" u="none" cap="none" strike="noStrike">
                <a:solidFill>
                  <a:srgbClr val="3D2159"/>
                </a:solidFill>
                <a:latin typeface="Arial"/>
                <a:ea typeface="Arial"/>
                <a:cs typeface="Arial"/>
                <a:sym typeface="Arial"/>
              </a:rPr>
              <a:t>Inicio</a:t>
            </a:r>
            <a:endParaRPr b="1" i="0" sz="1200" u="none" cap="none" strike="noStrike">
              <a:solidFill>
                <a:srgbClr val="A71989"/>
              </a:solidFill>
              <a:latin typeface="Arial"/>
              <a:ea typeface="Arial"/>
              <a:cs typeface="Arial"/>
              <a:sym typeface="Arial"/>
            </a:endParaRPr>
          </a:p>
        </p:txBody>
      </p:sp>
      <p:pic>
        <p:nvPicPr>
          <p:cNvPr id="48" name="Google Shape;48;p1"/>
          <p:cNvPicPr preferRelativeResize="0"/>
          <p:nvPr/>
        </p:nvPicPr>
        <p:blipFill rotWithShape="1">
          <a:blip r:embed="rId20">
            <a:alphaModFix/>
          </a:blip>
          <a:srcRect b="0" l="0" r="0" t="0"/>
          <a:stretch/>
        </p:blipFill>
        <p:spPr>
          <a:xfrm>
            <a:off x="13064074" y="9342814"/>
            <a:ext cx="5209845" cy="873507"/>
          </a:xfrm>
          <a:prstGeom prst="rect">
            <a:avLst/>
          </a:prstGeom>
          <a:noFill/>
          <a:ln>
            <a:noFill/>
          </a:ln>
        </p:spPr>
      </p:pic>
      <p:sp>
        <p:nvSpPr>
          <p:cNvPr id="32" name="Google Shape;32;p1">
            <a:hlinkClick action="ppaction://hlinksldjump" r:id="rId21"/>
          </p:cNvPr>
          <p:cNvSpPr/>
          <p:nvPr/>
        </p:nvSpPr>
        <p:spPr>
          <a:xfrm>
            <a:off x="191751" y="9336878"/>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
            <a:hlinkClick action="ppaction://hlinksldjump" r:id="rId21"/>
          </p:cNvPr>
          <p:cNvSpPr/>
          <p:nvPr/>
        </p:nvSpPr>
        <p:spPr>
          <a:xfrm>
            <a:off x="266783" y="9336878"/>
            <a:ext cx="2709600" cy="1117697"/>
          </a:xfrm>
          <a:prstGeom prst="roundRect">
            <a:avLst>
              <a:gd fmla="val 10000" name="adj"/>
            </a:avLst>
          </a:prstGeom>
          <a:solidFill>
            <a:srgbClr val="E6E0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Créditos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Equipo de producción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4"/>
          <p:cNvSpPr/>
          <p:nvPr/>
        </p:nvSpPr>
        <p:spPr>
          <a:xfrm>
            <a:off x="3887703" y="1984772"/>
            <a:ext cx="14264640" cy="9228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4000"/>
              <a:buFont typeface="Arial"/>
              <a:buNone/>
            </a:pPr>
            <a:r>
              <a:rPr b="1" i="0" lang="es-CO" sz="3400" u="none" cap="none" strike="noStrike">
                <a:solidFill>
                  <a:srgbClr val="3D2159"/>
                </a:solidFill>
                <a:latin typeface="Arial"/>
                <a:ea typeface="Arial"/>
                <a:cs typeface="Arial"/>
                <a:sym typeface="Arial"/>
              </a:rPr>
              <a:t>¿Qué entendemos por inteligencia social?</a:t>
            </a:r>
            <a:endParaRPr b="0" i="0" sz="1400" u="none" cap="none" strike="noStrike">
              <a:solidFill>
                <a:srgbClr val="000000"/>
              </a:solidFill>
              <a:latin typeface="Arial"/>
              <a:ea typeface="Arial"/>
              <a:cs typeface="Arial"/>
              <a:sym typeface="Arial"/>
            </a:endParaRPr>
          </a:p>
        </p:txBody>
      </p:sp>
      <p:sp>
        <p:nvSpPr>
          <p:cNvPr id="55" name="Google Shape;55;p4"/>
          <p:cNvSpPr/>
          <p:nvPr/>
        </p:nvSpPr>
        <p:spPr>
          <a:xfrm>
            <a:off x="0" y="0"/>
            <a:ext cx="3168000" cy="10934700"/>
          </a:xfrm>
          <a:prstGeom prst="rect">
            <a:avLst/>
          </a:prstGeom>
          <a:solidFill>
            <a:srgbClr val="F5F3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4"/>
          <p:cNvSpPr/>
          <p:nvPr/>
        </p:nvSpPr>
        <p:spPr>
          <a:xfrm>
            <a:off x="3153046" y="0"/>
            <a:ext cx="15000" cy="10934700"/>
          </a:xfrm>
          <a:prstGeom prst="rect">
            <a:avLst/>
          </a:prstGeom>
          <a:solidFill>
            <a:srgbClr val="E0DA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4"/>
          <p:cNvSpPr/>
          <p:nvPr/>
        </p:nvSpPr>
        <p:spPr>
          <a:xfrm>
            <a:off x="191751" y="1550000"/>
            <a:ext cx="2784600" cy="14100"/>
          </a:xfrm>
          <a:prstGeom prst="rect">
            <a:avLst/>
          </a:prstGeom>
          <a:solidFill>
            <a:srgbClr val="D8D2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4"/>
          <p:cNvSpPr/>
          <p:nvPr/>
        </p:nvSpPr>
        <p:spPr>
          <a:xfrm>
            <a:off x="191751" y="1730000"/>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4">
            <a:hlinkClick action="ppaction://hlinksldjump" r:id="rId3"/>
          </p:cNvPr>
          <p:cNvSpPr/>
          <p:nvPr/>
        </p:nvSpPr>
        <p:spPr>
          <a:xfrm>
            <a:off x="266783" y="1730000"/>
            <a:ext cx="2709600" cy="1117697"/>
          </a:xfrm>
          <a:prstGeom prst="roundRect">
            <a:avLst>
              <a:gd fmla="val 10000" name="adj"/>
            </a:avLst>
          </a:prstGeom>
          <a:solidFill>
            <a:srgbClr val="664092"/>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FFFFFF"/>
                </a:solidFill>
                <a:latin typeface="Arial"/>
                <a:ea typeface="Arial"/>
                <a:cs typeface="Arial"/>
                <a:sym typeface="Arial"/>
              </a:rPr>
              <a:t>Pantalla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FFFFFF"/>
                </a:solidFill>
                <a:latin typeface="Arial"/>
                <a:ea typeface="Arial"/>
                <a:cs typeface="Arial"/>
                <a:sym typeface="Arial"/>
              </a:rPr>
              <a:t>¿Qué es la inteligencia social?</a:t>
            </a:r>
            <a:endParaRPr b="0" i="0" sz="1400" u="none" cap="none" strike="noStrike">
              <a:solidFill>
                <a:srgbClr val="000000"/>
              </a:solidFill>
              <a:latin typeface="Arial"/>
              <a:ea typeface="Arial"/>
              <a:cs typeface="Arial"/>
              <a:sym typeface="Arial"/>
            </a:endParaRPr>
          </a:p>
        </p:txBody>
      </p:sp>
      <p:sp>
        <p:nvSpPr>
          <p:cNvPr id="60" name="Google Shape;60;p4"/>
          <p:cNvSpPr/>
          <p:nvPr/>
        </p:nvSpPr>
        <p:spPr>
          <a:xfrm>
            <a:off x="191751" y="2997813"/>
            <a:ext cx="75000" cy="1117697"/>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4">
            <a:hlinkClick action="ppaction://hlinksldjump" r:id="rId4"/>
          </p:cNvPr>
          <p:cNvSpPr/>
          <p:nvPr/>
        </p:nvSpPr>
        <p:spPr>
          <a:xfrm>
            <a:off x="266783" y="2997813"/>
            <a:ext cx="2709600" cy="1117697"/>
          </a:xfrm>
          <a:prstGeom prst="roundRect">
            <a:avLst>
              <a:gd fmla="val 10000" name="adj"/>
            </a:avLst>
          </a:prstGeom>
          <a:solidFill>
            <a:srgbClr val="F0DAEC"/>
          </a:solidFill>
          <a:ln cap="flat" cmpd="sng" w="19050">
            <a:solidFill>
              <a:srgbClr val="FFFFFF"/>
            </a:solidFill>
            <a:prstDash val="solid"/>
            <a:round/>
            <a:headEnd len="sm" w="sm" type="none"/>
            <a:tailEnd len="sm" w="sm" type="none"/>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Tres claves para relacionarnos</a:t>
            </a:r>
            <a:endParaRPr b="0" i="0" sz="1400" u="none" cap="none" strike="noStrike">
              <a:solidFill>
                <a:srgbClr val="000000"/>
              </a:solidFill>
              <a:latin typeface="Arial"/>
              <a:ea typeface="Arial"/>
              <a:cs typeface="Arial"/>
              <a:sym typeface="Arial"/>
            </a:endParaRPr>
          </a:p>
        </p:txBody>
      </p:sp>
      <p:sp>
        <p:nvSpPr>
          <p:cNvPr id="62" name="Google Shape;62;p4"/>
          <p:cNvSpPr/>
          <p:nvPr/>
        </p:nvSpPr>
        <p:spPr>
          <a:xfrm>
            <a:off x="191751" y="4265626"/>
            <a:ext cx="75000" cy="1117697"/>
          </a:xfrm>
          <a:prstGeom prst="rect">
            <a:avLst/>
          </a:prstGeom>
          <a:solidFill>
            <a:srgbClr val="467C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4">
            <a:hlinkClick action="ppaction://hlinksldjump" r:id="rId5"/>
          </p:cNvPr>
          <p:cNvSpPr/>
          <p:nvPr/>
        </p:nvSpPr>
        <p:spPr>
          <a:xfrm>
            <a:off x="266783" y="4265626"/>
            <a:ext cx="2709600" cy="1117697"/>
          </a:xfrm>
          <a:prstGeom prst="roundRect">
            <a:avLst>
              <a:gd fmla="val 10000" name="adj"/>
            </a:avLst>
          </a:prstGeom>
          <a:solidFill>
            <a:srgbClr val="E1EAFC"/>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Lo que se activa en nosotros</a:t>
            </a:r>
            <a:endParaRPr b="0" i="0" sz="1400" u="none" cap="none" strike="noStrike">
              <a:solidFill>
                <a:srgbClr val="000000"/>
              </a:solidFill>
              <a:latin typeface="Arial"/>
              <a:ea typeface="Arial"/>
              <a:cs typeface="Arial"/>
              <a:sym typeface="Arial"/>
            </a:endParaRPr>
          </a:p>
        </p:txBody>
      </p:sp>
      <p:sp>
        <p:nvSpPr>
          <p:cNvPr id="64" name="Google Shape;64;p4"/>
          <p:cNvSpPr/>
          <p:nvPr/>
        </p:nvSpPr>
        <p:spPr>
          <a:xfrm>
            <a:off x="191751" y="5533439"/>
            <a:ext cx="75000" cy="1117697"/>
          </a:xfrm>
          <a:prstGeom prst="rect">
            <a:avLst/>
          </a:prstGeom>
          <a:solidFill>
            <a:srgbClr val="3D2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4">
            <a:hlinkClick action="ppaction://hlinksldjump" r:id="rId6"/>
          </p:cNvPr>
          <p:cNvSpPr/>
          <p:nvPr/>
        </p:nvSpPr>
        <p:spPr>
          <a:xfrm>
            <a:off x="266783" y="5533439"/>
            <a:ext cx="2709600" cy="1117697"/>
          </a:xfrm>
          <a:prstGeom prst="roundRect">
            <a:avLst>
              <a:gd fmla="val 10000" name="adj"/>
            </a:avLst>
          </a:prstGeom>
          <a:solidFill>
            <a:srgbClr val="DFDBE4"/>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Practiquemos la empatía</a:t>
            </a:r>
            <a:endParaRPr b="0" i="0" sz="1400" u="none" cap="none" strike="noStrike">
              <a:solidFill>
                <a:srgbClr val="000000"/>
              </a:solidFill>
              <a:latin typeface="Arial"/>
              <a:ea typeface="Arial"/>
              <a:cs typeface="Arial"/>
              <a:sym typeface="Arial"/>
            </a:endParaRPr>
          </a:p>
        </p:txBody>
      </p:sp>
      <p:sp>
        <p:nvSpPr>
          <p:cNvPr id="66" name="Google Shape;66;p4"/>
          <p:cNvSpPr/>
          <p:nvPr/>
        </p:nvSpPr>
        <p:spPr>
          <a:xfrm>
            <a:off x="191751" y="6801252"/>
            <a:ext cx="75000" cy="1117697"/>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4">
            <a:hlinkClick action="ppaction://hlinksldjump" r:id="rId7"/>
          </p:cNvPr>
          <p:cNvSpPr/>
          <p:nvPr/>
        </p:nvSpPr>
        <p:spPr>
          <a:xfrm>
            <a:off x="266783" y="6801252"/>
            <a:ext cx="2709600" cy="1117697"/>
          </a:xfrm>
          <a:prstGeom prst="roundRect">
            <a:avLst>
              <a:gd fmla="val 10000" name="adj"/>
            </a:avLst>
          </a:prstGeom>
          <a:solidFill>
            <a:srgbClr val="D6E1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¿Cómo nos comunicamos?</a:t>
            </a:r>
            <a:endParaRPr b="0" i="0" sz="1400" u="none" cap="none" strike="noStrike">
              <a:solidFill>
                <a:srgbClr val="000000"/>
              </a:solidFill>
              <a:latin typeface="Arial"/>
              <a:ea typeface="Arial"/>
              <a:cs typeface="Arial"/>
              <a:sym typeface="Arial"/>
            </a:endParaRPr>
          </a:p>
        </p:txBody>
      </p:sp>
      <p:sp>
        <p:nvSpPr>
          <p:cNvPr id="68" name="Google Shape;68;p4"/>
          <p:cNvSpPr/>
          <p:nvPr/>
        </p:nvSpPr>
        <p:spPr>
          <a:xfrm>
            <a:off x="191751" y="8069065"/>
            <a:ext cx="75000" cy="1117697"/>
          </a:xfrm>
          <a:prstGeom prst="rect">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4">
            <a:hlinkClick action="ppaction://hlinksldjump" r:id="rId8"/>
          </p:cNvPr>
          <p:cNvSpPr/>
          <p:nvPr/>
        </p:nvSpPr>
        <p:spPr>
          <a:xfrm>
            <a:off x="266783" y="8069065"/>
            <a:ext cx="2709600" cy="1117697"/>
          </a:xfrm>
          <a:prstGeom prst="roundRect">
            <a:avLst>
              <a:gd fmla="val 10000" name="adj"/>
            </a:avLst>
          </a:prstGeom>
          <a:solidFill>
            <a:srgbClr val="FFF8D6"/>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Antes de una conversación difícil</a:t>
            </a:r>
            <a:endParaRPr b="0" i="0" sz="1400" u="none" cap="none" strike="noStrike">
              <a:solidFill>
                <a:srgbClr val="000000"/>
              </a:solidFill>
              <a:latin typeface="Arial"/>
              <a:ea typeface="Arial"/>
              <a:cs typeface="Arial"/>
              <a:sym typeface="Arial"/>
            </a:endParaRPr>
          </a:p>
        </p:txBody>
      </p:sp>
      <p:sp>
        <p:nvSpPr>
          <p:cNvPr id="70" name="Google Shape;70;p4"/>
          <p:cNvSpPr/>
          <p:nvPr/>
        </p:nvSpPr>
        <p:spPr>
          <a:xfrm>
            <a:off x="4591655" y="9872067"/>
            <a:ext cx="1588200" cy="476400"/>
          </a:xfrm>
          <a:prstGeom prst="roundRect">
            <a:avLst>
              <a:gd fmla="val 50000" name="adj"/>
            </a:avLst>
          </a:prstGeom>
          <a:solidFill>
            <a:srgbClr val="D8D2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4">
            <a:hlinkClick action="ppaction://hlinksldjump" r:id="rId9"/>
          </p:cNvPr>
          <p:cNvSpPr/>
          <p:nvPr/>
        </p:nvSpPr>
        <p:spPr>
          <a:xfrm>
            <a:off x="4591655" y="9812536"/>
            <a:ext cx="1588200" cy="476400"/>
          </a:xfrm>
          <a:prstGeom prst="roundRect">
            <a:avLst>
              <a:gd fmla="val 50000" name="adj"/>
            </a:avLst>
          </a:prstGeom>
          <a:solidFill>
            <a:srgbClr val="FFFFFF"/>
          </a:solidFill>
          <a:ln cap="flat" cmpd="sng" w="14275">
            <a:solidFill>
              <a:srgbClr val="664092"/>
            </a:solidFill>
            <a:prstDash val="solid"/>
            <a:round/>
            <a:headEnd len="sm" w="sm" type="none"/>
            <a:tailEnd len="sm" w="sm" type="none"/>
          </a:ln>
        </p:spPr>
        <p:txBody>
          <a:bodyPr anchorCtr="0" anchor="ctr" bIns="59525" lIns="148825" spcFirstLastPara="1" rIns="148825" wrap="square" tIns="59525">
            <a:noAutofit/>
          </a:bodyPr>
          <a:lstStyle/>
          <a:p>
            <a:pPr indent="0" lvl="0" marL="0" marR="0" rtl="0" algn="ctr">
              <a:lnSpc>
                <a:spcPct val="80000"/>
              </a:lnSpc>
              <a:spcBef>
                <a:spcPts val="0"/>
              </a:spcBef>
              <a:spcAft>
                <a:spcPts val="0"/>
              </a:spcAft>
              <a:buClr>
                <a:srgbClr val="000000"/>
              </a:buClr>
              <a:buSzPts val="1578"/>
              <a:buFont typeface="Arial"/>
              <a:buNone/>
            </a:pPr>
            <a:r>
              <a:rPr b="1" i="0" lang="es-CO" sz="1578" u="sng" cap="none" strike="noStrike">
                <a:solidFill>
                  <a:srgbClr val="663D8F"/>
                </a:solidFill>
                <a:latin typeface="Arial"/>
                <a:ea typeface="Arial"/>
                <a:cs typeface="Arial"/>
                <a:sym typeface="Arial"/>
              </a:rPr>
              <a:t>Anterior</a:t>
            </a:r>
            <a:endParaRPr b="0" i="0" sz="1400" u="none" cap="none" strike="noStrike">
              <a:solidFill>
                <a:srgbClr val="000000"/>
              </a:solidFill>
              <a:latin typeface="Arial"/>
              <a:ea typeface="Arial"/>
              <a:cs typeface="Arial"/>
              <a:sym typeface="Arial"/>
            </a:endParaRPr>
          </a:p>
        </p:txBody>
      </p:sp>
      <p:sp>
        <p:nvSpPr>
          <p:cNvPr id="72" name="Google Shape;72;p4"/>
          <p:cNvSpPr/>
          <p:nvPr/>
        </p:nvSpPr>
        <p:spPr>
          <a:xfrm>
            <a:off x="6378374" y="9872067"/>
            <a:ext cx="2034900" cy="476400"/>
          </a:xfrm>
          <a:prstGeom prst="roundRect">
            <a:avLst>
              <a:gd fmla="val 50000" name="adj"/>
            </a:avLst>
          </a:prstGeom>
          <a:solidFill>
            <a:srgbClr val="C8A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4">
            <a:hlinkClick action="ppaction://hlinksldjump" r:id="rId10"/>
          </p:cNvPr>
          <p:cNvSpPr/>
          <p:nvPr/>
        </p:nvSpPr>
        <p:spPr>
          <a:xfrm>
            <a:off x="6378374" y="9812536"/>
            <a:ext cx="2034900" cy="476400"/>
          </a:xfrm>
          <a:prstGeom prst="roundRect">
            <a:avLst>
              <a:gd fmla="val 50000" name="adj"/>
            </a:avLst>
          </a:prstGeom>
          <a:solidFill>
            <a:srgbClr val="FFD900"/>
          </a:solidFill>
          <a:ln>
            <a:noFill/>
          </a:ln>
        </p:spPr>
        <p:txBody>
          <a:bodyPr anchorCtr="0" anchor="ctr" bIns="59525" lIns="148825" spcFirstLastPara="1" rIns="148825" wrap="square" tIns="59525">
            <a:noAutofit/>
          </a:bodyPr>
          <a:lstStyle/>
          <a:p>
            <a:pPr indent="0" lvl="0" marL="0" marR="0" rtl="0" algn="ctr">
              <a:lnSpc>
                <a:spcPct val="80000"/>
              </a:lnSpc>
              <a:spcBef>
                <a:spcPts val="0"/>
              </a:spcBef>
              <a:spcAft>
                <a:spcPts val="0"/>
              </a:spcAft>
              <a:buClr>
                <a:srgbClr val="000000"/>
              </a:buClr>
              <a:buSzPts val="1578"/>
              <a:buFont typeface="Arial"/>
              <a:buNone/>
            </a:pPr>
            <a:r>
              <a:rPr b="1" i="0" lang="es-CO" sz="1578" u="sng" cap="none" strike="noStrike">
                <a:solidFill>
                  <a:srgbClr val="663D8F"/>
                </a:solidFill>
                <a:latin typeface="Arial"/>
                <a:ea typeface="Arial"/>
                <a:cs typeface="Arial"/>
                <a:sym typeface="Arial"/>
              </a:rPr>
              <a:t>Siguiente</a:t>
            </a:r>
            <a:endParaRPr b="1" i="0" sz="1578" u="sng" cap="none" strike="noStrike">
              <a:solidFill>
                <a:srgbClr val="663D8F"/>
              </a:solidFill>
              <a:latin typeface="Arial"/>
              <a:ea typeface="Arial"/>
              <a:cs typeface="Arial"/>
              <a:sym typeface="Arial"/>
            </a:endParaRPr>
          </a:p>
        </p:txBody>
      </p:sp>
      <p:sp>
        <p:nvSpPr>
          <p:cNvPr id="74" name="Google Shape;74;p4">
            <a:hlinkClick action="ppaction://hlinksldjump" r:id="rId9"/>
          </p:cNvPr>
          <p:cNvSpPr/>
          <p:nvPr/>
        </p:nvSpPr>
        <p:spPr>
          <a:xfrm>
            <a:off x="191792" y="399700"/>
            <a:ext cx="75000" cy="984000"/>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4">
            <a:hlinkClick action="ppaction://hlinksldjump" r:id="rId9"/>
          </p:cNvPr>
          <p:cNvSpPr/>
          <p:nvPr/>
        </p:nvSpPr>
        <p:spPr>
          <a:xfrm>
            <a:off x="266825" y="399900"/>
            <a:ext cx="2709300" cy="984000"/>
          </a:xfrm>
          <a:prstGeom prst="roundRect">
            <a:avLst>
              <a:gd fmla="val 14000" name="adj"/>
            </a:avLst>
          </a:prstGeom>
          <a:solidFill>
            <a:srgbClr val="D1E0F2"/>
          </a:solidFill>
          <a:ln>
            <a:noFill/>
          </a:ln>
        </p:spPr>
        <p:txBody>
          <a:bodyPr anchorCtr="0" anchor="ctr" bIns="40000" lIns="160000" spcFirstLastPara="1" rIns="100000" wrap="square" tIns="40000">
            <a:noAutofit/>
          </a:bodyPr>
          <a:lstStyle/>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rgbClr val="000000"/>
              </a:solidFill>
              <a:latin typeface="Arial"/>
              <a:ea typeface="Arial"/>
              <a:cs typeface="Arial"/>
              <a:sym typeface="Arial"/>
            </a:endParaRPr>
          </a:p>
        </p:txBody>
      </p:sp>
      <p:pic>
        <p:nvPicPr>
          <p:cNvPr id="76" name="Google Shape;76;p4" title="correcciones sapiencia.png">
            <a:hlinkClick action="ppaction://hlinksldjump" r:id="rId9"/>
          </p:cNvPr>
          <p:cNvPicPr preferRelativeResize="0"/>
          <p:nvPr/>
        </p:nvPicPr>
        <p:blipFill rotWithShape="1">
          <a:blip r:embed="rId11">
            <a:alphaModFix/>
          </a:blip>
          <a:srcRect b="0" l="0" r="0" t="0"/>
          <a:stretch/>
        </p:blipFill>
        <p:spPr>
          <a:xfrm>
            <a:off x="266783" y="600314"/>
            <a:ext cx="486192" cy="486192"/>
          </a:xfrm>
          <a:prstGeom prst="rect">
            <a:avLst/>
          </a:prstGeom>
          <a:noFill/>
          <a:ln>
            <a:noFill/>
          </a:ln>
        </p:spPr>
      </p:pic>
      <p:sp>
        <p:nvSpPr>
          <p:cNvPr id="77" name="Google Shape;77;p4">
            <a:hlinkClick action="ppaction://hlinksldjump" r:id="rId9"/>
          </p:cNvPr>
          <p:cNvSpPr txBox="1"/>
          <p:nvPr/>
        </p:nvSpPr>
        <p:spPr>
          <a:xfrm>
            <a:off x="939099" y="660838"/>
            <a:ext cx="1541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s-CO" sz="1200" u="none" cap="none" strike="noStrike">
                <a:solidFill>
                  <a:srgbClr val="3D2159"/>
                </a:solidFill>
                <a:latin typeface="Arial"/>
                <a:ea typeface="Arial"/>
                <a:cs typeface="Arial"/>
                <a:sym typeface="Arial"/>
              </a:rPr>
              <a:t>Inteligencia social</a:t>
            </a:r>
            <a:endParaRPr b="1" i="0" sz="1200" u="none" cap="none" strike="noStrike">
              <a:solidFill>
                <a:srgbClr val="3D215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1" lang="es-CO" sz="1200" u="none" cap="none" strike="noStrike">
                <a:solidFill>
                  <a:srgbClr val="3D2159"/>
                </a:solidFill>
                <a:latin typeface="Arial"/>
                <a:ea typeface="Arial"/>
                <a:cs typeface="Arial"/>
                <a:sym typeface="Arial"/>
              </a:rPr>
              <a:t>Inicio</a:t>
            </a:r>
            <a:endParaRPr b="1" i="0" sz="1200" u="none" cap="none" strike="noStrike">
              <a:solidFill>
                <a:srgbClr val="A71989"/>
              </a:solidFill>
              <a:latin typeface="Arial"/>
              <a:ea typeface="Arial"/>
              <a:cs typeface="Arial"/>
              <a:sym typeface="Arial"/>
            </a:endParaRPr>
          </a:p>
        </p:txBody>
      </p:sp>
      <p:sp>
        <p:nvSpPr>
          <p:cNvPr id="78" name="Google Shape;78;p4"/>
          <p:cNvSpPr txBox="1"/>
          <p:nvPr/>
        </p:nvSpPr>
        <p:spPr>
          <a:xfrm>
            <a:off x="3886200" y="1481328"/>
            <a:ext cx="9144000" cy="329184"/>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500" u="none" cap="none" strike="noStrike">
                <a:solidFill>
                  <a:srgbClr val="A71989"/>
                </a:solidFill>
                <a:latin typeface="Arial"/>
                <a:ea typeface="Arial"/>
                <a:cs typeface="Arial"/>
                <a:sym typeface="Arial"/>
              </a:rPr>
              <a:t>Módulo 2 · Inteligencia social</a:t>
            </a:r>
            <a:endParaRPr/>
          </a:p>
        </p:txBody>
      </p:sp>
      <p:sp>
        <p:nvSpPr>
          <p:cNvPr id="79" name="Google Shape;79;p4"/>
          <p:cNvSpPr/>
          <p:nvPr/>
        </p:nvSpPr>
        <p:spPr>
          <a:xfrm>
            <a:off x="3886200" y="2834640"/>
            <a:ext cx="128016" cy="12801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 name="Google Shape;80;p4"/>
          <p:cNvSpPr/>
          <p:nvPr/>
        </p:nvSpPr>
        <p:spPr>
          <a:xfrm>
            <a:off x="4114800"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 name="Google Shape;81;p4"/>
          <p:cNvSpPr/>
          <p:nvPr/>
        </p:nvSpPr>
        <p:spPr>
          <a:xfrm>
            <a:off x="4334256"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 name="Google Shape;82;p4"/>
          <p:cNvSpPr/>
          <p:nvPr/>
        </p:nvSpPr>
        <p:spPr>
          <a:xfrm>
            <a:off x="4553712"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 name="Google Shape;83;p4"/>
          <p:cNvSpPr/>
          <p:nvPr/>
        </p:nvSpPr>
        <p:spPr>
          <a:xfrm>
            <a:off x="4782312"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 name="Google Shape;84;p4"/>
          <p:cNvSpPr/>
          <p:nvPr/>
        </p:nvSpPr>
        <p:spPr>
          <a:xfrm>
            <a:off x="5001768" y="2834640"/>
            <a:ext cx="128016" cy="12801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 name="Google Shape;85;p4"/>
          <p:cNvSpPr txBox="1"/>
          <p:nvPr/>
        </p:nvSpPr>
        <p:spPr>
          <a:xfrm>
            <a:off x="3886200" y="3200400"/>
            <a:ext cx="14264640" cy="45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700" u="none" cap="none" strike="noStrike">
                <a:solidFill>
                  <a:srgbClr val="3F3A48"/>
                </a:solidFill>
                <a:latin typeface="Arial"/>
                <a:ea typeface="Arial"/>
                <a:cs typeface="Arial"/>
                <a:sym typeface="Arial"/>
              </a:rPr>
              <a:t>En nuestra vida laboral y cotidiana encontramos personas con emociones, necesidades, experiencias y maneras diferentes de interpretar lo que ocurre. Comprender estas diferencias influye en la forma en que nos relacionamos.</a:t>
            </a:r>
            <a:endParaRPr/>
          </a:p>
        </p:txBody>
      </p:sp>
      <p:sp>
        <p:nvSpPr>
          <p:cNvPr id="86" name="Google Shape;86;p4"/>
          <p:cNvSpPr/>
          <p:nvPr/>
        </p:nvSpPr>
        <p:spPr>
          <a:xfrm>
            <a:off x="3886200" y="4023360"/>
            <a:ext cx="14264640" cy="868680"/>
          </a:xfrm>
          <a:prstGeom prst="roundRect">
            <a:avLst>
              <a:gd fmla="val 1500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 name="Google Shape;87;p4"/>
          <p:cNvSpPr/>
          <p:nvPr/>
        </p:nvSpPr>
        <p:spPr>
          <a:xfrm>
            <a:off x="3886200" y="4023360"/>
            <a:ext cx="91440" cy="868680"/>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 name="Google Shape;88;p4"/>
          <p:cNvSpPr/>
          <p:nvPr/>
        </p:nvSpPr>
        <p:spPr>
          <a:xfrm>
            <a:off x="4206240" y="4160520"/>
            <a:ext cx="594360" cy="594360"/>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89" name="Google Shape;89;p4"/>
          <p:cNvPicPr preferRelativeResize="0"/>
          <p:nvPr/>
        </p:nvPicPr>
        <p:blipFill rotWithShape="1">
          <a:blip r:embed="rId13">
            <a:alphaModFix/>
          </a:blip>
          <a:srcRect b="0" l="0" r="0" t="0"/>
          <a:stretch/>
        </p:blipFill>
        <p:spPr>
          <a:xfrm>
            <a:off x="4334256" y="4288536"/>
            <a:ext cx="338328" cy="338328"/>
          </a:xfrm>
          <a:prstGeom prst="rect">
            <a:avLst/>
          </a:prstGeom>
          <a:noFill/>
          <a:ln>
            <a:noFill/>
          </a:ln>
        </p:spPr>
      </p:pic>
      <p:sp>
        <p:nvSpPr>
          <p:cNvPr id="90" name="Google Shape;90;p4"/>
          <p:cNvSpPr txBox="1"/>
          <p:nvPr/>
        </p:nvSpPr>
        <p:spPr>
          <a:xfrm>
            <a:off x="5029200" y="4023360"/>
            <a:ext cx="12893040" cy="86868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600" u="none" cap="none" strike="noStrike">
                <a:solidFill>
                  <a:srgbClr val="664092"/>
                </a:solidFill>
                <a:latin typeface="Arial"/>
                <a:ea typeface="Arial"/>
                <a:cs typeface="Arial"/>
                <a:sym typeface="Arial"/>
              </a:rPr>
              <a:t>Inteligencia social: </a:t>
            </a:r>
            <a:r>
              <a:rPr b="0" i="0" lang="es-CO" sz="1600" u="none" cap="none" strike="noStrike">
                <a:solidFill>
                  <a:srgbClr val="3F3A48"/>
                </a:solidFill>
                <a:latin typeface="Arial"/>
                <a:ea typeface="Arial"/>
                <a:cs typeface="Arial"/>
                <a:sym typeface="Arial"/>
              </a:rPr>
              <a:t>es la capacidad de comprender las emociones y necesidades de otras personas y responder de manera adecuada en nuestras relaciones.</a:t>
            </a:r>
            <a:endParaRPr/>
          </a:p>
        </p:txBody>
      </p:sp>
      <p:sp>
        <p:nvSpPr>
          <p:cNvPr id="91" name="Google Shape;91;p4"/>
          <p:cNvSpPr/>
          <p:nvPr/>
        </p:nvSpPr>
        <p:spPr>
          <a:xfrm>
            <a:off x="3886200" y="5166360"/>
            <a:ext cx="4541520" cy="2148840"/>
          </a:xfrm>
          <a:prstGeom prst="roundRect">
            <a:avLst>
              <a:gd fmla="val 10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 name="Google Shape;92;p4"/>
          <p:cNvSpPr/>
          <p:nvPr/>
        </p:nvSpPr>
        <p:spPr>
          <a:xfrm>
            <a:off x="3886200" y="7242048"/>
            <a:ext cx="4541520" cy="73152"/>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3" name="Google Shape;93;p4"/>
          <p:cNvSpPr/>
          <p:nvPr/>
        </p:nvSpPr>
        <p:spPr>
          <a:xfrm>
            <a:off x="4160520" y="5440680"/>
            <a:ext cx="731520" cy="731520"/>
          </a:xfrm>
          <a:prstGeom prst="ellipse">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94" name="Google Shape;94;p4"/>
          <p:cNvPicPr preferRelativeResize="0"/>
          <p:nvPr/>
        </p:nvPicPr>
        <p:blipFill rotWithShape="1">
          <a:blip r:embed="rId14">
            <a:alphaModFix/>
          </a:blip>
          <a:srcRect b="0" l="0" r="0" t="0"/>
          <a:stretch/>
        </p:blipFill>
        <p:spPr>
          <a:xfrm>
            <a:off x="4306824" y="5586984"/>
            <a:ext cx="438912" cy="438912"/>
          </a:xfrm>
          <a:prstGeom prst="rect">
            <a:avLst/>
          </a:prstGeom>
          <a:noFill/>
          <a:ln>
            <a:noFill/>
          </a:ln>
        </p:spPr>
      </p:pic>
      <p:sp>
        <p:nvSpPr>
          <p:cNvPr id="95" name="Google Shape;95;p4"/>
          <p:cNvSpPr/>
          <p:nvPr/>
        </p:nvSpPr>
        <p:spPr>
          <a:xfrm>
            <a:off x="5074920" y="5550408"/>
            <a:ext cx="3078480" cy="475488"/>
          </a:xfrm>
          <a:prstGeom prst="roundRect">
            <a:avLst>
              <a:gd fmla="val 50000" name="adj"/>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 name="Google Shape;96;p4"/>
          <p:cNvSpPr txBox="1"/>
          <p:nvPr/>
        </p:nvSpPr>
        <p:spPr>
          <a:xfrm>
            <a:off x="5074920" y="5550408"/>
            <a:ext cx="3078480" cy="475488"/>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600" u="none" cap="none" strike="noStrike">
                <a:solidFill>
                  <a:srgbClr val="FFFFFF"/>
                </a:solidFill>
                <a:latin typeface="Arial"/>
                <a:ea typeface="Arial"/>
                <a:cs typeface="Arial"/>
                <a:sym typeface="Arial"/>
              </a:rPr>
              <a:t>Reconocer</a:t>
            </a:r>
            <a:endParaRPr/>
          </a:p>
        </p:txBody>
      </p:sp>
      <p:sp>
        <p:nvSpPr>
          <p:cNvPr id="97" name="Google Shape;97;p4"/>
          <p:cNvSpPr txBox="1"/>
          <p:nvPr/>
        </p:nvSpPr>
        <p:spPr>
          <a:xfrm>
            <a:off x="4160520" y="6355080"/>
            <a:ext cx="399288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s-CO" sz="1500" u="none" cap="none" strike="noStrike">
                <a:solidFill>
                  <a:srgbClr val="3F3A48"/>
                </a:solidFill>
                <a:latin typeface="Arial"/>
                <a:ea typeface="Arial"/>
                <a:cs typeface="Arial"/>
                <a:sym typeface="Arial"/>
              </a:rPr>
              <a:t>Identificar emociones y señales presentes en otras personas.</a:t>
            </a:r>
            <a:endParaRPr/>
          </a:p>
        </p:txBody>
      </p:sp>
      <p:sp>
        <p:nvSpPr>
          <p:cNvPr id="98" name="Google Shape;98;p4"/>
          <p:cNvSpPr/>
          <p:nvPr/>
        </p:nvSpPr>
        <p:spPr>
          <a:xfrm>
            <a:off x="8747760" y="5166360"/>
            <a:ext cx="4541520" cy="2148840"/>
          </a:xfrm>
          <a:prstGeom prst="roundRect">
            <a:avLst>
              <a:gd fmla="val 10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 name="Google Shape;99;p4"/>
          <p:cNvSpPr/>
          <p:nvPr/>
        </p:nvSpPr>
        <p:spPr>
          <a:xfrm>
            <a:off x="8747760" y="7242048"/>
            <a:ext cx="4541520" cy="73152"/>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 name="Google Shape;100;p4"/>
          <p:cNvSpPr/>
          <p:nvPr/>
        </p:nvSpPr>
        <p:spPr>
          <a:xfrm>
            <a:off x="9022080" y="5440680"/>
            <a:ext cx="731520" cy="731520"/>
          </a:xfrm>
          <a:prstGeom prst="ellipse">
            <a:avLst/>
          </a:prstGeom>
          <a:solidFill>
            <a:srgbClr val="F6EB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01" name="Google Shape;101;p4"/>
          <p:cNvPicPr preferRelativeResize="0"/>
          <p:nvPr/>
        </p:nvPicPr>
        <p:blipFill rotWithShape="1">
          <a:blip r:embed="rId15">
            <a:alphaModFix/>
          </a:blip>
          <a:srcRect b="0" l="0" r="0" t="0"/>
          <a:stretch/>
        </p:blipFill>
        <p:spPr>
          <a:xfrm>
            <a:off x="9168384" y="5586984"/>
            <a:ext cx="438912" cy="438912"/>
          </a:xfrm>
          <a:prstGeom prst="rect">
            <a:avLst/>
          </a:prstGeom>
          <a:noFill/>
          <a:ln>
            <a:noFill/>
          </a:ln>
        </p:spPr>
      </p:pic>
      <p:sp>
        <p:nvSpPr>
          <p:cNvPr id="102" name="Google Shape;102;p4"/>
          <p:cNvSpPr/>
          <p:nvPr/>
        </p:nvSpPr>
        <p:spPr>
          <a:xfrm>
            <a:off x="9936480" y="5550408"/>
            <a:ext cx="3078480" cy="475488"/>
          </a:xfrm>
          <a:prstGeom prst="roundRect">
            <a:avLst>
              <a:gd fmla="val 50000" name="adj"/>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3" name="Google Shape;103;p4"/>
          <p:cNvSpPr txBox="1"/>
          <p:nvPr/>
        </p:nvSpPr>
        <p:spPr>
          <a:xfrm>
            <a:off x="9936480" y="5550408"/>
            <a:ext cx="3078480" cy="475488"/>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600" u="none" cap="none" strike="noStrike">
                <a:solidFill>
                  <a:srgbClr val="FFFFFF"/>
                </a:solidFill>
                <a:latin typeface="Arial"/>
                <a:ea typeface="Arial"/>
                <a:cs typeface="Arial"/>
                <a:sym typeface="Arial"/>
              </a:rPr>
              <a:t>Comprender</a:t>
            </a:r>
            <a:endParaRPr/>
          </a:p>
        </p:txBody>
      </p:sp>
      <p:sp>
        <p:nvSpPr>
          <p:cNvPr id="104" name="Google Shape;104;p4"/>
          <p:cNvSpPr txBox="1"/>
          <p:nvPr/>
        </p:nvSpPr>
        <p:spPr>
          <a:xfrm>
            <a:off x="9022080" y="6355080"/>
            <a:ext cx="399288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s-CO" sz="1500" u="none" cap="none" strike="noStrike">
                <a:solidFill>
                  <a:srgbClr val="3F3A48"/>
                </a:solidFill>
                <a:latin typeface="Arial"/>
                <a:ea typeface="Arial"/>
                <a:cs typeface="Arial"/>
                <a:sym typeface="Arial"/>
              </a:rPr>
              <a:t>Intentar interpretar lo que la otra persona puede estar viviendo o necesitando.</a:t>
            </a:r>
            <a:endParaRPr/>
          </a:p>
        </p:txBody>
      </p:sp>
      <p:sp>
        <p:nvSpPr>
          <p:cNvPr id="105" name="Google Shape;105;p4"/>
          <p:cNvSpPr/>
          <p:nvPr/>
        </p:nvSpPr>
        <p:spPr>
          <a:xfrm>
            <a:off x="13609320" y="5166360"/>
            <a:ext cx="4541520" cy="2148840"/>
          </a:xfrm>
          <a:prstGeom prst="roundRect">
            <a:avLst>
              <a:gd fmla="val 10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6" name="Google Shape;106;p4"/>
          <p:cNvSpPr/>
          <p:nvPr/>
        </p:nvSpPr>
        <p:spPr>
          <a:xfrm>
            <a:off x="13609320" y="7242048"/>
            <a:ext cx="4541520" cy="73152"/>
          </a:xfrm>
          <a:prstGeom prst="rect">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7" name="Google Shape;107;p4"/>
          <p:cNvSpPr/>
          <p:nvPr/>
        </p:nvSpPr>
        <p:spPr>
          <a:xfrm>
            <a:off x="13883640" y="5440680"/>
            <a:ext cx="731520" cy="731520"/>
          </a:xfrm>
          <a:prstGeom prst="ellipse">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08" name="Google Shape;108;p4"/>
          <p:cNvPicPr preferRelativeResize="0"/>
          <p:nvPr/>
        </p:nvPicPr>
        <p:blipFill rotWithShape="1">
          <a:blip r:embed="rId16">
            <a:alphaModFix/>
          </a:blip>
          <a:srcRect b="0" l="0" r="0" t="0"/>
          <a:stretch/>
        </p:blipFill>
        <p:spPr>
          <a:xfrm>
            <a:off x="14029944" y="5586984"/>
            <a:ext cx="438912" cy="438912"/>
          </a:xfrm>
          <a:prstGeom prst="rect">
            <a:avLst/>
          </a:prstGeom>
          <a:noFill/>
          <a:ln>
            <a:noFill/>
          </a:ln>
        </p:spPr>
      </p:pic>
      <p:sp>
        <p:nvSpPr>
          <p:cNvPr id="109" name="Google Shape;109;p4"/>
          <p:cNvSpPr/>
          <p:nvPr/>
        </p:nvSpPr>
        <p:spPr>
          <a:xfrm>
            <a:off x="14798040" y="5550408"/>
            <a:ext cx="3078480" cy="475488"/>
          </a:xfrm>
          <a:prstGeom prst="roundRect">
            <a:avLst>
              <a:gd fmla="val 50000" name="adj"/>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 name="Google Shape;110;p4"/>
          <p:cNvSpPr txBox="1"/>
          <p:nvPr/>
        </p:nvSpPr>
        <p:spPr>
          <a:xfrm>
            <a:off x="14798040" y="5550408"/>
            <a:ext cx="3078480" cy="475488"/>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600" u="none" cap="none" strike="noStrike">
                <a:solidFill>
                  <a:srgbClr val="FFFFFF"/>
                </a:solidFill>
                <a:latin typeface="Arial"/>
                <a:ea typeface="Arial"/>
                <a:cs typeface="Arial"/>
                <a:sym typeface="Arial"/>
              </a:rPr>
              <a:t>Responder</a:t>
            </a:r>
            <a:endParaRPr/>
          </a:p>
        </p:txBody>
      </p:sp>
      <p:sp>
        <p:nvSpPr>
          <p:cNvPr id="111" name="Google Shape;111;p4"/>
          <p:cNvSpPr txBox="1"/>
          <p:nvPr/>
        </p:nvSpPr>
        <p:spPr>
          <a:xfrm>
            <a:off x="13883640" y="6355080"/>
            <a:ext cx="3992880" cy="8229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s-CO" sz="1500" u="none" cap="none" strike="noStrike">
                <a:solidFill>
                  <a:srgbClr val="3F3A48"/>
                </a:solidFill>
                <a:latin typeface="Arial"/>
                <a:ea typeface="Arial"/>
                <a:cs typeface="Arial"/>
                <a:sym typeface="Arial"/>
              </a:rPr>
              <a:t>Elegir una manera adecuada de actuar y comunicarnos ante la situación.</a:t>
            </a:r>
            <a:endParaRPr/>
          </a:p>
        </p:txBody>
      </p:sp>
      <p:sp>
        <p:nvSpPr>
          <p:cNvPr id="32" name="Google Shape;32;p1">
            <a:hlinkClick action="ppaction://hlinksldjump" r:id="rId17"/>
          </p:cNvPr>
          <p:cNvSpPr/>
          <p:nvPr/>
        </p:nvSpPr>
        <p:spPr>
          <a:xfrm>
            <a:off x="191751" y="9336878"/>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
            <a:hlinkClick action="ppaction://hlinksldjump" r:id="rId17"/>
          </p:cNvPr>
          <p:cNvSpPr/>
          <p:nvPr/>
        </p:nvSpPr>
        <p:spPr>
          <a:xfrm>
            <a:off x="266783" y="9336878"/>
            <a:ext cx="2709600" cy="1117697"/>
          </a:xfrm>
          <a:prstGeom prst="roundRect">
            <a:avLst>
              <a:gd fmla="val 10000" name="adj"/>
            </a:avLst>
          </a:prstGeom>
          <a:solidFill>
            <a:srgbClr val="E6E0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Créditos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Equipo de producción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
          <p:cNvSpPr/>
          <p:nvPr/>
        </p:nvSpPr>
        <p:spPr>
          <a:xfrm>
            <a:off x="3887703" y="1984772"/>
            <a:ext cx="14264640" cy="9228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4000"/>
              <a:buFont typeface="Arial"/>
              <a:buNone/>
            </a:pPr>
            <a:r>
              <a:rPr b="1" i="0" lang="es-CO" sz="3400" u="none" cap="none" strike="noStrike">
                <a:solidFill>
                  <a:srgbClr val="3D2159"/>
                </a:solidFill>
                <a:latin typeface="Arial"/>
                <a:ea typeface="Arial"/>
                <a:cs typeface="Arial"/>
                <a:sym typeface="Arial"/>
              </a:rPr>
              <a:t>Tres claves para relacionarnos mejor</a:t>
            </a:r>
            <a:endParaRPr b="0" i="0" sz="1400" u="none" cap="none" strike="noStrike">
              <a:solidFill>
                <a:srgbClr val="000000"/>
              </a:solidFill>
              <a:latin typeface="Arial"/>
              <a:ea typeface="Arial"/>
              <a:cs typeface="Arial"/>
              <a:sym typeface="Arial"/>
            </a:endParaRPr>
          </a:p>
        </p:txBody>
      </p:sp>
      <p:sp>
        <p:nvSpPr>
          <p:cNvPr id="117" name="Google Shape;117;p2"/>
          <p:cNvSpPr/>
          <p:nvPr/>
        </p:nvSpPr>
        <p:spPr>
          <a:xfrm>
            <a:off x="0" y="0"/>
            <a:ext cx="3168000" cy="10934700"/>
          </a:xfrm>
          <a:prstGeom prst="rect">
            <a:avLst/>
          </a:prstGeom>
          <a:solidFill>
            <a:srgbClr val="F5F3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
          <p:cNvSpPr/>
          <p:nvPr/>
        </p:nvSpPr>
        <p:spPr>
          <a:xfrm>
            <a:off x="3153046" y="0"/>
            <a:ext cx="15000" cy="10934700"/>
          </a:xfrm>
          <a:prstGeom prst="rect">
            <a:avLst/>
          </a:prstGeom>
          <a:solidFill>
            <a:srgbClr val="E0DA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
          <p:cNvSpPr/>
          <p:nvPr/>
        </p:nvSpPr>
        <p:spPr>
          <a:xfrm>
            <a:off x="191751" y="1550000"/>
            <a:ext cx="2784600" cy="14100"/>
          </a:xfrm>
          <a:prstGeom prst="rect">
            <a:avLst/>
          </a:prstGeom>
          <a:solidFill>
            <a:srgbClr val="D8D2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
          <p:cNvSpPr/>
          <p:nvPr/>
        </p:nvSpPr>
        <p:spPr>
          <a:xfrm>
            <a:off x="191751" y="1730000"/>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
            <a:hlinkClick action="ppaction://hlinksldjump" r:id="rId3"/>
          </p:cNvPr>
          <p:cNvSpPr/>
          <p:nvPr/>
        </p:nvSpPr>
        <p:spPr>
          <a:xfrm>
            <a:off x="266783" y="1730000"/>
            <a:ext cx="2709600" cy="1117697"/>
          </a:xfrm>
          <a:prstGeom prst="roundRect">
            <a:avLst>
              <a:gd fmla="val 10000" name="adj"/>
            </a:avLst>
          </a:prstGeom>
          <a:solidFill>
            <a:srgbClr val="E6E0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¿Qué es la inteligencia social?</a:t>
            </a:r>
            <a:endParaRPr b="0" i="0" sz="1400" u="none" cap="none" strike="noStrike">
              <a:solidFill>
                <a:srgbClr val="000000"/>
              </a:solidFill>
              <a:latin typeface="Arial"/>
              <a:ea typeface="Arial"/>
              <a:cs typeface="Arial"/>
              <a:sym typeface="Arial"/>
            </a:endParaRPr>
          </a:p>
        </p:txBody>
      </p:sp>
      <p:sp>
        <p:nvSpPr>
          <p:cNvPr id="122" name="Google Shape;122;p2"/>
          <p:cNvSpPr/>
          <p:nvPr/>
        </p:nvSpPr>
        <p:spPr>
          <a:xfrm>
            <a:off x="191751" y="2997813"/>
            <a:ext cx="75000" cy="1117697"/>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
            <a:hlinkClick action="ppaction://hlinksldjump" r:id="rId4"/>
          </p:cNvPr>
          <p:cNvSpPr/>
          <p:nvPr/>
        </p:nvSpPr>
        <p:spPr>
          <a:xfrm>
            <a:off x="266783" y="2997813"/>
            <a:ext cx="2709600" cy="1117697"/>
          </a:xfrm>
          <a:prstGeom prst="roundRect">
            <a:avLst>
              <a:gd fmla="val 10000" name="adj"/>
            </a:avLst>
          </a:prstGeom>
          <a:solidFill>
            <a:srgbClr val="A71989"/>
          </a:solidFill>
          <a:ln cap="flat" cmpd="sng" w="19050">
            <a:solidFill>
              <a:srgbClr val="FFFFFF"/>
            </a:solidFill>
            <a:prstDash val="solid"/>
            <a:round/>
            <a:headEnd len="sm" w="sm" type="none"/>
            <a:tailEnd len="sm" w="sm" type="none"/>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FFFFFF"/>
                </a:solidFill>
                <a:latin typeface="Arial"/>
                <a:ea typeface="Arial"/>
                <a:cs typeface="Arial"/>
                <a:sym typeface="Arial"/>
              </a:rPr>
              <a:t>Pantalla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FFFFFF"/>
                </a:solidFill>
                <a:latin typeface="Arial"/>
                <a:ea typeface="Arial"/>
                <a:cs typeface="Arial"/>
                <a:sym typeface="Arial"/>
              </a:rPr>
              <a:t>Tres claves para relacionarnos</a:t>
            </a:r>
            <a:endParaRPr b="0" i="0" sz="1400" u="none" cap="none" strike="noStrike">
              <a:solidFill>
                <a:srgbClr val="000000"/>
              </a:solidFill>
              <a:latin typeface="Arial"/>
              <a:ea typeface="Arial"/>
              <a:cs typeface="Arial"/>
              <a:sym typeface="Arial"/>
            </a:endParaRPr>
          </a:p>
        </p:txBody>
      </p:sp>
      <p:sp>
        <p:nvSpPr>
          <p:cNvPr id="124" name="Google Shape;124;p2"/>
          <p:cNvSpPr/>
          <p:nvPr/>
        </p:nvSpPr>
        <p:spPr>
          <a:xfrm>
            <a:off x="191751" y="4265626"/>
            <a:ext cx="75000" cy="1117697"/>
          </a:xfrm>
          <a:prstGeom prst="rect">
            <a:avLst/>
          </a:prstGeom>
          <a:solidFill>
            <a:srgbClr val="467C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
            <a:hlinkClick action="ppaction://hlinksldjump" r:id="rId5"/>
          </p:cNvPr>
          <p:cNvSpPr/>
          <p:nvPr/>
        </p:nvSpPr>
        <p:spPr>
          <a:xfrm>
            <a:off x="266783" y="4265626"/>
            <a:ext cx="2709600" cy="1117697"/>
          </a:xfrm>
          <a:prstGeom prst="roundRect">
            <a:avLst>
              <a:gd fmla="val 10000" name="adj"/>
            </a:avLst>
          </a:prstGeom>
          <a:solidFill>
            <a:srgbClr val="E1EAFC"/>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Lo que se activa en nosotros</a:t>
            </a:r>
            <a:endParaRPr b="0" i="0" sz="1400" u="none" cap="none" strike="noStrike">
              <a:solidFill>
                <a:srgbClr val="000000"/>
              </a:solidFill>
              <a:latin typeface="Arial"/>
              <a:ea typeface="Arial"/>
              <a:cs typeface="Arial"/>
              <a:sym typeface="Arial"/>
            </a:endParaRPr>
          </a:p>
        </p:txBody>
      </p:sp>
      <p:sp>
        <p:nvSpPr>
          <p:cNvPr id="126" name="Google Shape;126;p2"/>
          <p:cNvSpPr/>
          <p:nvPr/>
        </p:nvSpPr>
        <p:spPr>
          <a:xfrm>
            <a:off x="191751" y="5533439"/>
            <a:ext cx="75000" cy="1117697"/>
          </a:xfrm>
          <a:prstGeom prst="rect">
            <a:avLst/>
          </a:prstGeom>
          <a:solidFill>
            <a:srgbClr val="3D2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
            <a:hlinkClick action="ppaction://hlinksldjump" r:id="rId6"/>
          </p:cNvPr>
          <p:cNvSpPr/>
          <p:nvPr/>
        </p:nvSpPr>
        <p:spPr>
          <a:xfrm>
            <a:off x="266783" y="5533439"/>
            <a:ext cx="2709600" cy="1117697"/>
          </a:xfrm>
          <a:prstGeom prst="roundRect">
            <a:avLst>
              <a:gd fmla="val 10000" name="adj"/>
            </a:avLst>
          </a:prstGeom>
          <a:solidFill>
            <a:srgbClr val="DFDBE4"/>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Practiquemos la empatía</a:t>
            </a:r>
            <a:endParaRPr b="0" i="0" sz="1400" u="none" cap="none" strike="noStrike">
              <a:solidFill>
                <a:srgbClr val="000000"/>
              </a:solidFill>
              <a:latin typeface="Arial"/>
              <a:ea typeface="Arial"/>
              <a:cs typeface="Arial"/>
              <a:sym typeface="Arial"/>
            </a:endParaRPr>
          </a:p>
        </p:txBody>
      </p:sp>
      <p:sp>
        <p:nvSpPr>
          <p:cNvPr id="128" name="Google Shape;128;p2"/>
          <p:cNvSpPr/>
          <p:nvPr/>
        </p:nvSpPr>
        <p:spPr>
          <a:xfrm>
            <a:off x="191751" y="6801252"/>
            <a:ext cx="75000" cy="1117697"/>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
            <a:hlinkClick action="ppaction://hlinksldjump" r:id="rId7"/>
          </p:cNvPr>
          <p:cNvSpPr/>
          <p:nvPr/>
        </p:nvSpPr>
        <p:spPr>
          <a:xfrm>
            <a:off x="266783" y="6801252"/>
            <a:ext cx="2709600" cy="1117697"/>
          </a:xfrm>
          <a:prstGeom prst="roundRect">
            <a:avLst>
              <a:gd fmla="val 10000" name="adj"/>
            </a:avLst>
          </a:prstGeom>
          <a:solidFill>
            <a:srgbClr val="D6E1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¿Cómo nos comunicamos?</a:t>
            </a:r>
            <a:endParaRPr b="0" i="0" sz="1400" u="none" cap="none" strike="noStrike">
              <a:solidFill>
                <a:srgbClr val="000000"/>
              </a:solidFill>
              <a:latin typeface="Arial"/>
              <a:ea typeface="Arial"/>
              <a:cs typeface="Arial"/>
              <a:sym typeface="Arial"/>
            </a:endParaRPr>
          </a:p>
        </p:txBody>
      </p:sp>
      <p:sp>
        <p:nvSpPr>
          <p:cNvPr id="130" name="Google Shape;130;p2"/>
          <p:cNvSpPr/>
          <p:nvPr/>
        </p:nvSpPr>
        <p:spPr>
          <a:xfrm>
            <a:off x="191751" y="8069065"/>
            <a:ext cx="75000" cy="1117697"/>
          </a:xfrm>
          <a:prstGeom prst="rect">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
            <a:hlinkClick action="ppaction://hlinksldjump" r:id="rId8"/>
          </p:cNvPr>
          <p:cNvSpPr/>
          <p:nvPr/>
        </p:nvSpPr>
        <p:spPr>
          <a:xfrm>
            <a:off x="266783" y="8069065"/>
            <a:ext cx="2709600" cy="1117697"/>
          </a:xfrm>
          <a:prstGeom prst="roundRect">
            <a:avLst>
              <a:gd fmla="val 10000" name="adj"/>
            </a:avLst>
          </a:prstGeom>
          <a:solidFill>
            <a:srgbClr val="FFF8D6"/>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Antes de una conversación difícil</a:t>
            </a:r>
            <a:endParaRPr b="0" i="0" sz="1400" u="none" cap="none" strike="noStrike">
              <a:solidFill>
                <a:srgbClr val="000000"/>
              </a:solidFill>
              <a:latin typeface="Arial"/>
              <a:ea typeface="Arial"/>
              <a:cs typeface="Arial"/>
              <a:sym typeface="Arial"/>
            </a:endParaRPr>
          </a:p>
        </p:txBody>
      </p:sp>
      <p:sp>
        <p:nvSpPr>
          <p:cNvPr id="132" name="Google Shape;132;p2"/>
          <p:cNvSpPr/>
          <p:nvPr/>
        </p:nvSpPr>
        <p:spPr>
          <a:xfrm>
            <a:off x="4591655" y="9872067"/>
            <a:ext cx="1588200" cy="476400"/>
          </a:xfrm>
          <a:prstGeom prst="roundRect">
            <a:avLst>
              <a:gd fmla="val 50000" name="adj"/>
            </a:avLst>
          </a:prstGeom>
          <a:solidFill>
            <a:srgbClr val="D8D2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
            <a:hlinkClick action="ppaction://hlinksldjump" r:id="rId9"/>
          </p:cNvPr>
          <p:cNvSpPr/>
          <p:nvPr/>
        </p:nvSpPr>
        <p:spPr>
          <a:xfrm>
            <a:off x="4591655" y="9812536"/>
            <a:ext cx="1588200" cy="476400"/>
          </a:xfrm>
          <a:prstGeom prst="roundRect">
            <a:avLst>
              <a:gd fmla="val 50000" name="adj"/>
            </a:avLst>
          </a:prstGeom>
          <a:solidFill>
            <a:srgbClr val="FFFFFF"/>
          </a:solidFill>
          <a:ln cap="flat" cmpd="sng" w="14275">
            <a:solidFill>
              <a:srgbClr val="664092"/>
            </a:solidFill>
            <a:prstDash val="solid"/>
            <a:round/>
            <a:headEnd len="sm" w="sm" type="none"/>
            <a:tailEnd len="sm" w="sm" type="none"/>
          </a:ln>
        </p:spPr>
        <p:txBody>
          <a:bodyPr anchorCtr="0" anchor="ctr" bIns="59525" lIns="148825" spcFirstLastPara="1" rIns="148825" wrap="square" tIns="59525">
            <a:noAutofit/>
          </a:bodyPr>
          <a:lstStyle/>
          <a:p>
            <a:pPr indent="0" lvl="0" marL="0" marR="0" rtl="0" algn="ctr">
              <a:lnSpc>
                <a:spcPct val="80000"/>
              </a:lnSpc>
              <a:spcBef>
                <a:spcPts val="0"/>
              </a:spcBef>
              <a:spcAft>
                <a:spcPts val="0"/>
              </a:spcAft>
              <a:buClr>
                <a:srgbClr val="000000"/>
              </a:buClr>
              <a:buSzPts val="1578"/>
              <a:buFont typeface="Arial"/>
              <a:buNone/>
            </a:pPr>
            <a:r>
              <a:rPr b="1" i="0" lang="es-CO" sz="1578" u="sng" cap="none" strike="noStrike">
                <a:solidFill>
                  <a:srgbClr val="663D8F"/>
                </a:solidFill>
                <a:latin typeface="Arial"/>
                <a:ea typeface="Arial"/>
                <a:cs typeface="Arial"/>
                <a:sym typeface="Arial"/>
              </a:rPr>
              <a:t>Anterior</a:t>
            </a:r>
            <a:endParaRPr b="0" i="0" sz="1400" u="none" cap="none" strike="noStrike">
              <a:solidFill>
                <a:srgbClr val="000000"/>
              </a:solidFill>
              <a:latin typeface="Arial"/>
              <a:ea typeface="Arial"/>
              <a:cs typeface="Arial"/>
              <a:sym typeface="Arial"/>
            </a:endParaRPr>
          </a:p>
        </p:txBody>
      </p:sp>
      <p:sp>
        <p:nvSpPr>
          <p:cNvPr id="134" name="Google Shape;134;p2"/>
          <p:cNvSpPr/>
          <p:nvPr/>
        </p:nvSpPr>
        <p:spPr>
          <a:xfrm>
            <a:off x="6378374" y="9872067"/>
            <a:ext cx="2034900" cy="476400"/>
          </a:xfrm>
          <a:prstGeom prst="roundRect">
            <a:avLst>
              <a:gd fmla="val 50000" name="adj"/>
            </a:avLst>
          </a:prstGeom>
          <a:solidFill>
            <a:srgbClr val="C8A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
            <a:hlinkClick action="ppaction://hlinksldjump" r:id="rId10"/>
          </p:cNvPr>
          <p:cNvSpPr/>
          <p:nvPr/>
        </p:nvSpPr>
        <p:spPr>
          <a:xfrm>
            <a:off x="6378374" y="9812536"/>
            <a:ext cx="2034900" cy="476400"/>
          </a:xfrm>
          <a:prstGeom prst="roundRect">
            <a:avLst>
              <a:gd fmla="val 50000" name="adj"/>
            </a:avLst>
          </a:prstGeom>
          <a:solidFill>
            <a:srgbClr val="FFD900"/>
          </a:solidFill>
          <a:ln>
            <a:noFill/>
          </a:ln>
        </p:spPr>
        <p:txBody>
          <a:bodyPr anchorCtr="0" anchor="ctr" bIns="59525" lIns="148825" spcFirstLastPara="1" rIns="148825" wrap="square" tIns="59525">
            <a:noAutofit/>
          </a:bodyPr>
          <a:lstStyle/>
          <a:p>
            <a:pPr indent="0" lvl="0" marL="0" marR="0" rtl="0" algn="ctr">
              <a:lnSpc>
                <a:spcPct val="80000"/>
              </a:lnSpc>
              <a:spcBef>
                <a:spcPts val="0"/>
              </a:spcBef>
              <a:spcAft>
                <a:spcPts val="0"/>
              </a:spcAft>
              <a:buClr>
                <a:srgbClr val="000000"/>
              </a:buClr>
              <a:buSzPts val="1578"/>
              <a:buFont typeface="Arial"/>
              <a:buNone/>
            </a:pPr>
            <a:r>
              <a:rPr b="1" i="0" lang="es-CO" sz="1578" u="sng" cap="none" strike="noStrike">
                <a:solidFill>
                  <a:srgbClr val="663D8F"/>
                </a:solidFill>
                <a:latin typeface="Arial"/>
                <a:ea typeface="Arial"/>
                <a:cs typeface="Arial"/>
                <a:sym typeface="Arial"/>
              </a:rPr>
              <a:t>Siguiente</a:t>
            </a:r>
            <a:endParaRPr b="1" i="0" sz="1578" u="sng" cap="none" strike="noStrike">
              <a:solidFill>
                <a:srgbClr val="663D8F"/>
              </a:solidFill>
              <a:latin typeface="Arial"/>
              <a:ea typeface="Arial"/>
              <a:cs typeface="Arial"/>
              <a:sym typeface="Arial"/>
            </a:endParaRPr>
          </a:p>
        </p:txBody>
      </p:sp>
      <p:sp>
        <p:nvSpPr>
          <p:cNvPr id="136" name="Google Shape;136;p2">
            <a:hlinkClick action="ppaction://hlinksldjump" r:id="rId12"/>
          </p:cNvPr>
          <p:cNvSpPr/>
          <p:nvPr/>
        </p:nvSpPr>
        <p:spPr>
          <a:xfrm>
            <a:off x="191792" y="399700"/>
            <a:ext cx="75000" cy="984000"/>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
            <a:hlinkClick action="ppaction://hlinksldjump" r:id="rId12"/>
          </p:cNvPr>
          <p:cNvSpPr/>
          <p:nvPr/>
        </p:nvSpPr>
        <p:spPr>
          <a:xfrm>
            <a:off x="266825" y="399900"/>
            <a:ext cx="2709300" cy="984000"/>
          </a:xfrm>
          <a:prstGeom prst="roundRect">
            <a:avLst>
              <a:gd fmla="val 14000" name="adj"/>
            </a:avLst>
          </a:prstGeom>
          <a:solidFill>
            <a:srgbClr val="D1E0F2"/>
          </a:solidFill>
          <a:ln>
            <a:noFill/>
          </a:ln>
        </p:spPr>
        <p:txBody>
          <a:bodyPr anchorCtr="0" anchor="ctr" bIns="40000" lIns="160000" spcFirstLastPara="1" rIns="100000" wrap="square" tIns="40000">
            <a:noAutofit/>
          </a:bodyPr>
          <a:lstStyle/>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rgbClr val="000000"/>
              </a:solidFill>
              <a:latin typeface="Arial"/>
              <a:ea typeface="Arial"/>
              <a:cs typeface="Arial"/>
              <a:sym typeface="Arial"/>
            </a:endParaRPr>
          </a:p>
        </p:txBody>
      </p:sp>
      <p:pic>
        <p:nvPicPr>
          <p:cNvPr id="138" name="Google Shape;138;p2" title="correcciones sapiencia.png">
            <a:hlinkClick action="ppaction://hlinksldjump" r:id="rId12"/>
          </p:cNvPr>
          <p:cNvPicPr preferRelativeResize="0"/>
          <p:nvPr/>
        </p:nvPicPr>
        <p:blipFill rotWithShape="1">
          <a:blip r:embed="rId11">
            <a:alphaModFix/>
          </a:blip>
          <a:srcRect b="0" l="0" r="0" t="0"/>
          <a:stretch/>
        </p:blipFill>
        <p:spPr>
          <a:xfrm>
            <a:off x="266783" y="600314"/>
            <a:ext cx="486192" cy="486192"/>
          </a:xfrm>
          <a:prstGeom prst="rect">
            <a:avLst/>
          </a:prstGeom>
          <a:noFill/>
          <a:ln>
            <a:noFill/>
          </a:ln>
        </p:spPr>
      </p:pic>
      <p:sp>
        <p:nvSpPr>
          <p:cNvPr id="139" name="Google Shape;139;p2">
            <a:hlinkClick action="ppaction://hlinksldjump" r:id="rId12"/>
          </p:cNvPr>
          <p:cNvSpPr txBox="1"/>
          <p:nvPr/>
        </p:nvSpPr>
        <p:spPr>
          <a:xfrm>
            <a:off x="939099" y="660838"/>
            <a:ext cx="1541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s-CO" sz="1200" u="none" cap="none" strike="noStrike">
                <a:solidFill>
                  <a:srgbClr val="3D2159"/>
                </a:solidFill>
                <a:latin typeface="Arial"/>
                <a:ea typeface="Arial"/>
                <a:cs typeface="Arial"/>
                <a:sym typeface="Arial"/>
              </a:rPr>
              <a:t>Inteligencia social</a:t>
            </a:r>
            <a:endParaRPr b="1" i="0" sz="1200" u="none" cap="none" strike="noStrike">
              <a:solidFill>
                <a:srgbClr val="3D215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1" lang="es-CO" sz="1200" u="none" cap="none" strike="noStrike">
                <a:solidFill>
                  <a:srgbClr val="3D2159"/>
                </a:solidFill>
                <a:latin typeface="Arial"/>
                <a:ea typeface="Arial"/>
                <a:cs typeface="Arial"/>
                <a:sym typeface="Arial"/>
              </a:rPr>
              <a:t>Inicio</a:t>
            </a:r>
            <a:endParaRPr b="1" i="0" sz="1200" u="none" cap="none" strike="noStrike">
              <a:solidFill>
                <a:srgbClr val="A71989"/>
              </a:solidFill>
              <a:latin typeface="Arial"/>
              <a:ea typeface="Arial"/>
              <a:cs typeface="Arial"/>
              <a:sym typeface="Arial"/>
            </a:endParaRPr>
          </a:p>
        </p:txBody>
      </p:sp>
      <p:sp>
        <p:nvSpPr>
          <p:cNvPr id="140" name="Google Shape;140;p2"/>
          <p:cNvSpPr txBox="1"/>
          <p:nvPr/>
        </p:nvSpPr>
        <p:spPr>
          <a:xfrm>
            <a:off x="3886200" y="1481328"/>
            <a:ext cx="9144000" cy="329184"/>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500" u="none" cap="none" strike="noStrike">
                <a:solidFill>
                  <a:srgbClr val="A71989"/>
                </a:solidFill>
                <a:latin typeface="Arial"/>
                <a:ea typeface="Arial"/>
                <a:cs typeface="Arial"/>
                <a:sym typeface="Arial"/>
              </a:rPr>
              <a:t>Módulo 2 · Inteligencia social</a:t>
            </a:r>
            <a:endParaRPr/>
          </a:p>
        </p:txBody>
      </p:sp>
      <p:sp>
        <p:nvSpPr>
          <p:cNvPr id="141" name="Google Shape;141;p2"/>
          <p:cNvSpPr/>
          <p:nvPr/>
        </p:nvSpPr>
        <p:spPr>
          <a:xfrm>
            <a:off x="3886200" y="2834640"/>
            <a:ext cx="128016" cy="12801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 name="Google Shape;142;p2"/>
          <p:cNvSpPr/>
          <p:nvPr/>
        </p:nvSpPr>
        <p:spPr>
          <a:xfrm>
            <a:off x="4114800"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 name="Google Shape;143;p2"/>
          <p:cNvSpPr/>
          <p:nvPr/>
        </p:nvSpPr>
        <p:spPr>
          <a:xfrm>
            <a:off x="4334256"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4" name="Google Shape;144;p2"/>
          <p:cNvSpPr/>
          <p:nvPr/>
        </p:nvSpPr>
        <p:spPr>
          <a:xfrm>
            <a:off x="4553712"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5" name="Google Shape;145;p2"/>
          <p:cNvSpPr/>
          <p:nvPr/>
        </p:nvSpPr>
        <p:spPr>
          <a:xfrm>
            <a:off x="4782312"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6" name="Google Shape;146;p2"/>
          <p:cNvSpPr/>
          <p:nvPr/>
        </p:nvSpPr>
        <p:spPr>
          <a:xfrm>
            <a:off x="5001768" y="2834640"/>
            <a:ext cx="128016" cy="12801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7" name="Google Shape;147;p2"/>
          <p:cNvSpPr txBox="1"/>
          <p:nvPr/>
        </p:nvSpPr>
        <p:spPr>
          <a:xfrm>
            <a:off x="3886200" y="3200400"/>
            <a:ext cx="14264640" cy="45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700" u="none" cap="none" strike="noStrike">
                <a:solidFill>
                  <a:srgbClr val="3F3A48"/>
                </a:solidFill>
                <a:latin typeface="Arial"/>
                <a:ea typeface="Arial"/>
                <a:cs typeface="Arial"/>
                <a:sym typeface="Arial"/>
              </a:rPr>
              <a:t>La inteligencia social puede explorarse, en este recurso, a partir de tres aspectos que intervienen en nuestras relaciones:</a:t>
            </a:r>
            <a:endParaRPr/>
          </a:p>
        </p:txBody>
      </p:sp>
      <p:sp>
        <p:nvSpPr>
          <p:cNvPr id="148" name="Google Shape;148;p2"/>
          <p:cNvSpPr/>
          <p:nvPr/>
        </p:nvSpPr>
        <p:spPr>
          <a:xfrm>
            <a:off x="3886200" y="3931920"/>
            <a:ext cx="4541520" cy="3520440"/>
          </a:xfrm>
          <a:prstGeom prst="roundRect">
            <a:avLst>
              <a:gd fmla="val 7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9" name="Google Shape;149;p2"/>
          <p:cNvSpPr/>
          <p:nvPr/>
        </p:nvSpPr>
        <p:spPr>
          <a:xfrm>
            <a:off x="3886200" y="3931920"/>
            <a:ext cx="4541520" cy="1280160"/>
          </a:xfrm>
          <a:prstGeom prst="roundRect">
            <a:avLst>
              <a:gd fmla="val 1400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0" name="Google Shape;150;p2"/>
          <p:cNvSpPr/>
          <p:nvPr/>
        </p:nvSpPr>
        <p:spPr>
          <a:xfrm>
            <a:off x="3886200" y="4846320"/>
            <a:ext cx="4541520" cy="365760"/>
          </a:xfrm>
          <a:prstGeom prst="rect">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1" name="Google Shape;151;p2"/>
          <p:cNvSpPr/>
          <p:nvPr/>
        </p:nvSpPr>
        <p:spPr>
          <a:xfrm>
            <a:off x="5745480" y="4160520"/>
            <a:ext cx="822960" cy="822960"/>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52" name="Google Shape;152;p2"/>
          <p:cNvPicPr preferRelativeResize="0"/>
          <p:nvPr/>
        </p:nvPicPr>
        <p:blipFill rotWithShape="1">
          <a:blip r:embed="rId13">
            <a:alphaModFix/>
          </a:blip>
          <a:srcRect b="0" l="0" r="0" t="0"/>
          <a:stretch/>
        </p:blipFill>
        <p:spPr>
          <a:xfrm>
            <a:off x="5910072" y="4325112"/>
            <a:ext cx="493776" cy="493776"/>
          </a:xfrm>
          <a:prstGeom prst="rect">
            <a:avLst/>
          </a:prstGeom>
          <a:noFill/>
          <a:ln>
            <a:noFill/>
          </a:ln>
        </p:spPr>
      </p:pic>
      <p:sp>
        <p:nvSpPr>
          <p:cNvPr id="153" name="Google Shape;153;p2"/>
          <p:cNvSpPr txBox="1"/>
          <p:nvPr/>
        </p:nvSpPr>
        <p:spPr>
          <a:xfrm>
            <a:off x="4160520" y="5394960"/>
            <a:ext cx="3992880" cy="4572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2000" u="none" cap="none" strike="noStrike">
                <a:solidFill>
                  <a:srgbClr val="664092"/>
                </a:solidFill>
                <a:latin typeface="Arial"/>
                <a:ea typeface="Arial"/>
                <a:cs typeface="Arial"/>
                <a:sym typeface="Arial"/>
              </a:rPr>
              <a:t>Gestión emocional</a:t>
            </a:r>
            <a:endParaRPr/>
          </a:p>
        </p:txBody>
      </p:sp>
      <p:sp>
        <p:nvSpPr>
          <p:cNvPr id="154" name="Google Shape;154;p2"/>
          <p:cNvSpPr txBox="1"/>
          <p:nvPr/>
        </p:nvSpPr>
        <p:spPr>
          <a:xfrm>
            <a:off x="4206240" y="5989320"/>
            <a:ext cx="3901440" cy="15544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s-CO" sz="1550" u="none" cap="none" strike="noStrike">
                <a:solidFill>
                  <a:srgbClr val="3F3A48"/>
                </a:solidFill>
                <a:latin typeface="Arial"/>
                <a:ea typeface="Arial"/>
                <a:cs typeface="Arial"/>
                <a:sym typeface="Arial"/>
              </a:rPr>
              <a:t>Reconocer lo que sentimos y comprender cómo nuestras emociones influyen en nuestras respuestas.</a:t>
            </a:r>
            <a:endParaRPr/>
          </a:p>
        </p:txBody>
      </p:sp>
      <p:sp>
        <p:nvSpPr>
          <p:cNvPr id="155" name="Google Shape;155;p2"/>
          <p:cNvSpPr/>
          <p:nvPr/>
        </p:nvSpPr>
        <p:spPr>
          <a:xfrm>
            <a:off x="8747760" y="3931920"/>
            <a:ext cx="4541520" cy="3520440"/>
          </a:xfrm>
          <a:prstGeom prst="roundRect">
            <a:avLst>
              <a:gd fmla="val 7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6" name="Google Shape;156;p2"/>
          <p:cNvSpPr/>
          <p:nvPr/>
        </p:nvSpPr>
        <p:spPr>
          <a:xfrm>
            <a:off x="8747760" y="3931920"/>
            <a:ext cx="4541520" cy="1280160"/>
          </a:xfrm>
          <a:prstGeom prst="roundRect">
            <a:avLst>
              <a:gd fmla="val 14000" name="adj"/>
            </a:avLst>
          </a:prstGeom>
          <a:solidFill>
            <a:srgbClr val="F6EB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 name="Google Shape;157;p2"/>
          <p:cNvSpPr/>
          <p:nvPr/>
        </p:nvSpPr>
        <p:spPr>
          <a:xfrm>
            <a:off x="8747760" y="4846320"/>
            <a:ext cx="4541520" cy="365760"/>
          </a:xfrm>
          <a:prstGeom prst="rect">
            <a:avLst/>
          </a:prstGeom>
          <a:solidFill>
            <a:srgbClr val="F6EB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8" name="Google Shape;158;p2"/>
          <p:cNvSpPr/>
          <p:nvPr/>
        </p:nvSpPr>
        <p:spPr>
          <a:xfrm>
            <a:off x="10607040" y="4160520"/>
            <a:ext cx="822960" cy="822960"/>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59" name="Google Shape;159;p2"/>
          <p:cNvPicPr preferRelativeResize="0"/>
          <p:nvPr/>
        </p:nvPicPr>
        <p:blipFill rotWithShape="1">
          <a:blip r:embed="rId14">
            <a:alphaModFix/>
          </a:blip>
          <a:srcRect b="0" l="0" r="0" t="0"/>
          <a:stretch/>
        </p:blipFill>
        <p:spPr>
          <a:xfrm>
            <a:off x="10771632" y="4325112"/>
            <a:ext cx="493776" cy="493776"/>
          </a:xfrm>
          <a:prstGeom prst="rect">
            <a:avLst/>
          </a:prstGeom>
          <a:noFill/>
          <a:ln>
            <a:noFill/>
          </a:ln>
        </p:spPr>
      </p:pic>
      <p:sp>
        <p:nvSpPr>
          <p:cNvPr id="160" name="Google Shape;160;p2"/>
          <p:cNvSpPr txBox="1"/>
          <p:nvPr/>
        </p:nvSpPr>
        <p:spPr>
          <a:xfrm>
            <a:off x="9022080" y="5394960"/>
            <a:ext cx="3992880" cy="4572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2000" u="none" cap="none" strike="noStrike">
                <a:solidFill>
                  <a:srgbClr val="A71989"/>
                </a:solidFill>
                <a:latin typeface="Arial"/>
                <a:ea typeface="Arial"/>
                <a:cs typeface="Arial"/>
                <a:sym typeface="Arial"/>
              </a:rPr>
              <a:t>Empatía</a:t>
            </a:r>
            <a:endParaRPr/>
          </a:p>
        </p:txBody>
      </p:sp>
      <p:sp>
        <p:nvSpPr>
          <p:cNvPr id="161" name="Google Shape;161;p2"/>
          <p:cNvSpPr txBox="1"/>
          <p:nvPr/>
        </p:nvSpPr>
        <p:spPr>
          <a:xfrm>
            <a:off x="9067800" y="5989320"/>
            <a:ext cx="3901440" cy="15544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s-CO" sz="1550" u="none" cap="none" strike="noStrike">
                <a:solidFill>
                  <a:srgbClr val="3F3A48"/>
                </a:solidFill>
                <a:latin typeface="Arial"/>
                <a:ea typeface="Arial"/>
                <a:cs typeface="Arial"/>
                <a:sym typeface="Arial"/>
              </a:rPr>
              <a:t>Intentar comprender lo que otra persona siente, piensa o necesita antes de emitir un juicio.</a:t>
            </a:r>
            <a:endParaRPr/>
          </a:p>
        </p:txBody>
      </p:sp>
      <p:sp>
        <p:nvSpPr>
          <p:cNvPr id="162" name="Google Shape;162;p2"/>
          <p:cNvSpPr/>
          <p:nvPr/>
        </p:nvSpPr>
        <p:spPr>
          <a:xfrm>
            <a:off x="13609320" y="3931920"/>
            <a:ext cx="4541520" cy="3520440"/>
          </a:xfrm>
          <a:prstGeom prst="roundRect">
            <a:avLst>
              <a:gd fmla="val 7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 name="Google Shape;163;p2"/>
          <p:cNvSpPr/>
          <p:nvPr/>
        </p:nvSpPr>
        <p:spPr>
          <a:xfrm>
            <a:off x="13609320" y="3931920"/>
            <a:ext cx="4541520" cy="1280160"/>
          </a:xfrm>
          <a:prstGeom prst="roundRect">
            <a:avLst>
              <a:gd fmla="val 14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 name="Google Shape;164;p2"/>
          <p:cNvSpPr/>
          <p:nvPr/>
        </p:nvSpPr>
        <p:spPr>
          <a:xfrm>
            <a:off x="13609320" y="4846320"/>
            <a:ext cx="4541520" cy="365760"/>
          </a:xfrm>
          <a:prstGeom prst="rect">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5" name="Google Shape;165;p2"/>
          <p:cNvSpPr/>
          <p:nvPr/>
        </p:nvSpPr>
        <p:spPr>
          <a:xfrm>
            <a:off x="15468600" y="4160520"/>
            <a:ext cx="822960" cy="822960"/>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66" name="Google Shape;166;p2"/>
          <p:cNvPicPr preferRelativeResize="0"/>
          <p:nvPr/>
        </p:nvPicPr>
        <p:blipFill rotWithShape="1">
          <a:blip r:embed="rId15">
            <a:alphaModFix/>
          </a:blip>
          <a:srcRect b="0" l="0" r="0" t="0"/>
          <a:stretch/>
        </p:blipFill>
        <p:spPr>
          <a:xfrm>
            <a:off x="15633192" y="4325112"/>
            <a:ext cx="493776" cy="493776"/>
          </a:xfrm>
          <a:prstGeom prst="rect">
            <a:avLst/>
          </a:prstGeom>
          <a:noFill/>
          <a:ln>
            <a:noFill/>
          </a:ln>
        </p:spPr>
      </p:pic>
      <p:sp>
        <p:nvSpPr>
          <p:cNvPr id="167" name="Google Shape;167;p2"/>
          <p:cNvSpPr txBox="1"/>
          <p:nvPr/>
        </p:nvSpPr>
        <p:spPr>
          <a:xfrm>
            <a:off x="13883640" y="5394960"/>
            <a:ext cx="3992880" cy="4572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2000" u="none" cap="none" strike="noStrike">
                <a:solidFill>
                  <a:srgbClr val="2A56C6"/>
                </a:solidFill>
                <a:latin typeface="Arial"/>
                <a:ea typeface="Arial"/>
                <a:cs typeface="Arial"/>
                <a:sym typeface="Arial"/>
              </a:rPr>
              <a:t>Comunicación asertiva</a:t>
            </a:r>
            <a:endParaRPr/>
          </a:p>
        </p:txBody>
      </p:sp>
      <p:sp>
        <p:nvSpPr>
          <p:cNvPr id="168" name="Google Shape;168;p2"/>
          <p:cNvSpPr txBox="1"/>
          <p:nvPr/>
        </p:nvSpPr>
        <p:spPr>
          <a:xfrm>
            <a:off x="13929360" y="5989320"/>
            <a:ext cx="3901440" cy="15544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s-CO" sz="1550" u="none" cap="none" strike="noStrike">
                <a:solidFill>
                  <a:srgbClr val="3F3A48"/>
                </a:solidFill>
                <a:latin typeface="Arial"/>
                <a:ea typeface="Arial"/>
                <a:cs typeface="Arial"/>
                <a:sym typeface="Arial"/>
              </a:rPr>
              <a:t>Expresar lo que pensamos, sentimos o necesitamos con claridad, respetando a la otra persona y nuestros propios límites.</a:t>
            </a:r>
            <a:endParaRPr/>
          </a:p>
        </p:txBody>
      </p:sp>
      <p:sp>
        <p:nvSpPr>
          <p:cNvPr id="32" name="Google Shape;32;p1">
            <a:hlinkClick action="ppaction://hlinksldjump" r:id="rId16"/>
          </p:cNvPr>
          <p:cNvSpPr/>
          <p:nvPr/>
        </p:nvSpPr>
        <p:spPr>
          <a:xfrm>
            <a:off x="191751" y="9336878"/>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
            <a:hlinkClick action="ppaction://hlinksldjump" r:id="rId16"/>
          </p:cNvPr>
          <p:cNvSpPr/>
          <p:nvPr/>
        </p:nvSpPr>
        <p:spPr>
          <a:xfrm>
            <a:off x="266783" y="9336878"/>
            <a:ext cx="2709600" cy="1117697"/>
          </a:xfrm>
          <a:prstGeom prst="roundRect">
            <a:avLst>
              <a:gd fmla="val 10000" name="adj"/>
            </a:avLst>
          </a:prstGeom>
          <a:solidFill>
            <a:srgbClr val="E6E0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Créditos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Equipo de producción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6"/>
          <p:cNvSpPr/>
          <p:nvPr/>
        </p:nvSpPr>
        <p:spPr>
          <a:xfrm>
            <a:off x="3887703" y="1984772"/>
            <a:ext cx="14264640" cy="9228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4000"/>
              <a:buFont typeface="Arial"/>
              <a:buNone/>
            </a:pPr>
            <a:r>
              <a:rPr b="1" i="0" lang="es-CO" sz="3400" u="none" cap="none" strike="noStrike">
                <a:solidFill>
                  <a:srgbClr val="3D2159"/>
                </a:solidFill>
                <a:latin typeface="Arial"/>
                <a:ea typeface="Arial"/>
                <a:cs typeface="Arial"/>
                <a:sym typeface="Arial"/>
              </a:rPr>
              <a:t>Miremos lo que se activa en nosotros</a:t>
            </a:r>
            <a:endParaRPr b="0" i="0" sz="1400" u="none" cap="none" strike="noStrike">
              <a:solidFill>
                <a:srgbClr val="000000"/>
              </a:solidFill>
              <a:latin typeface="Arial"/>
              <a:ea typeface="Arial"/>
              <a:cs typeface="Arial"/>
              <a:sym typeface="Arial"/>
            </a:endParaRPr>
          </a:p>
        </p:txBody>
      </p:sp>
      <p:sp>
        <p:nvSpPr>
          <p:cNvPr id="174" name="Google Shape;174;p16"/>
          <p:cNvSpPr/>
          <p:nvPr/>
        </p:nvSpPr>
        <p:spPr>
          <a:xfrm>
            <a:off x="0" y="0"/>
            <a:ext cx="3168000" cy="10934700"/>
          </a:xfrm>
          <a:prstGeom prst="rect">
            <a:avLst/>
          </a:prstGeom>
          <a:solidFill>
            <a:srgbClr val="F5F3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6"/>
          <p:cNvSpPr/>
          <p:nvPr/>
        </p:nvSpPr>
        <p:spPr>
          <a:xfrm>
            <a:off x="3153046" y="0"/>
            <a:ext cx="15000" cy="10934700"/>
          </a:xfrm>
          <a:prstGeom prst="rect">
            <a:avLst/>
          </a:prstGeom>
          <a:solidFill>
            <a:srgbClr val="E0DA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6"/>
          <p:cNvSpPr/>
          <p:nvPr/>
        </p:nvSpPr>
        <p:spPr>
          <a:xfrm>
            <a:off x="191751" y="1550000"/>
            <a:ext cx="2784600" cy="14100"/>
          </a:xfrm>
          <a:prstGeom prst="rect">
            <a:avLst/>
          </a:prstGeom>
          <a:solidFill>
            <a:srgbClr val="D8D2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6"/>
          <p:cNvSpPr/>
          <p:nvPr/>
        </p:nvSpPr>
        <p:spPr>
          <a:xfrm>
            <a:off x="191751" y="1730000"/>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6">
            <a:hlinkClick action="ppaction://hlinksldjump" r:id="rId3"/>
          </p:cNvPr>
          <p:cNvSpPr/>
          <p:nvPr/>
        </p:nvSpPr>
        <p:spPr>
          <a:xfrm>
            <a:off x="266783" y="1730000"/>
            <a:ext cx="2709600" cy="1117697"/>
          </a:xfrm>
          <a:prstGeom prst="roundRect">
            <a:avLst>
              <a:gd fmla="val 10000" name="adj"/>
            </a:avLst>
          </a:prstGeom>
          <a:solidFill>
            <a:srgbClr val="E6E0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¿Qué es la inteligencia social?</a:t>
            </a:r>
            <a:endParaRPr b="0" i="0" sz="1400" u="none" cap="none" strike="noStrike">
              <a:solidFill>
                <a:srgbClr val="000000"/>
              </a:solidFill>
              <a:latin typeface="Arial"/>
              <a:ea typeface="Arial"/>
              <a:cs typeface="Arial"/>
              <a:sym typeface="Arial"/>
            </a:endParaRPr>
          </a:p>
        </p:txBody>
      </p:sp>
      <p:sp>
        <p:nvSpPr>
          <p:cNvPr id="179" name="Google Shape;179;p16"/>
          <p:cNvSpPr/>
          <p:nvPr/>
        </p:nvSpPr>
        <p:spPr>
          <a:xfrm>
            <a:off x="191751" y="2997813"/>
            <a:ext cx="75000" cy="1117697"/>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6">
            <a:hlinkClick action="ppaction://hlinksldjump" r:id="rId4"/>
          </p:cNvPr>
          <p:cNvSpPr/>
          <p:nvPr/>
        </p:nvSpPr>
        <p:spPr>
          <a:xfrm>
            <a:off x="266783" y="2997813"/>
            <a:ext cx="2709600" cy="1117697"/>
          </a:xfrm>
          <a:prstGeom prst="roundRect">
            <a:avLst>
              <a:gd fmla="val 10000" name="adj"/>
            </a:avLst>
          </a:prstGeom>
          <a:solidFill>
            <a:srgbClr val="F0DAEC"/>
          </a:solidFill>
          <a:ln cap="flat" cmpd="sng" w="19050">
            <a:solidFill>
              <a:srgbClr val="FFFFFF"/>
            </a:solidFill>
            <a:prstDash val="solid"/>
            <a:round/>
            <a:headEnd len="sm" w="sm" type="none"/>
            <a:tailEnd len="sm" w="sm" type="none"/>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Tres claves para relacionarnos</a:t>
            </a:r>
            <a:endParaRPr b="0" i="0" sz="1400" u="none" cap="none" strike="noStrike">
              <a:solidFill>
                <a:srgbClr val="000000"/>
              </a:solidFill>
              <a:latin typeface="Arial"/>
              <a:ea typeface="Arial"/>
              <a:cs typeface="Arial"/>
              <a:sym typeface="Arial"/>
            </a:endParaRPr>
          </a:p>
        </p:txBody>
      </p:sp>
      <p:sp>
        <p:nvSpPr>
          <p:cNvPr id="181" name="Google Shape;181;p16"/>
          <p:cNvSpPr/>
          <p:nvPr/>
        </p:nvSpPr>
        <p:spPr>
          <a:xfrm>
            <a:off x="191751" y="4265626"/>
            <a:ext cx="75000" cy="1117697"/>
          </a:xfrm>
          <a:prstGeom prst="rect">
            <a:avLst/>
          </a:prstGeom>
          <a:solidFill>
            <a:srgbClr val="467C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6">
            <a:hlinkClick action="ppaction://hlinksldjump" r:id="rId5"/>
          </p:cNvPr>
          <p:cNvSpPr/>
          <p:nvPr/>
        </p:nvSpPr>
        <p:spPr>
          <a:xfrm>
            <a:off x="266783" y="4265626"/>
            <a:ext cx="2709600" cy="1117697"/>
          </a:xfrm>
          <a:prstGeom prst="roundRect">
            <a:avLst>
              <a:gd fmla="val 10000" name="adj"/>
            </a:avLst>
          </a:prstGeom>
          <a:solidFill>
            <a:srgbClr val="2A56C6"/>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FFFFFF"/>
                </a:solidFill>
                <a:latin typeface="Arial"/>
                <a:ea typeface="Arial"/>
                <a:cs typeface="Arial"/>
                <a:sym typeface="Arial"/>
              </a:rPr>
              <a:t>Pantalla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FFFFFF"/>
                </a:solidFill>
                <a:latin typeface="Arial"/>
                <a:ea typeface="Arial"/>
                <a:cs typeface="Arial"/>
                <a:sym typeface="Arial"/>
              </a:rPr>
              <a:t>Lo que se activa en nosotros</a:t>
            </a:r>
            <a:endParaRPr b="0" i="0" sz="1400" u="none" cap="none" strike="noStrike">
              <a:solidFill>
                <a:srgbClr val="000000"/>
              </a:solidFill>
              <a:latin typeface="Arial"/>
              <a:ea typeface="Arial"/>
              <a:cs typeface="Arial"/>
              <a:sym typeface="Arial"/>
            </a:endParaRPr>
          </a:p>
        </p:txBody>
      </p:sp>
      <p:sp>
        <p:nvSpPr>
          <p:cNvPr id="183" name="Google Shape;183;p16"/>
          <p:cNvSpPr/>
          <p:nvPr/>
        </p:nvSpPr>
        <p:spPr>
          <a:xfrm>
            <a:off x="191751" y="5533439"/>
            <a:ext cx="75000" cy="1117697"/>
          </a:xfrm>
          <a:prstGeom prst="rect">
            <a:avLst/>
          </a:prstGeom>
          <a:solidFill>
            <a:srgbClr val="3D2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6">
            <a:hlinkClick action="ppaction://hlinksldjump" r:id="rId6"/>
          </p:cNvPr>
          <p:cNvSpPr/>
          <p:nvPr/>
        </p:nvSpPr>
        <p:spPr>
          <a:xfrm>
            <a:off x="266783" y="5533439"/>
            <a:ext cx="2709600" cy="1117697"/>
          </a:xfrm>
          <a:prstGeom prst="roundRect">
            <a:avLst>
              <a:gd fmla="val 10000" name="adj"/>
            </a:avLst>
          </a:prstGeom>
          <a:solidFill>
            <a:srgbClr val="DFDBE4"/>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Practiquemos la empatía</a:t>
            </a:r>
            <a:endParaRPr b="0" i="0" sz="1400" u="none" cap="none" strike="noStrike">
              <a:solidFill>
                <a:srgbClr val="000000"/>
              </a:solidFill>
              <a:latin typeface="Arial"/>
              <a:ea typeface="Arial"/>
              <a:cs typeface="Arial"/>
              <a:sym typeface="Arial"/>
            </a:endParaRPr>
          </a:p>
        </p:txBody>
      </p:sp>
      <p:sp>
        <p:nvSpPr>
          <p:cNvPr id="185" name="Google Shape;185;p16"/>
          <p:cNvSpPr/>
          <p:nvPr/>
        </p:nvSpPr>
        <p:spPr>
          <a:xfrm>
            <a:off x="191751" y="6801252"/>
            <a:ext cx="75000" cy="1117697"/>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6">
            <a:hlinkClick action="ppaction://hlinksldjump" r:id="rId7"/>
          </p:cNvPr>
          <p:cNvSpPr/>
          <p:nvPr/>
        </p:nvSpPr>
        <p:spPr>
          <a:xfrm>
            <a:off x="266783" y="6801252"/>
            <a:ext cx="2709600" cy="1117697"/>
          </a:xfrm>
          <a:prstGeom prst="roundRect">
            <a:avLst>
              <a:gd fmla="val 10000" name="adj"/>
            </a:avLst>
          </a:prstGeom>
          <a:solidFill>
            <a:srgbClr val="D6E1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¿Cómo nos comunicamos?</a:t>
            </a:r>
            <a:endParaRPr b="0" i="0" sz="1400" u="none" cap="none" strike="noStrike">
              <a:solidFill>
                <a:srgbClr val="000000"/>
              </a:solidFill>
              <a:latin typeface="Arial"/>
              <a:ea typeface="Arial"/>
              <a:cs typeface="Arial"/>
              <a:sym typeface="Arial"/>
            </a:endParaRPr>
          </a:p>
        </p:txBody>
      </p:sp>
      <p:sp>
        <p:nvSpPr>
          <p:cNvPr id="187" name="Google Shape;187;p16"/>
          <p:cNvSpPr/>
          <p:nvPr/>
        </p:nvSpPr>
        <p:spPr>
          <a:xfrm>
            <a:off x="191751" y="8069065"/>
            <a:ext cx="75000" cy="1117697"/>
          </a:xfrm>
          <a:prstGeom prst="rect">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6">
            <a:hlinkClick action="ppaction://hlinksldjump" r:id="rId8"/>
          </p:cNvPr>
          <p:cNvSpPr/>
          <p:nvPr/>
        </p:nvSpPr>
        <p:spPr>
          <a:xfrm>
            <a:off x="266783" y="8069065"/>
            <a:ext cx="2709600" cy="1117697"/>
          </a:xfrm>
          <a:prstGeom prst="roundRect">
            <a:avLst>
              <a:gd fmla="val 10000" name="adj"/>
            </a:avLst>
          </a:prstGeom>
          <a:solidFill>
            <a:srgbClr val="FFF8D6"/>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Antes de una conversación difícil</a:t>
            </a:r>
            <a:endParaRPr b="0" i="0" sz="1400" u="none" cap="none" strike="noStrike">
              <a:solidFill>
                <a:srgbClr val="000000"/>
              </a:solidFill>
              <a:latin typeface="Arial"/>
              <a:ea typeface="Arial"/>
              <a:cs typeface="Arial"/>
              <a:sym typeface="Arial"/>
            </a:endParaRPr>
          </a:p>
        </p:txBody>
      </p:sp>
      <p:sp>
        <p:nvSpPr>
          <p:cNvPr id="189" name="Google Shape;189;p16"/>
          <p:cNvSpPr/>
          <p:nvPr/>
        </p:nvSpPr>
        <p:spPr>
          <a:xfrm>
            <a:off x="4591655" y="9872067"/>
            <a:ext cx="1588200" cy="476400"/>
          </a:xfrm>
          <a:prstGeom prst="roundRect">
            <a:avLst>
              <a:gd fmla="val 50000" name="adj"/>
            </a:avLst>
          </a:prstGeom>
          <a:solidFill>
            <a:srgbClr val="D8D2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6">
            <a:hlinkClick action="ppaction://hlinksldjump" r:id="rId9"/>
          </p:cNvPr>
          <p:cNvSpPr/>
          <p:nvPr/>
        </p:nvSpPr>
        <p:spPr>
          <a:xfrm>
            <a:off x="4591655" y="9812536"/>
            <a:ext cx="1588200" cy="476400"/>
          </a:xfrm>
          <a:prstGeom prst="roundRect">
            <a:avLst>
              <a:gd fmla="val 50000" name="adj"/>
            </a:avLst>
          </a:prstGeom>
          <a:solidFill>
            <a:srgbClr val="FFFFFF"/>
          </a:solidFill>
          <a:ln cap="flat" cmpd="sng" w="14275">
            <a:solidFill>
              <a:srgbClr val="664092"/>
            </a:solidFill>
            <a:prstDash val="solid"/>
            <a:round/>
            <a:headEnd len="sm" w="sm" type="none"/>
            <a:tailEnd len="sm" w="sm" type="none"/>
          </a:ln>
        </p:spPr>
        <p:txBody>
          <a:bodyPr anchorCtr="0" anchor="ctr" bIns="59525" lIns="148825" spcFirstLastPara="1" rIns="148825" wrap="square" tIns="59525">
            <a:noAutofit/>
          </a:bodyPr>
          <a:lstStyle/>
          <a:p>
            <a:pPr indent="0" lvl="0" marL="0" marR="0" rtl="0" algn="ctr">
              <a:lnSpc>
                <a:spcPct val="80000"/>
              </a:lnSpc>
              <a:spcBef>
                <a:spcPts val="0"/>
              </a:spcBef>
              <a:spcAft>
                <a:spcPts val="0"/>
              </a:spcAft>
              <a:buClr>
                <a:srgbClr val="000000"/>
              </a:buClr>
              <a:buSzPts val="1578"/>
              <a:buFont typeface="Arial"/>
              <a:buNone/>
            </a:pPr>
            <a:r>
              <a:rPr b="1" i="0" lang="es-CO" sz="1578" u="sng" cap="none" strike="noStrike">
                <a:solidFill>
                  <a:srgbClr val="663D8F"/>
                </a:solidFill>
                <a:latin typeface="Arial"/>
                <a:ea typeface="Arial"/>
                <a:cs typeface="Arial"/>
                <a:sym typeface="Arial"/>
              </a:rPr>
              <a:t>Anterior</a:t>
            </a:r>
            <a:endParaRPr b="0" i="0" sz="1400" u="none" cap="none" strike="noStrike">
              <a:solidFill>
                <a:srgbClr val="000000"/>
              </a:solidFill>
              <a:latin typeface="Arial"/>
              <a:ea typeface="Arial"/>
              <a:cs typeface="Arial"/>
              <a:sym typeface="Arial"/>
            </a:endParaRPr>
          </a:p>
        </p:txBody>
      </p:sp>
      <p:sp>
        <p:nvSpPr>
          <p:cNvPr id="191" name="Google Shape;191;p16"/>
          <p:cNvSpPr/>
          <p:nvPr/>
        </p:nvSpPr>
        <p:spPr>
          <a:xfrm>
            <a:off x="6378374" y="9872067"/>
            <a:ext cx="2034900" cy="476400"/>
          </a:xfrm>
          <a:prstGeom prst="roundRect">
            <a:avLst>
              <a:gd fmla="val 50000" name="adj"/>
            </a:avLst>
          </a:prstGeom>
          <a:solidFill>
            <a:srgbClr val="C8A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6">
            <a:hlinkClick action="ppaction://hlinksldjump" r:id="rId10"/>
          </p:cNvPr>
          <p:cNvSpPr/>
          <p:nvPr/>
        </p:nvSpPr>
        <p:spPr>
          <a:xfrm>
            <a:off x="6378374" y="9812536"/>
            <a:ext cx="2034900" cy="476400"/>
          </a:xfrm>
          <a:prstGeom prst="roundRect">
            <a:avLst>
              <a:gd fmla="val 50000" name="adj"/>
            </a:avLst>
          </a:prstGeom>
          <a:solidFill>
            <a:srgbClr val="FFD900"/>
          </a:solidFill>
          <a:ln>
            <a:noFill/>
          </a:ln>
        </p:spPr>
        <p:txBody>
          <a:bodyPr anchorCtr="0" anchor="ctr" bIns="59525" lIns="148825" spcFirstLastPara="1" rIns="148825" wrap="square" tIns="59525">
            <a:noAutofit/>
          </a:bodyPr>
          <a:lstStyle/>
          <a:p>
            <a:pPr indent="0" lvl="0" marL="0" marR="0" rtl="0" algn="ctr">
              <a:lnSpc>
                <a:spcPct val="80000"/>
              </a:lnSpc>
              <a:spcBef>
                <a:spcPts val="0"/>
              </a:spcBef>
              <a:spcAft>
                <a:spcPts val="0"/>
              </a:spcAft>
              <a:buClr>
                <a:srgbClr val="000000"/>
              </a:buClr>
              <a:buSzPts val="1578"/>
              <a:buFont typeface="Arial"/>
              <a:buNone/>
            </a:pPr>
            <a:r>
              <a:rPr b="1" i="0" lang="es-CO" sz="1578" u="sng" cap="none" strike="noStrike">
                <a:solidFill>
                  <a:srgbClr val="663D8F"/>
                </a:solidFill>
                <a:latin typeface="Arial"/>
                <a:ea typeface="Arial"/>
                <a:cs typeface="Arial"/>
                <a:sym typeface="Arial"/>
              </a:rPr>
              <a:t>Siguiente</a:t>
            </a:r>
            <a:endParaRPr b="1" i="0" sz="1578" u="sng" cap="none" strike="noStrike">
              <a:solidFill>
                <a:srgbClr val="663D8F"/>
              </a:solidFill>
              <a:latin typeface="Arial"/>
              <a:ea typeface="Arial"/>
              <a:cs typeface="Arial"/>
              <a:sym typeface="Arial"/>
            </a:endParaRPr>
          </a:p>
        </p:txBody>
      </p:sp>
      <p:sp>
        <p:nvSpPr>
          <p:cNvPr id="193" name="Google Shape;193;p16">
            <a:hlinkClick action="ppaction://hlinksldjump" r:id="rId12"/>
          </p:cNvPr>
          <p:cNvSpPr/>
          <p:nvPr/>
        </p:nvSpPr>
        <p:spPr>
          <a:xfrm>
            <a:off x="191792" y="399700"/>
            <a:ext cx="75000" cy="984000"/>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6">
            <a:hlinkClick action="ppaction://hlinksldjump" r:id="rId12"/>
          </p:cNvPr>
          <p:cNvSpPr/>
          <p:nvPr/>
        </p:nvSpPr>
        <p:spPr>
          <a:xfrm>
            <a:off x="266825" y="399900"/>
            <a:ext cx="2709300" cy="984000"/>
          </a:xfrm>
          <a:prstGeom prst="roundRect">
            <a:avLst>
              <a:gd fmla="val 14000" name="adj"/>
            </a:avLst>
          </a:prstGeom>
          <a:solidFill>
            <a:srgbClr val="D1E0F2"/>
          </a:solidFill>
          <a:ln>
            <a:noFill/>
          </a:ln>
        </p:spPr>
        <p:txBody>
          <a:bodyPr anchorCtr="0" anchor="ctr" bIns="40000" lIns="160000" spcFirstLastPara="1" rIns="100000" wrap="square" tIns="40000">
            <a:noAutofit/>
          </a:bodyPr>
          <a:lstStyle/>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rgbClr val="000000"/>
              </a:solidFill>
              <a:latin typeface="Arial"/>
              <a:ea typeface="Arial"/>
              <a:cs typeface="Arial"/>
              <a:sym typeface="Arial"/>
            </a:endParaRPr>
          </a:p>
        </p:txBody>
      </p:sp>
      <p:pic>
        <p:nvPicPr>
          <p:cNvPr id="195" name="Google Shape;195;p16" title="correcciones sapiencia.png">
            <a:hlinkClick action="ppaction://hlinksldjump" r:id="rId12"/>
          </p:cNvPr>
          <p:cNvPicPr preferRelativeResize="0"/>
          <p:nvPr/>
        </p:nvPicPr>
        <p:blipFill rotWithShape="1">
          <a:blip r:embed="rId11">
            <a:alphaModFix/>
          </a:blip>
          <a:srcRect b="0" l="0" r="0" t="0"/>
          <a:stretch/>
        </p:blipFill>
        <p:spPr>
          <a:xfrm>
            <a:off x="266783" y="600314"/>
            <a:ext cx="486192" cy="486192"/>
          </a:xfrm>
          <a:prstGeom prst="rect">
            <a:avLst/>
          </a:prstGeom>
          <a:noFill/>
          <a:ln>
            <a:noFill/>
          </a:ln>
        </p:spPr>
      </p:pic>
      <p:sp>
        <p:nvSpPr>
          <p:cNvPr id="196" name="Google Shape;196;p16">
            <a:hlinkClick action="ppaction://hlinksldjump" r:id="rId12"/>
          </p:cNvPr>
          <p:cNvSpPr txBox="1"/>
          <p:nvPr/>
        </p:nvSpPr>
        <p:spPr>
          <a:xfrm>
            <a:off x="939099" y="660838"/>
            <a:ext cx="1541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s-CO" sz="1200" u="none" cap="none" strike="noStrike">
                <a:solidFill>
                  <a:srgbClr val="3D2159"/>
                </a:solidFill>
                <a:latin typeface="Arial"/>
                <a:ea typeface="Arial"/>
                <a:cs typeface="Arial"/>
                <a:sym typeface="Arial"/>
              </a:rPr>
              <a:t>Inteligencia social</a:t>
            </a:r>
            <a:endParaRPr b="1" i="0" sz="1200" u="none" cap="none" strike="noStrike">
              <a:solidFill>
                <a:srgbClr val="3D215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1" lang="es-CO" sz="1200" u="none" cap="none" strike="noStrike">
                <a:solidFill>
                  <a:srgbClr val="3D2159"/>
                </a:solidFill>
                <a:latin typeface="Arial"/>
                <a:ea typeface="Arial"/>
                <a:cs typeface="Arial"/>
                <a:sym typeface="Arial"/>
              </a:rPr>
              <a:t>Inicio</a:t>
            </a:r>
            <a:endParaRPr b="1" i="0" sz="1200" u="none" cap="none" strike="noStrike">
              <a:solidFill>
                <a:srgbClr val="A71989"/>
              </a:solidFill>
              <a:latin typeface="Arial"/>
              <a:ea typeface="Arial"/>
              <a:cs typeface="Arial"/>
              <a:sym typeface="Arial"/>
            </a:endParaRPr>
          </a:p>
        </p:txBody>
      </p:sp>
      <p:sp>
        <p:nvSpPr>
          <p:cNvPr id="197" name="Google Shape;197;p16"/>
          <p:cNvSpPr txBox="1"/>
          <p:nvPr/>
        </p:nvSpPr>
        <p:spPr>
          <a:xfrm>
            <a:off x="3886200" y="1481328"/>
            <a:ext cx="9144000" cy="329184"/>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500" u="none" cap="none" strike="noStrike">
                <a:solidFill>
                  <a:srgbClr val="A71989"/>
                </a:solidFill>
                <a:latin typeface="Arial"/>
                <a:ea typeface="Arial"/>
                <a:cs typeface="Arial"/>
                <a:sym typeface="Arial"/>
              </a:rPr>
              <a:t>Módulo 2 · Inteligencia social</a:t>
            </a:r>
            <a:endParaRPr/>
          </a:p>
        </p:txBody>
      </p:sp>
      <p:sp>
        <p:nvSpPr>
          <p:cNvPr id="198" name="Google Shape;198;p16"/>
          <p:cNvSpPr/>
          <p:nvPr/>
        </p:nvSpPr>
        <p:spPr>
          <a:xfrm>
            <a:off x="3886200" y="2834640"/>
            <a:ext cx="128016" cy="12801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9" name="Google Shape;199;p16"/>
          <p:cNvSpPr/>
          <p:nvPr/>
        </p:nvSpPr>
        <p:spPr>
          <a:xfrm>
            <a:off x="4114800"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0" name="Google Shape;200;p16"/>
          <p:cNvSpPr/>
          <p:nvPr/>
        </p:nvSpPr>
        <p:spPr>
          <a:xfrm>
            <a:off x="4334256"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1" name="Google Shape;201;p16"/>
          <p:cNvSpPr/>
          <p:nvPr/>
        </p:nvSpPr>
        <p:spPr>
          <a:xfrm>
            <a:off x="4553712"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2" name="Google Shape;202;p16"/>
          <p:cNvSpPr/>
          <p:nvPr/>
        </p:nvSpPr>
        <p:spPr>
          <a:xfrm>
            <a:off x="4782312"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3" name="Google Shape;203;p16"/>
          <p:cNvSpPr/>
          <p:nvPr/>
        </p:nvSpPr>
        <p:spPr>
          <a:xfrm>
            <a:off x="5001768" y="2834640"/>
            <a:ext cx="128016" cy="12801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4" name="Google Shape;204;p16"/>
          <p:cNvSpPr txBox="1"/>
          <p:nvPr/>
        </p:nvSpPr>
        <p:spPr>
          <a:xfrm>
            <a:off x="3886200" y="3200400"/>
            <a:ext cx="14264640" cy="45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700" u="none" cap="none" strike="noStrike">
                <a:solidFill>
                  <a:srgbClr val="3F3A48"/>
                </a:solidFill>
                <a:latin typeface="Arial"/>
                <a:ea typeface="Arial"/>
                <a:cs typeface="Arial"/>
                <a:sym typeface="Arial"/>
              </a:rPr>
              <a:t>A veces reaccionamos ante una situación externa sin detenernos a revisar qué está ocurriendo dentro de nosotros. Observar nuestra respuesta puede ayudarnos a comprenderla y a elegir cómo actuar.</a:t>
            </a:r>
            <a:endParaRPr/>
          </a:p>
        </p:txBody>
      </p:sp>
      <p:sp>
        <p:nvSpPr>
          <p:cNvPr id="205" name="Google Shape;205;p16"/>
          <p:cNvSpPr/>
          <p:nvPr/>
        </p:nvSpPr>
        <p:spPr>
          <a:xfrm>
            <a:off x="3886200" y="4023360"/>
            <a:ext cx="14264640" cy="731520"/>
          </a:xfrm>
          <a:prstGeom prst="roundRect">
            <a:avLst>
              <a:gd fmla="val 20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6" name="Google Shape;206;p16"/>
          <p:cNvSpPr txBox="1"/>
          <p:nvPr/>
        </p:nvSpPr>
        <p:spPr>
          <a:xfrm>
            <a:off x="4206240" y="4023360"/>
            <a:ext cx="13716000" cy="73152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1" lang="es-CO" sz="1550" u="none" cap="none" strike="noStrike">
                <a:solidFill>
                  <a:srgbClr val="024791"/>
                </a:solidFill>
                <a:latin typeface="Arial"/>
                <a:ea typeface="Arial"/>
                <a:cs typeface="Arial"/>
                <a:sym typeface="Arial"/>
              </a:rPr>
              <a:t>Imagina que alguien toma una decisión importante y no tiene en cuenta tu opinión. Te molesta la situación y empiezas a pensar que no valoran tu trabajo.</a:t>
            </a:r>
            <a:endParaRPr/>
          </a:p>
        </p:txBody>
      </p:sp>
      <p:sp>
        <p:nvSpPr>
          <p:cNvPr id="207" name="Google Shape;207;p16"/>
          <p:cNvSpPr/>
          <p:nvPr/>
        </p:nvSpPr>
        <p:spPr>
          <a:xfrm>
            <a:off x="3886200" y="4937760"/>
            <a:ext cx="14264640" cy="777240"/>
          </a:xfrm>
          <a:prstGeom prst="roundRect">
            <a:avLst>
              <a:gd fmla="val 12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8" name="Google Shape;208;p16"/>
          <p:cNvSpPr/>
          <p:nvPr/>
        </p:nvSpPr>
        <p:spPr>
          <a:xfrm>
            <a:off x="4114800" y="5097780"/>
            <a:ext cx="457200" cy="457200"/>
          </a:xfrm>
          <a:prstGeom prst="ellipse">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9" name="Google Shape;209;p16"/>
          <p:cNvSpPr txBox="1"/>
          <p:nvPr/>
        </p:nvSpPr>
        <p:spPr>
          <a:xfrm>
            <a:off x="4114800" y="5097780"/>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800" u="none" cap="none" strike="noStrike">
                <a:solidFill>
                  <a:srgbClr val="FFFFFF"/>
                </a:solidFill>
                <a:latin typeface="Arial"/>
                <a:ea typeface="Arial"/>
                <a:cs typeface="Arial"/>
                <a:sym typeface="Arial"/>
              </a:rPr>
              <a:t>+</a:t>
            </a:r>
            <a:endParaRPr/>
          </a:p>
        </p:txBody>
      </p:sp>
      <p:sp>
        <p:nvSpPr>
          <p:cNvPr id="210" name="Google Shape;210;p16"/>
          <p:cNvSpPr txBox="1"/>
          <p:nvPr/>
        </p:nvSpPr>
        <p:spPr>
          <a:xfrm>
            <a:off x="4800600" y="4937760"/>
            <a:ext cx="4206240" cy="77724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600" u="none" cap="none" strike="noStrike">
                <a:solidFill>
                  <a:srgbClr val="664092"/>
                </a:solidFill>
                <a:latin typeface="Arial"/>
                <a:ea typeface="Arial"/>
                <a:cs typeface="Arial"/>
                <a:sym typeface="Arial"/>
              </a:rPr>
              <a:t>¿Qué emoción aparece?</a:t>
            </a:r>
            <a:endParaRPr/>
          </a:p>
        </p:txBody>
      </p:sp>
      <p:sp>
        <p:nvSpPr>
          <p:cNvPr id="211" name="Google Shape;211;p16"/>
          <p:cNvSpPr txBox="1"/>
          <p:nvPr/>
        </p:nvSpPr>
        <p:spPr>
          <a:xfrm>
            <a:off x="9189720" y="4937760"/>
            <a:ext cx="8686800" cy="77724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0" lang="es-CO" sz="1450" u="none" cap="none" strike="noStrike">
                <a:solidFill>
                  <a:srgbClr val="3F3A48"/>
                </a:solidFill>
                <a:latin typeface="Arial"/>
                <a:ea typeface="Arial"/>
                <a:cs typeface="Arial"/>
                <a:sym typeface="Arial"/>
              </a:rPr>
              <a:t>Identifica lo que estás sintiendo antes de responder.</a:t>
            </a:r>
            <a:endParaRPr/>
          </a:p>
        </p:txBody>
      </p:sp>
      <p:sp>
        <p:nvSpPr>
          <p:cNvPr id="212" name="Google Shape;212;p16"/>
          <p:cNvSpPr/>
          <p:nvPr/>
        </p:nvSpPr>
        <p:spPr>
          <a:xfrm>
            <a:off x="3886200" y="5824728"/>
            <a:ext cx="14264640" cy="914400"/>
          </a:xfrm>
          <a:prstGeom prst="roundRect">
            <a:avLst>
              <a:gd fmla="val 12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3" name="Google Shape;213;p16"/>
          <p:cNvSpPr/>
          <p:nvPr/>
        </p:nvSpPr>
        <p:spPr>
          <a:xfrm>
            <a:off x="4114800" y="6053328"/>
            <a:ext cx="457200" cy="457200"/>
          </a:xfrm>
          <a:prstGeom prst="ellipse">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4" name="Google Shape;214;p16"/>
          <p:cNvSpPr txBox="1"/>
          <p:nvPr/>
        </p:nvSpPr>
        <p:spPr>
          <a:xfrm>
            <a:off x="4114800" y="6053328"/>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800" u="none" cap="none" strike="noStrike">
                <a:solidFill>
                  <a:srgbClr val="FFFFFF"/>
                </a:solidFill>
                <a:latin typeface="Arial"/>
                <a:ea typeface="Arial"/>
                <a:cs typeface="Arial"/>
                <a:sym typeface="Arial"/>
              </a:rPr>
              <a:t>+</a:t>
            </a:r>
            <a:endParaRPr/>
          </a:p>
        </p:txBody>
      </p:sp>
      <p:sp>
        <p:nvSpPr>
          <p:cNvPr id="215" name="Google Shape;215;p16"/>
          <p:cNvSpPr txBox="1"/>
          <p:nvPr/>
        </p:nvSpPr>
        <p:spPr>
          <a:xfrm>
            <a:off x="4800600" y="5824728"/>
            <a:ext cx="4206240" cy="9144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600" u="none" cap="none" strike="noStrike">
                <a:solidFill>
                  <a:srgbClr val="A71989"/>
                </a:solidFill>
                <a:latin typeface="Arial"/>
                <a:ea typeface="Arial"/>
                <a:cs typeface="Arial"/>
                <a:sym typeface="Arial"/>
              </a:rPr>
              <a:t>¿Qué interpretación estás haciendo?</a:t>
            </a:r>
            <a:endParaRPr/>
          </a:p>
        </p:txBody>
      </p:sp>
      <p:sp>
        <p:nvSpPr>
          <p:cNvPr id="216" name="Google Shape;216;p16"/>
          <p:cNvSpPr txBox="1"/>
          <p:nvPr/>
        </p:nvSpPr>
        <p:spPr>
          <a:xfrm>
            <a:off x="9189720" y="5824728"/>
            <a:ext cx="8686800" cy="9144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0" lang="es-CO" sz="1450" u="none" cap="none" strike="noStrike">
                <a:solidFill>
                  <a:srgbClr val="3F3A48"/>
                </a:solidFill>
                <a:latin typeface="Arial"/>
                <a:ea typeface="Arial"/>
                <a:cs typeface="Arial"/>
                <a:sym typeface="Arial"/>
              </a:rPr>
              <a:t>Pregúntate qué significado le estás dando a lo ocurrido. ¿Lo interpretas como una falta de reconocimiento, una injusticia, un rechazo u otra situación?</a:t>
            </a:r>
            <a:endParaRPr/>
          </a:p>
        </p:txBody>
      </p:sp>
      <p:sp>
        <p:nvSpPr>
          <p:cNvPr id="217" name="Google Shape;217;p16"/>
          <p:cNvSpPr/>
          <p:nvPr/>
        </p:nvSpPr>
        <p:spPr>
          <a:xfrm>
            <a:off x="3886200" y="6848856"/>
            <a:ext cx="14264640" cy="777240"/>
          </a:xfrm>
          <a:prstGeom prst="roundRect">
            <a:avLst>
              <a:gd fmla="val 12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8" name="Google Shape;218;p16"/>
          <p:cNvSpPr/>
          <p:nvPr/>
        </p:nvSpPr>
        <p:spPr>
          <a:xfrm>
            <a:off x="4114800" y="7008876"/>
            <a:ext cx="457200" cy="457200"/>
          </a:xfrm>
          <a:prstGeom prst="ellipse">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9" name="Google Shape;219;p16"/>
          <p:cNvSpPr txBox="1"/>
          <p:nvPr/>
        </p:nvSpPr>
        <p:spPr>
          <a:xfrm>
            <a:off x="4114800" y="7008876"/>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800" u="none" cap="none" strike="noStrike">
                <a:solidFill>
                  <a:srgbClr val="FFFFFF"/>
                </a:solidFill>
                <a:latin typeface="Arial"/>
                <a:ea typeface="Arial"/>
                <a:cs typeface="Arial"/>
                <a:sym typeface="Arial"/>
              </a:rPr>
              <a:t>+</a:t>
            </a:r>
            <a:endParaRPr/>
          </a:p>
        </p:txBody>
      </p:sp>
      <p:sp>
        <p:nvSpPr>
          <p:cNvPr id="220" name="Google Shape;220;p16"/>
          <p:cNvSpPr txBox="1"/>
          <p:nvPr/>
        </p:nvSpPr>
        <p:spPr>
          <a:xfrm>
            <a:off x="4800600" y="6848856"/>
            <a:ext cx="4206240" cy="77724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600" u="none" cap="none" strike="noStrike">
                <a:solidFill>
                  <a:srgbClr val="2A56C6"/>
                </a:solidFill>
                <a:latin typeface="Arial"/>
                <a:ea typeface="Arial"/>
                <a:cs typeface="Arial"/>
                <a:sym typeface="Arial"/>
              </a:rPr>
              <a:t>¿Qué necesidad puede estar presente?</a:t>
            </a:r>
            <a:endParaRPr/>
          </a:p>
        </p:txBody>
      </p:sp>
      <p:sp>
        <p:nvSpPr>
          <p:cNvPr id="221" name="Google Shape;221;p16"/>
          <p:cNvSpPr txBox="1"/>
          <p:nvPr/>
        </p:nvSpPr>
        <p:spPr>
          <a:xfrm>
            <a:off x="9189720" y="6848856"/>
            <a:ext cx="8686800" cy="77724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0" lang="es-CO" sz="1450" u="none" cap="none" strike="noStrike">
                <a:solidFill>
                  <a:srgbClr val="3F3A48"/>
                </a:solidFill>
                <a:latin typeface="Arial"/>
                <a:ea typeface="Arial"/>
                <a:cs typeface="Arial"/>
                <a:sym typeface="Arial"/>
              </a:rPr>
              <a:t>Reconocimiento, respeto, participación, seguridad u otra.</a:t>
            </a:r>
            <a:endParaRPr/>
          </a:p>
        </p:txBody>
      </p:sp>
      <p:sp>
        <p:nvSpPr>
          <p:cNvPr id="222" name="Google Shape;222;p16"/>
          <p:cNvSpPr/>
          <p:nvPr/>
        </p:nvSpPr>
        <p:spPr>
          <a:xfrm>
            <a:off x="3886200" y="7818120"/>
            <a:ext cx="14264640" cy="822960"/>
          </a:xfrm>
          <a:prstGeom prst="roundRect">
            <a:avLst>
              <a:gd fmla="val 15000" name="adj"/>
            </a:avLst>
          </a:prstGeom>
          <a:solidFill>
            <a:srgbClr val="FFF6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3" name="Google Shape;223;p16"/>
          <p:cNvSpPr/>
          <p:nvPr/>
        </p:nvSpPr>
        <p:spPr>
          <a:xfrm>
            <a:off x="3886200" y="7818120"/>
            <a:ext cx="91440" cy="822960"/>
          </a:xfrm>
          <a:prstGeom prst="rect">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 name="Google Shape;224;p16"/>
          <p:cNvSpPr/>
          <p:nvPr/>
        </p:nvSpPr>
        <p:spPr>
          <a:xfrm>
            <a:off x="4206240" y="7973568"/>
            <a:ext cx="512064" cy="512064"/>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25" name="Google Shape;225;p16"/>
          <p:cNvPicPr preferRelativeResize="0"/>
          <p:nvPr/>
        </p:nvPicPr>
        <p:blipFill rotWithShape="1">
          <a:blip r:embed="rId13">
            <a:alphaModFix/>
          </a:blip>
          <a:srcRect b="0" l="0" r="0" t="0"/>
          <a:stretch/>
        </p:blipFill>
        <p:spPr>
          <a:xfrm>
            <a:off x="4315968" y="8083296"/>
            <a:ext cx="292608" cy="292608"/>
          </a:xfrm>
          <a:prstGeom prst="rect">
            <a:avLst/>
          </a:prstGeom>
          <a:noFill/>
          <a:ln>
            <a:noFill/>
          </a:ln>
        </p:spPr>
      </p:pic>
      <p:sp>
        <p:nvSpPr>
          <p:cNvPr id="226" name="Google Shape;226;p16"/>
          <p:cNvSpPr txBox="1"/>
          <p:nvPr/>
        </p:nvSpPr>
        <p:spPr>
          <a:xfrm>
            <a:off x="4937760" y="7818120"/>
            <a:ext cx="12984480" cy="82296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500" u="none" cap="none" strike="noStrike">
                <a:solidFill>
                  <a:srgbClr val="3D2159"/>
                </a:solidFill>
                <a:latin typeface="Arial"/>
                <a:ea typeface="Arial"/>
                <a:cs typeface="Arial"/>
                <a:sym typeface="Arial"/>
              </a:rPr>
              <a:t>Idea clave: </a:t>
            </a:r>
            <a:r>
              <a:rPr b="0" i="0" lang="es-CO" sz="1500" u="none" cap="none" strike="noStrike">
                <a:solidFill>
                  <a:srgbClr val="3F3A48"/>
                </a:solidFill>
                <a:latin typeface="Arial"/>
                <a:ea typeface="Arial"/>
                <a:cs typeface="Arial"/>
                <a:sym typeface="Arial"/>
              </a:rPr>
              <a:t>reconocer lo que se activa en nosotros puede ayudarnos a comprender nuestra reacción y a elegir cómo responder.</a:t>
            </a:r>
            <a:endParaRPr/>
          </a:p>
        </p:txBody>
      </p:sp>
      <p:sp>
        <p:nvSpPr>
          <p:cNvPr id="32" name="Google Shape;32;p1">
            <a:hlinkClick action="ppaction://hlinksldjump" r:id="rId14"/>
          </p:cNvPr>
          <p:cNvSpPr/>
          <p:nvPr/>
        </p:nvSpPr>
        <p:spPr>
          <a:xfrm>
            <a:off x="191751" y="9336878"/>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
            <a:hlinkClick action="ppaction://hlinksldjump" r:id="rId14"/>
          </p:cNvPr>
          <p:cNvSpPr/>
          <p:nvPr/>
        </p:nvSpPr>
        <p:spPr>
          <a:xfrm>
            <a:off x="266783" y="9336878"/>
            <a:ext cx="2709600" cy="1117697"/>
          </a:xfrm>
          <a:prstGeom prst="roundRect">
            <a:avLst>
              <a:gd fmla="val 10000" name="adj"/>
            </a:avLst>
          </a:prstGeom>
          <a:solidFill>
            <a:srgbClr val="E6E0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Créditos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Equipo de producción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7"/>
          <p:cNvSpPr/>
          <p:nvPr/>
        </p:nvSpPr>
        <p:spPr>
          <a:xfrm>
            <a:off x="3887703" y="1984772"/>
            <a:ext cx="14264640" cy="9228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4000"/>
              <a:buFont typeface="Arial"/>
              <a:buNone/>
            </a:pPr>
            <a:r>
              <a:rPr b="1" i="0" lang="es-CO" sz="3400" u="none" cap="none" strike="noStrike">
                <a:solidFill>
                  <a:srgbClr val="3D2159"/>
                </a:solidFill>
                <a:latin typeface="Arial"/>
                <a:ea typeface="Arial"/>
                <a:cs typeface="Arial"/>
                <a:sym typeface="Arial"/>
              </a:rPr>
              <a:t>Practiquemos la empatía</a:t>
            </a:r>
            <a:endParaRPr b="0" i="0" sz="1400" u="none" cap="none" strike="noStrike">
              <a:solidFill>
                <a:srgbClr val="000000"/>
              </a:solidFill>
              <a:latin typeface="Arial"/>
              <a:ea typeface="Arial"/>
              <a:cs typeface="Arial"/>
              <a:sym typeface="Arial"/>
            </a:endParaRPr>
          </a:p>
        </p:txBody>
      </p:sp>
      <p:sp>
        <p:nvSpPr>
          <p:cNvPr id="232" name="Google Shape;232;p17"/>
          <p:cNvSpPr/>
          <p:nvPr/>
        </p:nvSpPr>
        <p:spPr>
          <a:xfrm>
            <a:off x="0" y="0"/>
            <a:ext cx="3168000" cy="10934700"/>
          </a:xfrm>
          <a:prstGeom prst="rect">
            <a:avLst/>
          </a:prstGeom>
          <a:solidFill>
            <a:srgbClr val="F5F3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7"/>
          <p:cNvSpPr/>
          <p:nvPr/>
        </p:nvSpPr>
        <p:spPr>
          <a:xfrm>
            <a:off x="3153046" y="0"/>
            <a:ext cx="15000" cy="10934700"/>
          </a:xfrm>
          <a:prstGeom prst="rect">
            <a:avLst/>
          </a:prstGeom>
          <a:solidFill>
            <a:srgbClr val="E0DA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7"/>
          <p:cNvSpPr/>
          <p:nvPr/>
        </p:nvSpPr>
        <p:spPr>
          <a:xfrm>
            <a:off x="191751" y="1550000"/>
            <a:ext cx="2784600" cy="14100"/>
          </a:xfrm>
          <a:prstGeom prst="rect">
            <a:avLst/>
          </a:prstGeom>
          <a:solidFill>
            <a:srgbClr val="D8D2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7"/>
          <p:cNvSpPr/>
          <p:nvPr/>
        </p:nvSpPr>
        <p:spPr>
          <a:xfrm>
            <a:off x="191751" y="1730000"/>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7">
            <a:hlinkClick action="ppaction://hlinksldjump" r:id="rId3"/>
          </p:cNvPr>
          <p:cNvSpPr/>
          <p:nvPr/>
        </p:nvSpPr>
        <p:spPr>
          <a:xfrm>
            <a:off x="266783" y="1730000"/>
            <a:ext cx="2709600" cy="1117697"/>
          </a:xfrm>
          <a:prstGeom prst="roundRect">
            <a:avLst>
              <a:gd fmla="val 10000" name="adj"/>
            </a:avLst>
          </a:prstGeom>
          <a:solidFill>
            <a:srgbClr val="E6E0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¿Qué es la inteligencia social?</a:t>
            </a:r>
            <a:endParaRPr b="0" i="0" sz="1400" u="none" cap="none" strike="noStrike">
              <a:solidFill>
                <a:srgbClr val="000000"/>
              </a:solidFill>
              <a:latin typeface="Arial"/>
              <a:ea typeface="Arial"/>
              <a:cs typeface="Arial"/>
              <a:sym typeface="Arial"/>
            </a:endParaRPr>
          </a:p>
        </p:txBody>
      </p:sp>
      <p:sp>
        <p:nvSpPr>
          <p:cNvPr id="237" name="Google Shape;237;p17"/>
          <p:cNvSpPr/>
          <p:nvPr/>
        </p:nvSpPr>
        <p:spPr>
          <a:xfrm>
            <a:off x="191751" y="2997813"/>
            <a:ext cx="75000" cy="1117697"/>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7">
            <a:hlinkClick action="ppaction://hlinksldjump" r:id="rId4"/>
          </p:cNvPr>
          <p:cNvSpPr/>
          <p:nvPr/>
        </p:nvSpPr>
        <p:spPr>
          <a:xfrm>
            <a:off x="266783" y="2997813"/>
            <a:ext cx="2709600" cy="1117697"/>
          </a:xfrm>
          <a:prstGeom prst="roundRect">
            <a:avLst>
              <a:gd fmla="val 10000" name="adj"/>
            </a:avLst>
          </a:prstGeom>
          <a:solidFill>
            <a:srgbClr val="F0DAEC"/>
          </a:solidFill>
          <a:ln cap="flat" cmpd="sng" w="19050">
            <a:solidFill>
              <a:srgbClr val="FFFFFF"/>
            </a:solidFill>
            <a:prstDash val="solid"/>
            <a:round/>
            <a:headEnd len="sm" w="sm" type="none"/>
            <a:tailEnd len="sm" w="sm" type="none"/>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Tres claves para relacionarnos</a:t>
            </a:r>
            <a:endParaRPr b="0" i="0" sz="1400" u="none" cap="none" strike="noStrike">
              <a:solidFill>
                <a:srgbClr val="000000"/>
              </a:solidFill>
              <a:latin typeface="Arial"/>
              <a:ea typeface="Arial"/>
              <a:cs typeface="Arial"/>
              <a:sym typeface="Arial"/>
            </a:endParaRPr>
          </a:p>
        </p:txBody>
      </p:sp>
      <p:sp>
        <p:nvSpPr>
          <p:cNvPr id="239" name="Google Shape;239;p17"/>
          <p:cNvSpPr/>
          <p:nvPr/>
        </p:nvSpPr>
        <p:spPr>
          <a:xfrm>
            <a:off x="191751" y="4265626"/>
            <a:ext cx="75000" cy="1117697"/>
          </a:xfrm>
          <a:prstGeom prst="rect">
            <a:avLst/>
          </a:prstGeom>
          <a:solidFill>
            <a:srgbClr val="467C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7">
            <a:hlinkClick action="ppaction://hlinksldjump" r:id="rId5"/>
          </p:cNvPr>
          <p:cNvSpPr/>
          <p:nvPr/>
        </p:nvSpPr>
        <p:spPr>
          <a:xfrm>
            <a:off x="266783" y="4265626"/>
            <a:ext cx="2709600" cy="1117697"/>
          </a:xfrm>
          <a:prstGeom prst="roundRect">
            <a:avLst>
              <a:gd fmla="val 10000" name="adj"/>
            </a:avLst>
          </a:prstGeom>
          <a:solidFill>
            <a:srgbClr val="E1EAFC"/>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Lo que se activa en nosotros</a:t>
            </a:r>
            <a:endParaRPr b="0" i="0" sz="1400" u="none" cap="none" strike="noStrike">
              <a:solidFill>
                <a:srgbClr val="000000"/>
              </a:solidFill>
              <a:latin typeface="Arial"/>
              <a:ea typeface="Arial"/>
              <a:cs typeface="Arial"/>
              <a:sym typeface="Arial"/>
            </a:endParaRPr>
          </a:p>
        </p:txBody>
      </p:sp>
      <p:sp>
        <p:nvSpPr>
          <p:cNvPr id="241" name="Google Shape;241;p17"/>
          <p:cNvSpPr/>
          <p:nvPr/>
        </p:nvSpPr>
        <p:spPr>
          <a:xfrm>
            <a:off x="191751" y="5533439"/>
            <a:ext cx="75000" cy="1117697"/>
          </a:xfrm>
          <a:prstGeom prst="rect">
            <a:avLst/>
          </a:prstGeom>
          <a:solidFill>
            <a:srgbClr val="3D2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7">
            <a:hlinkClick action="ppaction://hlinksldjump" r:id="rId6"/>
          </p:cNvPr>
          <p:cNvSpPr/>
          <p:nvPr/>
        </p:nvSpPr>
        <p:spPr>
          <a:xfrm>
            <a:off x="266783" y="5533439"/>
            <a:ext cx="2709600" cy="1117697"/>
          </a:xfrm>
          <a:prstGeom prst="roundRect">
            <a:avLst>
              <a:gd fmla="val 10000" name="adj"/>
            </a:avLst>
          </a:prstGeom>
          <a:solidFill>
            <a:srgbClr val="3D2159"/>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FFFFFF"/>
                </a:solidFill>
                <a:latin typeface="Arial"/>
                <a:ea typeface="Arial"/>
                <a:cs typeface="Arial"/>
                <a:sym typeface="Arial"/>
              </a:rPr>
              <a:t>Pantalla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FFFFFF"/>
                </a:solidFill>
                <a:latin typeface="Arial"/>
                <a:ea typeface="Arial"/>
                <a:cs typeface="Arial"/>
                <a:sym typeface="Arial"/>
              </a:rPr>
              <a:t>Practiquemos la empatía</a:t>
            </a:r>
            <a:endParaRPr b="0" i="0" sz="1400" u="none" cap="none" strike="noStrike">
              <a:solidFill>
                <a:srgbClr val="000000"/>
              </a:solidFill>
              <a:latin typeface="Arial"/>
              <a:ea typeface="Arial"/>
              <a:cs typeface="Arial"/>
              <a:sym typeface="Arial"/>
            </a:endParaRPr>
          </a:p>
        </p:txBody>
      </p:sp>
      <p:sp>
        <p:nvSpPr>
          <p:cNvPr id="243" name="Google Shape;243;p17"/>
          <p:cNvSpPr/>
          <p:nvPr/>
        </p:nvSpPr>
        <p:spPr>
          <a:xfrm>
            <a:off x="191751" y="6801252"/>
            <a:ext cx="75000" cy="1117697"/>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7">
            <a:hlinkClick action="ppaction://hlinksldjump" r:id="rId7"/>
          </p:cNvPr>
          <p:cNvSpPr/>
          <p:nvPr/>
        </p:nvSpPr>
        <p:spPr>
          <a:xfrm>
            <a:off x="266783" y="6801252"/>
            <a:ext cx="2709600" cy="1117697"/>
          </a:xfrm>
          <a:prstGeom prst="roundRect">
            <a:avLst>
              <a:gd fmla="val 10000" name="adj"/>
            </a:avLst>
          </a:prstGeom>
          <a:solidFill>
            <a:srgbClr val="D6E1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¿Cómo nos comunicamos?</a:t>
            </a:r>
            <a:endParaRPr b="0" i="0" sz="1400" u="none" cap="none" strike="noStrike">
              <a:solidFill>
                <a:srgbClr val="000000"/>
              </a:solidFill>
              <a:latin typeface="Arial"/>
              <a:ea typeface="Arial"/>
              <a:cs typeface="Arial"/>
              <a:sym typeface="Arial"/>
            </a:endParaRPr>
          </a:p>
        </p:txBody>
      </p:sp>
      <p:sp>
        <p:nvSpPr>
          <p:cNvPr id="245" name="Google Shape;245;p17"/>
          <p:cNvSpPr/>
          <p:nvPr/>
        </p:nvSpPr>
        <p:spPr>
          <a:xfrm>
            <a:off x="191751" y="8069065"/>
            <a:ext cx="75000" cy="1117697"/>
          </a:xfrm>
          <a:prstGeom prst="rect">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7">
            <a:hlinkClick action="ppaction://hlinksldjump" r:id="rId8"/>
          </p:cNvPr>
          <p:cNvSpPr/>
          <p:nvPr/>
        </p:nvSpPr>
        <p:spPr>
          <a:xfrm>
            <a:off x="266783" y="8069065"/>
            <a:ext cx="2709600" cy="1117697"/>
          </a:xfrm>
          <a:prstGeom prst="roundRect">
            <a:avLst>
              <a:gd fmla="val 10000" name="adj"/>
            </a:avLst>
          </a:prstGeom>
          <a:solidFill>
            <a:srgbClr val="FFF8D6"/>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Antes de una conversación difícil</a:t>
            </a:r>
            <a:endParaRPr b="0" i="0" sz="1400" u="none" cap="none" strike="noStrike">
              <a:solidFill>
                <a:srgbClr val="000000"/>
              </a:solidFill>
              <a:latin typeface="Arial"/>
              <a:ea typeface="Arial"/>
              <a:cs typeface="Arial"/>
              <a:sym typeface="Arial"/>
            </a:endParaRPr>
          </a:p>
        </p:txBody>
      </p:sp>
      <p:sp>
        <p:nvSpPr>
          <p:cNvPr id="247" name="Google Shape;247;p17"/>
          <p:cNvSpPr/>
          <p:nvPr/>
        </p:nvSpPr>
        <p:spPr>
          <a:xfrm>
            <a:off x="4591655" y="9872067"/>
            <a:ext cx="1588200" cy="476400"/>
          </a:xfrm>
          <a:prstGeom prst="roundRect">
            <a:avLst>
              <a:gd fmla="val 50000" name="adj"/>
            </a:avLst>
          </a:prstGeom>
          <a:solidFill>
            <a:srgbClr val="D8D2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7">
            <a:hlinkClick action="ppaction://hlinksldjump" r:id="rId9"/>
          </p:cNvPr>
          <p:cNvSpPr/>
          <p:nvPr/>
        </p:nvSpPr>
        <p:spPr>
          <a:xfrm>
            <a:off x="4591655" y="9812536"/>
            <a:ext cx="1588200" cy="476400"/>
          </a:xfrm>
          <a:prstGeom prst="roundRect">
            <a:avLst>
              <a:gd fmla="val 50000" name="adj"/>
            </a:avLst>
          </a:prstGeom>
          <a:solidFill>
            <a:srgbClr val="FFFFFF"/>
          </a:solidFill>
          <a:ln cap="flat" cmpd="sng" w="14275">
            <a:solidFill>
              <a:srgbClr val="664092"/>
            </a:solidFill>
            <a:prstDash val="solid"/>
            <a:round/>
            <a:headEnd len="sm" w="sm" type="none"/>
            <a:tailEnd len="sm" w="sm" type="none"/>
          </a:ln>
        </p:spPr>
        <p:txBody>
          <a:bodyPr anchorCtr="0" anchor="ctr" bIns="59525" lIns="148825" spcFirstLastPara="1" rIns="148825" wrap="square" tIns="59525">
            <a:noAutofit/>
          </a:bodyPr>
          <a:lstStyle/>
          <a:p>
            <a:pPr indent="0" lvl="0" marL="0" marR="0" rtl="0" algn="ctr">
              <a:lnSpc>
                <a:spcPct val="80000"/>
              </a:lnSpc>
              <a:spcBef>
                <a:spcPts val="0"/>
              </a:spcBef>
              <a:spcAft>
                <a:spcPts val="0"/>
              </a:spcAft>
              <a:buClr>
                <a:srgbClr val="000000"/>
              </a:buClr>
              <a:buSzPts val="1578"/>
              <a:buFont typeface="Arial"/>
              <a:buNone/>
            </a:pPr>
            <a:r>
              <a:rPr b="1" i="0" lang="es-CO" sz="1578" u="sng" cap="none" strike="noStrike">
                <a:solidFill>
                  <a:srgbClr val="663D8F"/>
                </a:solidFill>
                <a:latin typeface="Arial"/>
                <a:ea typeface="Arial"/>
                <a:cs typeface="Arial"/>
                <a:sym typeface="Arial"/>
              </a:rPr>
              <a:t>Anterior</a:t>
            </a:r>
            <a:endParaRPr b="0" i="0" sz="1400" u="none" cap="none" strike="noStrike">
              <a:solidFill>
                <a:srgbClr val="000000"/>
              </a:solidFill>
              <a:latin typeface="Arial"/>
              <a:ea typeface="Arial"/>
              <a:cs typeface="Arial"/>
              <a:sym typeface="Arial"/>
            </a:endParaRPr>
          </a:p>
        </p:txBody>
      </p:sp>
      <p:sp>
        <p:nvSpPr>
          <p:cNvPr id="249" name="Google Shape;249;p17"/>
          <p:cNvSpPr/>
          <p:nvPr/>
        </p:nvSpPr>
        <p:spPr>
          <a:xfrm>
            <a:off x="6378374" y="9872067"/>
            <a:ext cx="2034900" cy="476400"/>
          </a:xfrm>
          <a:prstGeom prst="roundRect">
            <a:avLst>
              <a:gd fmla="val 50000" name="adj"/>
            </a:avLst>
          </a:prstGeom>
          <a:solidFill>
            <a:srgbClr val="C8A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7">
            <a:hlinkClick action="ppaction://hlinksldjump" r:id="rId10"/>
          </p:cNvPr>
          <p:cNvSpPr/>
          <p:nvPr/>
        </p:nvSpPr>
        <p:spPr>
          <a:xfrm>
            <a:off x="6378374" y="9812536"/>
            <a:ext cx="2034900" cy="476400"/>
          </a:xfrm>
          <a:prstGeom prst="roundRect">
            <a:avLst>
              <a:gd fmla="val 50000" name="adj"/>
            </a:avLst>
          </a:prstGeom>
          <a:solidFill>
            <a:srgbClr val="FFD900"/>
          </a:solidFill>
          <a:ln>
            <a:noFill/>
          </a:ln>
        </p:spPr>
        <p:txBody>
          <a:bodyPr anchorCtr="0" anchor="ctr" bIns="59525" lIns="148825" spcFirstLastPara="1" rIns="148825" wrap="square" tIns="59525">
            <a:noAutofit/>
          </a:bodyPr>
          <a:lstStyle/>
          <a:p>
            <a:pPr indent="0" lvl="0" marL="0" marR="0" rtl="0" algn="ctr">
              <a:lnSpc>
                <a:spcPct val="80000"/>
              </a:lnSpc>
              <a:spcBef>
                <a:spcPts val="0"/>
              </a:spcBef>
              <a:spcAft>
                <a:spcPts val="0"/>
              </a:spcAft>
              <a:buClr>
                <a:srgbClr val="000000"/>
              </a:buClr>
              <a:buSzPts val="1578"/>
              <a:buFont typeface="Arial"/>
              <a:buNone/>
            </a:pPr>
            <a:r>
              <a:rPr b="1" i="0" lang="es-CO" sz="1578" u="sng" cap="none" strike="noStrike">
                <a:solidFill>
                  <a:srgbClr val="663D8F"/>
                </a:solidFill>
                <a:latin typeface="Arial"/>
                <a:ea typeface="Arial"/>
                <a:cs typeface="Arial"/>
                <a:sym typeface="Arial"/>
              </a:rPr>
              <a:t>Siguiente</a:t>
            </a:r>
            <a:endParaRPr b="1" i="0" sz="1578" u="sng" cap="none" strike="noStrike">
              <a:solidFill>
                <a:srgbClr val="663D8F"/>
              </a:solidFill>
              <a:latin typeface="Arial"/>
              <a:ea typeface="Arial"/>
              <a:cs typeface="Arial"/>
              <a:sym typeface="Arial"/>
            </a:endParaRPr>
          </a:p>
        </p:txBody>
      </p:sp>
      <p:sp>
        <p:nvSpPr>
          <p:cNvPr id="251" name="Google Shape;251;p17">
            <a:hlinkClick action="ppaction://hlinksldjump" r:id="rId12"/>
          </p:cNvPr>
          <p:cNvSpPr/>
          <p:nvPr/>
        </p:nvSpPr>
        <p:spPr>
          <a:xfrm>
            <a:off x="191792" y="399700"/>
            <a:ext cx="75000" cy="984000"/>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7">
            <a:hlinkClick action="ppaction://hlinksldjump" r:id="rId12"/>
          </p:cNvPr>
          <p:cNvSpPr/>
          <p:nvPr/>
        </p:nvSpPr>
        <p:spPr>
          <a:xfrm>
            <a:off x="266825" y="399900"/>
            <a:ext cx="2709300" cy="984000"/>
          </a:xfrm>
          <a:prstGeom prst="roundRect">
            <a:avLst>
              <a:gd fmla="val 14000" name="adj"/>
            </a:avLst>
          </a:prstGeom>
          <a:solidFill>
            <a:srgbClr val="D1E0F2"/>
          </a:solidFill>
          <a:ln>
            <a:noFill/>
          </a:ln>
        </p:spPr>
        <p:txBody>
          <a:bodyPr anchorCtr="0" anchor="ctr" bIns="40000" lIns="160000" spcFirstLastPara="1" rIns="100000" wrap="square" tIns="40000">
            <a:noAutofit/>
          </a:bodyPr>
          <a:lstStyle/>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rgbClr val="000000"/>
              </a:solidFill>
              <a:latin typeface="Arial"/>
              <a:ea typeface="Arial"/>
              <a:cs typeface="Arial"/>
              <a:sym typeface="Arial"/>
            </a:endParaRPr>
          </a:p>
        </p:txBody>
      </p:sp>
      <p:pic>
        <p:nvPicPr>
          <p:cNvPr id="253" name="Google Shape;253;p17" title="correcciones sapiencia.png">
            <a:hlinkClick action="ppaction://hlinksldjump" r:id="rId12"/>
          </p:cNvPr>
          <p:cNvPicPr preferRelativeResize="0"/>
          <p:nvPr/>
        </p:nvPicPr>
        <p:blipFill rotWithShape="1">
          <a:blip r:embed="rId11">
            <a:alphaModFix/>
          </a:blip>
          <a:srcRect b="0" l="0" r="0" t="0"/>
          <a:stretch/>
        </p:blipFill>
        <p:spPr>
          <a:xfrm>
            <a:off x="266783" y="600314"/>
            <a:ext cx="486192" cy="486192"/>
          </a:xfrm>
          <a:prstGeom prst="rect">
            <a:avLst/>
          </a:prstGeom>
          <a:noFill/>
          <a:ln>
            <a:noFill/>
          </a:ln>
        </p:spPr>
      </p:pic>
      <p:sp>
        <p:nvSpPr>
          <p:cNvPr id="254" name="Google Shape;254;p17">
            <a:hlinkClick action="ppaction://hlinksldjump" r:id="rId12"/>
          </p:cNvPr>
          <p:cNvSpPr txBox="1"/>
          <p:nvPr/>
        </p:nvSpPr>
        <p:spPr>
          <a:xfrm>
            <a:off x="939099" y="660838"/>
            <a:ext cx="1541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s-CO" sz="1200" u="none" cap="none" strike="noStrike">
                <a:solidFill>
                  <a:srgbClr val="3D2159"/>
                </a:solidFill>
                <a:latin typeface="Arial"/>
                <a:ea typeface="Arial"/>
                <a:cs typeface="Arial"/>
                <a:sym typeface="Arial"/>
              </a:rPr>
              <a:t>Inteligencia social</a:t>
            </a:r>
            <a:endParaRPr b="1" i="0" sz="1200" u="none" cap="none" strike="noStrike">
              <a:solidFill>
                <a:srgbClr val="3D215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1" lang="es-CO" sz="1200" u="none" cap="none" strike="noStrike">
                <a:solidFill>
                  <a:srgbClr val="3D2159"/>
                </a:solidFill>
                <a:latin typeface="Arial"/>
                <a:ea typeface="Arial"/>
                <a:cs typeface="Arial"/>
                <a:sym typeface="Arial"/>
              </a:rPr>
              <a:t>Inicio</a:t>
            </a:r>
            <a:endParaRPr b="1" i="0" sz="1200" u="none" cap="none" strike="noStrike">
              <a:solidFill>
                <a:srgbClr val="A71989"/>
              </a:solidFill>
              <a:latin typeface="Arial"/>
              <a:ea typeface="Arial"/>
              <a:cs typeface="Arial"/>
              <a:sym typeface="Arial"/>
            </a:endParaRPr>
          </a:p>
        </p:txBody>
      </p:sp>
      <p:sp>
        <p:nvSpPr>
          <p:cNvPr id="255" name="Google Shape;255;p17"/>
          <p:cNvSpPr txBox="1"/>
          <p:nvPr/>
        </p:nvSpPr>
        <p:spPr>
          <a:xfrm>
            <a:off x="3886200" y="1481328"/>
            <a:ext cx="9144000" cy="329184"/>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500" u="none" cap="none" strike="noStrike">
                <a:solidFill>
                  <a:srgbClr val="A71989"/>
                </a:solidFill>
                <a:latin typeface="Arial"/>
                <a:ea typeface="Arial"/>
                <a:cs typeface="Arial"/>
                <a:sym typeface="Arial"/>
              </a:rPr>
              <a:t>Módulo 2 · Inteligencia social</a:t>
            </a:r>
            <a:endParaRPr/>
          </a:p>
        </p:txBody>
      </p:sp>
      <p:sp>
        <p:nvSpPr>
          <p:cNvPr id="256" name="Google Shape;256;p17"/>
          <p:cNvSpPr/>
          <p:nvPr/>
        </p:nvSpPr>
        <p:spPr>
          <a:xfrm>
            <a:off x="3886200" y="2834640"/>
            <a:ext cx="128016" cy="12801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7" name="Google Shape;257;p17"/>
          <p:cNvSpPr/>
          <p:nvPr/>
        </p:nvSpPr>
        <p:spPr>
          <a:xfrm>
            <a:off x="4114800"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8" name="Google Shape;258;p17"/>
          <p:cNvSpPr/>
          <p:nvPr/>
        </p:nvSpPr>
        <p:spPr>
          <a:xfrm>
            <a:off x="4334256"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Google Shape;259;p17"/>
          <p:cNvSpPr/>
          <p:nvPr/>
        </p:nvSpPr>
        <p:spPr>
          <a:xfrm>
            <a:off x="4553712"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Google Shape;260;p17"/>
          <p:cNvSpPr/>
          <p:nvPr/>
        </p:nvSpPr>
        <p:spPr>
          <a:xfrm>
            <a:off x="4782312"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1" name="Google Shape;261;p17"/>
          <p:cNvSpPr/>
          <p:nvPr/>
        </p:nvSpPr>
        <p:spPr>
          <a:xfrm>
            <a:off x="5001768" y="2834640"/>
            <a:ext cx="128016" cy="12801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17"/>
          <p:cNvSpPr txBox="1"/>
          <p:nvPr/>
        </p:nvSpPr>
        <p:spPr>
          <a:xfrm>
            <a:off x="3886200" y="3200400"/>
            <a:ext cx="14264640" cy="45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700" u="none" cap="none" strike="noStrike">
                <a:solidFill>
                  <a:srgbClr val="3F3A48"/>
                </a:solidFill>
                <a:latin typeface="Arial"/>
                <a:ea typeface="Arial"/>
                <a:cs typeface="Arial"/>
                <a:sym typeface="Arial"/>
              </a:rPr>
              <a:t>En una conversación difícil, reconocer la emoción de otra persona puede cambiar la manera en que respondemos. La empatía implica intentar comprender su experiencia sin asumir de inmediato que conocemos sus intenciones.</a:t>
            </a:r>
            <a:endParaRPr/>
          </a:p>
        </p:txBody>
      </p:sp>
      <p:sp>
        <p:nvSpPr>
          <p:cNvPr id="263" name="Google Shape;263;p17"/>
          <p:cNvSpPr/>
          <p:nvPr/>
        </p:nvSpPr>
        <p:spPr>
          <a:xfrm>
            <a:off x="3886200" y="4023360"/>
            <a:ext cx="14264640" cy="822960"/>
          </a:xfrm>
          <a:prstGeom prst="roundRect">
            <a:avLst>
              <a:gd fmla="val 20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4" name="Google Shape;264;p17"/>
          <p:cNvSpPr txBox="1"/>
          <p:nvPr/>
        </p:nvSpPr>
        <p:spPr>
          <a:xfrm>
            <a:off x="4206240" y="4023360"/>
            <a:ext cx="13716000" cy="82296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550" u="none" cap="none" strike="noStrike">
                <a:solidFill>
                  <a:srgbClr val="024791"/>
                </a:solidFill>
                <a:latin typeface="Arial"/>
                <a:ea typeface="Arial"/>
                <a:cs typeface="Arial"/>
                <a:sym typeface="Arial"/>
              </a:rPr>
              <a:t>Situación: </a:t>
            </a:r>
            <a:r>
              <a:rPr b="0" i="1" lang="es-CO" sz="1550" u="none" cap="none" strike="noStrike">
                <a:solidFill>
                  <a:srgbClr val="024791"/>
                </a:solidFill>
                <a:latin typeface="Arial"/>
                <a:ea typeface="Arial"/>
                <a:cs typeface="Arial"/>
                <a:sym typeface="Arial"/>
              </a:rPr>
              <a:t>imagina que un compañero responde con enojo ante una propuesta que acabas de hacer. Antes de responder, detente y explora:</a:t>
            </a:r>
            <a:endParaRPr/>
          </a:p>
        </p:txBody>
      </p:sp>
      <p:sp>
        <p:nvSpPr>
          <p:cNvPr id="265" name="Google Shape;265;p17"/>
          <p:cNvSpPr/>
          <p:nvPr/>
        </p:nvSpPr>
        <p:spPr>
          <a:xfrm>
            <a:off x="3886200" y="5120640"/>
            <a:ext cx="4541520" cy="2011680"/>
          </a:xfrm>
          <a:prstGeom prst="roundRect">
            <a:avLst>
              <a:gd fmla="val 10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17"/>
          <p:cNvSpPr/>
          <p:nvPr/>
        </p:nvSpPr>
        <p:spPr>
          <a:xfrm>
            <a:off x="5791200" y="5394959"/>
            <a:ext cx="731520" cy="731520"/>
          </a:xfrm>
          <a:prstGeom prst="ellipse">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7" name="Google Shape;267;p17"/>
          <p:cNvSpPr txBox="1"/>
          <p:nvPr/>
        </p:nvSpPr>
        <p:spPr>
          <a:xfrm>
            <a:off x="5791200" y="5394959"/>
            <a:ext cx="731520" cy="73152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2200" u="none" cap="none" strike="noStrike">
                <a:solidFill>
                  <a:srgbClr val="FFFFFF"/>
                </a:solidFill>
                <a:latin typeface="Arial"/>
                <a:ea typeface="Arial"/>
                <a:cs typeface="Arial"/>
                <a:sym typeface="Arial"/>
              </a:rPr>
              <a:t>1</a:t>
            </a:r>
            <a:endParaRPr/>
          </a:p>
        </p:txBody>
      </p:sp>
      <p:sp>
        <p:nvSpPr>
          <p:cNvPr id="268" name="Google Shape;268;p17"/>
          <p:cNvSpPr txBox="1"/>
          <p:nvPr/>
        </p:nvSpPr>
        <p:spPr>
          <a:xfrm>
            <a:off x="4160520" y="6263640"/>
            <a:ext cx="3992880" cy="8229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1700" u="none" cap="none" strike="noStrike">
                <a:solidFill>
                  <a:srgbClr val="3D2159"/>
                </a:solidFill>
                <a:latin typeface="Arial"/>
                <a:ea typeface="Arial"/>
                <a:cs typeface="Arial"/>
                <a:sym typeface="Arial"/>
              </a:rPr>
              <a:t>¿Qué puede estar sintiendo?</a:t>
            </a:r>
            <a:endParaRPr/>
          </a:p>
        </p:txBody>
      </p:sp>
      <p:sp>
        <p:nvSpPr>
          <p:cNvPr id="269" name="Google Shape;269;p17"/>
          <p:cNvSpPr/>
          <p:nvPr/>
        </p:nvSpPr>
        <p:spPr>
          <a:xfrm>
            <a:off x="8473440" y="5989320"/>
            <a:ext cx="228600" cy="274320"/>
          </a:xfrm>
          <a:prstGeom prst="rightArrow">
            <a:avLst>
              <a:gd fmla="val 50000" name="adj1"/>
              <a:gd fmla="val 50000" name="adj2"/>
            </a:avLst>
          </a:prstGeom>
          <a:solidFill>
            <a:srgbClr val="B9A7C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17"/>
          <p:cNvSpPr/>
          <p:nvPr/>
        </p:nvSpPr>
        <p:spPr>
          <a:xfrm>
            <a:off x="8747760" y="5120640"/>
            <a:ext cx="4541520" cy="2011680"/>
          </a:xfrm>
          <a:prstGeom prst="roundRect">
            <a:avLst>
              <a:gd fmla="val 10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17"/>
          <p:cNvSpPr/>
          <p:nvPr/>
        </p:nvSpPr>
        <p:spPr>
          <a:xfrm>
            <a:off x="10652760" y="5394959"/>
            <a:ext cx="731520" cy="731520"/>
          </a:xfrm>
          <a:prstGeom prst="ellipse">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 name="Google Shape;272;p17"/>
          <p:cNvSpPr txBox="1"/>
          <p:nvPr/>
        </p:nvSpPr>
        <p:spPr>
          <a:xfrm>
            <a:off x="10652760" y="5394959"/>
            <a:ext cx="731520" cy="73152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2200" u="none" cap="none" strike="noStrike">
                <a:solidFill>
                  <a:srgbClr val="FFFFFF"/>
                </a:solidFill>
                <a:latin typeface="Arial"/>
                <a:ea typeface="Arial"/>
                <a:cs typeface="Arial"/>
                <a:sym typeface="Arial"/>
              </a:rPr>
              <a:t>2</a:t>
            </a:r>
            <a:endParaRPr/>
          </a:p>
        </p:txBody>
      </p:sp>
      <p:sp>
        <p:nvSpPr>
          <p:cNvPr id="273" name="Google Shape;273;p17"/>
          <p:cNvSpPr txBox="1"/>
          <p:nvPr/>
        </p:nvSpPr>
        <p:spPr>
          <a:xfrm>
            <a:off x="9022080" y="6263640"/>
            <a:ext cx="3992880" cy="8229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1700" u="none" cap="none" strike="noStrike">
                <a:solidFill>
                  <a:srgbClr val="3D2159"/>
                </a:solidFill>
                <a:latin typeface="Arial"/>
                <a:ea typeface="Arial"/>
                <a:cs typeface="Arial"/>
                <a:sym typeface="Arial"/>
              </a:rPr>
              <a:t>¿Qué puede estar necesitando?</a:t>
            </a:r>
            <a:endParaRPr/>
          </a:p>
        </p:txBody>
      </p:sp>
      <p:sp>
        <p:nvSpPr>
          <p:cNvPr id="274" name="Google Shape;274;p17"/>
          <p:cNvSpPr/>
          <p:nvPr/>
        </p:nvSpPr>
        <p:spPr>
          <a:xfrm>
            <a:off x="13335000" y="5989320"/>
            <a:ext cx="228600" cy="274320"/>
          </a:xfrm>
          <a:prstGeom prst="rightArrow">
            <a:avLst>
              <a:gd fmla="val 50000" name="adj1"/>
              <a:gd fmla="val 50000" name="adj2"/>
            </a:avLst>
          </a:prstGeom>
          <a:solidFill>
            <a:srgbClr val="B9A7C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 name="Google Shape;275;p17"/>
          <p:cNvSpPr/>
          <p:nvPr/>
        </p:nvSpPr>
        <p:spPr>
          <a:xfrm>
            <a:off x="13609320" y="5120640"/>
            <a:ext cx="4541520" cy="2011680"/>
          </a:xfrm>
          <a:prstGeom prst="roundRect">
            <a:avLst>
              <a:gd fmla="val 10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17"/>
          <p:cNvSpPr/>
          <p:nvPr/>
        </p:nvSpPr>
        <p:spPr>
          <a:xfrm>
            <a:off x="15514320" y="5394959"/>
            <a:ext cx="731520" cy="731520"/>
          </a:xfrm>
          <a:prstGeom prst="ellipse">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17"/>
          <p:cNvSpPr txBox="1"/>
          <p:nvPr/>
        </p:nvSpPr>
        <p:spPr>
          <a:xfrm>
            <a:off x="15514320" y="5394959"/>
            <a:ext cx="731520" cy="73152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2200" u="none" cap="none" strike="noStrike">
                <a:solidFill>
                  <a:srgbClr val="FFFFFF"/>
                </a:solidFill>
                <a:latin typeface="Arial"/>
                <a:ea typeface="Arial"/>
                <a:cs typeface="Arial"/>
                <a:sym typeface="Arial"/>
              </a:rPr>
              <a:t>3</a:t>
            </a:r>
            <a:endParaRPr/>
          </a:p>
        </p:txBody>
      </p:sp>
      <p:sp>
        <p:nvSpPr>
          <p:cNvPr id="278" name="Google Shape;278;p17"/>
          <p:cNvSpPr txBox="1"/>
          <p:nvPr/>
        </p:nvSpPr>
        <p:spPr>
          <a:xfrm>
            <a:off x="13883640" y="6263640"/>
            <a:ext cx="3992880" cy="8229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1700" u="none" cap="none" strike="noStrike">
                <a:solidFill>
                  <a:srgbClr val="3D2159"/>
                </a:solidFill>
                <a:latin typeface="Arial"/>
                <a:ea typeface="Arial"/>
                <a:cs typeface="Arial"/>
                <a:sym typeface="Arial"/>
              </a:rPr>
              <a:t>¿Qué información me falta para comprender su reacción?</a:t>
            </a:r>
            <a:endParaRPr/>
          </a:p>
        </p:txBody>
      </p:sp>
      <p:sp>
        <p:nvSpPr>
          <p:cNvPr id="279" name="Google Shape;279;p17"/>
          <p:cNvSpPr/>
          <p:nvPr/>
        </p:nvSpPr>
        <p:spPr>
          <a:xfrm>
            <a:off x="3886200" y="7818120"/>
            <a:ext cx="14264640" cy="822960"/>
          </a:xfrm>
          <a:prstGeom prst="roundRect">
            <a:avLst>
              <a:gd fmla="val 15000" name="adj"/>
            </a:avLst>
          </a:prstGeom>
          <a:solidFill>
            <a:srgbClr val="FFF6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17"/>
          <p:cNvSpPr/>
          <p:nvPr/>
        </p:nvSpPr>
        <p:spPr>
          <a:xfrm>
            <a:off x="3886200" y="7818120"/>
            <a:ext cx="91440" cy="822960"/>
          </a:xfrm>
          <a:prstGeom prst="rect">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1" name="Google Shape;281;p17"/>
          <p:cNvSpPr/>
          <p:nvPr/>
        </p:nvSpPr>
        <p:spPr>
          <a:xfrm>
            <a:off x="4206240" y="7973568"/>
            <a:ext cx="512064" cy="512064"/>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82" name="Google Shape;282;p17"/>
          <p:cNvPicPr preferRelativeResize="0"/>
          <p:nvPr/>
        </p:nvPicPr>
        <p:blipFill rotWithShape="1">
          <a:blip r:embed="rId13">
            <a:alphaModFix/>
          </a:blip>
          <a:srcRect b="0" l="0" r="0" t="0"/>
          <a:stretch/>
        </p:blipFill>
        <p:spPr>
          <a:xfrm>
            <a:off x="4315968" y="8083296"/>
            <a:ext cx="292608" cy="292608"/>
          </a:xfrm>
          <a:prstGeom prst="rect">
            <a:avLst/>
          </a:prstGeom>
          <a:noFill/>
          <a:ln>
            <a:noFill/>
          </a:ln>
        </p:spPr>
      </p:pic>
      <p:sp>
        <p:nvSpPr>
          <p:cNvPr id="283" name="Google Shape;283;p17"/>
          <p:cNvSpPr txBox="1"/>
          <p:nvPr/>
        </p:nvSpPr>
        <p:spPr>
          <a:xfrm>
            <a:off x="4937760" y="7818120"/>
            <a:ext cx="12984480" cy="82296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500" u="none" cap="none" strike="noStrike">
                <a:solidFill>
                  <a:srgbClr val="3D2159"/>
                </a:solidFill>
                <a:latin typeface="Arial"/>
                <a:ea typeface="Arial"/>
                <a:cs typeface="Arial"/>
                <a:sym typeface="Arial"/>
              </a:rPr>
              <a:t>Idea clave: </a:t>
            </a:r>
            <a:r>
              <a:rPr b="0" i="0" lang="es-CO" sz="1500" u="none" cap="none" strike="noStrike">
                <a:solidFill>
                  <a:srgbClr val="3F3A48"/>
                </a:solidFill>
                <a:latin typeface="Arial"/>
                <a:ea typeface="Arial"/>
                <a:cs typeface="Arial"/>
                <a:sym typeface="Arial"/>
              </a:rPr>
              <a:t>comprender la emoción del otro no significa estar de acuerdo con su reacción; se trata de abrir un espacio para entenderla antes de responder.</a:t>
            </a:r>
            <a:endParaRPr/>
          </a:p>
        </p:txBody>
      </p:sp>
      <p:sp>
        <p:nvSpPr>
          <p:cNvPr id="32" name="Google Shape;32;p1">
            <a:hlinkClick action="ppaction://hlinksldjump" r:id="rId14"/>
          </p:cNvPr>
          <p:cNvSpPr/>
          <p:nvPr/>
        </p:nvSpPr>
        <p:spPr>
          <a:xfrm>
            <a:off x="191751" y="9336878"/>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
            <a:hlinkClick action="ppaction://hlinksldjump" r:id="rId14"/>
          </p:cNvPr>
          <p:cNvSpPr/>
          <p:nvPr/>
        </p:nvSpPr>
        <p:spPr>
          <a:xfrm>
            <a:off x="266783" y="9336878"/>
            <a:ext cx="2709600" cy="1117697"/>
          </a:xfrm>
          <a:prstGeom prst="roundRect">
            <a:avLst>
              <a:gd fmla="val 10000" name="adj"/>
            </a:avLst>
          </a:prstGeom>
          <a:solidFill>
            <a:srgbClr val="E6E0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Créditos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Equipo de producción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8"/>
          <p:cNvSpPr/>
          <p:nvPr/>
        </p:nvSpPr>
        <p:spPr>
          <a:xfrm>
            <a:off x="3887703" y="1984772"/>
            <a:ext cx="14264640" cy="9228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4000"/>
              <a:buFont typeface="Arial"/>
              <a:buNone/>
            </a:pPr>
            <a:r>
              <a:rPr b="1" i="0" lang="es-CO" sz="3400" u="none" cap="none" strike="noStrike">
                <a:solidFill>
                  <a:srgbClr val="3D2159"/>
                </a:solidFill>
                <a:latin typeface="Arial"/>
                <a:ea typeface="Arial"/>
                <a:cs typeface="Arial"/>
                <a:sym typeface="Arial"/>
              </a:rPr>
              <a:t>¿Cómo nos comunicamos?</a:t>
            </a:r>
            <a:endParaRPr b="0" i="0" sz="1400" u="none" cap="none" strike="noStrike">
              <a:solidFill>
                <a:srgbClr val="000000"/>
              </a:solidFill>
              <a:latin typeface="Arial"/>
              <a:ea typeface="Arial"/>
              <a:cs typeface="Arial"/>
              <a:sym typeface="Arial"/>
            </a:endParaRPr>
          </a:p>
        </p:txBody>
      </p:sp>
      <p:sp>
        <p:nvSpPr>
          <p:cNvPr id="289" name="Google Shape;289;p18"/>
          <p:cNvSpPr/>
          <p:nvPr/>
        </p:nvSpPr>
        <p:spPr>
          <a:xfrm>
            <a:off x="0" y="0"/>
            <a:ext cx="3168000" cy="10934700"/>
          </a:xfrm>
          <a:prstGeom prst="rect">
            <a:avLst/>
          </a:prstGeom>
          <a:solidFill>
            <a:srgbClr val="F5F3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8"/>
          <p:cNvSpPr/>
          <p:nvPr/>
        </p:nvSpPr>
        <p:spPr>
          <a:xfrm>
            <a:off x="3153046" y="0"/>
            <a:ext cx="15000" cy="10934700"/>
          </a:xfrm>
          <a:prstGeom prst="rect">
            <a:avLst/>
          </a:prstGeom>
          <a:solidFill>
            <a:srgbClr val="E0DA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8"/>
          <p:cNvSpPr/>
          <p:nvPr/>
        </p:nvSpPr>
        <p:spPr>
          <a:xfrm>
            <a:off x="191751" y="1550000"/>
            <a:ext cx="2784600" cy="14100"/>
          </a:xfrm>
          <a:prstGeom prst="rect">
            <a:avLst/>
          </a:prstGeom>
          <a:solidFill>
            <a:srgbClr val="D8D2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8"/>
          <p:cNvSpPr/>
          <p:nvPr/>
        </p:nvSpPr>
        <p:spPr>
          <a:xfrm>
            <a:off x="191751" y="1730000"/>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8">
            <a:hlinkClick action="ppaction://hlinksldjump" r:id="rId3"/>
          </p:cNvPr>
          <p:cNvSpPr/>
          <p:nvPr/>
        </p:nvSpPr>
        <p:spPr>
          <a:xfrm>
            <a:off x="266783" y="1730000"/>
            <a:ext cx="2709600" cy="1117697"/>
          </a:xfrm>
          <a:prstGeom prst="roundRect">
            <a:avLst>
              <a:gd fmla="val 10000" name="adj"/>
            </a:avLst>
          </a:prstGeom>
          <a:solidFill>
            <a:srgbClr val="E6E0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¿Qué es la inteligencia social?</a:t>
            </a:r>
            <a:endParaRPr b="0" i="0" sz="1400" u="none" cap="none" strike="noStrike">
              <a:solidFill>
                <a:srgbClr val="000000"/>
              </a:solidFill>
              <a:latin typeface="Arial"/>
              <a:ea typeface="Arial"/>
              <a:cs typeface="Arial"/>
              <a:sym typeface="Arial"/>
            </a:endParaRPr>
          </a:p>
        </p:txBody>
      </p:sp>
      <p:sp>
        <p:nvSpPr>
          <p:cNvPr id="294" name="Google Shape;294;p18"/>
          <p:cNvSpPr/>
          <p:nvPr/>
        </p:nvSpPr>
        <p:spPr>
          <a:xfrm>
            <a:off x="191751" y="2997813"/>
            <a:ext cx="75000" cy="1117697"/>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8">
            <a:hlinkClick action="ppaction://hlinksldjump" r:id="rId4"/>
          </p:cNvPr>
          <p:cNvSpPr/>
          <p:nvPr/>
        </p:nvSpPr>
        <p:spPr>
          <a:xfrm>
            <a:off x="266783" y="2997813"/>
            <a:ext cx="2709600" cy="1117697"/>
          </a:xfrm>
          <a:prstGeom prst="roundRect">
            <a:avLst>
              <a:gd fmla="val 10000" name="adj"/>
            </a:avLst>
          </a:prstGeom>
          <a:solidFill>
            <a:srgbClr val="F0DAEC"/>
          </a:solidFill>
          <a:ln cap="flat" cmpd="sng" w="19050">
            <a:solidFill>
              <a:srgbClr val="FFFFFF"/>
            </a:solidFill>
            <a:prstDash val="solid"/>
            <a:round/>
            <a:headEnd len="sm" w="sm" type="none"/>
            <a:tailEnd len="sm" w="sm" type="none"/>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Tres claves para relacionarnos</a:t>
            </a:r>
            <a:endParaRPr b="0" i="0" sz="1400" u="none" cap="none" strike="noStrike">
              <a:solidFill>
                <a:srgbClr val="000000"/>
              </a:solidFill>
              <a:latin typeface="Arial"/>
              <a:ea typeface="Arial"/>
              <a:cs typeface="Arial"/>
              <a:sym typeface="Arial"/>
            </a:endParaRPr>
          </a:p>
        </p:txBody>
      </p:sp>
      <p:sp>
        <p:nvSpPr>
          <p:cNvPr id="296" name="Google Shape;296;p18"/>
          <p:cNvSpPr/>
          <p:nvPr/>
        </p:nvSpPr>
        <p:spPr>
          <a:xfrm>
            <a:off x="191751" y="4265626"/>
            <a:ext cx="75000" cy="1117697"/>
          </a:xfrm>
          <a:prstGeom prst="rect">
            <a:avLst/>
          </a:prstGeom>
          <a:solidFill>
            <a:srgbClr val="467C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8">
            <a:hlinkClick action="ppaction://hlinksldjump" r:id="rId5"/>
          </p:cNvPr>
          <p:cNvSpPr/>
          <p:nvPr/>
        </p:nvSpPr>
        <p:spPr>
          <a:xfrm>
            <a:off x="266783" y="4265626"/>
            <a:ext cx="2709600" cy="1117697"/>
          </a:xfrm>
          <a:prstGeom prst="roundRect">
            <a:avLst>
              <a:gd fmla="val 10000" name="adj"/>
            </a:avLst>
          </a:prstGeom>
          <a:solidFill>
            <a:srgbClr val="E1EAFC"/>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Lo que se activa en nosotros</a:t>
            </a:r>
            <a:endParaRPr b="0" i="0" sz="1400" u="none" cap="none" strike="noStrike">
              <a:solidFill>
                <a:srgbClr val="000000"/>
              </a:solidFill>
              <a:latin typeface="Arial"/>
              <a:ea typeface="Arial"/>
              <a:cs typeface="Arial"/>
              <a:sym typeface="Arial"/>
            </a:endParaRPr>
          </a:p>
        </p:txBody>
      </p:sp>
      <p:sp>
        <p:nvSpPr>
          <p:cNvPr id="298" name="Google Shape;298;p18"/>
          <p:cNvSpPr/>
          <p:nvPr/>
        </p:nvSpPr>
        <p:spPr>
          <a:xfrm>
            <a:off x="191751" y="5533439"/>
            <a:ext cx="75000" cy="1117697"/>
          </a:xfrm>
          <a:prstGeom prst="rect">
            <a:avLst/>
          </a:prstGeom>
          <a:solidFill>
            <a:srgbClr val="3D2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8">
            <a:hlinkClick action="ppaction://hlinksldjump" r:id="rId6"/>
          </p:cNvPr>
          <p:cNvSpPr/>
          <p:nvPr/>
        </p:nvSpPr>
        <p:spPr>
          <a:xfrm>
            <a:off x="266783" y="5533439"/>
            <a:ext cx="2709600" cy="1117697"/>
          </a:xfrm>
          <a:prstGeom prst="roundRect">
            <a:avLst>
              <a:gd fmla="val 10000" name="adj"/>
            </a:avLst>
          </a:prstGeom>
          <a:solidFill>
            <a:srgbClr val="DFDBE4"/>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Practiquemos la empatía</a:t>
            </a:r>
            <a:endParaRPr b="0" i="0" sz="1400" u="none" cap="none" strike="noStrike">
              <a:solidFill>
                <a:srgbClr val="000000"/>
              </a:solidFill>
              <a:latin typeface="Arial"/>
              <a:ea typeface="Arial"/>
              <a:cs typeface="Arial"/>
              <a:sym typeface="Arial"/>
            </a:endParaRPr>
          </a:p>
        </p:txBody>
      </p:sp>
      <p:sp>
        <p:nvSpPr>
          <p:cNvPr id="300" name="Google Shape;300;p18"/>
          <p:cNvSpPr/>
          <p:nvPr/>
        </p:nvSpPr>
        <p:spPr>
          <a:xfrm>
            <a:off x="191751" y="6801252"/>
            <a:ext cx="75000" cy="1117697"/>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18">
            <a:hlinkClick action="ppaction://hlinksldjump" r:id="rId7"/>
          </p:cNvPr>
          <p:cNvSpPr/>
          <p:nvPr/>
        </p:nvSpPr>
        <p:spPr>
          <a:xfrm>
            <a:off x="266783" y="6801252"/>
            <a:ext cx="2709600" cy="1117697"/>
          </a:xfrm>
          <a:prstGeom prst="roundRect">
            <a:avLst>
              <a:gd fmla="val 10000" name="adj"/>
            </a:avLst>
          </a:prstGeom>
          <a:solidFill>
            <a:srgbClr val="024791"/>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FFFFFF"/>
                </a:solidFill>
                <a:latin typeface="Arial"/>
                <a:ea typeface="Arial"/>
                <a:cs typeface="Arial"/>
                <a:sym typeface="Arial"/>
              </a:rPr>
              <a:t>Pantalla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FFFFFF"/>
                </a:solidFill>
                <a:latin typeface="Arial"/>
                <a:ea typeface="Arial"/>
                <a:cs typeface="Arial"/>
                <a:sym typeface="Arial"/>
              </a:rPr>
              <a:t>¿Cómo nos comunicamos?</a:t>
            </a:r>
            <a:endParaRPr b="0" i="0" sz="1400" u="none" cap="none" strike="noStrike">
              <a:solidFill>
                <a:srgbClr val="000000"/>
              </a:solidFill>
              <a:latin typeface="Arial"/>
              <a:ea typeface="Arial"/>
              <a:cs typeface="Arial"/>
              <a:sym typeface="Arial"/>
            </a:endParaRPr>
          </a:p>
        </p:txBody>
      </p:sp>
      <p:sp>
        <p:nvSpPr>
          <p:cNvPr id="302" name="Google Shape;302;p18"/>
          <p:cNvSpPr/>
          <p:nvPr/>
        </p:nvSpPr>
        <p:spPr>
          <a:xfrm>
            <a:off x="191751" y="8069065"/>
            <a:ext cx="75000" cy="1117697"/>
          </a:xfrm>
          <a:prstGeom prst="rect">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18">
            <a:hlinkClick action="ppaction://hlinksldjump" r:id="rId8"/>
          </p:cNvPr>
          <p:cNvSpPr/>
          <p:nvPr/>
        </p:nvSpPr>
        <p:spPr>
          <a:xfrm>
            <a:off x="266783" y="8069065"/>
            <a:ext cx="2709600" cy="1117697"/>
          </a:xfrm>
          <a:prstGeom prst="roundRect">
            <a:avLst>
              <a:gd fmla="val 10000" name="adj"/>
            </a:avLst>
          </a:prstGeom>
          <a:solidFill>
            <a:srgbClr val="FFF8D6"/>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Antes de una conversación difícil</a:t>
            </a:r>
            <a:endParaRPr b="0" i="0" sz="1400" u="none" cap="none" strike="noStrike">
              <a:solidFill>
                <a:srgbClr val="000000"/>
              </a:solidFill>
              <a:latin typeface="Arial"/>
              <a:ea typeface="Arial"/>
              <a:cs typeface="Arial"/>
              <a:sym typeface="Arial"/>
            </a:endParaRPr>
          </a:p>
        </p:txBody>
      </p:sp>
      <p:sp>
        <p:nvSpPr>
          <p:cNvPr id="304" name="Google Shape;304;p18"/>
          <p:cNvSpPr/>
          <p:nvPr/>
        </p:nvSpPr>
        <p:spPr>
          <a:xfrm>
            <a:off x="4591655" y="9872067"/>
            <a:ext cx="1588200" cy="476400"/>
          </a:xfrm>
          <a:prstGeom prst="roundRect">
            <a:avLst>
              <a:gd fmla="val 50000" name="adj"/>
            </a:avLst>
          </a:prstGeom>
          <a:solidFill>
            <a:srgbClr val="D8D2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8">
            <a:hlinkClick action="ppaction://hlinksldjump" r:id="rId9"/>
          </p:cNvPr>
          <p:cNvSpPr/>
          <p:nvPr/>
        </p:nvSpPr>
        <p:spPr>
          <a:xfrm>
            <a:off x="4591655" y="9812536"/>
            <a:ext cx="1588200" cy="476400"/>
          </a:xfrm>
          <a:prstGeom prst="roundRect">
            <a:avLst>
              <a:gd fmla="val 50000" name="adj"/>
            </a:avLst>
          </a:prstGeom>
          <a:solidFill>
            <a:srgbClr val="FFFFFF"/>
          </a:solidFill>
          <a:ln cap="flat" cmpd="sng" w="14275">
            <a:solidFill>
              <a:srgbClr val="664092"/>
            </a:solidFill>
            <a:prstDash val="solid"/>
            <a:round/>
            <a:headEnd len="sm" w="sm" type="none"/>
            <a:tailEnd len="sm" w="sm" type="none"/>
          </a:ln>
        </p:spPr>
        <p:txBody>
          <a:bodyPr anchorCtr="0" anchor="ctr" bIns="59525" lIns="148825" spcFirstLastPara="1" rIns="148825" wrap="square" tIns="59525">
            <a:noAutofit/>
          </a:bodyPr>
          <a:lstStyle/>
          <a:p>
            <a:pPr indent="0" lvl="0" marL="0" marR="0" rtl="0" algn="ctr">
              <a:lnSpc>
                <a:spcPct val="80000"/>
              </a:lnSpc>
              <a:spcBef>
                <a:spcPts val="0"/>
              </a:spcBef>
              <a:spcAft>
                <a:spcPts val="0"/>
              </a:spcAft>
              <a:buClr>
                <a:srgbClr val="000000"/>
              </a:buClr>
              <a:buSzPts val="1578"/>
              <a:buFont typeface="Arial"/>
              <a:buNone/>
            </a:pPr>
            <a:r>
              <a:rPr b="1" i="0" lang="es-CO" sz="1578" u="sng" cap="none" strike="noStrike">
                <a:solidFill>
                  <a:srgbClr val="663D8F"/>
                </a:solidFill>
                <a:latin typeface="Arial"/>
                <a:ea typeface="Arial"/>
                <a:cs typeface="Arial"/>
                <a:sym typeface="Arial"/>
              </a:rPr>
              <a:t>Anterior</a:t>
            </a:r>
            <a:endParaRPr b="0" i="0" sz="1400" u="none" cap="none" strike="noStrike">
              <a:solidFill>
                <a:srgbClr val="000000"/>
              </a:solidFill>
              <a:latin typeface="Arial"/>
              <a:ea typeface="Arial"/>
              <a:cs typeface="Arial"/>
              <a:sym typeface="Arial"/>
            </a:endParaRPr>
          </a:p>
        </p:txBody>
      </p:sp>
      <p:sp>
        <p:nvSpPr>
          <p:cNvPr id="306" name="Google Shape;306;p18"/>
          <p:cNvSpPr/>
          <p:nvPr/>
        </p:nvSpPr>
        <p:spPr>
          <a:xfrm>
            <a:off x="6378374" y="9872067"/>
            <a:ext cx="2034900" cy="476400"/>
          </a:xfrm>
          <a:prstGeom prst="roundRect">
            <a:avLst>
              <a:gd fmla="val 50000" name="adj"/>
            </a:avLst>
          </a:prstGeom>
          <a:solidFill>
            <a:srgbClr val="C8A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8">
            <a:hlinkClick action="ppaction://hlinksldjump" r:id="rId10"/>
          </p:cNvPr>
          <p:cNvSpPr/>
          <p:nvPr/>
        </p:nvSpPr>
        <p:spPr>
          <a:xfrm>
            <a:off x="6378374" y="9812536"/>
            <a:ext cx="2034900" cy="476400"/>
          </a:xfrm>
          <a:prstGeom prst="roundRect">
            <a:avLst>
              <a:gd fmla="val 50000" name="adj"/>
            </a:avLst>
          </a:prstGeom>
          <a:solidFill>
            <a:srgbClr val="FFD900"/>
          </a:solidFill>
          <a:ln>
            <a:noFill/>
          </a:ln>
        </p:spPr>
        <p:txBody>
          <a:bodyPr anchorCtr="0" anchor="ctr" bIns="59525" lIns="148825" spcFirstLastPara="1" rIns="148825" wrap="square" tIns="59525">
            <a:noAutofit/>
          </a:bodyPr>
          <a:lstStyle/>
          <a:p>
            <a:pPr indent="0" lvl="0" marL="0" marR="0" rtl="0" algn="ctr">
              <a:lnSpc>
                <a:spcPct val="80000"/>
              </a:lnSpc>
              <a:spcBef>
                <a:spcPts val="0"/>
              </a:spcBef>
              <a:spcAft>
                <a:spcPts val="0"/>
              </a:spcAft>
              <a:buClr>
                <a:srgbClr val="000000"/>
              </a:buClr>
              <a:buSzPts val="1578"/>
              <a:buFont typeface="Arial"/>
              <a:buNone/>
            </a:pPr>
            <a:r>
              <a:rPr b="1" i="0" lang="es-CO" sz="1578" u="sng" cap="none" strike="noStrike">
                <a:solidFill>
                  <a:srgbClr val="663D8F"/>
                </a:solidFill>
                <a:latin typeface="Arial"/>
                <a:ea typeface="Arial"/>
                <a:cs typeface="Arial"/>
                <a:sym typeface="Arial"/>
              </a:rPr>
              <a:t>Siguiente</a:t>
            </a:r>
            <a:endParaRPr b="1" i="0" sz="1578" u="sng" cap="none" strike="noStrike">
              <a:solidFill>
                <a:srgbClr val="663D8F"/>
              </a:solidFill>
              <a:latin typeface="Arial"/>
              <a:ea typeface="Arial"/>
              <a:cs typeface="Arial"/>
              <a:sym typeface="Arial"/>
            </a:endParaRPr>
          </a:p>
        </p:txBody>
      </p:sp>
      <p:sp>
        <p:nvSpPr>
          <p:cNvPr id="308" name="Google Shape;308;p18">
            <a:hlinkClick action="ppaction://hlinksldjump" r:id="rId12"/>
          </p:cNvPr>
          <p:cNvSpPr/>
          <p:nvPr/>
        </p:nvSpPr>
        <p:spPr>
          <a:xfrm>
            <a:off x="191792" y="399700"/>
            <a:ext cx="75000" cy="984000"/>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8">
            <a:hlinkClick action="ppaction://hlinksldjump" r:id="rId12"/>
          </p:cNvPr>
          <p:cNvSpPr/>
          <p:nvPr/>
        </p:nvSpPr>
        <p:spPr>
          <a:xfrm>
            <a:off x="266825" y="399900"/>
            <a:ext cx="2709300" cy="984000"/>
          </a:xfrm>
          <a:prstGeom prst="roundRect">
            <a:avLst>
              <a:gd fmla="val 14000" name="adj"/>
            </a:avLst>
          </a:prstGeom>
          <a:solidFill>
            <a:srgbClr val="D1E0F2"/>
          </a:solidFill>
          <a:ln>
            <a:noFill/>
          </a:ln>
        </p:spPr>
        <p:txBody>
          <a:bodyPr anchorCtr="0" anchor="ctr" bIns="40000" lIns="160000" spcFirstLastPara="1" rIns="100000" wrap="square" tIns="40000">
            <a:noAutofit/>
          </a:bodyPr>
          <a:lstStyle/>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rgbClr val="000000"/>
              </a:solidFill>
              <a:latin typeface="Arial"/>
              <a:ea typeface="Arial"/>
              <a:cs typeface="Arial"/>
              <a:sym typeface="Arial"/>
            </a:endParaRPr>
          </a:p>
        </p:txBody>
      </p:sp>
      <p:pic>
        <p:nvPicPr>
          <p:cNvPr id="310" name="Google Shape;310;p18" title="correcciones sapiencia.png">
            <a:hlinkClick action="ppaction://hlinksldjump" r:id="rId12"/>
          </p:cNvPr>
          <p:cNvPicPr preferRelativeResize="0"/>
          <p:nvPr/>
        </p:nvPicPr>
        <p:blipFill rotWithShape="1">
          <a:blip r:embed="rId11">
            <a:alphaModFix/>
          </a:blip>
          <a:srcRect b="0" l="0" r="0" t="0"/>
          <a:stretch/>
        </p:blipFill>
        <p:spPr>
          <a:xfrm>
            <a:off x="266783" y="600314"/>
            <a:ext cx="486192" cy="486192"/>
          </a:xfrm>
          <a:prstGeom prst="rect">
            <a:avLst/>
          </a:prstGeom>
          <a:noFill/>
          <a:ln>
            <a:noFill/>
          </a:ln>
        </p:spPr>
      </p:pic>
      <p:sp>
        <p:nvSpPr>
          <p:cNvPr id="311" name="Google Shape;311;p18">
            <a:hlinkClick action="ppaction://hlinksldjump" r:id="rId12"/>
          </p:cNvPr>
          <p:cNvSpPr txBox="1"/>
          <p:nvPr/>
        </p:nvSpPr>
        <p:spPr>
          <a:xfrm>
            <a:off x="939099" y="660838"/>
            <a:ext cx="1541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s-CO" sz="1200" u="none" cap="none" strike="noStrike">
                <a:solidFill>
                  <a:srgbClr val="3D2159"/>
                </a:solidFill>
                <a:latin typeface="Arial"/>
                <a:ea typeface="Arial"/>
                <a:cs typeface="Arial"/>
                <a:sym typeface="Arial"/>
              </a:rPr>
              <a:t>Inteligencia social</a:t>
            </a:r>
            <a:endParaRPr b="1" i="0" sz="1200" u="none" cap="none" strike="noStrike">
              <a:solidFill>
                <a:srgbClr val="3D215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1" lang="es-CO" sz="1200" u="none" cap="none" strike="noStrike">
                <a:solidFill>
                  <a:srgbClr val="3D2159"/>
                </a:solidFill>
                <a:latin typeface="Arial"/>
                <a:ea typeface="Arial"/>
                <a:cs typeface="Arial"/>
                <a:sym typeface="Arial"/>
              </a:rPr>
              <a:t>Inicio</a:t>
            </a:r>
            <a:endParaRPr b="1" i="0" sz="1200" u="none" cap="none" strike="noStrike">
              <a:solidFill>
                <a:srgbClr val="A71989"/>
              </a:solidFill>
              <a:latin typeface="Arial"/>
              <a:ea typeface="Arial"/>
              <a:cs typeface="Arial"/>
              <a:sym typeface="Arial"/>
            </a:endParaRPr>
          </a:p>
        </p:txBody>
      </p:sp>
      <p:sp>
        <p:nvSpPr>
          <p:cNvPr id="312" name="Google Shape;312;p18"/>
          <p:cNvSpPr txBox="1"/>
          <p:nvPr/>
        </p:nvSpPr>
        <p:spPr>
          <a:xfrm>
            <a:off x="3886200" y="1481328"/>
            <a:ext cx="9144000" cy="329184"/>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500" u="none" cap="none" strike="noStrike">
                <a:solidFill>
                  <a:srgbClr val="A71989"/>
                </a:solidFill>
                <a:latin typeface="Arial"/>
                <a:ea typeface="Arial"/>
                <a:cs typeface="Arial"/>
                <a:sym typeface="Arial"/>
              </a:rPr>
              <a:t>Módulo 2 · Inteligencia social</a:t>
            </a:r>
            <a:endParaRPr/>
          </a:p>
        </p:txBody>
      </p:sp>
      <p:sp>
        <p:nvSpPr>
          <p:cNvPr id="313" name="Google Shape;313;p18"/>
          <p:cNvSpPr/>
          <p:nvPr/>
        </p:nvSpPr>
        <p:spPr>
          <a:xfrm>
            <a:off x="3886200" y="2834640"/>
            <a:ext cx="128016" cy="12801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4" name="Google Shape;314;p18"/>
          <p:cNvSpPr/>
          <p:nvPr/>
        </p:nvSpPr>
        <p:spPr>
          <a:xfrm>
            <a:off x="4114800"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18"/>
          <p:cNvSpPr/>
          <p:nvPr/>
        </p:nvSpPr>
        <p:spPr>
          <a:xfrm>
            <a:off x="4334256"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6" name="Google Shape;316;p18"/>
          <p:cNvSpPr/>
          <p:nvPr/>
        </p:nvSpPr>
        <p:spPr>
          <a:xfrm>
            <a:off x="4553712"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7" name="Google Shape;317;p18"/>
          <p:cNvSpPr/>
          <p:nvPr/>
        </p:nvSpPr>
        <p:spPr>
          <a:xfrm>
            <a:off x="4782312"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18"/>
          <p:cNvSpPr/>
          <p:nvPr/>
        </p:nvSpPr>
        <p:spPr>
          <a:xfrm>
            <a:off x="5001768" y="2834640"/>
            <a:ext cx="128016" cy="12801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18"/>
          <p:cNvSpPr txBox="1"/>
          <p:nvPr/>
        </p:nvSpPr>
        <p:spPr>
          <a:xfrm>
            <a:off x="3886200" y="3200400"/>
            <a:ext cx="14264640" cy="45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700" u="none" cap="none" strike="noStrike">
                <a:solidFill>
                  <a:srgbClr val="3F3A48"/>
                </a:solidFill>
                <a:latin typeface="Arial"/>
                <a:ea typeface="Arial"/>
                <a:cs typeface="Arial"/>
                <a:sym typeface="Arial"/>
              </a:rPr>
              <a:t>La manera en que expresamos nuestras necesidades puede facilitar el diálogo o aumentar la tensión. Exploremos tres estilos de comunicación.</a:t>
            </a:r>
            <a:endParaRPr/>
          </a:p>
        </p:txBody>
      </p:sp>
      <p:sp>
        <p:nvSpPr>
          <p:cNvPr id="320" name="Google Shape;320;p18"/>
          <p:cNvSpPr/>
          <p:nvPr/>
        </p:nvSpPr>
        <p:spPr>
          <a:xfrm>
            <a:off x="3886200" y="3931920"/>
            <a:ext cx="4541520" cy="4709160"/>
          </a:xfrm>
          <a:prstGeom prst="roundRect">
            <a:avLst>
              <a:gd fmla="val 5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1" name="Google Shape;321;p18"/>
          <p:cNvSpPr/>
          <p:nvPr/>
        </p:nvSpPr>
        <p:spPr>
          <a:xfrm>
            <a:off x="3886200" y="3931920"/>
            <a:ext cx="4541520" cy="731520"/>
          </a:xfrm>
          <a:prstGeom prst="roundRect">
            <a:avLst>
              <a:gd fmla="val 18000" name="adj"/>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18"/>
          <p:cNvSpPr/>
          <p:nvPr/>
        </p:nvSpPr>
        <p:spPr>
          <a:xfrm>
            <a:off x="3886200" y="4389120"/>
            <a:ext cx="4541520" cy="274320"/>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3" name="Google Shape;323;p18"/>
          <p:cNvSpPr txBox="1"/>
          <p:nvPr/>
        </p:nvSpPr>
        <p:spPr>
          <a:xfrm>
            <a:off x="4069080" y="3931920"/>
            <a:ext cx="4175760" cy="73152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700" u="none" cap="none" strike="noStrike">
                <a:solidFill>
                  <a:srgbClr val="FFFFFF"/>
                </a:solidFill>
                <a:latin typeface="Arial"/>
                <a:ea typeface="Arial"/>
                <a:cs typeface="Arial"/>
                <a:sym typeface="Arial"/>
              </a:rPr>
              <a:t>1. Comunicación pasiva</a:t>
            </a:r>
            <a:endParaRPr/>
          </a:p>
        </p:txBody>
      </p:sp>
      <p:sp>
        <p:nvSpPr>
          <p:cNvPr id="324" name="Google Shape;324;p18"/>
          <p:cNvSpPr txBox="1"/>
          <p:nvPr/>
        </p:nvSpPr>
        <p:spPr>
          <a:xfrm>
            <a:off x="4160520" y="4800600"/>
            <a:ext cx="399288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250" u="none" cap="none" strike="noStrike">
                <a:solidFill>
                  <a:srgbClr val="664092"/>
                </a:solidFill>
                <a:latin typeface="Arial"/>
                <a:ea typeface="Arial"/>
                <a:cs typeface="Arial"/>
                <a:sym typeface="Arial"/>
              </a:rPr>
              <a:t>Descripción</a:t>
            </a:r>
            <a:endParaRPr/>
          </a:p>
        </p:txBody>
      </p:sp>
      <p:sp>
        <p:nvSpPr>
          <p:cNvPr id="325" name="Google Shape;325;p18"/>
          <p:cNvSpPr txBox="1"/>
          <p:nvPr/>
        </p:nvSpPr>
        <p:spPr>
          <a:xfrm>
            <a:off x="4160520" y="5074920"/>
            <a:ext cx="3992880" cy="914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300" u="none" cap="none" strike="noStrike">
                <a:solidFill>
                  <a:srgbClr val="3F3A48"/>
                </a:solidFill>
                <a:latin typeface="Arial"/>
                <a:ea typeface="Arial"/>
                <a:cs typeface="Arial"/>
                <a:sym typeface="Arial"/>
              </a:rPr>
              <a:t>La persona evita expresar con claridad lo que piensa, siente o necesita.</a:t>
            </a:r>
            <a:endParaRPr/>
          </a:p>
        </p:txBody>
      </p:sp>
      <p:sp>
        <p:nvSpPr>
          <p:cNvPr id="326" name="Google Shape;326;p18"/>
          <p:cNvSpPr txBox="1"/>
          <p:nvPr/>
        </p:nvSpPr>
        <p:spPr>
          <a:xfrm>
            <a:off x="4160520" y="5989320"/>
            <a:ext cx="399288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250" u="none" cap="none" strike="noStrike">
                <a:solidFill>
                  <a:srgbClr val="664092"/>
                </a:solidFill>
                <a:latin typeface="Arial"/>
                <a:ea typeface="Arial"/>
                <a:cs typeface="Arial"/>
                <a:sym typeface="Arial"/>
              </a:rPr>
              <a:t>Ejemplo</a:t>
            </a:r>
            <a:endParaRPr/>
          </a:p>
        </p:txBody>
      </p:sp>
      <p:sp>
        <p:nvSpPr>
          <p:cNvPr id="327" name="Google Shape;327;p18"/>
          <p:cNvSpPr/>
          <p:nvPr/>
        </p:nvSpPr>
        <p:spPr>
          <a:xfrm>
            <a:off x="4114800" y="6281928"/>
            <a:ext cx="4084320" cy="868680"/>
          </a:xfrm>
          <a:prstGeom prst="roundRect">
            <a:avLst>
              <a:gd fmla="val 1500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18"/>
          <p:cNvSpPr txBox="1"/>
          <p:nvPr/>
        </p:nvSpPr>
        <p:spPr>
          <a:xfrm>
            <a:off x="4251960" y="6281928"/>
            <a:ext cx="3810000" cy="86868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1" lang="es-CO" sz="1300" u="none" cap="none" strike="noStrike">
                <a:solidFill>
                  <a:srgbClr val="3D2159"/>
                </a:solidFill>
                <a:latin typeface="Arial"/>
                <a:ea typeface="Arial"/>
                <a:cs typeface="Arial"/>
                <a:sym typeface="Arial"/>
              </a:rPr>
              <a:t>«Está bien, hagamos lo que ustedes quieran».</a:t>
            </a:r>
            <a:endParaRPr/>
          </a:p>
        </p:txBody>
      </p:sp>
      <p:sp>
        <p:nvSpPr>
          <p:cNvPr id="329" name="Google Shape;329;p18"/>
          <p:cNvSpPr txBox="1"/>
          <p:nvPr/>
        </p:nvSpPr>
        <p:spPr>
          <a:xfrm>
            <a:off x="4160520" y="7287768"/>
            <a:ext cx="399288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250" u="none" cap="none" strike="noStrike">
                <a:solidFill>
                  <a:srgbClr val="664092"/>
                </a:solidFill>
                <a:latin typeface="Arial"/>
                <a:ea typeface="Arial"/>
                <a:cs typeface="Arial"/>
                <a:sym typeface="Arial"/>
              </a:rPr>
              <a:t>Efecto</a:t>
            </a:r>
            <a:endParaRPr/>
          </a:p>
        </p:txBody>
      </p:sp>
      <p:sp>
        <p:nvSpPr>
          <p:cNvPr id="330" name="Google Shape;330;p18"/>
          <p:cNvSpPr txBox="1"/>
          <p:nvPr/>
        </p:nvSpPr>
        <p:spPr>
          <a:xfrm>
            <a:off x="4160520" y="7562088"/>
            <a:ext cx="3992880" cy="914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300" u="none" cap="none" strike="noStrike">
                <a:solidFill>
                  <a:srgbClr val="3F3A48"/>
                </a:solidFill>
                <a:latin typeface="Arial"/>
                <a:ea typeface="Arial"/>
                <a:cs typeface="Arial"/>
                <a:sym typeface="Arial"/>
              </a:rPr>
              <a:t>La inconformidad queda sin expresar y resulta más difícil establecer límites o llegar a acuerdos.</a:t>
            </a:r>
            <a:endParaRPr/>
          </a:p>
        </p:txBody>
      </p:sp>
      <p:sp>
        <p:nvSpPr>
          <p:cNvPr id="331" name="Google Shape;331;p18"/>
          <p:cNvSpPr/>
          <p:nvPr/>
        </p:nvSpPr>
        <p:spPr>
          <a:xfrm>
            <a:off x="8747760" y="3931920"/>
            <a:ext cx="4541520" cy="4709160"/>
          </a:xfrm>
          <a:prstGeom prst="roundRect">
            <a:avLst>
              <a:gd fmla="val 5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2" name="Google Shape;332;p18"/>
          <p:cNvSpPr/>
          <p:nvPr/>
        </p:nvSpPr>
        <p:spPr>
          <a:xfrm>
            <a:off x="8747760" y="3931920"/>
            <a:ext cx="4541520" cy="731520"/>
          </a:xfrm>
          <a:prstGeom prst="roundRect">
            <a:avLst>
              <a:gd fmla="val 18000" name="adj"/>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18"/>
          <p:cNvSpPr/>
          <p:nvPr/>
        </p:nvSpPr>
        <p:spPr>
          <a:xfrm>
            <a:off x="8747760" y="4389120"/>
            <a:ext cx="4541520" cy="274320"/>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18"/>
          <p:cNvSpPr txBox="1"/>
          <p:nvPr/>
        </p:nvSpPr>
        <p:spPr>
          <a:xfrm>
            <a:off x="8930640" y="3931920"/>
            <a:ext cx="4175760" cy="73152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700" u="none" cap="none" strike="noStrike">
                <a:solidFill>
                  <a:srgbClr val="FFFFFF"/>
                </a:solidFill>
                <a:latin typeface="Arial"/>
                <a:ea typeface="Arial"/>
                <a:cs typeface="Arial"/>
                <a:sym typeface="Arial"/>
              </a:rPr>
              <a:t>2. Comunicación agresiva</a:t>
            </a:r>
            <a:endParaRPr/>
          </a:p>
        </p:txBody>
      </p:sp>
      <p:sp>
        <p:nvSpPr>
          <p:cNvPr id="335" name="Google Shape;335;p18"/>
          <p:cNvSpPr txBox="1"/>
          <p:nvPr/>
        </p:nvSpPr>
        <p:spPr>
          <a:xfrm>
            <a:off x="9022080" y="4800600"/>
            <a:ext cx="399288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250" u="none" cap="none" strike="noStrike">
                <a:solidFill>
                  <a:srgbClr val="A71989"/>
                </a:solidFill>
                <a:latin typeface="Arial"/>
                <a:ea typeface="Arial"/>
                <a:cs typeface="Arial"/>
                <a:sym typeface="Arial"/>
              </a:rPr>
              <a:t>Descripción</a:t>
            </a:r>
            <a:endParaRPr/>
          </a:p>
        </p:txBody>
      </p:sp>
      <p:sp>
        <p:nvSpPr>
          <p:cNvPr id="336" name="Google Shape;336;p18"/>
          <p:cNvSpPr txBox="1"/>
          <p:nvPr/>
        </p:nvSpPr>
        <p:spPr>
          <a:xfrm>
            <a:off x="9022080" y="5074920"/>
            <a:ext cx="3992880" cy="914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300" u="none" cap="none" strike="noStrike">
                <a:solidFill>
                  <a:srgbClr val="3F3A48"/>
                </a:solidFill>
                <a:latin typeface="Arial"/>
                <a:ea typeface="Arial"/>
                <a:cs typeface="Arial"/>
                <a:sym typeface="Arial"/>
              </a:rPr>
              <a:t>La persona expresa sus ideas atacando, descalificando o intentando imponer su posición.</a:t>
            </a:r>
            <a:endParaRPr/>
          </a:p>
        </p:txBody>
      </p:sp>
      <p:sp>
        <p:nvSpPr>
          <p:cNvPr id="337" name="Google Shape;337;p18"/>
          <p:cNvSpPr txBox="1"/>
          <p:nvPr/>
        </p:nvSpPr>
        <p:spPr>
          <a:xfrm>
            <a:off x="9022080" y="5989320"/>
            <a:ext cx="399288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250" u="none" cap="none" strike="noStrike">
                <a:solidFill>
                  <a:srgbClr val="A71989"/>
                </a:solidFill>
                <a:latin typeface="Arial"/>
                <a:ea typeface="Arial"/>
                <a:cs typeface="Arial"/>
                <a:sym typeface="Arial"/>
              </a:rPr>
              <a:t>Ejemplo</a:t>
            </a:r>
            <a:endParaRPr/>
          </a:p>
        </p:txBody>
      </p:sp>
      <p:sp>
        <p:nvSpPr>
          <p:cNvPr id="338" name="Google Shape;338;p18"/>
          <p:cNvSpPr/>
          <p:nvPr/>
        </p:nvSpPr>
        <p:spPr>
          <a:xfrm>
            <a:off x="8976360" y="6281928"/>
            <a:ext cx="4084320" cy="868680"/>
          </a:xfrm>
          <a:prstGeom prst="roundRect">
            <a:avLst>
              <a:gd fmla="val 15000" name="adj"/>
            </a:avLst>
          </a:prstGeom>
          <a:solidFill>
            <a:srgbClr val="F6EB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18"/>
          <p:cNvSpPr txBox="1"/>
          <p:nvPr/>
        </p:nvSpPr>
        <p:spPr>
          <a:xfrm>
            <a:off x="9113520" y="6281928"/>
            <a:ext cx="3810000" cy="86868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1" lang="es-CO" sz="1300" u="none" cap="none" strike="noStrike">
                <a:solidFill>
                  <a:srgbClr val="3D2159"/>
                </a:solidFill>
                <a:latin typeface="Arial"/>
                <a:ea typeface="Arial"/>
                <a:cs typeface="Arial"/>
                <a:sym typeface="Arial"/>
              </a:rPr>
              <a:t>«Siempre hacen todo mal. Se hace como yo digo».</a:t>
            </a:r>
            <a:endParaRPr/>
          </a:p>
        </p:txBody>
      </p:sp>
      <p:sp>
        <p:nvSpPr>
          <p:cNvPr id="340" name="Google Shape;340;p18"/>
          <p:cNvSpPr txBox="1"/>
          <p:nvPr/>
        </p:nvSpPr>
        <p:spPr>
          <a:xfrm>
            <a:off x="9022080" y="7287768"/>
            <a:ext cx="399288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250" u="none" cap="none" strike="noStrike">
                <a:solidFill>
                  <a:srgbClr val="A71989"/>
                </a:solidFill>
                <a:latin typeface="Arial"/>
                <a:ea typeface="Arial"/>
                <a:cs typeface="Arial"/>
                <a:sym typeface="Arial"/>
              </a:rPr>
              <a:t>Efecto</a:t>
            </a:r>
            <a:endParaRPr/>
          </a:p>
        </p:txBody>
      </p:sp>
      <p:sp>
        <p:nvSpPr>
          <p:cNvPr id="341" name="Google Shape;341;p18"/>
          <p:cNvSpPr txBox="1"/>
          <p:nvPr/>
        </p:nvSpPr>
        <p:spPr>
          <a:xfrm>
            <a:off x="9022080" y="7562088"/>
            <a:ext cx="3992880" cy="914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300" u="none" cap="none" strike="noStrike">
                <a:solidFill>
                  <a:srgbClr val="3F3A48"/>
                </a:solidFill>
                <a:latin typeface="Arial"/>
                <a:ea typeface="Arial"/>
                <a:cs typeface="Arial"/>
                <a:sym typeface="Arial"/>
              </a:rPr>
              <a:t>Aumenta la tensión y la otra persona se cierra o responde de la misma manera.</a:t>
            </a:r>
            <a:endParaRPr/>
          </a:p>
        </p:txBody>
      </p:sp>
      <p:sp>
        <p:nvSpPr>
          <p:cNvPr id="342" name="Google Shape;342;p18"/>
          <p:cNvSpPr/>
          <p:nvPr/>
        </p:nvSpPr>
        <p:spPr>
          <a:xfrm>
            <a:off x="13609320" y="3931920"/>
            <a:ext cx="4541520" cy="4709160"/>
          </a:xfrm>
          <a:prstGeom prst="roundRect">
            <a:avLst>
              <a:gd fmla="val 5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18"/>
          <p:cNvSpPr/>
          <p:nvPr/>
        </p:nvSpPr>
        <p:spPr>
          <a:xfrm>
            <a:off x="13609320" y="3931920"/>
            <a:ext cx="4541520" cy="731520"/>
          </a:xfrm>
          <a:prstGeom prst="roundRect">
            <a:avLst>
              <a:gd fmla="val 18000" name="adj"/>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18"/>
          <p:cNvSpPr/>
          <p:nvPr/>
        </p:nvSpPr>
        <p:spPr>
          <a:xfrm>
            <a:off x="13609320" y="4389120"/>
            <a:ext cx="4541520" cy="274320"/>
          </a:xfrm>
          <a:prstGeom prst="rect">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p18"/>
          <p:cNvSpPr txBox="1"/>
          <p:nvPr/>
        </p:nvSpPr>
        <p:spPr>
          <a:xfrm>
            <a:off x="13792199" y="3931920"/>
            <a:ext cx="4175760" cy="73152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700" u="none" cap="none" strike="noStrike">
                <a:solidFill>
                  <a:srgbClr val="FFFFFF"/>
                </a:solidFill>
                <a:latin typeface="Arial"/>
                <a:ea typeface="Arial"/>
                <a:cs typeface="Arial"/>
                <a:sym typeface="Arial"/>
              </a:rPr>
              <a:t>3. Comunicación asertiva</a:t>
            </a:r>
            <a:endParaRPr/>
          </a:p>
        </p:txBody>
      </p:sp>
      <p:sp>
        <p:nvSpPr>
          <p:cNvPr id="346" name="Google Shape;346;p18"/>
          <p:cNvSpPr txBox="1"/>
          <p:nvPr/>
        </p:nvSpPr>
        <p:spPr>
          <a:xfrm>
            <a:off x="13883640" y="4800600"/>
            <a:ext cx="399288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250" u="none" cap="none" strike="noStrike">
                <a:solidFill>
                  <a:srgbClr val="2A56C6"/>
                </a:solidFill>
                <a:latin typeface="Arial"/>
                <a:ea typeface="Arial"/>
                <a:cs typeface="Arial"/>
                <a:sym typeface="Arial"/>
              </a:rPr>
              <a:t>Descripción</a:t>
            </a:r>
            <a:endParaRPr/>
          </a:p>
        </p:txBody>
      </p:sp>
      <p:sp>
        <p:nvSpPr>
          <p:cNvPr id="347" name="Google Shape;347;p18"/>
          <p:cNvSpPr txBox="1"/>
          <p:nvPr/>
        </p:nvSpPr>
        <p:spPr>
          <a:xfrm>
            <a:off x="13883640" y="5074920"/>
            <a:ext cx="3992880" cy="914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300" u="none" cap="none" strike="noStrike">
                <a:solidFill>
                  <a:srgbClr val="3F3A48"/>
                </a:solidFill>
                <a:latin typeface="Arial"/>
                <a:ea typeface="Arial"/>
                <a:cs typeface="Arial"/>
                <a:sym typeface="Arial"/>
              </a:rPr>
              <a:t>La persona expresa lo que piensa, siente o necesita con claridad y firmeza, respetando a los demás y sus propios límites.</a:t>
            </a:r>
            <a:endParaRPr/>
          </a:p>
        </p:txBody>
      </p:sp>
      <p:sp>
        <p:nvSpPr>
          <p:cNvPr id="348" name="Google Shape;348;p18"/>
          <p:cNvSpPr txBox="1"/>
          <p:nvPr/>
        </p:nvSpPr>
        <p:spPr>
          <a:xfrm>
            <a:off x="13883640" y="5989320"/>
            <a:ext cx="399288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250" u="none" cap="none" strike="noStrike">
                <a:solidFill>
                  <a:srgbClr val="2A56C6"/>
                </a:solidFill>
                <a:latin typeface="Arial"/>
                <a:ea typeface="Arial"/>
                <a:cs typeface="Arial"/>
                <a:sym typeface="Arial"/>
              </a:rPr>
              <a:t>Ejemplo</a:t>
            </a:r>
            <a:endParaRPr/>
          </a:p>
        </p:txBody>
      </p:sp>
      <p:sp>
        <p:nvSpPr>
          <p:cNvPr id="349" name="Google Shape;349;p18"/>
          <p:cNvSpPr/>
          <p:nvPr/>
        </p:nvSpPr>
        <p:spPr>
          <a:xfrm>
            <a:off x="13837920" y="6281928"/>
            <a:ext cx="4084320" cy="868680"/>
          </a:xfrm>
          <a:prstGeom prst="roundRect">
            <a:avLst>
              <a:gd fmla="val 15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18"/>
          <p:cNvSpPr txBox="1"/>
          <p:nvPr/>
        </p:nvSpPr>
        <p:spPr>
          <a:xfrm>
            <a:off x="13975080" y="6281928"/>
            <a:ext cx="3810000" cy="86868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1" lang="es-CO" sz="1300" u="none" cap="none" strike="noStrike">
                <a:solidFill>
                  <a:srgbClr val="3D2159"/>
                </a:solidFill>
                <a:latin typeface="Arial"/>
                <a:ea typeface="Arial"/>
                <a:cs typeface="Arial"/>
                <a:sym typeface="Arial"/>
              </a:rPr>
              <a:t>«No estoy de acuerdo con la decisión. Me gustaría explicar mi punto de vista antes de definirla».</a:t>
            </a:r>
            <a:endParaRPr/>
          </a:p>
        </p:txBody>
      </p:sp>
      <p:sp>
        <p:nvSpPr>
          <p:cNvPr id="351" name="Google Shape;351;p18"/>
          <p:cNvSpPr txBox="1"/>
          <p:nvPr/>
        </p:nvSpPr>
        <p:spPr>
          <a:xfrm>
            <a:off x="13883640" y="7287768"/>
            <a:ext cx="3992880"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250" u="none" cap="none" strike="noStrike">
                <a:solidFill>
                  <a:srgbClr val="2A56C6"/>
                </a:solidFill>
                <a:latin typeface="Arial"/>
                <a:ea typeface="Arial"/>
                <a:cs typeface="Arial"/>
                <a:sym typeface="Arial"/>
              </a:rPr>
              <a:t>Efecto</a:t>
            </a:r>
            <a:endParaRPr/>
          </a:p>
        </p:txBody>
      </p:sp>
      <p:sp>
        <p:nvSpPr>
          <p:cNvPr id="352" name="Google Shape;352;p18"/>
          <p:cNvSpPr txBox="1"/>
          <p:nvPr/>
        </p:nvSpPr>
        <p:spPr>
          <a:xfrm>
            <a:off x="13883640" y="7562088"/>
            <a:ext cx="3992880" cy="914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300" u="none" cap="none" strike="noStrike">
                <a:solidFill>
                  <a:srgbClr val="3F3A48"/>
                </a:solidFill>
                <a:latin typeface="Arial"/>
                <a:ea typeface="Arial"/>
                <a:cs typeface="Arial"/>
                <a:sym typeface="Arial"/>
              </a:rPr>
              <a:t>Favorece mayor claridad, escucha y posibilidad de construir acuerdos.</a:t>
            </a:r>
            <a:endParaRPr/>
          </a:p>
        </p:txBody>
      </p:sp>
      <p:sp>
        <p:nvSpPr>
          <p:cNvPr id="32" name="Google Shape;32;p1">
            <a:hlinkClick action="ppaction://hlinksldjump" r:id="rId13"/>
          </p:cNvPr>
          <p:cNvSpPr/>
          <p:nvPr/>
        </p:nvSpPr>
        <p:spPr>
          <a:xfrm>
            <a:off x="191751" y="9336878"/>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
            <a:hlinkClick action="ppaction://hlinksldjump" r:id="rId13"/>
          </p:cNvPr>
          <p:cNvSpPr/>
          <p:nvPr/>
        </p:nvSpPr>
        <p:spPr>
          <a:xfrm>
            <a:off x="266783" y="9336878"/>
            <a:ext cx="2709600" cy="1117697"/>
          </a:xfrm>
          <a:prstGeom prst="roundRect">
            <a:avLst>
              <a:gd fmla="val 10000" name="adj"/>
            </a:avLst>
          </a:prstGeom>
          <a:solidFill>
            <a:srgbClr val="E6E0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Créditos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Equipo de producción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9"/>
          <p:cNvSpPr/>
          <p:nvPr/>
        </p:nvSpPr>
        <p:spPr>
          <a:xfrm>
            <a:off x="3887703" y="1984772"/>
            <a:ext cx="14264640" cy="9228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4000"/>
              <a:buFont typeface="Arial"/>
              <a:buNone/>
            </a:pPr>
            <a:r>
              <a:rPr b="1" i="0" lang="es-CO" sz="3400" u="none" cap="none" strike="noStrike">
                <a:solidFill>
                  <a:srgbClr val="3D2159"/>
                </a:solidFill>
                <a:latin typeface="Arial"/>
                <a:ea typeface="Arial"/>
                <a:cs typeface="Arial"/>
                <a:sym typeface="Arial"/>
              </a:rPr>
              <a:t>Antes de una conversación difícil</a:t>
            </a:r>
            <a:endParaRPr b="0" i="0" sz="1400" u="none" cap="none" strike="noStrike">
              <a:solidFill>
                <a:srgbClr val="000000"/>
              </a:solidFill>
              <a:latin typeface="Arial"/>
              <a:ea typeface="Arial"/>
              <a:cs typeface="Arial"/>
              <a:sym typeface="Arial"/>
            </a:endParaRPr>
          </a:p>
        </p:txBody>
      </p:sp>
      <p:sp>
        <p:nvSpPr>
          <p:cNvPr id="358" name="Google Shape;358;p19"/>
          <p:cNvSpPr/>
          <p:nvPr/>
        </p:nvSpPr>
        <p:spPr>
          <a:xfrm>
            <a:off x="0" y="0"/>
            <a:ext cx="3168000" cy="10934700"/>
          </a:xfrm>
          <a:prstGeom prst="rect">
            <a:avLst/>
          </a:prstGeom>
          <a:solidFill>
            <a:srgbClr val="F5F3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9"/>
          <p:cNvSpPr/>
          <p:nvPr/>
        </p:nvSpPr>
        <p:spPr>
          <a:xfrm>
            <a:off x="3153046" y="0"/>
            <a:ext cx="15000" cy="10934700"/>
          </a:xfrm>
          <a:prstGeom prst="rect">
            <a:avLst/>
          </a:prstGeom>
          <a:solidFill>
            <a:srgbClr val="E0DA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9"/>
          <p:cNvSpPr/>
          <p:nvPr/>
        </p:nvSpPr>
        <p:spPr>
          <a:xfrm>
            <a:off x="191751" y="1550000"/>
            <a:ext cx="2784600" cy="14100"/>
          </a:xfrm>
          <a:prstGeom prst="rect">
            <a:avLst/>
          </a:prstGeom>
          <a:solidFill>
            <a:srgbClr val="D8D2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9"/>
          <p:cNvSpPr/>
          <p:nvPr/>
        </p:nvSpPr>
        <p:spPr>
          <a:xfrm>
            <a:off x="191751" y="1730000"/>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9">
            <a:hlinkClick action="ppaction://hlinksldjump" r:id="rId3"/>
          </p:cNvPr>
          <p:cNvSpPr/>
          <p:nvPr/>
        </p:nvSpPr>
        <p:spPr>
          <a:xfrm>
            <a:off x="266783" y="1730000"/>
            <a:ext cx="2709600" cy="1117697"/>
          </a:xfrm>
          <a:prstGeom prst="roundRect">
            <a:avLst>
              <a:gd fmla="val 10000" name="adj"/>
            </a:avLst>
          </a:prstGeom>
          <a:solidFill>
            <a:srgbClr val="E6E0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¿Qué es la inteligencia social?</a:t>
            </a:r>
            <a:endParaRPr b="0" i="0" sz="1400" u="none" cap="none" strike="noStrike">
              <a:solidFill>
                <a:srgbClr val="000000"/>
              </a:solidFill>
              <a:latin typeface="Arial"/>
              <a:ea typeface="Arial"/>
              <a:cs typeface="Arial"/>
              <a:sym typeface="Arial"/>
            </a:endParaRPr>
          </a:p>
        </p:txBody>
      </p:sp>
      <p:sp>
        <p:nvSpPr>
          <p:cNvPr id="363" name="Google Shape;363;p19"/>
          <p:cNvSpPr/>
          <p:nvPr/>
        </p:nvSpPr>
        <p:spPr>
          <a:xfrm>
            <a:off x="191751" y="2997813"/>
            <a:ext cx="75000" cy="1117697"/>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19">
            <a:hlinkClick action="ppaction://hlinksldjump" r:id="rId4"/>
          </p:cNvPr>
          <p:cNvSpPr/>
          <p:nvPr/>
        </p:nvSpPr>
        <p:spPr>
          <a:xfrm>
            <a:off x="266783" y="2997813"/>
            <a:ext cx="2709600" cy="1117697"/>
          </a:xfrm>
          <a:prstGeom prst="roundRect">
            <a:avLst>
              <a:gd fmla="val 10000" name="adj"/>
            </a:avLst>
          </a:prstGeom>
          <a:solidFill>
            <a:srgbClr val="F0DAEC"/>
          </a:solidFill>
          <a:ln cap="flat" cmpd="sng" w="19050">
            <a:solidFill>
              <a:srgbClr val="FFFFFF"/>
            </a:solidFill>
            <a:prstDash val="solid"/>
            <a:round/>
            <a:headEnd len="sm" w="sm" type="none"/>
            <a:tailEnd len="sm" w="sm" type="none"/>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Tres claves para relacionarnos</a:t>
            </a:r>
            <a:endParaRPr b="0" i="0" sz="1400" u="none" cap="none" strike="noStrike">
              <a:solidFill>
                <a:srgbClr val="000000"/>
              </a:solidFill>
              <a:latin typeface="Arial"/>
              <a:ea typeface="Arial"/>
              <a:cs typeface="Arial"/>
              <a:sym typeface="Arial"/>
            </a:endParaRPr>
          </a:p>
        </p:txBody>
      </p:sp>
      <p:sp>
        <p:nvSpPr>
          <p:cNvPr id="365" name="Google Shape;365;p19"/>
          <p:cNvSpPr/>
          <p:nvPr/>
        </p:nvSpPr>
        <p:spPr>
          <a:xfrm>
            <a:off x="191751" y="4265626"/>
            <a:ext cx="75000" cy="1117697"/>
          </a:xfrm>
          <a:prstGeom prst="rect">
            <a:avLst/>
          </a:prstGeom>
          <a:solidFill>
            <a:srgbClr val="467C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19">
            <a:hlinkClick action="ppaction://hlinksldjump" r:id="rId5"/>
          </p:cNvPr>
          <p:cNvSpPr/>
          <p:nvPr/>
        </p:nvSpPr>
        <p:spPr>
          <a:xfrm>
            <a:off x="266783" y="4265626"/>
            <a:ext cx="2709600" cy="1117697"/>
          </a:xfrm>
          <a:prstGeom prst="roundRect">
            <a:avLst>
              <a:gd fmla="val 10000" name="adj"/>
            </a:avLst>
          </a:prstGeom>
          <a:solidFill>
            <a:srgbClr val="E1EAFC"/>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Lo que se activa en nosotros</a:t>
            </a:r>
            <a:endParaRPr b="0" i="0" sz="1400" u="none" cap="none" strike="noStrike">
              <a:solidFill>
                <a:srgbClr val="000000"/>
              </a:solidFill>
              <a:latin typeface="Arial"/>
              <a:ea typeface="Arial"/>
              <a:cs typeface="Arial"/>
              <a:sym typeface="Arial"/>
            </a:endParaRPr>
          </a:p>
        </p:txBody>
      </p:sp>
      <p:sp>
        <p:nvSpPr>
          <p:cNvPr id="367" name="Google Shape;367;p19"/>
          <p:cNvSpPr/>
          <p:nvPr/>
        </p:nvSpPr>
        <p:spPr>
          <a:xfrm>
            <a:off x="191751" y="5533439"/>
            <a:ext cx="75000" cy="1117697"/>
          </a:xfrm>
          <a:prstGeom prst="rect">
            <a:avLst/>
          </a:prstGeom>
          <a:solidFill>
            <a:srgbClr val="3D2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19">
            <a:hlinkClick action="ppaction://hlinksldjump" r:id="rId6"/>
          </p:cNvPr>
          <p:cNvSpPr/>
          <p:nvPr/>
        </p:nvSpPr>
        <p:spPr>
          <a:xfrm>
            <a:off x="266783" y="5533439"/>
            <a:ext cx="2709600" cy="1117697"/>
          </a:xfrm>
          <a:prstGeom prst="roundRect">
            <a:avLst>
              <a:gd fmla="val 10000" name="adj"/>
            </a:avLst>
          </a:prstGeom>
          <a:solidFill>
            <a:srgbClr val="DFDBE4"/>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Practiquemos la empatía</a:t>
            </a:r>
            <a:endParaRPr b="0" i="0" sz="1400" u="none" cap="none" strike="noStrike">
              <a:solidFill>
                <a:srgbClr val="000000"/>
              </a:solidFill>
              <a:latin typeface="Arial"/>
              <a:ea typeface="Arial"/>
              <a:cs typeface="Arial"/>
              <a:sym typeface="Arial"/>
            </a:endParaRPr>
          </a:p>
        </p:txBody>
      </p:sp>
      <p:sp>
        <p:nvSpPr>
          <p:cNvPr id="369" name="Google Shape;369;p19"/>
          <p:cNvSpPr/>
          <p:nvPr/>
        </p:nvSpPr>
        <p:spPr>
          <a:xfrm>
            <a:off x="191751" y="6801252"/>
            <a:ext cx="75000" cy="1117697"/>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9">
            <a:hlinkClick action="ppaction://hlinksldjump" r:id="rId7"/>
          </p:cNvPr>
          <p:cNvSpPr/>
          <p:nvPr/>
        </p:nvSpPr>
        <p:spPr>
          <a:xfrm>
            <a:off x="266783" y="6801252"/>
            <a:ext cx="2709600" cy="1117697"/>
          </a:xfrm>
          <a:prstGeom prst="roundRect">
            <a:avLst>
              <a:gd fmla="val 10000" name="adj"/>
            </a:avLst>
          </a:prstGeom>
          <a:solidFill>
            <a:srgbClr val="D6E1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¿Cómo nos comunicamos?</a:t>
            </a:r>
            <a:endParaRPr b="0" i="0" sz="1400" u="none" cap="none" strike="noStrike">
              <a:solidFill>
                <a:srgbClr val="000000"/>
              </a:solidFill>
              <a:latin typeface="Arial"/>
              <a:ea typeface="Arial"/>
              <a:cs typeface="Arial"/>
              <a:sym typeface="Arial"/>
            </a:endParaRPr>
          </a:p>
        </p:txBody>
      </p:sp>
      <p:sp>
        <p:nvSpPr>
          <p:cNvPr id="371" name="Google Shape;371;p19"/>
          <p:cNvSpPr/>
          <p:nvPr/>
        </p:nvSpPr>
        <p:spPr>
          <a:xfrm>
            <a:off x="191751" y="8069065"/>
            <a:ext cx="75000" cy="1117697"/>
          </a:xfrm>
          <a:prstGeom prst="rect">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9">
            <a:hlinkClick action="ppaction://hlinksldjump" r:id="rId8"/>
          </p:cNvPr>
          <p:cNvSpPr/>
          <p:nvPr/>
        </p:nvSpPr>
        <p:spPr>
          <a:xfrm>
            <a:off x="266783" y="8069065"/>
            <a:ext cx="2709600" cy="1117697"/>
          </a:xfrm>
          <a:prstGeom prst="roundRect">
            <a:avLst>
              <a:gd fmla="val 10000" name="adj"/>
            </a:avLst>
          </a:prstGeom>
          <a:solidFill>
            <a:srgbClr val="FFD900"/>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Antes de una conversación difícil</a:t>
            </a:r>
            <a:endParaRPr b="0" i="0" sz="1400" u="none" cap="none" strike="noStrike">
              <a:solidFill>
                <a:srgbClr val="000000"/>
              </a:solidFill>
              <a:latin typeface="Arial"/>
              <a:ea typeface="Arial"/>
              <a:cs typeface="Arial"/>
              <a:sym typeface="Arial"/>
            </a:endParaRPr>
          </a:p>
        </p:txBody>
      </p:sp>
      <p:sp>
        <p:nvSpPr>
          <p:cNvPr id="373" name="Google Shape;373;p19"/>
          <p:cNvSpPr/>
          <p:nvPr/>
        </p:nvSpPr>
        <p:spPr>
          <a:xfrm>
            <a:off x="4591655" y="9872067"/>
            <a:ext cx="1588200" cy="476400"/>
          </a:xfrm>
          <a:prstGeom prst="roundRect">
            <a:avLst>
              <a:gd fmla="val 50000" name="adj"/>
            </a:avLst>
          </a:prstGeom>
          <a:solidFill>
            <a:srgbClr val="D8D2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9">
            <a:hlinkClick action="ppaction://hlinksldjump" r:id="rId9"/>
          </p:cNvPr>
          <p:cNvSpPr/>
          <p:nvPr/>
        </p:nvSpPr>
        <p:spPr>
          <a:xfrm>
            <a:off x="4591655" y="9812536"/>
            <a:ext cx="1588200" cy="476400"/>
          </a:xfrm>
          <a:prstGeom prst="roundRect">
            <a:avLst>
              <a:gd fmla="val 50000" name="adj"/>
            </a:avLst>
          </a:prstGeom>
          <a:solidFill>
            <a:srgbClr val="FFFFFF"/>
          </a:solidFill>
          <a:ln cap="flat" cmpd="sng" w="14275">
            <a:solidFill>
              <a:srgbClr val="664092"/>
            </a:solidFill>
            <a:prstDash val="solid"/>
            <a:round/>
            <a:headEnd len="sm" w="sm" type="none"/>
            <a:tailEnd len="sm" w="sm" type="none"/>
          </a:ln>
        </p:spPr>
        <p:txBody>
          <a:bodyPr anchorCtr="0" anchor="ctr" bIns="59525" lIns="148825" spcFirstLastPara="1" rIns="148825" wrap="square" tIns="59525">
            <a:noAutofit/>
          </a:bodyPr>
          <a:lstStyle/>
          <a:p>
            <a:pPr indent="0" lvl="0" marL="0" marR="0" rtl="0" algn="ctr">
              <a:lnSpc>
                <a:spcPct val="80000"/>
              </a:lnSpc>
              <a:spcBef>
                <a:spcPts val="0"/>
              </a:spcBef>
              <a:spcAft>
                <a:spcPts val="0"/>
              </a:spcAft>
              <a:buClr>
                <a:srgbClr val="000000"/>
              </a:buClr>
              <a:buSzPts val="1578"/>
              <a:buFont typeface="Arial"/>
              <a:buNone/>
            </a:pPr>
            <a:r>
              <a:rPr b="1" i="0" lang="es-CO" sz="1578" u="sng" cap="none" strike="noStrike">
                <a:solidFill>
                  <a:srgbClr val="663D8F"/>
                </a:solidFill>
                <a:latin typeface="Arial"/>
                <a:ea typeface="Arial"/>
                <a:cs typeface="Arial"/>
                <a:sym typeface="Arial"/>
              </a:rPr>
              <a:t>Anterior</a:t>
            </a:r>
            <a:endParaRPr b="0" i="0" sz="1400" u="none" cap="none" strike="noStrike">
              <a:solidFill>
                <a:srgbClr val="000000"/>
              </a:solidFill>
              <a:latin typeface="Arial"/>
              <a:ea typeface="Arial"/>
              <a:cs typeface="Arial"/>
              <a:sym typeface="Arial"/>
            </a:endParaRPr>
          </a:p>
        </p:txBody>
      </p:sp>
      <p:sp>
        <p:nvSpPr>
          <p:cNvPr id="375" name="Google Shape;375;p19">
            <a:hlinkClick action="ppaction://hlinksldjump" r:id="rId11"/>
          </p:cNvPr>
          <p:cNvSpPr/>
          <p:nvPr/>
        </p:nvSpPr>
        <p:spPr>
          <a:xfrm>
            <a:off x="191792" y="399700"/>
            <a:ext cx="75000" cy="984000"/>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9">
            <a:hlinkClick action="ppaction://hlinksldjump" r:id="rId11"/>
          </p:cNvPr>
          <p:cNvSpPr/>
          <p:nvPr/>
        </p:nvSpPr>
        <p:spPr>
          <a:xfrm>
            <a:off x="266825" y="399900"/>
            <a:ext cx="2709300" cy="984000"/>
          </a:xfrm>
          <a:prstGeom prst="roundRect">
            <a:avLst>
              <a:gd fmla="val 14000" name="adj"/>
            </a:avLst>
          </a:prstGeom>
          <a:solidFill>
            <a:srgbClr val="D1E0F2"/>
          </a:solidFill>
          <a:ln>
            <a:noFill/>
          </a:ln>
        </p:spPr>
        <p:txBody>
          <a:bodyPr anchorCtr="0" anchor="ctr" bIns="40000" lIns="160000" spcFirstLastPara="1" rIns="100000" wrap="square" tIns="40000">
            <a:noAutofit/>
          </a:bodyPr>
          <a:lstStyle/>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rgbClr val="000000"/>
              </a:solidFill>
              <a:latin typeface="Arial"/>
              <a:ea typeface="Arial"/>
              <a:cs typeface="Arial"/>
              <a:sym typeface="Arial"/>
            </a:endParaRPr>
          </a:p>
        </p:txBody>
      </p:sp>
      <p:pic>
        <p:nvPicPr>
          <p:cNvPr id="377" name="Google Shape;377;p19" title="correcciones sapiencia.png">
            <a:hlinkClick action="ppaction://hlinksldjump" r:id="rId11"/>
          </p:cNvPr>
          <p:cNvPicPr preferRelativeResize="0"/>
          <p:nvPr/>
        </p:nvPicPr>
        <p:blipFill rotWithShape="1">
          <a:blip r:embed="rId10">
            <a:alphaModFix/>
          </a:blip>
          <a:srcRect b="0" l="0" r="0" t="0"/>
          <a:stretch/>
        </p:blipFill>
        <p:spPr>
          <a:xfrm>
            <a:off x="266783" y="600314"/>
            <a:ext cx="486192" cy="486192"/>
          </a:xfrm>
          <a:prstGeom prst="rect">
            <a:avLst/>
          </a:prstGeom>
          <a:noFill/>
          <a:ln>
            <a:noFill/>
          </a:ln>
        </p:spPr>
      </p:pic>
      <p:sp>
        <p:nvSpPr>
          <p:cNvPr id="378" name="Google Shape;378;p19">
            <a:hlinkClick action="ppaction://hlinksldjump" r:id="rId11"/>
          </p:cNvPr>
          <p:cNvSpPr txBox="1"/>
          <p:nvPr/>
        </p:nvSpPr>
        <p:spPr>
          <a:xfrm>
            <a:off x="939099" y="660838"/>
            <a:ext cx="1541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s-CO" sz="1200" u="none" cap="none" strike="noStrike">
                <a:solidFill>
                  <a:srgbClr val="3D2159"/>
                </a:solidFill>
                <a:latin typeface="Arial"/>
                <a:ea typeface="Arial"/>
                <a:cs typeface="Arial"/>
                <a:sym typeface="Arial"/>
              </a:rPr>
              <a:t>Inteligencia social</a:t>
            </a:r>
            <a:endParaRPr b="1" i="0" sz="1200" u="none" cap="none" strike="noStrike">
              <a:solidFill>
                <a:srgbClr val="3D215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1" lang="es-CO" sz="1200" u="none" cap="none" strike="noStrike">
                <a:solidFill>
                  <a:srgbClr val="3D2159"/>
                </a:solidFill>
                <a:latin typeface="Arial"/>
                <a:ea typeface="Arial"/>
                <a:cs typeface="Arial"/>
                <a:sym typeface="Arial"/>
              </a:rPr>
              <a:t>Inicio</a:t>
            </a:r>
            <a:endParaRPr b="1" i="0" sz="1200" u="none" cap="none" strike="noStrike">
              <a:solidFill>
                <a:srgbClr val="A71989"/>
              </a:solidFill>
              <a:latin typeface="Arial"/>
              <a:ea typeface="Arial"/>
              <a:cs typeface="Arial"/>
              <a:sym typeface="Arial"/>
            </a:endParaRPr>
          </a:p>
        </p:txBody>
      </p:sp>
      <p:sp>
        <p:nvSpPr>
          <p:cNvPr id="379" name="Google Shape;379;p19"/>
          <p:cNvSpPr txBox="1"/>
          <p:nvPr/>
        </p:nvSpPr>
        <p:spPr>
          <a:xfrm>
            <a:off x="3886200" y="1481328"/>
            <a:ext cx="9144000" cy="329184"/>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500" u="none" cap="none" strike="noStrike">
                <a:solidFill>
                  <a:srgbClr val="A71989"/>
                </a:solidFill>
                <a:latin typeface="Arial"/>
                <a:ea typeface="Arial"/>
                <a:cs typeface="Arial"/>
                <a:sym typeface="Arial"/>
              </a:rPr>
              <a:t>Módulo 2 · Inteligencia social</a:t>
            </a:r>
            <a:endParaRPr/>
          </a:p>
        </p:txBody>
      </p:sp>
      <p:sp>
        <p:nvSpPr>
          <p:cNvPr id="380" name="Google Shape;380;p19"/>
          <p:cNvSpPr/>
          <p:nvPr/>
        </p:nvSpPr>
        <p:spPr>
          <a:xfrm>
            <a:off x="3886200" y="2834640"/>
            <a:ext cx="128016" cy="12801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19"/>
          <p:cNvSpPr/>
          <p:nvPr/>
        </p:nvSpPr>
        <p:spPr>
          <a:xfrm>
            <a:off x="4114800"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19"/>
          <p:cNvSpPr/>
          <p:nvPr/>
        </p:nvSpPr>
        <p:spPr>
          <a:xfrm>
            <a:off x="4334256"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 name="Google Shape;383;p19"/>
          <p:cNvSpPr/>
          <p:nvPr/>
        </p:nvSpPr>
        <p:spPr>
          <a:xfrm>
            <a:off x="4553712"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19"/>
          <p:cNvSpPr/>
          <p:nvPr/>
        </p:nvSpPr>
        <p:spPr>
          <a:xfrm>
            <a:off x="4782312"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19"/>
          <p:cNvSpPr/>
          <p:nvPr/>
        </p:nvSpPr>
        <p:spPr>
          <a:xfrm>
            <a:off x="5001768" y="2834640"/>
            <a:ext cx="128016" cy="12801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19"/>
          <p:cNvSpPr txBox="1"/>
          <p:nvPr/>
        </p:nvSpPr>
        <p:spPr>
          <a:xfrm>
            <a:off x="3886200" y="3200400"/>
            <a:ext cx="14264640" cy="45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700" u="none" cap="none" strike="noStrike">
                <a:solidFill>
                  <a:srgbClr val="3F3A48"/>
                </a:solidFill>
                <a:latin typeface="Arial"/>
                <a:ea typeface="Arial"/>
                <a:cs typeface="Arial"/>
                <a:sym typeface="Arial"/>
              </a:rPr>
              <a:t>Una conversación difícil requiere algo más que encontrar las palabras adecuadas. También importa revisar las condiciones en las que vamos a conversar.</a:t>
            </a:r>
            <a:endParaRPr/>
          </a:p>
        </p:txBody>
      </p:sp>
      <p:sp>
        <p:nvSpPr>
          <p:cNvPr id="387" name="Google Shape;387;p19"/>
          <p:cNvSpPr/>
          <p:nvPr/>
        </p:nvSpPr>
        <p:spPr>
          <a:xfrm>
            <a:off x="3886200" y="3931920"/>
            <a:ext cx="3360420" cy="2697480"/>
          </a:xfrm>
          <a:prstGeom prst="roundRect">
            <a:avLst>
              <a:gd fmla="val 8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19"/>
          <p:cNvSpPr/>
          <p:nvPr/>
        </p:nvSpPr>
        <p:spPr>
          <a:xfrm>
            <a:off x="3886200" y="3931920"/>
            <a:ext cx="3360420" cy="91440"/>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19"/>
          <p:cNvSpPr/>
          <p:nvPr/>
        </p:nvSpPr>
        <p:spPr>
          <a:xfrm>
            <a:off x="4160520" y="4251959"/>
            <a:ext cx="640080" cy="640080"/>
          </a:xfrm>
          <a:prstGeom prst="ellipse">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90" name="Google Shape;390;p19"/>
          <p:cNvPicPr preferRelativeResize="0"/>
          <p:nvPr/>
        </p:nvPicPr>
        <p:blipFill rotWithShape="1">
          <a:blip r:embed="rId12">
            <a:alphaModFix/>
          </a:blip>
          <a:srcRect b="0" l="0" r="0" t="0"/>
          <a:stretch/>
        </p:blipFill>
        <p:spPr>
          <a:xfrm>
            <a:off x="4288536" y="4379976"/>
            <a:ext cx="384048" cy="384048"/>
          </a:xfrm>
          <a:prstGeom prst="rect">
            <a:avLst/>
          </a:prstGeom>
          <a:noFill/>
          <a:ln>
            <a:noFill/>
          </a:ln>
        </p:spPr>
      </p:pic>
      <p:sp>
        <p:nvSpPr>
          <p:cNvPr id="391" name="Google Shape;391;p19"/>
          <p:cNvSpPr txBox="1"/>
          <p:nvPr/>
        </p:nvSpPr>
        <p:spPr>
          <a:xfrm>
            <a:off x="4937760" y="4251959"/>
            <a:ext cx="2171700" cy="64008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800" u="none" cap="none" strike="noStrike">
                <a:solidFill>
                  <a:srgbClr val="664092"/>
                </a:solidFill>
                <a:latin typeface="Arial"/>
                <a:ea typeface="Arial"/>
                <a:cs typeface="Arial"/>
                <a:sym typeface="Arial"/>
              </a:rPr>
              <a:t>Momento</a:t>
            </a:r>
            <a:endParaRPr/>
          </a:p>
        </p:txBody>
      </p:sp>
      <p:sp>
        <p:nvSpPr>
          <p:cNvPr id="392" name="Google Shape;392;p19"/>
          <p:cNvSpPr txBox="1"/>
          <p:nvPr/>
        </p:nvSpPr>
        <p:spPr>
          <a:xfrm>
            <a:off x="4160520" y="5074920"/>
            <a:ext cx="2857500" cy="17373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s-CO" sz="1350" u="none" cap="none" strike="noStrike">
                <a:solidFill>
                  <a:srgbClr val="3F3A48"/>
                </a:solidFill>
                <a:latin typeface="Arial"/>
                <a:ea typeface="Arial"/>
                <a:cs typeface="Arial"/>
                <a:sym typeface="Arial"/>
              </a:rPr>
              <a:t>¿Es un buen momento para hablar? ¿La otra persona y yo tenemos disposición para conversar?</a:t>
            </a:r>
            <a:endParaRPr/>
          </a:p>
        </p:txBody>
      </p:sp>
      <p:sp>
        <p:nvSpPr>
          <p:cNvPr id="393" name="Google Shape;393;p19"/>
          <p:cNvSpPr/>
          <p:nvPr/>
        </p:nvSpPr>
        <p:spPr>
          <a:xfrm>
            <a:off x="7520940" y="3931920"/>
            <a:ext cx="3360420" cy="2697480"/>
          </a:xfrm>
          <a:prstGeom prst="roundRect">
            <a:avLst>
              <a:gd fmla="val 8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19"/>
          <p:cNvSpPr/>
          <p:nvPr/>
        </p:nvSpPr>
        <p:spPr>
          <a:xfrm>
            <a:off x="7520940" y="3931920"/>
            <a:ext cx="3360420" cy="91440"/>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19"/>
          <p:cNvSpPr/>
          <p:nvPr/>
        </p:nvSpPr>
        <p:spPr>
          <a:xfrm>
            <a:off x="7795260" y="4251959"/>
            <a:ext cx="640080" cy="640080"/>
          </a:xfrm>
          <a:prstGeom prst="ellipse">
            <a:avLst/>
          </a:prstGeom>
          <a:solidFill>
            <a:srgbClr val="F6EB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96" name="Google Shape;396;p19"/>
          <p:cNvPicPr preferRelativeResize="0"/>
          <p:nvPr/>
        </p:nvPicPr>
        <p:blipFill rotWithShape="1">
          <a:blip r:embed="rId13">
            <a:alphaModFix/>
          </a:blip>
          <a:srcRect b="0" l="0" r="0" t="0"/>
          <a:stretch/>
        </p:blipFill>
        <p:spPr>
          <a:xfrm>
            <a:off x="7923275" y="4379976"/>
            <a:ext cx="384048" cy="384048"/>
          </a:xfrm>
          <a:prstGeom prst="rect">
            <a:avLst/>
          </a:prstGeom>
          <a:noFill/>
          <a:ln>
            <a:noFill/>
          </a:ln>
        </p:spPr>
      </p:pic>
      <p:sp>
        <p:nvSpPr>
          <p:cNvPr id="397" name="Google Shape;397;p19"/>
          <p:cNvSpPr txBox="1"/>
          <p:nvPr/>
        </p:nvSpPr>
        <p:spPr>
          <a:xfrm>
            <a:off x="8572500" y="4251959"/>
            <a:ext cx="2171700" cy="64008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800" u="none" cap="none" strike="noStrike">
                <a:solidFill>
                  <a:srgbClr val="A71989"/>
                </a:solidFill>
                <a:latin typeface="Arial"/>
                <a:ea typeface="Arial"/>
                <a:cs typeface="Arial"/>
                <a:sym typeface="Arial"/>
              </a:rPr>
              <a:t>Lugar</a:t>
            </a:r>
            <a:endParaRPr/>
          </a:p>
        </p:txBody>
      </p:sp>
      <p:sp>
        <p:nvSpPr>
          <p:cNvPr id="398" name="Google Shape;398;p19"/>
          <p:cNvSpPr txBox="1"/>
          <p:nvPr/>
        </p:nvSpPr>
        <p:spPr>
          <a:xfrm>
            <a:off x="7795260" y="5074920"/>
            <a:ext cx="2857500" cy="17373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s-CO" sz="1350" u="none" cap="none" strike="noStrike">
                <a:solidFill>
                  <a:srgbClr val="3F3A48"/>
                </a:solidFill>
                <a:latin typeface="Arial"/>
                <a:ea typeface="Arial"/>
                <a:cs typeface="Arial"/>
                <a:sym typeface="Arial"/>
              </a:rPr>
              <a:t>¿Podemos hablar en un espacio adecuado? ¿Tenemos privacidad y condiciones para escucharnos?</a:t>
            </a:r>
            <a:endParaRPr/>
          </a:p>
        </p:txBody>
      </p:sp>
      <p:sp>
        <p:nvSpPr>
          <p:cNvPr id="399" name="Google Shape;399;p19"/>
          <p:cNvSpPr/>
          <p:nvPr/>
        </p:nvSpPr>
        <p:spPr>
          <a:xfrm>
            <a:off x="11155680" y="3931920"/>
            <a:ext cx="3360420" cy="2697480"/>
          </a:xfrm>
          <a:prstGeom prst="roundRect">
            <a:avLst>
              <a:gd fmla="val 8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19"/>
          <p:cNvSpPr/>
          <p:nvPr/>
        </p:nvSpPr>
        <p:spPr>
          <a:xfrm>
            <a:off x="11155680" y="3931920"/>
            <a:ext cx="3360420" cy="91440"/>
          </a:xfrm>
          <a:prstGeom prst="rect">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19"/>
          <p:cNvSpPr/>
          <p:nvPr/>
        </p:nvSpPr>
        <p:spPr>
          <a:xfrm>
            <a:off x="11430000" y="4251959"/>
            <a:ext cx="640080" cy="640080"/>
          </a:xfrm>
          <a:prstGeom prst="ellipse">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02" name="Google Shape;402;p19"/>
          <p:cNvPicPr preferRelativeResize="0"/>
          <p:nvPr/>
        </p:nvPicPr>
        <p:blipFill rotWithShape="1">
          <a:blip r:embed="rId14">
            <a:alphaModFix/>
          </a:blip>
          <a:srcRect b="0" l="0" r="0" t="0"/>
          <a:stretch/>
        </p:blipFill>
        <p:spPr>
          <a:xfrm>
            <a:off x="11558015" y="4379976"/>
            <a:ext cx="384048" cy="384048"/>
          </a:xfrm>
          <a:prstGeom prst="rect">
            <a:avLst/>
          </a:prstGeom>
          <a:noFill/>
          <a:ln>
            <a:noFill/>
          </a:ln>
        </p:spPr>
      </p:pic>
      <p:sp>
        <p:nvSpPr>
          <p:cNvPr id="403" name="Google Shape;403;p19"/>
          <p:cNvSpPr txBox="1"/>
          <p:nvPr/>
        </p:nvSpPr>
        <p:spPr>
          <a:xfrm>
            <a:off x="12207240" y="4251959"/>
            <a:ext cx="2171700" cy="64008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800" u="none" cap="none" strike="noStrike">
                <a:solidFill>
                  <a:srgbClr val="2A56C6"/>
                </a:solidFill>
                <a:latin typeface="Arial"/>
                <a:ea typeface="Arial"/>
                <a:cs typeface="Arial"/>
                <a:sym typeface="Arial"/>
              </a:rPr>
              <a:t>Forma</a:t>
            </a:r>
            <a:endParaRPr/>
          </a:p>
        </p:txBody>
      </p:sp>
      <p:sp>
        <p:nvSpPr>
          <p:cNvPr id="404" name="Google Shape;404;p19"/>
          <p:cNvSpPr txBox="1"/>
          <p:nvPr/>
        </p:nvSpPr>
        <p:spPr>
          <a:xfrm>
            <a:off x="11430000" y="5074920"/>
            <a:ext cx="2857500" cy="17373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s-CO" sz="1350" u="none" cap="none" strike="noStrike">
                <a:solidFill>
                  <a:srgbClr val="3F3A48"/>
                </a:solidFill>
                <a:latin typeface="Arial"/>
                <a:ea typeface="Arial"/>
                <a:cs typeface="Arial"/>
                <a:sym typeface="Arial"/>
              </a:rPr>
              <a:t>¿Cómo voy a expresar lo que necesito decir? ¿Puedo hacerlo con claridad, firmeza y respeto?</a:t>
            </a:r>
            <a:endParaRPr/>
          </a:p>
        </p:txBody>
      </p:sp>
      <p:sp>
        <p:nvSpPr>
          <p:cNvPr id="405" name="Google Shape;405;p19"/>
          <p:cNvSpPr/>
          <p:nvPr/>
        </p:nvSpPr>
        <p:spPr>
          <a:xfrm>
            <a:off x="14790419" y="3931920"/>
            <a:ext cx="3360420" cy="2697480"/>
          </a:xfrm>
          <a:prstGeom prst="roundRect">
            <a:avLst>
              <a:gd fmla="val 8000" name="adj"/>
            </a:avLst>
          </a:prstGeom>
          <a:solidFill>
            <a:srgbClr val="FFFFFF"/>
          </a:solidFill>
          <a:ln cap="flat" cmpd="sng" w="15875">
            <a:solidFill>
              <a:srgbClr val="DDD6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19"/>
          <p:cNvSpPr/>
          <p:nvPr/>
        </p:nvSpPr>
        <p:spPr>
          <a:xfrm>
            <a:off x="14790419" y="3931920"/>
            <a:ext cx="3360420" cy="91440"/>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19"/>
          <p:cNvSpPr/>
          <p:nvPr/>
        </p:nvSpPr>
        <p:spPr>
          <a:xfrm>
            <a:off x="15064739" y="4251959"/>
            <a:ext cx="640080" cy="640080"/>
          </a:xfrm>
          <a:prstGeom prst="ellipse">
            <a:avLst/>
          </a:prstGeom>
          <a:solidFill>
            <a:srgbClr val="E6EE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08" name="Google Shape;408;p19"/>
          <p:cNvPicPr preferRelativeResize="0"/>
          <p:nvPr/>
        </p:nvPicPr>
        <p:blipFill rotWithShape="1">
          <a:blip r:embed="rId15">
            <a:alphaModFix/>
          </a:blip>
          <a:srcRect b="0" l="0" r="0" t="0"/>
          <a:stretch/>
        </p:blipFill>
        <p:spPr>
          <a:xfrm>
            <a:off x="15192755" y="4379976"/>
            <a:ext cx="384048" cy="384048"/>
          </a:xfrm>
          <a:prstGeom prst="rect">
            <a:avLst/>
          </a:prstGeom>
          <a:noFill/>
          <a:ln>
            <a:noFill/>
          </a:ln>
        </p:spPr>
      </p:pic>
      <p:sp>
        <p:nvSpPr>
          <p:cNvPr id="409" name="Google Shape;409;p19"/>
          <p:cNvSpPr txBox="1"/>
          <p:nvPr/>
        </p:nvSpPr>
        <p:spPr>
          <a:xfrm>
            <a:off x="15841979" y="4251959"/>
            <a:ext cx="2171700" cy="64008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800" u="none" cap="none" strike="noStrike">
                <a:solidFill>
                  <a:srgbClr val="024791"/>
                </a:solidFill>
                <a:latin typeface="Arial"/>
                <a:ea typeface="Arial"/>
                <a:cs typeface="Arial"/>
                <a:sym typeface="Arial"/>
              </a:rPr>
              <a:t>Persona</a:t>
            </a:r>
            <a:endParaRPr/>
          </a:p>
        </p:txBody>
      </p:sp>
      <p:sp>
        <p:nvSpPr>
          <p:cNvPr id="410" name="Google Shape;410;p19"/>
          <p:cNvSpPr txBox="1"/>
          <p:nvPr/>
        </p:nvSpPr>
        <p:spPr>
          <a:xfrm>
            <a:off x="15064739" y="5074920"/>
            <a:ext cx="2857500" cy="17373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s-CO" sz="1350" u="none" cap="none" strike="noStrike">
                <a:solidFill>
                  <a:srgbClr val="3F3A48"/>
                </a:solidFill>
                <a:latin typeface="Arial"/>
                <a:ea typeface="Arial"/>
                <a:cs typeface="Arial"/>
                <a:sym typeface="Arial"/>
              </a:rPr>
              <a:t>¿Estoy hablando directamente con quien corresponde? ¿Estoy evitando trasladar el conflicto a terceros?</a:t>
            </a:r>
            <a:endParaRPr/>
          </a:p>
        </p:txBody>
      </p:sp>
      <p:sp>
        <p:nvSpPr>
          <p:cNvPr id="411" name="Google Shape;411;p19"/>
          <p:cNvSpPr/>
          <p:nvPr/>
        </p:nvSpPr>
        <p:spPr>
          <a:xfrm>
            <a:off x="3886200" y="6858000"/>
            <a:ext cx="14264640" cy="777240"/>
          </a:xfrm>
          <a:prstGeom prst="roundRect">
            <a:avLst>
              <a:gd fmla="val 20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19"/>
          <p:cNvSpPr txBox="1"/>
          <p:nvPr/>
        </p:nvSpPr>
        <p:spPr>
          <a:xfrm>
            <a:off x="4206240" y="6858000"/>
            <a:ext cx="13716000" cy="77724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500" u="none" cap="none" strike="noStrike">
                <a:solidFill>
                  <a:srgbClr val="024791"/>
                </a:solidFill>
                <a:latin typeface="Arial"/>
                <a:ea typeface="Arial"/>
                <a:cs typeface="Arial"/>
                <a:sym typeface="Arial"/>
              </a:rPr>
              <a:t>Piensa en una conversación difícil que necesites tener. Antes de iniciarla, revisa los cuatro filtros: ¿cuál necesitas cuidar especialmente?</a:t>
            </a:r>
            <a:endParaRPr/>
          </a:p>
        </p:txBody>
      </p:sp>
      <p:sp>
        <p:nvSpPr>
          <p:cNvPr id="413" name="Google Shape;413;p19"/>
          <p:cNvSpPr/>
          <p:nvPr/>
        </p:nvSpPr>
        <p:spPr>
          <a:xfrm>
            <a:off x="3886200" y="7772400"/>
            <a:ext cx="14264640" cy="777240"/>
          </a:xfrm>
          <a:prstGeom prst="roundRect">
            <a:avLst>
              <a:gd fmla="val 20000" name="adj"/>
            </a:avLst>
          </a:prstGeom>
          <a:solidFill>
            <a:srgbClr val="3D2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19"/>
          <p:cNvSpPr txBox="1"/>
          <p:nvPr/>
        </p:nvSpPr>
        <p:spPr>
          <a:xfrm>
            <a:off x="4206240" y="7772400"/>
            <a:ext cx="13716000" cy="77724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1500" u="none" cap="none" strike="noStrike">
                <a:solidFill>
                  <a:srgbClr val="FFD900"/>
                </a:solidFill>
                <a:latin typeface="Arial"/>
                <a:ea typeface="Arial"/>
                <a:cs typeface="Arial"/>
                <a:sym typeface="Arial"/>
              </a:rPr>
              <a:t>Cierre: </a:t>
            </a:r>
            <a:r>
              <a:rPr b="0" i="0" lang="es-CO" sz="1500" u="none" cap="none" strike="noStrike">
                <a:solidFill>
                  <a:srgbClr val="FFFFFF"/>
                </a:solidFill>
                <a:latin typeface="Arial"/>
                <a:ea typeface="Arial"/>
                <a:cs typeface="Arial"/>
                <a:sym typeface="Arial"/>
              </a:rPr>
              <a:t>una comunicación asertiva también empieza antes de hablar: comienza cuando elegimos cómo, cuándo, dónde y con quién conversar.</a:t>
            </a:r>
            <a:endParaRPr/>
          </a:p>
        </p:txBody>
      </p:sp>
      <p:sp>
        <p:nvSpPr>
          <p:cNvPr id="32" name="Google Shape;32;p1">
            <a:hlinkClick action="ppaction://hlinksldjump" r:id="rId16"/>
          </p:cNvPr>
          <p:cNvSpPr/>
          <p:nvPr/>
        </p:nvSpPr>
        <p:spPr>
          <a:xfrm>
            <a:off x="191751" y="9336878"/>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
            <a:hlinkClick action="ppaction://hlinksldjump" r:id="rId16"/>
          </p:cNvPr>
          <p:cNvSpPr/>
          <p:nvPr/>
        </p:nvSpPr>
        <p:spPr>
          <a:xfrm>
            <a:off x="266783" y="9336878"/>
            <a:ext cx="2709600" cy="1117697"/>
          </a:xfrm>
          <a:prstGeom prst="roundRect">
            <a:avLst>
              <a:gd fmla="val 10000" name="adj"/>
            </a:avLst>
          </a:prstGeom>
          <a:solidFill>
            <a:srgbClr val="E6E0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Créditos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Equipo de producción</a:t>
            </a:r>
            <a:endParaRPr b="0" i="0" sz="1400" u="none" cap="none" strike="noStrike">
              <a:solidFill>
                <a:srgbClr val="000000"/>
              </a:solidFill>
              <a:latin typeface="Arial"/>
              <a:ea typeface="Arial"/>
              <a:cs typeface="Arial"/>
              <a:sym typeface="Arial"/>
            </a:endParaRPr>
          </a:p>
        </p:txBody>
      </p:sp>
      <p:sp>
        <p:nvSpPr>
          <p:cNvPr id="73" name="Google Shape;73;p4">
            <a:hlinkClick action="ppaction://hlinksldjump" r:id="rId16"/>
          </p:cNvPr>
          <p:cNvSpPr/>
          <p:nvPr/>
        </p:nvSpPr>
        <p:spPr>
          <a:xfrm>
            <a:off x="6378374" y="9812536"/>
            <a:ext cx="2034900" cy="476400"/>
          </a:xfrm>
          <a:prstGeom prst="roundRect">
            <a:avLst>
              <a:gd fmla="val 50000" name="adj"/>
            </a:avLst>
          </a:prstGeom>
          <a:solidFill>
            <a:srgbClr val="FFD900"/>
          </a:solidFill>
          <a:ln>
            <a:noFill/>
          </a:ln>
        </p:spPr>
        <p:txBody>
          <a:bodyPr anchorCtr="0" anchor="ctr" bIns="59525" lIns="148825" spcFirstLastPara="1" rIns="148825" wrap="square" tIns="59525">
            <a:noAutofit/>
          </a:bodyPr>
          <a:lstStyle/>
          <a:p>
            <a:pPr indent="0" lvl="0" marL="0" marR="0" rtl="0" algn="ctr">
              <a:lnSpc>
                <a:spcPct val="80000"/>
              </a:lnSpc>
              <a:spcBef>
                <a:spcPts val="0"/>
              </a:spcBef>
              <a:spcAft>
                <a:spcPts val="0"/>
              </a:spcAft>
              <a:buClr>
                <a:srgbClr val="000000"/>
              </a:buClr>
              <a:buSzPts val="1578"/>
              <a:buFont typeface="Arial"/>
              <a:buNone/>
            </a:pPr>
            <a:r>
              <a:rPr b="1" i="0" lang="es-CO" sz="1578" u="sng" cap="none" strike="noStrike">
                <a:solidFill>
                  <a:srgbClr val="663D8F"/>
                </a:solidFill>
                <a:latin typeface="Arial"/>
                <a:ea typeface="Arial"/>
                <a:cs typeface="Arial"/>
                <a:sym typeface="Arial"/>
              </a:rPr>
              <a:t>Siguiente</a:t>
            </a:r>
            <a:endParaRPr b="1" i="0" sz="1578" u="sng" cap="none" strike="noStrike">
              <a:solidFill>
                <a:srgbClr val="663D8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58" name="Google Shape;358;p19"/>
          <p:cNvSpPr/>
          <p:nvPr/>
        </p:nvSpPr>
        <p:spPr>
          <a:xfrm>
            <a:off x="0" y="0"/>
            <a:ext cx="3168000" cy="10934700"/>
          </a:xfrm>
          <a:prstGeom prst="rect">
            <a:avLst/>
          </a:prstGeom>
          <a:solidFill>
            <a:srgbClr val="F5F3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9"/>
          <p:cNvSpPr/>
          <p:nvPr/>
        </p:nvSpPr>
        <p:spPr>
          <a:xfrm>
            <a:off x="3153046" y="0"/>
            <a:ext cx="15000" cy="10934700"/>
          </a:xfrm>
          <a:prstGeom prst="rect">
            <a:avLst/>
          </a:prstGeom>
          <a:solidFill>
            <a:srgbClr val="E0DA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9"/>
          <p:cNvSpPr/>
          <p:nvPr/>
        </p:nvSpPr>
        <p:spPr>
          <a:xfrm>
            <a:off x="191751" y="1550000"/>
            <a:ext cx="2784600" cy="14100"/>
          </a:xfrm>
          <a:prstGeom prst="rect">
            <a:avLst/>
          </a:prstGeom>
          <a:solidFill>
            <a:srgbClr val="D8D2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9">
            <a:hlinkClick action="ppaction://hlinksldjump" r:id="rId3"/>
          </p:cNvPr>
          <p:cNvSpPr/>
          <p:nvPr/>
        </p:nvSpPr>
        <p:spPr>
          <a:xfrm>
            <a:off x="191792" y="399700"/>
            <a:ext cx="75000" cy="984000"/>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9">
            <a:hlinkClick action="ppaction://hlinksldjump" r:id="rId3"/>
          </p:cNvPr>
          <p:cNvSpPr/>
          <p:nvPr/>
        </p:nvSpPr>
        <p:spPr>
          <a:xfrm>
            <a:off x="266825" y="399900"/>
            <a:ext cx="2709300" cy="984000"/>
          </a:xfrm>
          <a:prstGeom prst="roundRect">
            <a:avLst>
              <a:gd fmla="val 14000" name="adj"/>
            </a:avLst>
          </a:prstGeom>
          <a:solidFill>
            <a:srgbClr val="D1E0F2"/>
          </a:solidFill>
          <a:ln>
            <a:noFill/>
          </a:ln>
        </p:spPr>
        <p:txBody>
          <a:bodyPr anchorCtr="0" anchor="ctr" bIns="40000" lIns="160000" spcFirstLastPara="1" rIns="100000" wrap="square" tIns="40000">
            <a:noAutofit/>
          </a:bodyPr>
          <a:lstStyle/>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rgbClr val="000000"/>
              </a:solidFill>
              <a:latin typeface="Arial"/>
              <a:ea typeface="Arial"/>
              <a:cs typeface="Arial"/>
              <a:sym typeface="Arial"/>
            </a:endParaRPr>
          </a:p>
        </p:txBody>
      </p:sp>
      <p:pic>
        <p:nvPicPr>
          <p:cNvPr id="377" name="Picture 376" descr="image.png">
            <a:hlinkClick action="ppaction://hlinksldjump" r:id="rId3"/>
          </p:cNvPr>
          <p:cNvPicPr>
            <a:picLocks noChangeAspect="1"/>
          </p:cNvPicPr>
          <p:nvPr/>
        </p:nvPicPr>
        <p:blipFill>
          <a:blip r:embed="rId2"/>
          <a:stretch>
            <a:fillRect/>
          </a:stretch>
        </p:blipFill>
        <p:spPr>
          <a:xfrm>
            <a:off x="266783" y="600314"/>
            <a:ext cx="486192" cy="486192"/>
          </a:xfrm>
          <a:prstGeom prst="rect">
            <a:avLst/>
          </a:prstGeom>
        </p:spPr>
      </p:pic>
      <p:sp>
        <p:nvSpPr>
          <p:cNvPr id="378" name="Google Shape;378;p19">
            <a:hlinkClick action="ppaction://hlinksldjump" r:id="rId3"/>
          </p:cNvPr>
          <p:cNvSpPr txBox="1"/>
          <p:nvPr/>
        </p:nvSpPr>
        <p:spPr>
          <a:xfrm>
            <a:off x="939099" y="660838"/>
            <a:ext cx="1541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s-CO" sz="1200" u="none" cap="none" strike="noStrike">
                <a:solidFill>
                  <a:srgbClr val="3D2159"/>
                </a:solidFill>
                <a:latin typeface="Arial"/>
                <a:ea typeface="Arial"/>
                <a:cs typeface="Arial"/>
                <a:sym typeface="Arial"/>
              </a:rPr>
              <a:t>Inteligencia social</a:t>
            </a:r>
            <a:endParaRPr b="1" i="0" sz="1200" u="none" cap="none" strike="noStrike">
              <a:solidFill>
                <a:srgbClr val="3D215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1" lang="es-CO" sz="1200" u="none" cap="none" strike="noStrike">
                <a:solidFill>
                  <a:srgbClr val="3D2159"/>
                </a:solidFill>
                <a:latin typeface="Arial"/>
                <a:ea typeface="Arial"/>
                <a:cs typeface="Arial"/>
                <a:sym typeface="Arial"/>
              </a:rPr>
              <a:t>Inicio</a:t>
            </a:r>
            <a:endParaRPr b="1" i="0" sz="1200" u="none" cap="none" strike="noStrike">
              <a:solidFill>
                <a:srgbClr val="A71989"/>
              </a:solidFill>
              <a:latin typeface="Arial"/>
              <a:ea typeface="Arial"/>
              <a:cs typeface="Arial"/>
              <a:sym typeface="Arial"/>
            </a:endParaRPr>
          </a:p>
        </p:txBody>
      </p:sp>
      <p:sp>
        <p:nvSpPr>
          <p:cNvPr id="32" name="Google Shape;32;p1"/>
          <p:cNvSpPr/>
          <p:nvPr/>
        </p:nvSpPr>
        <p:spPr>
          <a:xfrm>
            <a:off x="191751" y="1730000"/>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
            <a:hlinkClick action="ppaction://hlinksldjump" r:id="rId4"/>
          </p:cNvPr>
          <p:cNvSpPr/>
          <p:nvPr/>
        </p:nvSpPr>
        <p:spPr>
          <a:xfrm>
            <a:off x="266783" y="1730000"/>
            <a:ext cx="2709600" cy="1117697"/>
          </a:xfrm>
          <a:prstGeom prst="roundRect">
            <a:avLst>
              <a:gd fmla="val 10000" name="adj"/>
            </a:avLst>
          </a:prstGeom>
          <a:solidFill>
            <a:srgbClr val="E6E0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¿Qué es la inteligencia social?</a:t>
            </a:r>
            <a:endParaRPr b="0" i="0" sz="1400" u="none" cap="none" strike="noStrike">
              <a:solidFill>
                <a:srgbClr val="000000"/>
              </a:solidFill>
              <a:latin typeface="Arial"/>
              <a:ea typeface="Arial"/>
              <a:cs typeface="Arial"/>
              <a:sym typeface="Arial"/>
            </a:endParaRPr>
          </a:p>
        </p:txBody>
      </p:sp>
      <p:sp>
        <p:nvSpPr>
          <p:cNvPr id="34" name="Google Shape;34;p1"/>
          <p:cNvSpPr/>
          <p:nvPr/>
        </p:nvSpPr>
        <p:spPr>
          <a:xfrm>
            <a:off x="191751" y="2997813"/>
            <a:ext cx="75000" cy="1117697"/>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1">
            <a:hlinkClick action="ppaction://hlinksldjump" r:id="rId5"/>
          </p:cNvPr>
          <p:cNvSpPr/>
          <p:nvPr/>
        </p:nvSpPr>
        <p:spPr>
          <a:xfrm>
            <a:off x="266783" y="2997813"/>
            <a:ext cx="2709600" cy="1117697"/>
          </a:xfrm>
          <a:prstGeom prst="roundRect">
            <a:avLst>
              <a:gd fmla="val 10000" name="adj"/>
            </a:avLst>
          </a:prstGeom>
          <a:solidFill>
            <a:srgbClr val="F0DAEC"/>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Tres claves para relacionarnos</a:t>
            </a:r>
            <a:endParaRPr b="0" i="0" sz="1400" u="none" cap="none" strike="noStrike">
              <a:solidFill>
                <a:srgbClr val="000000"/>
              </a:solidFill>
              <a:latin typeface="Arial"/>
              <a:ea typeface="Arial"/>
              <a:cs typeface="Arial"/>
              <a:sym typeface="Arial"/>
            </a:endParaRPr>
          </a:p>
        </p:txBody>
      </p:sp>
      <p:sp>
        <p:nvSpPr>
          <p:cNvPr id="36" name="Google Shape;36;p1"/>
          <p:cNvSpPr/>
          <p:nvPr/>
        </p:nvSpPr>
        <p:spPr>
          <a:xfrm>
            <a:off x="191751" y="4265626"/>
            <a:ext cx="75000" cy="1117697"/>
          </a:xfrm>
          <a:prstGeom prst="rect">
            <a:avLst/>
          </a:prstGeom>
          <a:solidFill>
            <a:srgbClr val="467C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
            <a:hlinkClick action="ppaction://hlinksldjump" r:id="rId6"/>
          </p:cNvPr>
          <p:cNvSpPr/>
          <p:nvPr/>
        </p:nvSpPr>
        <p:spPr>
          <a:xfrm>
            <a:off x="266783" y="4265626"/>
            <a:ext cx="2709600" cy="1117697"/>
          </a:xfrm>
          <a:prstGeom prst="roundRect">
            <a:avLst>
              <a:gd fmla="val 10000" name="adj"/>
            </a:avLst>
          </a:prstGeom>
          <a:solidFill>
            <a:srgbClr val="E1EAFC"/>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Lo que se activa en nosotros</a:t>
            </a:r>
            <a:endParaRPr b="0" i="0" sz="1400" u="none" cap="none" strike="noStrike">
              <a:solidFill>
                <a:srgbClr val="000000"/>
              </a:solidFill>
              <a:latin typeface="Arial"/>
              <a:ea typeface="Arial"/>
              <a:cs typeface="Arial"/>
              <a:sym typeface="Arial"/>
            </a:endParaRPr>
          </a:p>
        </p:txBody>
      </p:sp>
      <p:sp>
        <p:nvSpPr>
          <p:cNvPr id="38" name="Google Shape;38;p1"/>
          <p:cNvSpPr/>
          <p:nvPr/>
        </p:nvSpPr>
        <p:spPr>
          <a:xfrm>
            <a:off x="191751" y="5533439"/>
            <a:ext cx="75000" cy="1117697"/>
          </a:xfrm>
          <a:prstGeom prst="rect">
            <a:avLst/>
          </a:prstGeom>
          <a:solidFill>
            <a:srgbClr val="3D2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
            <a:hlinkClick action="ppaction://hlinksldjump" r:id="rId7"/>
          </p:cNvPr>
          <p:cNvSpPr/>
          <p:nvPr/>
        </p:nvSpPr>
        <p:spPr>
          <a:xfrm>
            <a:off x="266783" y="5533439"/>
            <a:ext cx="2709600" cy="1117697"/>
          </a:xfrm>
          <a:prstGeom prst="roundRect">
            <a:avLst>
              <a:gd fmla="val 10000" name="adj"/>
            </a:avLst>
          </a:prstGeom>
          <a:solidFill>
            <a:srgbClr val="DFDBE4"/>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Practiquemos la empatía</a:t>
            </a:r>
            <a:endParaRPr b="0" i="0" sz="1400" u="none" cap="none" strike="noStrike">
              <a:solidFill>
                <a:srgbClr val="000000"/>
              </a:solidFill>
              <a:latin typeface="Arial"/>
              <a:ea typeface="Arial"/>
              <a:cs typeface="Arial"/>
              <a:sym typeface="Arial"/>
            </a:endParaRPr>
          </a:p>
        </p:txBody>
      </p:sp>
      <p:sp>
        <p:nvSpPr>
          <p:cNvPr id="40" name="Google Shape;40;p1"/>
          <p:cNvSpPr/>
          <p:nvPr/>
        </p:nvSpPr>
        <p:spPr>
          <a:xfrm>
            <a:off x="191751" y="6801252"/>
            <a:ext cx="75000" cy="1117697"/>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
            <a:hlinkClick action="ppaction://hlinksldjump" r:id="rId8"/>
          </p:cNvPr>
          <p:cNvSpPr/>
          <p:nvPr/>
        </p:nvSpPr>
        <p:spPr>
          <a:xfrm>
            <a:off x="266783" y="6801252"/>
            <a:ext cx="2709600" cy="1117697"/>
          </a:xfrm>
          <a:prstGeom prst="roundRect">
            <a:avLst>
              <a:gd fmla="val 10000" name="adj"/>
            </a:avLst>
          </a:prstGeom>
          <a:solidFill>
            <a:srgbClr val="D6E1ED"/>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¿Cómo nos comunicamos?</a:t>
            </a:r>
            <a:endParaRPr b="0" i="0" sz="1400" u="none" cap="none" strike="noStrike">
              <a:solidFill>
                <a:srgbClr val="000000"/>
              </a:solidFill>
              <a:latin typeface="Arial"/>
              <a:ea typeface="Arial"/>
              <a:cs typeface="Arial"/>
              <a:sym typeface="Arial"/>
            </a:endParaRPr>
          </a:p>
        </p:txBody>
      </p:sp>
      <p:sp>
        <p:nvSpPr>
          <p:cNvPr id="42" name="Google Shape;42;p1"/>
          <p:cNvSpPr/>
          <p:nvPr/>
        </p:nvSpPr>
        <p:spPr>
          <a:xfrm>
            <a:off x="191751" y="8069065"/>
            <a:ext cx="75000" cy="1117697"/>
          </a:xfrm>
          <a:prstGeom prst="rect">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
            <a:hlinkClick action="ppaction://hlinksldjump" r:id="rId9"/>
          </p:cNvPr>
          <p:cNvSpPr/>
          <p:nvPr/>
        </p:nvSpPr>
        <p:spPr>
          <a:xfrm>
            <a:off x="266783" y="8069065"/>
            <a:ext cx="2709600" cy="1117697"/>
          </a:xfrm>
          <a:prstGeom prst="roundRect">
            <a:avLst>
              <a:gd fmla="val 10000" name="adj"/>
            </a:avLst>
          </a:prstGeom>
          <a:solidFill>
            <a:srgbClr val="FFF8D6"/>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3D2159"/>
                </a:solidFill>
                <a:latin typeface="Arial"/>
                <a:ea typeface="Arial"/>
                <a:cs typeface="Arial"/>
                <a:sym typeface="Arial"/>
              </a:rPr>
              <a:t>Pantalla 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3D2159"/>
                </a:solidFill>
                <a:latin typeface="Arial"/>
                <a:ea typeface="Arial"/>
                <a:cs typeface="Arial"/>
                <a:sym typeface="Arial"/>
              </a:rPr>
              <a:t>Antes de una conversación difícil</a:t>
            </a:r>
            <a:endParaRPr b="0" i="0" sz="1400" u="none" cap="none" strike="noStrike">
              <a:solidFill>
                <a:srgbClr val="000000"/>
              </a:solidFill>
              <a:latin typeface="Arial"/>
              <a:ea typeface="Arial"/>
              <a:cs typeface="Arial"/>
              <a:sym typeface="Arial"/>
            </a:endParaRPr>
          </a:p>
        </p:txBody>
      </p:sp>
      <p:sp>
        <p:nvSpPr>
          <p:cNvPr id="54" name="Google Shape;54;p4"/>
          <p:cNvSpPr/>
          <p:nvPr/>
        </p:nvSpPr>
        <p:spPr>
          <a:xfrm>
            <a:off x="3887703" y="1984772"/>
            <a:ext cx="14264640" cy="9228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4000"/>
              <a:buFont typeface="Arial"/>
              <a:buNone/>
            </a:pPr>
            <a:r>
              <a:rPr b="1" i="0" lang="es-CO" sz="3400" u="none" cap="none" strike="noStrike">
                <a:solidFill>
                  <a:srgbClr val="3D2159"/>
                </a:solidFill>
                <a:latin typeface="Arial"/>
                <a:ea typeface="Arial"/>
                <a:cs typeface="Arial"/>
                <a:sym typeface="Arial"/>
              </a:rPr>
              <a:t>Créditos de producción y postproducción</a:t>
            </a:r>
            <a:endParaRPr b="0" i="0" sz="1400" u="none" cap="none" strike="noStrike">
              <a:solidFill>
                <a:srgbClr val="000000"/>
              </a:solidFill>
              <a:latin typeface="Arial"/>
              <a:ea typeface="Arial"/>
              <a:cs typeface="Arial"/>
              <a:sym typeface="Arial"/>
            </a:endParaRPr>
          </a:p>
        </p:txBody>
      </p:sp>
      <p:sp>
        <p:nvSpPr>
          <p:cNvPr id="78" name="Google Shape;78;p4"/>
          <p:cNvSpPr txBox="1"/>
          <p:nvPr/>
        </p:nvSpPr>
        <p:spPr>
          <a:xfrm>
            <a:off x="3886200" y="1481328"/>
            <a:ext cx="9144000" cy="329184"/>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500" u="none" cap="none" strike="noStrike">
                <a:solidFill>
                  <a:srgbClr val="A71989"/>
                </a:solidFill>
                <a:latin typeface="Arial"/>
                <a:ea typeface="Arial"/>
                <a:cs typeface="Arial"/>
                <a:sym typeface="Arial"/>
              </a:rPr>
              <a:t>Créditos</a:t>
            </a:r>
            <a:endParaRPr/>
          </a:p>
        </p:txBody>
      </p:sp>
      <p:sp>
        <p:nvSpPr>
          <p:cNvPr id="79" name="Google Shape;79;p4"/>
          <p:cNvSpPr/>
          <p:nvPr/>
        </p:nvSpPr>
        <p:spPr>
          <a:xfrm>
            <a:off x="3886200" y="2834640"/>
            <a:ext cx="128016" cy="12801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 name="Google Shape;80;p4"/>
          <p:cNvSpPr/>
          <p:nvPr/>
        </p:nvSpPr>
        <p:spPr>
          <a:xfrm>
            <a:off x="4114800"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 name="Google Shape;81;p4"/>
          <p:cNvSpPr/>
          <p:nvPr/>
        </p:nvSpPr>
        <p:spPr>
          <a:xfrm>
            <a:off x="4334256"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 name="Google Shape;82;p4"/>
          <p:cNvSpPr/>
          <p:nvPr/>
        </p:nvSpPr>
        <p:spPr>
          <a:xfrm>
            <a:off x="4553712"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 name="Google Shape;83;p4"/>
          <p:cNvSpPr/>
          <p:nvPr/>
        </p:nvSpPr>
        <p:spPr>
          <a:xfrm>
            <a:off x="4782312" y="2852928"/>
            <a:ext cx="91440" cy="9144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 name="Google Shape;84;p4"/>
          <p:cNvSpPr/>
          <p:nvPr/>
        </p:nvSpPr>
        <p:spPr>
          <a:xfrm>
            <a:off x="5001768" y="2834640"/>
            <a:ext cx="128016" cy="12801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 name="Google Shape;58;p4">
            <a:hlinkClick action="ppaction://hlinksldjump" r:id="rId10"/>
          </p:cNvPr>
          <p:cNvSpPr/>
          <p:nvPr/>
        </p:nvSpPr>
        <p:spPr>
          <a:xfrm>
            <a:off x="191751" y="9336878"/>
            <a:ext cx="75000" cy="1117697"/>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4">
            <a:hlinkClick action="ppaction://hlinksldjump" r:id="rId10"/>
          </p:cNvPr>
          <p:cNvSpPr/>
          <p:nvPr/>
        </p:nvSpPr>
        <p:spPr>
          <a:xfrm>
            <a:off x="266783" y="9336878"/>
            <a:ext cx="2709600" cy="1117697"/>
          </a:xfrm>
          <a:prstGeom prst="roundRect">
            <a:avLst>
              <a:gd fmla="val 10000" name="adj"/>
            </a:avLst>
          </a:prstGeom>
          <a:solidFill>
            <a:srgbClr val="664092"/>
          </a:solidFill>
          <a:ln>
            <a:noFill/>
          </a:ln>
        </p:spPr>
        <p:txBody>
          <a:bodyPr anchorCtr="0" anchor="ctr" bIns="90000" lIns="180000" spcFirstLastPara="1" rIns="120000" wrap="square" tIns="90000">
            <a:noAutofit/>
          </a:bodyPr>
          <a:lstStyle/>
          <a:p>
            <a:pPr indent="0" lvl="0" marL="0" marR="0" rtl="0" algn="l">
              <a:lnSpc>
                <a:spcPct val="100000"/>
              </a:lnSpc>
              <a:spcBef>
                <a:spcPts val="0"/>
              </a:spcBef>
              <a:spcAft>
                <a:spcPts val="0"/>
              </a:spcAft>
              <a:buClr>
                <a:srgbClr val="000000"/>
              </a:buClr>
              <a:buSzPts val="1300"/>
              <a:buFont typeface="Arial"/>
              <a:buNone/>
            </a:pPr>
            <a:r>
              <a:rPr b="1" i="0" lang="es-CO" sz="1300" u="none" cap="none" strike="noStrike">
                <a:solidFill>
                  <a:srgbClr val="FFFFFF"/>
                </a:solidFill>
                <a:latin typeface="Arial"/>
                <a:ea typeface="Arial"/>
                <a:cs typeface="Arial"/>
                <a:sym typeface="Arial"/>
              </a:rPr>
              <a:t>Créditos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CO" sz="1100" u="none" cap="none" strike="noStrike">
                <a:solidFill>
                  <a:srgbClr val="FFFFFF"/>
                </a:solidFill>
                <a:latin typeface="Arial"/>
                <a:ea typeface="Arial"/>
                <a:cs typeface="Arial"/>
                <a:sym typeface="Arial"/>
              </a:rPr>
              <a:t>Equipo de producción</a:t>
            </a:r>
            <a:endParaRPr b="0" i="0" sz="1400" u="none" cap="none" strike="noStrike">
              <a:solidFill>
                <a:srgbClr val="000000"/>
              </a:solidFill>
              <a:latin typeface="Arial"/>
              <a:ea typeface="Arial"/>
              <a:cs typeface="Arial"/>
              <a:sym typeface="Arial"/>
            </a:endParaRPr>
          </a:p>
        </p:txBody>
      </p:sp>
      <p:sp>
        <p:nvSpPr>
          <p:cNvPr id="374" name="Google Shape;374;p19">
            <a:hlinkClick action="ppaction://hlinksldjump" r:id="rId9"/>
          </p:cNvPr>
          <p:cNvSpPr/>
          <p:nvPr/>
        </p:nvSpPr>
        <p:spPr>
          <a:xfrm>
            <a:off x="4591655" y="9812536"/>
            <a:ext cx="1588200" cy="476400"/>
          </a:xfrm>
          <a:prstGeom prst="roundRect">
            <a:avLst>
              <a:gd fmla="val 50000" name="adj"/>
            </a:avLst>
          </a:prstGeom>
          <a:solidFill>
            <a:srgbClr val="FFFFFF"/>
          </a:solidFill>
          <a:ln cap="flat" cmpd="sng" w="14275">
            <a:solidFill>
              <a:srgbClr val="664092"/>
            </a:solidFill>
            <a:prstDash val="solid"/>
            <a:round/>
            <a:headEnd len="sm" w="sm" type="none"/>
            <a:tailEnd len="sm" w="sm" type="none"/>
          </a:ln>
        </p:spPr>
        <p:txBody>
          <a:bodyPr anchorCtr="0" anchor="ctr" bIns="59525" lIns="148825" spcFirstLastPara="1" rIns="148825" wrap="square" tIns="59525">
            <a:noAutofit/>
          </a:bodyPr>
          <a:lstStyle/>
          <a:p>
            <a:pPr indent="0" lvl="0" marL="0" marR="0" rtl="0" algn="ctr">
              <a:lnSpc>
                <a:spcPct val="80000"/>
              </a:lnSpc>
              <a:spcBef>
                <a:spcPts val="0"/>
              </a:spcBef>
              <a:spcAft>
                <a:spcPts val="0"/>
              </a:spcAft>
              <a:buClr>
                <a:srgbClr val="000000"/>
              </a:buClr>
              <a:buSzPts val="1578"/>
              <a:buFont typeface="Arial"/>
              <a:buNone/>
            </a:pPr>
            <a:r>
              <a:rPr b="1" i="0" lang="es-CO" sz="1578" u="sng" cap="none" strike="noStrike">
                <a:solidFill>
                  <a:srgbClr val="663D8F"/>
                </a:solidFill>
                <a:latin typeface="Arial"/>
                <a:ea typeface="Arial"/>
                <a:cs typeface="Arial"/>
                <a:sym typeface="Arial"/>
              </a:rPr>
              <a:t>Anterior</a:t>
            </a:r>
            <a:endParaRPr b="0" i="0" sz="1400" u="none" cap="none" strike="noStrike">
              <a:solidFill>
                <a:srgbClr val="000000"/>
              </a:solidFill>
              <a:latin typeface="Arial"/>
              <a:ea typeface="Arial"/>
              <a:cs typeface="Arial"/>
              <a:sym typeface="Arial"/>
            </a:endParaRPr>
          </a:p>
        </p:txBody>
      </p:sp>
      <p:sp>
        <p:nvSpPr>
          <p:cNvPr id="840" name="Google Shape;840;p18"/>
          <p:cNvSpPr/>
          <p:nvPr/>
        </p:nvSpPr>
        <p:spPr>
          <a:xfrm>
            <a:off x="3886200" y="3429000"/>
            <a:ext cx="6949440" cy="96012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1" name="Google Shape;841;p18"/>
          <p:cNvSpPr/>
          <p:nvPr/>
        </p:nvSpPr>
        <p:spPr>
          <a:xfrm>
            <a:off x="3886200" y="3429000"/>
            <a:ext cx="91440" cy="960120"/>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2" name="Google Shape;842;p18"/>
          <p:cNvSpPr txBox="1"/>
          <p:nvPr/>
        </p:nvSpPr>
        <p:spPr>
          <a:xfrm>
            <a:off x="4206240" y="3538728"/>
            <a:ext cx="640080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300" u="none" cap="none" strike="noStrike">
                <a:solidFill>
                  <a:srgbClr val="664092"/>
                </a:solidFill>
                <a:latin typeface="Arial"/>
                <a:ea typeface="Arial"/>
                <a:cs typeface="Arial"/>
                <a:sym typeface="Arial"/>
              </a:rPr>
              <a:t>Coordinación general</a:t>
            </a:r>
            <a:endParaRPr/>
          </a:p>
        </p:txBody>
      </p:sp>
      <p:sp>
        <p:nvSpPr>
          <p:cNvPr id="843" name="Google Shape;843;p18"/>
          <p:cNvSpPr txBox="1"/>
          <p:nvPr/>
        </p:nvSpPr>
        <p:spPr>
          <a:xfrm>
            <a:off x="4206240" y="3904487"/>
            <a:ext cx="6400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600" u="none" cap="none" strike="noStrike">
                <a:solidFill>
                  <a:srgbClr val="3D2159"/>
                </a:solidFill>
                <a:latin typeface="Arial"/>
                <a:ea typeface="Arial"/>
                <a:cs typeface="Arial"/>
                <a:sym typeface="Arial"/>
              </a:rPr>
              <a:t>Luz Dary Morales Galvis</a:t>
            </a:r>
            <a:endParaRPr/>
          </a:p>
        </p:txBody>
      </p:sp>
      <p:sp>
        <p:nvSpPr>
          <p:cNvPr id="844" name="Google Shape;844;p18"/>
          <p:cNvSpPr/>
          <p:nvPr/>
        </p:nvSpPr>
        <p:spPr>
          <a:xfrm>
            <a:off x="11155680" y="3429000"/>
            <a:ext cx="6949440" cy="96012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5" name="Google Shape;845;p18"/>
          <p:cNvSpPr/>
          <p:nvPr/>
        </p:nvSpPr>
        <p:spPr>
          <a:xfrm>
            <a:off x="11155680" y="3429000"/>
            <a:ext cx="91440" cy="960120"/>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6" name="Google Shape;846;p18"/>
          <p:cNvSpPr txBox="1"/>
          <p:nvPr/>
        </p:nvSpPr>
        <p:spPr>
          <a:xfrm>
            <a:off x="11475719" y="3538728"/>
            <a:ext cx="640080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300" u="none" cap="none" strike="noStrike">
                <a:solidFill>
                  <a:srgbClr val="A71989"/>
                </a:solidFill>
                <a:latin typeface="Arial"/>
                <a:ea typeface="Arial"/>
                <a:cs typeface="Arial"/>
                <a:sym typeface="Arial"/>
              </a:rPr>
              <a:t>Experto temático</a:t>
            </a:r>
            <a:endParaRPr/>
          </a:p>
        </p:txBody>
      </p:sp>
      <p:sp>
        <p:nvSpPr>
          <p:cNvPr id="847" name="Google Shape;847;p18"/>
          <p:cNvSpPr txBox="1"/>
          <p:nvPr/>
        </p:nvSpPr>
        <p:spPr>
          <a:xfrm>
            <a:off x="11475719" y="3904487"/>
            <a:ext cx="6400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600" u="none" cap="none" strike="noStrike">
                <a:solidFill>
                  <a:srgbClr val="3D2159"/>
                </a:solidFill>
                <a:latin typeface="Arial"/>
                <a:ea typeface="Arial"/>
                <a:cs typeface="Arial"/>
                <a:sym typeface="Arial"/>
              </a:rPr>
              <a:t>Guiovana Arango Martínez</a:t>
            </a:r>
            <a:endParaRPr/>
          </a:p>
        </p:txBody>
      </p:sp>
      <p:sp>
        <p:nvSpPr>
          <p:cNvPr id="848" name="Google Shape;848;p18"/>
          <p:cNvSpPr/>
          <p:nvPr/>
        </p:nvSpPr>
        <p:spPr>
          <a:xfrm>
            <a:off x="3886200" y="4572000"/>
            <a:ext cx="6949440" cy="96012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9" name="Google Shape;849;p18"/>
          <p:cNvSpPr/>
          <p:nvPr/>
        </p:nvSpPr>
        <p:spPr>
          <a:xfrm>
            <a:off x="3886200" y="4572000"/>
            <a:ext cx="91440" cy="960120"/>
          </a:xfrm>
          <a:prstGeom prst="rect">
            <a:avLst/>
          </a:prstGeom>
          <a:solidFill>
            <a:srgbClr val="467C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0" name="Google Shape;850;p18"/>
          <p:cNvSpPr txBox="1"/>
          <p:nvPr/>
        </p:nvSpPr>
        <p:spPr>
          <a:xfrm>
            <a:off x="4206240" y="4681728"/>
            <a:ext cx="640080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300" u="none" cap="none" strike="noStrike">
                <a:solidFill>
                  <a:srgbClr val="2A56C6"/>
                </a:solidFill>
                <a:latin typeface="Arial"/>
                <a:ea typeface="Arial"/>
                <a:cs typeface="Arial"/>
                <a:sym typeface="Arial"/>
              </a:rPr>
              <a:t>Diseñador de la experiencia virtual de aprendizaje</a:t>
            </a:r>
            <a:endParaRPr/>
          </a:p>
        </p:txBody>
      </p:sp>
      <p:sp>
        <p:nvSpPr>
          <p:cNvPr id="851" name="Google Shape;851;p18"/>
          <p:cNvSpPr txBox="1"/>
          <p:nvPr/>
        </p:nvSpPr>
        <p:spPr>
          <a:xfrm>
            <a:off x="4206240" y="5047488"/>
            <a:ext cx="6400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600" u="none" cap="none" strike="noStrike">
                <a:solidFill>
                  <a:srgbClr val="3D2159"/>
                </a:solidFill>
                <a:latin typeface="Arial"/>
                <a:ea typeface="Arial"/>
                <a:cs typeface="Arial"/>
                <a:sym typeface="Arial"/>
              </a:rPr>
              <a:t>Stevenson Rodas Gómez</a:t>
            </a:r>
            <a:endParaRPr/>
          </a:p>
        </p:txBody>
      </p:sp>
      <p:sp>
        <p:nvSpPr>
          <p:cNvPr id="852" name="Google Shape;852;p18"/>
          <p:cNvSpPr/>
          <p:nvPr/>
        </p:nvSpPr>
        <p:spPr>
          <a:xfrm>
            <a:off x="11155680" y="4572000"/>
            <a:ext cx="6949440" cy="96012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3" name="Google Shape;853;p18"/>
          <p:cNvSpPr/>
          <p:nvPr/>
        </p:nvSpPr>
        <p:spPr>
          <a:xfrm>
            <a:off x="11155680" y="4572000"/>
            <a:ext cx="91440" cy="960120"/>
          </a:xfrm>
          <a:prstGeom prst="rect">
            <a:avLst/>
          </a:prstGeom>
          <a:solidFill>
            <a:srgbClr val="3D2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4" name="Google Shape;854;p18"/>
          <p:cNvSpPr txBox="1"/>
          <p:nvPr/>
        </p:nvSpPr>
        <p:spPr>
          <a:xfrm>
            <a:off x="11475719" y="4681728"/>
            <a:ext cx="640080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300" u="none" cap="none" strike="noStrike">
                <a:solidFill>
                  <a:srgbClr val="3D2159"/>
                </a:solidFill>
                <a:latin typeface="Arial"/>
                <a:ea typeface="Arial"/>
                <a:cs typeface="Arial"/>
                <a:sym typeface="Arial"/>
              </a:rPr>
              <a:t>Corrección de estilo</a:t>
            </a:r>
            <a:endParaRPr/>
          </a:p>
        </p:txBody>
      </p:sp>
      <p:sp>
        <p:nvSpPr>
          <p:cNvPr id="855" name="Google Shape;855;p18"/>
          <p:cNvSpPr txBox="1"/>
          <p:nvPr/>
        </p:nvSpPr>
        <p:spPr>
          <a:xfrm>
            <a:off x="11475719" y="5047488"/>
            <a:ext cx="6400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600" u="none" cap="none" strike="noStrike">
                <a:solidFill>
                  <a:srgbClr val="3D2159"/>
                </a:solidFill>
                <a:latin typeface="Arial"/>
                <a:ea typeface="Arial"/>
                <a:cs typeface="Arial"/>
                <a:sym typeface="Arial"/>
              </a:rPr>
              <a:t>Stevenson Rodas Gómez y Sergio Andrés Ocampo Rivera</a:t>
            </a:r>
            <a:endParaRPr/>
          </a:p>
        </p:txBody>
      </p:sp>
      <p:sp>
        <p:nvSpPr>
          <p:cNvPr id="856" name="Google Shape;856;p18"/>
          <p:cNvSpPr/>
          <p:nvPr/>
        </p:nvSpPr>
        <p:spPr>
          <a:xfrm>
            <a:off x="3886200" y="5715000"/>
            <a:ext cx="6949440" cy="96012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7" name="Google Shape;857;p18"/>
          <p:cNvSpPr/>
          <p:nvPr/>
        </p:nvSpPr>
        <p:spPr>
          <a:xfrm>
            <a:off x="3886200" y="5715000"/>
            <a:ext cx="91440" cy="960120"/>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8" name="Google Shape;858;p18"/>
          <p:cNvSpPr txBox="1"/>
          <p:nvPr/>
        </p:nvSpPr>
        <p:spPr>
          <a:xfrm>
            <a:off x="4206240" y="5824728"/>
            <a:ext cx="640080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300" u="none" cap="none" strike="noStrike">
                <a:solidFill>
                  <a:srgbClr val="664092"/>
                </a:solidFill>
                <a:latin typeface="Arial"/>
                <a:ea typeface="Arial"/>
                <a:cs typeface="Arial"/>
                <a:sym typeface="Arial"/>
              </a:rPr>
              <a:t>Validación pedagógica</a:t>
            </a:r>
            <a:endParaRPr/>
          </a:p>
        </p:txBody>
      </p:sp>
      <p:sp>
        <p:nvSpPr>
          <p:cNvPr id="859" name="Google Shape;859;p18"/>
          <p:cNvSpPr txBox="1"/>
          <p:nvPr/>
        </p:nvSpPr>
        <p:spPr>
          <a:xfrm>
            <a:off x="4206240" y="6190488"/>
            <a:ext cx="6400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600" u="none" cap="none" strike="noStrike">
                <a:solidFill>
                  <a:srgbClr val="3D2159"/>
                </a:solidFill>
                <a:latin typeface="Arial"/>
                <a:ea typeface="Arial"/>
                <a:cs typeface="Arial"/>
                <a:sym typeface="Arial"/>
              </a:rPr>
              <a:t>Sandra Patricia Hoyos Sepúlveda</a:t>
            </a:r>
            <a:endParaRPr/>
          </a:p>
        </p:txBody>
      </p:sp>
      <p:sp>
        <p:nvSpPr>
          <p:cNvPr id="860" name="Google Shape;860;p18"/>
          <p:cNvSpPr/>
          <p:nvPr/>
        </p:nvSpPr>
        <p:spPr>
          <a:xfrm>
            <a:off x="11155680" y="5715000"/>
            <a:ext cx="6949440" cy="96012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1" name="Google Shape;861;p18"/>
          <p:cNvSpPr/>
          <p:nvPr/>
        </p:nvSpPr>
        <p:spPr>
          <a:xfrm>
            <a:off x="11155680" y="5715000"/>
            <a:ext cx="91440" cy="960120"/>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2" name="Google Shape;862;p18"/>
          <p:cNvSpPr txBox="1"/>
          <p:nvPr/>
        </p:nvSpPr>
        <p:spPr>
          <a:xfrm>
            <a:off x="11475719" y="5824728"/>
            <a:ext cx="640080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300" u="none" cap="none" strike="noStrike">
                <a:solidFill>
                  <a:srgbClr val="A71989"/>
                </a:solidFill>
                <a:latin typeface="Arial"/>
                <a:ea typeface="Arial"/>
                <a:cs typeface="Arial"/>
                <a:sym typeface="Arial"/>
              </a:rPr>
              <a:t>Diseño gráfico</a:t>
            </a:r>
            <a:endParaRPr/>
          </a:p>
        </p:txBody>
      </p:sp>
      <p:sp>
        <p:nvSpPr>
          <p:cNvPr id="863" name="Google Shape;863;p18"/>
          <p:cNvSpPr txBox="1"/>
          <p:nvPr/>
        </p:nvSpPr>
        <p:spPr>
          <a:xfrm>
            <a:off x="11475719" y="6190488"/>
            <a:ext cx="6400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600" u="none" cap="none" strike="noStrike">
                <a:solidFill>
                  <a:srgbClr val="3D2159"/>
                </a:solidFill>
                <a:latin typeface="Arial"/>
                <a:ea typeface="Arial"/>
                <a:cs typeface="Arial"/>
                <a:sym typeface="Arial"/>
              </a:rPr>
              <a:t>Andrea Valentina Roa Orozco</a:t>
            </a:r>
            <a:endParaRPr/>
          </a:p>
        </p:txBody>
      </p:sp>
      <p:sp>
        <p:nvSpPr>
          <p:cNvPr id="864" name="Google Shape;864;p18"/>
          <p:cNvSpPr/>
          <p:nvPr/>
        </p:nvSpPr>
        <p:spPr>
          <a:xfrm>
            <a:off x="3886200" y="6858000"/>
            <a:ext cx="6949440" cy="96012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5" name="Google Shape;865;p18"/>
          <p:cNvSpPr/>
          <p:nvPr/>
        </p:nvSpPr>
        <p:spPr>
          <a:xfrm>
            <a:off x="3886200" y="6858000"/>
            <a:ext cx="91440" cy="960120"/>
          </a:xfrm>
          <a:prstGeom prst="rect">
            <a:avLst/>
          </a:prstGeom>
          <a:solidFill>
            <a:srgbClr val="467C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6" name="Google Shape;866;p18"/>
          <p:cNvSpPr txBox="1"/>
          <p:nvPr/>
        </p:nvSpPr>
        <p:spPr>
          <a:xfrm>
            <a:off x="4206240" y="6967728"/>
            <a:ext cx="64008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300" u="none" cap="none" strike="noStrike">
                <a:solidFill>
                  <a:srgbClr val="2A56C6"/>
                </a:solidFill>
                <a:latin typeface="Arial"/>
                <a:ea typeface="Arial"/>
                <a:cs typeface="Arial"/>
                <a:sym typeface="Arial"/>
              </a:rPr>
              <a:t>Desarrollo </a:t>
            </a:r>
            <a:r>
              <a:rPr b="1" lang="es-CO" sz="1300">
                <a:solidFill>
                  <a:srgbClr val="2A56C6"/>
                </a:solidFill>
              </a:rPr>
              <a:t>d</a:t>
            </a:r>
            <a:r>
              <a:rPr b="1" i="0" lang="es-CO" sz="1300" u="none" cap="none" strike="noStrike">
                <a:solidFill>
                  <a:srgbClr val="2A56C6"/>
                </a:solidFill>
                <a:latin typeface="Arial"/>
                <a:ea typeface="Arial"/>
                <a:cs typeface="Arial"/>
                <a:sym typeface="Arial"/>
              </a:rPr>
              <a:t>e interactivos</a:t>
            </a:r>
            <a:endParaRPr/>
          </a:p>
        </p:txBody>
      </p:sp>
      <p:sp>
        <p:nvSpPr>
          <p:cNvPr id="867" name="Google Shape;867;p18"/>
          <p:cNvSpPr txBox="1"/>
          <p:nvPr/>
        </p:nvSpPr>
        <p:spPr>
          <a:xfrm>
            <a:off x="4206240" y="7333488"/>
            <a:ext cx="6400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600" u="none" cap="none" strike="noStrike">
                <a:solidFill>
                  <a:srgbClr val="3D2159"/>
                </a:solidFill>
                <a:latin typeface="Arial"/>
                <a:ea typeface="Arial"/>
                <a:cs typeface="Arial"/>
                <a:sym typeface="Arial"/>
              </a:rPr>
              <a:t>Paola Andrea Quintero Aguilar</a:t>
            </a:r>
            <a:endParaRPr/>
          </a:p>
        </p:txBody>
      </p:sp>
      <p:sp>
        <p:nvSpPr>
          <p:cNvPr id="868" name="Google Shape;868;p18"/>
          <p:cNvSpPr/>
          <p:nvPr/>
        </p:nvSpPr>
        <p:spPr>
          <a:xfrm>
            <a:off x="11155680" y="6858000"/>
            <a:ext cx="6949440" cy="96012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9" name="Google Shape;869;p18"/>
          <p:cNvSpPr/>
          <p:nvPr/>
        </p:nvSpPr>
        <p:spPr>
          <a:xfrm>
            <a:off x="11155680" y="6858000"/>
            <a:ext cx="91440" cy="960120"/>
          </a:xfrm>
          <a:prstGeom prst="rect">
            <a:avLst/>
          </a:prstGeom>
          <a:solidFill>
            <a:srgbClr val="3D2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0" name="Google Shape;870;p18"/>
          <p:cNvSpPr txBox="1"/>
          <p:nvPr/>
        </p:nvSpPr>
        <p:spPr>
          <a:xfrm>
            <a:off x="11475719" y="6967728"/>
            <a:ext cx="640080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300" u="none" cap="none" strike="noStrike">
                <a:solidFill>
                  <a:srgbClr val="3D2159"/>
                </a:solidFill>
                <a:latin typeface="Arial"/>
                <a:ea typeface="Arial"/>
                <a:cs typeface="Arial"/>
                <a:sym typeface="Arial"/>
              </a:rPr>
              <a:t>Disposición y ensamble</a:t>
            </a:r>
            <a:endParaRPr/>
          </a:p>
        </p:txBody>
      </p:sp>
      <p:sp>
        <p:nvSpPr>
          <p:cNvPr id="871" name="Google Shape;871;p18"/>
          <p:cNvSpPr txBox="1"/>
          <p:nvPr/>
        </p:nvSpPr>
        <p:spPr>
          <a:xfrm>
            <a:off x="11475719" y="7333488"/>
            <a:ext cx="6400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1600" u="none" cap="none" strike="noStrike">
                <a:solidFill>
                  <a:srgbClr val="3D2159"/>
                </a:solidFill>
                <a:latin typeface="Arial"/>
                <a:ea typeface="Arial"/>
                <a:cs typeface="Arial"/>
                <a:sym typeface="Arial"/>
              </a:rPr>
              <a:t>Samayda Herrera Betancur</a:t>
            </a:r>
            <a:endParaRPr/>
          </a:p>
        </p:txBody>
      </p:sp>
      <p:sp>
        <p:nvSpPr>
          <p:cNvPr id="872" name="Google Shape;872;p18"/>
          <p:cNvSpPr txBox="1"/>
          <p:nvPr/>
        </p:nvSpPr>
        <p:spPr>
          <a:xfrm>
            <a:off x="3886200" y="8092440"/>
            <a:ext cx="1421892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s-CO" sz="1200" u="none" cap="none" strike="noStrike">
                <a:solidFill>
                  <a:srgbClr val="6B6570"/>
                </a:solidFill>
                <a:latin typeface="Arial"/>
                <a:ea typeface="Arial"/>
                <a:cs typeface="Arial"/>
                <a:sym typeface="Arial"/>
              </a:rPr>
              <a:t>Proyecto C.I. 278 de 2026 · @Medellín — SAPIENCIA · Última actualización: octubre de 2026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2026-08-27T19:14:29Z</dcterms:created>
  <dc:creator>Walnut Exporter</dc:creator>
</cp:coreProperties>
</file>