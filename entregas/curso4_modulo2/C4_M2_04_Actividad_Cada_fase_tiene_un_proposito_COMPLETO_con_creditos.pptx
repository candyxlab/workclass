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8" r:id="rId13"/>
    <p:sldId id="279" r:id="rId14"/>
    <p:sldId id="274" r:id="rId20"/>
    <p:sldId id="275" r:id="rId21"/>
    <p:sldId id="277" r:id="rId23"/>
  </p:sldIdLst>
  <p:sldSz cx="19050000" cy="109347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44">
          <p15:clr>
            <a:srgbClr val="A4A3A4"/>
          </p15:clr>
        </p15:guide>
        <p15:guide id="2" pos="5002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gRLobvM1VNIuYSNzRCYEg55Tvn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600" y="-90"/>
      </p:cViewPr>
      <p:guideLst>
        <p:guide orient="horz" pos="3444"/>
        <p:guide pos="50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49453" y="0"/>
            <a:ext cx="25011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3"/>
              <a:buFont typeface="Arial"/>
              <a:buNone/>
            </a:pPr>
            <a:endParaRPr sz="28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" name="Google Shape;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12838" y="0"/>
            <a:ext cx="522605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9453" y="0"/>
            <a:ext cx="25011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9453" y="0"/>
            <a:ext cx="25011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702332"/>
            <a:ext cx="19050000" cy="152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45987" y="570075"/>
            <a:ext cx="6219825" cy="968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slide" Target="slide6.xml"/><Relationship Id="rId14" Type="http://schemas.openxmlformats.org/officeDocument/2006/relationships/slide" Target="slide7.xml"/><Relationship Id="rId15" Type="http://schemas.openxmlformats.org/officeDocument/2006/relationships/slide" Target="slide19.xml"/><Relationship Id="rId16" Type="http://schemas.openxmlformats.org/officeDocument/2006/relationships/slide" Target="slide22.xml"/><Relationship Id="rId17" Type="http://schemas.openxmlformats.org/officeDocument/2006/relationships/slide" Target="slide1.xml"/><Relationship Id="rId20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Relationship Id="rId9" Type="http://schemas.openxmlformats.org/officeDocument/2006/relationships/image" Target="../media/image21.png"/><Relationship Id="rId10" Type="http://schemas.openxmlformats.org/officeDocument/2006/relationships/slide" Target="slide6.xml"/><Relationship Id="rId11" Type="http://schemas.openxmlformats.org/officeDocument/2006/relationships/slide" Target="slide7.xml"/><Relationship Id="rId12" Type="http://schemas.openxmlformats.org/officeDocument/2006/relationships/slide" Target="slide19.xml"/><Relationship Id="rId13" Type="http://schemas.openxmlformats.org/officeDocument/2006/relationships/slide" Target="slide22.xml"/><Relationship Id="rId14" Type="http://schemas.openxmlformats.org/officeDocument/2006/relationships/slide" Target="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Relationship Id="rId9" Type="http://schemas.openxmlformats.org/officeDocument/2006/relationships/image" Target="../media/image21.png"/><Relationship Id="rId10" Type="http://schemas.openxmlformats.org/officeDocument/2006/relationships/slide" Target="slide6.xml"/><Relationship Id="rId11" Type="http://schemas.openxmlformats.org/officeDocument/2006/relationships/slide" Target="slide7.xml"/><Relationship Id="rId12" Type="http://schemas.openxmlformats.org/officeDocument/2006/relationships/slide" Target="slide19.xml"/><Relationship Id="rId13" Type="http://schemas.openxmlformats.org/officeDocument/2006/relationships/slide" Target="slide22.xml"/><Relationship Id="rId14" Type="http://schemas.openxmlformats.org/officeDocument/2006/relationships/slide" Target="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5" Type="http://schemas.openxmlformats.org/officeDocument/2006/relationships/slide" Target="slide20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19.xml"/><Relationship Id="rId9" Type="http://schemas.openxmlformats.org/officeDocument/2006/relationships/slide" Target="slide22.xml"/><Relationship Id="rId10" Type="http://schemas.openxmlformats.org/officeDocument/2006/relationships/slide" Target="slide1.xml"/><Relationship Id="rId11" Type="http://schemas.openxmlformats.org/officeDocument/2006/relationships/image" Target="../media/image12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19.xml"/><Relationship Id="rId9" Type="http://schemas.openxmlformats.org/officeDocument/2006/relationships/slide" Target="slide22.xml"/><Relationship Id="rId10" Type="http://schemas.openxmlformats.org/officeDocument/2006/relationships/slide" Target="slide1.xml"/><Relationship Id="rId11" Type="http://schemas.openxmlformats.org/officeDocument/2006/relationships/image" Target="../media/image12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19.xml"/><Relationship Id="rId6" Type="http://schemas.openxmlformats.org/officeDocument/2006/relationships/slide" Target="slide22.xml"/><Relationship Id="rId7" Type="http://schemas.openxmlformats.org/officeDocument/2006/relationships/slide" Target="slide1.xml"/><Relationship Id="rId8" Type="http://schemas.openxmlformats.org/officeDocument/2006/relationships/slide" Target="slide20.xml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4425" y="-177800"/>
            <a:ext cx="17123301" cy="111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4">
            <a:alphaModFix amt="35000"/>
          </a:blip>
          <a:srcRect l="27082"/>
          <a:stretch/>
        </p:blipFill>
        <p:spPr>
          <a:xfrm>
            <a:off x="2801486" y="-120650"/>
            <a:ext cx="9058927" cy="11175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60402" y="1245308"/>
            <a:ext cx="12845207" cy="8762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96400" y="-114301"/>
            <a:ext cx="9058926" cy="11169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67658" y="4595812"/>
            <a:ext cx="2263176" cy="18264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 txBox="1"/>
          <p:nvPr/>
        </p:nvSpPr>
        <p:spPr>
          <a:xfrm>
            <a:off x="6115750" y="5449075"/>
            <a:ext cx="93699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2800" b="0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Actividad formativa · Tema 1. Design Thinking: definición y proceso</a:t>
            </a:r>
            <a:endParaRPr sz="2800" b="0" i="0" u="none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>
            <a:hlinkClick action="ppaction://hlinksldjump" r:id="rId13"/>
          </p:cNvPr>
          <p:cNvSpPr/>
          <p:nvPr/>
        </p:nvSpPr>
        <p:spPr>
          <a:xfrm>
            <a:off x="6202428" y="8028299"/>
            <a:ext cx="3225900" cy="863100"/>
          </a:xfrm>
          <a:prstGeom prst="roundRect">
            <a:avLst>
              <a:gd name="adj" fmla="val 27586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>
            <a:hlinkClick action="ppaction://hlinksldjump" r:id="rId13"/>
          </p:cNvPr>
          <p:cNvSpPr/>
          <p:nvPr/>
        </p:nvSpPr>
        <p:spPr>
          <a:xfrm>
            <a:off x="6202428" y="7968768"/>
            <a:ext cx="3225900" cy="863100"/>
          </a:xfrm>
          <a:prstGeom prst="roundRect">
            <a:avLst>
              <a:gd name="adj" fmla="val 27586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Font typeface="Arial"/>
              <a:buNone/>
            </a:pPr>
            <a:r>
              <a:rPr lang="es-CO" sz="1992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Comenzar</a:t>
            </a:r>
            <a:endParaRPr sz="1992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75859" y="1067484"/>
            <a:ext cx="1191145" cy="1183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078363" y="9342537"/>
            <a:ext cx="5185456" cy="87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865645" y="420404"/>
            <a:ext cx="2398173" cy="53998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 txBox="1"/>
          <p:nvPr/>
        </p:nvSpPr>
        <p:spPr>
          <a:xfrm>
            <a:off x="6115751" y="1777100"/>
            <a:ext cx="124101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46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Cada fase tiene</a:t>
            </a:r>
            <a:endParaRPr sz="7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46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un propósito</a:t>
            </a:r>
            <a:endParaRPr sz="7200" b="1" i="0" u="none" strike="noStrike" cap="none">
              <a:solidFill>
                <a:srgbClr val="0247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8525915" y="10310812"/>
            <a:ext cx="1040267" cy="104026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>
            <a:hlinkClick action="ppaction://hlinksldjump" r:id="rId17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>
            <a:hlinkClick action="ppaction://hlinksldjump" r:id="rId17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1" title="correcciones sapiencia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">
            <a:hlinkClick action="ppaction://hlinksldjump" r:id="rId17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Fases del diseño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>
            <a:hlinkClick action="ppaction://hlinksldjump" r:id="rId13"/>
          </p:cNvPr>
          <p:cNvSpPr/>
          <p:nvPr/>
        </p:nvSpPr>
        <p:spPr>
          <a:xfrm>
            <a:off x="191751" y="1730000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13"/>
          </p:cNvPr>
          <p:cNvSpPr/>
          <p:nvPr/>
        </p:nvSpPr>
        <p:spPr>
          <a:xfrm>
            <a:off x="266783" y="1730000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14"/>
          </p:cNvPr>
          <p:cNvSpPr/>
          <p:nvPr/>
        </p:nvSpPr>
        <p:spPr>
          <a:xfrm>
            <a:off x="191751" y="3948674"/>
            <a:ext cx="75000" cy="2068558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14"/>
          </p:cNvPr>
          <p:cNvSpPr/>
          <p:nvPr/>
        </p:nvSpPr>
        <p:spPr>
          <a:xfrm>
            <a:off x="266783" y="3948674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>
            <a:hlinkClick action="ppaction://hlinksldjump" r:id="rId15"/>
          </p:cNvPr>
          <p:cNvSpPr/>
          <p:nvPr/>
        </p:nvSpPr>
        <p:spPr>
          <a:xfrm>
            <a:off x="191751" y="6167348"/>
            <a:ext cx="75000" cy="2068558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15"/>
          </p:cNvPr>
          <p:cNvSpPr/>
          <p:nvPr/>
        </p:nvSpPr>
        <p:spPr>
          <a:xfrm>
            <a:off x="266783" y="6167348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1EAFC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56;p2">
            <a:hlinkClick action="ppaction://hlinksldjump" r:id="rId16"/>
          </p:cNvPr>
          <p:cNvSpPr/>
          <p:nvPr/>
        </p:nvSpPr>
        <p:spPr>
          <a:xfrm>
            <a:off x="191751" y="8386022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57;p2">
            <a:hlinkClick action="ppaction://hlinksldjump" r:id="rId16"/>
          </p:cNvPr>
          <p:cNvSpPr/>
          <p:nvPr/>
        </p:nvSpPr>
        <p:spPr>
          <a:xfrm>
            <a:off x="266783" y="8386022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>
            <a:hlinkClick action="ppaction://hlinksldjump" r:id="rId14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>
            <a:hlinkClick action="ppaction://hlinksldjump" r:id="rId14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>
            <a:hlinkClick action="ppaction://hlinksldjump" r:id="rId11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>
            <a:hlinkClick action="ppaction://hlinksldjump" r:id="rId11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sz="1578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>
            <a:hlinkClick action="ppaction://hlinksldjump" r:id="rId14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>
            <a:hlinkClick action="ppaction://hlinksldjump" r:id="rId14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6" title="correcciones sapienci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>
            <a:hlinkClick action="ppaction://hlinksldjump" r:id="rId14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Fases del diseño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 para llevar a cabo el cuestionario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>
            <a:hlinkClick action="ppaction://hlinksldjump" r:id="rId10"/>
          </p:cNvPr>
          <p:cNvSpPr/>
          <p:nvPr/>
        </p:nvSpPr>
        <p:spPr>
          <a:xfrm>
            <a:off x="191751" y="1730000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>
            <a:hlinkClick action="ppaction://hlinksldjump" r:id="rId10"/>
          </p:cNvPr>
          <p:cNvSpPr/>
          <p:nvPr/>
        </p:nvSpPr>
        <p:spPr>
          <a:xfrm>
            <a:off x="266783" y="1730000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664092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11"/>
          </p:cNvPr>
          <p:cNvSpPr/>
          <p:nvPr/>
        </p:nvSpPr>
        <p:spPr>
          <a:xfrm>
            <a:off x="191751" y="3948674"/>
            <a:ext cx="75000" cy="2068558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11"/>
          </p:cNvPr>
          <p:cNvSpPr/>
          <p:nvPr/>
        </p:nvSpPr>
        <p:spPr>
          <a:xfrm>
            <a:off x="266783" y="3948674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>
            <a:hlinkClick action="ppaction://hlinksldjump" r:id="rId12"/>
          </p:cNvPr>
          <p:cNvSpPr/>
          <p:nvPr/>
        </p:nvSpPr>
        <p:spPr>
          <a:xfrm>
            <a:off x="191751" y="6167348"/>
            <a:ext cx="75000" cy="2068558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12"/>
          </p:cNvPr>
          <p:cNvSpPr/>
          <p:nvPr/>
        </p:nvSpPr>
        <p:spPr>
          <a:xfrm>
            <a:off x="266783" y="6167348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1EAFC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56;p2">
            <a:hlinkClick action="ppaction://hlinksldjump" r:id="rId13"/>
          </p:cNvPr>
          <p:cNvSpPr/>
          <p:nvPr/>
        </p:nvSpPr>
        <p:spPr>
          <a:xfrm>
            <a:off x="191751" y="8386022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57;p2">
            <a:hlinkClick action="ppaction://hlinksldjump" r:id="rId13"/>
          </p:cNvPr>
          <p:cNvSpPr/>
          <p:nvPr/>
        </p:nvSpPr>
        <p:spPr>
          <a:xfrm>
            <a:off x="266783" y="8386022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886200" y="3246120"/>
            <a:ext cx="14356080" cy="1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3D2159"/>
                </a:solidFill>
                <a:latin typeface="Arial"/>
              </a:rPr>
              <a:t>Un equipo está utilizando el pensamiento de diseño para abordar una necesidad identificada en su organización. Durante el proceso deberá comprender a las personas, delimitar el reto, generar alternativas, representar posibles soluciones y obtener evidencia para mejorarlas.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886200" y="4646120"/>
            <a:ext cx="14356080" cy="1400000"/>
          </a:xfrm>
          <a:prstGeom prst="rect">
            <a:avLst/>
          </a:prstGeom>
          <a:solidFill>
            <a:srgbClr val="F1EB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886200" y="4646120"/>
            <a:ext cx="73152" cy="140000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206200" y="4796120"/>
            <a:ext cx="1385608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664092"/>
                </a:solidFill>
                <a:latin typeface="Arial"/>
              </a:rPr>
              <a:t>Resultado de aprendizaje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00" y="5146120"/>
            <a:ext cx="1385608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3D2159"/>
                </a:solidFill>
                <a:latin typeface="Arial"/>
              </a:rPr>
              <a:t>Relaciona las fases del pensamiento de diseño con su propósito dentro del proceso de comprensión, generación y evaluación de soluciones centradas en las personas.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886200" y="6206120"/>
            <a:ext cx="1435608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A71989"/>
                </a:solidFill>
                <a:latin typeface="Arial"/>
              </a:rPr>
              <a:t>Opciones de respuesta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886200" y="6636120"/>
            <a:ext cx="272491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886200" y="6636120"/>
            <a:ext cx="2724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664092"/>
                </a:solidFill>
                <a:latin typeface="Arial"/>
              </a:rPr>
              <a:t>Empatizar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793992" y="6636120"/>
            <a:ext cx="272491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793992" y="6636120"/>
            <a:ext cx="2724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664092"/>
                </a:solidFill>
                <a:latin typeface="Arial"/>
              </a:rPr>
              <a:t>Definir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701784" y="6636120"/>
            <a:ext cx="272491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701784" y="6636120"/>
            <a:ext cx="2724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664092"/>
                </a:solidFill>
                <a:latin typeface="Arial"/>
              </a:rPr>
              <a:t>Idear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2609576" y="6636120"/>
            <a:ext cx="272491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2609576" y="6636120"/>
            <a:ext cx="2724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664092"/>
                </a:solidFill>
                <a:latin typeface="Arial"/>
              </a:rPr>
              <a:t>Prototipar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5517368" y="6636120"/>
            <a:ext cx="272491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5517368" y="6636120"/>
            <a:ext cx="2724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664092"/>
                </a:solidFill>
                <a:latin typeface="Arial"/>
              </a:rPr>
              <a:t>Evaluar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>
            <a:hlinkClick action="ppaction://hlinksldjump" r:id="rId10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>
            <a:hlinkClick action="ppaction://hlinksldjump" r:id="rId10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>
            <a:hlinkClick action="ppaction://hlinksldjump" r:id="rId12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>
            <a:hlinkClick action="ppaction://hlinksldjump" r:id="rId12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sz="1578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>
            <a:hlinkClick action="ppaction://hlinksldjump" r:id="rId14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>
            <a:hlinkClick action="ppaction://hlinksldjump" r:id="rId14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6" title="correcciones sapienci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>
            <a:hlinkClick action="ppaction://hlinksldjump" r:id="rId14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Fases del diseño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ACTIVIDAD · EMPAREJAMIENTO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Cada fase tiene un propósito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>
            <a:hlinkClick action="ppaction://hlinksldjump" r:id="rId10"/>
          </p:cNvPr>
          <p:cNvSpPr/>
          <p:nvPr/>
        </p:nvSpPr>
        <p:spPr>
          <a:xfrm>
            <a:off x="191751" y="1730000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10"/>
          </p:cNvPr>
          <p:cNvSpPr/>
          <p:nvPr/>
        </p:nvSpPr>
        <p:spPr>
          <a:xfrm>
            <a:off x="266783" y="1730000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31">
            <a:hlinkClick action="ppaction://hlinksldjump" r:id="rId11"/>
          </p:cNvPr>
          <p:cNvSpPr/>
          <p:nvPr/>
        </p:nvSpPr>
        <p:spPr>
          <a:xfrm>
            <a:off x="191751" y="3948674"/>
            <a:ext cx="75000" cy="2068558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31">
            <a:hlinkClick action="ppaction://hlinksldjump" r:id="rId11"/>
          </p:cNvPr>
          <p:cNvSpPr/>
          <p:nvPr/>
        </p:nvSpPr>
        <p:spPr>
          <a:xfrm>
            <a:off x="266783" y="3948674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>
            <a:hlinkClick action="ppaction://hlinksldjump" r:id="rId12"/>
          </p:cNvPr>
          <p:cNvSpPr/>
          <p:nvPr/>
        </p:nvSpPr>
        <p:spPr>
          <a:xfrm>
            <a:off x="191751" y="6167348"/>
            <a:ext cx="75000" cy="2068558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12"/>
          </p:cNvPr>
          <p:cNvSpPr/>
          <p:nvPr/>
        </p:nvSpPr>
        <p:spPr>
          <a:xfrm>
            <a:off x="266783" y="6167348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1EAFC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56;p2">
            <a:hlinkClick action="ppaction://hlinksldjump" r:id="rId13"/>
          </p:cNvPr>
          <p:cNvSpPr/>
          <p:nvPr/>
        </p:nvSpPr>
        <p:spPr>
          <a:xfrm>
            <a:off x="191751" y="8386022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57;p2">
            <a:hlinkClick action="ppaction://hlinksldjump" r:id="rId13"/>
          </p:cNvPr>
          <p:cNvSpPr/>
          <p:nvPr/>
        </p:nvSpPr>
        <p:spPr>
          <a:xfrm>
            <a:off x="266783" y="8386022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Rounded Rectangle 1058"/>
          <p:cNvSpPr/>
          <p:nvPr/>
        </p:nvSpPr>
        <p:spPr>
          <a:xfrm>
            <a:off x="3886200" y="3246120"/>
            <a:ext cx="11064240" cy="880000"/>
          </a:xfrm>
          <a:prstGeom prst="roundRect">
            <a:avLst>
              <a:gd name="adj" fmla="val 12000"/>
            </a:avLst>
          </a:prstGeom>
          <a:solidFill>
            <a:srgbClr val="F7F5FA"/>
          </a:solidFill>
          <a:ln w="12700">
            <a:solidFill>
              <a:srgbClr val="E3DD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0" name="Oval 1059"/>
          <p:cNvSpPr/>
          <p:nvPr/>
        </p:nvSpPr>
        <p:spPr>
          <a:xfrm>
            <a:off x="4046200" y="3457520"/>
            <a:ext cx="457200" cy="45720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1" name="TextBox 1060"/>
          <p:cNvSpPr txBox="1"/>
          <p:nvPr/>
        </p:nvSpPr>
        <p:spPr>
          <a:xfrm>
            <a:off x="4046200" y="3457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4686200" y="3246120"/>
            <a:ext cx="10104240" cy="8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3D2159"/>
                </a:solidFill>
                <a:latin typeface="Arial"/>
              </a:rPr>
              <a:t>Comprender las experiencias, necesidades, comportamientos y dificultades de las personas.</a:t>
            </a:r>
          </a:p>
        </p:txBody>
      </p:sp>
      <p:sp>
        <p:nvSpPr>
          <p:cNvPr id="1063" name="Rounded Rectangle 1062"/>
          <p:cNvSpPr/>
          <p:nvPr/>
        </p:nvSpPr>
        <p:spPr>
          <a:xfrm>
            <a:off x="15133320" y="3388940"/>
            <a:ext cx="31089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4" name="TextBox 1063"/>
          <p:cNvSpPr txBox="1"/>
          <p:nvPr/>
        </p:nvSpPr>
        <p:spPr>
          <a:xfrm>
            <a:off x="15333320" y="3388940"/>
            <a:ext cx="27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6575"/>
                </a:solidFill>
                <a:latin typeface="Arial"/>
              </a:rPr>
              <a:t>Selecciona la opción</a:t>
            </a:r>
            <a:r>
              <a:rPr sz="1600" b="1">
                <a:solidFill>
                  <a:srgbClr val="664092"/>
                </a:solidFill>
                <a:latin typeface="Arial"/>
              </a:rPr>
              <a:t>   ▾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3886200" y="4217560"/>
            <a:ext cx="11064240" cy="880000"/>
          </a:xfrm>
          <a:prstGeom prst="roundRect">
            <a:avLst>
              <a:gd name="adj" fmla="val 12000"/>
            </a:avLst>
          </a:prstGeom>
          <a:solidFill>
            <a:srgbClr val="F7F5FA"/>
          </a:solidFill>
          <a:ln w="12700">
            <a:solidFill>
              <a:srgbClr val="E3DD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4046200" y="4428960"/>
            <a:ext cx="457200" cy="45720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7" name="TextBox 1066"/>
          <p:cNvSpPr txBox="1"/>
          <p:nvPr/>
        </p:nvSpPr>
        <p:spPr>
          <a:xfrm>
            <a:off x="4046200" y="4428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68" name="TextBox 1067"/>
          <p:cNvSpPr txBox="1"/>
          <p:nvPr/>
        </p:nvSpPr>
        <p:spPr>
          <a:xfrm>
            <a:off x="4686200" y="4217560"/>
            <a:ext cx="10104240" cy="8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3D2159"/>
                </a:solidFill>
                <a:latin typeface="Arial"/>
              </a:rPr>
              <a:t>Organizar los hallazgos y delimitar con claridad el reto que necesitamos abordar.</a:t>
            </a:r>
          </a:p>
        </p:txBody>
      </p:sp>
      <p:sp>
        <p:nvSpPr>
          <p:cNvPr id="1069" name="Rounded Rectangle 1068"/>
          <p:cNvSpPr/>
          <p:nvPr/>
        </p:nvSpPr>
        <p:spPr>
          <a:xfrm>
            <a:off x="15133320" y="4360380"/>
            <a:ext cx="31089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15333320" y="4360380"/>
            <a:ext cx="27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6575"/>
                </a:solidFill>
                <a:latin typeface="Arial"/>
              </a:rPr>
              <a:t>Selecciona la opción</a:t>
            </a:r>
            <a:r>
              <a:rPr sz="1600" b="1">
                <a:solidFill>
                  <a:srgbClr val="664092"/>
                </a:solidFill>
                <a:latin typeface="Arial"/>
              </a:rPr>
              <a:t>   ▾</a:t>
            </a:r>
          </a:p>
        </p:txBody>
      </p:sp>
      <p:sp>
        <p:nvSpPr>
          <p:cNvPr id="1071" name="Rounded Rectangle 1070"/>
          <p:cNvSpPr/>
          <p:nvPr/>
        </p:nvSpPr>
        <p:spPr>
          <a:xfrm>
            <a:off x="3886200" y="5189000"/>
            <a:ext cx="11064240" cy="880000"/>
          </a:xfrm>
          <a:prstGeom prst="roundRect">
            <a:avLst>
              <a:gd name="adj" fmla="val 12000"/>
            </a:avLst>
          </a:prstGeom>
          <a:solidFill>
            <a:srgbClr val="F7F5FA"/>
          </a:solidFill>
          <a:ln w="12700">
            <a:solidFill>
              <a:srgbClr val="E3DD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2" name="Oval 1071"/>
          <p:cNvSpPr/>
          <p:nvPr/>
        </p:nvSpPr>
        <p:spPr>
          <a:xfrm>
            <a:off x="4046200" y="5400400"/>
            <a:ext cx="457200" cy="45720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4046200" y="5400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74" name="TextBox 1073"/>
          <p:cNvSpPr txBox="1"/>
          <p:nvPr/>
        </p:nvSpPr>
        <p:spPr>
          <a:xfrm>
            <a:off x="4686200" y="5189000"/>
            <a:ext cx="10104240" cy="8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3D2159"/>
                </a:solidFill>
                <a:latin typeface="Arial"/>
              </a:rPr>
              <a:t>Generar diferentes alternativas de solución antes de seleccionar las más prometedoras.</a:t>
            </a:r>
          </a:p>
        </p:txBody>
      </p:sp>
      <p:sp>
        <p:nvSpPr>
          <p:cNvPr id="1075" name="Rounded Rectangle 1074"/>
          <p:cNvSpPr/>
          <p:nvPr/>
        </p:nvSpPr>
        <p:spPr>
          <a:xfrm>
            <a:off x="15133320" y="5331820"/>
            <a:ext cx="31089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6" name="TextBox 1075"/>
          <p:cNvSpPr txBox="1"/>
          <p:nvPr/>
        </p:nvSpPr>
        <p:spPr>
          <a:xfrm>
            <a:off x="15333320" y="5331820"/>
            <a:ext cx="27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6575"/>
                </a:solidFill>
                <a:latin typeface="Arial"/>
              </a:rPr>
              <a:t>Selecciona la opción</a:t>
            </a:r>
            <a:r>
              <a:rPr sz="1600" b="1">
                <a:solidFill>
                  <a:srgbClr val="664092"/>
                </a:solidFill>
                <a:latin typeface="Arial"/>
              </a:rPr>
              <a:t>   ▾</a:t>
            </a:r>
          </a:p>
        </p:txBody>
      </p:sp>
      <p:sp>
        <p:nvSpPr>
          <p:cNvPr id="1077" name="Rounded Rectangle 1076"/>
          <p:cNvSpPr/>
          <p:nvPr/>
        </p:nvSpPr>
        <p:spPr>
          <a:xfrm>
            <a:off x="3886200" y="6160440"/>
            <a:ext cx="11064240" cy="880000"/>
          </a:xfrm>
          <a:prstGeom prst="roundRect">
            <a:avLst>
              <a:gd name="adj" fmla="val 12000"/>
            </a:avLst>
          </a:prstGeom>
          <a:solidFill>
            <a:srgbClr val="F7F5FA"/>
          </a:solidFill>
          <a:ln w="12700">
            <a:solidFill>
              <a:srgbClr val="E3DD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8" name="Oval 1077"/>
          <p:cNvSpPr/>
          <p:nvPr/>
        </p:nvSpPr>
        <p:spPr>
          <a:xfrm>
            <a:off x="4046200" y="6371840"/>
            <a:ext cx="457200" cy="45720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9" name="TextBox 1078"/>
          <p:cNvSpPr txBox="1"/>
          <p:nvPr/>
        </p:nvSpPr>
        <p:spPr>
          <a:xfrm>
            <a:off x="4046200" y="63718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80" name="TextBox 1079"/>
          <p:cNvSpPr txBox="1"/>
          <p:nvPr/>
        </p:nvSpPr>
        <p:spPr>
          <a:xfrm>
            <a:off x="4686200" y="6160440"/>
            <a:ext cx="10104240" cy="8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3D2159"/>
                </a:solidFill>
                <a:latin typeface="Arial"/>
              </a:rPr>
              <a:t>Hacer tangible una idea mediante una representación que permita explorarla y aprender sobre ella.</a:t>
            </a:r>
          </a:p>
        </p:txBody>
      </p:sp>
      <p:sp>
        <p:nvSpPr>
          <p:cNvPr id="1081" name="Rounded Rectangle 1080"/>
          <p:cNvSpPr/>
          <p:nvPr/>
        </p:nvSpPr>
        <p:spPr>
          <a:xfrm>
            <a:off x="15133320" y="6303260"/>
            <a:ext cx="31089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2" name="TextBox 1081"/>
          <p:cNvSpPr txBox="1"/>
          <p:nvPr/>
        </p:nvSpPr>
        <p:spPr>
          <a:xfrm>
            <a:off x="15333320" y="6303260"/>
            <a:ext cx="27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6575"/>
                </a:solidFill>
                <a:latin typeface="Arial"/>
              </a:rPr>
              <a:t>Selecciona la opción</a:t>
            </a:r>
            <a:r>
              <a:rPr sz="1600" b="1">
                <a:solidFill>
                  <a:srgbClr val="664092"/>
                </a:solidFill>
                <a:latin typeface="Arial"/>
              </a:rPr>
              <a:t>   ▾</a:t>
            </a:r>
          </a:p>
        </p:txBody>
      </p:sp>
      <p:sp>
        <p:nvSpPr>
          <p:cNvPr id="1083" name="Rounded Rectangle 1082"/>
          <p:cNvSpPr/>
          <p:nvPr/>
        </p:nvSpPr>
        <p:spPr>
          <a:xfrm>
            <a:off x="3886200" y="7131880"/>
            <a:ext cx="11064240" cy="880000"/>
          </a:xfrm>
          <a:prstGeom prst="roundRect">
            <a:avLst>
              <a:gd name="adj" fmla="val 12000"/>
            </a:avLst>
          </a:prstGeom>
          <a:solidFill>
            <a:srgbClr val="F7F5FA"/>
          </a:solidFill>
          <a:ln w="12700">
            <a:solidFill>
              <a:srgbClr val="E3DD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4" name="Oval 1083"/>
          <p:cNvSpPr/>
          <p:nvPr/>
        </p:nvSpPr>
        <p:spPr>
          <a:xfrm>
            <a:off x="4046200" y="7343280"/>
            <a:ext cx="457200" cy="45720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5" name="TextBox 1084"/>
          <p:cNvSpPr txBox="1"/>
          <p:nvPr/>
        </p:nvSpPr>
        <p:spPr>
          <a:xfrm>
            <a:off x="4046200" y="7343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86" name="TextBox 1085"/>
          <p:cNvSpPr txBox="1"/>
          <p:nvPr/>
        </p:nvSpPr>
        <p:spPr>
          <a:xfrm>
            <a:off x="4686200" y="7131880"/>
            <a:ext cx="10104240" cy="8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3D2159"/>
                </a:solidFill>
                <a:latin typeface="Arial"/>
              </a:rPr>
              <a:t>Poner a prueba la propuesta, recoger retroalimentación y obtener evidencia para realizar ajustes.</a:t>
            </a:r>
          </a:p>
        </p:txBody>
      </p:sp>
      <p:sp>
        <p:nvSpPr>
          <p:cNvPr id="1087" name="Rounded Rectangle 1086"/>
          <p:cNvSpPr/>
          <p:nvPr/>
        </p:nvSpPr>
        <p:spPr>
          <a:xfrm>
            <a:off x="15133320" y="7274700"/>
            <a:ext cx="31089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8" name="TextBox 1087"/>
          <p:cNvSpPr txBox="1"/>
          <p:nvPr/>
        </p:nvSpPr>
        <p:spPr>
          <a:xfrm>
            <a:off x="15333320" y="7274700"/>
            <a:ext cx="27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6575"/>
                </a:solidFill>
                <a:latin typeface="Arial"/>
              </a:rPr>
              <a:t>Selecciona la opción</a:t>
            </a:r>
            <a:r>
              <a:rPr sz="1600" b="1">
                <a:solidFill>
                  <a:srgbClr val="664092"/>
                </a:solidFill>
                <a:latin typeface="Arial"/>
              </a:rPr>
              <a:t>   ▾</a:t>
            </a:r>
          </a:p>
        </p:txBody>
      </p:sp>
      <p:sp>
        <p:nvSpPr>
          <p:cNvPr id="1089" name="Rounded Rectangle 1088">
            <a:hlinkClick action="ppaction://hlinksldjump" r:id="rId12"/>
          </p:cNvPr>
          <p:cNvSpPr/>
          <p:nvPr/>
        </p:nvSpPr>
        <p:spPr>
          <a:xfrm>
            <a:off x="8580000" y="9647639"/>
            <a:ext cx="3300000" cy="476400"/>
          </a:xfrm>
          <a:prstGeom prst="roundRect">
            <a:avLst>
              <a:gd name="adj" fmla="val 50000"/>
            </a:avLst>
          </a:prstGeom>
          <a:solidFill>
            <a:srgbClr val="C9B2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0" name="Rounded Rectangle 1089">
            <a:hlinkClick action="ppaction://hlinksldjump" r:id="rId12"/>
          </p:cNvPr>
          <p:cNvSpPr/>
          <p:nvPr/>
        </p:nvSpPr>
        <p:spPr>
          <a:xfrm>
            <a:off x="8580000" y="9588108"/>
            <a:ext cx="3300000" cy="4764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600" b="1">
                <a:solidFill>
                  <a:srgbClr val="3D2159"/>
                </a:solidFill>
                <a:latin typeface="Arial"/>
              </a:rPr>
              <a:t>Comprobar respuestas  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32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2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2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2">
            <a:hlinkClick action="ppaction://hlinksldjump" r:id="rId7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32">
            <a:hlinkClick action="ppaction://hlinksldjump" r:id="rId7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2">
            <a:hlinkClick action="ppaction://hlinksldjump" r:id="rId5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2">
            <a:hlinkClick action="ppaction://hlinksldjump" r:id="rId5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sz="1578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32">
            <a:hlinkClick action="ppaction://hlinksldjump" r:id="rId10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32">
            <a:hlinkClick action="ppaction://hlinksldjump" r:id="rId1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3" name="Google Shape;1113;p32" title="correcciones sapiencia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32">
            <a:hlinkClick action="ppaction://hlinksldjump" r:id="rId10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Fases del diseño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32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ACTIVIDAD · RETROALIMENTACIÓN</a:t>
            </a:r>
            <a:endParaRPr/>
          </a:p>
        </p:txBody>
      </p:sp>
      <p:sp>
        <p:nvSpPr>
          <p:cNvPr id="1116" name="Google Shape;1116;p32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Respuesta correcta</a:t>
            </a:r>
            <a:endParaRPr/>
          </a:p>
        </p:txBody>
      </p:sp>
      <p:sp>
        <p:nvSpPr>
          <p:cNvPr id="1117" name="Google Shape;1117;p32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32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2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32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32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2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32"/>
          <p:cNvSpPr/>
          <p:nvPr/>
        </p:nvSpPr>
        <p:spPr>
          <a:xfrm>
            <a:off x="4343400" y="3977640"/>
            <a:ext cx="1874520" cy="187452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4" name="Google Shape;1124;p32" descr="check_bold_3D2159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12030" y="4446270"/>
            <a:ext cx="937260" cy="9372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32"/>
          <p:cNvSpPr txBox="1"/>
          <p:nvPr/>
        </p:nvSpPr>
        <p:spPr>
          <a:xfrm>
            <a:off x="6812280" y="338328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8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¡Muy bien!</a:t>
            </a:r>
            <a:endParaRPr/>
          </a:p>
        </p:txBody>
      </p:sp>
      <p:sp>
        <p:nvSpPr>
          <p:cNvPr id="1126" name="Google Shape;1126;p32"/>
          <p:cNvSpPr txBox="1"/>
          <p:nvPr/>
        </p:nvSpPr>
        <p:spPr>
          <a:xfrm>
            <a:off x="6812280" y="4160520"/>
            <a:ext cx="11247120" cy="2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300" b="0" i="0" u="none" strike="noStrike" cap="non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Hemos reconocido que cada fase cumple un propósito particular y que todas contribuyen al aprendizaje durante el proceso. Empatizamos para comprender, definimos para delimitar el reto, ideamos para ampliar las posibilidades, prototipamos para hacer tangibles las ideas y evaluamos para obtener evidencia y realizar ajustes.</a:t>
            </a:r>
            <a:endParaRPr/>
          </a:p>
        </p:txBody>
      </p:sp>
      <p:sp>
        <p:nvSpPr>
          <p:cNvPr id="1127" name="Google Shape;1127;p32"/>
          <p:cNvSpPr/>
          <p:nvPr/>
        </p:nvSpPr>
        <p:spPr>
          <a:xfrm>
            <a:off x="6812280" y="6696520"/>
            <a:ext cx="11247120" cy="1100000"/>
          </a:xfrm>
          <a:prstGeom prst="roundRect">
            <a:avLst>
              <a:gd name="adj" fmla="val 19047"/>
            </a:avLst>
          </a:prstGeom>
          <a:solidFill>
            <a:srgbClr val="F1EB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2"/>
          <p:cNvSpPr/>
          <p:nvPr/>
        </p:nvSpPr>
        <p:spPr>
          <a:xfrm>
            <a:off x="6812280" y="6861112"/>
            <a:ext cx="73152" cy="630936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9" name="Google Shape;1129;p32" descr="lightbulb_regular_664092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32320" y="69479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32"/>
          <p:cNvSpPr txBox="1"/>
          <p:nvPr/>
        </p:nvSpPr>
        <p:spPr>
          <a:xfrm>
            <a:off x="7818120" y="6696520"/>
            <a:ext cx="9966960" cy="1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Recordemos que estas fases no conforman necesariamente una secuencia rígida: los nuevos hallazgos pueden llevarnos a regresar y revisar decisiones anteriores.</a:t>
            </a:r>
            <a:endParaRPr/>
          </a:p>
        </p:txBody>
      </p:sp>
      <p:sp>
        <p:nvSpPr>
          <p:cNvPr id="1131" name="Google Shape;1131;p32">
            <a:hlinkClick action="ppaction://hlinksldjump" r:id="rId9"/>
          </p:cNvPr>
          <p:cNvSpPr/>
          <p:nvPr/>
        </p:nvSpPr>
        <p:spPr>
          <a:xfrm>
            <a:off x="6812280" y="8377848"/>
            <a:ext cx="4937760" cy="713232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32">
            <a:hlinkClick action="ppaction://hlinksldjump" r:id="rId9"/>
          </p:cNvPr>
          <p:cNvSpPr/>
          <p:nvPr/>
        </p:nvSpPr>
        <p:spPr>
          <a:xfrm>
            <a:off x="6812280" y="8313840"/>
            <a:ext cx="4937760" cy="713232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Continuar  →</a:t>
            </a:r>
            <a:endParaRPr/>
          </a:p>
        </p:txBody>
      </p:sp>
      <p:sp>
        <p:nvSpPr>
          <p:cNvPr id="56" name="Google Shape;56;p2">
            <a:hlinkClick action="ppaction://hlinksldjump" r:id="rId6"/>
          </p:cNvPr>
          <p:cNvSpPr/>
          <p:nvPr/>
        </p:nvSpPr>
        <p:spPr>
          <a:xfrm>
            <a:off x="191751" y="1730000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6"/>
          </p:cNvPr>
          <p:cNvSpPr/>
          <p:nvPr/>
        </p:nvSpPr>
        <p:spPr>
          <a:xfrm>
            <a:off x="266783" y="1730000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7"/>
          </p:cNvPr>
          <p:cNvSpPr/>
          <p:nvPr/>
        </p:nvSpPr>
        <p:spPr>
          <a:xfrm>
            <a:off x="191751" y="3948674"/>
            <a:ext cx="75000" cy="2068558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7"/>
          </p:cNvPr>
          <p:cNvSpPr/>
          <p:nvPr/>
        </p:nvSpPr>
        <p:spPr>
          <a:xfrm>
            <a:off x="266783" y="3948674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4">
            <a:hlinkClick action="ppaction://hlinksldjump" r:id="rId8"/>
          </p:cNvPr>
          <p:cNvSpPr/>
          <p:nvPr/>
        </p:nvSpPr>
        <p:spPr>
          <a:xfrm>
            <a:off x="191751" y="6167348"/>
            <a:ext cx="75000" cy="2068558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4">
            <a:hlinkClick action="ppaction://hlinksldjump" r:id="rId8"/>
          </p:cNvPr>
          <p:cNvSpPr/>
          <p:nvPr/>
        </p:nvSpPr>
        <p:spPr>
          <a:xfrm>
            <a:off x="266783" y="6167348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467CF1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56;p2">
            <a:hlinkClick action="ppaction://hlinksldjump" r:id="rId9"/>
          </p:cNvPr>
          <p:cNvSpPr/>
          <p:nvPr/>
        </p:nvSpPr>
        <p:spPr>
          <a:xfrm>
            <a:off x="191751" y="8386022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57;p2">
            <a:hlinkClick action="ppaction://hlinksldjump" r:id="rId9"/>
          </p:cNvPr>
          <p:cNvSpPr/>
          <p:nvPr/>
        </p:nvSpPr>
        <p:spPr>
          <a:xfrm>
            <a:off x="266783" y="8386022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33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33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33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33">
            <a:hlinkClick action="ppaction://hlinksldjump" r:id="rId8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33">
            <a:hlinkClick action="ppaction://hlinksldjump" r:id="rId8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33">
            <a:hlinkClick action="ppaction://hlinksldjump" r:id="rId9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33">
            <a:hlinkClick action="ppaction://hlinksldjump" r:id="rId9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sz="1578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33">
            <a:hlinkClick action="ppaction://hlinksldjump" r:id="rId10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33">
            <a:hlinkClick action="ppaction://hlinksldjump" r:id="rId1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8" name="Google Shape;1158;p33" title="correcciones sapiencia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33">
            <a:hlinkClick action="ppaction://hlinksldjump" r:id="rId10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Fases del diseño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33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ACTIVIDAD · RETROALIMENTACIÓN</a:t>
            </a:r>
            <a:endParaRPr/>
          </a:p>
        </p:txBody>
      </p:sp>
      <p:sp>
        <p:nvSpPr>
          <p:cNvPr id="1161" name="Google Shape;1161;p33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Respuesta con errores</a:t>
            </a:r>
            <a:endParaRPr/>
          </a:p>
        </p:txBody>
      </p:sp>
      <p:sp>
        <p:nvSpPr>
          <p:cNvPr id="1162" name="Google Shape;1162;p33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33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3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33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33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33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33"/>
          <p:cNvSpPr/>
          <p:nvPr/>
        </p:nvSpPr>
        <p:spPr>
          <a:xfrm>
            <a:off x="4343400" y="3977640"/>
            <a:ext cx="1874520" cy="1874520"/>
          </a:xfrm>
          <a:prstGeom prst="ellipse">
            <a:avLst/>
          </a:prstGeom>
          <a:solidFill>
            <a:srgbClr val="F1EB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9" name="Google Shape;1169;p33" descr="arrow-counter-clockwise_bold_664092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12030" y="4446270"/>
            <a:ext cx="937260" cy="9372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33"/>
          <p:cNvSpPr txBox="1"/>
          <p:nvPr/>
        </p:nvSpPr>
        <p:spPr>
          <a:xfrm>
            <a:off x="6812280" y="338328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8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Revisemos nuevamente las relaciones.</a:t>
            </a:r>
            <a:endParaRPr/>
          </a:p>
        </p:txBody>
      </p:sp>
      <p:sp>
        <p:nvSpPr>
          <p:cNvPr id="1171" name="Google Shape;1171;p33"/>
          <p:cNvSpPr txBox="1"/>
          <p:nvPr/>
        </p:nvSpPr>
        <p:spPr>
          <a:xfrm>
            <a:off x="6812280" y="4160520"/>
            <a:ext cx="11247120" cy="2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300" b="0" i="0" u="none" strike="noStrike" cap="non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Pensemos en la función principal de cada fase: comprender, delimitar, generar, representar y aprender mediante la evaluación. Identificar este propósito nos ayudará a establecer la correspondencia correcta.</a:t>
            </a:r>
            <a:endParaRPr/>
          </a:p>
        </p:txBody>
      </p:sp>
      <p:sp>
        <p:nvSpPr>
          <p:cNvPr id="1172" name="Google Shape;1172;p33"/>
          <p:cNvSpPr/>
          <p:nvPr/>
        </p:nvSpPr>
        <p:spPr>
          <a:xfrm>
            <a:off x="6812280" y="6696520"/>
            <a:ext cx="11247120" cy="1100000"/>
          </a:xfrm>
          <a:prstGeom prst="roundRect">
            <a:avLst>
              <a:gd name="adj" fmla="val 19047"/>
            </a:avLst>
          </a:prstGeom>
          <a:solidFill>
            <a:srgbClr val="F1EB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33"/>
          <p:cNvSpPr/>
          <p:nvPr/>
        </p:nvSpPr>
        <p:spPr>
          <a:xfrm>
            <a:off x="6812280" y="6861112"/>
            <a:ext cx="73152" cy="630936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4" name="Google Shape;1174;p33" descr="magnifying-glass_regular_664092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32320" y="69479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33"/>
          <p:cNvSpPr txBox="1"/>
          <p:nvPr/>
        </p:nvSpPr>
        <p:spPr>
          <a:xfrm>
            <a:off x="7818120" y="6696520"/>
            <a:ext cx="9966960" cy="1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Recordemos además que el pensamiento de diseño es iterativo: una fase puede aportar información que nos lleve a revisar otra.</a:t>
            </a:r>
            <a:endParaRPr/>
          </a:p>
        </p:txBody>
      </p:sp>
      <p:sp>
        <p:nvSpPr>
          <p:cNvPr id="1176" name="Google Shape;1176;p33">
            <a:hlinkClick action="ppaction://hlinksldjump" r:id="rId7"/>
          </p:cNvPr>
          <p:cNvSpPr/>
          <p:nvPr/>
        </p:nvSpPr>
        <p:spPr>
          <a:xfrm>
            <a:off x="6812280" y="8377848"/>
            <a:ext cx="4937760" cy="713232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33">
            <a:hlinkClick action="ppaction://hlinksldjump" r:id="rId7"/>
          </p:cNvPr>
          <p:cNvSpPr/>
          <p:nvPr/>
        </p:nvSpPr>
        <p:spPr>
          <a:xfrm>
            <a:off x="6812280" y="8313840"/>
            <a:ext cx="4937760" cy="713232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Intentar de nuevo  ↺</a:t>
            </a:r>
            <a:endParaRPr/>
          </a:p>
        </p:txBody>
      </p:sp>
      <p:sp>
        <p:nvSpPr>
          <p:cNvPr id="56" name="Google Shape;56;p2">
            <a:hlinkClick action="ppaction://hlinksldjump" r:id="rId6"/>
          </p:cNvPr>
          <p:cNvSpPr/>
          <p:nvPr/>
        </p:nvSpPr>
        <p:spPr>
          <a:xfrm>
            <a:off x="191751" y="1730000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6"/>
          </p:cNvPr>
          <p:cNvSpPr/>
          <p:nvPr/>
        </p:nvSpPr>
        <p:spPr>
          <a:xfrm>
            <a:off x="266783" y="1730000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7"/>
          </p:cNvPr>
          <p:cNvSpPr/>
          <p:nvPr/>
        </p:nvSpPr>
        <p:spPr>
          <a:xfrm>
            <a:off x="191751" y="3948674"/>
            <a:ext cx="75000" cy="2068558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7"/>
          </p:cNvPr>
          <p:cNvSpPr/>
          <p:nvPr/>
        </p:nvSpPr>
        <p:spPr>
          <a:xfrm>
            <a:off x="266783" y="3948674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4">
            <a:hlinkClick action="ppaction://hlinksldjump" r:id="rId8"/>
          </p:cNvPr>
          <p:cNvSpPr/>
          <p:nvPr/>
        </p:nvSpPr>
        <p:spPr>
          <a:xfrm>
            <a:off x="191751" y="6167348"/>
            <a:ext cx="75000" cy="2068558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4">
            <a:hlinkClick action="ppaction://hlinksldjump" r:id="rId8"/>
          </p:cNvPr>
          <p:cNvSpPr/>
          <p:nvPr/>
        </p:nvSpPr>
        <p:spPr>
          <a:xfrm>
            <a:off x="266783" y="6167348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467CF1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56;p2">
            <a:hlinkClick action="ppaction://hlinksldjump" r:id="rId9"/>
          </p:cNvPr>
          <p:cNvSpPr/>
          <p:nvPr/>
        </p:nvSpPr>
        <p:spPr>
          <a:xfrm>
            <a:off x="191751" y="8386022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57;p2">
            <a:hlinkClick action="ppaction://hlinksldjump" r:id="rId9"/>
          </p:cNvPr>
          <p:cNvSpPr/>
          <p:nvPr/>
        </p:nvSpPr>
        <p:spPr>
          <a:xfrm>
            <a:off x="266783" y="8386022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34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34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34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34">
            <a:hlinkClick action="ppaction://hlinksldjump" r:id="rId7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34">
            <a:hlinkClick action="ppaction://hlinksldjump" r:id="rId7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1" name="Picture 120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783" y="600314"/>
            <a:ext cx="486192" cy="486192"/>
          </a:xfrm>
          <a:prstGeom prst="rect">
            <a:avLst/>
          </a:prstGeom>
        </p:spPr>
      </p:pic>
      <p:sp>
        <p:nvSpPr>
          <p:cNvPr id="1202" name="Google Shape;1202;p34">
            <a:hlinkClick action="ppaction://hlinksldjump" r:id="rId7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Fases del diseño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4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/>
          </a:p>
        </p:txBody>
      </p:sp>
      <p:sp>
        <p:nvSpPr>
          <p:cNvPr id="1204" name="Google Shape;1204;p34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 de producción y postproducción</a:t>
            </a:r>
            <a:endParaRPr/>
          </a:p>
        </p:txBody>
      </p:sp>
      <p:sp>
        <p:nvSpPr>
          <p:cNvPr id="1205" name="Google Shape;1205;p34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34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34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34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34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34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34">
            <a:hlinkClick action="ppaction://hlinksldjump" r:id="rId8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34">
            <a:hlinkClick action="ppaction://hlinksldjump" r:id="rId8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18"/>
          <p:cNvSpPr/>
          <p:nvPr/>
        </p:nvSpPr>
        <p:spPr>
          <a:xfrm>
            <a:off x="3886200" y="3429000"/>
            <a:ext cx="6949440" cy="960120"/>
          </a:xfrm>
          <a:prstGeom prst="roundRect">
            <a:avLst>
              <a:gd name="adj" fmla="val 12000"/>
            </a:avLst>
          </a:prstGeom>
          <a:solidFill>
            <a:srgbClr val="F5F3FA"/>
          </a:solidFill>
          <a:ln w="12700" cap="flat" cmpd="sng">
            <a:solidFill>
              <a:srgbClr val="D8D2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8"/>
          <p:cNvSpPr/>
          <p:nvPr/>
        </p:nvSpPr>
        <p:spPr>
          <a:xfrm>
            <a:off x="3886200" y="3429000"/>
            <a:ext cx="91440" cy="96012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18"/>
          <p:cNvSpPr txBox="1"/>
          <p:nvPr/>
        </p:nvSpPr>
        <p:spPr>
          <a:xfrm>
            <a:off x="4206240" y="3538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u="none" strike="noStrike" cap="non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Coordinación general</a:t>
            </a:r>
            <a:endParaRPr/>
          </a:p>
        </p:txBody>
      </p:sp>
      <p:sp>
        <p:nvSpPr>
          <p:cNvPr id="843" name="Google Shape;843;p18"/>
          <p:cNvSpPr txBox="1"/>
          <p:nvPr/>
        </p:nvSpPr>
        <p:spPr>
          <a:xfrm>
            <a:off x="4206240" y="3904487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Luz Dary Morales Galvis</a:t>
            </a:r>
            <a:endParaRPr/>
          </a:p>
        </p:txBody>
      </p:sp>
      <p:sp>
        <p:nvSpPr>
          <p:cNvPr id="844" name="Google Shape;844;p18"/>
          <p:cNvSpPr/>
          <p:nvPr/>
        </p:nvSpPr>
        <p:spPr>
          <a:xfrm>
            <a:off x="11155680" y="3429000"/>
            <a:ext cx="6949440" cy="960120"/>
          </a:xfrm>
          <a:prstGeom prst="roundRect">
            <a:avLst>
              <a:gd name="adj" fmla="val 12000"/>
            </a:avLst>
          </a:prstGeom>
          <a:solidFill>
            <a:srgbClr val="F5F3FA"/>
          </a:solidFill>
          <a:ln w="12700" cap="flat" cmpd="sng">
            <a:solidFill>
              <a:srgbClr val="D8D2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8"/>
          <p:cNvSpPr/>
          <p:nvPr/>
        </p:nvSpPr>
        <p:spPr>
          <a:xfrm>
            <a:off x="11155680" y="3429000"/>
            <a:ext cx="91440" cy="96012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18"/>
          <p:cNvSpPr txBox="1"/>
          <p:nvPr/>
        </p:nvSpPr>
        <p:spPr>
          <a:xfrm>
            <a:off x="11475719" y="3538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Experto temático</a:t>
            </a:r>
            <a:endParaRPr/>
          </a:p>
        </p:txBody>
      </p:sp>
      <p:sp>
        <p:nvSpPr>
          <p:cNvPr id="847" name="Google Shape;847;p18"/>
          <p:cNvSpPr txBox="1"/>
          <p:nvPr/>
        </p:nvSpPr>
        <p:spPr>
          <a:xfrm>
            <a:off x="11475719" y="3904487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Diana María Velázquez García</a:t>
            </a:r>
            <a:endParaRPr/>
          </a:p>
        </p:txBody>
      </p:sp>
      <p:sp>
        <p:nvSpPr>
          <p:cNvPr id="848" name="Google Shape;848;p18"/>
          <p:cNvSpPr/>
          <p:nvPr/>
        </p:nvSpPr>
        <p:spPr>
          <a:xfrm>
            <a:off x="3886200" y="4572000"/>
            <a:ext cx="6949440" cy="960120"/>
          </a:xfrm>
          <a:prstGeom prst="roundRect">
            <a:avLst>
              <a:gd name="adj" fmla="val 12000"/>
            </a:avLst>
          </a:prstGeom>
          <a:solidFill>
            <a:srgbClr val="F5F3FA"/>
          </a:solidFill>
          <a:ln w="12700" cap="flat" cmpd="sng">
            <a:solidFill>
              <a:srgbClr val="D8D2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8"/>
          <p:cNvSpPr/>
          <p:nvPr/>
        </p:nvSpPr>
        <p:spPr>
          <a:xfrm>
            <a:off x="3886200" y="4572000"/>
            <a:ext cx="91440" cy="960120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18"/>
          <p:cNvSpPr txBox="1"/>
          <p:nvPr/>
        </p:nvSpPr>
        <p:spPr>
          <a:xfrm>
            <a:off x="4206240" y="4681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u="none" strike="noStrike" cap="non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Diseñador de la experiencia virtual de aprendizaje</a:t>
            </a:r>
            <a:endParaRPr/>
          </a:p>
        </p:txBody>
      </p:sp>
      <p:sp>
        <p:nvSpPr>
          <p:cNvPr id="851" name="Google Shape;851;p18"/>
          <p:cNvSpPr txBox="1"/>
          <p:nvPr/>
        </p:nvSpPr>
        <p:spPr>
          <a:xfrm>
            <a:off x="4206240" y="5047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Julieta Márquez Gutiérrez</a:t>
            </a:r>
            <a:endParaRPr/>
          </a:p>
        </p:txBody>
      </p:sp>
      <p:sp>
        <p:nvSpPr>
          <p:cNvPr id="852" name="Google Shape;852;p18"/>
          <p:cNvSpPr/>
          <p:nvPr/>
        </p:nvSpPr>
        <p:spPr>
          <a:xfrm>
            <a:off x="11155680" y="4572000"/>
            <a:ext cx="6949440" cy="960120"/>
          </a:xfrm>
          <a:prstGeom prst="roundRect">
            <a:avLst>
              <a:gd name="adj" fmla="val 12000"/>
            </a:avLst>
          </a:prstGeom>
          <a:solidFill>
            <a:srgbClr val="F5F3FA"/>
          </a:solidFill>
          <a:ln w="12700" cap="flat" cmpd="sng">
            <a:solidFill>
              <a:srgbClr val="D8D2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8"/>
          <p:cNvSpPr/>
          <p:nvPr/>
        </p:nvSpPr>
        <p:spPr>
          <a:xfrm>
            <a:off x="11155680" y="4572000"/>
            <a:ext cx="91440" cy="96012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8"/>
          <p:cNvSpPr txBox="1"/>
          <p:nvPr/>
        </p:nvSpPr>
        <p:spPr>
          <a:xfrm>
            <a:off x="11475719" y="4681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Corrección de estilo</a:t>
            </a:r>
            <a:endParaRPr/>
          </a:p>
        </p:txBody>
      </p:sp>
      <p:sp>
        <p:nvSpPr>
          <p:cNvPr id="855" name="Google Shape;855;p18"/>
          <p:cNvSpPr txBox="1"/>
          <p:nvPr/>
        </p:nvSpPr>
        <p:spPr>
          <a:xfrm>
            <a:off x="11475719" y="5047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Sergio Andrés Ocampo Rivera</a:t>
            </a:r>
            <a:endParaRPr/>
          </a:p>
        </p:txBody>
      </p:sp>
      <p:sp>
        <p:nvSpPr>
          <p:cNvPr id="856" name="Google Shape;856;p18"/>
          <p:cNvSpPr/>
          <p:nvPr/>
        </p:nvSpPr>
        <p:spPr>
          <a:xfrm>
            <a:off x="3886200" y="5715000"/>
            <a:ext cx="6949440" cy="960120"/>
          </a:xfrm>
          <a:prstGeom prst="roundRect">
            <a:avLst>
              <a:gd name="adj" fmla="val 12000"/>
            </a:avLst>
          </a:prstGeom>
          <a:solidFill>
            <a:srgbClr val="F5F3FA"/>
          </a:solidFill>
          <a:ln w="12700" cap="flat" cmpd="sng">
            <a:solidFill>
              <a:srgbClr val="D8D2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18"/>
          <p:cNvSpPr/>
          <p:nvPr/>
        </p:nvSpPr>
        <p:spPr>
          <a:xfrm>
            <a:off x="3886200" y="5715000"/>
            <a:ext cx="91440" cy="96012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18"/>
          <p:cNvSpPr txBox="1"/>
          <p:nvPr/>
        </p:nvSpPr>
        <p:spPr>
          <a:xfrm>
            <a:off x="4206240" y="5824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u="none" strike="noStrike" cap="non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Validación pedagógica</a:t>
            </a:r>
            <a:endParaRPr/>
          </a:p>
        </p:txBody>
      </p:sp>
      <p:sp>
        <p:nvSpPr>
          <p:cNvPr id="859" name="Google Shape;859;p18"/>
          <p:cNvSpPr txBox="1"/>
          <p:nvPr/>
        </p:nvSpPr>
        <p:spPr>
          <a:xfrm>
            <a:off x="4206240" y="6190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Sandra Patricia Hoyos Sepúlveda</a:t>
            </a:r>
            <a:endParaRPr/>
          </a:p>
        </p:txBody>
      </p:sp>
      <p:sp>
        <p:nvSpPr>
          <p:cNvPr id="860" name="Google Shape;860;p18"/>
          <p:cNvSpPr/>
          <p:nvPr/>
        </p:nvSpPr>
        <p:spPr>
          <a:xfrm>
            <a:off x="11155680" y="5715000"/>
            <a:ext cx="6949440" cy="960120"/>
          </a:xfrm>
          <a:prstGeom prst="roundRect">
            <a:avLst>
              <a:gd name="adj" fmla="val 12000"/>
            </a:avLst>
          </a:prstGeom>
          <a:solidFill>
            <a:srgbClr val="F5F3FA"/>
          </a:solidFill>
          <a:ln w="12700" cap="flat" cmpd="sng">
            <a:solidFill>
              <a:srgbClr val="D8D2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18"/>
          <p:cNvSpPr/>
          <p:nvPr/>
        </p:nvSpPr>
        <p:spPr>
          <a:xfrm>
            <a:off x="11155680" y="5715000"/>
            <a:ext cx="91440" cy="96012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18"/>
          <p:cNvSpPr txBox="1"/>
          <p:nvPr/>
        </p:nvSpPr>
        <p:spPr>
          <a:xfrm>
            <a:off x="11475719" y="5824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Diseño gráfico</a:t>
            </a:r>
            <a:endParaRPr/>
          </a:p>
        </p:txBody>
      </p:sp>
      <p:sp>
        <p:nvSpPr>
          <p:cNvPr id="863" name="Google Shape;863;p18"/>
          <p:cNvSpPr txBox="1"/>
          <p:nvPr/>
        </p:nvSpPr>
        <p:spPr>
          <a:xfrm>
            <a:off x="11475719" y="6190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Andrea Valentina Roa Orozco</a:t>
            </a:r>
            <a:endParaRPr/>
          </a:p>
        </p:txBody>
      </p:sp>
      <p:sp>
        <p:nvSpPr>
          <p:cNvPr id="864" name="Google Shape;864;p18"/>
          <p:cNvSpPr/>
          <p:nvPr/>
        </p:nvSpPr>
        <p:spPr>
          <a:xfrm>
            <a:off x="3886200" y="6858000"/>
            <a:ext cx="6949440" cy="960120"/>
          </a:xfrm>
          <a:prstGeom prst="roundRect">
            <a:avLst>
              <a:gd name="adj" fmla="val 12000"/>
            </a:avLst>
          </a:prstGeom>
          <a:solidFill>
            <a:srgbClr val="F5F3FA"/>
          </a:solidFill>
          <a:ln w="12700" cap="flat" cmpd="sng">
            <a:solidFill>
              <a:srgbClr val="D8D2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18"/>
          <p:cNvSpPr/>
          <p:nvPr/>
        </p:nvSpPr>
        <p:spPr>
          <a:xfrm>
            <a:off x="3886200" y="6858000"/>
            <a:ext cx="91440" cy="960120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18"/>
          <p:cNvSpPr txBox="1"/>
          <p:nvPr/>
        </p:nvSpPr>
        <p:spPr>
          <a:xfrm>
            <a:off x="4206240" y="6967728"/>
            <a:ext cx="64008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u="none" strike="noStrike" cap="non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Desarrollo </a:t>
            </a:r>
            <a:r>
              <a:rPr lang="es-CO" sz="1300" b="1">
                <a:solidFill>
                  <a:srgbClr val="2A56C6"/>
                </a:solidFill>
              </a:rPr>
              <a:t>d</a:t>
            </a:r>
            <a:r>
              <a:rPr lang="es-CO" sz="1300" b="1" i="0" u="none" strike="noStrike" cap="non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e interactivos</a:t>
            </a:r>
            <a:endParaRPr/>
          </a:p>
        </p:txBody>
      </p:sp>
      <p:sp>
        <p:nvSpPr>
          <p:cNvPr id="867" name="Google Shape;867;p18"/>
          <p:cNvSpPr txBox="1"/>
          <p:nvPr/>
        </p:nvSpPr>
        <p:spPr>
          <a:xfrm>
            <a:off x="4206240" y="7333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Paola Andrea Quintero Aguilar</a:t>
            </a:r>
            <a:endParaRPr/>
          </a:p>
        </p:txBody>
      </p:sp>
      <p:sp>
        <p:nvSpPr>
          <p:cNvPr id="868" name="Google Shape;868;p18"/>
          <p:cNvSpPr/>
          <p:nvPr/>
        </p:nvSpPr>
        <p:spPr>
          <a:xfrm>
            <a:off x="11155680" y="6858000"/>
            <a:ext cx="6949440" cy="960120"/>
          </a:xfrm>
          <a:prstGeom prst="roundRect">
            <a:avLst>
              <a:gd name="adj" fmla="val 12000"/>
            </a:avLst>
          </a:prstGeom>
          <a:solidFill>
            <a:srgbClr val="F5F3FA"/>
          </a:solidFill>
          <a:ln w="12700" cap="flat" cmpd="sng">
            <a:solidFill>
              <a:srgbClr val="D8D2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18"/>
          <p:cNvSpPr/>
          <p:nvPr/>
        </p:nvSpPr>
        <p:spPr>
          <a:xfrm>
            <a:off x="11155680" y="6858000"/>
            <a:ext cx="91440" cy="96012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18"/>
          <p:cNvSpPr txBox="1"/>
          <p:nvPr/>
        </p:nvSpPr>
        <p:spPr>
          <a:xfrm>
            <a:off x="11475719" y="6967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Disposición y ensamble</a:t>
            </a:r>
            <a:endParaRPr/>
          </a:p>
        </p:txBody>
      </p:sp>
      <p:sp>
        <p:nvSpPr>
          <p:cNvPr id="871" name="Google Shape;871;p18"/>
          <p:cNvSpPr txBox="1"/>
          <p:nvPr/>
        </p:nvSpPr>
        <p:spPr>
          <a:xfrm>
            <a:off x="11475719" y="7333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Samayda Herrera Betancur</a:t>
            </a:r>
            <a:endParaRPr/>
          </a:p>
        </p:txBody>
      </p:sp>
      <p:sp>
        <p:nvSpPr>
          <p:cNvPr id="872" name="Google Shape;872;p18"/>
          <p:cNvSpPr txBox="1"/>
          <p:nvPr/>
        </p:nvSpPr>
        <p:spPr>
          <a:xfrm>
            <a:off x="3886200" y="8092440"/>
            <a:ext cx="1421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1" u="none" strike="noStrike" cap="non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Proyecto C.I. 278 de 2026 · @Medellín — SAPIENCIA · Última actualización: octubre de 2026</a:t>
            </a:r>
            <a:endParaRPr/>
          </a:p>
        </p:txBody>
      </p:sp>
      <p:sp>
        <p:nvSpPr>
          <p:cNvPr id="56" name="Google Shape;56;p2">
            <a:hlinkClick action="ppaction://hlinksldjump" r:id="rId3"/>
          </p:cNvPr>
          <p:cNvSpPr/>
          <p:nvPr/>
        </p:nvSpPr>
        <p:spPr>
          <a:xfrm>
            <a:off x="191751" y="1730000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3"/>
          </p:cNvPr>
          <p:cNvSpPr/>
          <p:nvPr/>
        </p:nvSpPr>
        <p:spPr>
          <a:xfrm>
            <a:off x="266783" y="1730000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4"/>
          </p:cNvPr>
          <p:cNvSpPr/>
          <p:nvPr/>
        </p:nvSpPr>
        <p:spPr>
          <a:xfrm>
            <a:off x="191751" y="3948674"/>
            <a:ext cx="75000" cy="2068558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4"/>
          </p:cNvPr>
          <p:cNvSpPr/>
          <p:nvPr/>
        </p:nvSpPr>
        <p:spPr>
          <a:xfrm>
            <a:off x="266783" y="3948674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>
            <a:hlinkClick action="ppaction://hlinksldjump" r:id="rId5"/>
          </p:cNvPr>
          <p:cNvSpPr/>
          <p:nvPr/>
        </p:nvSpPr>
        <p:spPr>
          <a:xfrm>
            <a:off x="191751" y="6167348"/>
            <a:ext cx="75000" cy="2068558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5"/>
          </p:cNvPr>
          <p:cNvSpPr/>
          <p:nvPr/>
        </p:nvSpPr>
        <p:spPr>
          <a:xfrm>
            <a:off x="266783" y="6167348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1EAFC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>
            <a:hlinkClick action="ppaction://hlinksldjump" r:id="rId6"/>
          </p:cNvPr>
          <p:cNvSpPr/>
          <p:nvPr/>
        </p:nvSpPr>
        <p:spPr>
          <a:xfrm>
            <a:off x="191751" y="8386022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>
            <a:hlinkClick action="ppaction://hlinksldjump" r:id="rId6"/>
          </p:cNvPr>
          <p:cNvSpPr/>
          <p:nvPr/>
        </p:nvSpPr>
        <p:spPr>
          <a:xfrm>
            <a:off x="266783" y="8386022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664092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3304</Words>
  <Application>Microsoft Office PowerPoint</Application>
  <PresentationFormat>Personalizado</PresentationFormat>
  <Paragraphs>733</Paragraphs>
  <Slides>22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Walnut Exporter</dc:creator>
  <cp:lastModifiedBy>Valentina Orozco</cp:lastModifiedBy>
  <cp:revision>1</cp:revision>
  <dcterms:created xsi:type="dcterms:W3CDTF">2026-08-27T19:14:29Z</dcterms:created>
  <dcterms:modified xsi:type="dcterms:W3CDTF">2026-10-03T00:59:45Z</dcterms:modified>
</cp:coreProperties>
</file>