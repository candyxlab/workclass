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3716000" cy="2438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11836400" y="-1651000"/>
            <a:ext cx="3556000" cy="3556000"/>
          </a:xfrm>
          <a:prstGeom prst="donut">
            <a:avLst>
              <a:gd name="adj" fmla="val 24285"/>
            </a:avLst>
          </a:prstGeom>
          <a:gradFill rotWithShape="1">
            <a:gsLst>
              <a:gs pos="0">
                <a:srgbClr val="664092"/>
              </a:gs>
              <a:gs pos="100000">
                <a:srgbClr val="4E6AD5"/>
              </a:gs>
            </a:gsLst>
            <a:lin scaled="0" ang="189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-1905000" y="22860000"/>
            <a:ext cx="3810000" cy="3810000"/>
          </a:xfrm>
          <a:prstGeom prst="donut">
            <a:avLst>
              <a:gd name="adj" fmla="val 24000"/>
            </a:avLst>
          </a:prstGeom>
          <a:gradFill rotWithShape="1">
            <a:gsLst>
              <a:gs pos="0">
                <a:srgbClr val="664092"/>
              </a:gs>
              <a:gs pos="100000">
                <a:srgbClr val="4E6AD5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414000" y="381000"/>
            <a:ext cx="2794000" cy="83820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5" name="Picture 4" descr="medel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508000"/>
            <a:ext cx="2438400" cy="5508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2000" y="762000"/>
            <a:ext cx="5461000" cy="457200"/>
          </a:xfrm>
          <a:prstGeom prst="roundRect">
            <a:avLst>
              <a:gd name="adj" fmla="val 50000"/>
            </a:avLst>
          </a:prstGeom>
          <a:solidFill>
            <a:srgbClr val="F1EB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2000" y="762000"/>
            <a:ext cx="5461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664092"/>
                </a:solidFill>
                <a:latin typeface="Metropolis"/>
              </a:rPr>
              <a:t>INFOGRAFÍA CONCEPTUAL · MARCO INTEGRADOR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49400"/>
            <a:ext cx="152400" cy="172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E6AD5"/>
              </a:gs>
              <a:gs pos="100000">
                <a:srgbClr val="66409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68400" y="1473200"/>
            <a:ext cx="1117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5000" b="1">
                <a:solidFill>
                  <a:srgbClr val="123A75"/>
                </a:solidFill>
                <a:latin typeface="Metropolis"/>
              </a:rPr>
              <a:t>Creatividad, pensamiento de diseño e innovación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632200"/>
            <a:ext cx="12192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455971"/>
                </a:solidFill>
                <a:latin typeface="Metropolis"/>
              </a:rPr>
              <a:t>Tres conceptos diferentes, un mismo propósito: </a:t>
            </a:r>
            <a:r>
              <a:rPr sz="2000" b="1">
                <a:solidFill>
                  <a:srgbClr val="4E6AD5"/>
                </a:solidFill>
                <a:latin typeface="Metropolis"/>
              </a:rPr>
              <a:t>generar soluciones con sentido.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4851400"/>
            <a:ext cx="12192000" cy="4724400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31750">
            <a:solidFill>
              <a:srgbClr val="F2C2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62000" y="4851400"/>
            <a:ext cx="177800" cy="4724400"/>
          </a:xfrm>
          <a:prstGeom prst="rect">
            <a:avLst/>
          </a:prstGeom>
          <a:solidFill>
            <a:srgbClr val="FFD9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270000" y="5232400"/>
            <a:ext cx="1066800" cy="1066800"/>
          </a:xfrm>
          <a:prstGeom prst="ellipse">
            <a:avLst/>
          </a:prstGeom>
          <a:solidFill>
            <a:srgbClr val="FFD9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4" name="Picture 13" descr="lightbulb_d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1300" y="5473700"/>
            <a:ext cx="584200" cy="584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590800" y="5257800"/>
            <a:ext cx="609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3D2159"/>
                </a:solidFill>
                <a:latin typeface="Metropolis"/>
              </a:rPr>
              <a:t>Creatividad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90800" y="5867400"/>
            <a:ext cx="6096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3D2159"/>
                </a:solidFill>
                <a:latin typeface="Metropolis"/>
              </a:rPr>
              <a:t>La generación de ideas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0000" y="6527800"/>
            <a:ext cx="74168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>
                <a:solidFill>
                  <a:srgbClr val="455971"/>
                </a:solidFill>
                <a:latin typeface="Metropolis"/>
              </a:rPr>
              <a:t>Capacidad de imaginar posibilidades, conectar ideas distintas y proponer alternativas originales.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70000" y="7772400"/>
            <a:ext cx="7416800" cy="1498600"/>
          </a:xfrm>
          <a:prstGeom prst="roundRect">
            <a:avLst>
              <a:gd name="adj" fmla="val 9230"/>
            </a:avLst>
          </a:prstGeom>
          <a:solidFill>
            <a:srgbClr val="FFF6C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574800" y="8128000"/>
            <a:ext cx="139700" cy="139700"/>
          </a:xfrm>
          <a:prstGeom prst="ellipse">
            <a:avLst/>
          </a:prstGeom>
          <a:solidFill>
            <a:srgbClr val="FFD9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879600" y="80137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Abre nuevas perspectivas.</a:t>
            </a:r>
          </a:p>
        </p:txBody>
      </p:sp>
      <p:sp>
        <p:nvSpPr>
          <p:cNvPr id="21" name="Oval 20"/>
          <p:cNvSpPr/>
          <p:nvPr/>
        </p:nvSpPr>
        <p:spPr>
          <a:xfrm>
            <a:off x="1574800" y="8534400"/>
            <a:ext cx="139700" cy="139700"/>
          </a:xfrm>
          <a:prstGeom prst="ellipse">
            <a:avLst/>
          </a:prstGeom>
          <a:solidFill>
            <a:srgbClr val="FFD9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879600" y="84201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Cuestiona lo establecido.</a:t>
            </a:r>
          </a:p>
        </p:txBody>
      </p:sp>
      <p:sp>
        <p:nvSpPr>
          <p:cNvPr id="23" name="Oval 22"/>
          <p:cNvSpPr/>
          <p:nvPr/>
        </p:nvSpPr>
        <p:spPr>
          <a:xfrm>
            <a:off x="1574800" y="8940800"/>
            <a:ext cx="139700" cy="139700"/>
          </a:xfrm>
          <a:prstGeom prst="ellipse">
            <a:avLst/>
          </a:prstGeom>
          <a:solidFill>
            <a:srgbClr val="FFD9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879600" y="88265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Produce múltiples ideas sin juzgarlas.</a:t>
            </a:r>
          </a:p>
        </p:txBody>
      </p:sp>
      <p:sp>
        <p:nvSpPr>
          <p:cNvPr id="25" name="Imagen 1 · Creatividad — reemplazar con la foto (Relleno con imagen)"/>
          <p:cNvSpPr/>
          <p:nvPr/>
        </p:nvSpPr>
        <p:spPr>
          <a:xfrm>
            <a:off x="9093200" y="5232400"/>
            <a:ext cx="3454400" cy="3962400"/>
          </a:xfrm>
          <a:prstGeom prst="roundRect">
            <a:avLst>
              <a:gd name="adj" fmla="val 5925"/>
            </a:avLst>
          </a:prstGeom>
          <a:solidFill>
            <a:srgbClr val="FFF6C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578600" y="9601200"/>
            <a:ext cx="558800" cy="5588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BB3C0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30" name="Picture 29" descr="plus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2900" y="9715500"/>
            <a:ext cx="330200" cy="33020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62000" y="10185400"/>
            <a:ext cx="12192000" cy="4724400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31750">
            <a:solidFill>
              <a:srgbClr val="66409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762000" y="10185400"/>
            <a:ext cx="177800" cy="4724400"/>
          </a:xfrm>
          <a:prstGeom prst="rect">
            <a:avLst/>
          </a:prstGeom>
          <a:solidFill>
            <a:srgbClr val="66409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270000" y="10566400"/>
            <a:ext cx="1066800" cy="1066800"/>
          </a:xfrm>
          <a:prstGeom prst="ellipse">
            <a:avLst/>
          </a:prstGeom>
          <a:solidFill>
            <a:srgbClr val="66409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34" name="Picture 33" descr="users-roun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1300" y="10807700"/>
            <a:ext cx="584200" cy="584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590800" y="10591800"/>
            <a:ext cx="609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664092"/>
                </a:solidFill>
                <a:latin typeface="Metropolis"/>
              </a:rPr>
              <a:t>Pensamiento de diseño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90800" y="11201400"/>
            <a:ext cx="6096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3D2159"/>
                </a:solidFill>
                <a:latin typeface="Metropolis"/>
              </a:rPr>
              <a:t>La forma de abordar los problemas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70000" y="11861800"/>
            <a:ext cx="74168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>
                <a:solidFill>
                  <a:srgbClr val="455971"/>
                </a:solidFill>
                <a:latin typeface="Metropolis"/>
              </a:rPr>
              <a:t>Proceso centrado en las personas que integra empatía, definición, ideación, prototipado y prueba para encontrar soluciones viables, deseables y factibles.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70000" y="13106400"/>
            <a:ext cx="7416800" cy="1498600"/>
          </a:xfrm>
          <a:prstGeom prst="roundRect">
            <a:avLst>
              <a:gd name="adj" fmla="val 9230"/>
            </a:avLst>
          </a:prstGeom>
          <a:solidFill>
            <a:srgbClr val="F1EB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574800" y="13462000"/>
            <a:ext cx="139700" cy="139700"/>
          </a:xfrm>
          <a:prstGeom prst="ellipse">
            <a:avLst/>
          </a:prstGeom>
          <a:solidFill>
            <a:srgbClr val="66409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879600" y="133477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Parte de necesidades reales.</a:t>
            </a:r>
          </a:p>
        </p:txBody>
      </p:sp>
      <p:sp>
        <p:nvSpPr>
          <p:cNvPr id="41" name="Oval 40"/>
          <p:cNvSpPr/>
          <p:nvPr/>
        </p:nvSpPr>
        <p:spPr>
          <a:xfrm>
            <a:off x="1574800" y="13868400"/>
            <a:ext cx="139700" cy="139700"/>
          </a:xfrm>
          <a:prstGeom prst="ellipse">
            <a:avLst/>
          </a:prstGeom>
          <a:solidFill>
            <a:srgbClr val="66409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879600" y="137541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Combina la creatividad con un proceso estructurado.</a:t>
            </a:r>
          </a:p>
        </p:txBody>
      </p:sp>
      <p:sp>
        <p:nvSpPr>
          <p:cNvPr id="43" name="Oval 42"/>
          <p:cNvSpPr/>
          <p:nvPr/>
        </p:nvSpPr>
        <p:spPr>
          <a:xfrm>
            <a:off x="1574800" y="14274800"/>
            <a:ext cx="139700" cy="139700"/>
          </a:xfrm>
          <a:prstGeom prst="ellipse">
            <a:avLst/>
          </a:prstGeom>
          <a:solidFill>
            <a:srgbClr val="66409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879600" y="141605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Valida ideas con las personas usuarias.</a:t>
            </a:r>
          </a:p>
        </p:txBody>
      </p:sp>
      <p:sp>
        <p:nvSpPr>
          <p:cNvPr id="45" name="Imagen 2 · Pensamiento de diseño — reemplazar con la foto (Relleno con imagen)"/>
          <p:cNvSpPr/>
          <p:nvPr/>
        </p:nvSpPr>
        <p:spPr>
          <a:xfrm>
            <a:off x="9093200" y="10566400"/>
            <a:ext cx="3454400" cy="3962400"/>
          </a:xfrm>
          <a:prstGeom prst="roundRect">
            <a:avLst>
              <a:gd name="adj" fmla="val 5925"/>
            </a:avLst>
          </a:prstGeom>
          <a:solidFill>
            <a:srgbClr val="F1EB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6578600" y="14935200"/>
            <a:ext cx="558800" cy="5588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BB3C0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50" name="Picture 49" descr="plus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2900" y="15049500"/>
            <a:ext cx="330200" cy="330200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762000" y="15519400"/>
            <a:ext cx="12192000" cy="4724400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31750">
            <a:solidFill>
              <a:srgbClr val="2A56C6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762000" y="15519400"/>
            <a:ext cx="177800" cy="4724400"/>
          </a:xfrm>
          <a:prstGeom prst="rect">
            <a:avLst/>
          </a:prstGeom>
          <a:solidFill>
            <a:srgbClr val="2A56C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1270000" y="15900400"/>
            <a:ext cx="1066800" cy="1066800"/>
          </a:xfrm>
          <a:prstGeom prst="ellipse">
            <a:avLst/>
          </a:prstGeom>
          <a:solidFill>
            <a:srgbClr val="2A56C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54" name="Picture 53" descr="trending-up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11300" y="16141700"/>
            <a:ext cx="584200" cy="5842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590800" y="15925800"/>
            <a:ext cx="609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2A56C6"/>
                </a:solidFill>
                <a:latin typeface="Metropolis"/>
              </a:rPr>
              <a:t>Innovación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90800" y="16535400"/>
            <a:ext cx="6096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3D2159"/>
                </a:solidFill>
                <a:latin typeface="Metropolis"/>
              </a:rPr>
              <a:t>La puesta en práctica con impacto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70000" y="17195800"/>
            <a:ext cx="74168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>
                <a:solidFill>
                  <a:srgbClr val="455971"/>
                </a:solidFill>
                <a:latin typeface="Metropolis"/>
              </a:rPr>
              <a:t>Implementación de soluciones que generan valor real en contextos específicos, con mejoras tangibles en la vida de las personas y las organizaciones.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270000" y="18440400"/>
            <a:ext cx="7416800" cy="1498600"/>
          </a:xfrm>
          <a:prstGeom prst="roundRect">
            <a:avLst>
              <a:gd name="adj" fmla="val 9230"/>
            </a:avLst>
          </a:prstGeom>
          <a:solidFill>
            <a:srgbClr val="E8F1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1574800" y="18796000"/>
            <a:ext cx="139700" cy="139700"/>
          </a:xfrm>
          <a:prstGeom prst="ellipse">
            <a:avLst/>
          </a:prstGeom>
          <a:solidFill>
            <a:srgbClr val="2A56C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879600" y="186817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Convierte ideas en resultados.</a:t>
            </a:r>
          </a:p>
        </p:txBody>
      </p:sp>
      <p:sp>
        <p:nvSpPr>
          <p:cNvPr id="61" name="Oval 60"/>
          <p:cNvSpPr/>
          <p:nvPr/>
        </p:nvSpPr>
        <p:spPr>
          <a:xfrm>
            <a:off x="1574800" y="19202400"/>
            <a:ext cx="139700" cy="139700"/>
          </a:xfrm>
          <a:prstGeom prst="ellipse">
            <a:avLst/>
          </a:prstGeom>
          <a:solidFill>
            <a:srgbClr val="2A56C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879600" y="190881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Genera valor social, económico o ambiental.</a:t>
            </a:r>
          </a:p>
        </p:txBody>
      </p:sp>
      <p:sp>
        <p:nvSpPr>
          <p:cNvPr id="63" name="Oval 62"/>
          <p:cNvSpPr/>
          <p:nvPr/>
        </p:nvSpPr>
        <p:spPr>
          <a:xfrm>
            <a:off x="1574800" y="19608800"/>
            <a:ext cx="139700" cy="139700"/>
          </a:xfrm>
          <a:prstGeom prst="ellipse">
            <a:avLst/>
          </a:prstGeom>
          <a:solidFill>
            <a:srgbClr val="2A56C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879600" y="194945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Implica apropiación, sostenibilidad y escala.</a:t>
            </a:r>
          </a:p>
        </p:txBody>
      </p:sp>
      <p:sp>
        <p:nvSpPr>
          <p:cNvPr id="65" name="Imagen 3 · Innovación — reemplazar con la foto (Relleno con imagen)"/>
          <p:cNvSpPr/>
          <p:nvPr/>
        </p:nvSpPr>
        <p:spPr>
          <a:xfrm>
            <a:off x="9093200" y="15900400"/>
            <a:ext cx="3454400" cy="3962400"/>
          </a:xfrm>
          <a:prstGeom prst="roundRect">
            <a:avLst>
              <a:gd name="adj" fmla="val 5925"/>
            </a:avLst>
          </a:prstGeom>
          <a:solidFill>
            <a:srgbClr val="E8F1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9" name="Rounded Rectangle 68"/>
          <p:cNvSpPr/>
          <p:nvPr/>
        </p:nvSpPr>
        <p:spPr>
          <a:xfrm>
            <a:off x="762000" y="20701000"/>
            <a:ext cx="12192000" cy="1778000"/>
          </a:xfrm>
          <a:prstGeom prst="roundRect">
            <a:avLst>
              <a:gd name="adj" fmla="val 13432"/>
            </a:avLst>
          </a:prstGeom>
          <a:gradFill rotWithShape="1">
            <a:gsLst>
              <a:gs pos="0">
                <a:srgbClr val="4B1E78"/>
              </a:gs>
              <a:gs pos="100000">
                <a:srgbClr val="2A56C6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1219200" y="21082000"/>
            <a:ext cx="1016000" cy="1016000"/>
          </a:xfrm>
          <a:prstGeom prst="ellipse">
            <a:avLst/>
          </a:prstGeom>
          <a:solidFill>
            <a:srgbClr val="FFD9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71" name="Picture 70" descr="target_d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47800" y="21310600"/>
            <a:ext cx="558800" cy="55880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616200" y="20980400"/>
            <a:ext cx="3175000" cy="431800"/>
          </a:xfrm>
          <a:prstGeom prst="roundRect">
            <a:avLst>
              <a:gd name="adj" fmla="val 50000"/>
            </a:avLst>
          </a:prstGeom>
          <a:solidFill>
            <a:srgbClr val="FFD9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2616200" y="20980400"/>
            <a:ext cx="3175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3D2159"/>
                </a:solidFill>
                <a:latin typeface="Metropolis"/>
              </a:rPr>
              <a:t>UN MISMO PROPÓSITO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616200" y="21513800"/>
            <a:ext cx="9906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>
                <a:solidFill>
                  <a:srgbClr val="FFFFFF"/>
                </a:solidFill>
                <a:latin typeface="Metropolis"/>
              </a:rPr>
              <a:t>Generar soluciones con sentido, </a:t>
            </a:r>
            <a:r>
              <a:rPr sz="1900" b="0">
                <a:solidFill>
                  <a:srgbClr val="FFFFFF"/>
                </a:solidFill>
                <a:latin typeface="Metropolis"/>
              </a:rPr>
              <a:t>que respondan a necesidades reales y mejoren la vida de las personas.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86000" y="23342600"/>
            <a:ext cx="5461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44992"/>
                </a:solidFill>
                <a:latin typeface="Metropolis"/>
              </a:rPr>
              <a:t>Nota. </a:t>
            </a:r>
            <a:r>
              <a:rPr sz="1200" b="0">
                <a:solidFill>
                  <a:srgbClr val="044992"/>
                </a:solidFill>
                <a:latin typeface="Metropolis"/>
              </a:rPr>
              <a:t>Elaboración propia con base en Brown (2008), IDEO.org (2015) y Hasso Plattner Institute of Design at Stanford (s. f.).</a:t>
            </a:r>
          </a:p>
        </p:txBody>
      </p:sp>
      <p:pic>
        <p:nvPicPr>
          <p:cNvPr id="76" name="Picture 75" descr="logo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0" y="23291800"/>
            <a:ext cx="4826000" cy="812800"/>
          </a:xfrm>
          <a:prstGeom prst="rect">
            <a:avLst/>
          </a:prstGeom>
        </p:spPr>
      </p:pic>
      <p:pic>
        <p:nvPicPr>
          <p:cNvPr id="77" name="Picture 76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48900" y="5537200"/>
            <a:ext cx="1143000" cy="1143000"/>
          </a:xfrm>
          <a:prstGeom prst="rect">
            <a:avLst/>
          </a:prstGeom>
        </p:spPr>
      </p:pic>
      <p:sp>
        <p:nvSpPr>
          <p:cNvPr id="78" name="Rounded Rectangle 77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21800" y="6985000"/>
            <a:ext cx="2997200" cy="1524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F2C2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quote_d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7213600"/>
            <a:ext cx="355600" cy="35560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9601200" y="7645400"/>
            <a:ext cx="2489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8A6D00"/>
                </a:solidFill>
                <a:latin typeface="Arial"/>
              </a:rPr>
              <a:t>«Imaginar lo que podría ser»</a:t>
            </a:r>
          </a:p>
        </p:txBody>
      </p:sp>
      <p:pic>
        <p:nvPicPr>
          <p:cNvPr id="80" name="Picture 79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48900" y="10871200"/>
            <a:ext cx="1143000" cy="1143000"/>
          </a:xfrm>
          <a:prstGeom prst="rect">
            <a:avLst/>
          </a:prstGeom>
        </p:spPr>
      </p:pic>
      <p:sp>
        <p:nvSpPr>
          <p:cNvPr id="81" name="Rounded Rectangle 8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21800" y="12319000"/>
            <a:ext cx="2997200" cy="1524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66409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quote_p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12547600"/>
            <a:ext cx="355600" cy="35560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601200" y="12979400"/>
            <a:ext cx="2489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64092"/>
                </a:solidFill>
                <a:latin typeface="Arial"/>
              </a:rPr>
              <a:t>«Diseñar con y para las personas»</a:t>
            </a:r>
          </a:p>
        </p:txBody>
      </p:sp>
      <p:pic>
        <p:nvPicPr>
          <p:cNvPr id="83" name="Picture 8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248900" y="16205200"/>
            <a:ext cx="1143000" cy="1143000"/>
          </a:xfrm>
          <a:prstGeom prst="rect">
            <a:avLst/>
          </a:prstGeom>
        </p:spPr>
      </p:pic>
      <p:sp>
        <p:nvSpPr>
          <p:cNvPr id="84" name="Rounded Rectangle 8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21800" y="17653000"/>
            <a:ext cx="2997200" cy="1524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56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6" name="Picture 65" descr="quote_b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1200" y="17881600"/>
            <a:ext cx="355600" cy="35560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601200" y="18313400"/>
            <a:ext cx="2489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2A56C6"/>
                </a:solidFill>
                <a:latin typeface="Arial"/>
              </a:rPr>
              <a:t>“Hacer que suceda en el mundo real”</a:t>
            </a:r>
          </a:p>
        </p:txBody>
      </p:sp>
      <p:sp>
        <p:nvSpPr>
          <p:cNvPr id="86" name="Rounded Rectangle 8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2000" y="4318000"/>
            <a:ext cx="12192000" cy="635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2C8F"/>
              </a:gs>
              <a:gs pos="100000">
                <a:srgbClr val="5FD3E0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