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716000" cy="24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836400" y="-1651000"/>
            <a:ext cx="3556000" cy="3556000"/>
          </a:xfrm>
          <a:prstGeom prst="donut">
            <a:avLst>
              <a:gd name="adj" fmla="val 24285"/>
            </a:avLst>
          </a:prstGeom>
          <a:gradFill rotWithShape="1">
            <a:gsLst>
              <a:gs pos="0">
                <a:srgbClr val="664092"/>
              </a:gs>
              <a:gs pos="100000">
                <a:srgbClr val="4E6AD5"/>
              </a:gs>
            </a:gsLst>
            <a:lin scaled="0" ang="189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1905000" y="22860000"/>
            <a:ext cx="3810000" cy="3810000"/>
          </a:xfrm>
          <a:prstGeom prst="donut">
            <a:avLst>
              <a:gd name="adj" fmla="val 24000"/>
            </a:avLst>
          </a:prstGeom>
          <a:gradFill rotWithShape="1">
            <a:gsLst>
              <a:gs pos="0">
                <a:srgbClr val="664092"/>
              </a:gs>
              <a:gs pos="100000">
                <a:srgbClr val="4E6AD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14000" y="381000"/>
            <a:ext cx="2794000" cy="8382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5" name="Picture 4" descr="medel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508000"/>
            <a:ext cx="2438400" cy="5508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2000" y="762000"/>
            <a:ext cx="5461000" cy="457200"/>
          </a:xfrm>
          <a:prstGeom prst="roundRect">
            <a:avLst>
              <a:gd name="adj" fmla="val 50000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546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664092"/>
                </a:solidFill>
                <a:latin typeface="Metropolis"/>
              </a:rPr>
              <a:t>INFOGRAFÍA CONCEPTUAL · MARCO INTEGRADOR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49400"/>
            <a:ext cx="152400" cy="172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E6AD5"/>
              </a:gs>
              <a:gs pos="100000">
                <a:srgbClr val="66409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68400" y="1473200"/>
            <a:ext cx="1117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5000" b="1">
                <a:solidFill>
                  <a:srgbClr val="123A75"/>
                </a:solidFill>
                <a:latin typeface="Metropolis"/>
              </a:rPr>
              <a:t>Creatividad, pensamiento de diseño e innovación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632200"/>
            <a:ext cx="12192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455971"/>
                </a:solidFill>
                <a:latin typeface="Metropolis"/>
              </a:rPr>
              <a:t>Tres conceptos diferentes, un mismo propósito: </a:t>
            </a:r>
            <a:r>
              <a:rPr sz="2000" b="1">
                <a:solidFill>
                  <a:srgbClr val="4E6AD5"/>
                </a:solidFill>
                <a:latin typeface="Metropolis"/>
              </a:rPr>
              <a:t>generar soluciones con sentido.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4800600"/>
            <a:ext cx="12192000" cy="46228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F2C2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65200" y="5156200"/>
            <a:ext cx="88900" cy="3911600"/>
          </a:xfrm>
          <a:prstGeom prst="rect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270000" y="5181600"/>
            <a:ext cx="1066800" cy="10668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7" name="Picture 86" descr="ph_lightbulb-fill_3D215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85900" y="5397500"/>
            <a:ext cx="635000" cy="63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90800" y="52070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3D2159"/>
                </a:solidFill>
                <a:latin typeface="Metropolis"/>
              </a:rPr>
              <a:t>Creatividad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0800" y="58166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generación de ideas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0000" y="64770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Capacidad de imaginar posibilidades, conectar ideas distintas y proponer alternativas originales.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70000" y="77216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FFF6C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74800" y="80772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79600" y="79629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Abre nuevas perspectivas.</a:t>
            </a:r>
          </a:p>
        </p:txBody>
      </p:sp>
      <p:sp>
        <p:nvSpPr>
          <p:cNvPr id="21" name="Oval 20"/>
          <p:cNvSpPr/>
          <p:nvPr/>
        </p:nvSpPr>
        <p:spPr>
          <a:xfrm>
            <a:off x="1574800" y="84836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79600" y="83693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Cuestiona lo establecido.</a:t>
            </a:r>
          </a:p>
        </p:txBody>
      </p:sp>
      <p:sp>
        <p:nvSpPr>
          <p:cNvPr id="23" name="Oval 22"/>
          <p:cNvSpPr/>
          <p:nvPr/>
        </p:nvSpPr>
        <p:spPr>
          <a:xfrm>
            <a:off x="1574800" y="8890000"/>
            <a:ext cx="139700" cy="1397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79600" y="87757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Produce múltiples ideas sin juzgarlas.</a:t>
            </a:r>
          </a:p>
        </p:txBody>
      </p:sp>
      <p:sp>
        <p:nvSpPr>
          <p:cNvPr id="25" name="Imagen 1 · Creatividad — reemplazar con la foto (Relleno con imagen)"/>
          <p:cNvSpPr/>
          <p:nvPr/>
        </p:nvSpPr>
        <p:spPr>
          <a:xfrm>
            <a:off x="9093200" y="5181600"/>
            <a:ext cx="3454400" cy="3860800"/>
          </a:xfrm>
          <a:prstGeom prst="roundRect">
            <a:avLst>
              <a:gd name="adj" fmla="val 5925"/>
            </a:avLst>
          </a:prstGeom>
          <a:solidFill>
            <a:srgbClr val="FFF6C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604000" y="9626600"/>
            <a:ext cx="508000" cy="508000"/>
          </a:xfrm>
          <a:prstGeom prst="ellipse">
            <a:avLst/>
          </a:prstGeom>
          <a:solidFill>
            <a:srgbClr val="1FA9B8"/>
          </a:solidFill>
          <a:ln w="31750"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96" name="Picture 95" descr="ph_plus-bold_FFFFFF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31000" y="9753600"/>
            <a:ext cx="254000" cy="2540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62000" y="10337800"/>
            <a:ext cx="12192000" cy="46228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66409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65200" y="10693400"/>
            <a:ext cx="88900" cy="3911600"/>
          </a:xfrm>
          <a:prstGeom prst="rect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270000" y="10718800"/>
            <a:ext cx="1066800" cy="10668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8" name="Picture 87" descr="ph_users-three-fill_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85900" y="10934700"/>
            <a:ext cx="635000" cy="635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590800" y="107442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664092"/>
                </a:solidFill>
                <a:latin typeface="Metropolis"/>
              </a:rPr>
              <a:t>Pensamiento de diseño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0800" y="113538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forma de abordar los problemas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0000" y="120142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Proceso centrado en las personas que integra empatía, definición, ideación, prototipado y prueba para encontrar soluciones viables, deseables y factibles.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70000" y="132588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574800" y="136144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879600" y="135001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Parte de necesidades reales.</a:t>
            </a:r>
          </a:p>
        </p:txBody>
      </p:sp>
      <p:sp>
        <p:nvSpPr>
          <p:cNvPr id="41" name="Oval 40"/>
          <p:cNvSpPr/>
          <p:nvPr/>
        </p:nvSpPr>
        <p:spPr>
          <a:xfrm>
            <a:off x="1574800" y="140208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879600" y="139065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Combina la creatividad con un proceso estructurado.</a:t>
            </a:r>
          </a:p>
        </p:txBody>
      </p:sp>
      <p:sp>
        <p:nvSpPr>
          <p:cNvPr id="43" name="Oval 42"/>
          <p:cNvSpPr/>
          <p:nvPr/>
        </p:nvSpPr>
        <p:spPr>
          <a:xfrm>
            <a:off x="1574800" y="14427200"/>
            <a:ext cx="139700" cy="139700"/>
          </a:xfrm>
          <a:prstGeom prst="ellipse">
            <a:avLst/>
          </a:prstGeom>
          <a:solidFill>
            <a:srgbClr val="66409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879600" y="143129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Valida ideas con las personas usuarias.</a:t>
            </a:r>
          </a:p>
        </p:txBody>
      </p:sp>
      <p:sp>
        <p:nvSpPr>
          <p:cNvPr id="45" name="Imagen 2 · Pensamiento de diseño — reemplazar con la foto (Relleno con imagen)"/>
          <p:cNvSpPr/>
          <p:nvPr/>
        </p:nvSpPr>
        <p:spPr>
          <a:xfrm>
            <a:off x="9093200" y="10718800"/>
            <a:ext cx="3454400" cy="3860800"/>
          </a:xfrm>
          <a:prstGeom prst="roundRect">
            <a:avLst>
              <a:gd name="adj" fmla="val 5925"/>
            </a:avLst>
          </a:prstGeom>
          <a:solidFill>
            <a:srgbClr val="F1EB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604000" y="15163800"/>
            <a:ext cx="508000" cy="508000"/>
          </a:xfrm>
          <a:prstGeom prst="ellipse">
            <a:avLst/>
          </a:prstGeom>
          <a:solidFill>
            <a:srgbClr val="1FA9B8"/>
          </a:solidFill>
          <a:ln w="31750"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97" name="Picture 96" descr="ph_plus-bold_FFFFFF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31000" y="15290800"/>
            <a:ext cx="254000" cy="25400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762000" y="15875000"/>
            <a:ext cx="12192000" cy="46228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31750">
            <a:solidFill>
              <a:srgbClr val="2A56C6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965200" y="16230600"/>
            <a:ext cx="88900" cy="3911600"/>
          </a:xfrm>
          <a:prstGeom prst="rect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1270000" y="16256000"/>
            <a:ext cx="1066800" cy="10668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9" name="Picture 88" descr="ph_chart-bar-fill_FFFFF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85900" y="16471900"/>
            <a:ext cx="635000" cy="635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590800" y="16281400"/>
            <a:ext cx="609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2A56C6"/>
                </a:solidFill>
                <a:latin typeface="Metropolis"/>
              </a:rPr>
              <a:t>Innovación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90800" y="168910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2159"/>
                </a:solidFill>
                <a:latin typeface="Metropolis"/>
              </a:rPr>
              <a:t>La puesta en práctica con impacto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0000" y="17551400"/>
            <a:ext cx="741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>
                <a:solidFill>
                  <a:srgbClr val="455971"/>
                </a:solidFill>
                <a:latin typeface="Metropolis"/>
              </a:rPr>
              <a:t>Implementación de soluciones que generan valor real en contextos específicos, con mejoras tangibles en la vida de las personas y las organizaciones.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270000" y="18796000"/>
            <a:ext cx="7416800" cy="1498600"/>
          </a:xfrm>
          <a:prstGeom prst="roundRect">
            <a:avLst>
              <a:gd name="adj" fmla="val 9230"/>
            </a:avLst>
          </a:prstGeom>
          <a:solidFill>
            <a:srgbClr val="E8F1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1574800" y="191516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879600" y="190373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Convierte ideas en resultados.</a:t>
            </a:r>
          </a:p>
        </p:txBody>
      </p:sp>
      <p:sp>
        <p:nvSpPr>
          <p:cNvPr id="61" name="Oval 60"/>
          <p:cNvSpPr/>
          <p:nvPr/>
        </p:nvSpPr>
        <p:spPr>
          <a:xfrm>
            <a:off x="1574800" y="195580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879600" y="194437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Genera valor social, económico o ambiental.</a:t>
            </a:r>
          </a:p>
        </p:txBody>
      </p:sp>
      <p:sp>
        <p:nvSpPr>
          <p:cNvPr id="63" name="Oval 62"/>
          <p:cNvSpPr/>
          <p:nvPr/>
        </p:nvSpPr>
        <p:spPr>
          <a:xfrm>
            <a:off x="1574800" y="19964400"/>
            <a:ext cx="139700" cy="139700"/>
          </a:xfrm>
          <a:prstGeom prst="ellipse">
            <a:avLst/>
          </a:prstGeom>
          <a:solidFill>
            <a:srgbClr val="2A56C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879600" y="19850100"/>
            <a:ext cx="660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2159"/>
                </a:solidFill>
                <a:latin typeface="Metropolis"/>
              </a:rPr>
              <a:t>Implica apropiación, sostenibilidad y escala.</a:t>
            </a:r>
          </a:p>
        </p:txBody>
      </p:sp>
      <p:sp>
        <p:nvSpPr>
          <p:cNvPr id="65" name="Imagen 3 · Innovación — reemplazar con la foto (Relleno con imagen)"/>
          <p:cNvSpPr/>
          <p:nvPr/>
        </p:nvSpPr>
        <p:spPr>
          <a:xfrm>
            <a:off x="9093200" y="16256000"/>
            <a:ext cx="3454400" cy="3860800"/>
          </a:xfrm>
          <a:prstGeom prst="roundRect">
            <a:avLst>
              <a:gd name="adj" fmla="val 5925"/>
            </a:avLst>
          </a:prstGeom>
          <a:solidFill>
            <a:srgbClr val="E8F1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762000" y="20955000"/>
            <a:ext cx="12192000" cy="1778000"/>
          </a:xfrm>
          <a:prstGeom prst="roundRect">
            <a:avLst>
              <a:gd name="adj" fmla="val 13432"/>
            </a:avLst>
          </a:prstGeom>
          <a:gradFill rotWithShape="1">
            <a:gsLst>
              <a:gs pos="0">
                <a:srgbClr val="4B1E78"/>
              </a:gs>
              <a:gs pos="100000">
                <a:srgbClr val="2A56C6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219200" y="21336000"/>
            <a:ext cx="1016000" cy="1016000"/>
          </a:xfrm>
          <a:prstGeom prst="ellipse">
            <a:avLst/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98" name="Picture 97" descr="ph_target-fill_3D2159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422400" y="21539200"/>
            <a:ext cx="609600" cy="609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616200" y="21234400"/>
            <a:ext cx="3175000" cy="431800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2616200" y="21234400"/>
            <a:ext cx="3175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3D2159"/>
                </a:solidFill>
                <a:latin typeface="Metropolis"/>
              </a:rPr>
              <a:t>UN MISMO PROPÓSITO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16200" y="21767800"/>
            <a:ext cx="9906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FFFFFF"/>
                </a:solidFill>
                <a:latin typeface="Metropolis"/>
              </a:rPr>
              <a:t>Generar soluciones con sentido, </a:t>
            </a:r>
            <a:r>
              <a:rPr sz="1900" b="0">
                <a:solidFill>
                  <a:srgbClr val="FFFFFF"/>
                </a:solidFill>
                <a:latin typeface="Metropolis"/>
              </a:rPr>
              <a:t>que respondan a necesidades reales y mejoren la vida de las personas.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23342600"/>
            <a:ext cx="5461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44992"/>
                </a:solidFill>
                <a:latin typeface="Metropolis"/>
              </a:rPr>
              <a:t>Nota. </a:t>
            </a:r>
            <a:r>
              <a:rPr sz="1200" b="0">
                <a:solidFill>
                  <a:srgbClr val="044992"/>
                </a:solidFill>
                <a:latin typeface="Metropolis"/>
              </a:rPr>
              <a:t>Elaboración propia con base en Brown (2008), IDEO.org (2015) y Hasso Plattner Institute of Design at Stanford (s. f.).</a:t>
            </a:r>
          </a:p>
        </p:txBody>
      </p:sp>
      <p:pic>
        <p:nvPicPr>
          <p:cNvPr id="76" name="Picture 75" descr="log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0" y="23291800"/>
            <a:ext cx="4826000" cy="812800"/>
          </a:xfrm>
          <a:prstGeom prst="rect">
            <a:avLst/>
          </a:prstGeom>
        </p:spPr>
      </p:pic>
      <p:pic>
        <p:nvPicPr>
          <p:cNvPr id="90" name="Picture 89" descr="ph_lightbulb-filament-fill_E0B00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72700" y="5410200"/>
            <a:ext cx="1295400" cy="1295400"/>
          </a:xfrm>
          <a:prstGeom prst="rect">
            <a:avLst/>
          </a:prstGeom>
        </p:spPr>
      </p:pic>
      <p:sp>
        <p:nvSpPr>
          <p:cNvPr id="78" name="Rounded Rectangle 7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69342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3" name="Picture 92" descr="ph_quotes-fill_C9A00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575800" y="7137400"/>
            <a:ext cx="406400" cy="4064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601200" y="75946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8A6D00"/>
                </a:solidFill>
                <a:latin typeface="Arial"/>
              </a:rPr>
              <a:t>«Imaginar lo que podría ser»</a:t>
            </a:r>
          </a:p>
        </p:txBody>
      </p:sp>
      <p:pic>
        <p:nvPicPr>
          <p:cNvPr id="91" name="Picture 90" descr="ph_note-pencil-fill_8A63B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72700" y="10947400"/>
            <a:ext cx="1295400" cy="1295400"/>
          </a:xfrm>
          <a:prstGeom prst="rect">
            <a:avLst/>
          </a:prstGeom>
        </p:spPr>
      </p:pic>
      <p:sp>
        <p:nvSpPr>
          <p:cNvPr id="81" name="Rounded Rectangle 8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124714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ph_quotes-fill_664092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75800" y="12674600"/>
            <a:ext cx="406400" cy="4064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01200" y="131318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64092"/>
                </a:solidFill>
                <a:latin typeface="Arial"/>
              </a:rPr>
              <a:t>«Diseñar con y para las personas»</a:t>
            </a:r>
          </a:p>
        </p:txBody>
      </p:sp>
      <p:pic>
        <p:nvPicPr>
          <p:cNvPr id="92" name="Picture 91" descr="ph_cube-fill_5E83D6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72700" y="16484600"/>
            <a:ext cx="1295400" cy="1295400"/>
          </a:xfrm>
          <a:prstGeom prst="rect">
            <a:avLst/>
          </a:prstGeom>
        </p:spPr>
      </p:pic>
      <p:sp>
        <p:nvSpPr>
          <p:cNvPr id="84" name="Rounded Rectangle 8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21800" y="18008600"/>
            <a:ext cx="2997200" cy="1524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5" name="Picture 94" descr="ph_quotes-fill_2A56C6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75800" y="18211800"/>
            <a:ext cx="406400" cy="4064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01200" y="18669000"/>
            <a:ext cx="248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A56C6"/>
                </a:solidFill>
                <a:latin typeface="Arial"/>
              </a:rPr>
              <a:t>“Hacer que suceda en el mundo real”</a:t>
            </a:r>
          </a:p>
        </p:txBody>
      </p:sp>
      <p:sp>
        <p:nvSpPr>
          <p:cNvPr id="86" name="Rounded Rectangle 8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2000" y="4318000"/>
            <a:ext cx="121920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2C8F"/>
              </a:gs>
              <a:gs pos="100000">
                <a:srgbClr val="5FD3E0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