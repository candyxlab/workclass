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243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1836400" y="-1651000"/>
            <a:ext cx="3556000" cy="3556000"/>
          </a:xfrm>
          <a:prstGeom prst="donut">
            <a:avLst>
              <a:gd name="adj" fmla="val 24285"/>
            </a:avLst>
          </a:prstGeom>
          <a:gradFill rotWithShape="1">
            <a:gsLst>
              <a:gs pos="0">
                <a:srgbClr val="664092"/>
              </a:gs>
              <a:gs pos="100000">
                <a:srgbClr val="4E6AD5"/>
              </a:gs>
            </a:gsLst>
            <a:lin scaled="0" ang="18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-1651000" y="22733000"/>
            <a:ext cx="3810000" cy="3810000"/>
          </a:xfrm>
          <a:prstGeom prst="donut">
            <a:avLst>
              <a:gd name="adj" fmla="val 24000"/>
            </a:avLst>
          </a:prstGeom>
          <a:gradFill rotWithShape="1">
            <a:gsLst>
              <a:gs pos="0">
                <a:srgbClr val="664092"/>
              </a:gs>
              <a:gs pos="100000">
                <a:srgbClr val="4E6AD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14000" y="381000"/>
            <a:ext cx="2794000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" name="Picture 4" descr="medel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508000"/>
            <a:ext cx="2438400" cy="5508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2000" y="711200"/>
            <a:ext cx="5461000" cy="457200"/>
          </a:xfrm>
          <a:prstGeom prst="roundRect">
            <a:avLst>
              <a:gd name="adj" fmla="val 50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2000" y="711200"/>
            <a:ext cx="5461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64092"/>
                </a:solidFill>
                <a:latin typeface="Metropolis"/>
              </a:rPr>
              <a:t>INFOGRAFÍA CONCEPTUAL · MARCO INTEGRADOR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473200"/>
            <a:ext cx="152400" cy="1676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E6AD5"/>
              </a:gs>
              <a:gs pos="100000">
                <a:srgbClr val="66409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68400" y="1371600"/>
            <a:ext cx="1143000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5000" b="1">
                <a:solidFill>
                  <a:srgbClr val="123A75"/>
                </a:solidFill>
                <a:latin typeface="Metropolis"/>
              </a:rPr>
              <a:t>Creatividad, pensamiento de diseño e innovación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1219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455971"/>
                </a:solidFill>
                <a:latin typeface="Metropolis"/>
              </a:rPr>
              <a:t>Tres conceptos diferentes, un mismo propósito: </a:t>
            </a:r>
            <a:r>
              <a:rPr sz="1900" b="1">
                <a:solidFill>
                  <a:srgbClr val="4E6AD5"/>
                </a:solidFill>
                <a:latin typeface="Metropolis"/>
              </a:rPr>
              <a:t>generar soluciones con sentido.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4318000"/>
            <a:ext cx="12192000" cy="4673600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28575">
            <a:solidFill>
              <a:srgbClr val="FFD9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62000" y="4318000"/>
            <a:ext cx="177800" cy="4673600"/>
          </a:xfrm>
          <a:prstGeom prst="rect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244600" y="4648200"/>
            <a:ext cx="1066800" cy="1066800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" name="Picture 13" descr="lightbulb_d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4889500"/>
            <a:ext cx="584200" cy="584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40000" y="4673600"/>
            <a:ext cx="6350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3D2159"/>
                </a:solidFill>
                <a:latin typeface="Metropolis"/>
              </a:rPr>
              <a:t>Creatividad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0000" y="5283200"/>
            <a:ext cx="635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D2159"/>
                </a:solidFill>
                <a:latin typeface="Metropolis"/>
              </a:rPr>
              <a:t>La generación de ideas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4600" y="5943600"/>
            <a:ext cx="7620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455971"/>
                </a:solidFill>
                <a:latin typeface="Metropolis"/>
              </a:rPr>
              <a:t>Capacidad de imaginar posibilidades, conectar ideas distintas y proponer alternativas originales.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4600" y="6985000"/>
            <a:ext cx="7620000" cy="1651000"/>
          </a:xfrm>
          <a:prstGeom prst="roundRect">
            <a:avLst>
              <a:gd name="adj" fmla="val 9230"/>
            </a:avLst>
          </a:prstGeom>
          <a:solidFill>
            <a:srgbClr val="FFF6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498600" y="7264400"/>
            <a:ext cx="152400" cy="152400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03400" y="71628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Abre nuevas perspectivas.</a:t>
            </a:r>
          </a:p>
        </p:txBody>
      </p:sp>
      <p:sp>
        <p:nvSpPr>
          <p:cNvPr id="21" name="Oval 20"/>
          <p:cNvSpPr/>
          <p:nvPr/>
        </p:nvSpPr>
        <p:spPr>
          <a:xfrm>
            <a:off x="1498600" y="7721600"/>
            <a:ext cx="152400" cy="152400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803400" y="76200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Cuestiona lo establecido.</a:t>
            </a:r>
          </a:p>
        </p:txBody>
      </p:sp>
      <p:sp>
        <p:nvSpPr>
          <p:cNvPr id="23" name="Oval 22"/>
          <p:cNvSpPr/>
          <p:nvPr/>
        </p:nvSpPr>
        <p:spPr>
          <a:xfrm>
            <a:off x="1498600" y="8178800"/>
            <a:ext cx="152400" cy="152400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803400" y="80772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Produce múltiples ideas sin juzgarlas.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94800" y="4648200"/>
            <a:ext cx="3429000" cy="4013200"/>
          </a:xfrm>
          <a:prstGeom prst="roundRect">
            <a:avLst>
              <a:gd name="adj" fmla="val 5925"/>
            </a:avLst>
          </a:prstGeom>
          <a:solidFill>
            <a:srgbClr val="FFF6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6" name="Picture 25" descr="quote_d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5257800"/>
            <a:ext cx="558800" cy="558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25000" y="5969000"/>
            <a:ext cx="279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6D00"/>
                </a:solidFill>
                <a:latin typeface="Metropolis"/>
              </a:rPr>
              <a:t>IDEA CLAVE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6375400"/>
            <a:ext cx="28194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3D2159"/>
                </a:solidFill>
                <a:latin typeface="Metropolis"/>
              </a:rPr>
              <a:t>«Imaginar lo que podría ser»</a:t>
            </a:r>
          </a:p>
        </p:txBody>
      </p:sp>
      <p:sp>
        <p:nvSpPr>
          <p:cNvPr id="29" name="Oval 28"/>
          <p:cNvSpPr/>
          <p:nvPr/>
        </p:nvSpPr>
        <p:spPr>
          <a:xfrm>
            <a:off x="6578600" y="90297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6AD5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30" name="Picture 29" descr="plus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900" y="9144000"/>
            <a:ext cx="330200" cy="3302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62000" y="9626600"/>
            <a:ext cx="12192000" cy="4673600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28575">
            <a:solidFill>
              <a:srgbClr val="66409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62000" y="9626600"/>
            <a:ext cx="177800" cy="4673600"/>
          </a:xfrm>
          <a:prstGeom prst="rect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244600" y="9956800"/>
            <a:ext cx="1066800" cy="10668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4" name="Picture 33" descr="users-roun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0198100"/>
            <a:ext cx="584200" cy="584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540000" y="9982200"/>
            <a:ext cx="6350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664092"/>
                </a:solidFill>
                <a:latin typeface="Metropolis"/>
              </a:rPr>
              <a:t>Pensamiento de diseño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40000" y="10591800"/>
            <a:ext cx="635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D2159"/>
                </a:solidFill>
                <a:latin typeface="Metropolis"/>
              </a:rPr>
              <a:t>La forma de abordar los problemas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4600" y="11252200"/>
            <a:ext cx="7620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455971"/>
                </a:solidFill>
                <a:latin typeface="Metropolis"/>
              </a:rPr>
              <a:t>Proceso centrado en las personas que integra empatía, definición, ideación, prototipado y prueba para encontrar soluciones viables, deseables y factibles.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44600" y="12293600"/>
            <a:ext cx="7620000" cy="1651000"/>
          </a:xfrm>
          <a:prstGeom prst="roundRect">
            <a:avLst>
              <a:gd name="adj" fmla="val 923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498600" y="12573000"/>
            <a:ext cx="152400" cy="1524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803400" y="124714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Parte de necesidades reales.</a:t>
            </a:r>
          </a:p>
        </p:txBody>
      </p:sp>
      <p:sp>
        <p:nvSpPr>
          <p:cNvPr id="41" name="Oval 40"/>
          <p:cNvSpPr/>
          <p:nvPr/>
        </p:nvSpPr>
        <p:spPr>
          <a:xfrm>
            <a:off x="1498600" y="13030200"/>
            <a:ext cx="152400" cy="1524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803400" y="129286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Combina la creatividad con un proceso estructurado.</a:t>
            </a:r>
          </a:p>
        </p:txBody>
      </p:sp>
      <p:sp>
        <p:nvSpPr>
          <p:cNvPr id="43" name="Oval 42"/>
          <p:cNvSpPr/>
          <p:nvPr/>
        </p:nvSpPr>
        <p:spPr>
          <a:xfrm>
            <a:off x="1498600" y="13487400"/>
            <a:ext cx="152400" cy="1524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803400" y="133858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Valida ideas con las personas usuarias.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94800" y="9956800"/>
            <a:ext cx="3429000" cy="4013200"/>
          </a:xfrm>
          <a:prstGeom prst="roundRect">
            <a:avLst>
              <a:gd name="adj" fmla="val 5925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6" name="Picture 45" descr="quote_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0566400"/>
            <a:ext cx="558800" cy="558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525000" y="11277600"/>
            <a:ext cx="279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64092"/>
                </a:solidFill>
                <a:latin typeface="Metropolis"/>
              </a:rPr>
              <a:t>IDEA CLAVE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5000" y="11684000"/>
            <a:ext cx="28194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664092"/>
                </a:solidFill>
                <a:latin typeface="Metropolis"/>
              </a:rPr>
              <a:t>«Diseñar con y para las personas»</a:t>
            </a:r>
          </a:p>
        </p:txBody>
      </p:sp>
      <p:sp>
        <p:nvSpPr>
          <p:cNvPr id="49" name="Oval 48"/>
          <p:cNvSpPr/>
          <p:nvPr/>
        </p:nvSpPr>
        <p:spPr>
          <a:xfrm>
            <a:off x="6578600" y="143383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6AD5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50" name="Picture 49" descr="plus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900" y="14452600"/>
            <a:ext cx="330200" cy="33020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762000" y="14935200"/>
            <a:ext cx="12192000" cy="4673600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28575">
            <a:solidFill>
              <a:srgbClr val="2A56C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762000" y="14935200"/>
            <a:ext cx="177800" cy="4673600"/>
          </a:xfrm>
          <a:prstGeom prst="rect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1244600" y="15265400"/>
            <a:ext cx="1066800" cy="10668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4" name="Picture 53" descr="trending-u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15506700"/>
            <a:ext cx="584200" cy="5842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540000" y="15290800"/>
            <a:ext cx="6350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2A56C6"/>
                </a:solidFill>
                <a:latin typeface="Metropolis"/>
              </a:rPr>
              <a:t>Innovación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0000" y="15900400"/>
            <a:ext cx="635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3D2159"/>
                </a:solidFill>
                <a:latin typeface="Metropolis"/>
              </a:rPr>
              <a:t>La puesta en práctica con impacto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44600" y="16560800"/>
            <a:ext cx="7620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455971"/>
                </a:solidFill>
                <a:latin typeface="Metropolis"/>
              </a:rPr>
              <a:t>Implementación de soluciones que generan valor real en contextos específicos, con mejoras tangibles en la vida de las personas y las organizaciones.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44600" y="17602200"/>
            <a:ext cx="7620000" cy="1651000"/>
          </a:xfrm>
          <a:prstGeom prst="roundRect">
            <a:avLst>
              <a:gd name="adj" fmla="val 9230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1498600" y="17881600"/>
            <a:ext cx="152400" cy="1524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803400" y="177800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Convierte ideas en resultados.</a:t>
            </a:r>
          </a:p>
        </p:txBody>
      </p:sp>
      <p:sp>
        <p:nvSpPr>
          <p:cNvPr id="61" name="Oval 60"/>
          <p:cNvSpPr/>
          <p:nvPr/>
        </p:nvSpPr>
        <p:spPr>
          <a:xfrm>
            <a:off x="1498600" y="18338800"/>
            <a:ext cx="152400" cy="1524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803400" y="182372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Genera valor social, económico o ambiental.</a:t>
            </a:r>
          </a:p>
        </p:txBody>
      </p:sp>
      <p:sp>
        <p:nvSpPr>
          <p:cNvPr id="63" name="Oval 62"/>
          <p:cNvSpPr/>
          <p:nvPr/>
        </p:nvSpPr>
        <p:spPr>
          <a:xfrm>
            <a:off x="1498600" y="18796000"/>
            <a:ext cx="152400" cy="1524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803400" y="18694400"/>
            <a:ext cx="685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>
                <a:solidFill>
                  <a:srgbClr val="3D2159"/>
                </a:solidFill>
                <a:latin typeface="Metropolis"/>
              </a:rPr>
              <a:t>Implica apropiación, sostenibilidad y escala.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94800" y="15265400"/>
            <a:ext cx="3429000" cy="4013200"/>
          </a:xfrm>
          <a:prstGeom prst="roundRect">
            <a:avLst>
              <a:gd name="adj" fmla="val 5925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6" name="Picture 65" descr="quote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15875000"/>
            <a:ext cx="558800" cy="5588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525000" y="16586200"/>
            <a:ext cx="279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56C6"/>
                </a:solidFill>
                <a:latin typeface="Metropolis"/>
              </a:rPr>
              <a:t>IDEA CLAVE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25000" y="16992600"/>
            <a:ext cx="28194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2A56C6"/>
                </a:solidFill>
                <a:latin typeface="Metropolis"/>
              </a:rPr>
              <a:t>“Hacer que suceda en el mundo real”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2000" y="19989800"/>
            <a:ext cx="12192000" cy="1701800"/>
          </a:xfrm>
          <a:prstGeom prst="roundRect">
            <a:avLst>
              <a:gd name="adj" fmla="val 13432"/>
            </a:avLst>
          </a:prstGeom>
          <a:solidFill>
            <a:srgbClr val="3D21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1168400" y="20332700"/>
            <a:ext cx="1016000" cy="1016000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1" name="Picture 70" descr="target_d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7000" y="20561300"/>
            <a:ext cx="558800" cy="55880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540000" y="20243800"/>
            <a:ext cx="3175000" cy="40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2540000" y="20243800"/>
            <a:ext cx="317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3D2159"/>
                </a:solidFill>
                <a:latin typeface="Metropolis"/>
              </a:rPr>
              <a:t>UN MISMO PROPÓSITO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40000" y="20726400"/>
            <a:ext cx="100330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FFFFFF"/>
                </a:solidFill>
                <a:latin typeface="Metropolis"/>
              </a:rPr>
              <a:t>Generar soluciones con sentido, </a:t>
            </a:r>
            <a:r>
              <a:rPr sz="1900" b="0">
                <a:solidFill>
                  <a:srgbClr val="FFFFFF"/>
                </a:solidFill>
                <a:latin typeface="Metropolis"/>
              </a:rPr>
              <a:t>que respondan a necesidades reales y mejoren la vida de las personas.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2000" y="21894800"/>
            <a:ext cx="12192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44992"/>
                </a:solidFill>
                <a:latin typeface="Metropolis"/>
              </a:rPr>
              <a:t>Nota. </a:t>
            </a:r>
            <a:r>
              <a:rPr sz="1300" b="0">
                <a:solidFill>
                  <a:srgbClr val="044992"/>
                </a:solidFill>
                <a:latin typeface="Metropolis"/>
              </a:rPr>
              <a:t>Elaboración propia con base en Brown (2008), IDEO.org (2015) y Hasso Plattner Institute of Design at Stanford (s. f.).</a:t>
            </a:r>
          </a:p>
        </p:txBody>
      </p:sp>
      <p:pic>
        <p:nvPicPr>
          <p:cNvPr id="76" name="Picture 75" descr="logo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8000" y="23241000"/>
            <a:ext cx="4826000" cy="8141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