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Design1"/>
    <p:sldId id="257" r:id="rIdDesign2"/>
    <p:sldId id="258" r:id="rIdDesign3"/>
    <p:sldId id="259" r:id="rIdDesign4"/>
    <p:sldId id="260" r:id="rIdDesign5"/>
    <p:sldId id="261" r:id="rIdDesign6"/>
    <p:sldId id="262" r:id="rIdDesign7"/>
    <p:sldId id="263" r:id="rIdDesign8"/>
    <p:sldId id="264" r:id="rIdDesign9"/>
    <p:sldId id="265" r:id="rIdDesign10"/>
    <p:sldId id="266" r:id="rIdDesign11"/>
    <p:sldId id="267" r:id="rId19"/>
  </p:sldIdLst>
  <p:sldSz cx="19050000" cy="9525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00">
          <p15:clr>
            <a:srgbClr val="A4A3A4"/>
          </p15:clr>
        </p15:guide>
        <p15:guide id="2" pos="600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dYhJTyk5Wl6Aw+H8Uxe4AokdY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89"/>
    <a:srgbClr val="F1EBF6"/>
    <a:srgbClr val="FFFFFF"/>
    <a:srgbClr val="7AE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102" y="930"/>
      </p:cViewPr>
      <p:guideLst>
        <p:guide orient="horz" pos="3000"/>
        <p:guide pos="60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Design1" Type="http://schemas.openxmlformats.org/officeDocument/2006/relationships/slide" Target="slides/slide1.xml"/><Relationship Id="rIdDesign10" Type="http://schemas.openxmlformats.org/officeDocument/2006/relationships/slide" Target="slides/slide10.xml"/><Relationship Id="rIdDesign11" Type="http://schemas.openxmlformats.org/officeDocument/2006/relationships/slide" Target="slides/slide11.xml"/><Relationship Id="rIdDesign2" Type="http://schemas.openxmlformats.org/officeDocument/2006/relationships/slide" Target="slides/slide2.xml"/><Relationship Id="rIdDesign3" Type="http://schemas.openxmlformats.org/officeDocument/2006/relationships/slide" Target="slides/slide3.xml"/><Relationship Id="rIdDesign4" Type="http://schemas.openxmlformats.org/officeDocument/2006/relationships/slide" Target="slides/slide4.xml"/><Relationship Id="rIdDesign5" Type="http://schemas.openxmlformats.org/officeDocument/2006/relationships/slide" Target="slides/slide5.xml"/><Relationship Id="rIdDesign6" Type="http://schemas.openxmlformats.org/officeDocument/2006/relationships/slide" Target="slides/slide6.xml"/><Relationship Id="rIdDesign7" Type="http://schemas.openxmlformats.org/officeDocument/2006/relationships/slide" Target="slides/slide7.xml"/><Relationship Id="rIdDesign8" Type="http://schemas.openxmlformats.org/officeDocument/2006/relationships/slide" Target="slides/slide8.xml"/><Relationship Id="rIdDesign9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3" Type="http://customschemas.google.com/relationships/presentationmetadata" Target="meta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NotesNative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InstitutionDots" Type="http://schemas.openxmlformats.org/officeDocument/2006/relationships/image" Target="../media/image4.png"/><Relationship Id="rIdNotesNative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38234" y="1777023"/>
            <a:ext cx="8252354" cy="825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1-1003">
              <a:extLst>
                <a:ext uri="{FF2B5EF4-FFF2-40B4-BE49-F238E27FC236}">
                  <a16:creationId xmlns:a16="http://schemas.microsoft.com/office/drawing/2014/main" id="{53152049-5628-44F5-B347-AA46F8475BAB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2114550"/>
              <a:ext cx="14573250" cy="457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Módulo 2 · Pensamiento de diseño y generación de soluciones</a:t>
              </a:r>
            </a:p>
          </p:txBody>
        </p:sp>
        <p:sp>
          <p:nvSpPr>
            <p:cNvPr id="1004" name="academic-1-1004">
              <a:extLst>
                <a:ext uri="{FF2B5EF4-FFF2-40B4-BE49-F238E27FC236}">
                  <a16:creationId xmlns:a16="http://schemas.microsoft.com/office/drawing/2014/main" id="{DE2DD006-A0FD-4EFA-8096-804153D79408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3019425"/>
              <a:ext cx="14859000" cy="1809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52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52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Comprender antes de proponer:</a:t>
              </a:r>
            </a:p>
            <a:p>
              <a:pPr algn="l">
                <a:defRPr sz="52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52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el proceso del pensamiento de diseño</a:t>
              </a:r>
            </a:p>
          </p:txBody>
        </p:sp>
        <p:sp>
          <p:nvSpPr>
            <p:cNvPr id="1005" name="academic-1-1005">
              <a:extLst>
                <a:ext uri="{FF2B5EF4-FFF2-40B4-BE49-F238E27FC236}">
                  <a16:creationId xmlns:a16="http://schemas.microsoft.com/office/drawing/2014/main" id="{53E7293A-22EC-415F-BF5B-505EBABB352F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4953000"/>
              <a:ext cx="13382625" cy="953"/>
            </a:xfrm>
            <a:custGeom>
              <a:pathLst>
                <a:path w="13382625" h="953">
                  <a:moveTo>
                    <a:pt x="0" y="0"/>
                  </a:moveTo>
                  <a:lnTo>
                    <a:pt x="13382625" y="0"/>
                  </a:lnTo>
                </a:path>
              </a:pathLst>
            </a:custGeom>
            <a:noFill/>
            <a:ln w="57150">
              <a:solidFill>
                <a:srgbClr val="FFD900"/>
              </a:solidFill>
            </a:ln>
          </p:spPr>
        </p:sp>
        <p:sp>
          <p:nvSpPr>
            <p:cNvPr id="1006" name="academic-1-1006">
              <a:extLst>
                <a:ext uri="{FF2B5EF4-FFF2-40B4-BE49-F238E27FC236}">
                  <a16:creationId xmlns:a16="http://schemas.microsoft.com/office/drawing/2014/main" id="{F9973C2B-47F6-4861-A177-6C27CC97C989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5248275"/>
              <a:ext cx="13620750" cy="11144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8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8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De la comprensión de las personas a la experimentación</a:t>
              </a:r>
            </a:p>
            <a:p>
              <a:pPr algn="l">
                <a:defRPr sz="28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8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y el aprendizaje con soluciones.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2-1003">
              <a:extLst>
                <a:ext uri="{FF2B5EF4-FFF2-40B4-BE49-F238E27FC236}">
                  <a16:creationId xmlns:a16="http://schemas.microsoft.com/office/drawing/2014/main" id="{867FF760-D5DC-4A77-B710-57FBC5491F8F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2-1004">
              <a:extLst>
                <a:ext uri="{FF2B5EF4-FFF2-40B4-BE49-F238E27FC236}">
                  <a16:creationId xmlns:a16="http://schemas.microsoft.com/office/drawing/2014/main" id="{A3A85C17-97A9-4370-84D6-274E47B461C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39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39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Antes de buscar soluciones, necesitamos comprender</a:t>
              </a:r>
            </a:p>
          </p:txBody>
        </p:sp>
        <p:sp>
          <p:nvSpPr>
            <p:cNvPr id="1005" name="academic-2-1005">
              <a:extLst>
                <a:ext uri="{FF2B5EF4-FFF2-40B4-BE49-F238E27FC236}">
                  <a16:creationId xmlns:a16="http://schemas.microsoft.com/office/drawing/2014/main" id="{A98FAB6A-CF40-49D0-96EB-0F80A78D8ABC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2-1006">
              <a:extLst>
                <a:ext uri="{FF2B5EF4-FFF2-40B4-BE49-F238E27FC236}">
                  <a16:creationId xmlns:a16="http://schemas.microsoft.com/office/drawing/2014/main" id="{B4F06A67-6063-4859-A555-6DEA0A9CD887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02 / 11</a:t>
              </a:r>
            </a:p>
          </p:txBody>
        </p:sp>
        <p:sp>
          <p:nvSpPr>
            <p:cNvPr id="1007" name="academic-2-1007">
              <a:extLst>
                <a:ext uri="{FF2B5EF4-FFF2-40B4-BE49-F238E27FC236}">
                  <a16:creationId xmlns:a16="http://schemas.microsoft.com/office/drawing/2014/main" id="{2921C450-AFA2-4809-9BF3-89FCD1A4B4B9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81300"/>
              <a:ext cx="15335250" cy="1066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En contextos de innovación resulta tentador comenzar preguntándonos qué producto, servicio o solución debemos desarrollar.</a:t>
              </a:r>
            </a:p>
            <a:p>
              <a:pPr algn="l">
                <a:def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El pensamiento de diseño propone cambiar el punto de partida.</a:t>
              </a:r>
            </a:p>
          </p:txBody>
        </p:sp>
        <p:sp>
          <p:nvSpPr>
            <p:cNvPr id="1008" name="academic-2-1008">
              <a:extLst>
                <a:ext uri="{FF2B5EF4-FFF2-40B4-BE49-F238E27FC236}">
                  <a16:creationId xmlns:a16="http://schemas.microsoft.com/office/drawing/2014/main" id="{D4770387-699F-437C-8F6F-0F54B288B01A}"/>
                </a:ext>
              </a:extLst>
            </p:cNvPr>
            <p:cNvSpPr>
              <a:spLocks noGrp="1"/>
            </p:cNvSpPr>
            <p:nvPr/>
          </p:nvSpPr>
          <p:spPr>
            <a:xfrm>
              <a:off x="2019300" y="3962400"/>
              <a:ext cx="4749800" cy="923925"/>
            </a:xfrm>
            <a:prstGeom prst="roundRect">
              <a:avLst>
                <a:gd name="adj" fmla="val 22680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09" name="academic-2-1009">
              <a:extLst>
                <a:ext uri="{FF2B5EF4-FFF2-40B4-BE49-F238E27FC236}">
                  <a16:creationId xmlns:a16="http://schemas.microsoft.com/office/drawing/2014/main" id="{A85109CA-AE91-40F1-9254-04FFED9180FB}"/>
                </a:ext>
              </a:extLst>
            </p:cNvPr>
            <p:cNvSpPr>
              <a:spLocks noGrp="1"/>
            </p:cNvSpPr>
            <p:nvPr/>
          </p:nvSpPr>
          <p:spPr>
            <a:xfrm>
              <a:off x="2190750" y="4133850"/>
              <a:ext cx="4406900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SUPUESTO SOBRE</a:t>
              </a:r>
            </a:p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LA SOLUCIÓN</a:t>
              </a:r>
            </a:p>
          </p:txBody>
        </p:sp>
        <p:sp>
          <p:nvSpPr>
            <p:cNvPr id="1010" name="academic-2-1010">
              <a:extLst>
                <a:ext uri="{FF2B5EF4-FFF2-40B4-BE49-F238E27FC236}">
                  <a16:creationId xmlns:a16="http://schemas.microsoft.com/office/drawing/2014/main" id="{9CCE824D-7D3D-4A40-B4E1-3D79194BEC43}"/>
                </a:ext>
              </a:extLst>
            </p:cNvPr>
            <p:cNvSpPr>
              <a:spLocks noGrp="1"/>
            </p:cNvSpPr>
            <p:nvPr/>
          </p:nvSpPr>
          <p:spPr>
            <a:xfrm>
              <a:off x="6854825" y="4424363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1" name="academic-2-1011">
              <a:extLst>
                <a:ext uri="{FF2B5EF4-FFF2-40B4-BE49-F238E27FC236}">
                  <a16:creationId xmlns:a16="http://schemas.microsoft.com/office/drawing/2014/main" id="{47D35688-8DD5-4979-92A8-32F4D183A2A9}"/>
                </a:ext>
              </a:extLst>
            </p:cNvPr>
            <p:cNvSpPr>
              <a:spLocks noGrp="1"/>
            </p:cNvSpPr>
            <p:nvPr/>
          </p:nvSpPr>
          <p:spPr>
            <a:xfrm>
              <a:off x="7043131" y="4364619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2" name="academic-2-1012">
              <a:extLst>
                <a:ext uri="{FF2B5EF4-FFF2-40B4-BE49-F238E27FC236}">
                  <a16:creationId xmlns:a16="http://schemas.microsoft.com/office/drawing/2014/main" id="{9FA55668-A979-4FF3-B930-834F49FC29BA}"/>
                </a:ext>
              </a:extLst>
            </p:cNvPr>
            <p:cNvSpPr>
              <a:spLocks noGrp="1"/>
            </p:cNvSpPr>
            <p:nvPr/>
          </p:nvSpPr>
          <p:spPr>
            <a:xfrm>
              <a:off x="7226300" y="3962400"/>
              <a:ext cx="4749800" cy="923925"/>
            </a:xfrm>
            <a:prstGeom prst="roundRect">
              <a:avLst>
                <a:gd name="adj" fmla="val 22680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3" name="academic-2-1013">
              <a:extLst>
                <a:ext uri="{FF2B5EF4-FFF2-40B4-BE49-F238E27FC236}">
                  <a16:creationId xmlns:a16="http://schemas.microsoft.com/office/drawing/2014/main" id="{9A0CB4C4-0984-49A0-B8B7-D8401FCAE218}"/>
                </a:ext>
              </a:extLst>
            </p:cNvPr>
            <p:cNvSpPr>
              <a:spLocks noGrp="1"/>
            </p:cNvSpPr>
            <p:nvPr/>
          </p:nvSpPr>
          <p:spPr>
            <a:xfrm>
              <a:off x="7397750" y="4133850"/>
              <a:ext cx="4406900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COMPRENDER EL PROBLEMA</a:t>
              </a:r>
            </a:p>
            <a:p>
              <a:pPr algn="ctr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Y A LAS PERSONAS</a:t>
              </a:r>
            </a:p>
          </p:txBody>
        </p:sp>
        <p:sp>
          <p:nvSpPr>
            <p:cNvPr id="1014" name="academic-2-1014">
              <a:extLst>
                <a:ext uri="{FF2B5EF4-FFF2-40B4-BE49-F238E27FC236}">
                  <a16:creationId xmlns:a16="http://schemas.microsoft.com/office/drawing/2014/main" id="{4013A955-7229-480F-A6DE-3DB0A995126F}"/>
                </a:ext>
              </a:extLst>
            </p:cNvPr>
            <p:cNvSpPr>
              <a:spLocks noGrp="1"/>
            </p:cNvSpPr>
            <p:nvPr/>
          </p:nvSpPr>
          <p:spPr>
            <a:xfrm>
              <a:off x="12061825" y="4424363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5" name="academic-2-1015">
              <a:extLst>
                <a:ext uri="{FF2B5EF4-FFF2-40B4-BE49-F238E27FC236}">
                  <a16:creationId xmlns:a16="http://schemas.microsoft.com/office/drawing/2014/main" id="{EC49BA38-6249-493B-AFCA-49022F78A792}"/>
                </a:ext>
              </a:extLst>
            </p:cNvPr>
            <p:cNvSpPr>
              <a:spLocks noGrp="1"/>
            </p:cNvSpPr>
            <p:nvPr/>
          </p:nvSpPr>
          <p:spPr>
            <a:xfrm>
              <a:off x="12250131" y="4364619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6" name="academic-2-1016">
              <a:extLst>
                <a:ext uri="{FF2B5EF4-FFF2-40B4-BE49-F238E27FC236}">
                  <a16:creationId xmlns:a16="http://schemas.microsoft.com/office/drawing/2014/main" id="{B6E6829F-4A49-48D7-8B62-D74591B6FDB1}"/>
                </a:ext>
              </a:extLst>
            </p:cNvPr>
            <p:cNvSpPr>
              <a:spLocks noGrp="1"/>
            </p:cNvSpPr>
            <p:nvPr/>
          </p:nvSpPr>
          <p:spPr>
            <a:xfrm>
              <a:off x="12433300" y="3962400"/>
              <a:ext cx="4749800" cy="923925"/>
            </a:xfrm>
            <a:prstGeom prst="roundRect">
              <a:avLst>
                <a:gd name="adj" fmla="val 22680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7" name="academic-2-1017">
              <a:extLst>
                <a:ext uri="{FF2B5EF4-FFF2-40B4-BE49-F238E27FC236}">
                  <a16:creationId xmlns:a16="http://schemas.microsoft.com/office/drawing/2014/main" id="{559D6CC5-824B-4766-B2AB-BBB4BE4B5E24}"/>
                </a:ext>
              </a:extLst>
            </p:cNvPr>
            <p:cNvSpPr>
              <a:spLocks noGrp="1"/>
            </p:cNvSpPr>
            <p:nvPr/>
          </p:nvSpPr>
          <p:spPr>
            <a:xfrm>
              <a:off x="12604750" y="4133850"/>
              <a:ext cx="4406900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EXPLORAR POSIBLES</a:t>
              </a:r>
            </a:p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SOLUCIONES</a:t>
              </a:r>
            </a:p>
          </p:txBody>
        </p:sp>
        <p:sp>
          <p:nvSpPr>
            <p:cNvPr id="1018" name="academic-2-1018">
              <a:extLst>
                <a:ext uri="{FF2B5EF4-FFF2-40B4-BE49-F238E27FC236}">
                  <a16:creationId xmlns:a16="http://schemas.microsoft.com/office/drawing/2014/main" id="{98441C19-0753-460E-92FA-A10B1CE59841}"/>
                </a:ext>
              </a:extLst>
            </p:cNvPr>
            <p:cNvSpPr>
              <a:spLocks noGrp="1"/>
            </p:cNvSpPr>
            <p:nvPr/>
          </p:nvSpPr>
          <p:spPr>
            <a:xfrm>
              <a:off x="2028825" y="5114925"/>
              <a:ext cx="14954250" cy="4095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Antes de decidir qué construir, buscamos comprender:</a:t>
              </a:r>
            </a:p>
          </p:txBody>
        </p:sp>
        <p:sp>
          <p:nvSpPr>
            <p:cNvPr id="1019" name="academic-2-1019">
              <a:extLst>
                <a:ext uri="{FF2B5EF4-FFF2-40B4-BE49-F238E27FC236}">
                  <a16:creationId xmlns:a16="http://schemas.microsoft.com/office/drawing/2014/main" id="{5341CA8F-A9C8-4FE2-8305-6843AD89EB3C}"/>
                </a:ext>
              </a:extLst>
            </p:cNvPr>
            <p:cNvSpPr>
              <a:spLocks noGrp="1"/>
            </p:cNvSpPr>
            <p:nvPr/>
          </p:nvSpPr>
          <p:spPr>
            <a:xfrm>
              <a:off x="2047875" y="5686425"/>
              <a:ext cx="57150" cy="571500"/>
            </a:xfrm>
            <a:prstGeom prst="rect">
              <a:avLst/>
            </a:prstGeom>
            <a:solidFill>
              <a:srgbClr val="664092"/>
            </a:solidFill>
            <a:ln w="14288">
              <a:noFill/>
            </a:ln>
          </p:spPr>
        </p:sp>
        <p:sp>
          <p:nvSpPr>
            <p:cNvPr id="1020" name="academic-2-1020">
              <a:extLst>
                <a:ext uri="{FF2B5EF4-FFF2-40B4-BE49-F238E27FC236}">
                  <a16:creationId xmlns:a16="http://schemas.microsoft.com/office/drawing/2014/main" id="{0A564AA1-C955-475D-A179-F7AFD2290044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5657850"/>
              <a:ext cx="7315200" cy="7143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¿Qué necesidad existe?</a:t>
              </a:r>
            </a:p>
          </p:txBody>
        </p:sp>
        <p:sp>
          <p:nvSpPr>
            <p:cNvPr id="1021" name="academic-2-1021">
              <a:extLst>
                <a:ext uri="{FF2B5EF4-FFF2-40B4-BE49-F238E27FC236}">
                  <a16:creationId xmlns:a16="http://schemas.microsoft.com/office/drawing/2014/main" id="{2E62C1D5-481F-4E41-842D-B43D1163F88F}"/>
                </a:ext>
              </a:extLst>
            </p:cNvPr>
            <p:cNvSpPr>
              <a:spLocks noGrp="1"/>
            </p:cNvSpPr>
            <p:nvPr/>
          </p:nvSpPr>
          <p:spPr>
            <a:xfrm>
              <a:off x="10001250" y="5686425"/>
              <a:ext cx="57150" cy="571500"/>
            </a:xfrm>
            <a:prstGeom prst="rect">
              <a:avLst/>
            </a:prstGeom>
            <a:solidFill>
              <a:srgbClr val="A71989"/>
            </a:solidFill>
            <a:ln w="14288">
              <a:noFill/>
            </a:ln>
          </p:spPr>
        </p:sp>
        <p:sp>
          <p:nvSpPr>
            <p:cNvPr id="1022" name="academic-2-1022">
              <a:extLst>
                <a:ext uri="{FF2B5EF4-FFF2-40B4-BE49-F238E27FC236}">
                  <a16:creationId xmlns:a16="http://schemas.microsoft.com/office/drawing/2014/main" id="{2D4F3A27-78DA-4A36-979B-E2B825A1390F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5657850"/>
              <a:ext cx="7315200" cy="7143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¿Cómo la viven las personas?</a:t>
              </a:r>
            </a:p>
          </p:txBody>
        </p:sp>
        <p:sp>
          <p:nvSpPr>
            <p:cNvPr id="1023" name="academic-2-1023">
              <a:extLst>
                <a:ext uri="{FF2B5EF4-FFF2-40B4-BE49-F238E27FC236}">
                  <a16:creationId xmlns:a16="http://schemas.microsoft.com/office/drawing/2014/main" id="{70885B1C-5B6D-4C35-A240-B4AF99FBEF9B}"/>
                </a:ext>
              </a:extLst>
            </p:cNvPr>
            <p:cNvSpPr>
              <a:spLocks noGrp="1"/>
            </p:cNvSpPr>
            <p:nvPr/>
          </p:nvSpPr>
          <p:spPr>
            <a:xfrm>
              <a:off x="2047875" y="6457950"/>
              <a:ext cx="57150" cy="571500"/>
            </a:xfrm>
            <a:prstGeom prst="rect">
              <a:avLst/>
            </a:prstGeom>
            <a:solidFill>
              <a:srgbClr val="664092"/>
            </a:solidFill>
            <a:ln w="14288">
              <a:noFill/>
            </a:ln>
          </p:spPr>
        </p:sp>
        <p:sp>
          <p:nvSpPr>
            <p:cNvPr id="1024" name="academic-2-1024">
              <a:extLst>
                <a:ext uri="{FF2B5EF4-FFF2-40B4-BE49-F238E27FC236}">
                  <a16:creationId xmlns:a16="http://schemas.microsoft.com/office/drawing/2014/main" id="{439EEB21-8599-4B4F-B7B7-6C3EF5737F32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6429375"/>
              <a:ext cx="7315200" cy="7143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¿Qué dificultades aparecen en su experiencia?</a:t>
              </a:r>
            </a:p>
          </p:txBody>
        </p:sp>
        <p:sp>
          <p:nvSpPr>
            <p:cNvPr id="1025" name="academic-2-1025">
              <a:extLst>
                <a:ext uri="{FF2B5EF4-FFF2-40B4-BE49-F238E27FC236}">
                  <a16:creationId xmlns:a16="http://schemas.microsoft.com/office/drawing/2014/main" id="{2F056E52-AEE7-4DCD-A3EE-B33B293616F2}"/>
                </a:ext>
              </a:extLst>
            </p:cNvPr>
            <p:cNvSpPr>
              <a:spLocks noGrp="1"/>
            </p:cNvSpPr>
            <p:nvPr/>
          </p:nvSpPr>
          <p:spPr>
            <a:xfrm>
              <a:off x="10001250" y="6457950"/>
              <a:ext cx="57150" cy="571500"/>
            </a:xfrm>
            <a:prstGeom prst="rect">
              <a:avLst/>
            </a:prstGeom>
            <a:solidFill>
              <a:srgbClr val="A71989"/>
            </a:solidFill>
            <a:ln w="14288">
              <a:noFill/>
            </a:ln>
          </p:spPr>
        </p:sp>
        <p:sp>
          <p:nvSpPr>
            <p:cNvPr id="1026" name="academic-2-1026">
              <a:extLst>
                <a:ext uri="{FF2B5EF4-FFF2-40B4-BE49-F238E27FC236}">
                  <a16:creationId xmlns:a16="http://schemas.microsoft.com/office/drawing/2014/main" id="{B81F5959-238C-4173-B9BE-65C133E7F98C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6429375"/>
              <a:ext cx="7315200" cy="7143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¿Qué oportunidades podemos reconocer</a:t>
              </a:r>
            </a:p>
            <a:p>
              <a:pPr algn="l">
                <a:def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a partir de esa comprensión?</a:t>
              </a:r>
            </a:p>
          </p:txBody>
        </p:sp>
        <p:sp>
          <p:nvSpPr>
            <p:cNvPr id="1027" name="academic-2-1027">
              <a:extLst>
                <a:ext uri="{FF2B5EF4-FFF2-40B4-BE49-F238E27FC236}">
                  <a16:creationId xmlns:a16="http://schemas.microsoft.com/office/drawing/2014/main" id="{426BC946-EACE-4AE1-A75C-D936D9B85027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28" name="academic-2-1028">
              <a:extLst>
                <a:ext uri="{FF2B5EF4-FFF2-40B4-BE49-F238E27FC236}">
                  <a16:creationId xmlns:a16="http://schemas.microsoft.com/office/drawing/2014/main" id="{826A93F3-2121-481E-8D47-CAEE859E5389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29" name="academic-2-1029">
              <a:extLst>
                <a:ext uri="{FF2B5EF4-FFF2-40B4-BE49-F238E27FC236}">
                  <a16:creationId xmlns:a16="http://schemas.microsoft.com/office/drawing/2014/main" id="{DE22D68F-E69B-4250-813F-618C7E9FC48A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El problema se convierte en un espacio de investigación antes que en una afirmación definitiva.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3-1003">
              <a:extLst>
                <a:ext uri="{FF2B5EF4-FFF2-40B4-BE49-F238E27FC236}">
                  <a16:creationId xmlns:a16="http://schemas.microsoft.com/office/drawing/2014/main" id="{DB1C87A3-6B4C-492F-A5E4-E156230B3950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3-1004">
              <a:extLst>
                <a:ext uri="{FF2B5EF4-FFF2-40B4-BE49-F238E27FC236}">
                  <a16:creationId xmlns:a16="http://schemas.microsoft.com/office/drawing/2014/main" id="{A821881C-A39F-47FB-BCDF-1CD6135CDD94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36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36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Design Thinking: diseñar desde la comprensión de las personas</a:t>
              </a:r>
            </a:p>
          </p:txBody>
        </p:sp>
        <p:sp>
          <p:nvSpPr>
            <p:cNvPr id="1005" name="academic-3-1005">
              <a:extLst>
                <a:ext uri="{FF2B5EF4-FFF2-40B4-BE49-F238E27FC236}">
                  <a16:creationId xmlns:a16="http://schemas.microsoft.com/office/drawing/2014/main" id="{00587378-FC65-4DFA-8FC0-3FBFB2019394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3-1006">
              <a:extLst>
                <a:ext uri="{FF2B5EF4-FFF2-40B4-BE49-F238E27FC236}">
                  <a16:creationId xmlns:a16="http://schemas.microsoft.com/office/drawing/2014/main" id="{C3FBF57E-5354-47DE-B02B-F16D1DE6240C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03 / 11</a:t>
              </a:r>
            </a:p>
          </p:txBody>
        </p:sp>
        <p:sp>
          <p:nvSpPr>
            <p:cNvPr id="1007" name="academic-3-1007">
              <a:extLst>
                <a:ext uri="{FF2B5EF4-FFF2-40B4-BE49-F238E27FC236}">
                  <a16:creationId xmlns:a16="http://schemas.microsoft.com/office/drawing/2014/main" id="{4824F342-55A2-4174-8A9D-227C72CE5125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240000" cy="9144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El Design Thinking o pensamiento de diseño es un enfoque para abordar problemas y generar soluciones a partir de una comprensión profunda de las personas involucradas.</a:t>
              </a:r>
            </a:p>
          </p:txBody>
        </p:sp>
        <p:sp>
          <p:nvSpPr>
            <p:cNvPr id="1008" name="academic-3-1008">
              <a:extLst>
                <a:ext uri="{FF2B5EF4-FFF2-40B4-BE49-F238E27FC236}">
                  <a16:creationId xmlns:a16="http://schemas.microsoft.com/office/drawing/2014/main" id="{E94D639A-1155-44CD-89EF-032E0B4DC0D5}"/>
                </a:ext>
              </a:extLst>
            </p:cNvPr>
            <p:cNvSpPr>
              <a:spLocks noGrp="1"/>
            </p:cNvSpPr>
            <p:nvPr/>
          </p:nvSpPr>
          <p:spPr>
            <a:xfrm>
              <a:off x="3952875" y="4981575"/>
              <a:ext cx="5753100" cy="466725"/>
            </a:xfrm>
            <a:custGeom>
              <a:pathLst>
                <a:path w="5753100" h="466725">
                  <a:moveTo>
                    <a:pt x="0" y="0"/>
                  </a:moveTo>
                  <a:lnTo>
                    <a:pt x="5753100" y="466725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09" name="academic-3-1009">
              <a:extLst>
                <a:ext uri="{FF2B5EF4-FFF2-40B4-BE49-F238E27FC236}">
                  <a16:creationId xmlns:a16="http://schemas.microsoft.com/office/drawing/2014/main" id="{7049CC20-A709-4131-A4AC-EA9C07B64664}"/>
                </a:ext>
              </a:extLst>
            </p:cNvPr>
            <p:cNvSpPr>
              <a:spLocks noGrp="1"/>
            </p:cNvSpPr>
            <p:nvPr/>
          </p:nvSpPr>
          <p:spPr>
            <a:xfrm>
              <a:off x="7772400" y="4981575"/>
              <a:ext cx="1933575" cy="466725"/>
            </a:xfrm>
            <a:custGeom>
              <a:pathLst>
                <a:path w="1933575" h="466725">
                  <a:moveTo>
                    <a:pt x="0" y="0"/>
                  </a:moveTo>
                  <a:lnTo>
                    <a:pt x="1933575" y="466725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0" name="academic-3-1010">
              <a:extLst>
                <a:ext uri="{FF2B5EF4-FFF2-40B4-BE49-F238E27FC236}">
                  <a16:creationId xmlns:a16="http://schemas.microsoft.com/office/drawing/2014/main" id="{AB359EDF-3C8B-4A89-B5D8-B1522949C489}"/>
                </a:ext>
              </a:extLst>
            </p:cNvPr>
            <p:cNvSpPr>
              <a:spLocks noGrp="1"/>
            </p:cNvSpPr>
            <p:nvPr/>
          </p:nvSpPr>
          <p:spPr>
            <a:xfrm>
              <a:off x="9705975" y="4981575"/>
              <a:ext cx="1885950" cy="466725"/>
            </a:xfrm>
            <a:custGeom>
              <a:pathLst>
                <a:path w="1885950" h="466725">
                  <a:moveTo>
                    <a:pt x="1885950" y="0"/>
                  </a:moveTo>
                  <a:lnTo>
                    <a:pt x="0" y="466725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1" name="academic-3-1011">
              <a:extLst>
                <a:ext uri="{FF2B5EF4-FFF2-40B4-BE49-F238E27FC236}">
                  <a16:creationId xmlns:a16="http://schemas.microsoft.com/office/drawing/2014/main" id="{DF3BD13E-ABF0-45F1-BE5B-F4374149CA01}"/>
                </a:ext>
              </a:extLst>
            </p:cNvPr>
            <p:cNvSpPr>
              <a:spLocks noGrp="1"/>
            </p:cNvSpPr>
            <p:nvPr/>
          </p:nvSpPr>
          <p:spPr>
            <a:xfrm>
              <a:off x="9705975" y="4981575"/>
              <a:ext cx="5705475" cy="466725"/>
            </a:xfrm>
            <a:custGeom>
              <a:pathLst>
                <a:path w="5705475" h="466725">
                  <a:moveTo>
                    <a:pt x="5705475" y="0"/>
                  </a:moveTo>
                  <a:lnTo>
                    <a:pt x="0" y="466725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2" name="academic-3-1012">
              <a:extLst>
                <a:ext uri="{FF2B5EF4-FFF2-40B4-BE49-F238E27FC236}">
                  <a16:creationId xmlns:a16="http://schemas.microsoft.com/office/drawing/2014/main" id="{A1A647D0-5360-4426-AEAF-160EF17A767B}"/>
                </a:ext>
              </a:extLst>
            </p:cNvPr>
            <p:cNvSpPr>
              <a:spLocks noGrp="1"/>
            </p:cNvSpPr>
            <p:nvPr/>
          </p:nvSpPr>
          <p:spPr>
            <a:xfrm>
              <a:off x="2247900" y="3905250"/>
              <a:ext cx="3381375" cy="1057275"/>
            </a:xfrm>
            <a:prstGeom prst="roundRect">
              <a:avLst>
                <a:gd name="adj" fmla="val 19820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3" name="academic-3-1013">
              <a:extLst>
                <a:ext uri="{FF2B5EF4-FFF2-40B4-BE49-F238E27FC236}">
                  <a16:creationId xmlns:a16="http://schemas.microsoft.com/office/drawing/2014/main" id="{89E1B158-34FF-44AD-8D9E-1F683E640A2B}"/>
                </a:ext>
              </a:extLst>
            </p:cNvPr>
            <p:cNvSpPr>
              <a:spLocks noGrp="1"/>
            </p:cNvSpPr>
            <p:nvPr/>
          </p:nvSpPr>
          <p:spPr>
            <a:xfrm>
              <a:off x="2419350" y="4076700"/>
              <a:ext cx="3038475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3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Necesidades</a:t>
              </a:r>
            </a:p>
            <a:p>
              <a:pPr algn="ctr">
                <a:defRPr sz="23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humanas</a:t>
              </a:r>
            </a:p>
          </p:txBody>
        </p:sp>
        <p:sp>
          <p:nvSpPr>
            <p:cNvPr id="1014" name="academic-3-1014">
              <a:extLst>
                <a:ext uri="{FF2B5EF4-FFF2-40B4-BE49-F238E27FC236}">
                  <a16:creationId xmlns:a16="http://schemas.microsoft.com/office/drawing/2014/main" id="{E2F0F18F-D87A-4BAE-918A-3E02F710C30D}"/>
                </a:ext>
              </a:extLst>
            </p:cNvPr>
            <p:cNvSpPr>
              <a:spLocks noGrp="1"/>
            </p:cNvSpPr>
            <p:nvPr/>
          </p:nvSpPr>
          <p:spPr>
            <a:xfrm>
              <a:off x="6067425" y="3905250"/>
              <a:ext cx="3381375" cy="1057275"/>
            </a:xfrm>
            <a:prstGeom prst="roundRect">
              <a:avLst>
                <a:gd name="adj" fmla="val 19820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5" name="academic-3-1015">
              <a:extLst>
                <a:ext uri="{FF2B5EF4-FFF2-40B4-BE49-F238E27FC236}">
                  <a16:creationId xmlns:a16="http://schemas.microsoft.com/office/drawing/2014/main" id="{4E0FFB6D-DA24-4040-86B0-E401F9DD7F92}"/>
                </a:ext>
              </a:extLst>
            </p:cNvPr>
            <p:cNvSpPr>
              <a:spLocks noGrp="1"/>
            </p:cNvSpPr>
            <p:nvPr/>
          </p:nvSpPr>
          <p:spPr>
            <a:xfrm>
              <a:off x="6238875" y="4076700"/>
              <a:ext cx="3038475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3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Exploración</a:t>
              </a:r>
            </a:p>
            <a:p>
              <a:pPr algn="ctr">
                <a:defRPr sz="23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creativa</a:t>
              </a:r>
            </a:p>
          </p:txBody>
        </p:sp>
        <p:sp>
          <p:nvSpPr>
            <p:cNvPr id="1016" name="academic-3-1016">
              <a:extLst>
                <a:ext uri="{FF2B5EF4-FFF2-40B4-BE49-F238E27FC236}">
                  <a16:creationId xmlns:a16="http://schemas.microsoft.com/office/drawing/2014/main" id="{2171A70E-F916-4934-8A13-665B6684E3E3}"/>
                </a:ext>
              </a:extLst>
            </p:cNvPr>
            <p:cNvSpPr>
              <a:spLocks noGrp="1"/>
            </p:cNvSpPr>
            <p:nvPr/>
          </p:nvSpPr>
          <p:spPr>
            <a:xfrm>
              <a:off x="9886950" y="3905250"/>
              <a:ext cx="3381375" cy="1057275"/>
            </a:xfrm>
            <a:prstGeom prst="roundRect">
              <a:avLst>
                <a:gd name="adj" fmla="val 19820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7" name="academic-3-1017">
              <a:extLst>
                <a:ext uri="{FF2B5EF4-FFF2-40B4-BE49-F238E27FC236}">
                  <a16:creationId xmlns:a16="http://schemas.microsoft.com/office/drawing/2014/main" id="{9C2B0671-099B-4DC6-AE9C-52B43F815156}"/>
                </a:ext>
              </a:extLst>
            </p:cNvPr>
            <p:cNvSpPr>
              <a:spLocks noGrp="1"/>
            </p:cNvSpPr>
            <p:nvPr/>
          </p:nvSpPr>
          <p:spPr>
            <a:xfrm>
              <a:off x="10058400" y="4076700"/>
              <a:ext cx="3038475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3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Experimentación</a:t>
              </a:r>
            </a:p>
          </p:txBody>
        </p:sp>
        <p:sp>
          <p:nvSpPr>
            <p:cNvPr id="1018" name="academic-3-1018">
              <a:extLst>
                <a:ext uri="{FF2B5EF4-FFF2-40B4-BE49-F238E27FC236}">
                  <a16:creationId xmlns:a16="http://schemas.microsoft.com/office/drawing/2014/main" id="{C9C6C261-D4BC-4957-8862-E4E0CE99E07C}"/>
                </a:ext>
              </a:extLst>
            </p:cNvPr>
            <p:cNvSpPr>
              <a:spLocks noGrp="1"/>
            </p:cNvSpPr>
            <p:nvPr/>
          </p:nvSpPr>
          <p:spPr>
            <a:xfrm>
              <a:off x="13706475" y="3905250"/>
              <a:ext cx="3381375" cy="1057275"/>
            </a:xfrm>
            <a:prstGeom prst="roundRect">
              <a:avLst>
                <a:gd name="adj" fmla="val 19820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9" name="academic-3-1019">
              <a:extLst>
                <a:ext uri="{FF2B5EF4-FFF2-40B4-BE49-F238E27FC236}">
                  <a16:creationId xmlns:a16="http://schemas.microsoft.com/office/drawing/2014/main" id="{7906C33D-6D23-4F14-AA37-4A6C620BE1EB}"/>
                </a:ext>
              </a:extLst>
            </p:cNvPr>
            <p:cNvSpPr>
              <a:spLocks noGrp="1"/>
            </p:cNvSpPr>
            <p:nvPr/>
          </p:nvSpPr>
          <p:spPr>
            <a:xfrm>
              <a:off x="13877925" y="4076700"/>
              <a:ext cx="3038475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3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3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Validación</a:t>
              </a:r>
            </a:p>
          </p:txBody>
        </p:sp>
        <p:sp>
          <p:nvSpPr>
            <p:cNvPr id="1020" name="academic-3-1020">
              <a:extLst>
                <a:ext uri="{FF2B5EF4-FFF2-40B4-BE49-F238E27FC236}">
                  <a16:creationId xmlns:a16="http://schemas.microsoft.com/office/drawing/2014/main" id="{3B87C095-E6A9-4210-8476-5BF841E7547A}"/>
                </a:ext>
              </a:extLst>
            </p:cNvPr>
            <p:cNvSpPr>
              <a:spLocks noGrp="1"/>
            </p:cNvSpPr>
            <p:nvPr/>
          </p:nvSpPr>
          <p:spPr>
            <a:xfrm>
              <a:off x="9705975" y="5210175"/>
              <a:ext cx="953" cy="209550"/>
            </a:xfrm>
            <a:custGeom>
              <a:pathLst>
                <a:path w="953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21" name="academic-3-1021">
              <a:extLst>
                <a:ext uri="{FF2B5EF4-FFF2-40B4-BE49-F238E27FC236}">
                  <a16:creationId xmlns:a16="http://schemas.microsoft.com/office/drawing/2014/main" id="{C1600895-0D6A-4574-B78F-C6D624047839}"/>
                </a:ext>
              </a:extLst>
            </p:cNvPr>
            <p:cNvSpPr>
              <a:spLocks noGrp="1"/>
            </p:cNvSpPr>
            <p:nvPr/>
          </p:nvSpPr>
          <p:spPr>
            <a:xfrm>
              <a:off x="9641253" y="5314161"/>
              <a:ext cx="129443" cy="105564"/>
            </a:xfrm>
            <a:custGeom>
              <a:pathLst>
                <a:path w="129443" h="105564">
                  <a:moveTo>
                    <a:pt x="0" y="0"/>
                  </a:moveTo>
                  <a:lnTo>
                    <a:pt x="64722" y="105564"/>
                  </a:lnTo>
                  <a:lnTo>
                    <a:pt x="129443" y="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22" name="academic-3-1022">
              <a:extLst>
                <a:ext uri="{FF2B5EF4-FFF2-40B4-BE49-F238E27FC236}">
                  <a16:creationId xmlns:a16="http://schemas.microsoft.com/office/drawing/2014/main" id="{409A1EF3-EC12-4ED1-A311-B23EDA38516A}"/>
                </a:ext>
              </a:extLst>
            </p:cNvPr>
            <p:cNvSpPr>
              <a:spLocks noGrp="1"/>
            </p:cNvSpPr>
            <p:nvPr/>
          </p:nvSpPr>
          <p:spPr>
            <a:xfrm>
              <a:off x="5076825" y="5534025"/>
              <a:ext cx="9305925" cy="714375"/>
            </a:xfrm>
            <a:prstGeom prst="roundRect">
              <a:avLst>
                <a:gd name="adj" fmla="val 29333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3" name="academic-3-1023">
              <a:extLst>
                <a:ext uri="{FF2B5EF4-FFF2-40B4-BE49-F238E27FC236}">
                  <a16:creationId xmlns:a16="http://schemas.microsoft.com/office/drawing/2014/main" id="{2FFFECAC-C941-4BE0-99EA-99E5D59601E9}"/>
                </a:ext>
              </a:extLst>
            </p:cNvPr>
            <p:cNvSpPr>
              <a:spLocks noGrp="1"/>
            </p:cNvSpPr>
            <p:nvPr/>
          </p:nvSpPr>
          <p:spPr>
            <a:xfrm>
              <a:off x="5248275" y="5705475"/>
              <a:ext cx="8963025" cy="4857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55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55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Soluciones progresivamente más pertinentes</a:t>
              </a:r>
            </a:p>
          </p:txBody>
        </p:sp>
        <p:sp>
          <p:nvSpPr>
            <p:cNvPr id="1024" name="academic-3-1024">
              <a:extLst>
                <a:ext uri="{FF2B5EF4-FFF2-40B4-BE49-F238E27FC236}">
                  <a16:creationId xmlns:a16="http://schemas.microsoft.com/office/drawing/2014/main" id="{2A8771A1-9197-46B5-960A-05C0752A0E22}"/>
                </a:ext>
              </a:extLst>
            </p:cNvPr>
            <p:cNvSpPr>
              <a:spLocks noGrp="1"/>
            </p:cNvSpPr>
            <p:nvPr/>
          </p:nvSpPr>
          <p:spPr>
            <a:xfrm>
              <a:off x="2209800" y="6496050"/>
              <a:ext cx="14859000" cy="762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Su propósito es evitar que las soluciones se construyan únicamente desde las suposiciones de quienes diseñan y favorecer la interacción con quienes experimentan realmente el problema.</a:t>
              </a:r>
            </a:p>
          </p:txBody>
        </p:sp>
        <p:sp>
          <p:nvSpPr>
            <p:cNvPr id="1025" name="academic-3-1025">
              <a:extLst>
                <a:ext uri="{FF2B5EF4-FFF2-40B4-BE49-F238E27FC236}">
                  <a16:creationId xmlns:a16="http://schemas.microsoft.com/office/drawing/2014/main" id="{66501477-B03D-4A25-B4D4-A4C981C96C2C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26" name="academic-3-1026">
              <a:extLst>
                <a:ext uri="{FF2B5EF4-FFF2-40B4-BE49-F238E27FC236}">
                  <a16:creationId xmlns:a16="http://schemas.microsoft.com/office/drawing/2014/main" id="{0D03AC75-C472-47BC-8290-4CC8D8829F4D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27" name="academic-3-1027">
              <a:extLst>
                <a:ext uri="{FF2B5EF4-FFF2-40B4-BE49-F238E27FC236}">
                  <a16:creationId xmlns:a16="http://schemas.microsoft.com/office/drawing/2014/main" id="{A7EB8B5F-A9F8-4D9B-A7C2-C3CFA37211FB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Design Thinking no debe reducirse únicamente a una secuencia de herramientas.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4-1003">
              <a:extLst>
                <a:ext uri="{FF2B5EF4-FFF2-40B4-BE49-F238E27FC236}">
                  <a16:creationId xmlns:a16="http://schemas.microsoft.com/office/drawing/2014/main" id="{004D1145-A087-49F6-986A-12C01A65847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4-1004">
              <a:extLst>
                <a:ext uri="{FF2B5EF4-FFF2-40B4-BE49-F238E27FC236}">
                  <a16:creationId xmlns:a16="http://schemas.microsoft.com/office/drawing/2014/main" id="{690B2CE3-7F1A-4E77-848D-261128E43B3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3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3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Cinco fases, pero no una ruta rígida</a:t>
              </a:r>
            </a:p>
          </p:txBody>
        </p:sp>
        <p:sp>
          <p:nvSpPr>
            <p:cNvPr id="1005" name="academic-4-1005">
              <a:extLst>
                <a:ext uri="{FF2B5EF4-FFF2-40B4-BE49-F238E27FC236}">
                  <a16:creationId xmlns:a16="http://schemas.microsoft.com/office/drawing/2014/main" id="{42C2319A-7813-4A6C-A973-19FF19AEBFB6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4-1006">
              <a:extLst>
                <a:ext uri="{FF2B5EF4-FFF2-40B4-BE49-F238E27FC236}">
                  <a16:creationId xmlns:a16="http://schemas.microsoft.com/office/drawing/2014/main" id="{D6DE711D-BADE-4ACE-B5E6-5B9B587F9BFA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04 / 11</a:t>
              </a:r>
            </a:p>
          </p:txBody>
        </p:sp>
        <p:sp>
          <p:nvSpPr>
            <p:cNvPr id="1007" name="academic-4-1007">
              <a:extLst>
                <a:ext uri="{FF2B5EF4-FFF2-40B4-BE49-F238E27FC236}">
                  <a16:creationId xmlns:a16="http://schemas.microsoft.com/office/drawing/2014/main" id="{70ED17DC-DE75-4951-91FB-158D3662789D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430500" cy="7334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Design Thinking suele explicarse mediante cinco fases para facilitar su comprensión. Sin embargo, el proceso es iterativo.</a:t>
              </a:r>
            </a:p>
          </p:txBody>
        </p:sp>
        <p:sp>
          <p:nvSpPr>
            <p:cNvPr id="1008" name="academic-4-1008">
              <a:extLst>
                <a:ext uri="{FF2B5EF4-FFF2-40B4-BE49-F238E27FC236}">
                  <a16:creationId xmlns:a16="http://schemas.microsoft.com/office/drawing/2014/main" id="{9203D0D9-D135-4421-A892-8D0DE11F85C2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3876675"/>
              <a:ext cx="1019175" cy="171450"/>
            </a:xfrm>
            <a:custGeom>
              <a:pathLst>
                <a:path w="1019175" h="171450">
                  <a:moveTo>
                    <a:pt x="0" y="171450"/>
                  </a:moveTo>
                  <a:lnTo>
                    <a:pt x="1019175" y="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09" name="academic-4-1009">
              <a:extLst>
                <a:ext uri="{FF2B5EF4-FFF2-40B4-BE49-F238E27FC236}">
                  <a16:creationId xmlns:a16="http://schemas.microsoft.com/office/drawing/2014/main" id="{60F9E9E6-2EB2-49F6-9E11-7084391411B3}"/>
                </a:ext>
              </a:extLst>
            </p:cNvPr>
            <p:cNvSpPr>
              <a:spLocks noGrp="1"/>
            </p:cNvSpPr>
            <p:nvPr/>
          </p:nvSpPr>
          <p:spPr>
            <a:xfrm>
              <a:off x="5438928" y="3826800"/>
              <a:ext cx="123672" cy="137469"/>
            </a:xfrm>
            <a:custGeom>
              <a:pathLst>
                <a:path w="123672" h="137469">
                  <a:moveTo>
                    <a:pt x="23126" y="137469"/>
                  </a:moveTo>
                  <a:lnTo>
                    <a:pt x="123672" y="49875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0" name="academic-4-1010">
              <a:extLst>
                <a:ext uri="{FF2B5EF4-FFF2-40B4-BE49-F238E27FC236}">
                  <a16:creationId xmlns:a16="http://schemas.microsoft.com/office/drawing/2014/main" id="{6C7633DC-06FA-41E6-AABB-82F9E7BBF334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4057650"/>
              <a:ext cx="962025" cy="438150"/>
            </a:xfrm>
            <a:custGeom>
              <a:pathLst>
                <a:path w="962025" h="438150">
                  <a:moveTo>
                    <a:pt x="0" y="0"/>
                  </a:moveTo>
                  <a:lnTo>
                    <a:pt x="962025" y="43815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1" name="academic-4-1011">
              <a:extLst>
                <a:ext uri="{FF2B5EF4-FFF2-40B4-BE49-F238E27FC236}">
                  <a16:creationId xmlns:a16="http://schemas.microsoft.com/office/drawing/2014/main" id="{ACFD7273-B306-40BA-B876-8EA871B599E6}"/>
                </a:ext>
              </a:extLst>
            </p:cNvPr>
            <p:cNvSpPr>
              <a:spLocks noGrp="1"/>
            </p:cNvSpPr>
            <p:nvPr/>
          </p:nvSpPr>
          <p:spPr>
            <a:xfrm>
              <a:off x="8402051" y="4385249"/>
              <a:ext cx="132349" cy="126863"/>
            </a:xfrm>
            <a:custGeom>
              <a:pathLst>
                <a:path w="132349" h="126863">
                  <a:moveTo>
                    <a:pt x="0" y="126863"/>
                  </a:moveTo>
                  <a:lnTo>
                    <a:pt x="132349" y="110551"/>
                  </a:lnTo>
                  <a:lnTo>
                    <a:pt x="57779" y="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2" name="academic-4-1012">
              <a:extLst>
                <a:ext uri="{FF2B5EF4-FFF2-40B4-BE49-F238E27FC236}">
                  <a16:creationId xmlns:a16="http://schemas.microsoft.com/office/drawing/2014/main" id="{B41E7D76-9391-4DC6-9DD5-DDB9C812DE8E}"/>
                </a:ext>
              </a:extLst>
            </p:cNvPr>
            <p:cNvSpPr>
              <a:spLocks noGrp="1"/>
            </p:cNvSpPr>
            <p:nvPr/>
          </p:nvSpPr>
          <p:spPr>
            <a:xfrm>
              <a:off x="7677150" y="5172075"/>
              <a:ext cx="1457325" cy="561975"/>
            </a:xfrm>
            <a:custGeom>
              <a:pathLst>
                <a:path w="1457325" h="561975">
                  <a:moveTo>
                    <a:pt x="1457325" y="0"/>
                  </a:moveTo>
                  <a:lnTo>
                    <a:pt x="0" y="561975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3" name="academic-4-1013">
              <a:extLst>
                <a:ext uri="{FF2B5EF4-FFF2-40B4-BE49-F238E27FC236}">
                  <a16:creationId xmlns:a16="http://schemas.microsoft.com/office/drawing/2014/main" id="{8E0DAC73-9CFC-482F-AB1F-C28698833AE6}"/>
                </a:ext>
              </a:extLst>
            </p:cNvPr>
            <p:cNvSpPr>
              <a:spLocks noGrp="1"/>
            </p:cNvSpPr>
            <p:nvPr/>
          </p:nvSpPr>
          <p:spPr>
            <a:xfrm>
              <a:off x="7677150" y="5628114"/>
              <a:ext cx="131149" cy="130065"/>
            </a:xfrm>
            <a:custGeom>
              <a:pathLst>
                <a:path w="131149" h="130065">
                  <a:moveTo>
                    <a:pt x="80993" y="0"/>
                  </a:moveTo>
                  <a:lnTo>
                    <a:pt x="0" y="105936"/>
                  </a:lnTo>
                  <a:lnTo>
                    <a:pt x="131149" y="130065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4" name="academic-4-1014">
              <a:extLst>
                <a:ext uri="{FF2B5EF4-FFF2-40B4-BE49-F238E27FC236}">
                  <a16:creationId xmlns:a16="http://schemas.microsoft.com/office/drawing/2014/main" id="{1598EBDA-BCDE-4D36-9BC8-53138347622B}"/>
                </a:ext>
              </a:extLst>
            </p:cNvPr>
            <p:cNvSpPr>
              <a:spLocks noGrp="1"/>
            </p:cNvSpPr>
            <p:nvPr/>
          </p:nvSpPr>
          <p:spPr>
            <a:xfrm>
              <a:off x="4581525" y="6057900"/>
              <a:ext cx="962025" cy="953"/>
            </a:xfrm>
            <a:custGeom>
              <a:pathLst>
                <a:path w="962025" h="953">
                  <a:moveTo>
                    <a:pt x="962025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5" name="academic-4-1015">
              <a:extLst>
                <a:ext uri="{FF2B5EF4-FFF2-40B4-BE49-F238E27FC236}">
                  <a16:creationId xmlns:a16="http://schemas.microsoft.com/office/drawing/2014/main" id="{2628AD63-F838-4A66-9B99-D41D7AD3AFF4}"/>
                </a:ext>
              </a:extLst>
            </p:cNvPr>
            <p:cNvSpPr>
              <a:spLocks noGrp="1"/>
            </p:cNvSpPr>
            <p:nvPr/>
          </p:nvSpPr>
          <p:spPr>
            <a:xfrm>
              <a:off x="4581525" y="5988200"/>
              <a:ext cx="113684" cy="139401"/>
            </a:xfrm>
            <a:custGeom>
              <a:pathLst>
                <a:path w="113684" h="139401">
                  <a:moveTo>
                    <a:pt x="113684" y="0"/>
                  </a:moveTo>
                  <a:lnTo>
                    <a:pt x="0" y="69700"/>
                  </a:lnTo>
                  <a:lnTo>
                    <a:pt x="113684" y="139401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6" name="academic-4-1016">
              <a:extLst>
                <a:ext uri="{FF2B5EF4-FFF2-40B4-BE49-F238E27FC236}">
                  <a16:creationId xmlns:a16="http://schemas.microsoft.com/office/drawing/2014/main" id="{19646F9A-B6A9-42A0-9D6A-75792453EDB4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429125"/>
              <a:ext cx="953" cy="1247775"/>
            </a:xfrm>
            <a:custGeom>
              <a:pathLst>
                <a:path w="953" h="1247775">
                  <a:moveTo>
                    <a:pt x="0" y="12477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7" name="academic-4-1017">
              <a:extLst>
                <a:ext uri="{FF2B5EF4-FFF2-40B4-BE49-F238E27FC236}">
                  <a16:creationId xmlns:a16="http://schemas.microsoft.com/office/drawing/2014/main" id="{1028626B-1B97-49E7-9DE4-0AD1E988F539}"/>
                </a:ext>
              </a:extLst>
            </p:cNvPr>
            <p:cNvSpPr>
              <a:spLocks noGrp="1"/>
            </p:cNvSpPr>
            <p:nvPr/>
          </p:nvSpPr>
          <p:spPr>
            <a:xfrm>
              <a:off x="3225950" y="4429125"/>
              <a:ext cx="139401" cy="113684"/>
            </a:xfrm>
            <a:custGeom>
              <a:pathLst>
                <a:path w="139401" h="113684">
                  <a:moveTo>
                    <a:pt x="139401" y="113684"/>
                  </a:moveTo>
                  <a:lnTo>
                    <a:pt x="69700" y="0"/>
                  </a:lnTo>
                  <a:lnTo>
                    <a:pt x="0" y="113684"/>
                  </a:lnTo>
                </a:path>
              </a:pathLst>
            </a:custGeom>
            <a:noFill/>
            <a:ln w="38100">
              <a:solidFill>
                <a:srgbClr val="664092"/>
              </a:solidFill>
            </a:ln>
          </p:spPr>
        </p:sp>
        <p:sp>
          <p:nvSpPr>
            <p:cNvPr id="1018" name="academic-4-1018">
              <a:extLst>
                <a:ext uri="{FF2B5EF4-FFF2-40B4-BE49-F238E27FC236}">
                  <a16:creationId xmlns:a16="http://schemas.microsoft.com/office/drawing/2014/main" id="{40729585-2D95-4C4B-8F38-F9F814B18B78}"/>
                </a:ext>
              </a:extLst>
            </p:cNvPr>
            <p:cNvSpPr>
              <a:spLocks noGrp="1"/>
            </p:cNvSpPr>
            <p:nvPr/>
          </p:nvSpPr>
          <p:spPr>
            <a:xfrm>
              <a:off x="4381500" y="4476750"/>
              <a:ext cx="1809750" cy="1247775"/>
            </a:xfrm>
            <a:custGeom>
              <a:pathLst>
                <a:path w="1809750" h="1247775">
                  <a:moveTo>
                    <a:pt x="0" y="1247775"/>
                  </a:moveTo>
                  <a:lnTo>
                    <a:pt x="847725" y="533400"/>
                  </a:lnTo>
                  <a:lnTo>
                    <a:pt x="1809750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19" name="academic-4-1019">
              <a:extLst>
                <a:ext uri="{FF2B5EF4-FFF2-40B4-BE49-F238E27FC236}">
                  <a16:creationId xmlns:a16="http://schemas.microsoft.com/office/drawing/2014/main" id="{225CB3A2-13AE-45AA-95D7-FC38504DB83C}"/>
                </a:ext>
              </a:extLst>
            </p:cNvPr>
            <p:cNvSpPr>
              <a:spLocks noGrp="1"/>
            </p:cNvSpPr>
            <p:nvPr/>
          </p:nvSpPr>
          <p:spPr>
            <a:xfrm>
              <a:off x="5229225" y="4476750"/>
              <a:ext cx="962025" cy="533400"/>
            </a:xfrm>
            <a:custGeom>
              <a:pathLst>
                <a:path w="962025" h="533400">
                  <a:moveTo>
                    <a:pt x="0" y="533400"/>
                  </a:moveTo>
                  <a:lnTo>
                    <a:pt x="962025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20" name="academic-4-1020">
              <a:extLst>
                <a:ext uri="{FF2B5EF4-FFF2-40B4-BE49-F238E27FC236}">
                  <a16:creationId xmlns:a16="http://schemas.microsoft.com/office/drawing/2014/main" id="{CAC72454-B941-4E65-84BC-57CCAFC76A92}"/>
                </a:ext>
              </a:extLst>
            </p:cNvPr>
            <p:cNvSpPr>
              <a:spLocks noGrp="1"/>
            </p:cNvSpPr>
            <p:nvPr/>
          </p:nvSpPr>
          <p:spPr>
            <a:xfrm>
              <a:off x="6058028" y="4470919"/>
              <a:ext cx="133222" cy="121915"/>
            </a:xfrm>
            <a:custGeom>
              <a:pathLst>
                <a:path w="133222" h="121915">
                  <a:moveTo>
                    <a:pt x="67596" y="121915"/>
                  </a:moveTo>
                  <a:lnTo>
                    <a:pt x="133222" y="5831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21" name="academic-4-1021">
              <a:extLst>
                <a:ext uri="{FF2B5EF4-FFF2-40B4-BE49-F238E27FC236}">
                  <a16:creationId xmlns:a16="http://schemas.microsoft.com/office/drawing/2014/main" id="{A317F86A-73B4-4F5F-A009-B613886A2F86}"/>
                </a:ext>
              </a:extLst>
            </p:cNvPr>
            <p:cNvSpPr>
              <a:spLocks noGrp="1"/>
            </p:cNvSpPr>
            <p:nvPr/>
          </p:nvSpPr>
          <p:spPr>
            <a:xfrm>
              <a:off x="2095500" y="3743325"/>
              <a:ext cx="2409825" cy="628650"/>
            </a:xfrm>
            <a:prstGeom prst="roundRect">
              <a:avLst>
                <a:gd name="adj" fmla="val 33333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2" name="academic-4-1022">
              <a:extLst>
                <a:ext uri="{FF2B5EF4-FFF2-40B4-BE49-F238E27FC236}">
                  <a16:creationId xmlns:a16="http://schemas.microsoft.com/office/drawing/2014/main" id="{899B8C35-6ECE-4355-92F5-DE02669B23F8}"/>
                </a:ext>
              </a:extLst>
            </p:cNvPr>
            <p:cNvSpPr>
              <a:spLocks noGrp="1"/>
            </p:cNvSpPr>
            <p:nvPr/>
          </p:nvSpPr>
          <p:spPr>
            <a:xfrm>
              <a:off x="2266950" y="3914775"/>
              <a:ext cx="20669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Empatizar</a:t>
              </a:r>
            </a:p>
          </p:txBody>
        </p:sp>
        <p:sp>
          <p:nvSpPr>
            <p:cNvPr id="1023" name="academic-4-1023">
              <a:extLst>
                <a:ext uri="{FF2B5EF4-FFF2-40B4-BE49-F238E27FC236}">
                  <a16:creationId xmlns:a16="http://schemas.microsoft.com/office/drawing/2014/main" id="{9691AE43-C019-4BDC-9ED4-BA31340D38C6}"/>
                </a:ext>
              </a:extLst>
            </p:cNvPr>
            <p:cNvSpPr>
              <a:spLocks noGrp="1"/>
            </p:cNvSpPr>
            <p:nvPr/>
          </p:nvSpPr>
          <p:spPr>
            <a:xfrm>
              <a:off x="5610225" y="3562350"/>
              <a:ext cx="2409825" cy="628650"/>
            </a:xfrm>
            <a:prstGeom prst="roundRect">
              <a:avLst>
                <a:gd name="adj" fmla="val 33333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4" name="academic-4-1024">
              <a:extLst>
                <a:ext uri="{FF2B5EF4-FFF2-40B4-BE49-F238E27FC236}">
                  <a16:creationId xmlns:a16="http://schemas.microsoft.com/office/drawing/2014/main" id="{2F5A70B1-FAEB-4FAA-A19D-671F4322AF95}"/>
                </a:ext>
              </a:extLst>
            </p:cNvPr>
            <p:cNvSpPr>
              <a:spLocks noGrp="1"/>
            </p:cNvSpPr>
            <p:nvPr/>
          </p:nvSpPr>
          <p:spPr>
            <a:xfrm>
              <a:off x="5781675" y="3733800"/>
              <a:ext cx="20669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Definir</a:t>
              </a:r>
            </a:p>
          </p:txBody>
        </p:sp>
        <p:sp>
          <p:nvSpPr>
            <p:cNvPr id="1025" name="academic-4-1025">
              <a:extLst>
                <a:ext uri="{FF2B5EF4-FFF2-40B4-BE49-F238E27FC236}">
                  <a16:creationId xmlns:a16="http://schemas.microsoft.com/office/drawing/2014/main" id="{059023D1-247D-464F-9864-25A8785FCA7A}"/>
                </a:ext>
              </a:extLst>
            </p:cNvPr>
            <p:cNvSpPr>
              <a:spLocks noGrp="1"/>
            </p:cNvSpPr>
            <p:nvPr/>
          </p:nvSpPr>
          <p:spPr>
            <a:xfrm>
              <a:off x="8277225" y="4552950"/>
              <a:ext cx="2409825" cy="628650"/>
            </a:xfrm>
            <a:prstGeom prst="roundRect">
              <a:avLst>
                <a:gd name="adj" fmla="val 33333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6" name="academic-4-1026">
              <a:extLst>
                <a:ext uri="{FF2B5EF4-FFF2-40B4-BE49-F238E27FC236}">
                  <a16:creationId xmlns:a16="http://schemas.microsoft.com/office/drawing/2014/main" id="{3888DB62-CF7B-4305-B5E8-5ECFA42F0FF3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4724400"/>
              <a:ext cx="20669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Idear</a:t>
              </a:r>
            </a:p>
          </p:txBody>
        </p:sp>
        <p:sp>
          <p:nvSpPr>
            <p:cNvPr id="1027" name="academic-4-1027">
              <a:extLst>
                <a:ext uri="{FF2B5EF4-FFF2-40B4-BE49-F238E27FC236}">
                  <a16:creationId xmlns:a16="http://schemas.microsoft.com/office/drawing/2014/main" id="{E37C419D-CDE6-4A9D-8A98-8F3FE00F1638}"/>
                </a:ext>
              </a:extLst>
            </p:cNvPr>
            <p:cNvSpPr>
              <a:spLocks noGrp="1"/>
            </p:cNvSpPr>
            <p:nvPr/>
          </p:nvSpPr>
          <p:spPr>
            <a:xfrm>
              <a:off x="5572125" y="5724525"/>
              <a:ext cx="2409825" cy="628650"/>
            </a:xfrm>
            <a:prstGeom prst="roundRect">
              <a:avLst>
                <a:gd name="adj" fmla="val 33333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8" name="academic-4-1028">
              <a:extLst>
                <a:ext uri="{FF2B5EF4-FFF2-40B4-BE49-F238E27FC236}">
                  <a16:creationId xmlns:a16="http://schemas.microsoft.com/office/drawing/2014/main" id="{C820152C-8953-4A07-8BAF-785521ABD989}"/>
                </a:ext>
              </a:extLst>
            </p:cNvPr>
            <p:cNvSpPr>
              <a:spLocks noGrp="1"/>
            </p:cNvSpPr>
            <p:nvPr/>
          </p:nvSpPr>
          <p:spPr>
            <a:xfrm>
              <a:off x="5743575" y="5895975"/>
              <a:ext cx="20669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Prototipar</a:t>
              </a:r>
            </a:p>
          </p:txBody>
        </p:sp>
        <p:sp>
          <p:nvSpPr>
            <p:cNvPr id="1029" name="academic-4-1029">
              <a:extLst>
                <a:ext uri="{FF2B5EF4-FFF2-40B4-BE49-F238E27FC236}">
                  <a16:creationId xmlns:a16="http://schemas.microsoft.com/office/drawing/2014/main" id="{38BA1138-D3FA-49F0-888E-642A9621EB03}"/>
                </a:ext>
              </a:extLst>
            </p:cNvPr>
            <p:cNvSpPr>
              <a:spLocks noGrp="1"/>
            </p:cNvSpPr>
            <p:nvPr/>
          </p:nvSpPr>
          <p:spPr>
            <a:xfrm>
              <a:off x="2114550" y="5724525"/>
              <a:ext cx="2409825" cy="628650"/>
            </a:xfrm>
            <a:prstGeom prst="roundRect">
              <a:avLst>
                <a:gd name="adj" fmla="val 33333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30" name="academic-4-1030">
              <a:extLst>
                <a:ext uri="{FF2B5EF4-FFF2-40B4-BE49-F238E27FC236}">
                  <a16:creationId xmlns:a16="http://schemas.microsoft.com/office/drawing/2014/main" id="{738D7F5D-7D69-4387-B5D7-3799624FB9A3}"/>
                </a:ext>
              </a:extLst>
            </p:cNvPr>
            <p:cNvSpPr>
              <a:spLocks noGrp="1"/>
            </p:cNvSpPr>
            <p:nvPr/>
          </p:nvSpPr>
          <p:spPr>
            <a:xfrm>
              <a:off x="2286000" y="5895975"/>
              <a:ext cx="20669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Evaluar</a:t>
              </a:r>
            </a:p>
          </p:txBody>
        </p:sp>
        <p:sp>
          <p:nvSpPr>
            <p:cNvPr id="1031" name="academic-4-1031">
              <a:extLst>
                <a:ext uri="{FF2B5EF4-FFF2-40B4-BE49-F238E27FC236}">
                  <a16:creationId xmlns:a16="http://schemas.microsoft.com/office/drawing/2014/main" id="{0E9D01E2-E0CE-45A6-BF55-63B912D66698}"/>
                </a:ext>
              </a:extLst>
            </p:cNvPr>
            <p:cNvSpPr>
              <a:spLocks noGrp="1"/>
            </p:cNvSpPr>
            <p:nvPr/>
          </p:nvSpPr>
          <p:spPr>
            <a:xfrm>
              <a:off x="5181600" y="4819650"/>
              <a:ext cx="2419350" cy="4667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25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Iterativo</a:t>
              </a:r>
            </a:p>
          </p:txBody>
        </p:sp>
        <p:sp>
          <p:nvSpPr>
            <p:cNvPr id="1032" name="academic-4-1032">
              <a:extLst>
                <a:ext uri="{FF2B5EF4-FFF2-40B4-BE49-F238E27FC236}">
                  <a16:creationId xmlns:a16="http://schemas.microsoft.com/office/drawing/2014/main" id="{2072B833-664C-4D48-A157-136B24C5B549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609975"/>
              <a:ext cx="57150" cy="819150"/>
            </a:xfrm>
            <a:prstGeom prst="rect">
              <a:avLst/>
            </a:prstGeom>
            <a:solidFill>
              <a:srgbClr val="664092"/>
            </a:solidFill>
            <a:ln w="14288">
              <a:noFill/>
            </a:ln>
          </p:spPr>
        </p:sp>
        <p:sp>
          <p:nvSpPr>
            <p:cNvPr id="1033" name="academic-4-1033">
              <a:extLst>
                <a:ext uri="{FF2B5EF4-FFF2-40B4-BE49-F238E27FC236}">
                  <a16:creationId xmlns:a16="http://schemas.microsoft.com/office/drawing/2014/main" id="{886D81FB-B15B-4BE1-964F-BE5D7ACA60F1}"/>
                </a:ext>
              </a:extLst>
            </p:cNvPr>
            <p:cNvSpPr>
              <a:spLocks noGrp="1"/>
            </p:cNvSpPr>
            <p:nvPr/>
          </p:nvSpPr>
          <p:spPr>
            <a:xfrm>
              <a:off x="11658600" y="3571875"/>
              <a:ext cx="5676900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Una prueba</a:t>
              </a:r>
            </a:p>
          </p:txBody>
        </p:sp>
        <p:sp>
          <p:nvSpPr>
            <p:cNvPr id="1034" name="academic-4-1034">
              <a:extLst>
                <a:ext uri="{FF2B5EF4-FFF2-40B4-BE49-F238E27FC236}">
                  <a16:creationId xmlns:a16="http://schemas.microsoft.com/office/drawing/2014/main" id="{69662F8E-8DFD-4AC8-B8CA-12FA2E7238A0}"/>
                </a:ext>
              </a:extLst>
            </p:cNvPr>
            <p:cNvSpPr>
              <a:spLocks noGrp="1"/>
            </p:cNvSpPr>
            <p:nvPr/>
          </p:nvSpPr>
          <p:spPr>
            <a:xfrm>
              <a:off x="11658600" y="3933825"/>
              <a:ext cx="5610225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puede mostrar que necesitamos redefinir el problema.</a:t>
              </a:r>
            </a:p>
          </p:txBody>
        </p:sp>
        <p:sp>
          <p:nvSpPr>
            <p:cNvPr id="1035" name="academic-4-1035">
              <a:extLst>
                <a:ext uri="{FF2B5EF4-FFF2-40B4-BE49-F238E27FC236}">
                  <a16:creationId xmlns:a16="http://schemas.microsoft.com/office/drawing/2014/main" id="{C2BE61AE-EEFD-4292-A31A-2FF011A79671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638675"/>
              <a:ext cx="57150" cy="819150"/>
            </a:xfrm>
            <a:prstGeom prst="rect">
              <a:avLst/>
            </a:prstGeom>
            <a:solidFill>
              <a:srgbClr val="A71989"/>
            </a:solidFill>
            <a:ln w="14288">
              <a:noFill/>
            </a:ln>
          </p:spPr>
        </p:sp>
        <p:sp>
          <p:nvSpPr>
            <p:cNvPr id="1036" name="academic-4-1036">
              <a:extLst>
                <a:ext uri="{FF2B5EF4-FFF2-40B4-BE49-F238E27FC236}">
                  <a16:creationId xmlns:a16="http://schemas.microsoft.com/office/drawing/2014/main" id="{16A2994E-C8A7-44FD-8412-858E6D8DAD46}"/>
                </a:ext>
              </a:extLst>
            </p:cNvPr>
            <p:cNvSpPr>
              <a:spLocks noGrp="1"/>
            </p:cNvSpPr>
            <p:nvPr/>
          </p:nvSpPr>
          <p:spPr>
            <a:xfrm>
              <a:off x="11658600" y="4600575"/>
              <a:ext cx="5676900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Una conversación con usuarios</a:t>
              </a:r>
            </a:p>
          </p:txBody>
        </p:sp>
        <p:sp>
          <p:nvSpPr>
            <p:cNvPr id="1037" name="academic-4-1037">
              <a:extLst>
                <a:ext uri="{FF2B5EF4-FFF2-40B4-BE49-F238E27FC236}">
                  <a16:creationId xmlns:a16="http://schemas.microsoft.com/office/drawing/2014/main" id="{1C8947A2-3674-4EFF-B90A-BD56EC827B73}"/>
                </a:ext>
              </a:extLst>
            </p:cNvPr>
            <p:cNvSpPr>
              <a:spLocks noGrp="1"/>
            </p:cNvSpPr>
            <p:nvPr/>
          </p:nvSpPr>
          <p:spPr>
            <a:xfrm>
              <a:off x="11658600" y="4962525"/>
              <a:ext cx="5610225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puede cuestionar una idea.</a:t>
              </a:r>
            </a:p>
          </p:txBody>
        </p:sp>
        <p:sp>
          <p:nvSpPr>
            <p:cNvPr id="1038" name="academic-4-1038">
              <a:extLst>
                <a:ext uri="{FF2B5EF4-FFF2-40B4-BE49-F238E27FC236}">
                  <a16:creationId xmlns:a16="http://schemas.microsoft.com/office/drawing/2014/main" id="{981C3638-D965-4CAC-83FD-9975A1A7D771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5667375"/>
              <a:ext cx="57150" cy="819150"/>
            </a:xfrm>
            <a:prstGeom prst="rect">
              <a:avLst/>
            </a:prstGeom>
            <a:solidFill>
              <a:srgbClr val="4478F5"/>
            </a:solidFill>
            <a:ln w="14288">
              <a:noFill/>
            </a:ln>
          </p:spPr>
        </p:sp>
        <p:sp>
          <p:nvSpPr>
            <p:cNvPr id="1039" name="academic-4-1039">
              <a:extLst>
                <a:ext uri="{FF2B5EF4-FFF2-40B4-BE49-F238E27FC236}">
                  <a16:creationId xmlns:a16="http://schemas.microsoft.com/office/drawing/2014/main" id="{AC7071C0-47AD-4808-8495-1C7951AFAED3}"/>
                </a:ext>
              </a:extLst>
            </p:cNvPr>
            <p:cNvSpPr>
              <a:spLocks noGrp="1"/>
            </p:cNvSpPr>
            <p:nvPr/>
          </p:nvSpPr>
          <p:spPr>
            <a:xfrm>
              <a:off x="11658600" y="5629275"/>
              <a:ext cx="5676900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4478F5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4478F5"/>
                  </a:solidFill>
                  <a:latin typeface="Arial"/>
                  <a:ea typeface="Arial"/>
                  <a:cs typeface="Arial"/>
                </a:rPr>
                <a:t>Un prototipo</a:t>
              </a:r>
            </a:p>
          </p:txBody>
        </p:sp>
        <p:sp>
          <p:nvSpPr>
            <p:cNvPr id="1040" name="academic-4-1040">
              <a:extLst>
                <a:ext uri="{FF2B5EF4-FFF2-40B4-BE49-F238E27FC236}">
                  <a16:creationId xmlns:a16="http://schemas.microsoft.com/office/drawing/2014/main" id="{9964B683-BF17-4B8C-BA06-D13D92DF55E0}"/>
                </a:ext>
              </a:extLst>
            </p:cNvPr>
            <p:cNvSpPr>
              <a:spLocks noGrp="1"/>
            </p:cNvSpPr>
            <p:nvPr/>
          </p:nvSpPr>
          <p:spPr>
            <a:xfrm>
              <a:off x="11658600" y="5991225"/>
              <a:ext cx="5610225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puede revelar una necesidad que no habíamos identificado.</a:t>
              </a:r>
            </a:p>
          </p:txBody>
        </p:sp>
        <p:sp>
          <p:nvSpPr>
            <p:cNvPr id="1041" name="academic-4-1041">
              <a:extLst>
                <a:ext uri="{FF2B5EF4-FFF2-40B4-BE49-F238E27FC236}">
                  <a16:creationId xmlns:a16="http://schemas.microsoft.com/office/drawing/2014/main" id="{769FF01E-08A2-41FC-B1B5-51A80439672D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6657975"/>
              <a:ext cx="1809750" cy="3619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Divergencia</a:t>
              </a:r>
            </a:p>
          </p:txBody>
        </p:sp>
        <p:sp>
          <p:nvSpPr>
            <p:cNvPr id="1042" name="academic-4-1042">
              <a:extLst>
                <a:ext uri="{FF2B5EF4-FFF2-40B4-BE49-F238E27FC236}">
                  <a16:creationId xmlns:a16="http://schemas.microsoft.com/office/drawing/2014/main" id="{6A5E80C4-2388-4758-B975-6270CC37F47D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6638925"/>
              <a:ext cx="5305425" cy="704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Ampliamos la mirada, exploramos experiencias y generamos posibilidades.</a:t>
              </a:r>
            </a:p>
          </p:txBody>
        </p:sp>
        <p:sp>
          <p:nvSpPr>
            <p:cNvPr id="1043" name="academic-4-1043">
              <a:extLst>
                <a:ext uri="{FF2B5EF4-FFF2-40B4-BE49-F238E27FC236}">
                  <a16:creationId xmlns:a16="http://schemas.microsoft.com/office/drawing/2014/main" id="{1FE675C4-4AF7-4613-B56C-F968BB9D6C53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6657975"/>
              <a:ext cx="2476500" cy="3619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Convergencia</a:t>
              </a:r>
            </a:p>
          </p:txBody>
        </p:sp>
        <p:sp>
          <p:nvSpPr>
            <p:cNvPr id="1044" name="academic-4-1044">
              <a:extLst>
                <a:ext uri="{FF2B5EF4-FFF2-40B4-BE49-F238E27FC236}">
                  <a16:creationId xmlns:a16="http://schemas.microsoft.com/office/drawing/2014/main" id="{5EF3E5A8-7599-465F-83B2-5DF332F45CB1}"/>
                </a:ext>
              </a:extLst>
            </p:cNvPr>
            <p:cNvSpPr>
              <a:spLocks noGrp="1"/>
            </p:cNvSpPr>
            <p:nvPr/>
          </p:nvSpPr>
          <p:spPr>
            <a:xfrm>
              <a:off x="12849225" y="6638925"/>
              <a:ext cx="4714875" cy="704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Interpretamos, priorizamos y tomamos decisiones para avanzar.</a:t>
              </a:r>
            </a:p>
          </p:txBody>
        </p:sp>
        <p:sp>
          <p:nvSpPr>
            <p:cNvPr id="1045" name="academic-4-1045">
              <a:extLst>
                <a:ext uri="{FF2B5EF4-FFF2-40B4-BE49-F238E27FC236}">
                  <a16:creationId xmlns:a16="http://schemas.microsoft.com/office/drawing/2014/main" id="{508CC33F-2A75-418B-AD94-48684F17E75C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46" name="academic-4-1046">
              <a:extLst>
                <a:ext uri="{FF2B5EF4-FFF2-40B4-BE49-F238E27FC236}">
                  <a16:creationId xmlns:a16="http://schemas.microsoft.com/office/drawing/2014/main" id="{52D2C92F-D0FF-45B7-8D01-6E1B769138AA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47" name="academic-4-1047">
              <a:extLst>
                <a:ext uri="{FF2B5EF4-FFF2-40B4-BE49-F238E27FC236}">
                  <a16:creationId xmlns:a16="http://schemas.microsoft.com/office/drawing/2014/main" id="{28923135-79C9-4C60-A194-2D0888511E5B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4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Avanzar y regresar también es aprender.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5-1003">
              <a:extLst>
                <a:ext uri="{FF2B5EF4-FFF2-40B4-BE49-F238E27FC236}">
                  <a16:creationId xmlns:a16="http://schemas.microsoft.com/office/drawing/2014/main" id="{1A6F5811-CA29-4C87-B415-864620CCAAEF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5-1004">
              <a:extLst>
                <a:ext uri="{FF2B5EF4-FFF2-40B4-BE49-F238E27FC236}">
                  <a16:creationId xmlns:a16="http://schemas.microsoft.com/office/drawing/2014/main" id="{22529369-DA2E-4C09-A0F0-8982991709CA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1 · Empatizar</a:t>
              </a:r>
            </a:p>
          </p:txBody>
        </p:sp>
        <p:sp>
          <p:nvSpPr>
            <p:cNvPr id="1005" name="academic-5-1005">
              <a:extLst>
                <a:ext uri="{FF2B5EF4-FFF2-40B4-BE49-F238E27FC236}">
                  <a16:creationId xmlns:a16="http://schemas.microsoft.com/office/drawing/2014/main" id="{96E04D81-FFD7-408E-8811-37111B075090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5-1006">
              <a:extLst>
                <a:ext uri="{FF2B5EF4-FFF2-40B4-BE49-F238E27FC236}">
                  <a16:creationId xmlns:a16="http://schemas.microsoft.com/office/drawing/2014/main" id="{AB081284-77DF-45A5-9FFD-D54B1086B7E0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05 / 11</a:t>
              </a:r>
            </a:p>
          </p:txBody>
        </p:sp>
        <p:sp>
          <p:nvSpPr>
            <p:cNvPr id="1007" name="academic-5-1007">
              <a:extLst>
                <a:ext uri="{FF2B5EF4-FFF2-40B4-BE49-F238E27FC236}">
                  <a16:creationId xmlns:a16="http://schemas.microsoft.com/office/drawing/2014/main" id="{23621D41-C9CD-4666-B6C4-D693C48EF315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240000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¿Qué necesitamos comprender de las personas?</a:t>
              </a:r>
            </a:p>
          </p:txBody>
        </p:sp>
        <p:sp>
          <p:nvSpPr>
            <p:cNvPr id="1008" name="academic-5-1008">
              <a:extLst>
                <a:ext uri="{FF2B5EF4-FFF2-40B4-BE49-F238E27FC236}">
                  <a16:creationId xmlns:a16="http://schemas.microsoft.com/office/drawing/2014/main" id="{DA1FEC1B-1B63-421E-8ACC-3453566BF9AD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3438525"/>
              <a:ext cx="9763125" cy="8001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Empatizar consiste en acercarnos a quienes experimentan el problema para comprender sus:</a:t>
              </a:r>
            </a:p>
          </p:txBody>
        </p:sp>
        <p:sp>
          <p:nvSpPr>
            <p:cNvPr id="1009" name="academic-5-1009">
              <a:extLst>
                <a:ext uri="{FF2B5EF4-FFF2-40B4-BE49-F238E27FC236}">
                  <a16:creationId xmlns:a16="http://schemas.microsoft.com/office/drawing/2014/main" id="{EED811EA-B596-448E-B13C-19933A1BE604}"/>
                </a:ext>
              </a:extLst>
            </p:cNvPr>
            <p:cNvSpPr>
              <a:spLocks noGrp="1"/>
            </p:cNvSpPr>
            <p:nvPr/>
          </p:nvSpPr>
          <p:spPr>
            <a:xfrm>
              <a:off x="4195763" y="4657725"/>
              <a:ext cx="2738438" cy="838200"/>
            </a:xfrm>
            <a:custGeom>
              <a:pathLst>
                <a:path w="2738438" h="838200">
                  <a:moveTo>
                    <a:pt x="0" y="0"/>
                  </a:moveTo>
                  <a:lnTo>
                    <a:pt x="2738438" y="838200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0" name="academic-5-1010">
              <a:extLst>
                <a:ext uri="{FF2B5EF4-FFF2-40B4-BE49-F238E27FC236}">
                  <a16:creationId xmlns:a16="http://schemas.microsoft.com/office/drawing/2014/main" id="{D8A8A4A7-4999-4002-B5A4-06465E23CA0D}"/>
                </a:ext>
              </a:extLst>
            </p:cNvPr>
            <p:cNvSpPr>
              <a:spLocks noGrp="1"/>
            </p:cNvSpPr>
            <p:nvPr/>
          </p:nvSpPr>
          <p:spPr>
            <a:xfrm>
              <a:off x="6934200" y="4438650"/>
              <a:ext cx="819150" cy="1057275"/>
            </a:xfrm>
            <a:custGeom>
              <a:pathLst>
                <a:path w="819150" h="1057275">
                  <a:moveTo>
                    <a:pt x="819150" y="0"/>
                  </a:moveTo>
                  <a:lnTo>
                    <a:pt x="0" y="1057275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1" name="academic-5-1011">
              <a:extLst>
                <a:ext uri="{FF2B5EF4-FFF2-40B4-BE49-F238E27FC236}">
                  <a16:creationId xmlns:a16="http://schemas.microsoft.com/office/drawing/2014/main" id="{E9D53F31-1B22-49DD-8395-3E75DF0AA0A6}"/>
                </a:ext>
              </a:extLst>
            </p:cNvPr>
            <p:cNvSpPr>
              <a:spLocks noGrp="1"/>
            </p:cNvSpPr>
            <p:nvPr/>
          </p:nvSpPr>
          <p:spPr>
            <a:xfrm>
              <a:off x="6934200" y="5400675"/>
              <a:ext cx="3367088" cy="95250"/>
            </a:xfrm>
            <a:custGeom>
              <a:pathLst>
                <a:path w="3367088" h="95250">
                  <a:moveTo>
                    <a:pt x="3367088" y="0"/>
                  </a:moveTo>
                  <a:lnTo>
                    <a:pt x="0" y="95250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2" name="academic-5-1012">
              <a:extLst>
                <a:ext uri="{FF2B5EF4-FFF2-40B4-BE49-F238E27FC236}">
                  <a16:creationId xmlns:a16="http://schemas.microsoft.com/office/drawing/2014/main" id="{60DD567C-ACE0-400A-A2C8-1BB35930015A}"/>
                </a:ext>
              </a:extLst>
            </p:cNvPr>
            <p:cNvSpPr>
              <a:spLocks noGrp="1"/>
            </p:cNvSpPr>
            <p:nvPr/>
          </p:nvSpPr>
          <p:spPr>
            <a:xfrm>
              <a:off x="6934200" y="5495925"/>
              <a:ext cx="1452563" cy="1228725"/>
            </a:xfrm>
            <a:custGeom>
              <a:pathLst>
                <a:path w="1452563" h="1228725">
                  <a:moveTo>
                    <a:pt x="1452563" y="12287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3" name="academic-5-1013">
              <a:extLst>
                <a:ext uri="{FF2B5EF4-FFF2-40B4-BE49-F238E27FC236}">
                  <a16:creationId xmlns:a16="http://schemas.microsoft.com/office/drawing/2014/main" id="{0E294886-6DC4-4DD1-B763-76802035E252}"/>
                </a:ext>
              </a:extLst>
            </p:cNvPr>
            <p:cNvSpPr>
              <a:spLocks noGrp="1"/>
            </p:cNvSpPr>
            <p:nvPr/>
          </p:nvSpPr>
          <p:spPr>
            <a:xfrm>
              <a:off x="4738688" y="5495925"/>
              <a:ext cx="2195513" cy="1000125"/>
            </a:xfrm>
            <a:custGeom>
              <a:pathLst>
                <a:path w="2195513" h="1000125">
                  <a:moveTo>
                    <a:pt x="0" y="1000125"/>
                  </a:moveTo>
                  <a:lnTo>
                    <a:pt x="2195513" y="0"/>
                  </a:lnTo>
                </a:path>
              </a:pathLst>
            </a:custGeom>
            <a:noFill/>
            <a:ln w="28575">
              <a:solidFill>
                <a:srgbClr val="DCD4E6"/>
              </a:solidFill>
            </a:ln>
          </p:spPr>
        </p:sp>
        <p:sp>
          <p:nvSpPr>
            <p:cNvPr id="1014" name="academic-5-1014">
              <a:extLst>
                <a:ext uri="{FF2B5EF4-FFF2-40B4-BE49-F238E27FC236}">
                  <a16:creationId xmlns:a16="http://schemas.microsoft.com/office/drawing/2014/main" id="{896039B3-09EC-49C2-9F8F-9CDE3E217F7D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4695825"/>
              <a:ext cx="1581150" cy="1581150"/>
            </a:xfrm>
            <a:prstGeom prst="ellipse">
              <a:avLst/>
            </a:prstGeom>
            <a:solidFill>
              <a:srgbClr val="664092"/>
            </a:solidFill>
            <a:ln w="19050">
              <a:noFill/>
            </a:ln>
          </p:spPr>
        </p:sp>
        <p:sp>
          <p:nvSpPr>
            <p:cNvPr id="1015" name="academic-5-1015">
              <a:extLst>
                <a:ext uri="{FF2B5EF4-FFF2-40B4-BE49-F238E27FC236}">
                  <a16:creationId xmlns:a16="http://schemas.microsoft.com/office/drawing/2014/main" id="{6C0E4901-1C8B-4C56-86C4-C02A14070B17}"/>
                </a:ext>
              </a:extLst>
            </p:cNvPr>
            <p:cNvSpPr>
              <a:spLocks noGrp="1"/>
            </p:cNvSpPr>
            <p:nvPr/>
          </p:nvSpPr>
          <p:spPr>
            <a:xfrm>
              <a:off x="6821805" y="5075301"/>
              <a:ext cx="205740" cy="205740"/>
            </a:xfrm>
            <a:prstGeom prst="ellipse">
              <a:avLst/>
            </a:prstGeom>
            <a:noFill/>
            <a:ln w="27775">
              <a:solidFill>
                <a:srgbClr val="FFFFFF"/>
              </a:solidFill>
            </a:ln>
          </p:spPr>
        </p:sp>
        <p:sp>
          <p:nvSpPr>
            <p:cNvPr id="1016" name="academic-5-1016">
              <a:extLst>
                <a:ext uri="{FF2B5EF4-FFF2-40B4-BE49-F238E27FC236}">
                  <a16:creationId xmlns:a16="http://schemas.microsoft.com/office/drawing/2014/main" id="{17A40853-4460-4D22-84B2-00C1ACEF6F8E}"/>
                </a:ext>
              </a:extLst>
            </p:cNvPr>
            <p:cNvSpPr>
              <a:spLocks noGrp="1"/>
            </p:cNvSpPr>
            <p:nvPr/>
          </p:nvSpPr>
          <p:spPr>
            <a:xfrm>
              <a:off x="6688074" y="5332476"/>
              <a:ext cx="473202" cy="236601"/>
            </a:xfrm>
            <a:custGeom>
              <a:pathLst>
                <a:path w="473202" h="236601">
                  <a:moveTo>
                    <a:pt x="0" y="236601"/>
                  </a:moveTo>
                  <a:lnTo>
                    <a:pt x="900" y="215980"/>
                  </a:lnTo>
                  <a:lnTo>
                    <a:pt x="3595" y="195516"/>
                  </a:lnTo>
                  <a:lnTo>
                    <a:pt x="8062" y="175364"/>
                  </a:lnTo>
                  <a:lnTo>
                    <a:pt x="14269" y="155679"/>
                  </a:lnTo>
                  <a:lnTo>
                    <a:pt x="22168" y="136609"/>
                  </a:lnTo>
                  <a:lnTo>
                    <a:pt x="31699" y="118301"/>
                  </a:lnTo>
                  <a:lnTo>
                    <a:pt x="42789" y="100892"/>
                  </a:lnTo>
                  <a:lnTo>
                    <a:pt x="55354" y="84517"/>
                  </a:lnTo>
                  <a:lnTo>
                    <a:pt x="69299" y="69299"/>
                  </a:lnTo>
                  <a:lnTo>
                    <a:pt x="84517" y="55354"/>
                  </a:lnTo>
                  <a:lnTo>
                    <a:pt x="100892" y="42789"/>
                  </a:lnTo>
                  <a:lnTo>
                    <a:pt x="118301" y="31699"/>
                  </a:lnTo>
                  <a:lnTo>
                    <a:pt x="136609" y="22168"/>
                  </a:lnTo>
                  <a:lnTo>
                    <a:pt x="155679" y="14269"/>
                  </a:lnTo>
                  <a:lnTo>
                    <a:pt x="175364" y="8062"/>
                  </a:lnTo>
                  <a:lnTo>
                    <a:pt x="195516" y="3595"/>
                  </a:lnTo>
                  <a:lnTo>
                    <a:pt x="215980" y="900"/>
                  </a:lnTo>
                  <a:lnTo>
                    <a:pt x="236601" y="0"/>
                  </a:lnTo>
                  <a:lnTo>
                    <a:pt x="257222" y="900"/>
                  </a:lnTo>
                  <a:lnTo>
                    <a:pt x="277686" y="3595"/>
                  </a:lnTo>
                  <a:lnTo>
                    <a:pt x="297838" y="8062"/>
                  </a:lnTo>
                  <a:lnTo>
                    <a:pt x="317523" y="14269"/>
                  </a:lnTo>
                  <a:lnTo>
                    <a:pt x="336593" y="22168"/>
                  </a:lnTo>
                  <a:lnTo>
                    <a:pt x="354901" y="31699"/>
                  </a:lnTo>
                  <a:lnTo>
                    <a:pt x="372310" y="42789"/>
                  </a:lnTo>
                  <a:lnTo>
                    <a:pt x="388685" y="55354"/>
                  </a:lnTo>
                  <a:lnTo>
                    <a:pt x="403903" y="69299"/>
                  </a:lnTo>
                  <a:lnTo>
                    <a:pt x="417848" y="84517"/>
                  </a:lnTo>
                  <a:lnTo>
                    <a:pt x="430413" y="100892"/>
                  </a:lnTo>
                  <a:lnTo>
                    <a:pt x="441503" y="118301"/>
                  </a:lnTo>
                  <a:lnTo>
                    <a:pt x="451034" y="136609"/>
                  </a:lnTo>
                  <a:lnTo>
                    <a:pt x="458933" y="155679"/>
                  </a:lnTo>
                  <a:lnTo>
                    <a:pt x="465140" y="175364"/>
                  </a:lnTo>
                  <a:lnTo>
                    <a:pt x="469607" y="195516"/>
                  </a:lnTo>
                  <a:lnTo>
                    <a:pt x="472302" y="215980"/>
                  </a:lnTo>
                  <a:lnTo>
                    <a:pt x="473202" y="236601"/>
                  </a:lnTo>
                </a:path>
              </a:pathLst>
            </a:custGeom>
            <a:noFill/>
            <a:ln w="27775">
              <a:solidFill>
                <a:srgbClr val="FFFFFF"/>
              </a:solidFill>
            </a:ln>
          </p:spPr>
        </p:sp>
        <p:sp>
          <p:nvSpPr>
            <p:cNvPr id="1017" name="academic-5-1017">
              <a:extLst>
                <a:ext uri="{FF2B5EF4-FFF2-40B4-BE49-F238E27FC236}">
                  <a16:creationId xmlns:a16="http://schemas.microsoft.com/office/drawing/2014/main" id="{55DABCD3-B714-4B57-B11D-92C6EB471111}"/>
                </a:ext>
              </a:extLst>
            </p:cNvPr>
            <p:cNvSpPr>
              <a:spLocks noGrp="1"/>
            </p:cNvSpPr>
            <p:nvPr/>
          </p:nvSpPr>
          <p:spPr>
            <a:xfrm>
              <a:off x="6688074" y="5569077"/>
              <a:ext cx="473202" cy="953"/>
            </a:xfrm>
            <a:custGeom>
              <a:pathLst>
                <a:path w="473202" h="953">
                  <a:moveTo>
                    <a:pt x="0" y="0"/>
                  </a:moveTo>
                  <a:lnTo>
                    <a:pt x="473202" y="0"/>
                  </a:lnTo>
                </a:path>
              </a:pathLst>
            </a:custGeom>
            <a:noFill/>
            <a:ln w="27775">
              <a:solidFill>
                <a:srgbClr val="FFFFFF"/>
              </a:solidFill>
            </a:ln>
          </p:spPr>
        </p:sp>
        <p:sp>
          <p:nvSpPr>
            <p:cNvPr id="1018" name="academic-5-1018">
              <a:extLst>
                <a:ext uri="{FF2B5EF4-FFF2-40B4-BE49-F238E27FC236}">
                  <a16:creationId xmlns:a16="http://schemas.microsoft.com/office/drawing/2014/main" id="{1AF290F9-21E7-44A3-8181-29D0C63538F0}"/>
                </a:ext>
              </a:extLst>
            </p:cNvPr>
            <p:cNvSpPr>
              <a:spLocks noGrp="1"/>
            </p:cNvSpPr>
            <p:nvPr/>
          </p:nvSpPr>
          <p:spPr>
            <a:xfrm>
              <a:off x="6229350" y="5895975"/>
              <a:ext cx="1381125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USUARIO</a:t>
              </a:r>
            </a:p>
          </p:txBody>
        </p:sp>
        <p:sp>
          <p:nvSpPr>
            <p:cNvPr id="1019" name="academic-5-1019">
              <a:extLst>
                <a:ext uri="{FF2B5EF4-FFF2-40B4-BE49-F238E27FC236}">
                  <a16:creationId xmlns:a16="http://schemas.microsoft.com/office/drawing/2014/main" id="{0E963CF3-FE9D-420B-B602-5B574E338B4D}"/>
                </a:ext>
              </a:extLst>
            </p:cNvPr>
            <p:cNvSpPr>
              <a:spLocks noGrp="1"/>
            </p:cNvSpPr>
            <p:nvPr/>
          </p:nvSpPr>
          <p:spPr>
            <a:xfrm>
              <a:off x="2838450" y="4333875"/>
              <a:ext cx="2714625" cy="628650"/>
            </a:xfrm>
            <a:prstGeom prst="roundRect">
              <a:avLst>
                <a:gd name="adj" fmla="val 33333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0" name="academic-5-1020">
              <a:extLst>
                <a:ext uri="{FF2B5EF4-FFF2-40B4-BE49-F238E27FC236}">
                  <a16:creationId xmlns:a16="http://schemas.microsoft.com/office/drawing/2014/main" id="{6CF199B1-1F69-4797-9972-B5214B4C697B}"/>
                </a:ext>
              </a:extLst>
            </p:cNvPr>
            <p:cNvSpPr>
              <a:spLocks noGrp="1"/>
            </p:cNvSpPr>
            <p:nvPr/>
          </p:nvSpPr>
          <p:spPr>
            <a:xfrm>
              <a:off x="3009900" y="4505325"/>
              <a:ext cx="23717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Necesidades</a:t>
              </a:r>
            </a:p>
          </p:txBody>
        </p:sp>
        <p:sp>
          <p:nvSpPr>
            <p:cNvPr id="1021" name="academic-5-1021">
              <a:extLst>
                <a:ext uri="{FF2B5EF4-FFF2-40B4-BE49-F238E27FC236}">
                  <a16:creationId xmlns:a16="http://schemas.microsoft.com/office/drawing/2014/main" id="{DCFA41D2-3D74-48E3-A060-1B2A8C33C1F2}"/>
                </a:ext>
              </a:extLst>
            </p:cNvPr>
            <p:cNvSpPr>
              <a:spLocks noGrp="1"/>
            </p:cNvSpPr>
            <p:nvPr/>
          </p:nvSpPr>
          <p:spPr>
            <a:xfrm>
              <a:off x="6372225" y="4114800"/>
              <a:ext cx="2762250" cy="628650"/>
            </a:xfrm>
            <a:prstGeom prst="roundRect">
              <a:avLst>
                <a:gd name="adj" fmla="val 33333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2" name="academic-5-1022">
              <a:extLst>
                <a:ext uri="{FF2B5EF4-FFF2-40B4-BE49-F238E27FC236}">
                  <a16:creationId xmlns:a16="http://schemas.microsoft.com/office/drawing/2014/main" id="{00E864DC-E14F-478F-AC0D-1328CBD38951}"/>
                </a:ext>
              </a:extLst>
            </p:cNvPr>
            <p:cNvSpPr>
              <a:spLocks noGrp="1"/>
            </p:cNvSpPr>
            <p:nvPr/>
          </p:nvSpPr>
          <p:spPr>
            <a:xfrm>
              <a:off x="6543675" y="4286250"/>
              <a:ext cx="2419350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Experiencias</a:t>
              </a:r>
            </a:p>
          </p:txBody>
        </p:sp>
        <p:sp>
          <p:nvSpPr>
            <p:cNvPr id="1023" name="academic-5-1023">
              <a:extLst>
                <a:ext uri="{FF2B5EF4-FFF2-40B4-BE49-F238E27FC236}">
                  <a16:creationId xmlns:a16="http://schemas.microsoft.com/office/drawing/2014/main" id="{E4A69EA2-4371-45DE-9C4B-BA0592CECE61}"/>
                </a:ext>
              </a:extLst>
            </p:cNvPr>
            <p:cNvSpPr>
              <a:spLocks noGrp="1"/>
            </p:cNvSpPr>
            <p:nvPr/>
          </p:nvSpPr>
          <p:spPr>
            <a:xfrm>
              <a:off x="8839200" y="5076825"/>
              <a:ext cx="2924175" cy="628650"/>
            </a:xfrm>
            <a:prstGeom prst="roundRect">
              <a:avLst>
                <a:gd name="adj" fmla="val 33333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4" name="academic-5-1024">
              <a:extLst>
                <a:ext uri="{FF2B5EF4-FFF2-40B4-BE49-F238E27FC236}">
                  <a16:creationId xmlns:a16="http://schemas.microsoft.com/office/drawing/2014/main" id="{78282F8D-2EE7-4814-9CEF-AF295307485C}"/>
                </a:ext>
              </a:extLst>
            </p:cNvPr>
            <p:cNvSpPr>
              <a:spLocks noGrp="1"/>
            </p:cNvSpPr>
            <p:nvPr/>
          </p:nvSpPr>
          <p:spPr>
            <a:xfrm>
              <a:off x="9010650" y="5248275"/>
              <a:ext cx="258127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Comportamientos</a:t>
              </a:r>
            </a:p>
          </p:txBody>
        </p:sp>
        <p:sp>
          <p:nvSpPr>
            <p:cNvPr id="1025" name="academic-5-1025">
              <a:extLst>
                <a:ext uri="{FF2B5EF4-FFF2-40B4-BE49-F238E27FC236}">
                  <a16:creationId xmlns:a16="http://schemas.microsoft.com/office/drawing/2014/main" id="{E0D16096-7FCA-4B00-9314-6E2FB00C87FF}"/>
                </a:ext>
              </a:extLst>
            </p:cNvPr>
            <p:cNvSpPr>
              <a:spLocks noGrp="1"/>
            </p:cNvSpPr>
            <p:nvPr/>
          </p:nvSpPr>
          <p:spPr>
            <a:xfrm>
              <a:off x="7029450" y="6400800"/>
              <a:ext cx="2714625" cy="628650"/>
            </a:xfrm>
            <a:prstGeom prst="roundRect">
              <a:avLst>
                <a:gd name="adj" fmla="val 33333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6" name="academic-5-1026">
              <a:extLst>
                <a:ext uri="{FF2B5EF4-FFF2-40B4-BE49-F238E27FC236}">
                  <a16:creationId xmlns:a16="http://schemas.microsoft.com/office/drawing/2014/main" id="{4B66723C-C1F0-4CC4-ACBB-252F11A8D579}"/>
                </a:ext>
              </a:extLst>
            </p:cNvPr>
            <p:cNvSpPr>
              <a:spLocks noGrp="1"/>
            </p:cNvSpPr>
            <p:nvPr/>
          </p:nvSpPr>
          <p:spPr>
            <a:xfrm>
              <a:off x="7200900" y="6572250"/>
              <a:ext cx="23717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Motivaciones</a:t>
              </a:r>
            </a:p>
          </p:txBody>
        </p:sp>
        <p:sp>
          <p:nvSpPr>
            <p:cNvPr id="1027" name="academic-5-1027">
              <a:extLst>
                <a:ext uri="{FF2B5EF4-FFF2-40B4-BE49-F238E27FC236}">
                  <a16:creationId xmlns:a16="http://schemas.microsoft.com/office/drawing/2014/main" id="{19BB9D53-F52C-4F0B-B703-7E381FAB5FDE}"/>
                </a:ext>
              </a:extLst>
            </p:cNvPr>
            <p:cNvSpPr>
              <a:spLocks noGrp="1"/>
            </p:cNvSpPr>
            <p:nvPr/>
          </p:nvSpPr>
          <p:spPr>
            <a:xfrm>
              <a:off x="3381375" y="6172200"/>
              <a:ext cx="2714625" cy="628650"/>
            </a:xfrm>
            <a:prstGeom prst="roundRect">
              <a:avLst>
                <a:gd name="adj" fmla="val 33333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8" name="academic-5-1028">
              <a:extLst>
                <a:ext uri="{FF2B5EF4-FFF2-40B4-BE49-F238E27FC236}">
                  <a16:creationId xmlns:a16="http://schemas.microsoft.com/office/drawing/2014/main" id="{0217AE0C-06A3-41AE-9698-8BAF692AB681}"/>
                </a:ext>
              </a:extLst>
            </p:cNvPr>
            <p:cNvSpPr>
              <a:spLocks noGrp="1"/>
            </p:cNvSpPr>
            <p:nvPr/>
          </p:nvSpPr>
          <p:spPr>
            <a:xfrm>
              <a:off x="3552825" y="6343650"/>
              <a:ext cx="2371725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Dificultades</a:t>
              </a:r>
            </a:p>
          </p:txBody>
        </p:sp>
        <p:sp>
          <p:nvSpPr>
            <p:cNvPr id="1029" name="academic-5-1029">
              <a:extLst>
                <a:ext uri="{FF2B5EF4-FFF2-40B4-BE49-F238E27FC236}">
                  <a16:creationId xmlns:a16="http://schemas.microsoft.com/office/drawing/2014/main" id="{FCC47FF3-C95F-4763-BD29-4D29A50A2D18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3581400"/>
              <a:ext cx="4819650" cy="1371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No significa simplemente sentir simpatía ni asumir que sabemos lo que otra persona necesita.</a:t>
              </a:r>
            </a:p>
          </p:txBody>
        </p:sp>
        <p:sp>
          <p:nvSpPr>
            <p:cNvPr id="1030" name="academic-5-1030">
              <a:extLst>
                <a:ext uri="{FF2B5EF4-FFF2-40B4-BE49-F238E27FC236}">
                  <a16:creationId xmlns:a16="http://schemas.microsoft.com/office/drawing/2014/main" id="{C7114330-B66C-4AA7-AC8B-93F74E233D2E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4886325"/>
              <a:ext cx="4819650" cy="12954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Implica realizar un esfuerzo deliberado por comprender la situación desde la perspectiva de quien la experimenta.</a:t>
              </a:r>
            </a:p>
          </p:txBody>
        </p:sp>
        <p:sp>
          <p:nvSpPr>
            <p:cNvPr id="1031" name="academic-5-1031">
              <a:extLst>
                <a:ext uri="{FF2B5EF4-FFF2-40B4-BE49-F238E27FC236}">
                  <a16:creationId xmlns:a16="http://schemas.microsoft.com/office/drawing/2014/main" id="{80DBB055-FE67-4983-9C01-D36245918885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296025"/>
              <a:ext cx="4905375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Podemos aproximarnos mediante:</a:t>
              </a:r>
            </a:p>
          </p:txBody>
        </p:sp>
        <p:sp>
          <p:nvSpPr>
            <p:cNvPr id="1032" name="academic-5-1032">
              <a:extLst>
                <a:ext uri="{FF2B5EF4-FFF2-40B4-BE49-F238E27FC236}">
                  <a16:creationId xmlns:a16="http://schemas.microsoft.com/office/drawing/2014/main" id="{F60B54F3-E114-48F0-ABD9-416322E9F20E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734175"/>
              <a:ext cx="5067300" cy="6381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Observación · conversaciones</a:t>
              </a:r>
            </a:p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entrevistas · análisis del contexto</a:t>
              </a:r>
            </a:p>
          </p:txBody>
        </p:sp>
        <p:sp>
          <p:nvSpPr>
            <p:cNvPr id="1033" name="academic-5-1033">
              <a:extLst>
                <a:ext uri="{FF2B5EF4-FFF2-40B4-BE49-F238E27FC236}">
                  <a16:creationId xmlns:a16="http://schemas.microsoft.com/office/drawing/2014/main" id="{BE16A36F-94BE-402F-AB78-DCD497E04460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34" name="academic-5-1034">
              <a:extLst>
                <a:ext uri="{FF2B5EF4-FFF2-40B4-BE49-F238E27FC236}">
                  <a16:creationId xmlns:a16="http://schemas.microsoft.com/office/drawing/2014/main" id="{24B0C976-F248-4830-9FFC-D726AE2AF7F1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35" name="academic-5-1035">
              <a:extLst>
                <a:ext uri="{FF2B5EF4-FFF2-40B4-BE49-F238E27FC236}">
                  <a16:creationId xmlns:a16="http://schemas.microsoft.com/office/drawing/2014/main" id="{DACAEE26-E84D-4918-82D7-4EF936F26188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Diseñamos para usuarios comprendidos, no para usuarios imaginados.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6-1003">
              <a:extLst>
                <a:ext uri="{FF2B5EF4-FFF2-40B4-BE49-F238E27FC236}">
                  <a16:creationId xmlns:a16="http://schemas.microsoft.com/office/drawing/2014/main" id="{9DBB2306-73A0-4C14-BCEE-7040EB147299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6-1004">
              <a:extLst>
                <a:ext uri="{FF2B5EF4-FFF2-40B4-BE49-F238E27FC236}">
                  <a16:creationId xmlns:a16="http://schemas.microsoft.com/office/drawing/2014/main" id="{BAD1C5BA-C921-46BB-A38D-A8184101CD7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2 · Definir</a:t>
              </a:r>
            </a:p>
          </p:txBody>
        </p:sp>
        <p:sp>
          <p:nvSpPr>
            <p:cNvPr id="1005" name="academic-6-1005">
              <a:extLst>
                <a:ext uri="{FF2B5EF4-FFF2-40B4-BE49-F238E27FC236}">
                  <a16:creationId xmlns:a16="http://schemas.microsoft.com/office/drawing/2014/main" id="{56BF9A1A-1C85-400D-9ABA-38B933C07151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6-1006">
              <a:extLst>
                <a:ext uri="{FF2B5EF4-FFF2-40B4-BE49-F238E27FC236}">
                  <a16:creationId xmlns:a16="http://schemas.microsoft.com/office/drawing/2014/main" id="{982ACA40-19CF-48EC-8B78-52B12824AAAC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06 / 11</a:t>
              </a:r>
            </a:p>
          </p:txBody>
        </p:sp>
        <p:sp>
          <p:nvSpPr>
            <p:cNvPr id="1007" name="academic-6-1007">
              <a:extLst>
                <a:ext uri="{FF2B5EF4-FFF2-40B4-BE49-F238E27FC236}">
                  <a16:creationId xmlns:a16="http://schemas.microsoft.com/office/drawing/2014/main" id="{59F63BEB-78E1-4EA9-99F3-BC41A5A4ECE6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240000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¿Cuál es el problema que realmente necesitamos abordar?</a:t>
              </a:r>
            </a:p>
          </p:txBody>
        </p:sp>
        <p:sp>
          <p:nvSpPr>
            <p:cNvPr id="1008" name="academic-6-1008">
              <a:extLst>
                <a:ext uri="{FF2B5EF4-FFF2-40B4-BE49-F238E27FC236}">
                  <a16:creationId xmlns:a16="http://schemas.microsoft.com/office/drawing/2014/main" id="{A6E5AD18-B8DF-469D-817C-B665BF99F873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3390900"/>
              <a:ext cx="15297150" cy="7715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Después de recopilar información sobre las personas, necesitamos sintetizar los aprendizajes y convertirlos en una comprensión más precisa del problema.</a:t>
              </a:r>
            </a:p>
          </p:txBody>
        </p:sp>
        <p:sp>
          <p:nvSpPr>
            <p:cNvPr id="1009" name="academic-6-1009">
              <a:extLst>
                <a:ext uri="{FF2B5EF4-FFF2-40B4-BE49-F238E27FC236}">
                  <a16:creationId xmlns:a16="http://schemas.microsoft.com/office/drawing/2014/main" id="{E2549DDA-01BA-43D3-9817-6A7C99A1A296}"/>
                </a:ext>
              </a:extLst>
            </p:cNvPr>
            <p:cNvSpPr>
              <a:spLocks noGrp="1"/>
            </p:cNvSpPr>
            <p:nvPr/>
          </p:nvSpPr>
          <p:spPr>
            <a:xfrm>
              <a:off x="2019300" y="4171950"/>
              <a:ext cx="14954250" cy="3524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Definir implica:</a:t>
              </a:r>
            </a:p>
          </p:txBody>
        </p:sp>
        <p:sp>
          <p:nvSpPr>
            <p:cNvPr id="1010" name="academic-6-1010">
              <a:extLst>
                <a:ext uri="{FF2B5EF4-FFF2-40B4-BE49-F238E27FC236}">
                  <a16:creationId xmlns:a16="http://schemas.microsoft.com/office/drawing/2014/main" id="{963CA0F3-6905-435D-933A-93DA3683F2C5}"/>
                </a:ext>
              </a:extLst>
            </p:cNvPr>
            <p:cNvSpPr>
              <a:spLocks noGrp="1"/>
            </p:cNvSpPr>
            <p:nvPr/>
          </p:nvSpPr>
          <p:spPr>
            <a:xfrm>
              <a:off x="2028825" y="4648200"/>
              <a:ext cx="3457575" cy="638175"/>
            </a:xfrm>
            <a:prstGeom prst="roundRect">
              <a:avLst>
                <a:gd name="adj" fmla="val 3283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1" name="academic-6-1011">
              <a:extLst>
                <a:ext uri="{FF2B5EF4-FFF2-40B4-BE49-F238E27FC236}">
                  <a16:creationId xmlns:a16="http://schemas.microsoft.com/office/drawing/2014/main" id="{B20ACFB3-DBE0-4D46-B9EF-726B528B4E25}"/>
                </a:ext>
              </a:extLst>
            </p:cNvPr>
            <p:cNvSpPr>
              <a:spLocks noGrp="1"/>
            </p:cNvSpPr>
            <p:nvPr/>
          </p:nvSpPr>
          <p:spPr>
            <a:xfrm>
              <a:off x="2200275" y="4819650"/>
              <a:ext cx="3114675" cy="4095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Interpretar hallazgos</a:t>
              </a:r>
            </a:p>
          </p:txBody>
        </p:sp>
        <p:sp>
          <p:nvSpPr>
            <p:cNvPr id="1012" name="academic-6-1012">
              <a:extLst>
                <a:ext uri="{FF2B5EF4-FFF2-40B4-BE49-F238E27FC236}">
                  <a16:creationId xmlns:a16="http://schemas.microsoft.com/office/drawing/2014/main" id="{DE3CEADA-1975-4510-AEE7-CDCBC2B4DBD7}"/>
                </a:ext>
              </a:extLst>
            </p:cNvPr>
            <p:cNvSpPr>
              <a:spLocks noGrp="1"/>
            </p:cNvSpPr>
            <p:nvPr/>
          </p:nvSpPr>
          <p:spPr>
            <a:xfrm>
              <a:off x="5572125" y="4967288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3" name="academic-6-1013">
              <a:extLst>
                <a:ext uri="{FF2B5EF4-FFF2-40B4-BE49-F238E27FC236}">
                  <a16:creationId xmlns:a16="http://schemas.microsoft.com/office/drawing/2014/main" id="{D02B3EF2-0789-4C7C-86F0-B2922673B1E3}"/>
                </a:ext>
              </a:extLst>
            </p:cNvPr>
            <p:cNvSpPr>
              <a:spLocks noGrp="1"/>
            </p:cNvSpPr>
            <p:nvPr/>
          </p:nvSpPr>
          <p:spPr>
            <a:xfrm>
              <a:off x="5760431" y="4907544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4" name="academic-6-1014">
              <a:extLst>
                <a:ext uri="{FF2B5EF4-FFF2-40B4-BE49-F238E27FC236}">
                  <a16:creationId xmlns:a16="http://schemas.microsoft.com/office/drawing/2014/main" id="{FD9AF35B-FD5F-4460-8B97-B5BF5C31ED41}"/>
                </a:ext>
              </a:extLst>
            </p:cNvPr>
            <p:cNvSpPr>
              <a:spLocks noGrp="1"/>
            </p:cNvSpPr>
            <p:nvPr/>
          </p:nvSpPr>
          <p:spPr>
            <a:xfrm>
              <a:off x="5943600" y="4648200"/>
              <a:ext cx="3457575" cy="638175"/>
            </a:xfrm>
            <a:prstGeom prst="roundRect">
              <a:avLst>
                <a:gd name="adj" fmla="val 3283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5" name="academic-6-1015">
              <a:extLst>
                <a:ext uri="{FF2B5EF4-FFF2-40B4-BE49-F238E27FC236}">
                  <a16:creationId xmlns:a16="http://schemas.microsoft.com/office/drawing/2014/main" id="{B931F61E-5AB2-4F8E-9723-C3EAF90811D8}"/>
                </a:ext>
              </a:extLst>
            </p:cNvPr>
            <p:cNvSpPr>
              <a:spLocks noGrp="1"/>
            </p:cNvSpPr>
            <p:nvPr/>
          </p:nvSpPr>
          <p:spPr>
            <a:xfrm>
              <a:off x="6115050" y="4819650"/>
              <a:ext cx="3114675" cy="4095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Reconocer patrones</a:t>
              </a:r>
            </a:p>
          </p:txBody>
        </p:sp>
        <p:sp>
          <p:nvSpPr>
            <p:cNvPr id="1016" name="academic-6-1016">
              <a:extLst>
                <a:ext uri="{FF2B5EF4-FFF2-40B4-BE49-F238E27FC236}">
                  <a16:creationId xmlns:a16="http://schemas.microsoft.com/office/drawing/2014/main" id="{EB9DA5E2-7704-4F90-A1CB-6CE92D5A62FC}"/>
                </a:ext>
              </a:extLst>
            </p:cNvPr>
            <p:cNvSpPr>
              <a:spLocks noGrp="1"/>
            </p:cNvSpPr>
            <p:nvPr/>
          </p:nvSpPr>
          <p:spPr>
            <a:xfrm>
              <a:off x="9486900" y="4967288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7" name="academic-6-1017">
              <a:extLst>
                <a:ext uri="{FF2B5EF4-FFF2-40B4-BE49-F238E27FC236}">
                  <a16:creationId xmlns:a16="http://schemas.microsoft.com/office/drawing/2014/main" id="{F363300A-A9F9-4BFA-A4F2-00DC97D28869}"/>
                </a:ext>
              </a:extLst>
            </p:cNvPr>
            <p:cNvSpPr>
              <a:spLocks noGrp="1"/>
            </p:cNvSpPr>
            <p:nvPr/>
          </p:nvSpPr>
          <p:spPr>
            <a:xfrm>
              <a:off x="9675206" y="4907544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8" name="academic-6-1018">
              <a:extLst>
                <a:ext uri="{FF2B5EF4-FFF2-40B4-BE49-F238E27FC236}">
                  <a16:creationId xmlns:a16="http://schemas.microsoft.com/office/drawing/2014/main" id="{15061D34-8BEF-4299-AD4D-EAE5371A128E}"/>
                </a:ext>
              </a:extLst>
            </p:cNvPr>
            <p:cNvSpPr>
              <a:spLocks noGrp="1"/>
            </p:cNvSpPr>
            <p:nvPr/>
          </p:nvSpPr>
          <p:spPr>
            <a:xfrm>
              <a:off x="9858375" y="4648200"/>
              <a:ext cx="3457575" cy="638175"/>
            </a:xfrm>
            <a:prstGeom prst="roundRect">
              <a:avLst>
                <a:gd name="adj" fmla="val 3283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9" name="academic-6-1019">
              <a:extLst>
                <a:ext uri="{FF2B5EF4-FFF2-40B4-BE49-F238E27FC236}">
                  <a16:creationId xmlns:a16="http://schemas.microsoft.com/office/drawing/2014/main" id="{9DD17E47-E7A5-4800-A11E-CA95A81907A9}"/>
                </a:ext>
              </a:extLst>
            </p:cNvPr>
            <p:cNvSpPr>
              <a:spLocks noGrp="1"/>
            </p:cNvSpPr>
            <p:nvPr/>
          </p:nvSpPr>
          <p:spPr>
            <a:xfrm>
              <a:off x="10029825" y="4819650"/>
              <a:ext cx="3114675" cy="4095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Priorizar necesidades</a:t>
              </a:r>
            </a:p>
          </p:txBody>
        </p:sp>
        <p:sp>
          <p:nvSpPr>
            <p:cNvPr id="1020" name="academic-6-1020">
              <a:extLst>
                <a:ext uri="{FF2B5EF4-FFF2-40B4-BE49-F238E27FC236}">
                  <a16:creationId xmlns:a16="http://schemas.microsoft.com/office/drawing/2014/main" id="{F393844A-584B-478B-9FB4-1A2FD001E5E4}"/>
                </a:ext>
              </a:extLst>
            </p:cNvPr>
            <p:cNvSpPr>
              <a:spLocks noGrp="1"/>
            </p:cNvSpPr>
            <p:nvPr/>
          </p:nvSpPr>
          <p:spPr>
            <a:xfrm>
              <a:off x="13401675" y="4967288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1" name="academic-6-1021">
              <a:extLst>
                <a:ext uri="{FF2B5EF4-FFF2-40B4-BE49-F238E27FC236}">
                  <a16:creationId xmlns:a16="http://schemas.microsoft.com/office/drawing/2014/main" id="{3FC715D4-0759-4E0F-9D69-432826CC0CAC}"/>
                </a:ext>
              </a:extLst>
            </p:cNvPr>
            <p:cNvSpPr>
              <a:spLocks noGrp="1"/>
            </p:cNvSpPr>
            <p:nvPr/>
          </p:nvSpPr>
          <p:spPr>
            <a:xfrm>
              <a:off x="13589981" y="4907544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2" name="academic-6-1022">
              <a:extLst>
                <a:ext uri="{FF2B5EF4-FFF2-40B4-BE49-F238E27FC236}">
                  <a16:creationId xmlns:a16="http://schemas.microsoft.com/office/drawing/2014/main" id="{DD92FFE0-CAB5-4CE2-A7AA-DFD72A274EC7}"/>
                </a:ext>
              </a:extLst>
            </p:cNvPr>
            <p:cNvSpPr>
              <a:spLocks noGrp="1"/>
            </p:cNvSpPr>
            <p:nvPr/>
          </p:nvSpPr>
          <p:spPr>
            <a:xfrm>
              <a:off x="13773150" y="4648200"/>
              <a:ext cx="3457575" cy="638175"/>
            </a:xfrm>
            <a:prstGeom prst="roundRect">
              <a:avLst>
                <a:gd name="adj" fmla="val 3283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3" name="academic-6-1023">
              <a:extLst>
                <a:ext uri="{FF2B5EF4-FFF2-40B4-BE49-F238E27FC236}">
                  <a16:creationId xmlns:a16="http://schemas.microsoft.com/office/drawing/2014/main" id="{810E3D7F-9FCB-458F-A714-AF7646DCEFEB}"/>
                </a:ext>
              </a:extLst>
            </p:cNvPr>
            <p:cNvSpPr>
              <a:spLocks noGrp="1"/>
            </p:cNvSpPr>
            <p:nvPr/>
          </p:nvSpPr>
          <p:spPr>
            <a:xfrm>
              <a:off x="13944600" y="4819650"/>
              <a:ext cx="3114675" cy="4095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Formular un reto</a:t>
              </a:r>
            </a:p>
          </p:txBody>
        </p:sp>
        <p:sp>
          <p:nvSpPr>
            <p:cNvPr id="1024" name="academic-6-1024">
              <a:extLst>
                <a:ext uri="{FF2B5EF4-FFF2-40B4-BE49-F238E27FC236}">
                  <a16:creationId xmlns:a16="http://schemas.microsoft.com/office/drawing/2014/main" id="{A09555F3-FCEC-4E5C-827F-6056FC9B2494}"/>
                </a:ext>
              </a:extLst>
            </p:cNvPr>
            <p:cNvSpPr>
              <a:spLocks noGrp="1"/>
            </p:cNvSpPr>
            <p:nvPr/>
          </p:nvSpPr>
          <p:spPr>
            <a:xfrm>
              <a:off x="2038350" y="5524500"/>
              <a:ext cx="15335250" cy="3905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El problema inicial puede cambiar después de comprender mejor a las personas.</a:t>
              </a:r>
            </a:p>
          </p:txBody>
        </p:sp>
        <p:sp>
          <p:nvSpPr>
            <p:cNvPr id="1025" name="academic-6-1025">
              <a:extLst>
                <a:ext uri="{FF2B5EF4-FFF2-40B4-BE49-F238E27FC236}">
                  <a16:creationId xmlns:a16="http://schemas.microsoft.com/office/drawing/2014/main" id="{A30D23CE-7396-43DF-A913-0A8EAA191ACA}"/>
                </a:ext>
              </a:extLst>
            </p:cNvPr>
            <p:cNvSpPr>
              <a:spLocks noGrp="1"/>
            </p:cNvSpPr>
            <p:nvPr/>
          </p:nvSpPr>
          <p:spPr>
            <a:xfrm>
              <a:off x="2038350" y="5953125"/>
              <a:ext cx="10096500" cy="3619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Lo que parecía una dificultad técnica puede estar relacionado con:</a:t>
              </a:r>
            </a:p>
          </p:txBody>
        </p:sp>
        <p:sp>
          <p:nvSpPr>
            <p:cNvPr id="1026" name="academic-6-1026">
              <a:extLst>
                <a:ext uri="{FF2B5EF4-FFF2-40B4-BE49-F238E27FC236}">
                  <a16:creationId xmlns:a16="http://schemas.microsoft.com/office/drawing/2014/main" id="{FFA0E81D-5FC6-4FC4-8863-116A0FF58AAF}"/>
                </a:ext>
              </a:extLst>
            </p:cNvPr>
            <p:cNvSpPr>
              <a:spLocks noGrp="1"/>
            </p:cNvSpPr>
            <p:nvPr/>
          </p:nvSpPr>
          <p:spPr>
            <a:xfrm>
              <a:off x="2038350" y="6334125"/>
              <a:ext cx="14716125" cy="4095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Información · confianza · tiempo · accesibilidad · comprensión</a:t>
              </a:r>
            </a:p>
          </p:txBody>
        </p:sp>
        <p:sp>
          <p:nvSpPr>
            <p:cNvPr id="1027" name="academic-6-1027">
              <a:extLst>
                <a:ext uri="{FF2B5EF4-FFF2-40B4-BE49-F238E27FC236}">
                  <a16:creationId xmlns:a16="http://schemas.microsoft.com/office/drawing/2014/main" id="{BDC33117-0D0C-4A9D-8E8A-92CB55F351B7}"/>
                </a:ext>
              </a:extLst>
            </p:cNvPr>
            <p:cNvSpPr>
              <a:spLocks noGrp="1"/>
            </p:cNvSpPr>
            <p:nvPr/>
          </p:nvSpPr>
          <p:spPr>
            <a:xfrm>
              <a:off x="2762250" y="6848475"/>
              <a:ext cx="5419725" cy="1343025"/>
            </a:xfrm>
            <a:prstGeom prst="roundRect">
              <a:avLst>
                <a:gd name="adj" fmla="val 14184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8" name="academic-6-1028">
              <a:extLst>
                <a:ext uri="{FF2B5EF4-FFF2-40B4-BE49-F238E27FC236}">
                  <a16:creationId xmlns:a16="http://schemas.microsoft.com/office/drawing/2014/main" id="{9FA65969-C291-4433-8368-72F789DE8AFD}"/>
                </a:ext>
              </a:extLst>
            </p:cNvPr>
            <p:cNvSpPr>
              <a:spLocks noGrp="1"/>
            </p:cNvSpPr>
            <p:nvPr/>
          </p:nvSpPr>
          <p:spPr>
            <a:xfrm>
              <a:off x="2971800" y="7010400"/>
              <a:ext cx="704850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NO</a:t>
              </a:r>
            </a:p>
          </p:txBody>
        </p:sp>
        <p:sp>
          <p:nvSpPr>
            <p:cNvPr id="1029" name="academic-6-1029">
              <a:extLst>
                <a:ext uri="{FF2B5EF4-FFF2-40B4-BE49-F238E27FC236}">
                  <a16:creationId xmlns:a16="http://schemas.microsoft.com/office/drawing/2014/main" id="{E757E7BF-1012-4D1E-AAAF-D33C78D21F78}"/>
                </a:ext>
              </a:extLst>
            </p:cNvPr>
            <p:cNvSpPr>
              <a:spLocks noGrp="1"/>
            </p:cNvSpPr>
            <p:nvPr/>
          </p:nvSpPr>
          <p:spPr>
            <a:xfrm>
              <a:off x="3771900" y="7029450"/>
              <a:ext cx="4210050" cy="1047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“Necesitamos desarrollar una aplicación móvil”.</a:t>
              </a:r>
            </a:p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Esto anticipa una solución.</a:t>
              </a:r>
            </a:p>
          </p:txBody>
        </p:sp>
        <p:sp>
          <p:nvSpPr>
            <p:cNvPr id="1030" name="academic-6-1030">
              <a:extLst>
                <a:ext uri="{FF2B5EF4-FFF2-40B4-BE49-F238E27FC236}">
                  <a16:creationId xmlns:a16="http://schemas.microsoft.com/office/drawing/2014/main" id="{A1D7EE0E-6BB3-4D79-9968-141100046848}"/>
                </a:ext>
              </a:extLst>
            </p:cNvPr>
            <p:cNvSpPr>
              <a:spLocks noGrp="1"/>
            </p:cNvSpPr>
            <p:nvPr/>
          </p:nvSpPr>
          <p:spPr>
            <a:xfrm>
              <a:off x="8915400" y="6848475"/>
              <a:ext cx="8305800" cy="1343025"/>
            </a:xfrm>
            <a:prstGeom prst="roundRect">
              <a:avLst>
                <a:gd name="adj" fmla="val 14184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31" name="academic-6-1031">
              <a:extLst>
                <a:ext uri="{FF2B5EF4-FFF2-40B4-BE49-F238E27FC236}">
                  <a16:creationId xmlns:a16="http://schemas.microsoft.com/office/drawing/2014/main" id="{4766E742-5C06-4BB2-A8FD-AAA3B9EBE857}"/>
                </a:ext>
              </a:extLst>
            </p:cNvPr>
            <p:cNvSpPr>
              <a:spLocks noGrp="1"/>
            </p:cNvSpPr>
            <p:nvPr/>
          </p:nvSpPr>
          <p:spPr>
            <a:xfrm>
              <a:off x="9124950" y="7010400"/>
              <a:ext cx="638175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SÍ</a:t>
              </a:r>
            </a:p>
          </p:txBody>
        </p:sp>
        <p:sp>
          <p:nvSpPr>
            <p:cNvPr id="1032" name="academic-6-1032">
              <a:extLst>
                <a:ext uri="{FF2B5EF4-FFF2-40B4-BE49-F238E27FC236}">
                  <a16:creationId xmlns:a16="http://schemas.microsoft.com/office/drawing/2014/main" id="{97D30EA6-8EA2-4B93-A84E-E368C5085B78}"/>
                </a:ext>
              </a:extLst>
            </p:cNvPr>
            <p:cNvSpPr>
              <a:spLocks noGrp="1"/>
            </p:cNvSpPr>
            <p:nvPr/>
          </p:nvSpPr>
          <p:spPr>
            <a:xfrm>
              <a:off x="9915525" y="7010400"/>
              <a:ext cx="7038975" cy="1076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Formular la necesidad de manera suficientemente específica para orientar el proceso y suficientemente abierta para permitir diferentes respuestas.</a:t>
              </a:r>
            </a:p>
          </p:txBody>
        </p:sp>
        <p:sp>
          <p:nvSpPr>
            <p:cNvPr id="1033" name="academic-6-1033">
              <a:extLst>
                <a:ext uri="{FF2B5EF4-FFF2-40B4-BE49-F238E27FC236}">
                  <a16:creationId xmlns:a16="http://schemas.microsoft.com/office/drawing/2014/main" id="{3DAF2B4B-3613-47D8-980E-E10B818CD8EB}"/>
                </a:ext>
              </a:extLst>
            </p:cNvPr>
            <p:cNvSpPr>
              <a:spLocks noGrp="1"/>
            </p:cNvSpPr>
            <p:nvPr/>
          </p:nvSpPr>
          <p:spPr>
            <a:xfrm>
              <a:off x="3228975" y="8353425"/>
              <a:ext cx="9286875" cy="5810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87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Definir el reto orienta la creatividad sin decidir anticipadamente la solución.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7-1003">
              <a:extLst>
                <a:ext uri="{FF2B5EF4-FFF2-40B4-BE49-F238E27FC236}">
                  <a16:creationId xmlns:a16="http://schemas.microsoft.com/office/drawing/2014/main" id="{7CAFF011-E1DD-4BB3-A582-BD9789D57AF7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7-1004">
              <a:extLst>
                <a:ext uri="{FF2B5EF4-FFF2-40B4-BE49-F238E27FC236}">
                  <a16:creationId xmlns:a16="http://schemas.microsoft.com/office/drawing/2014/main" id="{9AA1A9F0-3575-4DD2-8044-431818C266EB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3 · Idear</a:t>
              </a:r>
            </a:p>
          </p:txBody>
        </p:sp>
        <p:sp>
          <p:nvSpPr>
            <p:cNvPr id="1005" name="academic-7-1005">
              <a:extLst>
                <a:ext uri="{FF2B5EF4-FFF2-40B4-BE49-F238E27FC236}">
                  <a16:creationId xmlns:a16="http://schemas.microsoft.com/office/drawing/2014/main" id="{B4654AC4-F260-48EC-A069-2D1A3B715C97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7-1006">
              <a:extLst>
                <a:ext uri="{FF2B5EF4-FFF2-40B4-BE49-F238E27FC236}">
                  <a16:creationId xmlns:a16="http://schemas.microsoft.com/office/drawing/2014/main" id="{276B01C7-5872-4445-9BB7-D187DB89D495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07 / 11</a:t>
              </a:r>
            </a:p>
          </p:txBody>
        </p:sp>
        <p:sp>
          <p:nvSpPr>
            <p:cNvPr id="1007" name="academic-7-1007">
              <a:extLst>
                <a:ext uri="{FF2B5EF4-FFF2-40B4-BE49-F238E27FC236}">
                  <a16:creationId xmlns:a16="http://schemas.microsoft.com/office/drawing/2014/main" id="{5D8276BE-AFF8-4815-9BBA-44706FF4C68C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240000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¿Qué alternativas podríamos imaginar?</a:t>
              </a:r>
            </a:p>
          </p:txBody>
        </p:sp>
        <p:sp>
          <p:nvSpPr>
            <p:cNvPr id="1008" name="academic-7-1008">
              <a:extLst>
                <a:ext uri="{FF2B5EF4-FFF2-40B4-BE49-F238E27FC236}">
                  <a16:creationId xmlns:a16="http://schemas.microsoft.com/office/drawing/2014/main" id="{D0DA9507-ACEE-44A1-9641-CECDCECC6AD3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3381375"/>
              <a:ext cx="15240000" cy="8001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Idear consiste en generar diferentes posibilidades para responder al reto previamente definido.</a:t>
              </a:r>
            </a:p>
            <a:p>
              <a:pPr algn="l">
                <a:def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2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La creatividad no significa esperar la aparición espontánea de una idea extraordinaria.</a:t>
              </a:r>
            </a:p>
          </p:txBody>
        </p:sp>
        <p:sp>
          <p:nvSpPr>
            <p:cNvPr id="1009" name="academic-7-1009">
              <a:extLst>
                <a:ext uri="{FF2B5EF4-FFF2-40B4-BE49-F238E27FC236}">
                  <a16:creationId xmlns:a16="http://schemas.microsoft.com/office/drawing/2014/main" id="{7B8D6E3D-F9E7-41D3-8307-EBDD438454C9}"/>
                </a:ext>
              </a:extLst>
            </p:cNvPr>
            <p:cNvSpPr>
              <a:spLocks noGrp="1"/>
            </p:cNvSpPr>
            <p:nvPr/>
          </p:nvSpPr>
          <p:spPr>
            <a:xfrm>
              <a:off x="2028825" y="4333875"/>
              <a:ext cx="3455194" cy="857250"/>
            </a:xfrm>
            <a:prstGeom prst="roundRect">
              <a:avLst>
                <a:gd name="adj" fmla="val 24444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0" name="academic-7-1010">
              <a:extLst>
                <a:ext uri="{FF2B5EF4-FFF2-40B4-BE49-F238E27FC236}">
                  <a16:creationId xmlns:a16="http://schemas.microsoft.com/office/drawing/2014/main" id="{659AC84E-254F-43FA-92CA-6155404761F4}"/>
                </a:ext>
              </a:extLst>
            </p:cNvPr>
            <p:cNvSpPr>
              <a:spLocks noGrp="1"/>
            </p:cNvSpPr>
            <p:nvPr/>
          </p:nvSpPr>
          <p:spPr>
            <a:xfrm>
              <a:off x="2200275" y="4505325"/>
              <a:ext cx="3112294" cy="6286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Producir alternativas</a:t>
              </a:r>
            </a:p>
          </p:txBody>
        </p:sp>
        <p:sp>
          <p:nvSpPr>
            <p:cNvPr id="1011" name="academic-7-1011">
              <a:extLst>
                <a:ext uri="{FF2B5EF4-FFF2-40B4-BE49-F238E27FC236}">
                  <a16:creationId xmlns:a16="http://schemas.microsoft.com/office/drawing/2014/main" id="{3FE4AD46-1A47-47F6-A8F8-2EBB04DD645A}"/>
                </a:ext>
              </a:extLst>
            </p:cNvPr>
            <p:cNvSpPr>
              <a:spLocks noGrp="1"/>
            </p:cNvSpPr>
            <p:nvPr/>
          </p:nvSpPr>
          <p:spPr>
            <a:xfrm>
              <a:off x="5569744" y="4762500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2" name="academic-7-1012">
              <a:extLst>
                <a:ext uri="{FF2B5EF4-FFF2-40B4-BE49-F238E27FC236}">
                  <a16:creationId xmlns:a16="http://schemas.microsoft.com/office/drawing/2014/main" id="{90712410-E0C8-408B-BF85-D99E4816E5E1}"/>
                </a:ext>
              </a:extLst>
            </p:cNvPr>
            <p:cNvSpPr>
              <a:spLocks noGrp="1"/>
            </p:cNvSpPr>
            <p:nvPr/>
          </p:nvSpPr>
          <p:spPr>
            <a:xfrm>
              <a:off x="5758050" y="4702757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3" name="academic-7-1013">
              <a:extLst>
                <a:ext uri="{FF2B5EF4-FFF2-40B4-BE49-F238E27FC236}">
                  <a16:creationId xmlns:a16="http://schemas.microsoft.com/office/drawing/2014/main" id="{33C16482-A73D-422F-BCE3-33D4DE0016C7}"/>
                </a:ext>
              </a:extLst>
            </p:cNvPr>
            <p:cNvSpPr>
              <a:spLocks noGrp="1"/>
            </p:cNvSpPr>
            <p:nvPr/>
          </p:nvSpPr>
          <p:spPr>
            <a:xfrm>
              <a:off x="5941219" y="4333875"/>
              <a:ext cx="3455194" cy="857250"/>
            </a:xfrm>
            <a:prstGeom prst="roundRect">
              <a:avLst>
                <a:gd name="adj" fmla="val 24444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4" name="academic-7-1014">
              <a:extLst>
                <a:ext uri="{FF2B5EF4-FFF2-40B4-BE49-F238E27FC236}">
                  <a16:creationId xmlns:a16="http://schemas.microsoft.com/office/drawing/2014/main" id="{0B2439B2-7EEC-40DA-A8B3-7A2E4FE6E49D}"/>
                </a:ext>
              </a:extLst>
            </p:cNvPr>
            <p:cNvSpPr>
              <a:spLocks noGrp="1"/>
            </p:cNvSpPr>
            <p:nvPr/>
          </p:nvSpPr>
          <p:spPr>
            <a:xfrm>
              <a:off x="6112669" y="4505325"/>
              <a:ext cx="3112294" cy="6286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Combinar posibilidades</a:t>
              </a:r>
            </a:p>
          </p:txBody>
        </p:sp>
        <p:sp>
          <p:nvSpPr>
            <p:cNvPr id="1015" name="academic-7-1015">
              <a:extLst>
                <a:ext uri="{FF2B5EF4-FFF2-40B4-BE49-F238E27FC236}">
                  <a16:creationId xmlns:a16="http://schemas.microsoft.com/office/drawing/2014/main" id="{932B0EFA-377D-41DA-92C8-5002C729D701}"/>
                </a:ext>
              </a:extLst>
            </p:cNvPr>
            <p:cNvSpPr>
              <a:spLocks noGrp="1"/>
            </p:cNvSpPr>
            <p:nvPr/>
          </p:nvSpPr>
          <p:spPr>
            <a:xfrm>
              <a:off x="9482138" y="4762500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6" name="academic-7-1016">
              <a:extLst>
                <a:ext uri="{FF2B5EF4-FFF2-40B4-BE49-F238E27FC236}">
                  <a16:creationId xmlns:a16="http://schemas.microsoft.com/office/drawing/2014/main" id="{FC69EA69-EC8C-4DD4-9D79-3E873E78120E}"/>
                </a:ext>
              </a:extLst>
            </p:cNvPr>
            <p:cNvSpPr>
              <a:spLocks noGrp="1"/>
            </p:cNvSpPr>
            <p:nvPr/>
          </p:nvSpPr>
          <p:spPr>
            <a:xfrm>
              <a:off x="9670444" y="4702757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17" name="academic-7-1017">
              <a:extLst>
                <a:ext uri="{FF2B5EF4-FFF2-40B4-BE49-F238E27FC236}">
                  <a16:creationId xmlns:a16="http://schemas.microsoft.com/office/drawing/2014/main" id="{DD51FD12-7626-4DF2-87C7-B54B566CB81A}"/>
                </a:ext>
              </a:extLst>
            </p:cNvPr>
            <p:cNvSpPr>
              <a:spLocks noGrp="1"/>
            </p:cNvSpPr>
            <p:nvPr/>
          </p:nvSpPr>
          <p:spPr>
            <a:xfrm>
              <a:off x="9853613" y="4333875"/>
              <a:ext cx="3455194" cy="857250"/>
            </a:xfrm>
            <a:prstGeom prst="roundRect">
              <a:avLst>
                <a:gd name="adj" fmla="val 24444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8" name="academic-7-1018">
              <a:extLst>
                <a:ext uri="{FF2B5EF4-FFF2-40B4-BE49-F238E27FC236}">
                  <a16:creationId xmlns:a16="http://schemas.microsoft.com/office/drawing/2014/main" id="{1EBBBFA7-FDE8-44EF-8532-A5A86777E2E3}"/>
                </a:ext>
              </a:extLst>
            </p:cNvPr>
            <p:cNvSpPr>
              <a:spLocks noGrp="1"/>
            </p:cNvSpPr>
            <p:nvPr/>
          </p:nvSpPr>
          <p:spPr>
            <a:xfrm>
              <a:off x="10025063" y="4505325"/>
              <a:ext cx="3112294" cy="6286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Transformarlas</a:t>
              </a:r>
            </a:p>
          </p:txBody>
        </p:sp>
        <p:sp>
          <p:nvSpPr>
            <p:cNvPr id="1019" name="academic-7-1019">
              <a:extLst>
                <a:ext uri="{FF2B5EF4-FFF2-40B4-BE49-F238E27FC236}">
                  <a16:creationId xmlns:a16="http://schemas.microsoft.com/office/drawing/2014/main" id="{8E7EE45C-8379-4F22-91CE-89F2DD9001B3}"/>
                </a:ext>
              </a:extLst>
            </p:cNvPr>
            <p:cNvSpPr>
              <a:spLocks noGrp="1"/>
            </p:cNvSpPr>
            <p:nvPr/>
          </p:nvSpPr>
          <p:spPr>
            <a:xfrm>
              <a:off x="13394531" y="4762500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0" name="academic-7-1020">
              <a:extLst>
                <a:ext uri="{FF2B5EF4-FFF2-40B4-BE49-F238E27FC236}">
                  <a16:creationId xmlns:a16="http://schemas.microsoft.com/office/drawing/2014/main" id="{D887322A-D2D5-4F62-983A-49FDA201FB1C}"/>
                </a:ext>
              </a:extLst>
            </p:cNvPr>
            <p:cNvSpPr>
              <a:spLocks noGrp="1"/>
            </p:cNvSpPr>
            <p:nvPr/>
          </p:nvSpPr>
          <p:spPr>
            <a:xfrm>
              <a:off x="13582838" y="4702757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1" name="academic-7-1021">
              <a:extLst>
                <a:ext uri="{FF2B5EF4-FFF2-40B4-BE49-F238E27FC236}">
                  <a16:creationId xmlns:a16="http://schemas.microsoft.com/office/drawing/2014/main" id="{D8F46F58-EC08-4740-BE09-B44C118D93F0}"/>
                </a:ext>
              </a:extLst>
            </p:cNvPr>
            <p:cNvSpPr>
              <a:spLocks noGrp="1"/>
            </p:cNvSpPr>
            <p:nvPr/>
          </p:nvSpPr>
          <p:spPr>
            <a:xfrm>
              <a:off x="13766006" y="4333875"/>
              <a:ext cx="3455194" cy="857250"/>
            </a:xfrm>
            <a:prstGeom prst="roundRect">
              <a:avLst>
                <a:gd name="adj" fmla="val 24444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2" name="academic-7-1022">
              <a:extLst>
                <a:ext uri="{FF2B5EF4-FFF2-40B4-BE49-F238E27FC236}">
                  <a16:creationId xmlns:a16="http://schemas.microsoft.com/office/drawing/2014/main" id="{4FB4F612-9AA4-44E6-9580-EE04C8DFCA84}"/>
                </a:ext>
              </a:extLst>
            </p:cNvPr>
            <p:cNvSpPr>
              <a:spLocks noGrp="1"/>
            </p:cNvSpPr>
            <p:nvPr/>
          </p:nvSpPr>
          <p:spPr>
            <a:xfrm>
              <a:off x="13937456" y="4505325"/>
              <a:ext cx="3112294" cy="6286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Seleccionar las</a:t>
              </a:r>
            </a:p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más pertinentes</a:t>
              </a:r>
            </a:p>
          </p:txBody>
        </p:sp>
        <p:sp>
          <p:nvSpPr>
            <p:cNvPr id="1023" name="academic-7-1023">
              <a:extLst>
                <a:ext uri="{FF2B5EF4-FFF2-40B4-BE49-F238E27FC236}">
                  <a16:creationId xmlns:a16="http://schemas.microsoft.com/office/drawing/2014/main" id="{058E917D-5817-4B52-BF06-A9E8267D35DD}"/>
                </a:ext>
              </a:extLst>
            </p:cNvPr>
            <p:cNvSpPr>
              <a:spLocks noGrp="1"/>
            </p:cNvSpPr>
            <p:nvPr/>
          </p:nvSpPr>
          <p:spPr>
            <a:xfrm>
              <a:off x="2057400" y="5334000"/>
              <a:ext cx="7162800" cy="1362075"/>
            </a:xfrm>
            <a:prstGeom prst="roundRect">
              <a:avLst>
                <a:gd name="adj" fmla="val 16084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4" name="academic-7-1024">
              <a:extLst>
                <a:ext uri="{FF2B5EF4-FFF2-40B4-BE49-F238E27FC236}">
                  <a16:creationId xmlns:a16="http://schemas.microsoft.com/office/drawing/2014/main" id="{E13C8D50-11E3-471E-A277-F78469283EB2}"/>
                </a:ext>
              </a:extLst>
            </p:cNvPr>
            <p:cNvSpPr>
              <a:spLocks noGrp="1"/>
            </p:cNvSpPr>
            <p:nvPr/>
          </p:nvSpPr>
          <p:spPr>
            <a:xfrm>
              <a:off x="2057400" y="5334000"/>
              <a:ext cx="66675" cy="1362075"/>
            </a:xfrm>
            <a:prstGeom prst="roundRect">
              <a:avLst>
                <a:gd name="adj" fmla="val 42857"/>
              </a:avLst>
            </a:prstGeom>
            <a:solidFill>
              <a:srgbClr val="664092"/>
            </a:solidFill>
            <a:ln w="14288">
              <a:noFill/>
            </a:ln>
          </p:spPr>
        </p:sp>
        <p:sp>
          <p:nvSpPr>
            <p:cNvPr id="1025" name="academic-7-1025">
              <a:extLst>
                <a:ext uri="{FF2B5EF4-FFF2-40B4-BE49-F238E27FC236}">
                  <a16:creationId xmlns:a16="http://schemas.microsoft.com/office/drawing/2014/main" id="{D0E99BEE-83AF-4987-A63D-7ACDDB2C5A4E}"/>
                </a:ext>
              </a:extLst>
            </p:cNvPr>
            <p:cNvSpPr>
              <a:spLocks noGrp="1"/>
            </p:cNvSpPr>
            <p:nvPr/>
          </p:nvSpPr>
          <p:spPr>
            <a:xfrm>
              <a:off x="2286000" y="5486400"/>
              <a:ext cx="6705600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DIVERGIR</a:t>
              </a:r>
            </a:p>
          </p:txBody>
        </p:sp>
        <p:sp>
          <p:nvSpPr>
            <p:cNvPr id="1026" name="academic-7-1026">
              <a:extLst>
                <a:ext uri="{FF2B5EF4-FFF2-40B4-BE49-F238E27FC236}">
                  <a16:creationId xmlns:a16="http://schemas.microsoft.com/office/drawing/2014/main" id="{F18868C8-3E8D-4170-A261-ABD51EE9AAFF}"/>
                </a:ext>
              </a:extLst>
            </p:cNvPr>
            <p:cNvSpPr>
              <a:spLocks noGrp="1"/>
            </p:cNvSpPr>
            <p:nvPr/>
          </p:nvSpPr>
          <p:spPr>
            <a:xfrm>
              <a:off x="2286000" y="5915025"/>
              <a:ext cx="6705600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Primero ampliamos las posibilidades</a:t>
              </a:r>
            </a:p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sin restringirnos prematuramente.</a:t>
              </a:r>
            </a:p>
          </p:txBody>
        </p:sp>
        <p:sp>
          <p:nvSpPr>
            <p:cNvPr id="1027" name="academic-7-1027">
              <a:extLst>
                <a:ext uri="{FF2B5EF4-FFF2-40B4-BE49-F238E27FC236}">
                  <a16:creationId xmlns:a16="http://schemas.microsoft.com/office/drawing/2014/main" id="{B1FDF98F-60F1-4D6B-9A0B-8577CA4BC962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5334000"/>
              <a:ext cx="7162800" cy="1362075"/>
            </a:xfrm>
            <a:prstGeom prst="roundRect">
              <a:avLst>
                <a:gd name="adj" fmla="val 16084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8" name="academic-7-1028">
              <a:extLst>
                <a:ext uri="{FF2B5EF4-FFF2-40B4-BE49-F238E27FC236}">
                  <a16:creationId xmlns:a16="http://schemas.microsoft.com/office/drawing/2014/main" id="{8339AF96-656D-4100-8F1E-46DE03715FEB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5334000"/>
              <a:ext cx="66675" cy="1362075"/>
            </a:xfrm>
            <a:prstGeom prst="roundRect">
              <a:avLst>
                <a:gd name="adj" fmla="val 42857"/>
              </a:avLst>
            </a:prstGeom>
            <a:solidFill>
              <a:srgbClr val="A71989"/>
            </a:solidFill>
            <a:ln w="14288">
              <a:noFill/>
            </a:ln>
          </p:spPr>
        </p:sp>
        <p:sp>
          <p:nvSpPr>
            <p:cNvPr id="1029" name="academic-7-1029">
              <a:extLst>
                <a:ext uri="{FF2B5EF4-FFF2-40B4-BE49-F238E27FC236}">
                  <a16:creationId xmlns:a16="http://schemas.microsoft.com/office/drawing/2014/main" id="{707880D6-D479-4D13-B17F-A004E224887A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5486400"/>
              <a:ext cx="6705600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CONVERGER</a:t>
              </a:r>
            </a:p>
          </p:txBody>
        </p:sp>
        <p:sp>
          <p:nvSpPr>
            <p:cNvPr id="1030" name="academic-7-1030">
              <a:extLst>
                <a:ext uri="{FF2B5EF4-FFF2-40B4-BE49-F238E27FC236}">
                  <a16:creationId xmlns:a16="http://schemas.microsoft.com/office/drawing/2014/main" id="{67819870-8A3E-47BC-868D-42A284094FFE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5915025"/>
              <a:ext cx="6705600" cy="6953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Después valoramos las alternativas y seleccionamos aquellas con mayor potencial.</a:t>
              </a:r>
            </a:p>
          </p:txBody>
        </p:sp>
        <p:sp>
          <p:nvSpPr>
            <p:cNvPr id="1031" name="academic-7-1031">
              <a:extLst>
                <a:ext uri="{FF2B5EF4-FFF2-40B4-BE49-F238E27FC236}">
                  <a16:creationId xmlns:a16="http://schemas.microsoft.com/office/drawing/2014/main" id="{65D815F3-978A-4E89-A788-BAAC9BE11B68}"/>
                </a:ext>
              </a:extLst>
            </p:cNvPr>
            <p:cNvSpPr>
              <a:spLocks noGrp="1"/>
            </p:cNvSpPr>
            <p:nvPr/>
          </p:nvSpPr>
          <p:spPr>
            <a:xfrm>
              <a:off x="9410700" y="6010275"/>
              <a:ext cx="504825" cy="953"/>
            </a:xfrm>
            <a:custGeom>
              <a:pathLst>
                <a:path w="504825" h="953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32" name="academic-7-1032">
              <a:extLst>
                <a:ext uri="{FF2B5EF4-FFF2-40B4-BE49-F238E27FC236}">
                  <a16:creationId xmlns:a16="http://schemas.microsoft.com/office/drawing/2014/main" id="{AA75022E-49BF-4470-AC15-3F10647D13CA}"/>
                </a:ext>
              </a:extLst>
            </p:cNvPr>
            <p:cNvSpPr>
              <a:spLocks noGrp="1"/>
            </p:cNvSpPr>
            <p:nvPr/>
          </p:nvSpPr>
          <p:spPr>
            <a:xfrm>
              <a:off x="9818081" y="5950532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33" name="academic-7-1033">
              <a:extLst>
                <a:ext uri="{FF2B5EF4-FFF2-40B4-BE49-F238E27FC236}">
                  <a16:creationId xmlns:a16="http://schemas.microsoft.com/office/drawing/2014/main" id="{230C6826-597E-4697-BF8E-AAA3B40356D4}"/>
                </a:ext>
              </a:extLst>
            </p:cNvPr>
            <p:cNvSpPr>
              <a:spLocks noGrp="1"/>
            </p:cNvSpPr>
            <p:nvPr/>
          </p:nvSpPr>
          <p:spPr>
            <a:xfrm>
              <a:off x="3162300" y="6877050"/>
              <a:ext cx="7334250" cy="4000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Generar primero ≠ evaluar inmediatamente</a:t>
              </a:r>
            </a:p>
          </p:txBody>
        </p:sp>
        <p:sp>
          <p:nvSpPr>
            <p:cNvPr id="1034" name="academic-7-1034">
              <a:extLst>
                <a:ext uri="{FF2B5EF4-FFF2-40B4-BE49-F238E27FC236}">
                  <a16:creationId xmlns:a16="http://schemas.microsoft.com/office/drawing/2014/main" id="{8E8E5230-2C46-4819-8E1A-302C2C305A06}"/>
                </a:ext>
              </a:extLst>
            </p:cNvPr>
            <p:cNvSpPr>
              <a:spLocks noGrp="1"/>
            </p:cNvSpPr>
            <p:nvPr/>
          </p:nvSpPr>
          <p:spPr>
            <a:xfrm>
              <a:off x="10668000" y="6781800"/>
              <a:ext cx="6562725" cy="6191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Separar temporalmente ambos momentos reduce</a:t>
              </a:r>
            </a:p>
            <a:p>
              <a:pPr algn="l">
                <a:def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9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la autocensura y favorece la exploración.</a:t>
              </a:r>
            </a:p>
          </p:txBody>
        </p:sp>
        <p:sp>
          <p:nvSpPr>
            <p:cNvPr id="1035" name="academic-7-1035">
              <a:extLst>
                <a:ext uri="{FF2B5EF4-FFF2-40B4-BE49-F238E27FC236}">
                  <a16:creationId xmlns:a16="http://schemas.microsoft.com/office/drawing/2014/main" id="{5B27D418-A0EA-4578-BEFA-7B05674233F0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36" name="academic-7-1036">
              <a:extLst>
                <a:ext uri="{FF2B5EF4-FFF2-40B4-BE49-F238E27FC236}">
                  <a16:creationId xmlns:a16="http://schemas.microsoft.com/office/drawing/2014/main" id="{3B403027-CDFE-455F-9D35-CDDB04CC3A38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37" name="academic-7-1037">
              <a:extLst>
                <a:ext uri="{FF2B5EF4-FFF2-40B4-BE49-F238E27FC236}">
                  <a16:creationId xmlns:a16="http://schemas.microsoft.com/office/drawing/2014/main" id="{CAD097BC-58A1-45F7-8FC3-2760D4577907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La alternativa seleccionada todavía es una hipótesis de solución, no una solución definitiva.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8-1003">
              <a:extLst>
                <a:ext uri="{FF2B5EF4-FFF2-40B4-BE49-F238E27FC236}">
                  <a16:creationId xmlns:a16="http://schemas.microsoft.com/office/drawing/2014/main" id="{BCFC3849-DF9B-41B0-BA78-FFCCF84F83A4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8-1004">
              <a:extLst>
                <a:ext uri="{FF2B5EF4-FFF2-40B4-BE49-F238E27FC236}">
                  <a16:creationId xmlns:a16="http://schemas.microsoft.com/office/drawing/2014/main" id="{B2752D4E-349C-4FE7-A916-57453E53B415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4 · Prototipar</a:t>
              </a:r>
            </a:p>
          </p:txBody>
        </p:sp>
        <p:sp>
          <p:nvSpPr>
            <p:cNvPr id="1005" name="academic-8-1005">
              <a:extLst>
                <a:ext uri="{FF2B5EF4-FFF2-40B4-BE49-F238E27FC236}">
                  <a16:creationId xmlns:a16="http://schemas.microsoft.com/office/drawing/2014/main" id="{10D178F9-6585-41C7-A905-02BE0CA54186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8-1006">
              <a:extLst>
                <a:ext uri="{FF2B5EF4-FFF2-40B4-BE49-F238E27FC236}">
                  <a16:creationId xmlns:a16="http://schemas.microsoft.com/office/drawing/2014/main" id="{E71177FB-3DAC-4179-9D70-CE9A05E6C132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08 / 11</a:t>
              </a:r>
            </a:p>
          </p:txBody>
        </p:sp>
        <p:sp>
          <p:nvSpPr>
            <p:cNvPr id="1007" name="academic-8-1007">
              <a:extLst>
                <a:ext uri="{FF2B5EF4-FFF2-40B4-BE49-F238E27FC236}">
                  <a16:creationId xmlns:a16="http://schemas.microsoft.com/office/drawing/2014/main" id="{35B95A76-7372-404F-A8EF-7CF6D78686EB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240000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¿Cómo podemos hacer tangible la idea para aprender de ella?</a:t>
              </a:r>
            </a:p>
          </p:txBody>
        </p:sp>
        <p:sp>
          <p:nvSpPr>
            <p:cNvPr id="1008" name="academic-8-1008">
              <a:extLst>
                <a:ext uri="{FF2B5EF4-FFF2-40B4-BE49-F238E27FC236}">
                  <a16:creationId xmlns:a16="http://schemas.microsoft.com/office/drawing/2014/main" id="{3A59CC8D-B9C0-421F-B1FB-EA155062562E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3381375"/>
              <a:ext cx="15240000" cy="752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Prototipar consiste en transformar una idea abstracta en una representación que permita explorar cómo podría funcionar.</a:t>
              </a:r>
            </a:p>
          </p:txBody>
        </p:sp>
        <p:sp>
          <p:nvSpPr>
            <p:cNvPr id="1009" name="academic-8-1009">
              <a:extLst>
                <a:ext uri="{FF2B5EF4-FFF2-40B4-BE49-F238E27FC236}">
                  <a16:creationId xmlns:a16="http://schemas.microsoft.com/office/drawing/2014/main" id="{EFBA5E60-D8C0-488B-859E-4EF4B323F28A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4181475"/>
              <a:ext cx="14763750" cy="3905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Un prototipo puede representar:</a:t>
              </a:r>
            </a:p>
          </p:txBody>
        </p:sp>
        <p:sp>
          <p:nvSpPr>
            <p:cNvPr id="1010" name="academic-8-1010">
              <a:extLst>
                <a:ext uri="{FF2B5EF4-FFF2-40B4-BE49-F238E27FC236}">
                  <a16:creationId xmlns:a16="http://schemas.microsoft.com/office/drawing/2014/main" id="{33CA612D-79D5-4451-AB65-A775D656E4AF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4591050"/>
              <a:ext cx="15306675" cy="4762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Producto · servicio · interfaz · procedimiento · experiencia · secuencia de interacción</a:t>
              </a:r>
            </a:p>
          </p:txBody>
        </p:sp>
        <p:sp>
          <p:nvSpPr>
            <p:cNvPr id="1011" name="academic-8-1011">
              <a:extLst>
                <a:ext uri="{FF2B5EF4-FFF2-40B4-BE49-F238E27FC236}">
                  <a16:creationId xmlns:a16="http://schemas.microsoft.com/office/drawing/2014/main" id="{FFE3C8E3-2F7A-4D36-B5F6-01F1B44F9ADD}"/>
                </a:ext>
              </a:extLst>
            </p:cNvPr>
            <p:cNvSpPr>
              <a:spLocks noGrp="1"/>
            </p:cNvSpPr>
            <p:nvPr/>
          </p:nvSpPr>
          <p:spPr>
            <a:xfrm>
              <a:off x="2171700" y="5200650"/>
              <a:ext cx="5819775" cy="704850"/>
            </a:xfrm>
            <a:prstGeom prst="roundRect">
              <a:avLst>
                <a:gd name="adj" fmla="val 2567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2" name="academic-8-1012">
              <a:extLst>
                <a:ext uri="{FF2B5EF4-FFF2-40B4-BE49-F238E27FC236}">
                  <a16:creationId xmlns:a16="http://schemas.microsoft.com/office/drawing/2014/main" id="{7B4BBA6E-7AE1-421D-A25C-43727511F7A3}"/>
                </a:ext>
              </a:extLst>
            </p:cNvPr>
            <p:cNvSpPr>
              <a:spLocks noGrp="1"/>
            </p:cNvSpPr>
            <p:nvPr/>
          </p:nvSpPr>
          <p:spPr>
            <a:xfrm>
              <a:off x="2409825" y="5391150"/>
              <a:ext cx="1524000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NO ES</a:t>
              </a:r>
            </a:p>
          </p:txBody>
        </p:sp>
        <p:sp>
          <p:nvSpPr>
            <p:cNvPr id="1013" name="academic-8-1013">
              <a:extLst>
                <a:ext uri="{FF2B5EF4-FFF2-40B4-BE49-F238E27FC236}">
                  <a16:creationId xmlns:a16="http://schemas.microsoft.com/office/drawing/2014/main" id="{123788C9-3084-4F09-B71A-EE1D3ECE3507}"/>
                </a:ext>
              </a:extLst>
            </p:cNvPr>
            <p:cNvSpPr>
              <a:spLocks noGrp="1"/>
            </p:cNvSpPr>
            <p:nvPr/>
          </p:nvSpPr>
          <p:spPr>
            <a:xfrm>
              <a:off x="4057650" y="5391150"/>
              <a:ext cx="3790950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Un producto final.</a:t>
              </a:r>
            </a:p>
          </p:txBody>
        </p:sp>
        <p:sp>
          <p:nvSpPr>
            <p:cNvPr id="1014" name="academic-8-1014">
              <a:extLst>
                <a:ext uri="{FF2B5EF4-FFF2-40B4-BE49-F238E27FC236}">
                  <a16:creationId xmlns:a16="http://schemas.microsoft.com/office/drawing/2014/main" id="{7C4FFECF-EB9C-49AB-8F88-4A4A1DA8C0EF}"/>
                </a:ext>
              </a:extLst>
            </p:cNvPr>
            <p:cNvSpPr>
              <a:spLocks noGrp="1"/>
            </p:cNvSpPr>
            <p:nvPr/>
          </p:nvSpPr>
          <p:spPr>
            <a:xfrm>
              <a:off x="8867775" y="5200650"/>
              <a:ext cx="8143875" cy="704850"/>
            </a:xfrm>
            <a:prstGeom prst="roundRect">
              <a:avLst>
                <a:gd name="adj" fmla="val 2567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5" name="academic-8-1015">
              <a:extLst>
                <a:ext uri="{FF2B5EF4-FFF2-40B4-BE49-F238E27FC236}">
                  <a16:creationId xmlns:a16="http://schemas.microsoft.com/office/drawing/2014/main" id="{11C92D8F-8C26-41CE-B49B-EA01BAE49D22}"/>
                </a:ext>
              </a:extLst>
            </p:cNvPr>
            <p:cNvSpPr>
              <a:spLocks noGrp="1"/>
            </p:cNvSpPr>
            <p:nvPr/>
          </p:nvSpPr>
          <p:spPr>
            <a:xfrm>
              <a:off x="9134475" y="5391150"/>
              <a:ext cx="1228725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SÍ ES</a:t>
              </a:r>
            </a:p>
          </p:txBody>
        </p:sp>
        <p:sp>
          <p:nvSpPr>
            <p:cNvPr id="1016" name="academic-8-1016">
              <a:extLst>
                <a:ext uri="{FF2B5EF4-FFF2-40B4-BE49-F238E27FC236}">
                  <a16:creationId xmlns:a16="http://schemas.microsoft.com/office/drawing/2014/main" id="{BEE883CE-C6F0-4C68-BBF0-DBD71028D4CF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5391150"/>
              <a:ext cx="6381750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Una representación construida para aprender.</a:t>
              </a:r>
            </a:p>
          </p:txBody>
        </p:sp>
        <p:sp>
          <p:nvSpPr>
            <p:cNvPr id="1017" name="academic-8-1017">
              <a:extLst>
                <a:ext uri="{FF2B5EF4-FFF2-40B4-BE49-F238E27FC236}">
                  <a16:creationId xmlns:a16="http://schemas.microsoft.com/office/drawing/2014/main" id="{66711E80-3EDE-44BC-9D82-108716E997F3}"/>
                </a:ext>
              </a:extLst>
            </p:cNvPr>
            <p:cNvSpPr>
              <a:spLocks noGrp="1"/>
            </p:cNvSpPr>
            <p:nvPr/>
          </p:nvSpPr>
          <p:spPr>
            <a:xfrm>
              <a:off x="2114550" y="5991225"/>
              <a:ext cx="3419475" cy="676275"/>
            </a:xfrm>
            <a:prstGeom prst="roundRect">
              <a:avLst>
                <a:gd name="adj" fmla="val 3098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8" name="academic-8-1018">
              <a:extLst>
                <a:ext uri="{FF2B5EF4-FFF2-40B4-BE49-F238E27FC236}">
                  <a16:creationId xmlns:a16="http://schemas.microsoft.com/office/drawing/2014/main" id="{14639CE6-E355-430C-9B03-67955E36DB31}"/>
                </a:ext>
              </a:extLst>
            </p:cNvPr>
            <p:cNvSpPr>
              <a:spLocks noGrp="1"/>
            </p:cNvSpPr>
            <p:nvPr/>
          </p:nvSpPr>
          <p:spPr>
            <a:xfrm>
              <a:off x="2286000" y="6162675"/>
              <a:ext cx="30765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IDEA</a:t>
              </a:r>
            </a:p>
          </p:txBody>
        </p:sp>
        <p:sp>
          <p:nvSpPr>
            <p:cNvPr id="1019" name="academic-8-1019">
              <a:extLst>
                <a:ext uri="{FF2B5EF4-FFF2-40B4-BE49-F238E27FC236}">
                  <a16:creationId xmlns:a16="http://schemas.microsoft.com/office/drawing/2014/main" id="{C0B42385-7CC1-4934-9F31-1799A6BF5154}"/>
                </a:ext>
              </a:extLst>
            </p:cNvPr>
            <p:cNvSpPr>
              <a:spLocks noGrp="1"/>
            </p:cNvSpPr>
            <p:nvPr/>
          </p:nvSpPr>
          <p:spPr>
            <a:xfrm>
              <a:off x="5619750" y="6329363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0" name="academic-8-1020">
              <a:extLst>
                <a:ext uri="{FF2B5EF4-FFF2-40B4-BE49-F238E27FC236}">
                  <a16:creationId xmlns:a16="http://schemas.microsoft.com/office/drawing/2014/main" id="{3A161E1B-C1AD-48EE-9702-4D115CCEA3FD}"/>
                </a:ext>
              </a:extLst>
            </p:cNvPr>
            <p:cNvSpPr>
              <a:spLocks noGrp="1"/>
            </p:cNvSpPr>
            <p:nvPr/>
          </p:nvSpPr>
          <p:spPr>
            <a:xfrm>
              <a:off x="5808056" y="6269619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1" name="academic-8-1021">
              <a:extLst>
                <a:ext uri="{FF2B5EF4-FFF2-40B4-BE49-F238E27FC236}">
                  <a16:creationId xmlns:a16="http://schemas.microsoft.com/office/drawing/2014/main" id="{F57486C2-1936-4938-AFE8-4930AF98B619}"/>
                </a:ext>
              </a:extLst>
            </p:cNvPr>
            <p:cNvSpPr>
              <a:spLocks noGrp="1"/>
            </p:cNvSpPr>
            <p:nvPr/>
          </p:nvSpPr>
          <p:spPr>
            <a:xfrm>
              <a:off x="5991225" y="5991225"/>
              <a:ext cx="3419475" cy="676275"/>
            </a:xfrm>
            <a:prstGeom prst="roundRect">
              <a:avLst>
                <a:gd name="adj" fmla="val 3098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2" name="academic-8-1022">
              <a:extLst>
                <a:ext uri="{FF2B5EF4-FFF2-40B4-BE49-F238E27FC236}">
                  <a16:creationId xmlns:a16="http://schemas.microsoft.com/office/drawing/2014/main" id="{9E8D2E38-9BF1-493E-B6B6-3F99E93D3E73}"/>
                </a:ext>
              </a:extLst>
            </p:cNvPr>
            <p:cNvSpPr>
              <a:spLocks noGrp="1"/>
            </p:cNvSpPr>
            <p:nvPr/>
          </p:nvSpPr>
          <p:spPr>
            <a:xfrm>
              <a:off x="6162675" y="6162675"/>
              <a:ext cx="30765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REPRESENTACIÓN</a:t>
              </a:r>
            </a:p>
          </p:txBody>
        </p:sp>
        <p:sp>
          <p:nvSpPr>
            <p:cNvPr id="1023" name="academic-8-1023">
              <a:extLst>
                <a:ext uri="{FF2B5EF4-FFF2-40B4-BE49-F238E27FC236}">
                  <a16:creationId xmlns:a16="http://schemas.microsoft.com/office/drawing/2014/main" id="{26E4FC3F-2953-4A8F-A5A2-6C84AD9C4871}"/>
                </a:ext>
              </a:extLst>
            </p:cNvPr>
            <p:cNvSpPr>
              <a:spLocks noGrp="1"/>
            </p:cNvSpPr>
            <p:nvPr/>
          </p:nvSpPr>
          <p:spPr>
            <a:xfrm>
              <a:off x="9496425" y="6329363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4" name="academic-8-1024">
              <a:extLst>
                <a:ext uri="{FF2B5EF4-FFF2-40B4-BE49-F238E27FC236}">
                  <a16:creationId xmlns:a16="http://schemas.microsoft.com/office/drawing/2014/main" id="{0B587136-5E1E-48B8-A74E-6C99286F2958}"/>
                </a:ext>
              </a:extLst>
            </p:cNvPr>
            <p:cNvSpPr>
              <a:spLocks noGrp="1"/>
            </p:cNvSpPr>
            <p:nvPr/>
          </p:nvSpPr>
          <p:spPr>
            <a:xfrm>
              <a:off x="9684731" y="6269619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5" name="academic-8-1025">
              <a:extLst>
                <a:ext uri="{FF2B5EF4-FFF2-40B4-BE49-F238E27FC236}">
                  <a16:creationId xmlns:a16="http://schemas.microsoft.com/office/drawing/2014/main" id="{49E2FA97-B3F5-4A16-90BD-74662764EECA}"/>
                </a:ext>
              </a:extLst>
            </p:cNvPr>
            <p:cNvSpPr>
              <a:spLocks noGrp="1"/>
            </p:cNvSpPr>
            <p:nvPr/>
          </p:nvSpPr>
          <p:spPr>
            <a:xfrm>
              <a:off x="9867900" y="5991225"/>
              <a:ext cx="3419475" cy="676275"/>
            </a:xfrm>
            <a:prstGeom prst="roundRect">
              <a:avLst>
                <a:gd name="adj" fmla="val 3098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6" name="academic-8-1026">
              <a:extLst>
                <a:ext uri="{FF2B5EF4-FFF2-40B4-BE49-F238E27FC236}">
                  <a16:creationId xmlns:a16="http://schemas.microsoft.com/office/drawing/2014/main" id="{AB304BA9-20C2-49FC-BA00-3FC636F3137A}"/>
                </a:ext>
              </a:extLst>
            </p:cNvPr>
            <p:cNvSpPr>
              <a:spLocks noGrp="1"/>
            </p:cNvSpPr>
            <p:nvPr/>
          </p:nvSpPr>
          <p:spPr>
            <a:xfrm>
              <a:off x="10039350" y="6162675"/>
              <a:ext cx="30765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EXPERIMENTACIÓN</a:t>
              </a:r>
            </a:p>
          </p:txBody>
        </p:sp>
        <p:sp>
          <p:nvSpPr>
            <p:cNvPr id="1027" name="academic-8-1027">
              <a:extLst>
                <a:ext uri="{FF2B5EF4-FFF2-40B4-BE49-F238E27FC236}">
                  <a16:creationId xmlns:a16="http://schemas.microsoft.com/office/drawing/2014/main" id="{967E00AC-3ED3-437D-BAAA-DE6404C6DC42}"/>
                </a:ext>
              </a:extLst>
            </p:cNvPr>
            <p:cNvSpPr>
              <a:spLocks noGrp="1"/>
            </p:cNvSpPr>
            <p:nvPr/>
          </p:nvSpPr>
          <p:spPr>
            <a:xfrm>
              <a:off x="13373100" y="6329363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8" name="academic-8-1028">
              <a:extLst>
                <a:ext uri="{FF2B5EF4-FFF2-40B4-BE49-F238E27FC236}">
                  <a16:creationId xmlns:a16="http://schemas.microsoft.com/office/drawing/2014/main" id="{7C9AA767-3EAB-4905-89AE-C7EDC01DFBB5}"/>
                </a:ext>
              </a:extLst>
            </p:cNvPr>
            <p:cNvSpPr>
              <a:spLocks noGrp="1"/>
            </p:cNvSpPr>
            <p:nvPr/>
          </p:nvSpPr>
          <p:spPr>
            <a:xfrm>
              <a:off x="13561406" y="6269619"/>
              <a:ext cx="97444" cy="119486"/>
            </a:xfrm>
            <a:custGeom>
              <a:pathLst>
                <a:path w="97444" h="119486">
                  <a:moveTo>
                    <a:pt x="0" y="119486"/>
                  </a:moveTo>
                  <a:lnTo>
                    <a:pt x="97444" y="5974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4092"/>
              </a:solidFill>
            </a:ln>
          </p:spPr>
        </p:sp>
        <p:sp>
          <p:nvSpPr>
            <p:cNvPr id="1029" name="academic-8-1029">
              <a:extLst>
                <a:ext uri="{FF2B5EF4-FFF2-40B4-BE49-F238E27FC236}">
                  <a16:creationId xmlns:a16="http://schemas.microsoft.com/office/drawing/2014/main" id="{754DA7C2-A104-4B91-A975-EA0B97ACEA5D}"/>
                </a:ext>
              </a:extLst>
            </p:cNvPr>
            <p:cNvSpPr>
              <a:spLocks noGrp="1"/>
            </p:cNvSpPr>
            <p:nvPr/>
          </p:nvSpPr>
          <p:spPr>
            <a:xfrm>
              <a:off x="13744575" y="5991225"/>
              <a:ext cx="3419475" cy="676275"/>
            </a:xfrm>
            <a:prstGeom prst="roundRect">
              <a:avLst>
                <a:gd name="adj" fmla="val 3098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30" name="academic-8-1030">
              <a:extLst>
                <a:ext uri="{FF2B5EF4-FFF2-40B4-BE49-F238E27FC236}">
                  <a16:creationId xmlns:a16="http://schemas.microsoft.com/office/drawing/2014/main" id="{E8C28547-A4B9-48D1-8A71-D867FC9738D6}"/>
                </a:ext>
              </a:extLst>
            </p:cNvPr>
            <p:cNvSpPr>
              <a:spLocks noGrp="1"/>
            </p:cNvSpPr>
            <p:nvPr/>
          </p:nvSpPr>
          <p:spPr>
            <a:xfrm>
              <a:off x="13916025" y="6162675"/>
              <a:ext cx="30765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APRENDIZAJE</a:t>
              </a:r>
            </a:p>
          </p:txBody>
        </p:sp>
        <p:sp>
          <p:nvSpPr>
            <p:cNvPr id="1031" name="academic-8-1031">
              <a:extLst>
                <a:ext uri="{FF2B5EF4-FFF2-40B4-BE49-F238E27FC236}">
                  <a16:creationId xmlns:a16="http://schemas.microsoft.com/office/drawing/2014/main" id="{2F480064-0C60-4CC3-A200-0094C6336C3C}"/>
                </a:ext>
              </a:extLst>
            </p:cNvPr>
            <p:cNvSpPr>
              <a:spLocks noGrp="1"/>
            </p:cNvSpPr>
            <p:nvPr/>
          </p:nvSpPr>
          <p:spPr>
            <a:xfrm>
              <a:off x="2762250" y="6772275"/>
              <a:ext cx="14287500" cy="6191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Las representaciones iniciales pueden ser sencillas, rápidas y económicas cuando permiten obtener información y realizar modificaciones con facilidad.</a:t>
              </a:r>
            </a:p>
          </p:txBody>
        </p:sp>
        <p:sp>
          <p:nvSpPr>
            <p:cNvPr id="1032" name="academic-8-1032">
              <a:extLst>
                <a:ext uri="{FF2B5EF4-FFF2-40B4-BE49-F238E27FC236}">
                  <a16:creationId xmlns:a16="http://schemas.microsoft.com/office/drawing/2014/main" id="{FDA18207-319A-4EF1-8830-935CF8086E7A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33" name="academic-8-1033">
              <a:extLst>
                <a:ext uri="{FF2B5EF4-FFF2-40B4-BE49-F238E27FC236}">
                  <a16:creationId xmlns:a16="http://schemas.microsoft.com/office/drawing/2014/main" id="{9A1A5EF0-ADF3-4B5A-BF3C-FD0C7C42A74F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34" name="academic-8-1034">
              <a:extLst>
                <a:ext uri="{FF2B5EF4-FFF2-40B4-BE49-F238E27FC236}">
                  <a16:creationId xmlns:a16="http://schemas.microsoft.com/office/drawing/2014/main" id="{E253EE35-EDA9-4F20-A45A-3BAC8994D4EB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19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Prototipar no significa demostrar que una idea es correcta; significa descubrir qué necesitamos modificar.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9-1003">
              <a:extLst>
                <a:ext uri="{FF2B5EF4-FFF2-40B4-BE49-F238E27FC236}">
                  <a16:creationId xmlns:a16="http://schemas.microsoft.com/office/drawing/2014/main" id="{981A47B7-C374-4B9E-BBBD-B89B8F0EAF3A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9-1004">
              <a:extLst>
                <a:ext uri="{FF2B5EF4-FFF2-40B4-BE49-F238E27FC236}">
                  <a16:creationId xmlns:a16="http://schemas.microsoft.com/office/drawing/2014/main" id="{06E21C19-869A-418E-AA63-5EF6F3CD5438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5 · Evaluar</a:t>
              </a:r>
            </a:p>
          </p:txBody>
        </p:sp>
        <p:sp>
          <p:nvSpPr>
            <p:cNvPr id="1005" name="academic-9-1005">
              <a:extLst>
                <a:ext uri="{FF2B5EF4-FFF2-40B4-BE49-F238E27FC236}">
                  <a16:creationId xmlns:a16="http://schemas.microsoft.com/office/drawing/2014/main" id="{5DF6B257-B70D-4AD4-B9D5-F3B028EA8269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9-1006">
              <a:extLst>
                <a:ext uri="{FF2B5EF4-FFF2-40B4-BE49-F238E27FC236}">
                  <a16:creationId xmlns:a16="http://schemas.microsoft.com/office/drawing/2014/main" id="{8EEDF2A8-356E-40DF-9531-42440F958FFF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09 / 11</a:t>
              </a:r>
            </a:p>
          </p:txBody>
        </p:sp>
        <p:sp>
          <p:nvSpPr>
            <p:cNvPr id="1007" name="academic-9-1007">
              <a:extLst>
                <a:ext uri="{FF2B5EF4-FFF2-40B4-BE49-F238E27FC236}">
                  <a16:creationId xmlns:a16="http://schemas.microsoft.com/office/drawing/2014/main" id="{F5AF9B57-67E6-49B5-A2B5-CB38620AF631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71775"/>
              <a:ext cx="15240000" cy="828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7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¿Qué aprendemos cuando la solución entra en contacto con las personas?</a:t>
              </a:r>
            </a:p>
          </p:txBody>
        </p:sp>
        <p:sp>
          <p:nvSpPr>
            <p:cNvPr id="1008" name="academic-9-1008">
              <a:extLst>
                <a:ext uri="{FF2B5EF4-FFF2-40B4-BE49-F238E27FC236}">
                  <a16:creationId xmlns:a16="http://schemas.microsoft.com/office/drawing/2014/main" id="{EE0B6D6E-EB52-4586-A4B3-EDDE5B2C0450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3524250"/>
              <a:ext cx="15287625" cy="9048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3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Evaluar consiste en presentar el prototipo a usuarios o personas relacionadas con el problema para observar su interacción, recopilar retroalimentación y reconocer:</a:t>
              </a:r>
            </a:p>
          </p:txBody>
        </p:sp>
        <p:sp>
          <p:nvSpPr>
            <p:cNvPr id="1009" name="academic-9-1009">
              <a:extLst>
                <a:ext uri="{FF2B5EF4-FFF2-40B4-BE49-F238E27FC236}">
                  <a16:creationId xmlns:a16="http://schemas.microsoft.com/office/drawing/2014/main" id="{3018AFA5-5BD8-4176-BE70-0929761E9121}"/>
                </a:ext>
              </a:extLst>
            </p:cNvPr>
            <p:cNvSpPr>
              <a:spLocks noGrp="1"/>
            </p:cNvSpPr>
            <p:nvPr/>
          </p:nvSpPr>
          <p:spPr>
            <a:xfrm>
              <a:off x="2076450" y="4600575"/>
              <a:ext cx="4705350" cy="723900"/>
            </a:xfrm>
            <a:prstGeom prst="roundRect">
              <a:avLst>
                <a:gd name="adj" fmla="val 28947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0" name="academic-9-1010">
              <a:extLst>
                <a:ext uri="{FF2B5EF4-FFF2-40B4-BE49-F238E27FC236}">
                  <a16:creationId xmlns:a16="http://schemas.microsoft.com/office/drawing/2014/main" id="{A5D2B1B3-D9B0-4EAB-AAD4-A304FA58027F}"/>
                </a:ext>
              </a:extLst>
            </p:cNvPr>
            <p:cNvSpPr>
              <a:spLocks noGrp="1"/>
            </p:cNvSpPr>
            <p:nvPr/>
          </p:nvSpPr>
          <p:spPr>
            <a:xfrm>
              <a:off x="2247900" y="4772025"/>
              <a:ext cx="4362450" cy="4953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Qué funciona</a:t>
              </a:r>
            </a:p>
          </p:txBody>
        </p:sp>
        <p:sp>
          <p:nvSpPr>
            <p:cNvPr id="1011" name="academic-9-1011">
              <a:extLst>
                <a:ext uri="{FF2B5EF4-FFF2-40B4-BE49-F238E27FC236}">
                  <a16:creationId xmlns:a16="http://schemas.microsoft.com/office/drawing/2014/main" id="{49A199E1-111D-4845-8787-D31D894EBF94}"/>
                </a:ext>
              </a:extLst>
            </p:cNvPr>
            <p:cNvSpPr>
              <a:spLocks noGrp="1"/>
            </p:cNvSpPr>
            <p:nvPr/>
          </p:nvSpPr>
          <p:spPr>
            <a:xfrm>
              <a:off x="7200900" y="4600575"/>
              <a:ext cx="4705350" cy="723900"/>
            </a:xfrm>
            <a:prstGeom prst="roundRect">
              <a:avLst>
                <a:gd name="adj" fmla="val 28947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2" name="academic-9-1012">
              <a:extLst>
                <a:ext uri="{FF2B5EF4-FFF2-40B4-BE49-F238E27FC236}">
                  <a16:creationId xmlns:a16="http://schemas.microsoft.com/office/drawing/2014/main" id="{0062EC80-0DDF-4F62-A009-A87B331F42E4}"/>
                </a:ext>
              </a:extLst>
            </p:cNvPr>
            <p:cNvSpPr>
              <a:spLocks noGrp="1"/>
            </p:cNvSpPr>
            <p:nvPr/>
          </p:nvSpPr>
          <p:spPr>
            <a:xfrm>
              <a:off x="7372350" y="4772025"/>
              <a:ext cx="4362450" cy="4953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Qué genera dificultades</a:t>
              </a:r>
            </a:p>
          </p:txBody>
        </p:sp>
        <p:sp>
          <p:nvSpPr>
            <p:cNvPr id="1013" name="academic-9-1013">
              <a:extLst>
                <a:ext uri="{FF2B5EF4-FFF2-40B4-BE49-F238E27FC236}">
                  <a16:creationId xmlns:a16="http://schemas.microsoft.com/office/drawing/2014/main" id="{79BE3F2F-325F-4D8D-90D0-26693102A0FE}"/>
                </a:ext>
              </a:extLst>
            </p:cNvPr>
            <p:cNvSpPr>
              <a:spLocks noGrp="1"/>
            </p:cNvSpPr>
            <p:nvPr/>
          </p:nvSpPr>
          <p:spPr>
            <a:xfrm>
              <a:off x="12325350" y="4600575"/>
              <a:ext cx="4705350" cy="723900"/>
            </a:xfrm>
            <a:prstGeom prst="roundRect">
              <a:avLst>
                <a:gd name="adj" fmla="val 28947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4" name="academic-9-1014">
              <a:extLst>
                <a:ext uri="{FF2B5EF4-FFF2-40B4-BE49-F238E27FC236}">
                  <a16:creationId xmlns:a16="http://schemas.microsoft.com/office/drawing/2014/main" id="{240F55AD-B75D-45A1-A1BC-2DE48248E695}"/>
                </a:ext>
              </a:extLst>
            </p:cNvPr>
            <p:cNvSpPr>
              <a:spLocks noGrp="1"/>
            </p:cNvSpPr>
            <p:nvPr/>
          </p:nvSpPr>
          <p:spPr>
            <a:xfrm>
              <a:off x="12496800" y="4772025"/>
              <a:ext cx="4362450" cy="4953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Qué necesita modificarse</a:t>
              </a:r>
            </a:p>
          </p:txBody>
        </p:sp>
        <p:sp>
          <p:nvSpPr>
            <p:cNvPr id="1015" name="academic-9-1015">
              <a:extLst>
                <a:ext uri="{FF2B5EF4-FFF2-40B4-BE49-F238E27FC236}">
                  <a16:creationId xmlns:a16="http://schemas.microsoft.com/office/drawing/2014/main" id="{D4DA6912-930D-4A2A-BC3B-856FC54F4431}"/>
                </a:ext>
              </a:extLst>
            </p:cNvPr>
            <p:cNvSpPr>
              <a:spLocks noGrp="1"/>
            </p:cNvSpPr>
            <p:nvPr/>
          </p:nvSpPr>
          <p:spPr>
            <a:xfrm>
              <a:off x="2095500" y="5591175"/>
              <a:ext cx="4191000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No basta con preguntar:</a:t>
              </a:r>
            </a:p>
          </p:txBody>
        </p:sp>
        <p:sp>
          <p:nvSpPr>
            <p:cNvPr id="1016" name="academic-9-1016">
              <a:extLst>
                <a:ext uri="{FF2B5EF4-FFF2-40B4-BE49-F238E27FC236}">
                  <a16:creationId xmlns:a16="http://schemas.microsoft.com/office/drawing/2014/main" id="{6059DCC2-1C40-4FD8-92A1-B0B19A687642}"/>
                </a:ext>
              </a:extLst>
            </p:cNvPr>
            <p:cNvSpPr>
              <a:spLocks noGrp="1"/>
            </p:cNvSpPr>
            <p:nvPr/>
          </p:nvSpPr>
          <p:spPr>
            <a:xfrm>
              <a:off x="2105025" y="6124575"/>
              <a:ext cx="4095750" cy="6286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352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352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“¿Te gusta?”</a:t>
              </a:r>
            </a:p>
          </p:txBody>
        </p:sp>
        <p:sp>
          <p:nvSpPr>
            <p:cNvPr id="1017" name="academic-9-1017">
              <a:extLst>
                <a:ext uri="{FF2B5EF4-FFF2-40B4-BE49-F238E27FC236}">
                  <a16:creationId xmlns:a16="http://schemas.microsoft.com/office/drawing/2014/main" id="{2C3FE667-49FB-42D3-8975-AA072C598CF4}"/>
                </a:ext>
              </a:extLst>
            </p:cNvPr>
            <p:cNvSpPr>
              <a:spLocks noGrp="1"/>
            </p:cNvSpPr>
            <p:nvPr/>
          </p:nvSpPr>
          <p:spPr>
            <a:xfrm>
              <a:off x="7181850" y="5467350"/>
              <a:ext cx="9525000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También necesitamos observar:</a:t>
              </a:r>
            </a:p>
          </p:txBody>
        </p:sp>
        <p:sp>
          <p:nvSpPr>
            <p:cNvPr id="1018" name="academic-9-1018">
              <a:extLst>
                <a:ext uri="{FF2B5EF4-FFF2-40B4-BE49-F238E27FC236}">
                  <a16:creationId xmlns:a16="http://schemas.microsoft.com/office/drawing/2014/main" id="{B52019A5-B76B-4A03-BEE5-BC61D31F2EF8}"/>
                </a:ext>
              </a:extLst>
            </p:cNvPr>
            <p:cNvSpPr>
              <a:spLocks noGrp="1"/>
            </p:cNvSpPr>
            <p:nvPr/>
          </p:nvSpPr>
          <p:spPr>
            <a:xfrm>
              <a:off x="7191375" y="5991225"/>
              <a:ext cx="66675" cy="66675"/>
            </a:xfrm>
            <a:prstGeom prst="ellipse">
              <a:avLst/>
            </a:prstGeom>
            <a:solidFill>
              <a:srgbClr val="A71989"/>
            </a:solidFill>
            <a:ln w="19050">
              <a:noFill/>
            </a:ln>
          </p:spPr>
        </p:sp>
        <p:sp>
          <p:nvSpPr>
            <p:cNvPr id="1019" name="academic-9-1019">
              <a:extLst>
                <a:ext uri="{FF2B5EF4-FFF2-40B4-BE49-F238E27FC236}">
                  <a16:creationId xmlns:a16="http://schemas.microsoft.com/office/drawing/2014/main" id="{B4F09006-1489-44C8-ACF9-2C97ED8C4B7E}"/>
                </a:ext>
              </a:extLst>
            </p:cNvPr>
            <p:cNvSpPr>
              <a:spLocks noGrp="1"/>
            </p:cNvSpPr>
            <p:nvPr/>
          </p:nvSpPr>
          <p:spPr>
            <a:xfrm>
              <a:off x="7381875" y="5876925"/>
              <a:ext cx="4962525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¿Qué comprende?</a:t>
              </a:r>
            </a:p>
          </p:txBody>
        </p:sp>
        <p:sp>
          <p:nvSpPr>
            <p:cNvPr id="1020" name="academic-9-1020">
              <a:extLst>
                <a:ext uri="{FF2B5EF4-FFF2-40B4-BE49-F238E27FC236}">
                  <a16:creationId xmlns:a16="http://schemas.microsoft.com/office/drawing/2014/main" id="{22D926AE-35C4-4655-A85D-1A2DF150E7F6}"/>
                </a:ext>
              </a:extLst>
            </p:cNvPr>
            <p:cNvSpPr>
              <a:spLocks noGrp="1"/>
            </p:cNvSpPr>
            <p:nvPr/>
          </p:nvSpPr>
          <p:spPr>
            <a:xfrm>
              <a:off x="12353925" y="5991225"/>
              <a:ext cx="66675" cy="66675"/>
            </a:xfrm>
            <a:prstGeom prst="ellipse">
              <a:avLst/>
            </a:prstGeom>
            <a:solidFill>
              <a:srgbClr val="A71989"/>
            </a:solidFill>
            <a:ln w="19050">
              <a:noFill/>
            </a:ln>
          </p:spPr>
        </p:sp>
        <p:sp>
          <p:nvSpPr>
            <p:cNvPr id="1021" name="academic-9-1021">
              <a:extLst>
                <a:ext uri="{FF2B5EF4-FFF2-40B4-BE49-F238E27FC236}">
                  <a16:creationId xmlns:a16="http://schemas.microsoft.com/office/drawing/2014/main" id="{AE38C4AE-83B2-47A9-95C4-73C2DA1D3AD0}"/>
                </a:ext>
              </a:extLst>
            </p:cNvPr>
            <p:cNvSpPr>
              <a:spLocks noGrp="1"/>
            </p:cNvSpPr>
            <p:nvPr/>
          </p:nvSpPr>
          <p:spPr>
            <a:xfrm>
              <a:off x="12544425" y="5876925"/>
              <a:ext cx="4962525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¿Qué intenta hacer?</a:t>
              </a:r>
            </a:p>
          </p:txBody>
        </p:sp>
        <p:sp>
          <p:nvSpPr>
            <p:cNvPr id="1022" name="academic-9-1022">
              <a:extLst>
                <a:ext uri="{FF2B5EF4-FFF2-40B4-BE49-F238E27FC236}">
                  <a16:creationId xmlns:a16="http://schemas.microsoft.com/office/drawing/2014/main" id="{639C61AD-5A25-404A-9C87-4F4C9FDE2531}"/>
                </a:ext>
              </a:extLst>
            </p:cNvPr>
            <p:cNvSpPr>
              <a:spLocks noGrp="1"/>
            </p:cNvSpPr>
            <p:nvPr/>
          </p:nvSpPr>
          <p:spPr>
            <a:xfrm>
              <a:off x="7191375" y="6334125"/>
              <a:ext cx="66675" cy="66675"/>
            </a:xfrm>
            <a:prstGeom prst="ellipse">
              <a:avLst/>
            </a:prstGeom>
            <a:solidFill>
              <a:srgbClr val="A71989"/>
            </a:solidFill>
            <a:ln w="19050">
              <a:noFill/>
            </a:ln>
          </p:spPr>
        </p:sp>
        <p:sp>
          <p:nvSpPr>
            <p:cNvPr id="1023" name="academic-9-1023">
              <a:extLst>
                <a:ext uri="{FF2B5EF4-FFF2-40B4-BE49-F238E27FC236}">
                  <a16:creationId xmlns:a16="http://schemas.microsoft.com/office/drawing/2014/main" id="{53195316-E9AE-43AC-BBF5-2F2073A429C9}"/>
                </a:ext>
              </a:extLst>
            </p:cNvPr>
            <p:cNvSpPr>
              <a:spLocks noGrp="1"/>
            </p:cNvSpPr>
            <p:nvPr/>
          </p:nvSpPr>
          <p:spPr>
            <a:xfrm>
              <a:off x="7381875" y="6219825"/>
              <a:ext cx="4962525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¿Dónde encuentra dificultades?</a:t>
              </a:r>
            </a:p>
          </p:txBody>
        </p:sp>
        <p:sp>
          <p:nvSpPr>
            <p:cNvPr id="1024" name="academic-9-1024">
              <a:extLst>
                <a:ext uri="{FF2B5EF4-FFF2-40B4-BE49-F238E27FC236}">
                  <a16:creationId xmlns:a16="http://schemas.microsoft.com/office/drawing/2014/main" id="{F7E9D4AA-E50E-416F-A9CF-4A49F28A3993}"/>
                </a:ext>
              </a:extLst>
            </p:cNvPr>
            <p:cNvSpPr>
              <a:spLocks noGrp="1"/>
            </p:cNvSpPr>
            <p:nvPr/>
          </p:nvSpPr>
          <p:spPr>
            <a:xfrm>
              <a:off x="12353925" y="6334125"/>
              <a:ext cx="66675" cy="66675"/>
            </a:xfrm>
            <a:prstGeom prst="ellipse">
              <a:avLst/>
            </a:prstGeom>
            <a:solidFill>
              <a:srgbClr val="A71989"/>
            </a:solidFill>
            <a:ln w="19050">
              <a:noFill/>
            </a:ln>
          </p:spPr>
        </p:sp>
        <p:sp>
          <p:nvSpPr>
            <p:cNvPr id="1025" name="academic-9-1025">
              <a:extLst>
                <a:ext uri="{FF2B5EF4-FFF2-40B4-BE49-F238E27FC236}">
                  <a16:creationId xmlns:a16="http://schemas.microsoft.com/office/drawing/2014/main" id="{4DAE75BB-C6CA-46BA-81B2-5AB9B53134E0}"/>
                </a:ext>
              </a:extLst>
            </p:cNvPr>
            <p:cNvSpPr>
              <a:spLocks noGrp="1"/>
            </p:cNvSpPr>
            <p:nvPr/>
          </p:nvSpPr>
          <p:spPr>
            <a:xfrm>
              <a:off x="12544425" y="6219825"/>
              <a:ext cx="4962525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¿Qué expectativas tiene?</a:t>
              </a:r>
            </a:p>
          </p:txBody>
        </p:sp>
        <p:sp>
          <p:nvSpPr>
            <p:cNvPr id="1026" name="academic-9-1026">
              <a:extLst>
                <a:ext uri="{FF2B5EF4-FFF2-40B4-BE49-F238E27FC236}">
                  <a16:creationId xmlns:a16="http://schemas.microsoft.com/office/drawing/2014/main" id="{F08E6096-F9F5-4FBC-8E86-CE89F8B45ACF}"/>
                </a:ext>
              </a:extLst>
            </p:cNvPr>
            <p:cNvSpPr>
              <a:spLocks noGrp="1"/>
            </p:cNvSpPr>
            <p:nvPr/>
          </p:nvSpPr>
          <p:spPr>
            <a:xfrm>
              <a:off x="7191375" y="6677025"/>
              <a:ext cx="66675" cy="66675"/>
            </a:xfrm>
            <a:prstGeom prst="ellipse">
              <a:avLst/>
            </a:prstGeom>
            <a:solidFill>
              <a:srgbClr val="A71989"/>
            </a:solidFill>
            <a:ln w="19050">
              <a:noFill/>
            </a:ln>
          </p:spPr>
        </p:sp>
        <p:sp>
          <p:nvSpPr>
            <p:cNvPr id="1027" name="academic-9-1027">
              <a:extLst>
                <a:ext uri="{FF2B5EF4-FFF2-40B4-BE49-F238E27FC236}">
                  <a16:creationId xmlns:a16="http://schemas.microsoft.com/office/drawing/2014/main" id="{11AE7CDB-DFAB-49B3-AE76-DF46F8725845}"/>
                </a:ext>
              </a:extLst>
            </p:cNvPr>
            <p:cNvSpPr>
              <a:spLocks noGrp="1"/>
            </p:cNvSpPr>
            <p:nvPr/>
          </p:nvSpPr>
          <p:spPr>
            <a:xfrm>
              <a:off x="7381875" y="6562725"/>
              <a:ext cx="4962525" cy="3714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¿Cómo interpreta la propuesta?</a:t>
              </a:r>
            </a:p>
          </p:txBody>
        </p:sp>
        <p:sp>
          <p:nvSpPr>
            <p:cNvPr id="1028" name="academic-9-1028">
              <a:extLst>
                <a:ext uri="{FF2B5EF4-FFF2-40B4-BE49-F238E27FC236}">
                  <a16:creationId xmlns:a16="http://schemas.microsoft.com/office/drawing/2014/main" id="{EF8979EB-B6FF-46E0-9332-D6672FFA2A8D}"/>
                </a:ext>
              </a:extLst>
            </p:cNvPr>
            <p:cNvSpPr>
              <a:spLocks noGrp="1"/>
            </p:cNvSpPr>
            <p:nvPr/>
          </p:nvSpPr>
          <p:spPr>
            <a:xfrm>
              <a:off x="2762250" y="7058025"/>
              <a:ext cx="14430375" cy="3333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02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Una evaluación que demuestra que necesitamos realizar cambios también produce información valiosa.</a:t>
              </a:r>
            </a:p>
          </p:txBody>
        </p:sp>
        <p:sp>
          <p:nvSpPr>
            <p:cNvPr id="1029" name="academic-9-1029">
              <a:extLst>
                <a:ext uri="{FF2B5EF4-FFF2-40B4-BE49-F238E27FC236}">
                  <a16:creationId xmlns:a16="http://schemas.microsoft.com/office/drawing/2014/main" id="{277C5451-2A46-45D3-BDE6-DFC24DBFD86F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30" name="academic-9-1030">
              <a:extLst>
                <a:ext uri="{FF2B5EF4-FFF2-40B4-BE49-F238E27FC236}">
                  <a16:creationId xmlns:a16="http://schemas.microsoft.com/office/drawing/2014/main" id="{A41EC0FC-95FD-4AE7-8454-B091A6C04BEE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31" name="academic-9-1031">
              <a:extLst>
                <a:ext uri="{FF2B5EF4-FFF2-40B4-BE49-F238E27FC236}">
                  <a16:creationId xmlns:a16="http://schemas.microsoft.com/office/drawing/2014/main" id="{0684816D-47A4-41DB-960E-324E7C6F6F75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El propósito de evaluar es obtener aprendizaje, no únicamente aprobación.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10-1003">
              <a:extLst>
                <a:ext uri="{FF2B5EF4-FFF2-40B4-BE49-F238E27FC236}">
                  <a16:creationId xmlns:a16="http://schemas.microsoft.com/office/drawing/2014/main" id="{733D8193-7AD6-4231-8829-B8B46375DA87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10-1004">
              <a:extLst>
                <a:ext uri="{FF2B5EF4-FFF2-40B4-BE49-F238E27FC236}">
                  <a16:creationId xmlns:a16="http://schemas.microsoft.com/office/drawing/2014/main" id="{E459101B-4C04-4263-98DF-52DA22AF48C1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2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2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Cada fase aporta una forma distinta de aprender</a:t>
              </a:r>
            </a:p>
          </p:txBody>
        </p:sp>
        <p:sp>
          <p:nvSpPr>
            <p:cNvPr id="1005" name="academic-10-1005">
              <a:extLst>
                <a:ext uri="{FF2B5EF4-FFF2-40B4-BE49-F238E27FC236}">
                  <a16:creationId xmlns:a16="http://schemas.microsoft.com/office/drawing/2014/main" id="{E7A8793C-8B14-4496-8136-9649DCD58E45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10-1006">
              <a:extLst>
                <a:ext uri="{FF2B5EF4-FFF2-40B4-BE49-F238E27FC236}">
                  <a16:creationId xmlns:a16="http://schemas.microsoft.com/office/drawing/2014/main" id="{D08AACA3-9A57-41CF-ABC7-7C5164ECD498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10 / 11</a:t>
              </a:r>
            </a:p>
          </p:txBody>
        </p:sp>
        <p:sp>
          <p:nvSpPr>
            <p:cNvPr id="1007" name="academic-10-1007">
              <a:extLst>
                <a:ext uri="{FF2B5EF4-FFF2-40B4-BE49-F238E27FC236}">
                  <a16:creationId xmlns:a16="http://schemas.microsoft.com/office/drawing/2014/main" id="{6B614C77-FF31-45E1-8CE2-C92AD1014111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3629025"/>
              <a:ext cx="3619500" cy="953"/>
            </a:xfrm>
            <a:custGeom>
              <a:pathLst>
                <a:path w="3619500" h="953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08" name="academic-10-1008">
              <a:extLst>
                <a:ext uri="{FF2B5EF4-FFF2-40B4-BE49-F238E27FC236}">
                  <a16:creationId xmlns:a16="http://schemas.microsoft.com/office/drawing/2014/main" id="{297E2C61-DDEF-49F4-9542-33DC3BA57A13}"/>
                </a:ext>
              </a:extLst>
            </p:cNvPr>
            <p:cNvSpPr>
              <a:spLocks noGrp="1"/>
            </p:cNvSpPr>
            <p:nvPr/>
          </p:nvSpPr>
          <p:spPr>
            <a:xfrm>
              <a:off x="11198110" y="3539410"/>
              <a:ext cx="146165" cy="179229"/>
            </a:xfrm>
            <a:custGeom>
              <a:pathLst>
                <a:path w="146165" h="179229">
                  <a:moveTo>
                    <a:pt x="0" y="179229"/>
                  </a:moveTo>
                  <a:lnTo>
                    <a:pt x="146165" y="89615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09" name="academic-10-1009">
              <a:extLst>
                <a:ext uri="{FF2B5EF4-FFF2-40B4-BE49-F238E27FC236}">
                  <a16:creationId xmlns:a16="http://schemas.microsoft.com/office/drawing/2014/main" id="{78FC640E-83FC-47A6-9341-239CB797E85A}"/>
                </a:ext>
              </a:extLst>
            </p:cNvPr>
            <p:cNvSpPr>
              <a:spLocks noGrp="1"/>
            </p:cNvSpPr>
            <p:nvPr/>
          </p:nvSpPr>
          <p:spPr>
            <a:xfrm>
              <a:off x="15097125" y="4733925"/>
              <a:ext cx="142875" cy="495300"/>
            </a:xfrm>
            <a:custGeom>
              <a:pathLst>
                <a:path w="142875" h="495300">
                  <a:moveTo>
                    <a:pt x="0" y="0"/>
                  </a:moveTo>
                  <a:lnTo>
                    <a:pt x="142875" y="49530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0" name="academic-10-1010">
              <a:extLst>
                <a:ext uri="{FF2B5EF4-FFF2-40B4-BE49-F238E27FC236}">
                  <a16:creationId xmlns:a16="http://schemas.microsoft.com/office/drawing/2014/main" id="{B9A5872D-96B9-4BF9-8150-FEB6802B31B9}"/>
                </a:ext>
              </a:extLst>
            </p:cNvPr>
            <p:cNvSpPr>
              <a:spLocks noGrp="1"/>
            </p:cNvSpPr>
            <p:nvPr/>
          </p:nvSpPr>
          <p:spPr>
            <a:xfrm>
              <a:off x="15113385" y="5063948"/>
              <a:ext cx="172208" cy="165277"/>
            </a:xfrm>
            <a:custGeom>
              <a:pathLst>
                <a:path w="172208" h="165277">
                  <a:moveTo>
                    <a:pt x="0" y="49675"/>
                  </a:moveTo>
                  <a:lnTo>
                    <a:pt x="126615" y="165277"/>
                  </a:lnTo>
                  <a:lnTo>
                    <a:pt x="172208" y="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1" name="academic-10-1011">
              <a:extLst>
                <a:ext uri="{FF2B5EF4-FFF2-40B4-BE49-F238E27FC236}">
                  <a16:creationId xmlns:a16="http://schemas.microsoft.com/office/drawing/2014/main" id="{771DF818-C3FC-4203-9408-04D1F48BC89B}"/>
                </a:ext>
              </a:extLst>
            </p:cNvPr>
            <p:cNvSpPr>
              <a:spLocks noGrp="1"/>
            </p:cNvSpPr>
            <p:nvPr/>
          </p:nvSpPr>
          <p:spPr>
            <a:xfrm>
              <a:off x="12211050" y="6219825"/>
              <a:ext cx="361950" cy="190500"/>
            </a:xfrm>
            <a:custGeom>
              <a:pathLst>
                <a:path w="361950" h="190500">
                  <a:moveTo>
                    <a:pt x="361950" y="0"/>
                  </a:moveTo>
                  <a:lnTo>
                    <a:pt x="0" y="19050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2" name="academic-10-1012">
              <a:extLst>
                <a:ext uri="{FF2B5EF4-FFF2-40B4-BE49-F238E27FC236}">
                  <a16:creationId xmlns:a16="http://schemas.microsoft.com/office/drawing/2014/main" id="{725C8EDB-0655-4091-AF88-C75D29E913D1}"/>
                </a:ext>
              </a:extLst>
            </p:cNvPr>
            <p:cNvSpPr>
              <a:spLocks noGrp="1"/>
            </p:cNvSpPr>
            <p:nvPr/>
          </p:nvSpPr>
          <p:spPr>
            <a:xfrm>
              <a:off x="12211050" y="6279323"/>
              <a:ext cx="152073" cy="140981"/>
            </a:xfrm>
            <a:custGeom>
              <a:pathLst>
                <a:path w="152073" h="140981">
                  <a:moveTo>
                    <a:pt x="77873" y="0"/>
                  </a:moveTo>
                  <a:lnTo>
                    <a:pt x="0" y="131002"/>
                  </a:lnTo>
                  <a:lnTo>
                    <a:pt x="152073" y="140981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3" name="academic-10-1013">
              <a:extLst>
                <a:ext uri="{FF2B5EF4-FFF2-40B4-BE49-F238E27FC236}">
                  <a16:creationId xmlns:a16="http://schemas.microsoft.com/office/drawing/2014/main" id="{C7F27260-D08E-488A-B08D-698FBBE0DCBA}"/>
                </a:ext>
              </a:extLst>
            </p:cNvPr>
            <p:cNvSpPr>
              <a:spLocks noGrp="1"/>
            </p:cNvSpPr>
            <p:nvPr/>
          </p:nvSpPr>
          <p:spPr>
            <a:xfrm>
              <a:off x="6734175" y="6200775"/>
              <a:ext cx="371475" cy="209550"/>
            </a:xfrm>
            <a:custGeom>
              <a:pathLst>
                <a:path w="371475" h="209550">
                  <a:moveTo>
                    <a:pt x="371475" y="2095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4" name="academic-10-1014">
              <a:extLst>
                <a:ext uri="{FF2B5EF4-FFF2-40B4-BE49-F238E27FC236}">
                  <a16:creationId xmlns:a16="http://schemas.microsoft.com/office/drawing/2014/main" id="{ADFF6315-7F00-47D6-8950-857945341CFC}"/>
                </a:ext>
              </a:extLst>
            </p:cNvPr>
            <p:cNvSpPr>
              <a:spLocks noGrp="1"/>
            </p:cNvSpPr>
            <p:nvPr/>
          </p:nvSpPr>
          <p:spPr>
            <a:xfrm>
              <a:off x="6734175" y="6195230"/>
              <a:ext cx="152299" cy="138760"/>
            </a:xfrm>
            <a:custGeom>
              <a:pathLst>
                <a:path w="152299" h="138760">
                  <a:moveTo>
                    <a:pt x="152299" y="0"/>
                  </a:moveTo>
                  <a:lnTo>
                    <a:pt x="0" y="5545"/>
                  </a:lnTo>
                  <a:lnTo>
                    <a:pt x="74024" y="13876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5" name="academic-10-1015">
              <a:extLst>
                <a:ext uri="{FF2B5EF4-FFF2-40B4-BE49-F238E27FC236}">
                  <a16:creationId xmlns:a16="http://schemas.microsoft.com/office/drawing/2014/main" id="{C3E22F83-0324-4BBB-8E5F-2CE389E67AED}"/>
                </a:ext>
              </a:extLst>
            </p:cNvPr>
            <p:cNvSpPr>
              <a:spLocks noGrp="1"/>
            </p:cNvSpPr>
            <p:nvPr/>
          </p:nvSpPr>
          <p:spPr>
            <a:xfrm>
              <a:off x="4267200" y="4733925"/>
              <a:ext cx="171450" cy="381000"/>
            </a:xfrm>
            <a:custGeom>
              <a:pathLst>
                <a:path w="171450" h="381000">
                  <a:moveTo>
                    <a:pt x="0" y="381000"/>
                  </a:moveTo>
                  <a:lnTo>
                    <a:pt x="171450" y="0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6" name="academic-10-1016">
              <a:extLst>
                <a:ext uri="{FF2B5EF4-FFF2-40B4-BE49-F238E27FC236}">
                  <a16:creationId xmlns:a16="http://schemas.microsoft.com/office/drawing/2014/main" id="{FF4BF15F-DCA2-414A-9228-FFF65983D5B0}"/>
                </a:ext>
              </a:extLst>
            </p:cNvPr>
            <p:cNvSpPr>
              <a:spLocks noGrp="1"/>
            </p:cNvSpPr>
            <p:nvPr/>
          </p:nvSpPr>
          <p:spPr>
            <a:xfrm>
              <a:off x="4296947" y="4733925"/>
              <a:ext cx="163443" cy="170066"/>
            </a:xfrm>
            <a:custGeom>
              <a:pathLst>
                <a:path w="163443" h="170066">
                  <a:moveTo>
                    <a:pt x="163443" y="170066"/>
                  </a:moveTo>
                  <a:lnTo>
                    <a:pt x="141703" y="0"/>
                  </a:lnTo>
                  <a:lnTo>
                    <a:pt x="0" y="96517"/>
                  </a:lnTo>
                </a:path>
              </a:pathLst>
            </a:custGeom>
            <a:noFill/>
            <a:ln w="47625">
              <a:solidFill>
                <a:srgbClr val="664092"/>
              </a:solidFill>
            </a:ln>
          </p:spPr>
        </p:sp>
        <p:sp>
          <p:nvSpPr>
            <p:cNvPr id="1017" name="academic-10-1017">
              <a:extLst>
                <a:ext uri="{FF2B5EF4-FFF2-40B4-BE49-F238E27FC236}">
                  <a16:creationId xmlns:a16="http://schemas.microsoft.com/office/drawing/2014/main" id="{4137F0DF-9D01-467B-A61B-50BAC7AE1E0F}"/>
                </a:ext>
              </a:extLst>
            </p:cNvPr>
            <p:cNvSpPr>
              <a:spLocks noGrp="1"/>
            </p:cNvSpPr>
            <p:nvPr/>
          </p:nvSpPr>
          <p:spPr>
            <a:xfrm>
              <a:off x="5905500" y="4724400"/>
              <a:ext cx="6115050" cy="390525"/>
            </a:xfrm>
            <a:custGeom>
              <a:pathLst>
                <a:path w="6115050" h="390525">
                  <a:moveTo>
                    <a:pt x="0" y="390525"/>
                  </a:moveTo>
                  <a:lnTo>
                    <a:pt x="1114425" y="66675"/>
                  </a:lnTo>
                  <a:lnTo>
                    <a:pt x="5762625" y="66675"/>
                  </a:lnTo>
                  <a:lnTo>
                    <a:pt x="6115050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18" name="academic-10-1018">
              <a:extLst>
                <a:ext uri="{FF2B5EF4-FFF2-40B4-BE49-F238E27FC236}">
                  <a16:creationId xmlns:a16="http://schemas.microsoft.com/office/drawing/2014/main" id="{EC2608E2-F5C0-417A-A3CE-99B2EBA6D862}"/>
                </a:ext>
              </a:extLst>
            </p:cNvPr>
            <p:cNvSpPr>
              <a:spLocks noGrp="1"/>
            </p:cNvSpPr>
            <p:nvPr/>
          </p:nvSpPr>
          <p:spPr>
            <a:xfrm>
              <a:off x="11668125" y="4724400"/>
              <a:ext cx="352425" cy="66675"/>
            </a:xfrm>
            <a:custGeom>
              <a:pathLst>
                <a:path w="352425" h="66675">
                  <a:moveTo>
                    <a:pt x="0" y="66675"/>
                  </a:moveTo>
                  <a:lnTo>
                    <a:pt x="352425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19" name="academic-10-1019">
              <a:extLst>
                <a:ext uri="{FF2B5EF4-FFF2-40B4-BE49-F238E27FC236}">
                  <a16:creationId xmlns:a16="http://schemas.microsoft.com/office/drawing/2014/main" id="{27C85E5E-5254-4441-8FB2-4AD4CDC3AE93}"/>
                </a:ext>
              </a:extLst>
            </p:cNvPr>
            <p:cNvSpPr>
              <a:spLocks noGrp="1"/>
            </p:cNvSpPr>
            <p:nvPr/>
          </p:nvSpPr>
          <p:spPr>
            <a:xfrm>
              <a:off x="11886986" y="4673665"/>
              <a:ext cx="133564" cy="146755"/>
            </a:xfrm>
            <a:custGeom>
              <a:pathLst>
                <a:path w="133564" h="146755">
                  <a:moveTo>
                    <a:pt x="27764" y="146755"/>
                  </a:moveTo>
                  <a:lnTo>
                    <a:pt x="133564" y="5073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A71989"/>
              </a:solidFill>
            </a:ln>
          </p:spPr>
        </p:sp>
        <p:sp>
          <p:nvSpPr>
            <p:cNvPr id="1020" name="academic-10-1020">
              <a:extLst>
                <a:ext uri="{FF2B5EF4-FFF2-40B4-BE49-F238E27FC236}">
                  <a16:creationId xmlns:a16="http://schemas.microsoft.com/office/drawing/2014/main" id="{01C94A93-176B-48EB-B40C-5961B9C235B9}"/>
                </a:ext>
              </a:extLst>
            </p:cNvPr>
            <p:cNvSpPr>
              <a:spLocks noGrp="1"/>
            </p:cNvSpPr>
            <p:nvPr/>
          </p:nvSpPr>
          <p:spPr>
            <a:xfrm>
              <a:off x="6734175" y="4933950"/>
              <a:ext cx="6838950" cy="647700"/>
            </a:xfrm>
            <a:custGeom>
              <a:pathLst>
                <a:path w="6838950" h="647700">
                  <a:moveTo>
                    <a:pt x="0" y="647700"/>
                  </a:moveTo>
                  <a:lnTo>
                    <a:pt x="104775" y="647700"/>
                  </a:lnTo>
                  <a:lnTo>
                    <a:pt x="266700" y="0"/>
                  </a:lnTo>
                  <a:lnTo>
                    <a:pt x="6162675" y="0"/>
                  </a:lnTo>
                  <a:lnTo>
                    <a:pt x="6838950" y="304800"/>
                  </a:lnTo>
                </a:path>
              </a:pathLst>
            </a:custGeom>
            <a:noFill/>
            <a:ln w="28575">
              <a:solidFill>
                <a:srgbClr val="4478F5"/>
              </a:solidFill>
            </a:ln>
          </p:spPr>
        </p:sp>
        <p:sp>
          <p:nvSpPr>
            <p:cNvPr id="1021" name="academic-10-1021">
              <a:extLst>
                <a:ext uri="{FF2B5EF4-FFF2-40B4-BE49-F238E27FC236}">
                  <a16:creationId xmlns:a16="http://schemas.microsoft.com/office/drawing/2014/main" id="{CE3E134A-2946-4769-BDE3-FFBBAAF57B50}"/>
                </a:ext>
              </a:extLst>
            </p:cNvPr>
            <p:cNvSpPr>
              <a:spLocks noGrp="1"/>
            </p:cNvSpPr>
            <p:nvPr/>
          </p:nvSpPr>
          <p:spPr>
            <a:xfrm>
              <a:off x="12896850" y="4933950"/>
              <a:ext cx="676275" cy="304800"/>
            </a:xfrm>
            <a:custGeom>
              <a:pathLst>
                <a:path w="676275" h="304800">
                  <a:moveTo>
                    <a:pt x="0" y="0"/>
                  </a:moveTo>
                  <a:lnTo>
                    <a:pt x="676275" y="304800"/>
                  </a:lnTo>
                </a:path>
              </a:pathLst>
            </a:custGeom>
            <a:noFill/>
            <a:ln w="28575">
              <a:solidFill>
                <a:srgbClr val="4478F5"/>
              </a:solidFill>
            </a:ln>
          </p:spPr>
        </p:sp>
        <p:sp>
          <p:nvSpPr>
            <p:cNvPr id="1022" name="academic-10-1022">
              <a:extLst>
                <a:ext uri="{FF2B5EF4-FFF2-40B4-BE49-F238E27FC236}">
                  <a16:creationId xmlns:a16="http://schemas.microsoft.com/office/drawing/2014/main" id="{629C76D7-F3A1-47D7-84A4-EC0B1B886C29}"/>
                </a:ext>
              </a:extLst>
            </p:cNvPr>
            <p:cNvSpPr>
              <a:spLocks noGrp="1"/>
            </p:cNvSpPr>
            <p:nvPr/>
          </p:nvSpPr>
          <p:spPr>
            <a:xfrm>
              <a:off x="13431393" y="5120617"/>
              <a:ext cx="141732" cy="136167"/>
            </a:xfrm>
            <a:custGeom>
              <a:pathLst>
                <a:path w="141732" h="136167">
                  <a:moveTo>
                    <a:pt x="0" y="136167"/>
                  </a:moveTo>
                  <a:lnTo>
                    <a:pt x="141732" y="118133"/>
                  </a:lnTo>
                  <a:lnTo>
                    <a:pt x="61371" y="0"/>
                  </a:lnTo>
                </a:path>
              </a:pathLst>
            </a:custGeom>
            <a:noFill/>
            <a:ln w="28575">
              <a:solidFill>
                <a:srgbClr val="4478F5"/>
              </a:solidFill>
            </a:ln>
          </p:spPr>
        </p:sp>
        <p:sp>
          <p:nvSpPr>
            <p:cNvPr id="1023" name="academic-10-1023">
              <a:extLst>
                <a:ext uri="{FF2B5EF4-FFF2-40B4-BE49-F238E27FC236}">
                  <a16:creationId xmlns:a16="http://schemas.microsoft.com/office/drawing/2014/main" id="{9F84053D-14C5-4307-A5D3-4800B556B230}"/>
                </a:ext>
              </a:extLst>
            </p:cNvPr>
            <p:cNvSpPr>
              <a:spLocks noGrp="1"/>
            </p:cNvSpPr>
            <p:nvPr/>
          </p:nvSpPr>
          <p:spPr>
            <a:xfrm>
              <a:off x="2428875" y="2790825"/>
              <a:ext cx="5191125" cy="1857375"/>
            </a:xfrm>
            <a:prstGeom prst="roundRect">
              <a:avLst>
                <a:gd name="adj" fmla="val 12821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4" name="academic-10-1024">
              <a:extLst>
                <a:ext uri="{FF2B5EF4-FFF2-40B4-BE49-F238E27FC236}">
                  <a16:creationId xmlns:a16="http://schemas.microsoft.com/office/drawing/2014/main" id="{D34B1292-B269-4337-B550-2B974241573C}"/>
                </a:ext>
              </a:extLst>
            </p:cNvPr>
            <p:cNvSpPr>
              <a:spLocks noGrp="1"/>
            </p:cNvSpPr>
            <p:nvPr/>
          </p:nvSpPr>
          <p:spPr>
            <a:xfrm>
              <a:off x="2428875" y="2790825"/>
              <a:ext cx="5191125" cy="76200"/>
            </a:xfrm>
            <a:prstGeom prst="roundRect">
              <a:avLst>
                <a:gd name="adj" fmla="val 50000"/>
              </a:avLst>
            </a:prstGeom>
            <a:solidFill>
              <a:srgbClr val="664092"/>
            </a:solidFill>
            <a:ln w="14288">
              <a:noFill/>
            </a:ln>
          </p:spPr>
        </p:sp>
        <p:sp>
          <p:nvSpPr>
            <p:cNvPr id="1025" name="academic-10-1025">
              <a:extLst>
                <a:ext uri="{FF2B5EF4-FFF2-40B4-BE49-F238E27FC236}">
                  <a16:creationId xmlns:a16="http://schemas.microsoft.com/office/drawing/2014/main" id="{043416C3-E17B-4C30-930E-9FDC7EDEF226}"/>
                </a:ext>
              </a:extLst>
            </p:cNvPr>
            <p:cNvSpPr>
              <a:spLocks noGrp="1"/>
            </p:cNvSpPr>
            <p:nvPr/>
          </p:nvSpPr>
          <p:spPr>
            <a:xfrm>
              <a:off x="2638425" y="3000375"/>
              <a:ext cx="4772025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EMPATIZAR</a:t>
              </a:r>
            </a:p>
          </p:txBody>
        </p:sp>
        <p:sp>
          <p:nvSpPr>
            <p:cNvPr id="1026" name="academic-10-1026">
              <a:extLst>
                <a:ext uri="{FF2B5EF4-FFF2-40B4-BE49-F238E27FC236}">
                  <a16:creationId xmlns:a16="http://schemas.microsoft.com/office/drawing/2014/main" id="{3E31BB4E-2AED-4502-A406-AA738D1D91A8}"/>
                </a:ext>
              </a:extLst>
            </p:cNvPr>
            <p:cNvSpPr>
              <a:spLocks noGrp="1"/>
            </p:cNvSpPr>
            <p:nvPr/>
          </p:nvSpPr>
          <p:spPr>
            <a:xfrm>
              <a:off x="2638425" y="3495675"/>
              <a:ext cx="4772025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Aprendemos de las personas</a:t>
              </a:r>
            </a:p>
          </p:txBody>
        </p:sp>
        <p:sp>
          <p:nvSpPr>
            <p:cNvPr id="1027" name="academic-10-1027">
              <a:extLst>
                <a:ext uri="{FF2B5EF4-FFF2-40B4-BE49-F238E27FC236}">
                  <a16:creationId xmlns:a16="http://schemas.microsoft.com/office/drawing/2014/main" id="{01F0AF68-AF26-43CC-9556-106D2A24CCEF}"/>
                </a:ext>
              </a:extLst>
            </p:cNvPr>
            <p:cNvSpPr>
              <a:spLocks noGrp="1"/>
            </p:cNvSpPr>
            <p:nvPr/>
          </p:nvSpPr>
          <p:spPr>
            <a:xfrm>
              <a:off x="2638425" y="3914775"/>
              <a:ext cx="4772025" cy="704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Reduce el desconocimiento sobre sus experiencias y necesidades.</a:t>
              </a:r>
            </a:p>
          </p:txBody>
        </p:sp>
        <p:sp>
          <p:nvSpPr>
            <p:cNvPr id="1028" name="academic-10-1028">
              <a:extLst>
                <a:ext uri="{FF2B5EF4-FFF2-40B4-BE49-F238E27FC236}">
                  <a16:creationId xmlns:a16="http://schemas.microsoft.com/office/drawing/2014/main" id="{E483BE66-AF65-422A-964C-2E355846DA2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0" y="2790825"/>
              <a:ext cx="5191125" cy="1857375"/>
            </a:xfrm>
            <a:prstGeom prst="roundRect">
              <a:avLst>
                <a:gd name="adj" fmla="val 12821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29" name="academic-10-1029">
              <a:extLst>
                <a:ext uri="{FF2B5EF4-FFF2-40B4-BE49-F238E27FC236}">
                  <a16:creationId xmlns:a16="http://schemas.microsoft.com/office/drawing/2014/main" id="{A5CDB29F-CA98-4F3F-A1CF-1C8807BDDB85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0" y="2790825"/>
              <a:ext cx="5191125" cy="76200"/>
            </a:xfrm>
            <a:prstGeom prst="roundRect">
              <a:avLst>
                <a:gd name="adj" fmla="val 50000"/>
              </a:avLst>
            </a:prstGeom>
            <a:solidFill>
              <a:srgbClr val="A71989"/>
            </a:solidFill>
            <a:ln w="14288">
              <a:noFill/>
            </a:ln>
          </p:spPr>
        </p:sp>
        <p:sp>
          <p:nvSpPr>
            <p:cNvPr id="1030" name="academic-10-1030">
              <a:extLst>
                <a:ext uri="{FF2B5EF4-FFF2-40B4-BE49-F238E27FC236}">
                  <a16:creationId xmlns:a16="http://schemas.microsoft.com/office/drawing/2014/main" id="{8379ED06-D325-4C76-8E8D-CA96BEE6CA13}"/>
                </a:ext>
              </a:extLst>
            </p:cNvPr>
            <p:cNvSpPr>
              <a:spLocks noGrp="1"/>
            </p:cNvSpPr>
            <p:nvPr/>
          </p:nvSpPr>
          <p:spPr>
            <a:xfrm>
              <a:off x="11639550" y="3000375"/>
              <a:ext cx="4772025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DEFINIR</a:t>
              </a:r>
            </a:p>
          </p:txBody>
        </p:sp>
        <p:sp>
          <p:nvSpPr>
            <p:cNvPr id="1031" name="academic-10-1031">
              <a:extLst>
                <a:ext uri="{FF2B5EF4-FFF2-40B4-BE49-F238E27FC236}">
                  <a16:creationId xmlns:a16="http://schemas.microsoft.com/office/drawing/2014/main" id="{86697C44-27E3-4C75-BEDC-4D2E08AFD084}"/>
                </a:ext>
              </a:extLst>
            </p:cNvPr>
            <p:cNvSpPr>
              <a:spLocks noGrp="1"/>
            </p:cNvSpPr>
            <p:nvPr/>
          </p:nvSpPr>
          <p:spPr>
            <a:xfrm>
              <a:off x="11639550" y="3495675"/>
              <a:ext cx="4772025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Interpretamos y priorizamos</a:t>
              </a:r>
            </a:p>
          </p:txBody>
        </p:sp>
        <p:sp>
          <p:nvSpPr>
            <p:cNvPr id="1032" name="academic-10-1032">
              <a:extLst>
                <a:ext uri="{FF2B5EF4-FFF2-40B4-BE49-F238E27FC236}">
                  <a16:creationId xmlns:a16="http://schemas.microsoft.com/office/drawing/2014/main" id="{9A9ADC81-BE0B-4395-BEAF-4952D89234E7}"/>
                </a:ext>
              </a:extLst>
            </p:cNvPr>
            <p:cNvSpPr>
              <a:spLocks noGrp="1"/>
            </p:cNvSpPr>
            <p:nvPr/>
          </p:nvSpPr>
          <p:spPr>
            <a:xfrm>
              <a:off x="11639550" y="3914775"/>
              <a:ext cx="4772025" cy="704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Reduce la ambigüedad respecto del problema.</a:t>
              </a:r>
            </a:p>
          </p:txBody>
        </p:sp>
        <p:sp>
          <p:nvSpPr>
            <p:cNvPr id="1033" name="academic-10-1033">
              <a:extLst>
                <a:ext uri="{FF2B5EF4-FFF2-40B4-BE49-F238E27FC236}">
                  <a16:creationId xmlns:a16="http://schemas.microsoft.com/office/drawing/2014/main" id="{E95F52F8-109F-4FEE-9CA0-ED713609B552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5343525"/>
              <a:ext cx="4514850" cy="1790700"/>
            </a:xfrm>
            <a:prstGeom prst="roundRect">
              <a:avLst>
                <a:gd name="adj" fmla="val 13298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34" name="academic-10-1034">
              <a:extLst>
                <a:ext uri="{FF2B5EF4-FFF2-40B4-BE49-F238E27FC236}">
                  <a16:creationId xmlns:a16="http://schemas.microsoft.com/office/drawing/2014/main" id="{1C447A9A-49DB-4632-AECC-4F63BCBA55A5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5343525"/>
              <a:ext cx="4514850" cy="76200"/>
            </a:xfrm>
            <a:prstGeom prst="roundRect">
              <a:avLst>
                <a:gd name="adj" fmla="val 50000"/>
              </a:avLst>
            </a:prstGeom>
            <a:solidFill>
              <a:srgbClr val="4478F5"/>
            </a:solidFill>
            <a:ln w="14288">
              <a:noFill/>
            </a:ln>
          </p:spPr>
        </p:sp>
        <p:sp>
          <p:nvSpPr>
            <p:cNvPr id="1035" name="academic-10-1035">
              <a:extLst>
                <a:ext uri="{FF2B5EF4-FFF2-40B4-BE49-F238E27FC236}">
                  <a16:creationId xmlns:a16="http://schemas.microsoft.com/office/drawing/2014/main" id="{AF14E9B3-B5A7-4B83-B170-026CDAD86028}"/>
                </a:ext>
              </a:extLst>
            </p:cNvPr>
            <p:cNvSpPr>
              <a:spLocks noGrp="1"/>
            </p:cNvSpPr>
            <p:nvPr/>
          </p:nvSpPr>
          <p:spPr>
            <a:xfrm>
              <a:off x="12877800" y="5553075"/>
              <a:ext cx="4095750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4478F5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4478F5"/>
                  </a:solidFill>
                  <a:latin typeface="Arial"/>
                  <a:ea typeface="Arial"/>
                  <a:cs typeface="Arial"/>
                </a:rPr>
                <a:t>IDEAR</a:t>
              </a:r>
            </a:p>
          </p:txBody>
        </p:sp>
        <p:sp>
          <p:nvSpPr>
            <p:cNvPr id="1036" name="academic-10-1036">
              <a:extLst>
                <a:ext uri="{FF2B5EF4-FFF2-40B4-BE49-F238E27FC236}">
                  <a16:creationId xmlns:a16="http://schemas.microsoft.com/office/drawing/2014/main" id="{22A7FE85-9698-4943-B499-20DD234CA484}"/>
                </a:ext>
              </a:extLst>
            </p:cNvPr>
            <p:cNvSpPr>
              <a:spLocks noGrp="1"/>
            </p:cNvSpPr>
            <p:nvPr/>
          </p:nvSpPr>
          <p:spPr>
            <a:xfrm>
              <a:off x="12877800" y="6048375"/>
              <a:ext cx="4095750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Ampliamos alternativas</a:t>
              </a:r>
            </a:p>
          </p:txBody>
        </p:sp>
        <p:sp>
          <p:nvSpPr>
            <p:cNvPr id="1037" name="academic-10-1037">
              <a:extLst>
                <a:ext uri="{FF2B5EF4-FFF2-40B4-BE49-F238E27FC236}">
                  <a16:creationId xmlns:a16="http://schemas.microsoft.com/office/drawing/2014/main" id="{11C75597-A1BD-42B5-BB98-BE7CCCD6E804}"/>
                </a:ext>
              </a:extLst>
            </p:cNvPr>
            <p:cNvSpPr>
              <a:spLocks noGrp="1"/>
            </p:cNvSpPr>
            <p:nvPr/>
          </p:nvSpPr>
          <p:spPr>
            <a:xfrm>
              <a:off x="12877800" y="6467475"/>
              <a:ext cx="4095750" cy="6381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Reduce la dependencia de una única solución.</a:t>
              </a:r>
            </a:p>
          </p:txBody>
        </p:sp>
        <p:sp>
          <p:nvSpPr>
            <p:cNvPr id="1038" name="academic-10-1038">
              <a:extLst>
                <a:ext uri="{FF2B5EF4-FFF2-40B4-BE49-F238E27FC236}">
                  <a16:creationId xmlns:a16="http://schemas.microsoft.com/office/drawing/2014/main" id="{D62D44CF-D9D9-4C61-A94E-E30EC2C9A402}"/>
                </a:ext>
              </a:extLst>
            </p:cNvPr>
            <p:cNvSpPr>
              <a:spLocks noGrp="1"/>
            </p:cNvSpPr>
            <p:nvPr/>
          </p:nvSpPr>
          <p:spPr>
            <a:xfrm>
              <a:off x="7200900" y="5457825"/>
              <a:ext cx="4905375" cy="1809750"/>
            </a:xfrm>
            <a:prstGeom prst="roundRect">
              <a:avLst>
                <a:gd name="adj" fmla="val 13158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39" name="academic-10-1039">
              <a:extLst>
                <a:ext uri="{FF2B5EF4-FFF2-40B4-BE49-F238E27FC236}">
                  <a16:creationId xmlns:a16="http://schemas.microsoft.com/office/drawing/2014/main" id="{722F3BD4-1372-4CA4-B2B1-32BF490C3645}"/>
                </a:ext>
              </a:extLst>
            </p:cNvPr>
            <p:cNvSpPr>
              <a:spLocks noGrp="1"/>
            </p:cNvSpPr>
            <p:nvPr/>
          </p:nvSpPr>
          <p:spPr>
            <a:xfrm>
              <a:off x="7200900" y="5457825"/>
              <a:ext cx="4905375" cy="76200"/>
            </a:xfrm>
            <a:prstGeom prst="roundRect">
              <a:avLst>
                <a:gd name="adj" fmla="val 50000"/>
              </a:avLst>
            </a:prstGeom>
            <a:solidFill>
              <a:srgbClr val="A71989"/>
            </a:solidFill>
            <a:ln w="14288">
              <a:noFill/>
            </a:ln>
          </p:spPr>
        </p:sp>
        <p:sp>
          <p:nvSpPr>
            <p:cNvPr id="1040" name="academic-10-1040">
              <a:extLst>
                <a:ext uri="{FF2B5EF4-FFF2-40B4-BE49-F238E27FC236}">
                  <a16:creationId xmlns:a16="http://schemas.microsoft.com/office/drawing/2014/main" id="{CA4CD202-F90A-48FB-89D5-CBC4D970FB6E}"/>
                </a:ext>
              </a:extLst>
            </p:cNvPr>
            <p:cNvSpPr>
              <a:spLocks noGrp="1"/>
            </p:cNvSpPr>
            <p:nvPr/>
          </p:nvSpPr>
          <p:spPr>
            <a:xfrm>
              <a:off x="7410450" y="5667375"/>
              <a:ext cx="4486275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PROTOTIPAR</a:t>
              </a:r>
            </a:p>
          </p:txBody>
        </p:sp>
        <p:sp>
          <p:nvSpPr>
            <p:cNvPr id="1041" name="academic-10-1041">
              <a:extLst>
                <a:ext uri="{FF2B5EF4-FFF2-40B4-BE49-F238E27FC236}">
                  <a16:creationId xmlns:a16="http://schemas.microsoft.com/office/drawing/2014/main" id="{50F42C4B-01DB-4557-B7DD-BBCF535669BA}"/>
                </a:ext>
              </a:extLst>
            </p:cNvPr>
            <p:cNvSpPr>
              <a:spLocks noGrp="1"/>
            </p:cNvSpPr>
            <p:nvPr/>
          </p:nvSpPr>
          <p:spPr>
            <a:xfrm>
              <a:off x="7410450" y="6162675"/>
              <a:ext cx="4486275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Hacemos observable una hipótesis</a:t>
              </a:r>
            </a:p>
          </p:txBody>
        </p:sp>
        <p:sp>
          <p:nvSpPr>
            <p:cNvPr id="1042" name="academic-10-1042">
              <a:extLst>
                <a:ext uri="{FF2B5EF4-FFF2-40B4-BE49-F238E27FC236}">
                  <a16:creationId xmlns:a16="http://schemas.microsoft.com/office/drawing/2014/main" id="{21F86070-8A74-49CC-A69A-DB3F06429374}"/>
                </a:ext>
              </a:extLst>
            </p:cNvPr>
            <p:cNvSpPr>
              <a:spLocks noGrp="1"/>
            </p:cNvSpPr>
            <p:nvPr/>
          </p:nvSpPr>
          <p:spPr>
            <a:xfrm>
              <a:off x="7410450" y="6581775"/>
              <a:ext cx="4486275" cy="6572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Permite reconocer dificultades antes de realizar grandes inversiones.</a:t>
              </a:r>
            </a:p>
          </p:txBody>
        </p:sp>
        <p:sp>
          <p:nvSpPr>
            <p:cNvPr id="1043" name="academic-10-1043">
              <a:extLst>
                <a:ext uri="{FF2B5EF4-FFF2-40B4-BE49-F238E27FC236}">
                  <a16:creationId xmlns:a16="http://schemas.microsoft.com/office/drawing/2014/main" id="{82D2BF08-1EB5-4220-8092-2C536AAF1265}"/>
                </a:ext>
              </a:extLst>
            </p:cNvPr>
            <p:cNvSpPr>
              <a:spLocks noGrp="1"/>
            </p:cNvSpPr>
            <p:nvPr/>
          </p:nvSpPr>
          <p:spPr>
            <a:xfrm>
              <a:off x="1933575" y="5191125"/>
              <a:ext cx="4705350" cy="2057400"/>
            </a:xfrm>
            <a:prstGeom prst="roundRect">
              <a:avLst>
                <a:gd name="adj" fmla="val 11574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44" name="academic-10-1044">
              <a:extLst>
                <a:ext uri="{FF2B5EF4-FFF2-40B4-BE49-F238E27FC236}">
                  <a16:creationId xmlns:a16="http://schemas.microsoft.com/office/drawing/2014/main" id="{71895F0C-9558-4E5E-AB17-BB5ABB0BADF5}"/>
                </a:ext>
              </a:extLst>
            </p:cNvPr>
            <p:cNvSpPr>
              <a:spLocks noGrp="1"/>
            </p:cNvSpPr>
            <p:nvPr/>
          </p:nvSpPr>
          <p:spPr>
            <a:xfrm>
              <a:off x="1933575" y="5191125"/>
              <a:ext cx="4705350" cy="76200"/>
            </a:xfrm>
            <a:prstGeom prst="roundRect">
              <a:avLst>
                <a:gd name="adj" fmla="val 50000"/>
              </a:avLst>
            </a:prstGeom>
            <a:solidFill>
              <a:srgbClr val="664092"/>
            </a:solidFill>
            <a:ln w="14288">
              <a:noFill/>
            </a:ln>
          </p:spPr>
        </p:sp>
        <p:sp>
          <p:nvSpPr>
            <p:cNvPr id="1045" name="academic-10-1045">
              <a:extLst>
                <a:ext uri="{FF2B5EF4-FFF2-40B4-BE49-F238E27FC236}">
                  <a16:creationId xmlns:a16="http://schemas.microsoft.com/office/drawing/2014/main" id="{9499BFEF-90F4-4A40-BBC0-53CCA55E6B71}"/>
                </a:ext>
              </a:extLst>
            </p:cNvPr>
            <p:cNvSpPr>
              <a:spLocks noGrp="1"/>
            </p:cNvSpPr>
            <p:nvPr/>
          </p:nvSpPr>
          <p:spPr>
            <a:xfrm>
              <a:off x="2143125" y="5400675"/>
              <a:ext cx="4286250" cy="4286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4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EVALUAR</a:t>
              </a:r>
            </a:p>
          </p:txBody>
        </p:sp>
        <p:sp>
          <p:nvSpPr>
            <p:cNvPr id="1046" name="academic-10-1046">
              <a:extLst>
                <a:ext uri="{FF2B5EF4-FFF2-40B4-BE49-F238E27FC236}">
                  <a16:creationId xmlns:a16="http://schemas.microsoft.com/office/drawing/2014/main" id="{73A08379-14D4-43E8-B362-ABC8F8B83ED6}"/>
                </a:ext>
              </a:extLst>
            </p:cNvPr>
            <p:cNvSpPr>
              <a:spLocks noGrp="1"/>
            </p:cNvSpPr>
            <p:nvPr/>
          </p:nvSpPr>
          <p:spPr>
            <a:xfrm>
              <a:off x="2143125" y="5895975"/>
              <a:ext cx="4286250" cy="381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Obtenemos evidencia</a:t>
              </a:r>
            </a:p>
          </p:txBody>
        </p:sp>
        <p:sp>
          <p:nvSpPr>
            <p:cNvPr id="1047" name="academic-10-1047">
              <a:extLst>
                <a:ext uri="{FF2B5EF4-FFF2-40B4-BE49-F238E27FC236}">
                  <a16:creationId xmlns:a16="http://schemas.microsoft.com/office/drawing/2014/main" id="{9531E813-16C1-4D5C-B9C1-E49312CDA0F9}"/>
                </a:ext>
              </a:extLst>
            </p:cNvPr>
            <p:cNvSpPr>
              <a:spLocks noGrp="1"/>
            </p:cNvSpPr>
            <p:nvPr/>
          </p:nvSpPr>
          <p:spPr>
            <a:xfrm>
              <a:off x="2143125" y="6315075"/>
              <a:ext cx="4286250" cy="9048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1875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Permite conocer cómo responde la propuesta al entrar en contacto con las personas.</a:t>
              </a:r>
            </a:p>
          </p:txBody>
        </p:sp>
        <p:sp>
          <p:nvSpPr>
            <p:cNvPr id="1048" name="academic-10-1048">
              <a:extLst>
                <a:ext uri="{FF2B5EF4-FFF2-40B4-BE49-F238E27FC236}">
                  <a16:creationId xmlns:a16="http://schemas.microsoft.com/office/drawing/2014/main" id="{42D7FE66-5A80-41B6-A9C9-7B09D4EF4146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4038600"/>
              <a:ext cx="2838450" cy="7429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APRENDIZAJE</a:t>
              </a:r>
            </a:p>
            <a:p>
              <a:pPr algn="ctr">
                <a:def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25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ITERATIVO</a:t>
              </a:r>
            </a:p>
          </p:txBody>
        </p:sp>
        <p:sp>
          <p:nvSpPr>
            <p:cNvPr id="1049" name="academic-10-1049">
              <a:extLst>
                <a:ext uri="{FF2B5EF4-FFF2-40B4-BE49-F238E27FC236}">
                  <a16:creationId xmlns:a16="http://schemas.microsoft.com/office/drawing/2014/main" id="{B93D5519-2257-438C-A771-49B10AB9D793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name="adj" fmla="val 29268"/>
              </a:avLst>
            </a:prstGeom>
            <a:solidFill>
              <a:srgbClr val="F6F4F7"/>
            </a:solidFill>
            <a:ln w="14288">
              <a:noFill/>
            </a:ln>
          </p:spPr>
        </p:sp>
        <p:sp>
          <p:nvSpPr>
            <p:cNvPr id="1050" name="academic-10-1050">
              <a:extLst>
                <a:ext uri="{FF2B5EF4-FFF2-40B4-BE49-F238E27FC236}">
                  <a16:creationId xmlns:a16="http://schemas.microsoft.com/office/drawing/2014/main" id="{E6666698-5C1C-4940-AE95-60A64EDD4F73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7505700"/>
              <a:ext cx="66675" cy="59055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51" name="academic-10-1051">
              <a:extLst>
                <a:ext uri="{FF2B5EF4-FFF2-40B4-BE49-F238E27FC236}">
                  <a16:creationId xmlns:a16="http://schemas.microsoft.com/office/drawing/2014/main" id="{06A5B24D-971E-4400-9C58-9FB588660B64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7553325"/>
              <a:ext cx="13335000" cy="6096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Cuando una idea cambia después de una prueba, el proceso no retrocede:</a:t>
              </a:r>
            </a:p>
            <a:p>
              <a:pPr algn="ctr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aumenta nuestra comprensión y disminuye la incertidumbre.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InstitutionDots">
            <a:alphaModFix/>
          </a:blip>
          <a:srcRect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11-1003">
              <a:extLst>
                <a:ext uri="{FF2B5EF4-FFF2-40B4-BE49-F238E27FC236}">
                  <a16:creationId xmlns:a16="http://schemas.microsoft.com/office/drawing/2014/main" id="{AD65FFFA-1E1A-4F33-9E40-7C0D73B42A8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Tema 1 · Design Thinking: definición y proceso</a:t>
              </a:r>
            </a:p>
          </p:txBody>
        </p:sp>
        <p:sp>
          <p:nvSpPr>
            <p:cNvPr id="1004" name="academic-11-1004">
              <a:extLst>
                <a:ext uri="{FF2B5EF4-FFF2-40B4-BE49-F238E27FC236}">
                  <a16:creationId xmlns:a16="http://schemas.microsoft.com/office/drawing/2014/main" id="{AB36DB5D-CBD4-4F41-937E-18E17C33BC4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Cada fase tiene un propósito</a:t>
              </a:r>
            </a:p>
          </p:txBody>
        </p:sp>
        <p:sp>
          <p:nvSpPr>
            <p:cNvPr id="1005" name="academic-11-1005">
              <a:extLst>
                <a:ext uri="{FF2B5EF4-FFF2-40B4-BE49-F238E27FC236}">
                  <a16:creationId xmlns:a16="http://schemas.microsoft.com/office/drawing/2014/main" id="{66E9838A-3F7F-43E6-A809-43393365C2C8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  <p:sp>
          <p:nvSpPr>
            <p:cNvPr id="1006" name="academic-11-1006">
              <a:extLst>
                <a:ext uri="{FF2B5EF4-FFF2-40B4-BE49-F238E27FC236}">
                  <a16:creationId xmlns:a16="http://schemas.microsoft.com/office/drawing/2014/main" id="{7251A93D-D656-4BFE-B67C-A21EB10AF98F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r">
                <a:def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11 / 11</a:t>
              </a:r>
            </a:p>
          </p:txBody>
        </p:sp>
        <p:sp>
          <p:nvSpPr>
            <p:cNvPr id="1007" name="academic-11-1007">
              <a:extLst>
                <a:ext uri="{FF2B5EF4-FFF2-40B4-BE49-F238E27FC236}">
                  <a16:creationId xmlns:a16="http://schemas.microsoft.com/office/drawing/2014/main" id="{E6CF9999-2C95-4B44-AB68-D60B7FE6E6C0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2790825"/>
              <a:ext cx="15240000" cy="9525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55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55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Recorrimos un proceso que comienza comprendiendo a las personas y avanza mediante interpretación, creatividad, experimentación y evidencia.</a:t>
              </a:r>
            </a:p>
          </p:txBody>
        </p:sp>
        <p:sp>
          <p:nvSpPr>
            <p:cNvPr id="1008" name="academic-11-1008">
              <a:extLst>
                <a:ext uri="{FF2B5EF4-FFF2-40B4-BE49-F238E27FC236}">
                  <a16:creationId xmlns:a16="http://schemas.microsoft.com/office/drawing/2014/main" id="{F8D37F3D-65AB-467A-99C5-CE2A42724447}"/>
                </a:ext>
              </a:extLst>
            </p:cNvPr>
            <p:cNvSpPr>
              <a:spLocks noGrp="1"/>
            </p:cNvSpPr>
            <p:nvPr/>
          </p:nvSpPr>
          <p:spPr>
            <a:xfrm>
              <a:off x="2028825" y="4029075"/>
              <a:ext cx="2809875" cy="1285875"/>
            </a:xfrm>
            <a:prstGeom prst="roundRect">
              <a:avLst>
                <a:gd name="adj" fmla="val 1629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09" name="academic-11-1009">
              <a:extLst>
                <a:ext uri="{FF2B5EF4-FFF2-40B4-BE49-F238E27FC236}">
                  <a16:creationId xmlns:a16="http://schemas.microsoft.com/office/drawing/2014/main" id="{F8B6A33A-46BA-4D18-882D-2F176822A34B}"/>
                </a:ext>
              </a:extLst>
            </p:cNvPr>
            <p:cNvSpPr>
              <a:spLocks noGrp="1"/>
            </p:cNvSpPr>
            <p:nvPr/>
          </p:nvSpPr>
          <p:spPr>
            <a:xfrm>
              <a:off x="2143125" y="4210050"/>
              <a:ext cx="25812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EMPATIZAR</a:t>
              </a:r>
            </a:p>
          </p:txBody>
        </p:sp>
        <p:sp>
          <p:nvSpPr>
            <p:cNvPr id="1010" name="academic-11-1010">
              <a:extLst>
                <a:ext uri="{FF2B5EF4-FFF2-40B4-BE49-F238E27FC236}">
                  <a16:creationId xmlns:a16="http://schemas.microsoft.com/office/drawing/2014/main" id="{76E6E1FD-603C-4BC3-910E-4F4358EE6694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4810125"/>
              <a:ext cx="2562225" cy="4381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Comprender.</a:t>
              </a:r>
            </a:p>
          </p:txBody>
        </p:sp>
        <p:sp>
          <p:nvSpPr>
            <p:cNvPr id="1011" name="academic-11-1011">
              <a:extLst>
                <a:ext uri="{FF2B5EF4-FFF2-40B4-BE49-F238E27FC236}">
                  <a16:creationId xmlns:a16="http://schemas.microsoft.com/office/drawing/2014/main" id="{5BEE0BCA-95A6-4377-86BB-08E77A862E93}"/>
                </a:ext>
              </a:extLst>
            </p:cNvPr>
            <p:cNvSpPr>
              <a:spLocks noGrp="1"/>
            </p:cNvSpPr>
            <p:nvPr/>
          </p:nvSpPr>
          <p:spPr>
            <a:xfrm>
              <a:off x="5133975" y="4029075"/>
              <a:ext cx="2809875" cy="1285875"/>
            </a:xfrm>
            <a:prstGeom prst="roundRect">
              <a:avLst>
                <a:gd name="adj" fmla="val 1629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2" name="academic-11-1012">
              <a:extLst>
                <a:ext uri="{FF2B5EF4-FFF2-40B4-BE49-F238E27FC236}">
                  <a16:creationId xmlns:a16="http://schemas.microsoft.com/office/drawing/2014/main" id="{FC6C94CD-B197-4B93-BE3D-ABEF6ADA55BE}"/>
                </a:ext>
              </a:extLst>
            </p:cNvPr>
            <p:cNvSpPr>
              <a:spLocks noGrp="1"/>
            </p:cNvSpPr>
            <p:nvPr/>
          </p:nvSpPr>
          <p:spPr>
            <a:xfrm>
              <a:off x="5248275" y="4210050"/>
              <a:ext cx="25812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DEFINIR</a:t>
              </a:r>
            </a:p>
          </p:txBody>
        </p:sp>
        <p:sp>
          <p:nvSpPr>
            <p:cNvPr id="1013" name="academic-11-1013">
              <a:extLst>
                <a:ext uri="{FF2B5EF4-FFF2-40B4-BE49-F238E27FC236}">
                  <a16:creationId xmlns:a16="http://schemas.microsoft.com/office/drawing/2014/main" id="{2E724BE2-7EFB-4647-ACC1-DEE9B5BA6759}"/>
                </a:ext>
              </a:extLst>
            </p:cNvPr>
            <p:cNvSpPr>
              <a:spLocks noGrp="1"/>
            </p:cNvSpPr>
            <p:nvPr/>
          </p:nvSpPr>
          <p:spPr>
            <a:xfrm>
              <a:off x="5257800" y="4810125"/>
              <a:ext cx="2562225" cy="4381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Enfocar.</a:t>
              </a:r>
            </a:p>
          </p:txBody>
        </p:sp>
        <p:sp>
          <p:nvSpPr>
            <p:cNvPr id="1014" name="academic-11-1014">
              <a:extLst>
                <a:ext uri="{FF2B5EF4-FFF2-40B4-BE49-F238E27FC236}">
                  <a16:creationId xmlns:a16="http://schemas.microsoft.com/office/drawing/2014/main" id="{7112B6CA-20CF-4D60-95A5-58E1B54C125F}"/>
                </a:ext>
              </a:extLst>
            </p:cNvPr>
            <p:cNvSpPr>
              <a:spLocks noGrp="1"/>
            </p:cNvSpPr>
            <p:nvPr/>
          </p:nvSpPr>
          <p:spPr>
            <a:xfrm>
              <a:off x="8239125" y="4029075"/>
              <a:ext cx="2809875" cy="1285875"/>
            </a:xfrm>
            <a:prstGeom prst="roundRect">
              <a:avLst>
                <a:gd name="adj" fmla="val 1629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15" name="academic-11-1015">
              <a:extLst>
                <a:ext uri="{FF2B5EF4-FFF2-40B4-BE49-F238E27FC236}">
                  <a16:creationId xmlns:a16="http://schemas.microsoft.com/office/drawing/2014/main" id="{1A7AD9BD-A813-400E-B198-B3C44B2F070C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210050"/>
              <a:ext cx="25812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IDEAR</a:t>
              </a:r>
            </a:p>
          </p:txBody>
        </p:sp>
        <p:sp>
          <p:nvSpPr>
            <p:cNvPr id="1016" name="academic-11-1016">
              <a:extLst>
                <a:ext uri="{FF2B5EF4-FFF2-40B4-BE49-F238E27FC236}">
                  <a16:creationId xmlns:a16="http://schemas.microsoft.com/office/drawing/2014/main" id="{5B0C1554-9C8F-4F16-9D5B-3C4C06B4C28E}"/>
                </a:ext>
              </a:extLst>
            </p:cNvPr>
            <p:cNvSpPr>
              <a:spLocks noGrp="1"/>
            </p:cNvSpPr>
            <p:nvPr/>
          </p:nvSpPr>
          <p:spPr>
            <a:xfrm>
              <a:off x="8362950" y="4810125"/>
              <a:ext cx="2562225" cy="4381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Explorar.</a:t>
              </a:r>
            </a:p>
          </p:txBody>
        </p:sp>
        <p:sp>
          <p:nvSpPr>
            <p:cNvPr id="1017" name="academic-11-1017">
              <a:extLst>
                <a:ext uri="{FF2B5EF4-FFF2-40B4-BE49-F238E27FC236}">
                  <a16:creationId xmlns:a16="http://schemas.microsoft.com/office/drawing/2014/main" id="{6C0912C9-81D1-4D24-A943-60F7212B2E99}"/>
                </a:ext>
              </a:extLst>
            </p:cNvPr>
            <p:cNvSpPr>
              <a:spLocks noGrp="1"/>
            </p:cNvSpPr>
            <p:nvPr/>
          </p:nvSpPr>
          <p:spPr>
            <a:xfrm>
              <a:off x="11344275" y="4029075"/>
              <a:ext cx="2809875" cy="1285875"/>
            </a:xfrm>
            <a:prstGeom prst="roundRect">
              <a:avLst>
                <a:gd name="adj" fmla="val 16296"/>
              </a:avLst>
            </a:prstGeom>
            <a:solidFill>
              <a:srgbClr val="F1EBF6"/>
            </a:solidFill>
            <a:ln w="14288">
              <a:noFill/>
            </a:ln>
          </p:spPr>
        </p:sp>
        <p:sp>
          <p:nvSpPr>
            <p:cNvPr id="1018" name="academic-11-1018">
              <a:extLst>
                <a:ext uri="{FF2B5EF4-FFF2-40B4-BE49-F238E27FC236}">
                  <a16:creationId xmlns:a16="http://schemas.microsoft.com/office/drawing/2014/main" id="{14400CC7-1D2C-46D1-865A-F76F0896CDB4}"/>
                </a:ext>
              </a:extLst>
            </p:cNvPr>
            <p:cNvSpPr>
              <a:spLocks noGrp="1"/>
            </p:cNvSpPr>
            <p:nvPr/>
          </p:nvSpPr>
          <p:spPr>
            <a:xfrm>
              <a:off x="11458575" y="4210050"/>
              <a:ext cx="25812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A71989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A71989"/>
                  </a:solidFill>
                  <a:latin typeface="Arial"/>
                  <a:ea typeface="Arial"/>
                  <a:cs typeface="Arial"/>
                </a:rPr>
                <a:t>PROTOTIPAR</a:t>
              </a:r>
            </a:p>
          </p:txBody>
        </p:sp>
        <p:sp>
          <p:nvSpPr>
            <p:cNvPr id="1019" name="academic-11-1019">
              <a:extLst>
                <a:ext uri="{FF2B5EF4-FFF2-40B4-BE49-F238E27FC236}">
                  <a16:creationId xmlns:a16="http://schemas.microsoft.com/office/drawing/2014/main" id="{948C3C87-24CE-4211-88FF-B15FF1B1DEC6}"/>
                </a:ext>
              </a:extLst>
            </p:cNvPr>
            <p:cNvSpPr>
              <a:spLocks noGrp="1"/>
            </p:cNvSpPr>
            <p:nvPr/>
          </p:nvSpPr>
          <p:spPr>
            <a:xfrm>
              <a:off x="11468100" y="4810125"/>
              <a:ext cx="2562225" cy="4381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Experimentar.</a:t>
              </a:r>
            </a:p>
          </p:txBody>
        </p:sp>
        <p:sp>
          <p:nvSpPr>
            <p:cNvPr id="1020" name="academic-11-1020">
              <a:extLst>
                <a:ext uri="{FF2B5EF4-FFF2-40B4-BE49-F238E27FC236}">
                  <a16:creationId xmlns:a16="http://schemas.microsoft.com/office/drawing/2014/main" id="{0997A225-CB58-4FB2-AF4C-45751E8EC4E5}"/>
                </a:ext>
              </a:extLst>
            </p:cNvPr>
            <p:cNvSpPr>
              <a:spLocks noGrp="1"/>
            </p:cNvSpPr>
            <p:nvPr/>
          </p:nvSpPr>
          <p:spPr>
            <a:xfrm>
              <a:off x="14449425" y="4029075"/>
              <a:ext cx="2809875" cy="1285875"/>
            </a:xfrm>
            <a:prstGeom prst="roundRect">
              <a:avLst>
                <a:gd name="adj" fmla="val 16296"/>
              </a:avLst>
            </a:prstGeom>
            <a:solidFill>
              <a:srgbClr val="EAF0FB"/>
            </a:solidFill>
            <a:ln w="14288">
              <a:noFill/>
            </a:ln>
          </p:spPr>
        </p:sp>
        <p:sp>
          <p:nvSpPr>
            <p:cNvPr id="1021" name="academic-11-1021">
              <a:extLst>
                <a:ext uri="{FF2B5EF4-FFF2-40B4-BE49-F238E27FC236}">
                  <a16:creationId xmlns:a16="http://schemas.microsoft.com/office/drawing/2014/main" id="{931D560E-1AAB-4367-B2F0-F55BBDBB88B1}"/>
                </a:ext>
              </a:extLst>
            </p:cNvPr>
            <p:cNvSpPr>
              <a:spLocks noGrp="1"/>
            </p:cNvSpPr>
            <p:nvPr/>
          </p:nvSpPr>
          <p:spPr>
            <a:xfrm>
              <a:off x="14563725" y="4210050"/>
              <a:ext cx="2581275" cy="44767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2175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EVALUAR</a:t>
              </a:r>
            </a:p>
          </p:txBody>
        </p:sp>
        <p:sp>
          <p:nvSpPr>
            <p:cNvPr id="1022" name="academic-11-1022">
              <a:extLst>
                <a:ext uri="{FF2B5EF4-FFF2-40B4-BE49-F238E27FC236}">
                  <a16:creationId xmlns:a16="http://schemas.microsoft.com/office/drawing/2014/main" id="{577E050D-72CF-45F7-A9CF-15D9EF8B1FE2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0" y="4810125"/>
              <a:ext cx="2562225" cy="4381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1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Aprender y ajustar.</a:t>
              </a:r>
            </a:p>
          </p:txBody>
        </p:sp>
        <p:sp>
          <p:nvSpPr>
            <p:cNvPr id="1023" name="academic-11-1023">
              <a:extLst>
                <a:ext uri="{FF2B5EF4-FFF2-40B4-BE49-F238E27FC236}">
                  <a16:creationId xmlns:a16="http://schemas.microsoft.com/office/drawing/2014/main" id="{9EB8F7AB-15A5-4E90-94FC-5B01DFCC2BA3}"/>
                </a:ext>
              </a:extLst>
            </p:cNvPr>
            <p:cNvSpPr>
              <a:spLocks noGrp="1"/>
            </p:cNvSpPr>
            <p:nvPr/>
          </p:nvSpPr>
          <p:spPr>
            <a:xfrm>
              <a:off x="2924175" y="5762625"/>
              <a:ext cx="76200" cy="990600"/>
            </a:xfrm>
            <a:prstGeom prst="rect">
              <a:avLst/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24" name="academic-11-1024">
              <a:extLst>
                <a:ext uri="{FF2B5EF4-FFF2-40B4-BE49-F238E27FC236}">
                  <a16:creationId xmlns:a16="http://schemas.microsoft.com/office/drawing/2014/main" id="{5CB1C85A-FE33-4BE8-8023-288CA3518294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5772150"/>
              <a:ext cx="13430250" cy="1038225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28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Si una prueba demuestra que nuestra comprensión inicial era incorrecta,</a:t>
              </a:r>
            </a:p>
            <a:p>
              <a:pPr algn="l">
                <a:defRPr sz="285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¿a qué fase o fases necesitaríamos regresar?</a:t>
              </a:r>
            </a:p>
          </p:txBody>
        </p:sp>
        <p:sp>
          <p:nvSpPr>
            <p:cNvPr id="1025" name="academic-11-1025">
              <a:extLst>
                <a:ext uri="{FF2B5EF4-FFF2-40B4-BE49-F238E27FC236}">
                  <a16:creationId xmlns:a16="http://schemas.microsoft.com/office/drawing/2014/main" id="{7F4A2699-06A6-40BD-8136-06D9A50BE362}"/>
                </a:ext>
              </a:extLst>
            </p:cNvPr>
            <p:cNvSpPr>
              <a:spLocks noGrp="1"/>
            </p:cNvSpPr>
            <p:nvPr/>
          </p:nvSpPr>
          <p:spPr>
            <a:xfrm>
              <a:off x="3009900" y="7086600"/>
              <a:ext cx="13430250" cy="7620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El pensamiento de diseño no busca acertar desde el comienzo. Busca aprender</a:t>
              </a:r>
            </a:p>
            <a:p>
              <a:pPr algn="ctr">
                <a:def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defRPr>
              </a:pPr>
              <a:r>
                <a:rPr sz="2400" b="0">
                  <a:solidFill>
                    <a:srgbClr val="332F37"/>
                  </a:solidFill>
                  <a:latin typeface="Arial"/>
                  <a:ea typeface="Arial"/>
                  <a:cs typeface="Arial"/>
                </a:rPr>
                <a:t>antes de comprometer grandes recursos con una solución.</a:t>
              </a:r>
            </a:p>
          </p:txBody>
        </p:sp>
        <p:sp>
          <p:nvSpPr>
            <p:cNvPr id="1026" name="academic-11-1026">
              <a:extLst>
                <a:ext uri="{FF2B5EF4-FFF2-40B4-BE49-F238E27FC236}">
                  <a16:creationId xmlns:a16="http://schemas.microsoft.com/office/drawing/2014/main" id="{5E525519-7E5B-4724-AE48-0D2111310E69}"/>
                </a:ext>
              </a:extLst>
            </p:cNvPr>
            <p:cNvSpPr>
              <a:spLocks noGrp="1"/>
            </p:cNvSpPr>
            <p:nvPr/>
          </p:nvSpPr>
          <p:spPr>
            <a:xfrm>
              <a:off x="4905375" y="7972425"/>
              <a:ext cx="7753350" cy="619125"/>
            </a:xfrm>
            <a:prstGeom prst="roundRect">
              <a:avLst>
                <a:gd name="adj" fmla="val 50000"/>
              </a:avLst>
            </a:prstGeom>
            <a:solidFill>
              <a:srgbClr val="FFD900"/>
            </a:solidFill>
            <a:ln w="14288">
              <a:noFill/>
            </a:ln>
          </p:spPr>
        </p:sp>
        <p:sp>
          <p:nvSpPr>
            <p:cNvPr id="1027" name="academic-11-1027">
              <a:extLst>
                <a:ext uri="{FF2B5EF4-FFF2-40B4-BE49-F238E27FC236}">
                  <a16:creationId xmlns:a16="http://schemas.microsoft.com/office/drawing/2014/main" id="{773C0C55-8E79-4613-A4BD-DB189FC857C0}"/>
                </a:ext>
              </a:extLst>
            </p:cNvPr>
            <p:cNvSpPr>
              <a:spLocks noGrp="1"/>
            </p:cNvSpPr>
            <p:nvPr/>
          </p:nvSpPr>
          <p:spPr>
            <a:xfrm>
              <a:off x="4981575" y="8130254"/>
              <a:ext cx="7600950" cy="5905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ctr">
                <a:def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2025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Ir a la actividad · Cada fase tiene un propósito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3">
            <a:extLst>
              <a:ext uri="{FF2B5EF4-FFF2-40B4-BE49-F238E27FC236}">
                <a16:creationId xmlns:a16="http://schemas.microsoft.com/office/drawing/2014/main" id="{ECCE7062-DC46-45C7-89BC-90AAE5479FAB}"/>
              </a:ext>
            </a:extLst>
          </p:cNvPr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55;p3">
            <a:extLst>
              <a:ext uri="{FF2B5EF4-FFF2-40B4-BE49-F238E27FC236}">
                <a16:creationId xmlns:a16="http://schemas.microsoft.com/office/drawing/2014/main" id="{4F2E3EAD-8028-433B-9A6D-A17568CF0BE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7256" y="2240280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Figura academica editable"/>
          <p:cNvGrpSpPr/>
          <p:nvPr/>
        </p:nvGrpSpPr>
        <p:grpSpPr>
          <a:xfrm>
            <a:off x="0" y="0"/>
            <a:ext cx="19050000" cy="9525000"/>
            <a:chOff x="0" y="0"/>
            <a:chExt cx="19050000" cy="9525000"/>
          </a:xfrm>
        </p:grpSpPr>
        <p:sp>
          <p:nvSpPr>
            <p:cNvPr id="1003" name="academic-11-1003">
              <a:extLst>
                <a:ext uri="{FF2B5EF4-FFF2-40B4-BE49-F238E27FC236}">
                  <a16:creationId xmlns:a16="http://schemas.microsoft.com/office/drawing/2014/main" id="{AD65FFFA-1E1A-4F33-9E40-7C0D73B42A8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857250"/>
              <a:ext cx="12858750" cy="3048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664092"/>
                  </a:solidFill>
                  <a:latin typeface="Arial"/>
                  <a:ea typeface="Arial"/>
                  <a:cs typeface="Arial"/>
                </a:rPr>
                <a:t>CRÉDITOS · COMPRENDER ANTES DE PROPONER</a:t>
              </a:r>
            </a:p>
          </p:txBody>
        </p:sp>
        <p:sp>
          <p:nvSpPr>
            <p:cNvPr id="1004" name="academic-11-1004">
              <a:extLst>
                <a:ext uri="{FF2B5EF4-FFF2-40B4-BE49-F238E27FC236}">
                  <a16:creationId xmlns:a16="http://schemas.microsoft.com/office/drawing/2014/main" id="{AB36DB5D-CBD4-4F41-937E-18E17C33BC4E}"/>
                </a:ext>
              </a:extLst>
            </p:cNvPr>
            <p:cNvSpPr>
              <a:spLocks noGrp="1"/>
            </p:cNvSpPr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defRPr>
              </a:pPr>
              <a:r>
                <a:rPr sz="4500" b="1">
                  <a:solidFill>
                    <a:srgbClr val="3D2159"/>
                  </a:solidFill>
                  <a:latin typeface="Arial"/>
                  <a:ea typeface="Arial"/>
                  <a:cs typeface="Arial"/>
                </a:rPr>
                <a:t>Créditos de producción y postproducción</a:t>
              </a:r>
            </a:p>
          </p:txBody>
        </p:sp>
        <p:sp>
          <p:nvSpPr>
            <p:cNvPr id="1005" name="academic-11-1005">
              <a:extLst>
                <a:ext uri="{FF2B5EF4-FFF2-40B4-BE49-F238E27FC236}">
                  <a16:creationId xmlns:a16="http://schemas.microsoft.com/office/drawing/2014/main" id="{66E9838A-3F7F-43E6-A809-43393365C2C8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8953500"/>
              <a:ext cx="8286750" cy="323850"/>
            </a:xfrm>
            <a:prstGeom prst="rect">
              <a:avLst/>
            </a:prstGeom>
            <a:noFill/>
            <a:ln w="14288"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756F79"/>
                  </a:solidFill>
                  <a:latin typeface="Arial"/>
                  <a:ea typeface="Arial"/>
                  <a:cs typeface="Arial"/>
                </a:rPr>
                <a:t>Pensamiento de diseño · Definición y proceso</a:t>
              </a:r>
            </a:p>
          </p:txBody>
        </p:sp>
      </p:grpSp>
      <p:pic>
        <p:nvPicPr>
          <p:cNvPr id="170" name="Google Shape;170;h208d67e2cfb85e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934212"/>
            <a:ext cx="2218494" cy="17903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208d67e2cfb85eb7_0_0"/>
          <p:cNvSpPr/>
          <p:nvPr/>
        </p:nvSpPr>
        <p:spPr>
          <a:xfrm>
            <a:off x="1874519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8d67e2cfb85eb7_0_0"/>
          <p:cNvSpPr/>
          <p:nvPr/>
        </p:nvSpPr>
        <p:spPr>
          <a:xfrm>
            <a:off x="1874519" y="2697480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8d67e2cfb85eb7_0_0"/>
          <p:cNvSpPr txBox="1"/>
          <p:nvPr/>
        </p:nvSpPr>
        <p:spPr>
          <a:xfrm>
            <a:off x="2194560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174" name="Google Shape;174;h208d67e2cfb85eb7_0_0"/>
          <p:cNvSpPr txBox="1"/>
          <p:nvPr/>
        </p:nvSpPr>
        <p:spPr>
          <a:xfrm>
            <a:off x="2194560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175" name="Google Shape;175;h208d67e2cfb85eb7_0_0"/>
          <p:cNvSpPr/>
          <p:nvPr/>
        </p:nvSpPr>
        <p:spPr>
          <a:xfrm>
            <a:off x="9825227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8d67e2cfb85eb7_0_0"/>
          <p:cNvSpPr/>
          <p:nvPr/>
        </p:nvSpPr>
        <p:spPr>
          <a:xfrm>
            <a:off x="9825227" y="2697480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8d67e2cfb85eb7_0_0"/>
          <p:cNvSpPr txBox="1"/>
          <p:nvPr/>
        </p:nvSpPr>
        <p:spPr>
          <a:xfrm>
            <a:off x="10145267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178" name="Google Shape;178;h208d67e2cfb85eb7_0_0"/>
          <p:cNvSpPr txBox="1"/>
          <p:nvPr/>
        </p:nvSpPr>
        <p:spPr>
          <a:xfrm>
            <a:off x="10145267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179" name="Google Shape;179;h208d67e2cfb85eb7_0_0"/>
          <p:cNvSpPr/>
          <p:nvPr/>
        </p:nvSpPr>
        <p:spPr>
          <a:xfrm>
            <a:off x="1874519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8d67e2cfb85eb7_0_0"/>
          <p:cNvSpPr/>
          <p:nvPr/>
        </p:nvSpPr>
        <p:spPr>
          <a:xfrm>
            <a:off x="1874519" y="3776472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8d67e2cfb85eb7_0_0"/>
          <p:cNvSpPr txBox="1"/>
          <p:nvPr/>
        </p:nvSpPr>
        <p:spPr>
          <a:xfrm>
            <a:off x="2194560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182" name="Google Shape;182;h208d67e2cfb85eb7_0_0"/>
          <p:cNvSpPr txBox="1"/>
          <p:nvPr/>
        </p:nvSpPr>
        <p:spPr>
          <a:xfrm>
            <a:off x="2194560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183" name="Google Shape;183;h208d67e2cfb85eb7_0_0"/>
          <p:cNvSpPr/>
          <p:nvPr/>
        </p:nvSpPr>
        <p:spPr>
          <a:xfrm>
            <a:off x="9825227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8d67e2cfb85eb7_0_0"/>
          <p:cNvSpPr/>
          <p:nvPr/>
        </p:nvSpPr>
        <p:spPr>
          <a:xfrm>
            <a:off x="9825227" y="3776472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8d67e2cfb85eb7_0_0"/>
          <p:cNvSpPr txBox="1"/>
          <p:nvPr/>
        </p:nvSpPr>
        <p:spPr>
          <a:xfrm>
            <a:off x="10145267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186" name="Google Shape;186;h208d67e2cfb85eb7_0_0"/>
          <p:cNvSpPr txBox="1"/>
          <p:nvPr/>
        </p:nvSpPr>
        <p:spPr>
          <a:xfrm>
            <a:off x="10145267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Sergio Andrés Ocampo Rivera</a:t>
            </a:r>
            <a:endParaRPr/>
          </a:p>
        </p:txBody>
      </p:sp>
      <p:sp>
        <p:nvSpPr>
          <p:cNvPr id="187" name="Google Shape;187;h208d67e2cfb85eb7_0_0"/>
          <p:cNvSpPr/>
          <p:nvPr/>
        </p:nvSpPr>
        <p:spPr>
          <a:xfrm>
            <a:off x="1874519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8d67e2cfb85eb7_0_0"/>
          <p:cNvSpPr/>
          <p:nvPr/>
        </p:nvSpPr>
        <p:spPr>
          <a:xfrm>
            <a:off x="1874519" y="4855464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8d67e2cfb85eb7_0_0"/>
          <p:cNvSpPr txBox="1"/>
          <p:nvPr/>
        </p:nvSpPr>
        <p:spPr>
          <a:xfrm>
            <a:off x="2194560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190" name="Google Shape;190;h208d67e2cfb85eb7_0_0"/>
          <p:cNvSpPr txBox="1"/>
          <p:nvPr/>
        </p:nvSpPr>
        <p:spPr>
          <a:xfrm>
            <a:off x="2194560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191" name="Google Shape;191;h208d67e2cfb85eb7_0_0"/>
          <p:cNvSpPr/>
          <p:nvPr/>
        </p:nvSpPr>
        <p:spPr>
          <a:xfrm>
            <a:off x="9825227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8d67e2cfb85eb7_0_0"/>
          <p:cNvSpPr/>
          <p:nvPr/>
        </p:nvSpPr>
        <p:spPr>
          <a:xfrm>
            <a:off x="9825227" y="4855464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8d67e2cfb85eb7_0_0"/>
          <p:cNvSpPr txBox="1"/>
          <p:nvPr/>
        </p:nvSpPr>
        <p:spPr>
          <a:xfrm>
            <a:off x="10145267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194" name="Google Shape;194;h208d67e2cfb85eb7_0_0"/>
          <p:cNvSpPr txBox="1"/>
          <p:nvPr/>
        </p:nvSpPr>
        <p:spPr>
          <a:xfrm>
            <a:off x="10145267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195" name="Google Shape;195;h208d67e2cfb85eb7_0_0"/>
          <p:cNvSpPr/>
          <p:nvPr/>
        </p:nvSpPr>
        <p:spPr>
          <a:xfrm>
            <a:off x="1874519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8d67e2cfb85eb7_0_0"/>
          <p:cNvSpPr/>
          <p:nvPr/>
        </p:nvSpPr>
        <p:spPr>
          <a:xfrm>
            <a:off x="1874519" y="5934456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8d67e2cfb85eb7_0_0"/>
          <p:cNvSpPr txBox="1"/>
          <p:nvPr/>
        </p:nvSpPr>
        <p:spPr>
          <a:xfrm>
            <a:off x="2194560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MX" sz="1300">
                <a:solidFill>
                  <a:srgbClr val="2A56C6"/>
                </a:solidFill>
              </a:rPr>
              <a:t>d</a:t>
            </a: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198" name="Google Shape;198;h208d67e2cfb85eb7_0_0"/>
          <p:cNvSpPr txBox="1"/>
          <p:nvPr/>
        </p:nvSpPr>
        <p:spPr>
          <a:xfrm>
            <a:off x="2194560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199" name="Google Shape;199;h208d67e2cfb85eb7_0_0"/>
          <p:cNvSpPr/>
          <p:nvPr/>
        </p:nvSpPr>
        <p:spPr>
          <a:xfrm>
            <a:off x="9825227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8d67e2cfb85eb7_0_0"/>
          <p:cNvSpPr/>
          <p:nvPr/>
        </p:nvSpPr>
        <p:spPr>
          <a:xfrm>
            <a:off x="9825227" y="5934456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8d67e2cfb85eb7_0_0"/>
          <p:cNvSpPr txBox="1"/>
          <p:nvPr/>
        </p:nvSpPr>
        <p:spPr>
          <a:xfrm>
            <a:off x="10145267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202" name="Google Shape;202;h208d67e2cfb85eb7_0_0"/>
          <p:cNvSpPr txBox="1"/>
          <p:nvPr/>
        </p:nvSpPr>
        <p:spPr>
          <a:xfrm>
            <a:off x="10145267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203" name="Google Shape;203;h208d67e2cfb85eb7_0_0"/>
          <p:cNvSpPr txBox="1"/>
          <p:nvPr/>
        </p:nvSpPr>
        <p:spPr>
          <a:xfrm>
            <a:off x="1874519" y="7059168"/>
            <a:ext cx="15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195</Words>
  <Application>Microsoft Office PowerPoint</Application>
  <PresentationFormat>Personalizado</PresentationFormat>
  <Paragraphs>39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Walnut Exporter</dc:creator>
  <cp:lastModifiedBy>Julieta Marquez Gutierrez</cp:lastModifiedBy>
  <cp:revision>4</cp:revision>
  <dcterms:created xsi:type="dcterms:W3CDTF">2026-08-27T19:14:18Z</dcterms:created>
  <dcterms:modified xsi:type="dcterms:W3CDTF">2026-09-15T13:17:17Z</dcterms:modified>
</cp:coreProperties>
</file>