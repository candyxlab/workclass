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8" r:id="rId13"/>
    <p:sldId id="279" r:id="rId14"/>
    <p:sldId id="274" r:id="rId20"/>
    <p:sldId id="275" r:id="rId21"/>
  </p:sldIdLst>
  <p:sldSz cx="19050000" cy="109347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44">
          <p15:clr>
            <a:srgbClr val="A4A3A4"/>
          </p15:clr>
        </p15:guide>
        <p15:guide id="2" pos="5002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RLobvM1VNIuYSNzRCYEg55Tvn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00" y="-90"/>
      </p:cViewPr>
      <p:guideLst>
        <p:guide orient="horz" pos="3444"/>
        <p:guide pos="50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8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33"/>
              <a:buFont typeface="Arial"/>
              <a:buNone/>
            </a:pPr>
            <a:endParaRPr sz="28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12838" y="0"/>
            <a:ext cx="522605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9453" y="0"/>
            <a:ext cx="25011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702332"/>
            <a:ext cx="19050000" cy="152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45987" y="570075"/>
            <a:ext cx="6219825" cy="96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slide" Target="slide6.xml"/><Relationship Id="rId14" Type="http://schemas.openxmlformats.org/officeDocument/2006/relationships/slide" Target="slide7.xml"/><Relationship Id="rId15" Type="http://schemas.openxmlformats.org/officeDocument/2006/relationships/slide" Target="slide19.xml"/><Relationship Id="rId16" Type="http://schemas.openxmlformats.org/officeDocument/2006/relationships/slide" Target="slide1.xml"/><Relationship Id="rId20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1.png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9.xml"/><Relationship Id="rId13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1.xml"/><Relationship Id="rId10" Type="http://schemas.openxmlformats.org/officeDocument/2006/relationships/slide" Target="slide20.xml"/><Relationship Id="rId11" Type="http://schemas.openxmlformats.org/officeDocument/2006/relationships/image" Target="../media/image12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9.xml"/><Relationship Id="rId9" Type="http://schemas.openxmlformats.org/officeDocument/2006/relationships/slide" Target="slide1.xml"/><Relationship Id="rId11" Type="http://schemas.openxmlformats.org/officeDocument/2006/relationships/image" Target="../media/image12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4425" y="-177800"/>
            <a:ext cx="17123301" cy="111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4">
            <a:alphaModFix amt="35000"/>
          </a:blip>
          <a:srcRect l="27082"/>
          <a:stretch/>
        </p:blipFill>
        <p:spPr>
          <a:xfrm>
            <a:off x="2801486" y="-120650"/>
            <a:ext cx="9058927" cy="1117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0402" y="1245308"/>
            <a:ext cx="12845207" cy="8762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6400" y="-114301"/>
            <a:ext cx="9058926" cy="1116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658" y="4595812"/>
            <a:ext cx="2263176" cy="18264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6115750" y="5449075"/>
            <a:ext cx="9369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2800" b="0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Actividad formativa · Tema 1. Design Thinking: definición y proceso</a:t>
            </a:r>
            <a:endParaRPr sz="2800" b="0" i="0" u="none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>
            <a:hlinkClick action="ppaction://hlinksldjump" r:id="rId13"/>
          </p:cNvPr>
          <p:cNvSpPr/>
          <p:nvPr/>
        </p:nvSpPr>
        <p:spPr>
          <a:xfrm>
            <a:off x="6202428" y="8028299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>
            <a:hlinkClick action="ppaction://hlinksldjump" r:id="rId13"/>
          </p:cNvPr>
          <p:cNvSpPr/>
          <p:nvPr/>
        </p:nvSpPr>
        <p:spPr>
          <a:xfrm>
            <a:off x="6202428" y="7968768"/>
            <a:ext cx="3225900" cy="863100"/>
          </a:xfrm>
          <a:prstGeom prst="roundRect">
            <a:avLst>
              <a:gd name="adj" fmla="val 27586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2"/>
              <a:buFont typeface="Arial"/>
              <a:buNone/>
            </a:pPr>
            <a:r>
              <a:rPr lang="es-CO" sz="1992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Comenzar</a:t>
            </a:r>
            <a:endParaRPr sz="1992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75859" y="1067484"/>
            <a:ext cx="1191145" cy="118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078363" y="9342537"/>
            <a:ext cx="5185456" cy="87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65645" y="420404"/>
            <a:ext cx="2398173" cy="53998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6115751" y="1777100"/>
            <a:ext cx="1241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Cada fase tiene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6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un propósito</a:t>
            </a:r>
            <a:endParaRPr sz="7200" b="1" i="0" u="none" strike="noStrike" cap="none">
              <a:solidFill>
                <a:srgbClr val="0247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525915" y="10310812"/>
            <a:ext cx="1040267" cy="1040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>
            <a:hlinkClick action="ppaction://hlinksldjump" r:id="rId16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>
            <a:hlinkClick action="ppaction://hlinksldjump" r:id="rId16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" title="correcciones sapiencia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>
            <a:hlinkClick action="ppaction://hlinksldjump" r:id="rId16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3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3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4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4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5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5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3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3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1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1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3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3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3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 para llevar a cabo el cuestionario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>
            <a:hlinkClick action="ppaction://hlinksldjump" r:id="rId10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>
            <a:hlinkClick action="ppaction://hlinksldjump" r:id="rId10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11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11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>
            <a:hlinkClick action="ppaction://hlinksldjump" r:id="rId10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>
            <a:hlinkClick action="ppaction://hlinksldjump" r:id="rId10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>
            <a:hlinkClick action="ppaction://hlinksldjump" r:id="rId12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>
            <a:hlinkClick action="ppaction://hlinksldjump" r:id="rId12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>
            <a:hlinkClick action="ppaction://hlinksldjump" r:id="rId13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>
            <a:hlinkClick action="ppaction://hlinksldjump" r:id="rId13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 title="correcciones sapienci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>
            <a:hlinkClick action="ppaction://hlinksldjump" r:id="rId13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EMPAREJAMIENTO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4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Cada fase tiene un propósito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10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10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31">
            <a:hlinkClick action="ppaction://hlinksldjump" r:id="rId11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31">
            <a:hlinkClick action="ppaction://hlinksldjump" r:id="rId11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>
            <a:hlinkClick action="ppaction://hlinksldjump" r:id="rId12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>
            <a:hlinkClick action="ppaction://hlinksldjump" r:id="rId12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1EAFC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2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2">
            <a:hlinkClick action="ppaction://hlinksldjump" r:id="rId7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2">
            <a:hlinkClick action="ppaction://hlinksldjump" r:id="rId7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2">
            <a:hlinkClick action="ppaction://hlinksldjump" r:id="rId10"/>
          </p:cNvPr>
          <p:cNvSpPr/>
          <p:nvPr/>
        </p:nvSpPr>
        <p:spPr>
          <a:xfrm>
            <a:off x="6378374" y="9647639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C8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2">
            <a:hlinkClick action="ppaction://hlinksldjump" r:id="rId10"/>
          </p:cNvPr>
          <p:cNvSpPr/>
          <p:nvPr/>
        </p:nvSpPr>
        <p:spPr>
          <a:xfrm>
            <a:off x="6378374" y="9588108"/>
            <a:ext cx="2034900" cy="47640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Siguiente</a:t>
            </a:r>
            <a:endParaRPr sz="1578" b="1" i="0" u="sng" strike="noStrike" cap="none">
              <a:solidFill>
                <a:srgbClr val="663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32">
            <a:hlinkClick action="ppaction://hlinksldjump" r:id="rId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2">
            <a:hlinkClick action="ppaction://hlinksldjump" r:id="rId9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32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32">
            <a:hlinkClick action="ppaction://hlinksldjump" r:id="rId9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2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16" name="Google Shape;1116;p32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correcta</a:t>
            </a:r>
            <a:endParaRPr/>
          </a:p>
        </p:txBody>
      </p:sp>
      <p:sp>
        <p:nvSpPr>
          <p:cNvPr id="1117" name="Google Shape;1117;p32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3"/>
          <p:cNvSpPr/>
          <p:nvPr/>
        </p:nvSpPr>
        <p:spPr>
          <a:xfrm>
            <a:off x="0" y="0"/>
            <a:ext cx="3168000" cy="109347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3"/>
          <p:cNvSpPr/>
          <p:nvPr/>
        </p:nvSpPr>
        <p:spPr>
          <a:xfrm>
            <a:off x="3153046" y="0"/>
            <a:ext cx="15000" cy="10934700"/>
          </a:xfrm>
          <a:prstGeom prst="rect">
            <a:avLst/>
          </a:prstGeom>
          <a:solidFill>
            <a:srgbClr val="E0DA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3"/>
          <p:cNvSpPr/>
          <p:nvPr/>
        </p:nvSpPr>
        <p:spPr>
          <a:xfrm>
            <a:off x="191751" y="1550000"/>
            <a:ext cx="2784600" cy="14100"/>
          </a:xfrm>
          <a:prstGeom prst="rect">
            <a:avLst/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3">
            <a:hlinkClick action="ppaction://hlinksldjump" r:id="rId8"/>
          </p:cNvPr>
          <p:cNvSpPr/>
          <p:nvPr/>
        </p:nvSpPr>
        <p:spPr>
          <a:xfrm>
            <a:off x="4591655" y="9647639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3">
            <a:hlinkClick action="ppaction://hlinksldjump" r:id="rId8"/>
          </p:cNvPr>
          <p:cNvSpPr/>
          <p:nvPr/>
        </p:nvSpPr>
        <p:spPr>
          <a:xfrm>
            <a:off x="4591655" y="9588108"/>
            <a:ext cx="1588200" cy="47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75" cap="flat" cmpd="sng">
            <a:solidFill>
              <a:srgbClr val="664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825" tIns="59525" rIns="148825" bIns="595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8"/>
              <a:buFont typeface="Arial"/>
              <a:buNone/>
            </a:pPr>
            <a:r>
              <a:rPr lang="es-CO" sz="1578" b="1" i="0" u="none" strike="noStrike" cap="none">
                <a:solidFill>
                  <a:srgbClr val="663D8F"/>
                </a:solidFill>
                <a:latin typeface="Arial"/>
                <a:ea typeface="Arial"/>
                <a:cs typeface="Arial"/>
                <a:sym typeface="Arial"/>
              </a:rPr>
              <a:t>Anterior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3">
            <a:hlinkClick action="ppaction://hlinksldjump" r:id="rId9"/>
          </p:cNvPr>
          <p:cNvSpPr/>
          <p:nvPr/>
        </p:nvSpPr>
        <p:spPr>
          <a:xfrm>
            <a:off x="191792" y="399700"/>
            <a:ext cx="75000" cy="984000"/>
          </a:xfrm>
          <a:prstGeom prst="rect">
            <a:avLst/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3">
            <a:hlinkClick action="ppaction://hlinksldjump" r:id="rId9"/>
          </p:cNvPr>
          <p:cNvSpPr/>
          <p:nvPr/>
        </p:nvSpPr>
        <p:spPr>
          <a:xfrm>
            <a:off x="266825" y="399900"/>
            <a:ext cx="2709300" cy="984000"/>
          </a:xfrm>
          <a:prstGeom prst="roundRect">
            <a:avLst>
              <a:gd name="adj" fmla="val 14000"/>
            </a:avLst>
          </a:prstGeom>
          <a:solidFill>
            <a:srgbClr val="D1E0F2"/>
          </a:solidFill>
          <a:ln>
            <a:noFill/>
          </a:ln>
        </p:spPr>
        <p:txBody>
          <a:bodyPr spcFirstLastPara="1" wrap="square" lIns="160000" tIns="40000" rIns="100000" bIns="4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8" name="Google Shape;1158;p33" title="correcciones sapiencia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6783" y="600314"/>
            <a:ext cx="486192" cy="4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3">
            <a:hlinkClick action="ppaction://hlinksldjump" r:id="rId9"/>
          </p:cNvPr>
          <p:cNvSpPr txBox="1"/>
          <p:nvPr/>
        </p:nvSpPr>
        <p:spPr>
          <a:xfrm>
            <a:off x="939099" y="660838"/>
            <a:ext cx="154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Fases del diseño</a:t>
            </a:r>
            <a:endParaRPr sz="1200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O" sz="1200" b="1" i="1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 sz="1200" b="1" i="0" u="none" strike="noStrike" cap="none">
              <a:solidFill>
                <a:srgbClr val="A71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33"/>
          <p:cNvSpPr txBox="1"/>
          <p:nvPr/>
        </p:nvSpPr>
        <p:spPr>
          <a:xfrm>
            <a:off x="3886200" y="1417320"/>
            <a:ext cx="143560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600" b="1" i="0" u="none" strike="noStrike" cap="none">
                <a:solidFill>
                  <a:srgbClr val="A71989"/>
                </a:solidFill>
                <a:latin typeface="Arial"/>
                <a:ea typeface="Arial"/>
                <a:cs typeface="Arial"/>
                <a:sym typeface="Arial"/>
              </a:rPr>
              <a:t>ACTIVIDAD · RETROALIMENTACIÓN</a:t>
            </a:r>
            <a:endParaRPr/>
          </a:p>
        </p:txBody>
      </p:sp>
      <p:sp>
        <p:nvSpPr>
          <p:cNvPr id="1161" name="Google Shape;1161;p33"/>
          <p:cNvSpPr txBox="1"/>
          <p:nvPr/>
        </p:nvSpPr>
        <p:spPr>
          <a:xfrm>
            <a:off x="3886200" y="1847088"/>
            <a:ext cx="14356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Respuesta con errores</a:t>
            </a:r>
            <a:endParaRPr/>
          </a:p>
        </p:txBody>
      </p:sp>
      <p:sp>
        <p:nvSpPr>
          <p:cNvPr id="1162" name="Google Shape;1162;p33"/>
          <p:cNvSpPr/>
          <p:nvPr/>
        </p:nvSpPr>
        <p:spPr>
          <a:xfrm>
            <a:off x="388620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3"/>
          <p:cNvSpPr/>
          <p:nvPr/>
        </p:nvSpPr>
        <p:spPr>
          <a:xfrm>
            <a:off x="4110228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33"/>
          <p:cNvSpPr/>
          <p:nvPr/>
        </p:nvSpPr>
        <p:spPr>
          <a:xfrm>
            <a:off x="4334256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33"/>
          <p:cNvSpPr/>
          <p:nvPr/>
        </p:nvSpPr>
        <p:spPr>
          <a:xfrm>
            <a:off x="4558284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33"/>
          <p:cNvSpPr/>
          <p:nvPr/>
        </p:nvSpPr>
        <p:spPr>
          <a:xfrm>
            <a:off x="4782312" y="2873045"/>
            <a:ext cx="96012" cy="96012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3"/>
          <p:cNvSpPr/>
          <p:nvPr/>
        </p:nvSpPr>
        <p:spPr>
          <a:xfrm>
            <a:off x="5006340" y="2852928"/>
            <a:ext cx="137160" cy="13716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>
            <a:hlinkClick action="ppaction://hlinksldjump" r:id="rId6"/>
          </p:cNvPr>
          <p:cNvSpPr/>
          <p:nvPr/>
        </p:nvSpPr>
        <p:spPr>
          <a:xfrm>
            <a:off x="191751" y="1730000"/>
            <a:ext cx="75000" cy="2808116"/>
          </a:xfrm>
          <a:prstGeom prst="rect">
            <a:avLst/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>
            <a:hlinkClick action="ppaction://hlinksldjump" r:id="rId6"/>
          </p:cNvPr>
          <p:cNvSpPr/>
          <p:nvPr/>
        </p:nvSpPr>
        <p:spPr>
          <a:xfrm>
            <a:off x="266783" y="1730000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E6E0E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Antes de empezar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>
            <a:hlinkClick action="ppaction://hlinksldjump" r:id="rId7"/>
          </p:cNvPr>
          <p:cNvSpPr/>
          <p:nvPr/>
        </p:nvSpPr>
        <p:spPr>
          <a:xfrm>
            <a:off x="191751" y="4688232"/>
            <a:ext cx="75000" cy="2808116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>
            <a:hlinkClick action="ppaction://hlinksldjump" r:id="rId7"/>
          </p:cNvPr>
          <p:cNvSpPr/>
          <p:nvPr/>
        </p:nvSpPr>
        <p:spPr>
          <a:xfrm>
            <a:off x="266783" y="4688232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FFF8D6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Emparejamiento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4">
            <a:hlinkClick action="ppaction://hlinksldjump" r:id="rId8"/>
          </p:cNvPr>
          <p:cNvSpPr/>
          <p:nvPr/>
        </p:nvSpPr>
        <p:spPr>
          <a:xfrm>
            <a:off x="191751" y="7646464"/>
            <a:ext cx="75000" cy="2808116"/>
          </a:xfrm>
          <a:prstGeom prst="rect">
            <a:avLst/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4">
            <a:hlinkClick action="ppaction://hlinksldjump" r:id="rId8"/>
          </p:cNvPr>
          <p:cNvSpPr/>
          <p:nvPr/>
        </p:nvSpPr>
        <p:spPr>
          <a:xfrm>
            <a:off x="266783" y="7646464"/>
            <a:ext cx="2709600" cy="2808116"/>
          </a:xfrm>
          <a:prstGeom prst="roundRect">
            <a:avLst>
              <a:gd name="adj" fmla="val 10000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180000" tIns="90000" rIns="120000" bIns="90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Retroalimentación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Revisemos las respuestas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3304</Words>
  <Application>Microsoft Office PowerPoint</Application>
  <PresentationFormat>Personalizado</PresentationFormat>
  <Paragraphs>733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Walnut Exporter</dc:creator>
  <cp:lastModifiedBy>Valentina Orozco</cp:lastModifiedBy>
  <cp:revision>1</cp:revision>
  <dcterms:created xsi:type="dcterms:W3CDTF">2026-08-27T19:14:29Z</dcterms:created>
  <dcterms:modified xsi:type="dcterms:W3CDTF">2026-10-03T00:59:45Z</dcterms:modified>
</cp:coreProperties>
</file>