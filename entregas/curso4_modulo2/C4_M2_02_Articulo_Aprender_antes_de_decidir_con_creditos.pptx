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hTtyVq/HhacVMSIM5/7p0ZDOyc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3600277-58FE-4A55-9BCA-7DBED8A9FAE5}">
  <a:tblStyle styleId="{73600277-58FE-4A55-9BCA-7DBED8A9FAE5}"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b="off" i="off"/>
      <a:tcStyle>
        <a:fill>
          <a:solidFill>
            <a:srgbClr val="CAD1D8"/>
          </a:solidFill>
        </a:fill>
      </a:tcStyle>
    </a:band1H>
    <a:band2H>
      <a:tcTxStyle b="off" i="off"/>
    </a:band2H>
    <a:band1V>
      <a:tcTxStyle b="off" i="off"/>
      <a:tcStyle>
        <a:fill>
          <a:solidFill>
            <a:srgbClr val="CAD1D8"/>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 name="Google Shape;2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26" name="Google Shape;2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63" name="Google Shape;6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103" name="Google Shape;10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133" name="Google Shape;13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162" name="Google Shape;16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226" name="Google Shape;22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263" name="Google Shape;26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295" name="Google Shape;29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343" name="Google Shape;343;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383" name="Google Shape;38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430" name="Google Shape;430;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 name="Google Shape;44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444" name="Google Shape;444;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sp>
        <p:nvSpPr>
          <p:cNvPr id="16" name="Google Shape;16;p1"/>
          <p:cNvSpPr/>
          <p:nvPr/>
        </p:nvSpPr>
        <p:spPr>
          <a:xfrm>
            <a:off x="0" y="0"/>
            <a:ext cx="6858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 name="Google Shape;17;p1"/>
          <p:cNvSpPr/>
          <p:nvPr/>
        </p:nvSpPr>
        <p:spPr>
          <a:xfrm>
            <a:off x="609600" y="685255"/>
            <a:ext cx="2000250" cy="323850"/>
          </a:xfrm>
          <a:prstGeom prst="roundRect">
            <a:avLst>
              <a:gd fmla="val 50000" name="adj"/>
            </a:avLst>
          </a:prstGeom>
          <a:solidFill>
            <a:srgbClr val="6640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742950" y="770980"/>
            <a:ext cx="1733550" cy="17145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900"/>
              <a:buFont typeface="Arial"/>
              <a:buNone/>
            </a:pPr>
            <a:r>
              <a:rPr b="1" i="0" lang="es-MX" sz="900" u="none" cap="none" strike="noStrike">
                <a:solidFill>
                  <a:srgbClr val="E5E6ED"/>
                </a:solidFill>
                <a:latin typeface="Arial"/>
                <a:ea typeface="Arial"/>
                <a:cs typeface="Arial"/>
                <a:sym typeface="Arial"/>
              </a:rPr>
              <a:t>Artículo educativo</a:t>
            </a:r>
            <a:endParaRPr b="1" i="0" sz="900" u="none" cap="none" strike="noStrike">
              <a:solidFill>
                <a:srgbClr val="E5E6ED"/>
              </a:solidFill>
              <a:latin typeface="Arial"/>
              <a:ea typeface="Arial"/>
              <a:cs typeface="Arial"/>
              <a:sym typeface="Arial"/>
            </a:endParaRPr>
          </a:p>
        </p:txBody>
      </p:sp>
      <p:pic>
        <p:nvPicPr>
          <p:cNvPr id="19" name="Google Shape;19;p1"/>
          <p:cNvPicPr preferRelativeResize="0"/>
          <p:nvPr/>
        </p:nvPicPr>
        <p:blipFill rotWithShape="1">
          <a:blip r:embed="rId4">
            <a:alphaModFix/>
          </a:blip>
          <a:srcRect b="15953" l="39338" r="7566" t="45717"/>
          <a:stretch/>
        </p:blipFill>
        <p:spPr>
          <a:xfrm>
            <a:off x="2682240" y="4528458"/>
            <a:ext cx="3718500" cy="3796800"/>
          </a:xfrm>
          <a:prstGeom prst="flowChartConnector">
            <a:avLst/>
          </a:prstGeom>
          <a:noFill/>
          <a:ln>
            <a:noFill/>
          </a:ln>
        </p:spPr>
      </p:pic>
      <p:grpSp>
        <p:nvGrpSpPr>
          <p:cNvPr id="20" name="Google Shape;20;p1"/>
          <p:cNvGrpSpPr/>
          <p:nvPr/>
        </p:nvGrpSpPr>
        <p:grpSpPr>
          <a:xfrm>
            <a:off x="609600" y="1352550"/>
            <a:ext cx="5638800" cy="2800350"/>
            <a:chOff x="609600" y="1352550"/>
            <a:chExt cx="5638800" cy="2800350"/>
          </a:xfrm>
        </p:grpSpPr>
        <p:sp>
          <p:nvSpPr>
            <p:cNvPr id="21" name="Google Shape;21;p1"/>
            <p:cNvSpPr/>
            <p:nvPr/>
          </p:nvSpPr>
          <p:spPr>
            <a:xfrm>
              <a:off x="609600" y="1352550"/>
              <a:ext cx="5638800" cy="152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2400" u="none" cap="none" strike="noStrike">
                  <a:solidFill>
                    <a:srgbClr val="333238"/>
                  </a:solidFill>
                  <a:latin typeface="Arial"/>
                  <a:ea typeface="Arial"/>
                  <a:cs typeface="Arial"/>
                  <a:sym typeface="Arial"/>
                </a:rPr>
                <a:t>Aprender antes de decidir qué solución construir</a:t>
              </a:r>
              <a:endParaRPr/>
            </a:p>
          </p:txBody>
        </p:sp>
        <p:sp>
          <p:nvSpPr>
            <p:cNvPr id="22" name="Google Shape;22;p1"/>
            <p:cNvSpPr/>
            <p:nvPr/>
          </p:nvSpPr>
          <p:spPr>
            <a:xfrm>
              <a:off x="609600" y="3133725"/>
              <a:ext cx="5276850" cy="10191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De los supuestos iniciales a decisiones sustentadas en aprendizaje y evidencia.</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2"/>
          <p:cNvSpPr/>
          <p:nvPr/>
        </p:nvSpPr>
        <p:spPr>
          <a:xfrm>
            <a:off x="876300" y="9067800"/>
            <a:ext cx="457200" cy="19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chemeClr val="lt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876300" y="723900"/>
            <a:ext cx="39052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Pensamiento de diseño</a:t>
            </a:r>
            <a:endParaRPr b="0" i="0" sz="1400" u="none" cap="none" strike="noStrike">
              <a:solidFill>
                <a:srgbClr val="000000"/>
              </a:solidFill>
              <a:latin typeface="Arial"/>
              <a:ea typeface="Arial"/>
              <a:cs typeface="Arial"/>
              <a:sym typeface="Arial"/>
            </a:endParaRPr>
          </a:p>
        </p:txBody>
      </p:sp>
      <p:cxnSp>
        <p:nvCxnSpPr>
          <p:cNvPr id="30" name="Google Shape;30;p2"/>
          <p:cNvCxnSpPr/>
          <p:nvPr/>
        </p:nvCxnSpPr>
        <p:spPr>
          <a:xfrm>
            <a:off x="984006" y="2498480"/>
            <a:ext cx="959094" cy="0"/>
          </a:xfrm>
          <a:prstGeom prst="straightConnector1">
            <a:avLst/>
          </a:prstGeom>
          <a:noFill/>
          <a:ln cap="flat" cmpd="sng" w="53975">
            <a:solidFill>
              <a:srgbClr val="73CDEB"/>
            </a:solidFill>
            <a:prstDash val="solid"/>
            <a:round/>
            <a:headEnd len="med" w="med" type="oval"/>
            <a:tailEnd len="med" w="med" type="oval"/>
          </a:ln>
        </p:spPr>
      </p:cxnSp>
      <p:grpSp>
        <p:nvGrpSpPr>
          <p:cNvPr id="31" name="Google Shape;31;p2"/>
          <p:cNvGrpSpPr/>
          <p:nvPr/>
        </p:nvGrpSpPr>
        <p:grpSpPr>
          <a:xfrm>
            <a:off x="876300" y="1381125"/>
            <a:ext cx="5334000" cy="6915150"/>
            <a:chOff x="876300" y="1381125"/>
            <a:chExt cx="5334000" cy="6915150"/>
          </a:xfrm>
        </p:grpSpPr>
        <p:sp>
          <p:nvSpPr>
            <p:cNvPr id="32" name="Google Shape;32;p2"/>
            <p:cNvSpPr/>
            <p:nvPr/>
          </p:nvSpPr>
          <p:spPr>
            <a:xfrm>
              <a:off x="876300" y="1381125"/>
              <a:ext cx="5334000" cy="100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2400" u="none" cap="none" strike="noStrike">
                  <a:solidFill>
                    <a:srgbClr val="664092"/>
                  </a:solidFill>
                  <a:latin typeface="Arial"/>
                  <a:ea typeface="Arial"/>
                  <a:cs typeface="Arial"/>
                  <a:sym typeface="Arial"/>
                </a:rPr>
                <a:t>Mapa de lectura</a:t>
              </a:r>
              <a:endParaRPr/>
            </a:p>
          </p:txBody>
        </p:sp>
        <p:sp>
          <p:nvSpPr>
            <p:cNvPr id="33" name="Google Shape;33;p2"/>
            <p:cNvSpPr/>
            <p:nvPr/>
          </p:nvSpPr>
          <p:spPr>
            <a:xfrm>
              <a:off x="876300" y="2819400"/>
              <a:ext cx="5105400" cy="1419225"/>
            </a:xfrm>
            <a:prstGeom prst="roundRect">
              <a:avLst>
                <a:gd fmla="val 14765"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1095375" y="2990850"/>
              <a:ext cx="4667250" cy="3143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Resultado de aprendizaje</a:t>
              </a:r>
              <a:endParaRPr/>
            </a:p>
          </p:txBody>
        </p:sp>
        <p:sp>
          <p:nvSpPr>
            <p:cNvPr id="35" name="Google Shape;35;p2"/>
            <p:cNvSpPr/>
            <p:nvPr/>
          </p:nvSpPr>
          <p:spPr>
            <a:xfrm>
              <a:off x="1095375" y="3419475"/>
              <a:ext cx="4667250" cy="742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333238"/>
                  </a:solidFill>
                  <a:latin typeface="Arial"/>
                  <a:ea typeface="Arial"/>
                  <a:cs typeface="Arial"/>
                  <a:sym typeface="Arial"/>
                </a:rPr>
                <a:t>Analizar cómo la comprensión de las personas, la experimentación y la evidencia permiten cuestionar supuestos, aprender de las pruebas y tomar decisiones más fundamentadas antes de implementar una solución.</a:t>
              </a:r>
              <a:endParaRPr/>
            </a:p>
          </p:txBody>
        </p:sp>
        <p:sp>
          <p:nvSpPr>
            <p:cNvPr id="36" name="Google Shape;36;p2"/>
            <p:cNvSpPr/>
            <p:nvPr/>
          </p:nvSpPr>
          <p:spPr>
            <a:xfrm>
              <a:off x="876300" y="4610100"/>
              <a:ext cx="5105400" cy="742950"/>
            </a:xfrm>
            <a:prstGeom prst="roundRect">
              <a:avLst>
                <a:gd fmla="val 28205" name="adj"/>
              </a:avLst>
            </a:prstGeom>
            <a:solidFill>
              <a:srgbClr val="D4C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876300" y="4562475"/>
              <a:ext cx="5105400" cy="742950"/>
            </a:xfrm>
            <a:prstGeom prst="roundRect">
              <a:avLst>
                <a:gd fmla="val 28205" name="adj"/>
              </a:avLst>
            </a:prstGeom>
            <a:solidFill>
              <a:srgbClr val="FFFFFF"/>
            </a:solidFill>
            <a:ln cap="flat" cmpd="sng" w="9525">
              <a:solidFill>
                <a:srgbClr val="D4CE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876300" y="4562475"/>
              <a:ext cx="723900" cy="742950"/>
            </a:xfrm>
            <a:prstGeom prst="roundRect">
              <a:avLst>
                <a:gd fmla="val 27632" name="adj"/>
              </a:avLst>
            </a:prstGeom>
            <a:solidFill>
              <a:srgbClr val="6CC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971550" y="4791075"/>
              <a:ext cx="523875" cy="3143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700" u="none" cap="none" strike="noStrike">
                  <a:solidFill>
                    <a:srgbClr val="FFFFFF"/>
                  </a:solidFill>
                  <a:latin typeface="Arial"/>
                  <a:ea typeface="Arial"/>
                  <a:cs typeface="Arial"/>
                  <a:sym typeface="Arial"/>
                </a:rPr>
                <a:t>01</a:t>
              </a:r>
              <a:endParaRPr/>
            </a:p>
          </p:txBody>
        </p:sp>
        <p:sp>
          <p:nvSpPr>
            <p:cNvPr id="40" name="Google Shape;40;p2"/>
            <p:cNvSpPr/>
            <p:nvPr/>
          </p:nvSpPr>
          <p:spPr>
            <a:xfrm>
              <a:off x="1828800" y="4676775"/>
              <a:ext cx="4000500" cy="3143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CUESTIONAR</a:t>
              </a:r>
              <a:endParaRPr/>
            </a:p>
          </p:txBody>
        </p:sp>
        <p:sp>
          <p:nvSpPr>
            <p:cNvPr id="41" name="Google Shape;41;p2"/>
            <p:cNvSpPr/>
            <p:nvPr/>
          </p:nvSpPr>
          <p:spPr>
            <a:xfrm>
              <a:off x="1828800" y="5019675"/>
              <a:ext cx="4000500" cy="2571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De los supuestos a las preguntas.</a:t>
              </a:r>
              <a:endParaRPr/>
            </a:p>
          </p:txBody>
        </p:sp>
        <p:sp>
          <p:nvSpPr>
            <p:cNvPr id="42" name="Google Shape;42;p2"/>
            <p:cNvSpPr/>
            <p:nvPr/>
          </p:nvSpPr>
          <p:spPr>
            <a:xfrm>
              <a:off x="876300" y="5591175"/>
              <a:ext cx="5105400" cy="742950"/>
            </a:xfrm>
            <a:prstGeom prst="roundRect">
              <a:avLst>
                <a:gd fmla="val 28205" name="adj"/>
              </a:avLst>
            </a:prstGeom>
            <a:solidFill>
              <a:srgbClr val="D4C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876300" y="5543550"/>
              <a:ext cx="5105400" cy="742950"/>
            </a:xfrm>
            <a:prstGeom prst="roundRect">
              <a:avLst>
                <a:gd fmla="val 28205" name="adj"/>
              </a:avLst>
            </a:prstGeom>
            <a:solidFill>
              <a:srgbClr val="FFFFFF"/>
            </a:solidFill>
            <a:ln cap="flat" cmpd="sng" w="9525">
              <a:solidFill>
                <a:srgbClr val="D4CE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876300" y="5543550"/>
              <a:ext cx="723900" cy="742950"/>
            </a:xfrm>
            <a:prstGeom prst="roundRect">
              <a:avLst>
                <a:gd fmla="val 27632" name="adj"/>
              </a:avLst>
            </a:prstGeom>
            <a:solidFill>
              <a:srgbClr val="6640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971550" y="5772150"/>
              <a:ext cx="523875" cy="3143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700" u="none" cap="none" strike="noStrike">
                  <a:solidFill>
                    <a:srgbClr val="FFFFFF"/>
                  </a:solidFill>
                  <a:latin typeface="Arial"/>
                  <a:ea typeface="Arial"/>
                  <a:cs typeface="Arial"/>
                  <a:sym typeface="Arial"/>
                </a:rPr>
                <a:t>02</a:t>
              </a:r>
              <a:endParaRPr/>
            </a:p>
          </p:txBody>
        </p:sp>
        <p:sp>
          <p:nvSpPr>
            <p:cNvPr id="46" name="Google Shape;46;p2"/>
            <p:cNvSpPr/>
            <p:nvPr/>
          </p:nvSpPr>
          <p:spPr>
            <a:xfrm>
              <a:off x="1828800" y="5657850"/>
              <a:ext cx="4000500" cy="3143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EXPERIMENTAR</a:t>
              </a:r>
              <a:endParaRPr/>
            </a:p>
          </p:txBody>
        </p:sp>
        <p:sp>
          <p:nvSpPr>
            <p:cNvPr id="47" name="Google Shape;47;p2"/>
            <p:cNvSpPr/>
            <p:nvPr/>
          </p:nvSpPr>
          <p:spPr>
            <a:xfrm>
              <a:off x="1828800" y="6000750"/>
              <a:ext cx="4000500" cy="2571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De la idea a algo que podemos probar.</a:t>
              </a:r>
              <a:endParaRPr/>
            </a:p>
          </p:txBody>
        </p:sp>
        <p:sp>
          <p:nvSpPr>
            <p:cNvPr id="48" name="Google Shape;48;p2"/>
            <p:cNvSpPr/>
            <p:nvPr/>
          </p:nvSpPr>
          <p:spPr>
            <a:xfrm>
              <a:off x="876300" y="6572250"/>
              <a:ext cx="5105400" cy="742950"/>
            </a:xfrm>
            <a:prstGeom prst="roundRect">
              <a:avLst>
                <a:gd fmla="val 28205" name="adj"/>
              </a:avLst>
            </a:prstGeom>
            <a:solidFill>
              <a:srgbClr val="D4C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876300" y="6524625"/>
              <a:ext cx="5105400" cy="742950"/>
            </a:xfrm>
            <a:prstGeom prst="roundRect">
              <a:avLst>
                <a:gd fmla="val 28205" name="adj"/>
              </a:avLst>
            </a:prstGeom>
            <a:solidFill>
              <a:srgbClr val="FFFFFF"/>
            </a:solidFill>
            <a:ln cap="flat" cmpd="sng" w="9525">
              <a:solidFill>
                <a:srgbClr val="D4CE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876300" y="6524625"/>
              <a:ext cx="723900" cy="742950"/>
            </a:xfrm>
            <a:prstGeom prst="roundRect">
              <a:avLst>
                <a:gd fmla="val 27632" name="adj"/>
              </a:avLst>
            </a:prstGeom>
            <a:solidFill>
              <a:srgbClr val="4478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971550" y="6753225"/>
              <a:ext cx="523875" cy="3143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700" u="none" cap="none" strike="noStrike">
                  <a:solidFill>
                    <a:srgbClr val="FFFFFF"/>
                  </a:solidFill>
                  <a:latin typeface="Arial"/>
                  <a:ea typeface="Arial"/>
                  <a:cs typeface="Arial"/>
                  <a:sym typeface="Arial"/>
                </a:rPr>
                <a:t>03</a:t>
              </a:r>
              <a:endParaRPr/>
            </a:p>
          </p:txBody>
        </p:sp>
        <p:sp>
          <p:nvSpPr>
            <p:cNvPr id="52" name="Google Shape;52;p2"/>
            <p:cNvSpPr/>
            <p:nvPr/>
          </p:nvSpPr>
          <p:spPr>
            <a:xfrm>
              <a:off x="1828800" y="6638925"/>
              <a:ext cx="4000500" cy="3143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APRENDER</a:t>
              </a:r>
              <a:endParaRPr/>
            </a:p>
          </p:txBody>
        </p:sp>
        <p:sp>
          <p:nvSpPr>
            <p:cNvPr id="53" name="Google Shape;53;p2"/>
            <p:cNvSpPr/>
            <p:nvPr/>
          </p:nvSpPr>
          <p:spPr>
            <a:xfrm>
              <a:off x="1828800" y="6981825"/>
              <a:ext cx="4000500" cy="2571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De la reacción a la evidencia.</a:t>
              </a:r>
              <a:endParaRPr/>
            </a:p>
          </p:txBody>
        </p:sp>
        <p:sp>
          <p:nvSpPr>
            <p:cNvPr id="54" name="Google Shape;54;p2"/>
            <p:cNvSpPr/>
            <p:nvPr/>
          </p:nvSpPr>
          <p:spPr>
            <a:xfrm>
              <a:off x="876300" y="7553325"/>
              <a:ext cx="5105400" cy="742950"/>
            </a:xfrm>
            <a:prstGeom prst="roundRect">
              <a:avLst>
                <a:gd fmla="val 28205" name="adj"/>
              </a:avLst>
            </a:prstGeom>
            <a:solidFill>
              <a:srgbClr val="D4C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876300" y="7505700"/>
              <a:ext cx="5105400" cy="742950"/>
            </a:xfrm>
            <a:prstGeom prst="roundRect">
              <a:avLst>
                <a:gd fmla="val 28205" name="adj"/>
              </a:avLst>
            </a:prstGeom>
            <a:solidFill>
              <a:srgbClr val="FFFFFF"/>
            </a:solidFill>
            <a:ln cap="flat" cmpd="sng" w="9525">
              <a:solidFill>
                <a:srgbClr val="D4CE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876300" y="7505700"/>
              <a:ext cx="723900" cy="742950"/>
            </a:xfrm>
            <a:prstGeom prst="roundRect">
              <a:avLst>
                <a:gd fmla="val 27632" name="adj"/>
              </a:avLst>
            </a:prstGeom>
            <a:solidFill>
              <a:srgbClr val="064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971550" y="7734300"/>
              <a:ext cx="523875" cy="3143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700" u="none" cap="none" strike="noStrike">
                  <a:solidFill>
                    <a:srgbClr val="FFFFFF"/>
                  </a:solidFill>
                  <a:latin typeface="Arial"/>
                  <a:ea typeface="Arial"/>
                  <a:cs typeface="Arial"/>
                  <a:sym typeface="Arial"/>
                </a:rPr>
                <a:t>04</a:t>
              </a:r>
              <a:endParaRPr/>
            </a:p>
          </p:txBody>
        </p:sp>
        <p:sp>
          <p:nvSpPr>
            <p:cNvPr id="58" name="Google Shape;58;p2"/>
            <p:cNvSpPr/>
            <p:nvPr/>
          </p:nvSpPr>
          <p:spPr>
            <a:xfrm>
              <a:off x="1828800" y="7620000"/>
              <a:ext cx="4000500" cy="3143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DECIDIR</a:t>
              </a:r>
              <a:endParaRPr/>
            </a:p>
          </p:txBody>
        </p:sp>
        <p:sp>
          <p:nvSpPr>
            <p:cNvPr id="59" name="Google Shape;59;p2"/>
            <p:cNvSpPr/>
            <p:nvPr/>
          </p:nvSpPr>
          <p:spPr>
            <a:xfrm>
              <a:off x="1828800" y="7962900"/>
              <a:ext cx="4000500" cy="2571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De los hallazgos al siguiente movimiento.</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p:nvPr/>
        </p:nvSpPr>
        <p:spPr>
          <a:xfrm>
            <a:off x="876300" y="9067800"/>
            <a:ext cx="457200" cy="19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chemeClr val="lt1"/>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66" name="Google Shape;66;p3"/>
          <p:cNvSpPr/>
          <p:nvPr/>
        </p:nvSpPr>
        <p:spPr>
          <a:xfrm>
            <a:off x="876300" y="723900"/>
            <a:ext cx="39052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Pensamiento de diseño</a:t>
            </a:r>
            <a:endParaRPr b="0" i="0" sz="1400" u="none" cap="none" strike="noStrike">
              <a:solidFill>
                <a:srgbClr val="000000"/>
              </a:solidFill>
              <a:latin typeface="Arial"/>
              <a:ea typeface="Arial"/>
              <a:cs typeface="Arial"/>
              <a:sym typeface="Arial"/>
            </a:endParaRPr>
          </a:p>
        </p:txBody>
      </p:sp>
      <p:cxnSp>
        <p:nvCxnSpPr>
          <p:cNvPr id="67" name="Google Shape;67;p3"/>
          <p:cNvCxnSpPr/>
          <p:nvPr/>
        </p:nvCxnSpPr>
        <p:spPr>
          <a:xfrm>
            <a:off x="984006" y="2498480"/>
            <a:ext cx="959094" cy="0"/>
          </a:xfrm>
          <a:prstGeom prst="straightConnector1">
            <a:avLst/>
          </a:prstGeom>
          <a:noFill/>
          <a:ln cap="flat" cmpd="sng" w="53975">
            <a:solidFill>
              <a:srgbClr val="73CDEB"/>
            </a:solidFill>
            <a:prstDash val="solid"/>
            <a:round/>
            <a:headEnd len="med" w="med" type="oval"/>
            <a:tailEnd len="med" w="med" type="oval"/>
          </a:ln>
        </p:spPr>
      </p:cxnSp>
      <p:grpSp>
        <p:nvGrpSpPr>
          <p:cNvPr id="68" name="Google Shape;68;p3"/>
          <p:cNvGrpSpPr/>
          <p:nvPr/>
        </p:nvGrpSpPr>
        <p:grpSpPr>
          <a:xfrm>
            <a:off x="876300" y="1381125"/>
            <a:ext cx="5334000" cy="7515225"/>
            <a:chOff x="876300" y="1381125"/>
            <a:chExt cx="5334000" cy="7515225"/>
          </a:xfrm>
        </p:grpSpPr>
        <p:sp>
          <p:nvSpPr>
            <p:cNvPr id="69" name="Google Shape;69;p3"/>
            <p:cNvSpPr/>
            <p:nvPr/>
          </p:nvSpPr>
          <p:spPr>
            <a:xfrm>
              <a:off x="876300" y="1381125"/>
              <a:ext cx="5334000" cy="100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2400" u="none" cap="none" strike="noStrike">
                  <a:solidFill>
                    <a:srgbClr val="664092"/>
                  </a:solidFill>
                  <a:latin typeface="Arial"/>
                  <a:ea typeface="Arial"/>
                  <a:cs typeface="Arial"/>
                  <a:sym typeface="Arial"/>
                </a:rPr>
                <a:t>De los supuestos a las preguntas</a:t>
              </a:r>
              <a:endParaRPr/>
            </a:p>
          </p:txBody>
        </p:sp>
        <p:sp>
          <p:nvSpPr>
            <p:cNvPr id="70" name="Google Shape;70;p3"/>
            <p:cNvSpPr/>
            <p:nvPr/>
          </p:nvSpPr>
          <p:spPr>
            <a:xfrm>
              <a:off x="876300" y="2781300"/>
              <a:ext cx="5334000" cy="10953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Cuando trabajamos en un problema podemos creer que conocemos suficientemente a las personas porque tenemos experiencia en el sector, hemos vivido una situación semejante o contamos con información previa. Sin embargo, nuestra perspectiva puede no coincidir con las circunstancias de quienes experimentan realmente el problema.</a:t>
              </a:r>
              <a:endParaRPr/>
            </a:p>
          </p:txBody>
        </p:sp>
        <p:sp>
          <p:nvSpPr>
            <p:cNvPr id="71" name="Google Shape;71;p3"/>
            <p:cNvSpPr/>
            <p:nvPr/>
          </p:nvSpPr>
          <p:spPr>
            <a:xfrm>
              <a:off x="876300" y="3981450"/>
              <a:ext cx="5334000" cy="10763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El pensamiento de diseño propone una actitud diferente: no buscamos demostrar que nuestra primera idea es correcta, sino aumentar progresivamente nuestra comprensión. Para ello observamos, escuchamos e interpretamos comportamientos, motivaciones, frustraciones y condiciones del contexto.</a:t>
              </a:r>
              <a:endParaRPr/>
            </a:p>
          </p:txBody>
        </p:sp>
        <p:sp>
          <p:nvSpPr>
            <p:cNvPr id="72" name="Google Shape;72;p3"/>
            <p:cNvSpPr/>
            <p:nvPr/>
          </p:nvSpPr>
          <p:spPr>
            <a:xfrm>
              <a:off x="876300" y="5162550"/>
              <a:ext cx="5334000" cy="7524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Comprender implica comenzar con preguntas abiertas: ¿cómo aparece la necesidad?, ¿cuándo ocurre?, ¿qué consecuencias genera?, ¿cómo intenta resolverla actualmente la persona?, ¿qué dificultades encuentra?</a:t>
              </a:r>
              <a:endParaRPr/>
            </a:p>
          </p:txBody>
        </p:sp>
        <p:sp>
          <p:nvSpPr>
            <p:cNvPr id="73" name="Google Shape;73;p3"/>
            <p:cNvSpPr/>
            <p:nvPr/>
          </p:nvSpPr>
          <p:spPr>
            <a:xfrm>
              <a:off x="876300" y="6057900"/>
              <a:ext cx="5334000" cy="4286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Así evitamos diseñar para usuarios imaginados y comenzamos a diseñar a partir de usuarios comprendidos.</a:t>
              </a:r>
              <a:endParaRPr/>
            </a:p>
          </p:txBody>
        </p:sp>
        <p:sp>
          <p:nvSpPr>
            <p:cNvPr id="74" name="Google Shape;74;p3"/>
            <p:cNvSpPr/>
            <p:nvPr/>
          </p:nvSpPr>
          <p:spPr>
            <a:xfrm>
              <a:off x="876300" y="6705600"/>
              <a:ext cx="5334000" cy="4000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Figura 1. Del supuesto a la pregunta</a:t>
              </a:r>
              <a:endParaRPr/>
            </a:p>
          </p:txBody>
        </p:sp>
        <p:sp>
          <p:nvSpPr>
            <p:cNvPr id="75" name="Google Shape;75;p3"/>
            <p:cNvSpPr/>
            <p:nvPr/>
          </p:nvSpPr>
          <p:spPr>
            <a:xfrm>
              <a:off x="876300" y="7258050"/>
              <a:ext cx="1219200" cy="1638300"/>
            </a:xfrm>
            <a:prstGeom prst="roundRect">
              <a:avLst>
                <a:gd fmla="val 13281"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876300" y="7258050"/>
              <a:ext cx="1219200" cy="47625"/>
            </a:xfrm>
            <a:prstGeom prst="roundRect">
              <a:avLst>
                <a:gd fmla="val 40000" name="adj"/>
              </a:avLst>
            </a:prstGeom>
            <a:solidFill>
              <a:srgbClr val="6CC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971550" y="7439025"/>
              <a:ext cx="1028700" cy="6572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064D95"/>
                  </a:solidFill>
                  <a:latin typeface="Arial"/>
                  <a:ea typeface="Arial"/>
                  <a:cs typeface="Arial"/>
                  <a:sym typeface="Arial"/>
                </a:rPr>
                <a:t>SUPUESTO</a:t>
              </a:r>
              <a:endParaRPr/>
            </a:p>
          </p:txBody>
        </p:sp>
        <p:sp>
          <p:nvSpPr>
            <p:cNvPr id="78" name="Google Shape;78;p3"/>
            <p:cNvSpPr/>
            <p:nvPr/>
          </p:nvSpPr>
          <p:spPr>
            <a:xfrm>
              <a:off x="971550" y="8124825"/>
              <a:ext cx="1028700" cy="723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s-MX" sz="1000">
                  <a:solidFill>
                    <a:srgbClr val="333238"/>
                  </a:solidFill>
                  <a:latin typeface="Arial"/>
                  <a:ea typeface="Arial"/>
                  <a:cs typeface="Arial"/>
                  <a:sym typeface="Arial"/>
                </a:rPr>
                <a:t>«</a:t>
              </a:r>
              <a:r>
                <a:rPr b="0" i="0" lang="es-MX" sz="1000" u="none" cap="none" strike="noStrike">
                  <a:solidFill>
                    <a:srgbClr val="333238"/>
                  </a:solidFill>
                  <a:latin typeface="Arial"/>
                  <a:ea typeface="Arial"/>
                  <a:cs typeface="Arial"/>
                  <a:sym typeface="Arial"/>
                </a:rPr>
                <a:t>Creemos que sabemos qué necesita</a:t>
              </a:r>
              <a:r>
                <a:rPr lang="es-MX" sz="1000">
                  <a:solidFill>
                    <a:srgbClr val="333238"/>
                  </a:solidFill>
                  <a:latin typeface="Arial"/>
                  <a:ea typeface="Arial"/>
                  <a:cs typeface="Arial"/>
                  <a:sym typeface="Arial"/>
                </a:rPr>
                <a:t>»</a:t>
              </a:r>
              <a:r>
                <a:rPr b="0" i="0" lang="es-MX" sz="1000" u="none" cap="none" strike="noStrike">
                  <a:solidFill>
                    <a:srgbClr val="333238"/>
                  </a:solidFill>
                  <a:latin typeface="Arial"/>
                  <a:ea typeface="Arial"/>
                  <a:cs typeface="Arial"/>
                  <a:sym typeface="Arial"/>
                </a:rPr>
                <a:t>.</a:t>
              </a:r>
              <a:endParaRPr/>
            </a:p>
          </p:txBody>
        </p:sp>
        <p:sp>
          <p:nvSpPr>
            <p:cNvPr id="79" name="Google Shape;79;p3"/>
            <p:cNvSpPr/>
            <p:nvPr/>
          </p:nvSpPr>
          <p:spPr>
            <a:xfrm>
              <a:off x="2133600" y="8020050"/>
              <a:ext cx="76200" cy="953"/>
            </a:xfrm>
            <a:custGeom>
              <a:rect b="b" l="l" r="r" t="t"/>
              <a:pathLst>
                <a:path extrusionOk="0" h="953" w="76200">
                  <a:moveTo>
                    <a:pt x="0" y="0"/>
                  </a:moveTo>
                  <a:lnTo>
                    <a:pt x="76200" y="0"/>
                  </a:lnTo>
                </a:path>
              </a:pathLst>
            </a:custGeom>
            <a:noFill/>
            <a:ln cap="flat" cmpd="sng" w="14275">
              <a:solidFill>
                <a:srgbClr val="664092"/>
              </a:solidFill>
              <a:prstDash val="solid"/>
              <a:round/>
              <a:headEnd len="sm" w="sm" type="none"/>
              <a:tailEnd len="sm" w="sm" type="none"/>
            </a:ln>
          </p:spPr>
          <p:txBody>
            <a:bodyPr/>
            <a:p/>
          </p:txBody>
        </p:sp>
        <p:sp>
          <p:nvSpPr>
            <p:cNvPr id="80" name="Google Shape;80;p3"/>
            <p:cNvSpPr/>
            <p:nvPr/>
          </p:nvSpPr>
          <p:spPr>
            <a:xfrm>
              <a:off x="2161078" y="8020050"/>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txBody>
            <a:bodyPr/>
            <a:p/>
          </p:txBody>
        </p:sp>
        <p:sp>
          <p:nvSpPr>
            <p:cNvPr id="81" name="Google Shape;81;p3"/>
            <p:cNvSpPr/>
            <p:nvPr/>
          </p:nvSpPr>
          <p:spPr>
            <a:xfrm>
              <a:off x="2161078" y="7990178"/>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txBody>
            <a:bodyPr/>
            <a:p/>
          </p:txBody>
        </p:sp>
        <p:sp>
          <p:nvSpPr>
            <p:cNvPr id="82" name="Google Shape;82;p3"/>
            <p:cNvSpPr/>
            <p:nvPr/>
          </p:nvSpPr>
          <p:spPr>
            <a:xfrm>
              <a:off x="2247900" y="7258050"/>
              <a:ext cx="1219200" cy="1638300"/>
            </a:xfrm>
            <a:prstGeom prst="roundRect">
              <a:avLst>
                <a:gd fmla="val 13281"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2247900" y="7258050"/>
              <a:ext cx="1219200" cy="47625"/>
            </a:xfrm>
            <a:prstGeom prst="roundRect">
              <a:avLst>
                <a:gd fmla="val 40000" name="adj"/>
              </a:avLst>
            </a:prstGeom>
            <a:solidFill>
              <a:srgbClr val="6640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2343150" y="7439025"/>
              <a:ext cx="1028700" cy="6572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664092"/>
                  </a:solidFill>
                  <a:latin typeface="Arial"/>
                  <a:ea typeface="Arial"/>
                  <a:cs typeface="Arial"/>
                  <a:sym typeface="Arial"/>
                </a:rPr>
                <a:t>PREGUNTA</a:t>
              </a:r>
              <a:endParaRPr/>
            </a:p>
          </p:txBody>
        </p:sp>
        <p:sp>
          <p:nvSpPr>
            <p:cNvPr id="85" name="Google Shape;85;p3"/>
            <p:cNvSpPr/>
            <p:nvPr/>
          </p:nvSpPr>
          <p:spPr>
            <a:xfrm>
              <a:off x="2343150" y="8124825"/>
              <a:ext cx="1028700" cy="723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s-MX" sz="1000">
                  <a:solidFill>
                    <a:srgbClr val="333238"/>
                  </a:solidFill>
                  <a:latin typeface="Arial"/>
                  <a:ea typeface="Arial"/>
                  <a:cs typeface="Arial"/>
                  <a:sym typeface="Arial"/>
                </a:rPr>
                <a:t>«</a:t>
              </a:r>
              <a:r>
                <a:rPr b="0" i="0" lang="es-MX" sz="1000" u="none" cap="none" strike="noStrike">
                  <a:solidFill>
                    <a:srgbClr val="333238"/>
                  </a:solidFill>
                  <a:latin typeface="Arial"/>
                  <a:ea typeface="Arial"/>
                  <a:cs typeface="Arial"/>
                  <a:sym typeface="Arial"/>
                </a:rPr>
                <a:t>¿Qué está ocurriendo realmente?</a:t>
              </a:r>
              <a:r>
                <a:rPr lang="es-MX" sz="1000">
                  <a:solidFill>
                    <a:srgbClr val="333238"/>
                  </a:solidFill>
                  <a:latin typeface="Arial"/>
                  <a:ea typeface="Arial"/>
                  <a:cs typeface="Arial"/>
                  <a:sym typeface="Arial"/>
                </a:rPr>
                <a:t>»</a:t>
              </a:r>
              <a:endParaRPr/>
            </a:p>
          </p:txBody>
        </p:sp>
        <p:sp>
          <p:nvSpPr>
            <p:cNvPr id="86" name="Google Shape;86;p3"/>
            <p:cNvSpPr/>
            <p:nvPr/>
          </p:nvSpPr>
          <p:spPr>
            <a:xfrm>
              <a:off x="3505200" y="8020050"/>
              <a:ext cx="76200" cy="953"/>
            </a:xfrm>
            <a:custGeom>
              <a:rect b="b" l="l" r="r" t="t"/>
              <a:pathLst>
                <a:path extrusionOk="0" h="953" w="76200">
                  <a:moveTo>
                    <a:pt x="0" y="0"/>
                  </a:moveTo>
                  <a:lnTo>
                    <a:pt x="76200" y="0"/>
                  </a:lnTo>
                </a:path>
              </a:pathLst>
            </a:custGeom>
            <a:noFill/>
            <a:ln cap="flat" cmpd="sng" w="14275">
              <a:solidFill>
                <a:srgbClr val="664092"/>
              </a:solidFill>
              <a:prstDash val="solid"/>
              <a:round/>
              <a:headEnd len="sm" w="sm" type="none"/>
              <a:tailEnd len="sm" w="sm" type="none"/>
            </a:ln>
          </p:spPr>
          <p:txBody>
            <a:bodyPr/>
            <a:p/>
          </p:txBody>
        </p:sp>
        <p:sp>
          <p:nvSpPr>
            <p:cNvPr id="87" name="Google Shape;87;p3"/>
            <p:cNvSpPr/>
            <p:nvPr/>
          </p:nvSpPr>
          <p:spPr>
            <a:xfrm>
              <a:off x="3532678" y="8020050"/>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txBody>
            <a:bodyPr/>
            <a:p/>
          </p:txBody>
        </p:sp>
        <p:sp>
          <p:nvSpPr>
            <p:cNvPr id="88" name="Google Shape;88;p3"/>
            <p:cNvSpPr/>
            <p:nvPr/>
          </p:nvSpPr>
          <p:spPr>
            <a:xfrm>
              <a:off x="3532678" y="7990178"/>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txBody>
            <a:bodyPr/>
            <a:p/>
          </p:txBody>
        </p:sp>
        <p:sp>
          <p:nvSpPr>
            <p:cNvPr id="89" name="Google Shape;89;p3"/>
            <p:cNvSpPr/>
            <p:nvPr/>
          </p:nvSpPr>
          <p:spPr>
            <a:xfrm>
              <a:off x="3619500" y="7258050"/>
              <a:ext cx="1219200" cy="1638300"/>
            </a:xfrm>
            <a:prstGeom prst="roundRect">
              <a:avLst>
                <a:gd fmla="val 13281"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3619500" y="7258050"/>
              <a:ext cx="1219200" cy="47625"/>
            </a:xfrm>
            <a:prstGeom prst="roundRect">
              <a:avLst>
                <a:gd fmla="val 40000" name="adj"/>
              </a:avLst>
            </a:prstGeom>
            <a:solidFill>
              <a:srgbClr val="4478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3714750" y="7439025"/>
              <a:ext cx="1028700" cy="6572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4478F5"/>
                  </a:solidFill>
                  <a:latin typeface="Arial"/>
                  <a:ea typeface="Arial"/>
                  <a:cs typeface="Arial"/>
                  <a:sym typeface="Arial"/>
                </a:rPr>
                <a:t>CONTACTO CON LAS PERSONAS</a:t>
              </a:r>
              <a:endParaRPr/>
            </a:p>
          </p:txBody>
        </p:sp>
        <p:sp>
          <p:nvSpPr>
            <p:cNvPr id="92" name="Google Shape;92;p3"/>
            <p:cNvSpPr/>
            <p:nvPr/>
          </p:nvSpPr>
          <p:spPr>
            <a:xfrm>
              <a:off x="3714750" y="8124825"/>
              <a:ext cx="1028700" cy="723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s-MX" sz="1000" u="none" cap="none" strike="noStrike">
                  <a:solidFill>
                    <a:srgbClr val="333238"/>
                  </a:solidFill>
                  <a:latin typeface="Arial"/>
                  <a:ea typeface="Arial"/>
                  <a:cs typeface="Arial"/>
                  <a:sym typeface="Arial"/>
                </a:rPr>
                <a:t>Observamos, escuchamos y exploramos el contexto.</a:t>
              </a:r>
              <a:endParaRPr/>
            </a:p>
          </p:txBody>
        </p:sp>
        <p:sp>
          <p:nvSpPr>
            <p:cNvPr id="93" name="Google Shape;93;p3"/>
            <p:cNvSpPr/>
            <p:nvPr/>
          </p:nvSpPr>
          <p:spPr>
            <a:xfrm>
              <a:off x="4876800" y="8020050"/>
              <a:ext cx="76200" cy="953"/>
            </a:xfrm>
            <a:custGeom>
              <a:rect b="b" l="l" r="r" t="t"/>
              <a:pathLst>
                <a:path extrusionOk="0" h="953" w="76200">
                  <a:moveTo>
                    <a:pt x="0" y="0"/>
                  </a:moveTo>
                  <a:lnTo>
                    <a:pt x="76200" y="0"/>
                  </a:lnTo>
                </a:path>
              </a:pathLst>
            </a:custGeom>
            <a:noFill/>
            <a:ln cap="flat" cmpd="sng" w="14275">
              <a:solidFill>
                <a:srgbClr val="664092"/>
              </a:solidFill>
              <a:prstDash val="solid"/>
              <a:round/>
              <a:headEnd len="sm" w="sm" type="none"/>
              <a:tailEnd len="sm" w="sm" type="none"/>
            </a:ln>
          </p:spPr>
          <p:txBody>
            <a:bodyPr/>
            <a:p/>
          </p:txBody>
        </p:sp>
        <p:sp>
          <p:nvSpPr>
            <p:cNvPr id="94" name="Google Shape;94;p3"/>
            <p:cNvSpPr/>
            <p:nvPr/>
          </p:nvSpPr>
          <p:spPr>
            <a:xfrm>
              <a:off x="4904278" y="8020050"/>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txBody>
            <a:bodyPr/>
            <a:p/>
          </p:txBody>
        </p:sp>
        <p:sp>
          <p:nvSpPr>
            <p:cNvPr id="95" name="Google Shape;95;p3"/>
            <p:cNvSpPr/>
            <p:nvPr/>
          </p:nvSpPr>
          <p:spPr>
            <a:xfrm>
              <a:off x="4904278" y="7990178"/>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txBody>
            <a:bodyPr/>
            <a:p/>
          </p:txBody>
        </p:sp>
        <p:sp>
          <p:nvSpPr>
            <p:cNvPr id="96" name="Google Shape;96;p3"/>
            <p:cNvSpPr/>
            <p:nvPr/>
          </p:nvSpPr>
          <p:spPr>
            <a:xfrm>
              <a:off x="4991100" y="7258050"/>
              <a:ext cx="1219200" cy="1638300"/>
            </a:xfrm>
            <a:prstGeom prst="roundRect">
              <a:avLst>
                <a:gd fmla="val 13281"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4991100" y="7258050"/>
              <a:ext cx="1219200" cy="47625"/>
            </a:xfrm>
            <a:prstGeom prst="roundRect">
              <a:avLst>
                <a:gd fmla="val 40000" name="adj"/>
              </a:avLst>
            </a:prstGeom>
            <a:solidFill>
              <a:srgbClr val="064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5086350" y="7439025"/>
              <a:ext cx="1028700" cy="6572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064D95"/>
                  </a:solidFill>
                  <a:latin typeface="Arial"/>
                  <a:ea typeface="Arial"/>
                  <a:cs typeface="Arial"/>
                  <a:sym typeface="Arial"/>
                </a:rPr>
                <a:t>HALLAZGOS</a:t>
              </a:r>
              <a:endParaRPr/>
            </a:p>
          </p:txBody>
        </p:sp>
        <p:sp>
          <p:nvSpPr>
            <p:cNvPr id="99" name="Google Shape;99;p3"/>
            <p:cNvSpPr/>
            <p:nvPr/>
          </p:nvSpPr>
          <p:spPr>
            <a:xfrm>
              <a:off x="5086350" y="8124825"/>
              <a:ext cx="1111250" cy="73787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s-MX" sz="1000" u="none" cap="none" strike="noStrike">
                  <a:solidFill>
                    <a:srgbClr val="333238"/>
                  </a:solidFill>
                  <a:latin typeface="Arial"/>
                  <a:ea typeface="Arial"/>
                  <a:cs typeface="Arial"/>
                  <a:sym typeface="Arial"/>
                </a:rPr>
                <a:t>Construimos una comprensión más sustentada.</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p:nvPr/>
        </p:nvSpPr>
        <p:spPr>
          <a:xfrm>
            <a:off x="876300" y="9067800"/>
            <a:ext cx="457200" cy="19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chemeClr val="lt1"/>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106" name="Google Shape;106;p4"/>
          <p:cNvSpPr/>
          <p:nvPr/>
        </p:nvSpPr>
        <p:spPr>
          <a:xfrm>
            <a:off x="876300" y="723900"/>
            <a:ext cx="39052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Pensamiento de diseño</a:t>
            </a:r>
            <a:endParaRPr b="0" i="0" sz="1400" u="none" cap="none" strike="noStrike">
              <a:solidFill>
                <a:srgbClr val="000000"/>
              </a:solidFill>
              <a:latin typeface="Arial"/>
              <a:ea typeface="Arial"/>
              <a:cs typeface="Arial"/>
              <a:sym typeface="Arial"/>
            </a:endParaRPr>
          </a:p>
        </p:txBody>
      </p:sp>
      <p:cxnSp>
        <p:nvCxnSpPr>
          <p:cNvPr id="107" name="Google Shape;107;p4"/>
          <p:cNvCxnSpPr/>
          <p:nvPr/>
        </p:nvCxnSpPr>
        <p:spPr>
          <a:xfrm>
            <a:off x="984006" y="2498480"/>
            <a:ext cx="959094" cy="0"/>
          </a:xfrm>
          <a:prstGeom prst="straightConnector1">
            <a:avLst/>
          </a:prstGeom>
          <a:noFill/>
          <a:ln cap="flat" cmpd="sng" w="53975">
            <a:solidFill>
              <a:srgbClr val="73CDEB"/>
            </a:solidFill>
            <a:prstDash val="solid"/>
            <a:round/>
            <a:headEnd len="med" w="med" type="oval"/>
            <a:tailEnd len="med" w="med" type="oval"/>
          </a:ln>
        </p:spPr>
      </p:cxnSp>
      <p:grpSp>
        <p:nvGrpSpPr>
          <p:cNvPr id="108" name="Google Shape;108;p4"/>
          <p:cNvGrpSpPr/>
          <p:nvPr/>
        </p:nvGrpSpPr>
        <p:grpSpPr>
          <a:xfrm>
            <a:off x="876300" y="1381125"/>
            <a:ext cx="5334000" cy="7620000"/>
            <a:chOff x="876300" y="1381125"/>
            <a:chExt cx="5334000" cy="7620000"/>
          </a:xfrm>
        </p:grpSpPr>
        <p:sp>
          <p:nvSpPr>
            <p:cNvPr id="109" name="Google Shape;109;p4"/>
            <p:cNvSpPr/>
            <p:nvPr/>
          </p:nvSpPr>
          <p:spPr>
            <a:xfrm>
              <a:off x="876300" y="1381125"/>
              <a:ext cx="5334000" cy="100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2400" u="none" cap="none" strike="noStrike">
                  <a:solidFill>
                    <a:srgbClr val="664092"/>
                  </a:solidFill>
                  <a:latin typeface="Arial"/>
                  <a:ea typeface="Arial"/>
                  <a:cs typeface="Arial"/>
                  <a:sym typeface="Arial"/>
                </a:rPr>
                <a:t>Comprender puede transformar el problema</a:t>
              </a:r>
              <a:endParaRPr/>
            </a:p>
          </p:txBody>
        </p:sp>
        <p:sp>
          <p:nvSpPr>
            <p:cNvPr id="110" name="Google Shape;110;p4"/>
            <p:cNvSpPr/>
            <p:nvPr/>
          </p:nvSpPr>
          <p:spPr>
            <a:xfrm>
              <a:off x="876300" y="2781300"/>
              <a:ext cx="5334000" cy="942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Comprender mejor a las personas no siempre confirma el problema que habíamos formulado inicialmente. Los hallazgos pueden mostrarnos que aquello que parecía una dificultad técnica está relacionado, en realidad, con una barrera de información, confianza, tiempo, accesibilidad o comprensión.</a:t>
              </a:r>
              <a:endParaRPr/>
            </a:p>
          </p:txBody>
        </p:sp>
        <p:sp>
          <p:nvSpPr>
            <p:cNvPr id="111" name="Google Shape;111;p4"/>
            <p:cNvSpPr/>
            <p:nvPr/>
          </p:nvSpPr>
          <p:spPr>
            <a:xfrm>
              <a:off x="876300" y="3857625"/>
              <a:ext cx="5334000" cy="7524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Por eso, definir no significa regresar automáticamente al planteamiento inicial. Necesitamos sintetizar la información, reconocer patrones, priorizar necesidades y formular un reto que conserve la perspectiva de quien experimenta la situación.</a:t>
              </a:r>
              <a:endParaRPr/>
            </a:p>
          </p:txBody>
        </p:sp>
        <p:sp>
          <p:nvSpPr>
            <p:cNvPr id="112" name="Google Shape;112;p4"/>
            <p:cNvSpPr/>
            <p:nvPr/>
          </p:nvSpPr>
          <p:spPr>
            <a:xfrm>
              <a:off x="876300" y="4752975"/>
              <a:ext cx="5334000" cy="7715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La manera en que formulamos el problema condiciona las soluciones que podremos imaginar posteriormente. Un reto demasiado estrecho limita las posibilidades; uno excesivamente amplio dificulta orientar la generación de alternativas.</a:t>
              </a:r>
              <a:endParaRPr/>
            </a:p>
          </p:txBody>
        </p:sp>
        <p:sp>
          <p:nvSpPr>
            <p:cNvPr id="113" name="Google Shape;113;p4"/>
            <p:cNvSpPr/>
            <p:nvPr/>
          </p:nvSpPr>
          <p:spPr>
            <a:xfrm>
              <a:off x="876300" y="5753100"/>
              <a:ext cx="5334000" cy="552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Figura 2. Problema inicial ≠ problema comprendido</a:t>
              </a:r>
              <a:endParaRPr/>
            </a:p>
          </p:txBody>
        </p:sp>
        <p:sp>
          <p:nvSpPr>
            <p:cNvPr id="114" name="Google Shape;114;p4"/>
            <p:cNvSpPr/>
            <p:nvPr/>
          </p:nvSpPr>
          <p:spPr>
            <a:xfrm>
              <a:off x="876300" y="6467475"/>
              <a:ext cx="1666875" cy="1704975"/>
            </a:xfrm>
            <a:prstGeom prst="roundRect">
              <a:avLst>
                <a:gd fmla="val 10857"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1000125" y="6648450"/>
              <a:ext cx="1419225" cy="609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PROBLEMA INICIAL</a:t>
              </a:r>
              <a:endParaRPr/>
            </a:p>
          </p:txBody>
        </p:sp>
        <p:sp>
          <p:nvSpPr>
            <p:cNvPr id="116" name="Google Shape;116;p4"/>
            <p:cNvSpPr/>
            <p:nvPr/>
          </p:nvSpPr>
          <p:spPr>
            <a:xfrm>
              <a:off x="1000125" y="7372350"/>
              <a:ext cx="1419225" cy="7429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Lo formulamos con la información disponible.</a:t>
              </a:r>
              <a:endParaRPr/>
            </a:p>
          </p:txBody>
        </p:sp>
        <p:sp>
          <p:nvSpPr>
            <p:cNvPr id="117" name="Google Shape;117;p4"/>
            <p:cNvSpPr/>
            <p:nvPr/>
          </p:nvSpPr>
          <p:spPr>
            <a:xfrm>
              <a:off x="4543425" y="6467475"/>
              <a:ext cx="1666875" cy="1704975"/>
            </a:xfrm>
            <a:prstGeom prst="roundRect">
              <a:avLst>
                <a:gd fmla="val 10857"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4667250" y="6648450"/>
              <a:ext cx="1419225" cy="609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200" u="none" cap="none" strike="noStrike">
                  <a:solidFill>
                    <a:srgbClr val="064D95"/>
                  </a:solidFill>
                  <a:latin typeface="Arial"/>
                  <a:ea typeface="Arial"/>
                  <a:cs typeface="Arial"/>
                  <a:sym typeface="Arial"/>
                </a:rPr>
                <a:t>PROBLEMA COMPRENDIDO</a:t>
              </a:r>
              <a:endParaRPr/>
            </a:p>
          </p:txBody>
        </p:sp>
        <p:sp>
          <p:nvSpPr>
            <p:cNvPr id="119" name="Google Shape;119;p4"/>
            <p:cNvSpPr/>
            <p:nvPr/>
          </p:nvSpPr>
          <p:spPr>
            <a:xfrm>
              <a:off x="4667250" y="7372350"/>
              <a:ext cx="1419225" cy="7429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Lo reformulamos a partir de hallazgos y necesidades más precisas.</a:t>
              </a:r>
              <a:endParaRPr/>
            </a:p>
          </p:txBody>
        </p:sp>
        <p:sp>
          <p:nvSpPr>
            <p:cNvPr id="120" name="Google Shape;120;p4"/>
            <p:cNvSpPr/>
            <p:nvPr/>
          </p:nvSpPr>
          <p:spPr>
            <a:xfrm>
              <a:off x="2781300" y="6705600"/>
              <a:ext cx="1524000" cy="1209675"/>
            </a:xfrm>
            <a:prstGeom prst="roundRect">
              <a:avLst>
                <a:gd fmla="val 15748" name="adj"/>
              </a:avLst>
            </a:prstGeom>
            <a:solidFill>
              <a:srgbClr val="6640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2857500" y="7086600"/>
              <a:ext cx="1371600" cy="647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200" u="none" cap="none" strike="noStrike">
                  <a:solidFill>
                    <a:srgbClr val="FFFFFF"/>
                  </a:solidFill>
                  <a:latin typeface="Arial"/>
                  <a:ea typeface="Arial"/>
                  <a:cs typeface="Arial"/>
                  <a:sym typeface="Arial"/>
                </a:rPr>
                <a:t>COMPRENDER A LAS PERSONAS</a:t>
              </a:r>
              <a:endParaRPr/>
            </a:p>
          </p:txBody>
        </p:sp>
        <p:sp>
          <p:nvSpPr>
            <p:cNvPr id="122" name="Google Shape;122;p4"/>
            <p:cNvSpPr/>
            <p:nvPr/>
          </p:nvSpPr>
          <p:spPr>
            <a:xfrm>
              <a:off x="2571750" y="7286625"/>
              <a:ext cx="161925" cy="953"/>
            </a:xfrm>
            <a:custGeom>
              <a:rect b="b" l="l" r="r" t="t"/>
              <a:pathLst>
                <a:path extrusionOk="0" h="953" w="161925">
                  <a:moveTo>
                    <a:pt x="0" y="0"/>
                  </a:moveTo>
                  <a:lnTo>
                    <a:pt x="161925" y="0"/>
                  </a:lnTo>
                </a:path>
              </a:pathLst>
            </a:custGeom>
            <a:noFill/>
            <a:ln cap="flat" cmpd="sng" w="14275">
              <a:solidFill>
                <a:srgbClr val="664092"/>
              </a:solidFill>
              <a:prstDash val="solid"/>
              <a:round/>
              <a:headEnd len="sm" w="sm" type="none"/>
              <a:tailEnd len="sm" w="sm" type="none"/>
            </a:ln>
          </p:spPr>
        </p:sp>
        <p:sp>
          <p:nvSpPr>
            <p:cNvPr id="123" name="Google Shape;123;p4"/>
            <p:cNvSpPr/>
            <p:nvPr/>
          </p:nvSpPr>
          <p:spPr>
            <a:xfrm>
              <a:off x="2684953" y="7286625"/>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sp>
        <p:sp>
          <p:nvSpPr>
            <p:cNvPr id="124" name="Google Shape;124;p4"/>
            <p:cNvSpPr/>
            <p:nvPr/>
          </p:nvSpPr>
          <p:spPr>
            <a:xfrm>
              <a:off x="2684953" y="7256753"/>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sp>
        <p:sp>
          <p:nvSpPr>
            <p:cNvPr id="125" name="Google Shape;125;p4"/>
            <p:cNvSpPr/>
            <p:nvPr/>
          </p:nvSpPr>
          <p:spPr>
            <a:xfrm>
              <a:off x="4352925" y="7286625"/>
              <a:ext cx="152400" cy="953"/>
            </a:xfrm>
            <a:custGeom>
              <a:rect b="b" l="l" r="r" t="t"/>
              <a:pathLst>
                <a:path extrusionOk="0" h="953" w="152400">
                  <a:moveTo>
                    <a:pt x="0" y="0"/>
                  </a:moveTo>
                  <a:lnTo>
                    <a:pt x="152400" y="0"/>
                  </a:lnTo>
                </a:path>
              </a:pathLst>
            </a:custGeom>
            <a:noFill/>
            <a:ln cap="flat" cmpd="sng" w="14275">
              <a:solidFill>
                <a:srgbClr val="664092"/>
              </a:solidFill>
              <a:prstDash val="solid"/>
              <a:round/>
              <a:headEnd len="sm" w="sm" type="none"/>
              <a:tailEnd len="sm" w="sm" type="none"/>
            </a:ln>
          </p:spPr>
        </p:sp>
        <p:sp>
          <p:nvSpPr>
            <p:cNvPr id="126" name="Google Shape;126;p4"/>
            <p:cNvSpPr/>
            <p:nvPr/>
          </p:nvSpPr>
          <p:spPr>
            <a:xfrm>
              <a:off x="4456603" y="7286625"/>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sp>
        <p:sp>
          <p:nvSpPr>
            <p:cNvPr id="127" name="Google Shape;127;p4"/>
            <p:cNvSpPr/>
            <p:nvPr/>
          </p:nvSpPr>
          <p:spPr>
            <a:xfrm>
              <a:off x="4456603" y="7256753"/>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sp>
        <p:sp>
          <p:nvSpPr>
            <p:cNvPr id="128" name="Google Shape;128;p4"/>
            <p:cNvSpPr/>
            <p:nvPr/>
          </p:nvSpPr>
          <p:spPr>
            <a:xfrm>
              <a:off x="876300" y="8420100"/>
              <a:ext cx="5334000" cy="581025"/>
            </a:xfrm>
            <a:prstGeom prst="roundRect">
              <a:avLst>
                <a:gd fmla="val 29508"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1047750" y="8534400"/>
              <a:ext cx="4991100" cy="3905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Comprender no siempre confirma nuestra definición inicial; también puede transformarla.</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p:nvPr/>
        </p:nvSpPr>
        <p:spPr>
          <a:xfrm>
            <a:off x="876300" y="9067800"/>
            <a:ext cx="457200" cy="19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chemeClr val="lt1"/>
                </a:solidFill>
                <a:latin typeface="Arial"/>
                <a:ea typeface="Arial"/>
                <a:cs typeface="Arial"/>
                <a:sym typeface="Arial"/>
              </a:rPr>
              <a:t>05</a:t>
            </a:r>
            <a:endParaRPr b="0" i="0" sz="1400" u="none" cap="none" strike="noStrike">
              <a:solidFill>
                <a:srgbClr val="000000"/>
              </a:solidFill>
              <a:latin typeface="Arial"/>
              <a:ea typeface="Arial"/>
              <a:cs typeface="Arial"/>
              <a:sym typeface="Arial"/>
            </a:endParaRPr>
          </a:p>
        </p:txBody>
      </p:sp>
      <p:sp>
        <p:nvSpPr>
          <p:cNvPr id="136" name="Google Shape;136;p5"/>
          <p:cNvSpPr/>
          <p:nvPr/>
        </p:nvSpPr>
        <p:spPr>
          <a:xfrm>
            <a:off x="876300" y="723900"/>
            <a:ext cx="39052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Pensamiento de diseño</a:t>
            </a:r>
            <a:endParaRPr b="0" i="0" sz="1400" u="none" cap="none" strike="noStrike">
              <a:solidFill>
                <a:srgbClr val="000000"/>
              </a:solidFill>
              <a:latin typeface="Arial"/>
              <a:ea typeface="Arial"/>
              <a:cs typeface="Arial"/>
              <a:sym typeface="Arial"/>
            </a:endParaRPr>
          </a:p>
        </p:txBody>
      </p:sp>
      <p:cxnSp>
        <p:nvCxnSpPr>
          <p:cNvPr id="137" name="Google Shape;137;p5"/>
          <p:cNvCxnSpPr/>
          <p:nvPr/>
        </p:nvCxnSpPr>
        <p:spPr>
          <a:xfrm>
            <a:off x="984006" y="2498480"/>
            <a:ext cx="959094" cy="0"/>
          </a:xfrm>
          <a:prstGeom prst="straightConnector1">
            <a:avLst/>
          </a:prstGeom>
          <a:noFill/>
          <a:ln cap="flat" cmpd="sng" w="53975">
            <a:solidFill>
              <a:srgbClr val="73CDEB"/>
            </a:solidFill>
            <a:prstDash val="solid"/>
            <a:round/>
            <a:headEnd len="med" w="med" type="oval"/>
            <a:tailEnd len="med" w="med" type="oval"/>
          </a:ln>
        </p:spPr>
      </p:cxnSp>
      <p:grpSp>
        <p:nvGrpSpPr>
          <p:cNvPr id="138" name="Google Shape;138;p5"/>
          <p:cNvGrpSpPr/>
          <p:nvPr/>
        </p:nvGrpSpPr>
        <p:grpSpPr>
          <a:xfrm>
            <a:off x="876300" y="1381125"/>
            <a:ext cx="5334000" cy="7505700"/>
            <a:chOff x="876300" y="1381125"/>
            <a:chExt cx="5334000" cy="7505700"/>
          </a:xfrm>
        </p:grpSpPr>
        <p:sp>
          <p:nvSpPr>
            <p:cNvPr id="139" name="Google Shape;139;p5"/>
            <p:cNvSpPr/>
            <p:nvPr/>
          </p:nvSpPr>
          <p:spPr>
            <a:xfrm>
              <a:off x="876300" y="1381125"/>
              <a:ext cx="5334000" cy="100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2400" u="none" cap="none" strike="noStrike">
                  <a:solidFill>
                    <a:srgbClr val="664092"/>
                  </a:solidFill>
                  <a:latin typeface="Arial"/>
                  <a:ea typeface="Arial"/>
                  <a:cs typeface="Arial"/>
                  <a:sym typeface="Arial"/>
                </a:rPr>
                <a:t>Idea ≠ solución validada</a:t>
              </a:r>
              <a:endParaRPr/>
            </a:p>
          </p:txBody>
        </p:sp>
        <p:sp>
          <p:nvSpPr>
            <p:cNvPr id="140" name="Google Shape;140;p5"/>
            <p:cNvSpPr/>
            <p:nvPr/>
          </p:nvSpPr>
          <p:spPr>
            <a:xfrm>
              <a:off x="876300" y="2781300"/>
              <a:ext cx="5334000" cy="76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Cuando el reto está mejor definido podemos ampliar el espacio de soluciones posibles. Durante la ideación buscamos producir alternativas, combinarlas y transformarlas antes de seleccionar aquellas con mayor potencial.</a:t>
              </a:r>
              <a:endParaRPr/>
            </a:p>
          </p:txBody>
        </p:sp>
        <p:sp>
          <p:nvSpPr>
            <p:cNvPr id="141" name="Google Shape;141;p5"/>
            <p:cNvSpPr/>
            <p:nvPr/>
          </p:nvSpPr>
          <p:spPr>
            <a:xfrm>
              <a:off x="876300" y="3667125"/>
              <a:ext cx="5334000" cy="4000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333238"/>
                  </a:solidFill>
                  <a:latin typeface="Arial"/>
                  <a:ea typeface="Arial"/>
                  <a:cs typeface="Arial"/>
                  <a:sym typeface="Arial"/>
                </a:rPr>
                <a:t>Pero seleccionar una idea no significa haber encontrado la solución definitiva.</a:t>
              </a:r>
              <a:endParaRPr/>
            </a:p>
          </p:txBody>
        </p:sp>
        <p:sp>
          <p:nvSpPr>
            <p:cNvPr id="142" name="Google Shape;142;p5"/>
            <p:cNvSpPr/>
            <p:nvPr/>
          </p:nvSpPr>
          <p:spPr>
            <a:xfrm>
              <a:off x="876300" y="4219575"/>
              <a:ext cx="5334000" cy="581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La alternativa elegida continúa siendo una hipótesis de solución: una posibilidad suficientemente prometedora para avanzar hacia su representación y prueba.</a:t>
              </a:r>
              <a:endParaRPr/>
            </a:p>
          </p:txBody>
        </p:sp>
        <p:sp>
          <p:nvSpPr>
            <p:cNvPr id="143" name="Google Shape;143;p5"/>
            <p:cNvSpPr/>
            <p:nvPr/>
          </p:nvSpPr>
          <p:spPr>
            <a:xfrm>
              <a:off x="876300" y="4943475"/>
              <a:ext cx="5334000" cy="9715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Esta distinción resulta fundamental porque evita que el equipo se comprometa demasiado pronto con una alternativa simplemente porque parece atractiva. Su valor deberá relacionarse con los hallazgos obtenidos previamente y con aquello que aprendamos al experimentarla.</a:t>
              </a:r>
              <a:endParaRPr/>
            </a:p>
          </p:txBody>
        </p:sp>
        <p:sp>
          <p:nvSpPr>
            <p:cNvPr id="144" name="Google Shape;144;p5"/>
            <p:cNvSpPr/>
            <p:nvPr/>
          </p:nvSpPr>
          <p:spPr>
            <a:xfrm>
              <a:off x="876300" y="6257925"/>
              <a:ext cx="5334000" cy="781050"/>
            </a:xfrm>
            <a:prstGeom prst="roundRect">
              <a:avLst>
                <a:gd fmla="val 24390"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1066800" y="6400800"/>
              <a:ext cx="1733550" cy="6191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Idea</a:t>
              </a:r>
              <a:endParaRPr/>
            </a:p>
          </p:txBody>
        </p:sp>
        <p:sp>
          <p:nvSpPr>
            <p:cNvPr id="146" name="Google Shape;146;p5"/>
            <p:cNvSpPr/>
            <p:nvPr/>
          </p:nvSpPr>
          <p:spPr>
            <a:xfrm>
              <a:off x="3076575" y="6400800"/>
              <a:ext cx="2914650" cy="6000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Una posibilidad para responder al reto.</a:t>
              </a:r>
              <a:endParaRPr/>
            </a:p>
          </p:txBody>
        </p:sp>
        <p:sp>
          <p:nvSpPr>
            <p:cNvPr id="147" name="Google Shape;147;p5"/>
            <p:cNvSpPr/>
            <p:nvPr/>
          </p:nvSpPr>
          <p:spPr>
            <a:xfrm>
              <a:off x="3543300" y="7067550"/>
              <a:ext cx="953" cy="85725"/>
            </a:xfrm>
            <a:custGeom>
              <a:rect b="b" l="l" r="r" t="t"/>
              <a:pathLst>
                <a:path extrusionOk="0" h="85725" w="953">
                  <a:moveTo>
                    <a:pt x="0" y="0"/>
                  </a:moveTo>
                  <a:lnTo>
                    <a:pt x="0" y="85725"/>
                  </a:lnTo>
                </a:path>
              </a:pathLst>
            </a:custGeom>
            <a:noFill/>
            <a:ln cap="flat" cmpd="sng" w="14275">
              <a:solidFill>
                <a:srgbClr val="664092"/>
              </a:solidFill>
              <a:prstDash val="solid"/>
              <a:round/>
              <a:headEnd len="sm" w="sm" type="none"/>
              <a:tailEnd len="sm" w="sm" type="none"/>
            </a:ln>
          </p:spPr>
        </p:sp>
        <p:sp>
          <p:nvSpPr>
            <p:cNvPr id="148" name="Google Shape;148;p5"/>
            <p:cNvSpPr/>
            <p:nvPr/>
          </p:nvSpPr>
          <p:spPr>
            <a:xfrm>
              <a:off x="3513428" y="7104553"/>
              <a:ext cx="29872" cy="48722"/>
            </a:xfrm>
            <a:custGeom>
              <a:rect b="b" l="l" r="r" t="t"/>
              <a:pathLst>
                <a:path extrusionOk="0" h="48722" w="29872">
                  <a:moveTo>
                    <a:pt x="29872" y="48722"/>
                  </a:moveTo>
                  <a:lnTo>
                    <a:pt x="0" y="0"/>
                  </a:lnTo>
                </a:path>
              </a:pathLst>
            </a:custGeom>
            <a:noFill/>
            <a:ln cap="flat" cmpd="sng" w="14275">
              <a:solidFill>
                <a:srgbClr val="664092"/>
              </a:solidFill>
              <a:prstDash val="solid"/>
              <a:round/>
              <a:headEnd len="sm" w="sm" type="none"/>
              <a:tailEnd len="sm" w="sm" type="none"/>
            </a:ln>
          </p:spPr>
        </p:sp>
        <p:sp>
          <p:nvSpPr>
            <p:cNvPr id="149" name="Google Shape;149;p5"/>
            <p:cNvSpPr/>
            <p:nvPr/>
          </p:nvSpPr>
          <p:spPr>
            <a:xfrm>
              <a:off x="3543300" y="7104553"/>
              <a:ext cx="29872" cy="48722"/>
            </a:xfrm>
            <a:custGeom>
              <a:rect b="b" l="l" r="r" t="t"/>
              <a:pathLst>
                <a:path extrusionOk="0" h="48722" w="29872">
                  <a:moveTo>
                    <a:pt x="0" y="48722"/>
                  </a:moveTo>
                  <a:lnTo>
                    <a:pt x="29872" y="0"/>
                  </a:lnTo>
                </a:path>
              </a:pathLst>
            </a:custGeom>
            <a:noFill/>
            <a:ln cap="flat" cmpd="sng" w="14275">
              <a:solidFill>
                <a:srgbClr val="664092"/>
              </a:solidFill>
              <a:prstDash val="solid"/>
              <a:round/>
              <a:headEnd len="sm" w="sm" type="none"/>
              <a:tailEnd len="sm" w="sm" type="none"/>
            </a:ln>
          </p:spPr>
        </p:sp>
        <p:sp>
          <p:nvSpPr>
            <p:cNvPr id="150" name="Google Shape;150;p5"/>
            <p:cNvSpPr/>
            <p:nvPr/>
          </p:nvSpPr>
          <p:spPr>
            <a:xfrm>
              <a:off x="876300" y="7181850"/>
              <a:ext cx="5334000" cy="781050"/>
            </a:xfrm>
            <a:prstGeom prst="roundRect">
              <a:avLst>
                <a:gd fmla="val 24390" name="adj"/>
              </a:avLst>
            </a:prstGeom>
            <a:solidFill>
              <a:srgbClr val="6640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1066800" y="7324725"/>
              <a:ext cx="1733550" cy="6191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FFFFFF"/>
                  </a:solidFill>
                  <a:latin typeface="Arial"/>
                  <a:ea typeface="Arial"/>
                  <a:cs typeface="Arial"/>
                  <a:sym typeface="Arial"/>
                </a:rPr>
                <a:t>Hipótesis de solución</a:t>
              </a:r>
              <a:endParaRPr/>
            </a:p>
          </p:txBody>
        </p:sp>
        <p:sp>
          <p:nvSpPr>
            <p:cNvPr id="152" name="Google Shape;152;p5"/>
            <p:cNvSpPr/>
            <p:nvPr/>
          </p:nvSpPr>
          <p:spPr>
            <a:xfrm>
              <a:off x="3076575" y="7324725"/>
              <a:ext cx="2914650" cy="6000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FFFFFF"/>
                  </a:solidFill>
                  <a:latin typeface="Arial"/>
                  <a:ea typeface="Arial"/>
                  <a:cs typeface="Arial"/>
                  <a:sym typeface="Arial"/>
                </a:rPr>
                <a:t>Una alternativa que merece ser representada y probada.</a:t>
              </a:r>
              <a:endParaRPr/>
            </a:p>
          </p:txBody>
        </p:sp>
        <p:sp>
          <p:nvSpPr>
            <p:cNvPr id="153" name="Google Shape;153;p5"/>
            <p:cNvSpPr/>
            <p:nvPr/>
          </p:nvSpPr>
          <p:spPr>
            <a:xfrm>
              <a:off x="3543300" y="7991475"/>
              <a:ext cx="953" cy="85725"/>
            </a:xfrm>
            <a:custGeom>
              <a:rect b="b" l="l" r="r" t="t"/>
              <a:pathLst>
                <a:path extrusionOk="0" h="85725" w="953">
                  <a:moveTo>
                    <a:pt x="0" y="0"/>
                  </a:moveTo>
                  <a:lnTo>
                    <a:pt x="0" y="85725"/>
                  </a:lnTo>
                </a:path>
              </a:pathLst>
            </a:custGeom>
            <a:noFill/>
            <a:ln cap="flat" cmpd="sng" w="14275">
              <a:solidFill>
                <a:srgbClr val="664092"/>
              </a:solidFill>
              <a:prstDash val="solid"/>
              <a:round/>
              <a:headEnd len="sm" w="sm" type="none"/>
              <a:tailEnd len="sm" w="sm" type="none"/>
            </a:ln>
          </p:spPr>
        </p:sp>
        <p:sp>
          <p:nvSpPr>
            <p:cNvPr id="154" name="Google Shape;154;p5"/>
            <p:cNvSpPr/>
            <p:nvPr/>
          </p:nvSpPr>
          <p:spPr>
            <a:xfrm>
              <a:off x="3513428" y="8028478"/>
              <a:ext cx="29872" cy="48722"/>
            </a:xfrm>
            <a:custGeom>
              <a:rect b="b" l="l" r="r" t="t"/>
              <a:pathLst>
                <a:path extrusionOk="0" h="48722" w="29872">
                  <a:moveTo>
                    <a:pt x="29872" y="48722"/>
                  </a:moveTo>
                  <a:lnTo>
                    <a:pt x="0" y="0"/>
                  </a:lnTo>
                </a:path>
              </a:pathLst>
            </a:custGeom>
            <a:noFill/>
            <a:ln cap="flat" cmpd="sng" w="14275">
              <a:solidFill>
                <a:srgbClr val="664092"/>
              </a:solidFill>
              <a:prstDash val="solid"/>
              <a:round/>
              <a:headEnd len="sm" w="sm" type="none"/>
              <a:tailEnd len="sm" w="sm" type="none"/>
            </a:ln>
          </p:spPr>
        </p:sp>
        <p:sp>
          <p:nvSpPr>
            <p:cNvPr id="155" name="Google Shape;155;p5"/>
            <p:cNvSpPr/>
            <p:nvPr/>
          </p:nvSpPr>
          <p:spPr>
            <a:xfrm>
              <a:off x="3543300" y="8028478"/>
              <a:ext cx="29872" cy="48722"/>
            </a:xfrm>
            <a:custGeom>
              <a:rect b="b" l="l" r="r" t="t"/>
              <a:pathLst>
                <a:path extrusionOk="0" h="48722" w="29872">
                  <a:moveTo>
                    <a:pt x="0" y="48722"/>
                  </a:moveTo>
                  <a:lnTo>
                    <a:pt x="29872" y="0"/>
                  </a:lnTo>
                </a:path>
              </a:pathLst>
            </a:custGeom>
            <a:noFill/>
            <a:ln cap="flat" cmpd="sng" w="14275">
              <a:solidFill>
                <a:srgbClr val="664092"/>
              </a:solidFill>
              <a:prstDash val="solid"/>
              <a:round/>
              <a:headEnd len="sm" w="sm" type="none"/>
              <a:tailEnd len="sm" w="sm" type="none"/>
            </a:ln>
          </p:spPr>
        </p:sp>
        <p:sp>
          <p:nvSpPr>
            <p:cNvPr id="156" name="Google Shape;156;p5"/>
            <p:cNvSpPr/>
            <p:nvPr/>
          </p:nvSpPr>
          <p:spPr>
            <a:xfrm>
              <a:off x="876300" y="8105775"/>
              <a:ext cx="5334000" cy="781050"/>
            </a:xfrm>
            <a:prstGeom prst="roundRect">
              <a:avLst>
                <a:gd fmla="val 24390"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1066800" y="8248650"/>
              <a:ext cx="1733550" cy="6191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Evidencia</a:t>
              </a:r>
              <a:endParaRPr/>
            </a:p>
          </p:txBody>
        </p:sp>
        <p:sp>
          <p:nvSpPr>
            <p:cNvPr id="158" name="Google Shape;158;p5"/>
            <p:cNvSpPr/>
            <p:nvPr/>
          </p:nvSpPr>
          <p:spPr>
            <a:xfrm>
              <a:off x="3076575" y="8248650"/>
              <a:ext cx="2914650" cy="6000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Información que permitirá decidir qué hacer con ella.</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6"/>
          <p:cNvSpPr/>
          <p:nvPr/>
        </p:nvSpPr>
        <p:spPr>
          <a:xfrm>
            <a:off x="876300" y="9067800"/>
            <a:ext cx="457200" cy="19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chemeClr val="lt1"/>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sp>
        <p:nvSpPr>
          <p:cNvPr id="165" name="Google Shape;165;p6"/>
          <p:cNvSpPr/>
          <p:nvPr/>
        </p:nvSpPr>
        <p:spPr>
          <a:xfrm>
            <a:off x="876300" y="723900"/>
            <a:ext cx="39052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Pensamiento de diseño</a:t>
            </a:r>
            <a:endParaRPr b="0" i="0" sz="1400" u="none" cap="none" strike="noStrike">
              <a:solidFill>
                <a:srgbClr val="000000"/>
              </a:solidFill>
              <a:latin typeface="Arial"/>
              <a:ea typeface="Arial"/>
              <a:cs typeface="Arial"/>
              <a:sym typeface="Arial"/>
            </a:endParaRPr>
          </a:p>
        </p:txBody>
      </p:sp>
      <p:cxnSp>
        <p:nvCxnSpPr>
          <p:cNvPr id="166" name="Google Shape;166;p6"/>
          <p:cNvCxnSpPr/>
          <p:nvPr/>
        </p:nvCxnSpPr>
        <p:spPr>
          <a:xfrm>
            <a:off x="984006" y="2498480"/>
            <a:ext cx="959094" cy="0"/>
          </a:xfrm>
          <a:prstGeom prst="straightConnector1">
            <a:avLst/>
          </a:prstGeom>
          <a:noFill/>
          <a:ln cap="flat" cmpd="sng" w="53975">
            <a:solidFill>
              <a:srgbClr val="73CDEB"/>
            </a:solidFill>
            <a:prstDash val="solid"/>
            <a:round/>
            <a:headEnd len="med" w="med" type="oval"/>
            <a:tailEnd len="med" w="med" type="oval"/>
          </a:ln>
        </p:spPr>
      </p:cxnSp>
      <p:grpSp>
        <p:nvGrpSpPr>
          <p:cNvPr id="167" name="Google Shape;167;p6"/>
          <p:cNvGrpSpPr/>
          <p:nvPr/>
        </p:nvGrpSpPr>
        <p:grpSpPr>
          <a:xfrm>
            <a:off x="876300" y="1381125"/>
            <a:ext cx="5334000" cy="7667625"/>
            <a:chOff x="876300" y="1381125"/>
            <a:chExt cx="5334000" cy="7667625"/>
          </a:xfrm>
        </p:grpSpPr>
        <p:sp>
          <p:nvSpPr>
            <p:cNvPr id="168" name="Google Shape;168;p6"/>
            <p:cNvSpPr/>
            <p:nvPr/>
          </p:nvSpPr>
          <p:spPr>
            <a:xfrm>
              <a:off x="876300" y="1381125"/>
              <a:ext cx="5334000" cy="100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2400" u="none" cap="none" strike="noStrike">
                  <a:solidFill>
                    <a:srgbClr val="664092"/>
                  </a:solidFill>
                  <a:latin typeface="Arial"/>
                  <a:ea typeface="Arial"/>
                  <a:cs typeface="Arial"/>
                  <a:sym typeface="Arial"/>
                </a:rPr>
                <a:t>Aprender temprano antes de invertir demasiado</a:t>
              </a:r>
              <a:endParaRPr/>
            </a:p>
          </p:txBody>
        </p:sp>
        <p:sp>
          <p:nvSpPr>
            <p:cNvPr id="169" name="Google Shape;169;p6"/>
            <p:cNvSpPr/>
            <p:nvPr/>
          </p:nvSpPr>
          <p:spPr>
            <a:xfrm>
              <a:off x="876300" y="2781300"/>
              <a:ext cx="533400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Un prototipo transforma una idea abstracta en una representación que permite explorar cómo podría funcionar. Puede representar un producto, servicio, interfaz, procedimiento, experiencia o secuencia de interacción.</a:t>
              </a:r>
              <a:endParaRPr/>
            </a:p>
          </p:txBody>
        </p:sp>
        <p:sp>
          <p:nvSpPr>
            <p:cNvPr id="170" name="Google Shape;170;p6"/>
            <p:cNvSpPr/>
            <p:nvPr/>
          </p:nvSpPr>
          <p:spPr>
            <a:xfrm>
              <a:off x="876300" y="3495675"/>
              <a:ext cx="5334000" cy="4095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Su objetivo principal no consiste en parecer un producto terminado, sino en hacer tangible una idea para aprender sobre ella.</a:t>
              </a:r>
              <a:endParaRPr/>
            </a:p>
          </p:txBody>
        </p:sp>
        <p:sp>
          <p:nvSpPr>
            <p:cNvPr id="171" name="Google Shape;171;p6"/>
            <p:cNvSpPr/>
            <p:nvPr/>
          </p:nvSpPr>
          <p:spPr>
            <a:xfrm>
              <a:off x="876300" y="4000500"/>
              <a:ext cx="5334000" cy="962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Por eso, en momentos iniciales puede resultar más conveniente construir representaciones sencillas, rápidas y económicas. Cuanto antes podamos observar una idea y obtener información sobre ella, más posibilidades tendremos de modificarla antes de comprometer grandes cantidades de tiempo o recursos.</a:t>
              </a:r>
              <a:endParaRPr/>
            </a:p>
          </p:txBody>
        </p:sp>
        <p:sp>
          <p:nvSpPr>
            <p:cNvPr id="172" name="Google Shape;172;p6"/>
            <p:cNvSpPr/>
            <p:nvPr/>
          </p:nvSpPr>
          <p:spPr>
            <a:xfrm>
              <a:off x="876300" y="5038725"/>
              <a:ext cx="5334000" cy="4095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El prototipado reduce la distancia entre imaginar una solución y observar cómo podría comportarse.</a:t>
              </a:r>
              <a:endParaRPr/>
            </a:p>
          </p:txBody>
        </p:sp>
        <p:sp>
          <p:nvSpPr>
            <p:cNvPr id="173" name="Google Shape;173;p6"/>
            <p:cNvSpPr/>
            <p:nvPr/>
          </p:nvSpPr>
          <p:spPr>
            <a:xfrm>
              <a:off x="876300" y="5581650"/>
              <a:ext cx="5334000" cy="523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Figura 3. Aprender temprano antes de invertir demasiado</a:t>
              </a:r>
              <a:endParaRPr/>
            </a:p>
          </p:txBody>
        </p:sp>
        <p:sp>
          <p:nvSpPr>
            <p:cNvPr id="174" name="Google Shape;174;p6"/>
            <p:cNvSpPr/>
            <p:nvPr/>
          </p:nvSpPr>
          <p:spPr>
            <a:xfrm>
              <a:off x="876300" y="6172200"/>
              <a:ext cx="5334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APRENDIZAJE TEMPRANO</a:t>
              </a:r>
              <a:endParaRPr/>
            </a:p>
          </p:txBody>
        </p:sp>
        <p:sp>
          <p:nvSpPr>
            <p:cNvPr id="175" name="Google Shape;175;p6"/>
            <p:cNvSpPr/>
            <p:nvPr/>
          </p:nvSpPr>
          <p:spPr>
            <a:xfrm>
              <a:off x="876300" y="6553200"/>
              <a:ext cx="952500" cy="619125"/>
            </a:xfrm>
            <a:prstGeom prst="roundRect">
              <a:avLst>
                <a:gd fmla="val 21538"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952500" y="6667500"/>
              <a:ext cx="800100"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064D95"/>
                  </a:solidFill>
                  <a:latin typeface="Arial"/>
                  <a:ea typeface="Arial"/>
                  <a:cs typeface="Arial"/>
                  <a:sym typeface="Arial"/>
                </a:rPr>
                <a:t>Idea</a:t>
              </a:r>
              <a:endParaRPr/>
            </a:p>
          </p:txBody>
        </p:sp>
        <p:sp>
          <p:nvSpPr>
            <p:cNvPr id="177" name="Google Shape;177;p6"/>
            <p:cNvSpPr/>
            <p:nvPr/>
          </p:nvSpPr>
          <p:spPr>
            <a:xfrm>
              <a:off x="1847850" y="6858000"/>
              <a:ext cx="95250" cy="953"/>
            </a:xfrm>
            <a:custGeom>
              <a:rect b="b" l="l" r="r" t="t"/>
              <a:pathLst>
                <a:path extrusionOk="0" h="953" w="95250">
                  <a:moveTo>
                    <a:pt x="0" y="0"/>
                  </a:moveTo>
                  <a:lnTo>
                    <a:pt x="95250" y="0"/>
                  </a:lnTo>
                </a:path>
              </a:pathLst>
            </a:custGeom>
            <a:noFill/>
            <a:ln cap="flat" cmpd="sng" w="14275">
              <a:solidFill>
                <a:srgbClr val="4478F5"/>
              </a:solidFill>
              <a:prstDash val="solid"/>
              <a:round/>
              <a:headEnd len="sm" w="sm" type="none"/>
              <a:tailEnd len="sm" w="sm" type="none"/>
            </a:ln>
          </p:spPr>
          <p:txBody>
            <a:bodyPr/>
            <a:p/>
          </p:txBody>
        </p:sp>
        <p:sp>
          <p:nvSpPr>
            <p:cNvPr id="178" name="Google Shape;178;p6"/>
            <p:cNvSpPr/>
            <p:nvPr/>
          </p:nvSpPr>
          <p:spPr>
            <a:xfrm>
              <a:off x="1894378" y="6858000"/>
              <a:ext cx="48722" cy="29872"/>
            </a:xfrm>
            <a:custGeom>
              <a:rect b="b" l="l" r="r" t="t"/>
              <a:pathLst>
                <a:path extrusionOk="0" h="29872" w="48722">
                  <a:moveTo>
                    <a:pt x="48722" y="0"/>
                  </a:moveTo>
                  <a:lnTo>
                    <a:pt x="0" y="29872"/>
                  </a:lnTo>
                </a:path>
              </a:pathLst>
            </a:custGeom>
            <a:noFill/>
            <a:ln cap="flat" cmpd="sng" w="14275">
              <a:solidFill>
                <a:srgbClr val="4478F5"/>
              </a:solidFill>
              <a:prstDash val="solid"/>
              <a:round/>
              <a:headEnd len="sm" w="sm" type="none"/>
              <a:tailEnd len="sm" w="sm" type="none"/>
            </a:ln>
          </p:spPr>
          <p:txBody>
            <a:bodyPr/>
            <a:p/>
          </p:txBody>
        </p:sp>
        <p:sp>
          <p:nvSpPr>
            <p:cNvPr id="179" name="Google Shape;179;p6"/>
            <p:cNvSpPr/>
            <p:nvPr/>
          </p:nvSpPr>
          <p:spPr>
            <a:xfrm>
              <a:off x="1894378" y="6828128"/>
              <a:ext cx="48722" cy="29872"/>
            </a:xfrm>
            <a:custGeom>
              <a:rect b="b" l="l" r="r" t="t"/>
              <a:pathLst>
                <a:path extrusionOk="0" h="29872" w="48722">
                  <a:moveTo>
                    <a:pt x="48722" y="29872"/>
                  </a:moveTo>
                  <a:lnTo>
                    <a:pt x="0" y="0"/>
                  </a:lnTo>
                </a:path>
              </a:pathLst>
            </a:custGeom>
            <a:noFill/>
            <a:ln cap="flat" cmpd="sng" w="14275">
              <a:solidFill>
                <a:srgbClr val="4478F5"/>
              </a:solidFill>
              <a:prstDash val="solid"/>
              <a:round/>
              <a:headEnd len="sm" w="sm" type="none"/>
              <a:tailEnd len="sm" w="sm" type="none"/>
            </a:ln>
          </p:spPr>
          <p:txBody>
            <a:bodyPr/>
            <a:p/>
          </p:txBody>
        </p:sp>
        <p:sp>
          <p:nvSpPr>
            <p:cNvPr id="180" name="Google Shape;180;p6"/>
            <p:cNvSpPr/>
            <p:nvPr/>
          </p:nvSpPr>
          <p:spPr>
            <a:xfrm>
              <a:off x="1971675" y="6553200"/>
              <a:ext cx="952500" cy="619125"/>
            </a:xfrm>
            <a:prstGeom prst="roundRect">
              <a:avLst>
                <a:gd fmla="val 21538"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2047875" y="6667500"/>
              <a:ext cx="800100"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064D95"/>
                  </a:solidFill>
                  <a:latin typeface="Arial"/>
                  <a:ea typeface="Arial"/>
                  <a:cs typeface="Arial"/>
                  <a:sym typeface="Arial"/>
                </a:rPr>
                <a:t>Prototipo sencillo</a:t>
              </a:r>
              <a:endParaRPr/>
            </a:p>
          </p:txBody>
        </p:sp>
        <p:sp>
          <p:nvSpPr>
            <p:cNvPr id="182" name="Google Shape;182;p6"/>
            <p:cNvSpPr/>
            <p:nvPr/>
          </p:nvSpPr>
          <p:spPr>
            <a:xfrm>
              <a:off x="2943225" y="6858000"/>
              <a:ext cx="95250" cy="953"/>
            </a:xfrm>
            <a:custGeom>
              <a:rect b="b" l="l" r="r" t="t"/>
              <a:pathLst>
                <a:path extrusionOk="0" h="953" w="95250">
                  <a:moveTo>
                    <a:pt x="0" y="0"/>
                  </a:moveTo>
                  <a:lnTo>
                    <a:pt x="95250" y="0"/>
                  </a:lnTo>
                </a:path>
              </a:pathLst>
            </a:custGeom>
            <a:noFill/>
            <a:ln cap="flat" cmpd="sng" w="14275">
              <a:solidFill>
                <a:srgbClr val="4478F5"/>
              </a:solidFill>
              <a:prstDash val="solid"/>
              <a:round/>
              <a:headEnd len="sm" w="sm" type="none"/>
              <a:tailEnd len="sm" w="sm" type="none"/>
            </a:ln>
          </p:spPr>
          <p:txBody>
            <a:bodyPr/>
            <a:p/>
          </p:txBody>
        </p:sp>
        <p:sp>
          <p:nvSpPr>
            <p:cNvPr id="183" name="Google Shape;183;p6"/>
            <p:cNvSpPr/>
            <p:nvPr/>
          </p:nvSpPr>
          <p:spPr>
            <a:xfrm>
              <a:off x="2989753" y="6858000"/>
              <a:ext cx="48722" cy="29872"/>
            </a:xfrm>
            <a:custGeom>
              <a:rect b="b" l="l" r="r" t="t"/>
              <a:pathLst>
                <a:path extrusionOk="0" h="29872" w="48722">
                  <a:moveTo>
                    <a:pt x="48722" y="0"/>
                  </a:moveTo>
                  <a:lnTo>
                    <a:pt x="0" y="29872"/>
                  </a:lnTo>
                </a:path>
              </a:pathLst>
            </a:custGeom>
            <a:noFill/>
            <a:ln cap="flat" cmpd="sng" w="14275">
              <a:solidFill>
                <a:srgbClr val="4478F5"/>
              </a:solidFill>
              <a:prstDash val="solid"/>
              <a:round/>
              <a:headEnd len="sm" w="sm" type="none"/>
              <a:tailEnd len="sm" w="sm" type="none"/>
            </a:ln>
          </p:spPr>
          <p:txBody>
            <a:bodyPr/>
            <a:p/>
          </p:txBody>
        </p:sp>
        <p:sp>
          <p:nvSpPr>
            <p:cNvPr id="184" name="Google Shape;184;p6"/>
            <p:cNvSpPr/>
            <p:nvPr/>
          </p:nvSpPr>
          <p:spPr>
            <a:xfrm>
              <a:off x="2989753" y="6828128"/>
              <a:ext cx="48722" cy="29872"/>
            </a:xfrm>
            <a:custGeom>
              <a:rect b="b" l="l" r="r" t="t"/>
              <a:pathLst>
                <a:path extrusionOk="0" h="29872" w="48722">
                  <a:moveTo>
                    <a:pt x="48722" y="29872"/>
                  </a:moveTo>
                  <a:lnTo>
                    <a:pt x="0" y="0"/>
                  </a:lnTo>
                </a:path>
              </a:pathLst>
            </a:custGeom>
            <a:noFill/>
            <a:ln cap="flat" cmpd="sng" w="14275">
              <a:solidFill>
                <a:srgbClr val="4478F5"/>
              </a:solidFill>
              <a:prstDash val="solid"/>
              <a:round/>
              <a:headEnd len="sm" w="sm" type="none"/>
              <a:tailEnd len="sm" w="sm" type="none"/>
            </a:ln>
          </p:spPr>
          <p:txBody>
            <a:bodyPr/>
            <a:p/>
          </p:txBody>
        </p:sp>
        <p:sp>
          <p:nvSpPr>
            <p:cNvPr id="185" name="Google Shape;185;p6"/>
            <p:cNvSpPr/>
            <p:nvPr/>
          </p:nvSpPr>
          <p:spPr>
            <a:xfrm>
              <a:off x="3067050" y="6553200"/>
              <a:ext cx="952500" cy="619125"/>
            </a:xfrm>
            <a:prstGeom prst="roundRect">
              <a:avLst>
                <a:gd fmla="val 21538"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3143250" y="6667500"/>
              <a:ext cx="800100"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064D95"/>
                  </a:solidFill>
                  <a:latin typeface="Arial"/>
                  <a:ea typeface="Arial"/>
                  <a:cs typeface="Arial"/>
                  <a:sym typeface="Arial"/>
                </a:rPr>
                <a:t>Prueba</a:t>
              </a:r>
              <a:endParaRPr/>
            </a:p>
          </p:txBody>
        </p:sp>
        <p:sp>
          <p:nvSpPr>
            <p:cNvPr id="187" name="Google Shape;187;p6"/>
            <p:cNvSpPr/>
            <p:nvPr/>
          </p:nvSpPr>
          <p:spPr>
            <a:xfrm>
              <a:off x="4038600" y="6858000"/>
              <a:ext cx="95250" cy="953"/>
            </a:xfrm>
            <a:custGeom>
              <a:rect b="b" l="l" r="r" t="t"/>
              <a:pathLst>
                <a:path extrusionOk="0" h="953" w="95250">
                  <a:moveTo>
                    <a:pt x="0" y="0"/>
                  </a:moveTo>
                  <a:lnTo>
                    <a:pt x="95250" y="0"/>
                  </a:lnTo>
                </a:path>
              </a:pathLst>
            </a:custGeom>
            <a:noFill/>
            <a:ln cap="flat" cmpd="sng" w="14275">
              <a:solidFill>
                <a:srgbClr val="4478F5"/>
              </a:solidFill>
              <a:prstDash val="solid"/>
              <a:round/>
              <a:headEnd len="sm" w="sm" type="none"/>
              <a:tailEnd len="sm" w="sm" type="none"/>
            </a:ln>
          </p:spPr>
          <p:txBody>
            <a:bodyPr/>
            <a:p/>
          </p:txBody>
        </p:sp>
        <p:sp>
          <p:nvSpPr>
            <p:cNvPr id="188" name="Google Shape;188;p6"/>
            <p:cNvSpPr/>
            <p:nvPr/>
          </p:nvSpPr>
          <p:spPr>
            <a:xfrm>
              <a:off x="4085128" y="6858000"/>
              <a:ext cx="48722" cy="29872"/>
            </a:xfrm>
            <a:custGeom>
              <a:rect b="b" l="l" r="r" t="t"/>
              <a:pathLst>
                <a:path extrusionOk="0" h="29872" w="48722">
                  <a:moveTo>
                    <a:pt x="48722" y="0"/>
                  </a:moveTo>
                  <a:lnTo>
                    <a:pt x="0" y="29872"/>
                  </a:lnTo>
                </a:path>
              </a:pathLst>
            </a:custGeom>
            <a:noFill/>
            <a:ln cap="flat" cmpd="sng" w="14275">
              <a:solidFill>
                <a:srgbClr val="4478F5"/>
              </a:solidFill>
              <a:prstDash val="solid"/>
              <a:round/>
              <a:headEnd len="sm" w="sm" type="none"/>
              <a:tailEnd len="sm" w="sm" type="none"/>
            </a:ln>
          </p:spPr>
          <p:txBody>
            <a:bodyPr/>
            <a:p/>
          </p:txBody>
        </p:sp>
        <p:sp>
          <p:nvSpPr>
            <p:cNvPr id="189" name="Google Shape;189;p6"/>
            <p:cNvSpPr/>
            <p:nvPr/>
          </p:nvSpPr>
          <p:spPr>
            <a:xfrm>
              <a:off x="4085128" y="6828128"/>
              <a:ext cx="48722" cy="29872"/>
            </a:xfrm>
            <a:custGeom>
              <a:rect b="b" l="l" r="r" t="t"/>
              <a:pathLst>
                <a:path extrusionOk="0" h="29872" w="48722">
                  <a:moveTo>
                    <a:pt x="48722" y="29872"/>
                  </a:moveTo>
                  <a:lnTo>
                    <a:pt x="0" y="0"/>
                  </a:lnTo>
                </a:path>
              </a:pathLst>
            </a:custGeom>
            <a:noFill/>
            <a:ln cap="flat" cmpd="sng" w="14275">
              <a:solidFill>
                <a:srgbClr val="4478F5"/>
              </a:solidFill>
              <a:prstDash val="solid"/>
              <a:round/>
              <a:headEnd len="sm" w="sm" type="none"/>
              <a:tailEnd len="sm" w="sm" type="none"/>
            </a:ln>
          </p:spPr>
          <p:txBody>
            <a:bodyPr/>
            <a:p/>
          </p:txBody>
        </p:sp>
        <p:sp>
          <p:nvSpPr>
            <p:cNvPr id="190" name="Google Shape;190;p6"/>
            <p:cNvSpPr/>
            <p:nvPr/>
          </p:nvSpPr>
          <p:spPr>
            <a:xfrm>
              <a:off x="4162425" y="6553200"/>
              <a:ext cx="952500" cy="619125"/>
            </a:xfrm>
            <a:prstGeom prst="roundRect">
              <a:avLst>
                <a:gd fmla="val 21538"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4238625" y="6667500"/>
              <a:ext cx="800100"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064D95"/>
                  </a:solidFill>
                  <a:latin typeface="Arial"/>
                  <a:ea typeface="Arial"/>
                  <a:cs typeface="Arial"/>
                  <a:sym typeface="Arial"/>
                </a:rPr>
                <a:t>Aprendizaje</a:t>
              </a:r>
              <a:endParaRPr/>
            </a:p>
          </p:txBody>
        </p:sp>
        <p:sp>
          <p:nvSpPr>
            <p:cNvPr id="192" name="Google Shape;192;p6"/>
            <p:cNvSpPr/>
            <p:nvPr/>
          </p:nvSpPr>
          <p:spPr>
            <a:xfrm>
              <a:off x="5133975" y="6858000"/>
              <a:ext cx="95250" cy="953"/>
            </a:xfrm>
            <a:custGeom>
              <a:rect b="b" l="l" r="r" t="t"/>
              <a:pathLst>
                <a:path extrusionOk="0" h="953" w="95250">
                  <a:moveTo>
                    <a:pt x="0" y="0"/>
                  </a:moveTo>
                  <a:lnTo>
                    <a:pt x="95250" y="0"/>
                  </a:lnTo>
                </a:path>
              </a:pathLst>
            </a:custGeom>
            <a:noFill/>
            <a:ln cap="flat" cmpd="sng" w="14275">
              <a:solidFill>
                <a:srgbClr val="4478F5"/>
              </a:solidFill>
              <a:prstDash val="solid"/>
              <a:round/>
              <a:headEnd len="sm" w="sm" type="none"/>
              <a:tailEnd len="sm" w="sm" type="none"/>
            </a:ln>
          </p:spPr>
          <p:txBody>
            <a:bodyPr/>
            <a:p/>
          </p:txBody>
        </p:sp>
        <p:sp>
          <p:nvSpPr>
            <p:cNvPr id="193" name="Google Shape;193;p6"/>
            <p:cNvSpPr/>
            <p:nvPr/>
          </p:nvSpPr>
          <p:spPr>
            <a:xfrm>
              <a:off x="5180503" y="6858000"/>
              <a:ext cx="48722" cy="29872"/>
            </a:xfrm>
            <a:custGeom>
              <a:rect b="b" l="l" r="r" t="t"/>
              <a:pathLst>
                <a:path extrusionOk="0" h="29872" w="48722">
                  <a:moveTo>
                    <a:pt x="48722" y="0"/>
                  </a:moveTo>
                  <a:lnTo>
                    <a:pt x="0" y="29872"/>
                  </a:lnTo>
                </a:path>
              </a:pathLst>
            </a:custGeom>
            <a:noFill/>
            <a:ln cap="flat" cmpd="sng" w="14275">
              <a:solidFill>
                <a:srgbClr val="4478F5"/>
              </a:solidFill>
              <a:prstDash val="solid"/>
              <a:round/>
              <a:headEnd len="sm" w="sm" type="none"/>
              <a:tailEnd len="sm" w="sm" type="none"/>
            </a:ln>
          </p:spPr>
          <p:txBody>
            <a:bodyPr/>
            <a:p/>
          </p:txBody>
        </p:sp>
        <p:sp>
          <p:nvSpPr>
            <p:cNvPr id="194" name="Google Shape;194;p6"/>
            <p:cNvSpPr/>
            <p:nvPr/>
          </p:nvSpPr>
          <p:spPr>
            <a:xfrm>
              <a:off x="5180503" y="6828128"/>
              <a:ext cx="48722" cy="29872"/>
            </a:xfrm>
            <a:custGeom>
              <a:rect b="b" l="l" r="r" t="t"/>
              <a:pathLst>
                <a:path extrusionOk="0" h="29872" w="48722">
                  <a:moveTo>
                    <a:pt x="48722" y="29872"/>
                  </a:moveTo>
                  <a:lnTo>
                    <a:pt x="0" y="0"/>
                  </a:lnTo>
                </a:path>
              </a:pathLst>
            </a:custGeom>
            <a:noFill/>
            <a:ln cap="flat" cmpd="sng" w="14275">
              <a:solidFill>
                <a:srgbClr val="4478F5"/>
              </a:solidFill>
              <a:prstDash val="solid"/>
              <a:round/>
              <a:headEnd len="sm" w="sm" type="none"/>
              <a:tailEnd len="sm" w="sm" type="none"/>
            </a:ln>
          </p:spPr>
          <p:txBody>
            <a:bodyPr/>
            <a:p/>
          </p:txBody>
        </p:sp>
        <p:sp>
          <p:nvSpPr>
            <p:cNvPr id="195" name="Google Shape;195;p6"/>
            <p:cNvSpPr/>
            <p:nvPr/>
          </p:nvSpPr>
          <p:spPr>
            <a:xfrm>
              <a:off x="5257800" y="6553200"/>
              <a:ext cx="952500" cy="619125"/>
            </a:xfrm>
            <a:prstGeom prst="roundRect">
              <a:avLst>
                <a:gd fmla="val 21538"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5334000" y="6667500"/>
              <a:ext cx="800100"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064D95"/>
                  </a:solidFill>
                  <a:latin typeface="Arial"/>
                  <a:ea typeface="Arial"/>
                  <a:cs typeface="Arial"/>
                  <a:sym typeface="Arial"/>
                </a:rPr>
                <a:t>Ajuste</a:t>
              </a:r>
              <a:endParaRPr/>
            </a:p>
          </p:txBody>
        </p:sp>
        <p:sp>
          <p:nvSpPr>
            <p:cNvPr id="197" name="Google Shape;197;p6"/>
            <p:cNvSpPr/>
            <p:nvPr/>
          </p:nvSpPr>
          <p:spPr>
            <a:xfrm>
              <a:off x="876300" y="7315200"/>
              <a:ext cx="5334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APRENDIZAJE TARDÍO</a:t>
              </a:r>
              <a:endParaRPr/>
            </a:p>
          </p:txBody>
        </p:sp>
        <p:sp>
          <p:nvSpPr>
            <p:cNvPr id="198" name="Google Shape;198;p6"/>
            <p:cNvSpPr/>
            <p:nvPr/>
          </p:nvSpPr>
          <p:spPr>
            <a:xfrm>
              <a:off x="876300" y="7667625"/>
              <a:ext cx="952500" cy="828675"/>
            </a:xfrm>
            <a:prstGeom prst="roundRect">
              <a:avLst>
                <a:gd fmla="val 16092"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952500" y="7781925"/>
              <a:ext cx="800100" cy="6953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664092"/>
                  </a:solidFill>
                  <a:latin typeface="Arial"/>
                  <a:ea typeface="Arial"/>
                  <a:cs typeface="Arial"/>
                  <a:sym typeface="Arial"/>
                </a:rPr>
                <a:t>Idea</a:t>
              </a:r>
              <a:endParaRPr/>
            </a:p>
          </p:txBody>
        </p:sp>
        <p:sp>
          <p:nvSpPr>
            <p:cNvPr id="200" name="Google Shape;200;p6"/>
            <p:cNvSpPr/>
            <p:nvPr/>
          </p:nvSpPr>
          <p:spPr>
            <a:xfrm>
              <a:off x="1847850" y="8077200"/>
              <a:ext cx="95250" cy="953"/>
            </a:xfrm>
            <a:custGeom>
              <a:rect b="b" l="l" r="r" t="t"/>
              <a:pathLst>
                <a:path extrusionOk="0" h="953" w="95250">
                  <a:moveTo>
                    <a:pt x="0" y="0"/>
                  </a:moveTo>
                  <a:lnTo>
                    <a:pt x="95250" y="0"/>
                  </a:lnTo>
                </a:path>
              </a:pathLst>
            </a:custGeom>
            <a:noFill/>
            <a:ln cap="flat" cmpd="sng" w="14275">
              <a:solidFill>
                <a:srgbClr val="664092"/>
              </a:solidFill>
              <a:prstDash val="solid"/>
              <a:round/>
              <a:headEnd len="sm" w="sm" type="none"/>
              <a:tailEnd len="sm" w="sm" type="none"/>
            </a:ln>
          </p:spPr>
          <p:txBody>
            <a:bodyPr/>
            <a:p/>
          </p:txBody>
        </p:sp>
        <p:sp>
          <p:nvSpPr>
            <p:cNvPr id="201" name="Google Shape;201;p6"/>
            <p:cNvSpPr/>
            <p:nvPr/>
          </p:nvSpPr>
          <p:spPr>
            <a:xfrm>
              <a:off x="1894378" y="8077200"/>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txBody>
            <a:bodyPr/>
            <a:p/>
          </p:txBody>
        </p:sp>
        <p:sp>
          <p:nvSpPr>
            <p:cNvPr id="202" name="Google Shape;202;p6"/>
            <p:cNvSpPr/>
            <p:nvPr/>
          </p:nvSpPr>
          <p:spPr>
            <a:xfrm>
              <a:off x="1894378" y="8047328"/>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txBody>
            <a:bodyPr/>
            <a:p/>
          </p:txBody>
        </p:sp>
        <p:sp>
          <p:nvSpPr>
            <p:cNvPr id="203" name="Google Shape;203;p6"/>
            <p:cNvSpPr/>
            <p:nvPr/>
          </p:nvSpPr>
          <p:spPr>
            <a:xfrm>
              <a:off x="1971675" y="7667625"/>
              <a:ext cx="952500" cy="828675"/>
            </a:xfrm>
            <a:prstGeom prst="roundRect">
              <a:avLst>
                <a:gd fmla="val 16092"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2047875" y="7781925"/>
              <a:ext cx="800100" cy="6953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664092"/>
                  </a:solidFill>
                  <a:latin typeface="Arial"/>
                  <a:ea typeface="Arial"/>
                  <a:cs typeface="Arial"/>
                  <a:sym typeface="Arial"/>
                </a:rPr>
                <a:t>Gran inversión</a:t>
              </a:r>
              <a:endParaRPr/>
            </a:p>
          </p:txBody>
        </p:sp>
        <p:sp>
          <p:nvSpPr>
            <p:cNvPr id="205" name="Google Shape;205;p6"/>
            <p:cNvSpPr/>
            <p:nvPr/>
          </p:nvSpPr>
          <p:spPr>
            <a:xfrm>
              <a:off x="2943225" y="8077200"/>
              <a:ext cx="95250" cy="953"/>
            </a:xfrm>
            <a:custGeom>
              <a:rect b="b" l="l" r="r" t="t"/>
              <a:pathLst>
                <a:path extrusionOk="0" h="953" w="95250">
                  <a:moveTo>
                    <a:pt x="0" y="0"/>
                  </a:moveTo>
                  <a:lnTo>
                    <a:pt x="95250" y="0"/>
                  </a:lnTo>
                </a:path>
              </a:pathLst>
            </a:custGeom>
            <a:noFill/>
            <a:ln cap="flat" cmpd="sng" w="14275">
              <a:solidFill>
                <a:srgbClr val="664092"/>
              </a:solidFill>
              <a:prstDash val="solid"/>
              <a:round/>
              <a:headEnd len="sm" w="sm" type="none"/>
              <a:tailEnd len="sm" w="sm" type="none"/>
            </a:ln>
          </p:spPr>
          <p:txBody>
            <a:bodyPr/>
            <a:p/>
          </p:txBody>
        </p:sp>
        <p:sp>
          <p:nvSpPr>
            <p:cNvPr id="206" name="Google Shape;206;p6"/>
            <p:cNvSpPr/>
            <p:nvPr/>
          </p:nvSpPr>
          <p:spPr>
            <a:xfrm>
              <a:off x="2989753" y="8077200"/>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txBody>
            <a:bodyPr/>
            <a:p/>
          </p:txBody>
        </p:sp>
        <p:sp>
          <p:nvSpPr>
            <p:cNvPr id="207" name="Google Shape;207;p6"/>
            <p:cNvSpPr/>
            <p:nvPr/>
          </p:nvSpPr>
          <p:spPr>
            <a:xfrm>
              <a:off x="2989753" y="8047328"/>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txBody>
            <a:bodyPr/>
            <a:p/>
          </p:txBody>
        </p:sp>
        <p:sp>
          <p:nvSpPr>
            <p:cNvPr id="208" name="Google Shape;208;p6"/>
            <p:cNvSpPr/>
            <p:nvPr/>
          </p:nvSpPr>
          <p:spPr>
            <a:xfrm>
              <a:off x="3067050" y="7667625"/>
              <a:ext cx="952500" cy="828675"/>
            </a:xfrm>
            <a:prstGeom prst="roundRect">
              <a:avLst>
                <a:gd fmla="val 16092"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p:nvPr/>
          </p:nvSpPr>
          <p:spPr>
            <a:xfrm>
              <a:off x="3143250" y="7781925"/>
              <a:ext cx="833438" cy="6953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664092"/>
                  </a:solidFill>
                  <a:latin typeface="Arial"/>
                  <a:ea typeface="Arial"/>
                  <a:cs typeface="Arial"/>
                  <a:sym typeface="Arial"/>
                </a:rPr>
                <a:t>Solución muy desarrollada</a:t>
              </a:r>
              <a:endParaRPr/>
            </a:p>
          </p:txBody>
        </p:sp>
        <p:sp>
          <p:nvSpPr>
            <p:cNvPr id="210" name="Google Shape;210;p6"/>
            <p:cNvSpPr/>
            <p:nvPr/>
          </p:nvSpPr>
          <p:spPr>
            <a:xfrm>
              <a:off x="4038600" y="8077200"/>
              <a:ext cx="95250" cy="953"/>
            </a:xfrm>
            <a:custGeom>
              <a:rect b="b" l="l" r="r" t="t"/>
              <a:pathLst>
                <a:path extrusionOk="0" h="953" w="95250">
                  <a:moveTo>
                    <a:pt x="0" y="0"/>
                  </a:moveTo>
                  <a:lnTo>
                    <a:pt x="95250" y="0"/>
                  </a:lnTo>
                </a:path>
              </a:pathLst>
            </a:custGeom>
            <a:noFill/>
            <a:ln cap="flat" cmpd="sng" w="14275">
              <a:solidFill>
                <a:srgbClr val="664092"/>
              </a:solidFill>
              <a:prstDash val="solid"/>
              <a:round/>
              <a:headEnd len="sm" w="sm" type="none"/>
              <a:tailEnd len="sm" w="sm" type="none"/>
            </a:ln>
          </p:spPr>
          <p:txBody>
            <a:bodyPr/>
            <a:p/>
          </p:txBody>
        </p:sp>
        <p:sp>
          <p:nvSpPr>
            <p:cNvPr id="211" name="Google Shape;211;p6"/>
            <p:cNvSpPr/>
            <p:nvPr/>
          </p:nvSpPr>
          <p:spPr>
            <a:xfrm>
              <a:off x="4085128" y="8077200"/>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txBody>
            <a:bodyPr/>
            <a:p/>
          </p:txBody>
        </p:sp>
        <p:sp>
          <p:nvSpPr>
            <p:cNvPr id="212" name="Google Shape;212;p6"/>
            <p:cNvSpPr/>
            <p:nvPr/>
          </p:nvSpPr>
          <p:spPr>
            <a:xfrm>
              <a:off x="4085128" y="8047328"/>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txBody>
            <a:bodyPr/>
            <a:p/>
          </p:txBody>
        </p:sp>
        <p:sp>
          <p:nvSpPr>
            <p:cNvPr id="213" name="Google Shape;213;p6"/>
            <p:cNvSpPr/>
            <p:nvPr/>
          </p:nvSpPr>
          <p:spPr>
            <a:xfrm>
              <a:off x="4162425" y="7667625"/>
              <a:ext cx="952500" cy="828675"/>
            </a:xfrm>
            <a:prstGeom prst="roundRect">
              <a:avLst>
                <a:gd fmla="val 16092"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6"/>
            <p:cNvSpPr/>
            <p:nvPr/>
          </p:nvSpPr>
          <p:spPr>
            <a:xfrm>
              <a:off x="4238625" y="7781925"/>
              <a:ext cx="800100" cy="6953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664092"/>
                  </a:solidFill>
                  <a:latin typeface="Arial"/>
                  <a:ea typeface="Arial"/>
                  <a:cs typeface="Arial"/>
                  <a:sym typeface="Arial"/>
                </a:rPr>
                <a:t>Problema descubierto tarde</a:t>
              </a:r>
              <a:endParaRPr/>
            </a:p>
          </p:txBody>
        </p:sp>
        <p:sp>
          <p:nvSpPr>
            <p:cNvPr id="215" name="Google Shape;215;p6"/>
            <p:cNvSpPr/>
            <p:nvPr/>
          </p:nvSpPr>
          <p:spPr>
            <a:xfrm>
              <a:off x="5133975" y="8077200"/>
              <a:ext cx="95250" cy="953"/>
            </a:xfrm>
            <a:custGeom>
              <a:rect b="b" l="l" r="r" t="t"/>
              <a:pathLst>
                <a:path extrusionOk="0" h="953" w="95250">
                  <a:moveTo>
                    <a:pt x="0" y="0"/>
                  </a:moveTo>
                  <a:lnTo>
                    <a:pt x="95250" y="0"/>
                  </a:lnTo>
                </a:path>
              </a:pathLst>
            </a:custGeom>
            <a:noFill/>
            <a:ln cap="flat" cmpd="sng" w="14275">
              <a:solidFill>
                <a:srgbClr val="664092"/>
              </a:solidFill>
              <a:prstDash val="solid"/>
              <a:round/>
              <a:headEnd len="sm" w="sm" type="none"/>
              <a:tailEnd len="sm" w="sm" type="none"/>
            </a:ln>
          </p:spPr>
          <p:txBody>
            <a:bodyPr/>
            <a:p/>
          </p:txBody>
        </p:sp>
        <p:sp>
          <p:nvSpPr>
            <p:cNvPr id="216" name="Google Shape;216;p6"/>
            <p:cNvSpPr/>
            <p:nvPr/>
          </p:nvSpPr>
          <p:spPr>
            <a:xfrm>
              <a:off x="5180503" y="8077200"/>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txBody>
            <a:bodyPr/>
            <a:p/>
          </p:txBody>
        </p:sp>
        <p:sp>
          <p:nvSpPr>
            <p:cNvPr id="217" name="Google Shape;217;p6"/>
            <p:cNvSpPr/>
            <p:nvPr/>
          </p:nvSpPr>
          <p:spPr>
            <a:xfrm>
              <a:off x="5180503" y="8047328"/>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txBody>
            <a:bodyPr/>
            <a:p/>
          </p:txBody>
        </p:sp>
        <p:sp>
          <p:nvSpPr>
            <p:cNvPr id="218" name="Google Shape;218;p6"/>
            <p:cNvSpPr/>
            <p:nvPr/>
          </p:nvSpPr>
          <p:spPr>
            <a:xfrm>
              <a:off x="5257800" y="7667625"/>
              <a:ext cx="952500" cy="828675"/>
            </a:xfrm>
            <a:prstGeom prst="roundRect">
              <a:avLst>
                <a:gd fmla="val 16092"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6"/>
            <p:cNvSpPr/>
            <p:nvPr/>
          </p:nvSpPr>
          <p:spPr>
            <a:xfrm>
              <a:off x="5334000" y="7781925"/>
              <a:ext cx="800100" cy="6953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664092"/>
                  </a:solidFill>
                  <a:latin typeface="Arial"/>
                  <a:ea typeface="Arial"/>
                  <a:cs typeface="Arial"/>
                  <a:sym typeface="Arial"/>
                </a:rPr>
                <a:t>Cambio más difícil</a:t>
              </a:r>
              <a:endParaRPr/>
            </a:p>
          </p:txBody>
        </p:sp>
        <p:sp>
          <p:nvSpPr>
            <p:cNvPr id="220" name="Google Shape;220;p6"/>
            <p:cNvSpPr/>
            <p:nvPr/>
          </p:nvSpPr>
          <p:spPr>
            <a:xfrm>
              <a:off x="5143500" y="7200900"/>
              <a:ext cx="106680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s-MX" sz="1000" u="none" cap="none" strike="noStrike">
                  <a:solidFill>
                    <a:srgbClr val="664092"/>
                  </a:solidFill>
                  <a:latin typeface="Arial"/>
                  <a:ea typeface="Arial"/>
                  <a:cs typeface="Arial"/>
                  <a:sym typeface="Arial"/>
                </a:rPr>
                <a:t>frente a</a:t>
              </a:r>
              <a:endParaRPr/>
            </a:p>
          </p:txBody>
        </p:sp>
        <p:sp>
          <p:nvSpPr>
            <p:cNvPr id="221" name="Google Shape;221;p6"/>
            <p:cNvSpPr/>
            <p:nvPr/>
          </p:nvSpPr>
          <p:spPr>
            <a:xfrm>
              <a:off x="876300" y="8543925"/>
              <a:ext cx="5334000" cy="504825"/>
            </a:xfrm>
            <a:prstGeom prst="roundRect">
              <a:avLst>
                <a:gd fmla="val 33962"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6"/>
            <p:cNvSpPr/>
            <p:nvPr/>
          </p:nvSpPr>
          <p:spPr>
            <a:xfrm>
              <a:off x="1047750" y="8658225"/>
              <a:ext cx="4991100" cy="3721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Prototipar permite aprender cuando modificar todavía resulta relativamente sencillo.</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9"/>
          <p:cNvSpPr/>
          <p:nvPr/>
        </p:nvSpPr>
        <p:spPr>
          <a:xfrm>
            <a:off x="876300" y="9067800"/>
            <a:ext cx="457200" cy="19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chemeClr val="lt1"/>
                </a:solidFill>
                <a:latin typeface="Arial"/>
                <a:ea typeface="Arial"/>
                <a:cs typeface="Arial"/>
                <a:sym typeface="Arial"/>
              </a:rPr>
              <a:t>07</a:t>
            </a:r>
            <a:endParaRPr b="0" i="0" sz="1400" u="none" cap="none" strike="noStrike">
              <a:solidFill>
                <a:srgbClr val="000000"/>
              </a:solidFill>
              <a:latin typeface="Arial"/>
              <a:ea typeface="Arial"/>
              <a:cs typeface="Arial"/>
              <a:sym typeface="Arial"/>
            </a:endParaRPr>
          </a:p>
        </p:txBody>
      </p:sp>
      <p:sp>
        <p:nvSpPr>
          <p:cNvPr id="229" name="Google Shape;229;p9"/>
          <p:cNvSpPr/>
          <p:nvPr/>
        </p:nvSpPr>
        <p:spPr>
          <a:xfrm>
            <a:off x="876300" y="723900"/>
            <a:ext cx="39052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Pensamiento de diseño</a:t>
            </a:r>
            <a:endParaRPr b="0" i="0" sz="1400" u="none" cap="none" strike="noStrike">
              <a:solidFill>
                <a:srgbClr val="000000"/>
              </a:solidFill>
              <a:latin typeface="Arial"/>
              <a:ea typeface="Arial"/>
              <a:cs typeface="Arial"/>
              <a:sym typeface="Arial"/>
            </a:endParaRPr>
          </a:p>
        </p:txBody>
      </p:sp>
      <p:cxnSp>
        <p:nvCxnSpPr>
          <p:cNvPr id="230" name="Google Shape;230;p9"/>
          <p:cNvCxnSpPr/>
          <p:nvPr/>
        </p:nvCxnSpPr>
        <p:spPr>
          <a:xfrm>
            <a:off x="984006" y="2498480"/>
            <a:ext cx="959094" cy="0"/>
          </a:xfrm>
          <a:prstGeom prst="straightConnector1">
            <a:avLst/>
          </a:prstGeom>
          <a:noFill/>
          <a:ln cap="flat" cmpd="sng" w="53975">
            <a:solidFill>
              <a:srgbClr val="73CDEB"/>
            </a:solidFill>
            <a:prstDash val="solid"/>
            <a:round/>
            <a:headEnd len="med" w="med" type="oval"/>
            <a:tailEnd len="med" w="med" type="oval"/>
          </a:ln>
        </p:spPr>
      </p:cxnSp>
      <p:grpSp>
        <p:nvGrpSpPr>
          <p:cNvPr id="231" name="Google Shape;231;p9"/>
          <p:cNvGrpSpPr/>
          <p:nvPr/>
        </p:nvGrpSpPr>
        <p:grpSpPr>
          <a:xfrm>
            <a:off x="876300" y="1381125"/>
            <a:ext cx="5334000" cy="7658100"/>
            <a:chOff x="876300" y="1381125"/>
            <a:chExt cx="5334000" cy="7658100"/>
          </a:xfrm>
        </p:grpSpPr>
        <p:sp>
          <p:nvSpPr>
            <p:cNvPr id="232" name="Google Shape;232;p9"/>
            <p:cNvSpPr/>
            <p:nvPr/>
          </p:nvSpPr>
          <p:spPr>
            <a:xfrm>
              <a:off x="876300" y="1381125"/>
              <a:ext cx="5334000" cy="100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2400" u="none" cap="none" strike="noStrike">
                  <a:solidFill>
                    <a:srgbClr val="664092"/>
                  </a:solidFill>
                  <a:latin typeface="Arial"/>
                  <a:ea typeface="Arial"/>
                  <a:cs typeface="Arial"/>
                  <a:sym typeface="Arial"/>
                </a:rPr>
                <a:t>¿Qué puede producir una prueba?</a:t>
              </a:r>
              <a:endParaRPr/>
            </a:p>
          </p:txBody>
        </p:sp>
        <p:sp>
          <p:nvSpPr>
            <p:cNvPr id="233" name="Google Shape;233;p9"/>
            <p:cNvSpPr/>
            <p:nvPr/>
          </p:nvSpPr>
          <p:spPr>
            <a:xfrm>
              <a:off x="876300" y="2781300"/>
              <a:ext cx="5334000" cy="581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Prototipar no significa demostrar que nuestra idea es correcta. Una representación puede revelar dificultades que no aparecieron durante la conversación o la ideación.</a:t>
              </a:r>
              <a:endParaRPr/>
            </a:p>
          </p:txBody>
        </p:sp>
        <p:sp>
          <p:nvSpPr>
            <p:cNvPr id="234" name="Google Shape;234;p9"/>
            <p:cNvSpPr/>
            <p:nvPr/>
          </p:nvSpPr>
          <p:spPr>
            <a:xfrm>
              <a:off x="876300" y="3495675"/>
              <a:ext cx="5334000" cy="9810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Una secuencia que parecía lógica puede resultar confusa al representarla; una característica considerada indispensable puede mostrar poca utilidad; o puede aparecer una necesidad que nos obligue a regresar a la comprensión de las personas o a la definición del problema.</a:t>
              </a:r>
              <a:endParaRPr/>
            </a:p>
          </p:txBody>
        </p:sp>
        <p:sp>
          <p:nvSpPr>
            <p:cNvPr id="235" name="Google Shape;235;p9"/>
            <p:cNvSpPr/>
            <p:nvPr/>
          </p:nvSpPr>
          <p:spPr>
            <a:xfrm>
              <a:off x="876300" y="4619625"/>
              <a:ext cx="5334000" cy="57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En estos casos, el proceso no ha fracasado. Hemos obtenido información antes de avanzar hacia una implementación más costosa.</a:t>
              </a:r>
              <a:endParaRPr/>
            </a:p>
          </p:txBody>
        </p:sp>
        <p:sp>
          <p:nvSpPr>
            <p:cNvPr id="236" name="Google Shape;236;p9"/>
            <p:cNvSpPr/>
            <p:nvPr/>
          </p:nvSpPr>
          <p:spPr>
            <a:xfrm>
              <a:off x="876300" y="5514975"/>
              <a:ext cx="53340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Figura 4. ¿Qué puede producir una prueba?</a:t>
              </a:r>
              <a:endParaRPr/>
            </a:p>
          </p:txBody>
        </p:sp>
        <p:sp>
          <p:nvSpPr>
            <p:cNvPr id="237" name="Google Shape;237;p9"/>
            <p:cNvSpPr/>
            <p:nvPr/>
          </p:nvSpPr>
          <p:spPr>
            <a:xfrm>
              <a:off x="876300" y="6267450"/>
              <a:ext cx="1676400" cy="2190750"/>
            </a:xfrm>
            <a:prstGeom prst="roundRect">
              <a:avLst>
                <a:gd fmla="val 11364"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990600" y="6429375"/>
              <a:ext cx="1447800" cy="342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CONFIRMA</a:t>
              </a:r>
              <a:endParaRPr/>
            </a:p>
          </p:txBody>
        </p:sp>
        <p:sp>
          <p:nvSpPr>
            <p:cNvPr id="239" name="Google Shape;239;p9"/>
            <p:cNvSpPr/>
            <p:nvPr/>
          </p:nvSpPr>
          <p:spPr>
            <a:xfrm>
              <a:off x="1000125" y="6953250"/>
              <a:ext cx="1428750" cy="6572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Algunas decisiones funcionan.</a:t>
              </a:r>
              <a:endParaRPr/>
            </a:p>
          </p:txBody>
        </p:sp>
        <p:sp>
          <p:nvSpPr>
            <p:cNvPr id="240" name="Google Shape;240;p9"/>
            <p:cNvSpPr/>
            <p:nvPr/>
          </p:nvSpPr>
          <p:spPr>
            <a:xfrm>
              <a:off x="1714500" y="7581900"/>
              <a:ext cx="953" cy="142875"/>
            </a:xfrm>
            <a:custGeom>
              <a:rect b="b" l="l" r="r" t="t"/>
              <a:pathLst>
                <a:path extrusionOk="0" h="142875" w="953">
                  <a:moveTo>
                    <a:pt x="0" y="0"/>
                  </a:moveTo>
                  <a:lnTo>
                    <a:pt x="0" y="142875"/>
                  </a:lnTo>
                </a:path>
              </a:pathLst>
            </a:custGeom>
            <a:noFill/>
            <a:ln cap="flat" cmpd="sng" w="14275">
              <a:solidFill>
                <a:srgbClr val="664092"/>
              </a:solidFill>
              <a:prstDash val="solid"/>
              <a:round/>
              <a:headEnd len="sm" w="sm" type="none"/>
              <a:tailEnd len="sm" w="sm" type="none"/>
            </a:ln>
          </p:spPr>
        </p:sp>
        <p:sp>
          <p:nvSpPr>
            <p:cNvPr id="241" name="Google Shape;241;p9"/>
            <p:cNvSpPr/>
            <p:nvPr/>
          </p:nvSpPr>
          <p:spPr>
            <a:xfrm>
              <a:off x="1684628" y="7676053"/>
              <a:ext cx="29872" cy="48722"/>
            </a:xfrm>
            <a:custGeom>
              <a:rect b="b" l="l" r="r" t="t"/>
              <a:pathLst>
                <a:path extrusionOk="0" h="48722" w="29872">
                  <a:moveTo>
                    <a:pt x="29872" y="48722"/>
                  </a:moveTo>
                  <a:lnTo>
                    <a:pt x="0" y="0"/>
                  </a:lnTo>
                </a:path>
              </a:pathLst>
            </a:custGeom>
            <a:noFill/>
            <a:ln cap="flat" cmpd="sng" w="14275">
              <a:solidFill>
                <a:srgbClr val="664092"/>
              </a:solidFill>
              <a:prstDash val="solid"/>
              <a:round/>
              <a:headEnd len="sm" w="sm" type="none"/>
              <a:tailEnd len="sm" w="sm" type="none"/>
            </a:ln>
          </p:spPr>
        </p:sp>
        <p:sp>
          <p:nvSpPr>
            <p:cNvPr id="242" name="Google Shape;242;p9"/>
            <p:cNvSpPr/>
            <p:nvPr/>
          </p:nvSpPr>
          <p:spPr>
            <a:xfrm>
              <a:off x="1714500" y="7676053"/>
              <a:ext cx="29872" cy="48722"/>
            </a:xfrm>
            <a:custGeom>
              <a:rect b="b" l="l" r="r" t="t"/>
              <a:pathLst>
                <a:path extrusionOk="0" h="48722" w="29872">
                  <a:moveTo>
                    <a:pt x="0" y="48722"/>
                  </a:moveTo>
                  <a:lnTo>
                    <a:pt x="29872" y="0"/>
                  </a:lnTo>
                </a:path>
              </a:pathLst>
            </a:custGeom>
            <a:noFill/>
            <a:ln cap="flat" cmpd="sng" w="14275">
              <a:solidFill>
                <a:srgbClr val="664092"/>
              </a:solidFill>
              <a:prstDash val="solid"/>
              <a:round/>
              <a:headEnd len="sm" w="sm" type="none"/>
              <a:tailEnd len="sm" w="sm" type="none"/>
            </a:ln>
          </p:spPr>
        </p:sp>
        <p:sp>
          <p:nvSpPr>
            <p:cNvPr id="243" name="Google Shape;243;p9"/>
            <p:cNvSpPr/>
            <p:nvPr/>
          </p:nvSpPr>
          <p:spPr>
            <a:xfrm>
              <a:off x="1000125" y="7829550"/>
              <a:ext cx="1428750" cy="55499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Conservamos y seguimos aprendiendo.</a:t>
              </a:r>
              <a:endParaRPr/>
            </a:p>
          </p:txBody>
        </p:sp>
        <p:sp>
          <p:nvSpPr>
            <p:cNvPr id="244" name="Google Shape;244;p9"/>
            <p:cNvSpPr/>
            <p:nvPr/>
          </p:nvSpPr>
          <p:spPr>
            <a:xfrm>
              <a:off x="2705100" y="6267450"/>
              <a:ext cx="1676400" cy="2190750"/>
            </a:xfrm>
            <a:prstGeom prst="roundRect">
              <a:avLst>
                <a:gd fmla="val 11364"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2819400" y="6429375"/>
              <a:ext cx="1447800" cy="342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700" u="none" cap="none" strike="noStrike">
                  <a:solidFill>
                    <a:srgbClr val="4478F5"/>
                  </a:solidFill>
                  <a:latin typeface="Arial"/>
                  <a:ea typeface="Arial"/>
                  <a:cs typeface="Arial"/>
                  <a:sym typeface="Arial"/>
                </a:rPr>
                <a:t>CUESTIONA</a:t>
              </a:r>
              <a:endParaRPr/>
            </a:p>
          </p:txBody>
        </p:sp>
        <p:sp>
          <p:nvSpPr>
            <p:cNvPr id="246" name="Google Shape;246;p9"/>
            <p:cNvSpPr/>
            <p:nvPr/>
          </p:nvSpPr>
          <p:spPr>
            <a:xfrm>
              <a:off x="2828925" y="6953250"/>
              <a:ext cx="1428750" cy="6572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Aparecen dificultades o contradicciones.</a:t>
              </a:r>
              <a:endParaRPr/>
            </a:p>
          </p:txBody>
        </p:sp>
        <p:sp>
          <p:nvSpPr>
            <p:cNvPr id="247" name="Google Shape;247;p9"/>
            <p:cNvSpPr/>
            <p:nvPr/>
          </p:nvSpPr>
          <p:spPr>
            <a:xfrm>
              <a:off x="3543300" y="7581900"/>
              <a:ext cx="953" cy="142875"/>
            </a:xfrm>
            <a:custGeom>
              <a:rect b="b" l="l" r="r" t="t"/>
              <a:pathLst>
                <a:path extrusionOk="0" h="142875" w="953">
                  <a:moveTo>
                    <a:pt x="0" y="0"/>
                  </a:moveTo>
                  <a:lnTo>
                    <a:pt x="0" y="142875"/>
                  </a:lnTo>
                </a:path>
              </a:pathLst>
            </a:custGeom>
            <a:noFill/>
            <a:ln cap="flat" cmpd="sng" w="14275">
              <a:solidFill>
                <a:srgbClr val="4478F5"/>
              </a:solidFill>
              <a:prstDash val="solid"/>
              <a:round/>
              <a:headEnd len="sm" w="sm" type="none"/>
              <a:tailEnd len="sm" w="sm" type="none"/>
            </a:ln>
          </p:spPr>
        </p:sp>
        <p:sp>
          <p:nvSpPr>
            <p:cNvPr id="248" name="Google Shape;248;p9"/>
            <p:cNvSpPr/>
            <p:nvPr/>
          </p:nvSpPr>
          <p:spPr>
            <a:xfrm>
              <a:off x="3513428" y="7676053"/>
              <a:ext cx="29872" cy="48722"/>
            </a:xfrm>
            <a:custGeom>
              <a:rect b="b" l="l" r="r" t="t"/>
              <a:pathLst>
                <a:path extrusionOk="0" h="48722" w="29872">
                  <a:moveTo>
                    <a:pt x="29872" y="48722"/>
                  </a:moveTo>
                  <a:lnTo>
                    <a:pt x="0" y="0"/>
                  </a:lnTo>
                </a:path>
              </a:pathLst>
            </a:custGeom>
            <a:noFill/>
            <a:ln cap="flat" cmpd="sng" w="14275">
              <a:solidFill>
                <a:srgbClr val="4478F5"/>
              </a:solidFill>
              <a:prstDash val="solid"/>
              <a:round/>
              <a:headEnd len="sm" w="sm" type="none"/>
              <a:tailEnd len="sm" w="sm" type="none"/>
            </a:ln>
          </p:spPr>
        </p:sp>
        <p:sp>
          <p:nvSpPr>
            <p:cNvPr id="249" name="Google Shape;249;p9"/>
            <p:cNvSpPr/>
            <p:nvPr/>
          </p:nvSpPr>
          <p:spPr>
            <a:xfrm>
              <a:off x="3543300" y="7676053"/>
              <a:ext cx="29872" cy="48722"/>
            </a:xfrm>
            <a:custGeom>
              <a:rect b="b" l="l" r="r" t="t"/>
              <a:pathLst>
                <a:path extrusionOk="0" h="48722" w="29872">
                  <a:moveTo>
                    <a:pt x="0" y="48722"/>
                  </a:moveTo>
                  <a:lnTo>
                    <a:pt x="29872" y="0"/>
                  </a:lnTo>
                </a:path>
              </a:pathLst>
            </a:custGeom>
            <a:noFill/>
            <a:ln cap="flat" cmpd="sng" w="14275">
              <a:solidFill>
                <a:srgbClr val="4478F5"/>
              </a:solidFill>
              <a:prstDash val="solid"/>
              <a:round/>
              <a:headEnd len="sm" w="sm" type="none"/>
              <a:tailEnd len="sm" w="sm" type="none"/>
            </a:ln>
          </p:spPr>
        </p:sp>
        <p:sp>
          <p:nvSpPr>
            <p:cNvPr id="250" name="Google Shape;250;p9"/>
            <p:cNvSpPr/>
            <p:nvPr/>
          </p:nvSpPr>
          <p:spPr>
            <a:xfrm>
              <a:off x="2828925" y="7829550"/>
              <a:ext cx="1428750" cy="5143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200" u="none" cap="none" strike="noStrike">
                  <a:solidFill>
                    <a:srgbClr val="4478F5"/>
                  </a:solidFill>
                  <a:latin typeface="Arial"/>
                  <a:ea typeface="Arial"/>
                  <a:cs typeface="Arial"/>
                  <a:sym typeface="Arial"/>
                </a:rPr>
                <a:t>Revisamos y ajustamos.</a:t>
              </a:r>
              <a:endParaRPr/>
            </a:p>
          </p:txBody>
        </p:sp>
        <p:sp>
          <p:nvSpPr>
            <p:cNvPr id="251" name="Google Shape;251;p9"/>
            <p:cNvSpPr/>
            <p:nvPr/>
          </p:nvSpPr>
          <p:spPr>
            <a:xfrm>
              <a:off x="4533900" y="6267450"/>
              <a:ext cx="1676400" cy="2190750"/>
            </a:xfrm>
            <a:prstGeom prst="roundRect">
              <a:avLst>
                <a:gd fmla="val 11364"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a:off x="4648200" y="6429375"/>
              <a:ext cx="1447800" cy="342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700" u="none" cap="none" strike="noStrike">
                  <a:solidFill>
                    <a:srgbClr val="064D95"/>
                  </a:solidFill>
                  <a:latin typeface="Arial"/>
                  <a:ea typeface="Arial"/>
                  <a:cs typeface="Arial"/>
                  <a:sym typeface="Arial"/>
                </a:rPr>
                <a:t>REVELA</a:t>
              </a:r>
              <a:endParaRPr/>
            </a:p>
          </p:txBody>
        </p:sp>
        <p:sp>
          <p:nvSpPr>
            <p:cNvPr id="253" name="Google Shape;253;p9"/>
            <p:cNvSpPr/>
            <p:nvPr/>
          </p:nvSpPr>
          <p:spPr>
            <a:xfrm>
              <a:off x="4657725" y="6953250"/>
              <a:ext cx="1428750" cy="6572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Surge información que no habíamos considerado.</a:t>
              </a:r>
              <a:endParaRPr/>
            </a:p>
          </p:txBody>
        </p:sp>
        <p:sp>
          <p:nvSpPr>
            <p:cNvPr id="254" name="Google Shape;254;p9"/>
            <p:cNvSpPr/>
            <p:nvPr/>
          </p:nvSpPr>
          <p:spPr>
            <a:xfrm>
              <a:off x="5372100" y="7581900"/>
              <a:ext cx="953" cy="142875"/>
            </a:xfrm>
            <a:custGeom>
              <a:rect b="b" l="l" r="r" t="t"/>
              <a:pathLst>
                <a:path extrusionOk="0" h="142875" w="953">
                  <a:moveTo>
                    <a:pt x="0" y="0"/>
                  </a:moveTo>
                  <a:lnTo>
                    <a:pt x="0" y="142875"/>
                  </a:lnTo>
                </a:path>
              </a:pathLst>
            </a:custGeom>
            <a:noFill/>
            <a:ln cap="flat" cmpd="sng" w="14275">
              <a:solidFill>
                <a:srgbClr val="064D95"/>
              </a:solidFill>
              <a:prstDash val="solid"/>
              <a:round/>
              <a:headEnd len="sm" w="sm" type="none"/>
              <a:tailEnd len="sm" w="sm" type="none"/>
            </a:ln>
          </p:spPr>
        </p:sp>
        <p:sp>
          <p:nvSpPr>
            <p:cNvPr id="255" name="Google Shape;255;p9"/>
            <p:cNvSpPr/>
            <p:nvPr/>
          </p:nvSpPr>
          <p:spPr>
            <a:xfrm>
              <a:off x="5342228" y="7676053"/>
              <a:ext cx="29872" cy="48722"/>
            </a:xfrm>
            <a:custGeom>
              <a:rect b="b" l="l" r="r" t="t"/>
              <a:pathLst>
                <a:path extrusionOk="0" h="48722" w="29872">
                  <a:moveTo>
                    <a:pt x="29872" y="48722"/>
                  </a:moveTo>
                  <a:lnTo>
                    <a:pt x="0" y="0"/>
                  </a:lnTo>
                </a:path>
              </a:pathLst>
            </a:custGeom>
            <a:noFill/>
            <a:ln cap="flat" cmpd="sng" w="14275">
              <a:solidFill>
                <a:srgbClr val="064D95"/>
              </a:solidFill>
              <a:prstDash val="solid"/>
              <a:round/>
              <a:headEnd len="sm" w="sm" type="none"/>
              <a:tailEnd len="sm" w="sm" type="none"/>
            </a:ln>
          </p:spPr>
        </p:sp>
        <p:sp>
          <p:nvSpPr>
            <p:cNvPr id="256" name="Google Shape;256;p9"/>
            <p:cNvSpPr/>
            <p:nvPr/>
          </p:nvSpPr>
          <p:spPr>
            <a:xfrm>
              <a:off x="5372100" y="7676053"/>
              <a:ext cx="29872" cy="48722"/>
            </a:xfrm>
            <a:custGeom>
              <a:rect b="b" l="l" r="r" t="t"/>
              <a:pathLst>
                <a:path extrusionOk="0" h="48722" w="29872">
                  <a:moveTo>
                    <a:pt x="0" y="48722"/>
                  </a:moveTo>
                  <a:lnTo>
                    <a:pt x="29872" y="0"/>
                  </a:lnTo>
                </a:path>
              </a:pathLst>
            </a:custGeom>
            <a:noFill/>
            <a:ln cap="flat" cmpd="sng" w="14275">
              <a:solidFill>
                <a:srgbClr val="064D95"/>
              </a:solidFill>
              <a:prstDash val="solid"/>
              <a:round/>
              <a:headEnd len="sm" w="sm" type="none"/>
              <a:tailEnd len="sm" w="sm" type="none"/>
            </a:ln>
          </p:spPr>
        </p:sp>
        <p:sp>
          <p:nvSpPr>
            <p:cNvPr id="257" name="Google Shape;257;p9"/>
            <p:cNvSpPr/>
            <p:nvPr/>
          </p:nvSpPr>
          <p:spPr>
            <a:xfrm>
              <a:off x="4657725" y="7829550"/>
              <a:ext cx="1428750" cy="5143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200" u="none" cap="none" strike="noStrike">
                  <a:solidFill>
                    <a:srgbClr val="064D95"/>
                  </a:solidFill>
                  <a:latin typeface="Arial"/>
                  <a:ea typeface="Arial"/>
                  <a:cs typeface="Arial"/>
                  <a:sym typeface="Arial"/>
                </a:rPr>
                <a:t>Ampliamos nuestra comprensión.</a:t>
              </a:r>
              <a:endParaRPr/>
            </a:p>
          </p:txBody>
        </p:sp>
        <p:sp>
          <p:nvSpPr>
            <p:cNvPr id="258" name="Google Shape;258;p9"/>
            <p:cNvSpPr/>
            <p:nvPr/>
          </p:nvSpPr>
          <p:spPr>
            <a:xfrm>
              <a:off x="876300" y="8629650"/>
              <a:ext cx="5334000" cy="409575"/>
            </a:xfrm>
            <a:prstGeom prst="roundRect">
              <a:avLst>
                <a:gd fmla="val 41860"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p:nvPr/>
          </p:nvSpPr>
          <p:spPr>
            <a:xfrm>
              <a:off x="1047750" y="8743950"/>
              <a:ext cx="4991100" cy="2190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En los tres casos obtenemos información para decidir.</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0"/>
          <p:cNvSpPr/>
          <p:nvPr/>
        </p:nvSpPr>
        <p:spPr>
          <a:xfrm>
            <a:off x="876300" y="9067800"/>
            <a:ext cx="457200" cy="19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chemeClr val="lt1"/>
                </a:solidFill>
                <a:latin typeface="Arial"/>
                <a:ea typeface="Arial"/>
                <a:cs typeface="Arial"/>
                <a:sym typeface="Arial"/>
              </a:rPr>
              <a:t>08</a:t>
            </a:r>
            <a:endParaRPr b="0" i="0" sz="1400" u="none" cap="none" strike="noStrike">
              <a:solidFill>
                <a:srgbClr val="000000"/>
              </a:solidFill>
              <a:latin typeface="Arial"/>
              <a:ea typeface="Arial"/>
              <a:cs typeface="Arial"/>
              <a:sym typeface="Arial"/>
            </a:endParaRPr>
          </a:p>
        </p:txBody>
      </p:sp>
      <p:sp>
        <p:nvSpPr>
          <p:cNvPr id="266" name="Google Shape;266;p10"/>
          <p:cNvSpPr/>
          <p:nvPr/>
        </p:nvSpPr>
        <p:spPr>
          <a:xfrm>
            <a:off x="876300" y="723900"/>
            <a:ext cx="39052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Pensamiento de diseño</a:t>
            </a:r>
            <a:endParaRPr b="0" i="0" sz="1400" u="none" cap="none" strike="noStrike">
              <a:solidFill>
                <a:srgbClr val="000000"/>
              </a:solidFill>
              <a:latin typeface="Arial"/>
              <a:ea typeface="Arial"/>
              <a:cs typeface="Arial"/>
              <a:sym typeface="Arial"/>
            </a:endParaRPr>
          </a:p>
        </p:txBody>
      </p:sp>
      <p:cxnSp>
        <p:nvCxnSpPr>
          <p:cNvPr id="267" name="Google Shape;267;p10"/>
          <p:cNvCxnSpPr/>
          <p:nvPr/>
        </p:nvCxnSpPr>
        <p:spPr>
          <a:xfrm>
            <a:off x="984006" y="2498480"/>
            <a:ext cx="959094" cy="0"/>
          </a:xfrm>
          <a:prstGeom prst="straightConnector1">
            <a:avLst/>
          </a:prstGeom>
          <a:noFill/>
          <a:ln cap="flat" cmpd="sng" w="53975">
            <a:solidFill>
              <a:srgbClr val="73CDEB"/>
            </a:solidFill>
            <a:prstDash val="solid"/>
            <a:round/>
            <a:headEnd len="med" w="med" type="oval"/>
            <a:tailEnd len="med" w="med" type="oval"/>
          </a:ln>
        </p:spPr>
      </p:cxnSp>
      <p:grpSp>
        <p:nvGrpSpPr>
          <p:cNvPr id="268" name="Google Shape;268;p10"/>
          <p:cNvGrpSpPr/>
          <p:nvPr/>
        </p:nvGrpSpPr>
        <p:grpSpPr>
          <a:xfrm>
            <a:off x="876300" y="1381125"/>
            <a:ext cx="5334000" cy="7562850"/>
            <a:chOff x="876300" y="1381125"/>
            <a:chExt cx="5334000" cy="7562850"/>
          </a:xfrm>
        </p:grpSpPr>
        <p:sp>
          <p:nvSpPr>
            <p:cNvPr id="269" name="Google Shape;269;p10"/>
            <p:cNvSpPr/>
            <p:nvPr/>
          </p:nvSpPr>
          <p:spPr>
            <a:xfrm>
              <a:off x="876300" y="1381125"/>
              <a:ext cx="5334000" cy="100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2400" u="none" cap="none" strike="noStrike">
                  <a:solidFill>
                    <a:srgbClr val="664092"/>
                  </a:solidFill>
                  <a:latin typeface="Arial"/>
                  <a:ea typeface="Arial"/>
                  <a:cs typeface="Arial"/>
                  <a:sym typeface="Arial"/>
                </a:rPr>
                <a:t>“¿Te gusta?” vs. observar la interacción</a:t>
              </a:r>
              <a:endParaRPr/>
            </a:p>
          </p:txBody>
        </p:sp>
        <p:sp>
          <p:nvSpPr>
            <p:cNvPr id="270" name="Google Shape;270;p10"/>
            <p:cNvSpPr/>
            <p:nvPr/>
          </p:nvSpPr>
          <p:spPr>
            <a:xfrm>
              <a:off x="876300" y="2781300"/>
              <a:ext cx="5334000" cy="76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Cuando un prototipo entra en contacto con las personas buscamos observar su interacción, recopilar retroalimentación y reconocer qué funciona, qué genera dificultades y qué requiere modificaciones.</a:t>
              </a:r>
              <a:endParaRPr/>
            </a:p>
          </p:txBody>
        </p:sp>
        <p:sp>
          <p:nvSpPr>
            <p:cNvPr id="271" name="Google Shape;271;p10"/>
            <p:cNvSpPr/>
            <p:nvPr/>
          </p:nvSpPr>
          <p:spPr>
            <a:xfrm>
              <a:off x="876300" y="3676650"/>
              <a:ext cx="5334000" cy="57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Preguntar si una persona “le gusta” una propuesta puede aportar una opinión, pero no necesariamente explica cómo funciona la experiencia.</a:t>
              </a:r>
              <a:endParaRPr/>
            </a:p>
          </p:txBody>
        </p:sp>
        <p:sp>
          <p:nvSpPr>
            <p:cNvPr id="272" name="Google Shape;272;p10"/>
            <p:cNvSpPr/>
            <p:nvPr/>
          </p:nvSpPr>
          <p:spPr>
            <a:xfrm>
              <a:off x="876300" y="4752975"/>
              <a:ext cx="171450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NO SOLO</a:t>
              </a:r>
              <a:endParaRPr/>
            </a:p>
          </p:txBody>
        </p:sp>
        <p:sp>
          <p:nvSpPr>
            <p:cNvPr id="273" name="Google Shape;273;p10"/>
            <p:cNvSpPr/>
            <p:nvPr/>
          </p:nvSpPr>
          <p:spPr>
            <a:xfrm>
              <a:off x="2943225" y="4752975"/>
              <a:ext cx="3267075"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OBSERVEMOS TAMBIÉN</a:t>
              </a:r>
              <a:endParaRPr/>
            </a:p>
          </p:txBody>
        </p:sp>
        <p:sp>
          <p:nvSpPr>
            <p:cNvPr id="274" name="Google Shape;274;p10"/>
            <p:cNvSpPr/>
            <p:nvPr/>
          </p:nvSpPr>
          <p:spPr>
            <a:xfrm>
              <a:off x="2733675" y="4695825"/>
              <a:ext cx="953" cy="2867025"/>
            </a:xfrm>
            <a:custGeom>
              <a:rect b="b" l="l" r="r" t="t"/>
              <a:pathLst>
                <a:path extrusionOk="0" h="2867025" w="953">
                  <a:moveTo>
                    <a:pt x="0" y="0"/>
                  </a:moveTo>
                  <a:lnTo>
                    <a:pt x="0" y="2867025"/>
                  </a:lnTo>
                </a:path>
              </a:pathLst>
            </a:custGeom>
            <a:noFill/>
            <a:ln cap="flat" cmpd="sng" w="12375">
              <a:solidFill>
                <a:srgbClr val="D4CEDF"/>
              </a:solidFill>
              <a:prstDash val="solid"/>
              <a:round/>
              <a:headEnd len="sm" w="sm" type="none"/>
              <a:tailEnd len="sm" w="sm" type="none"/>
            </a:ln>
          </p:spPr>
        </p:sp>
        <p:sp>
          <p:nvSpPr>
            <p:cNvPr id="275" name="Google Shape;275;p10"/>
            <p:cNvSpPr/>
            <p:nvPr/>
          </p:nvSpPr>
          <p:spPr>
            <a:xfrm>
              <a:off x="876300" y="5962650"/>
              <a:ext cx="1724025" cy="914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2400" u="none" cap="none" strike="noStrike">
                  <a:solidFill>
                    <a:srgbClr val="664092"/>
                  </a:solidFill>
                  <a:latin typeface="Arial"/>
                  <a:ea typeface="Arial"/>
                  <a:cs typeface="Arial"/>
                  <a:sym typeface="Arial"/>
                </a:rPr>
                <a:t>“¿Te gusta?”</a:t>
              </a:r>
              <a:endParaRPr/>
            </a:p>
          </p:txBody>
        </p:sp>
        <p:sp>
          <p:nvSpPr>
            <p:cNvPr id="276" name="Google Shape;276;p10"/>
            <p:cNvSpPr/>
            <p:nvPr/>
          </p:nvSpPr>
          <p:spPr>
            <a:xfrm>
              <a:off x="2990850" y="5353050"/>
              <a:ext cx="47625" cy="219075"/>
            </a:xfrm>
            <a:prstGeom prst="roundRect">
              <a:avLst>
                <a:gd fmla="val 40000" name="adj"/>
              </a:avLst>
            </a:prstGeom>
            <a:solidFill>
              <a:srgbClr val="6640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0"/>
            <p:cNvSpPr/>
            <p:nvPr/>
          </p:nvSpPr>
          <p:spPr>
            <a:xfrm>
              <a:off x="3200400" y="5314950"/>
              <a:ext cx="3009900"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333238"/>
                  </a:solidFill>
                  <a:latin typeface="Arial"/>
                  <a:ea typeface="Arial"/>
                  <a:cs typeface="Arial"/>
                  <a:sym typeface="Arial"/>
                </a:rPr>
                <a:t>¿Qué comprende?</a:t>
              </a:r>
              <a:endParaRPr/>
            </a:p>
          </p:txBody>
        </p:sp>
        <p:sp>
          <p:nvSpPr>
            <p:cNvPr id="278" name="Google Shape;278;p10"/>
            <p:cNvSpPr/>
            <p:nvPr/>
          </p:nvSpPr>
          <p:spPr>
            <a:xfrm>
              <a:off x="3200400" y="5657850"/>
              <a:ext cx="2990850" cy="953"/>
            </a:xfrm>
            <a:custGeom>
              <a:rect b="b" l="l" r="r" t="t"/>
              <a:pathLst>
                <a:path extrusionOk="0" h="953" w="2990850">
                  <a:moveTo>
                    <a:pt x="0" y="0"/>
                  </a:moveTo>
                  <a:lnTo>
                    <a:pt x="2990850" y="0"/>
                  </a:lnTo>
                </a:path>
              </a:pathLst>
            </a:custGeom>
            <a:noFill/>
            <a:ln cap="flat" cmpd="sng" w="9525">
              <a:solidFill>
                <a:srgbClr val="D4CEDF"/>
              </a:solidFill>
              <a:prstDash val="solid"/>
              <a:round/>
              <a:headEnd len="sm" w="sm" type="none"/>
              <a:tailEnd len="sm" w="sm" type="none"/>
            </a:ln>
          </p:spPr>
        </p:sp>
        <p:sp>
          <p:nvSpPr>
            <p:cNvPr id="279" name="Google Shape;279;p10"/>
            <p:cNvSpPr/>
            <p:nvPr/>
          </p:nvSpPr>
          <p:spPr>
            <a:xfrm>
              <a:off x="2990850" y="5800725"/>
              <a:ext cx="47625" cy="219075"/>
            </a:xfrm>
            <a:prstGeom prst="roundRect">
              <a:avLst>
                <a:gd fmla="val 40000" name="adj"/>
              </a:avLst>
            </a:prstGeom>
            <a:solidFill>
              <a:srgbClr val="4478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0"/>
            <p:cNvSpPr/>
            <p:nvPr/>
          </p:nvSpPr>
          <p:spPr>
            <a:xfrm>
              <a:off x="3200400" y="5762625"/>
              <a:ext cx="3009900"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333238"/>
                  </a:solidFill>
                  <a:latin typeface="Arial"/>
                  <a:ea typeface="Arial"/>
                  <a:cs typeface="Arial"/>
                  <a:sym typeface="Arial"/>
                </a:rPr>
                <a:t>¿Qué intenta hacer?</a:t>
              </a:r>
              <a:endParaRPr/>
            </a:p>
          </p:txBody>
        </p:sp>
        <p:sp>
          <p:nvSpPr>
            <p:cNvPr id="281" name="Google Shape;281;p10"/>
            <p:cNvSpPr/>
            <p:nvPr/>
          </p:nvSpPr>
          <p:spPr>
            <a:xfrm>
              <a:off x="3200400" y="6105525"/>
              <a:ext cx="2990850" cy="953"/>
            </a:xfrm>
            <a:custGeom>
              <a:rect b="b" l="l" r="r" t="t"/>
              <a:pathLst>
                <a:path extrusionOk="0" h="953" w="2990850">
                  <a:moveTo>
                    <a:pt x="0" y="0"/>
                  </a:moveTo>
                  <a:lnTo>
                    <a:pt x="2990850" y="0"/>
                  </a:lnTo>
                </a:path>
              </a:pathLst>
            </a:custGeom>
            <a:noFill/>
            <a:ln cap="flat" cmpd="sng" w="9525">
              <a:solidFill>
                <a:srgbClr val="D4CEDF"/>
              </a:solidFill>
              <a:prstDash val="solid"/>
              <a:round/>
              <a:headEnd len="sm" w="sm" type="none"/>
              <a:tailEnd len="sm" w="sm" type="none"/>
            </a:ln>
          </p:spPr>
        </p:sp>
        <p:sp>
          <p:nvSpPr>
            <p:cNvPr id="282" name="Google Shape;282;p10"/>
            <p:cNvSpPr/>
            <p:nvPr/>
          </p:nvSpPr>
          <p:spPr>
            <a:xfrm>
              <a:off x="2990850" y="6248400"/>
              <a:ext cx="47625" cy="219075"/>
            </a:xfrm>
            <a:prstGeom prst="roundRect">
              <a:avLst>
                <a:gd fmla="val 40000" name="adj"/>
              </a:avLst>
            </a:prstGeom>
            <a:solidFill>
              <a:srgbClr val="064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0"/>
            <p:cNvSpPr/>
            <p:nvPr/>
          </p:nvSpPr>
          <p:spPr>
            <a:xfrm>
              <a:off x="3200400" y="6210300"/>
              <a:ext cx="3009900"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333238"/>
                  </a:solidFill>
                  <a:latin typeface="Arial"/>
                  <a:ea typeface="Arial"/>
                  <a:cs typeface="Arial"/>
                  <a:sym typeface="Arial"/>
                </a:rPr>
                <a:t>¿Dónde encuentra dificultades?</a:t>
              </a:r>
              <a:endParaRPr/>
            </a:p>
          </p:txBody>
        </p:sp>
        <p:sp>
          <p:nvSpPr>
            <p:cNvPr id="284" name="Google Shape;284;p10"/>
            <p:cNvSpPr/>
            <p:nvPr/>
          </p:nvSpPr>
          <p:spPr>
            <a:xfrm>
              <a:off x="3200400" y="6553200"/>
              <a:ext cx="2990850" cy="953"/>
            </a:xfrm>
            <a:custGeom>
              <a:rect b="b" l="l" r="r" t="t"/>
              <a:pathLst>
                <a:path extrusionOk="0" h="953" w="2990850">
                  <a:moveTo>
                    <a:pt x="0" y="0"/>
                  </a:moveTo>
                  <a:lnTo>
                    <a:pt x="2990850" y="0"/>
                  </a:lnTo>
                </a:path>
              </a:pathLst>
            </a:custGeom>
            <a:noFill/>
            <a:ln cap="flat" cmpd="sng" w="9525">
              <a:solidFill>
                <a:srgbClr val="D4CEDF"/>
              </a:solidFill>
              <a:prstDash val="solid"/>
              <a:round/>
              <a:headEnd len="sm" w="sm" type="none"/>
              <a:tailEnd len="sm" w="sm" type="none"/>
            </a:ln>
          </p:spPr>
        </p:sp>
        <p:sp>
          <p:nvSpPr>
            <p:cNvPr id="285" name="Google Shape;285;p10"/>
            <p:cNvSpPr/>
            <p:nvPr/>
          </p:nvSpPr>
          <p:spPr>
            <a:xfrm>
              <a:off x="2990850" y="6696075"/>
              <a:ext cx="47625" cy="219075"/>
            </a:xfrm>
            <a:prstGeom prst="roundRect">
              <a:avLst>
                <a:gd fmla="val 40000" name="adj"/>
              </a:avLst>
            </a:prstGeom>
            <a:solidFill>
              <a:srgbClr val="6640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p:nvPr/>
          </p:nvSpPr>
          <p:spPr>
            <a:xfrm>
              <a:off x="3200400" y="6657975"/>
              <a:ext cx="3009900"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333238"/>
                  </a:solidFill>
                  <a:latin typeface="Arial"/>
                  <a:ea typeface="Arial"/>
                  <a:cs typeface="Arial"/>
                  <a:sym typeface="Arial"/>
                </a:rPr>
                <a:t>¿Qué esperaba encontrar?</a:t>
              </a:r>
              <a:endParaRPr/>
            </a:p>
          </p:txBody>
        </p:sp>
        <p:sp>
          <p:nvSpPr>
            <p:cNvPr id="287" name="Google Shape;287;p10"/>
            <p:cNvSpPr/>
            <p:nvPr/>
          </p:nvSpPr>
          <p:spPr>
            <a:xfrm>
              <a:off x="3200400" y="7000875"/>
              <a:ext cx="2990850" cy="953"/>
            </a:xfrm>
            <a:custGeom>
              <a:rect b="b" l="l" r="r" t="t"/>
              <a:pathLst>
                <a:path extrusionOk="0" h="953" w="2990850">
                  <a:moveTo>
                    <a:pt x="0" y="0"/>
                  </a:moveTo>
                  <a:lnTo>
                    <a:pt x="2990850" y="0"/>
                  </a:lnTo>
                </a:path>
              </a:pathLst>
            </a:custGeom>
            <a:noFill/>
            <a:ln cap="flat" cmpd="sng" w="9525">
              <a:solidFill>
                <a:srgbClr val="D4CEDF"/>
              </a:solidFill>
              <a:prstDash val="solid"/>
              <a:round/>
              <a:headEnd len="sm" w="sm" type="none"/>
              <a:tailEnd len="sm" w="sm" type="none"/>
            </a:ln>
          </p:spPr>
        </p:sp>
        <p:sp>
          <p:nvSpPr>
            <p:cNvPr id="288" name="Google Shape;288;p10"/>
            <p:cNvSpPr/>
            <p:nvPr/>
          </p:nvSpPr>
          <p:spPr>
            <a:xfrm>
              <a:off x="2990850" y="7143750"/>
              <a:ext cx="47625" cy="219075"/>
            </a:xfrm>
            <a:prstGeom prst="roundRect">
              <a:avLst>
                <a:gd fmla="val 40000" name="adj"/>
              </a:avLst>
            </a:prstGeom>
            <a:solidFill>
              <a:srgbClr val="4478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0"/>
            <p:cNvSpPr/>
            <p:nvPr/>
          </p:nvSpPr>
          <p:spPr>
            <a:xfrm>
              <a:off x="3200400" y="7105650"/>
              <a:ext cx="3009900"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333238"/>
                  </a:solidFill>
                  <a:latin typeface="Arial"/>
                  <a:ea typeface="Arial"/>
                  <a:cs typeface="Arial"/>
                  <a:sym typeface="Arial"/>
                </a:rPr>
                <a:t>¿Cómo interpreta la propuesta?</a:t>
              </a:r>
              <a:endParaRPr/>
            </a:p>
          </p:txBody>
        </p:sp>
        <p:sp>
          <p:nvSpPr>
            <p:cNvPr id="290" name="Google Shape;290;p10"/>
            <p:cNvSpPr/>
            <p:nvPr/>
          </p:nvSpPr>
          <p:spPr>
            <a:xfrm>
              <a:off x="3200400" y="7448550"/>
              <a:ext cx="2990850" cy="953"/>
            </a:xfrm>
            <a:custGeom>
              <a:rect b="b" l="l" r="r" t="t"/>
              <a:pathLst>
                <a:path extrusionOk="0" h="953" w="2990850">
                  <a:moveTo>
                    <a:pt x="0" y="0"/>
                  </a:moveTo>
                  <a:lnTo>
                    <a:pt x="2990850" y="0"/>
                  </a:lnTo>
                </a:path>
              </a:pathLst>
            </a:custGeom>
            <a:noFill/>
            <a:ln cap="flat" cmpd="sng" w="9525">
              <a:solidFill>
                <a:srgbClr val="D4CEDF"/>
              </a:solidFill>
              <a:prstDash val="solid"/>
              <a:round/>
              <a:headEnd len="sm" w="sm" type="none"/>
              <a:tailEnd len="sm" w="sm" type="none"/>
            </a:ln>
          </p:spPr>
        </p:sp>
        <p:sp>
          <p:nvSpPr>
            <p:cNvPr id="291" name="Google Shape;291;p10"/>
            <p:cNvSpPr/>
            <p:nvPr/>
          </p:nvSpPr>
          <p:spPr>
            <a:xfrm>
              <a:off x="876300" y="7943850"/>
              <a:ext cx="5334000" cy="10001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El propósito central de evaluar es obtener aprendizaje, no únicamente aprobación. Una prueba que demuestra que necesitamos cambiar una decisión puede ser tan valiosa como aquella que confirma determinados aspectos de la propuesta.</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1"/>
          <p:cNvSpPr/>
          <p:nvPr/>
        </p:nvSpPr>
        <p:spPr>
          <a:xfrm>
            <a:off x="876300" y="9067800"/>
            <a:ext cx="457200" cy="19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chemeClr val="lt1"/>
                </a:solidFill>
                <a:latin typeface="Arial"/>
                <a:ea typeface="Arial"/>
                <a:cs typeface="Arial"/>
                <a:sym typeface="Arial"/>
              </a:rPr>
              <a:t>09</a:t>
            </a:r>
            <a:endParaRPr b="0" i="0" sz="1400" u="none" cap="none" strike="noStrike">
              <a:solidFill>
                <a:srgbClr val="000000"/>
              </a:solidFill>
              <a:latin typeface="Arial"/>
              <a:ea typeface="Arial"/>
              <a:cs typeface="Arial"/>
              <a:sym typeface="Arial"/>
            </a:endParaRPr>
          </a:p>
        </p:txBody>
      </p:sp>
      <p:sp>
        <p:nvSpPr>
          <p:cNvPr id="298" name="Google Shape;298;p11"/>
          <p:cNvSpPr/>
          <p:nvPr/>
        </p:nvSpPr>
        <p:spPr>
          <a:xfrm>
            <a:off x="876300" y="723900"/>
            <a:ext cx="39052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Pensamiento de diseño</a:t>
            </a:r>
            <a:endParaRPr b="0" i="0" sz="1400" u="none" cap="none" strike="noStrike">
              <a:solidFill>
                <a:srgbClr val="000000"/>
              </a:solidFill>
              <a:latin typeface="Arial"/>
              <a:ea typeface="Arial"/>
              <a:cs typeface="Arial"/>
              <a:sym typeface="Arial"/>
            </a:endParaRPr>
          </a:p>
        </p:txBody>
      </p:sp>
      <p:cxnSp>
        <p:nvCxnSpPr>
          <p:cNvPr id="299" name="Google Shape;299;p11"/>
          <p:cNvCxnSpPr/>
          <p:nvPr/>
        </p:nvCxnSpPr>
        <p:spPr>
          <a:xfrm>
            <a:off x="984006" y="2498480"/>
            <a:ext cx="959094" cy="0"/>
          </a:xfrm>
          <a:prstGeom prst="straightConnector1">
            <a:avLst/>
          </a:prstGeom>
          <a:noFill/>
          <a:ln cap="flat" cmpd="sng" w="53975">
            <a:solidFill>
              <a:srgbClr val="73CDEB"/>
            </a:solidFill>
            <a:prstDash val="solid"/>
            <a:round/>
            <a:headEnd len="med" w="med" type="oval"/>
            <a:tailEnd len="med" w="med" type="oval"/>
          </a:ln>
        </p:spPr>
      </p:cxnSp>
      <p:grpSp>
        <p:nvGrpSpPr>
          <p:cNvPr id="300" name="Google Shape;300;p11"/>
          <p:cNvGrpSpPr/>
          <p:nvPr/>
        </p:nvGrpSpPr>
        <p:grpSpPr>
          <a:xfrm>
            <a:off x="876300" y="1381125"/>
            <a:ext cx="5334000" cy="7543800"/>
            <a:chOff x="876300" y="1381125"/>
            <a:chExt cx="5334000" cy="7543800"/>
          </a:xfrm>
        </p:grpSpPr>
        <p:sp>
          <p:nvSpPr>
            <p:cNvPr id="301" name="Google Shape;301;p11"/>
            <p:cNvSpPr/>
            <p:nvPr/>
          </p:nvSpPr>
          <p:spPr>
            <a:xfrm>
              <a:off x="876300" y="1381125"/>
              <a:ext cx="5334000" cy="100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2400" u="none" cap="none" strike="noStrike">
                  <a:solidFill>
                    <a:srgbClr val="664092"/>
                  </a:solidFill>
                  <a:latin typeface="Arial"/>
                  <a:ea typeface="Arial"/>
                  <a:cs typeface="Arial"/>
                  <a:sym typeface="Arial"/>
                </a:rPr>
                <a:t>De la evidencia a la decisión</a:t>
              </a:r>
              <a:endParaRPr/>
            </a:p>
          </p:txBody>
        </p:sp>
        <p:sp>
          <p:nvSpPr>
            <p:cNvPr id="302" name="Google Shape;302;p11"/>
            <p:cNvSpPr/>
            <p:nvPr/>
          </p:nvSpPr>
          <p:spPr>
            <a:xfrm>
              <a:off x="876300" y="2781300"/>
              <a:ext cx="5334000" cy="581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La evaluación no representa necesariamente el final del proceso. Los resultados pueden llevarnos nuevamente a idear, prototipar, redefinir el problema o incluso regresar a comprender mejor a las personas.</a:t>
              </a:r>
              <a:endParaRPr/>
            </a:p>
          </p:txBody>
        </p:sp>
        <p:sp>
          <p:nvSpPr>
            <p:cNvPr id="303" name="Google Shape;303;p11"/>
            <p:cNvSpPr/>
            <p:nvPr/>
          </p:nvSpPr>
          <p:spPr>
            <a:xfrm>
              <a:off x="876300" y="3495675"/>
              <a:ext cx="5334000" cy="10953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Esta posibilidad de avanzar y retroceder permite incorporar el aprendizaje a las decisiones. Si una prueba muestra que las personas pueden utilizar correctamente el prototipo pero que la propuesta no atiende aquello que consideran prioritario, modificar únicamente detalles de la solución probablemente no será suficiente: necesitaremos revisar nuestra comprensión del problema.</a:t>
              </a:r>
              <a:endParaRPr/>
            </a:p>
          </p:txBody>
        </p:sp>
        <p:sp>
          <p:nvSpPr>
            <p:cNvPr id="304" name="Google Shape;304;p11"/>
            <p:cNvSpPr/>
            <p:nvPr/>
          </p:nvSpPr>
          <p:spPr>
            <a:xfrm>
              <a:off x="876300" y="4705350"/>
              <a:ext cx="5334000" cy="581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Así, la evidencia no sirve solamente para decir “funciona” o “no funciona”. Sirve para decidir qué debemos hacer a continuación.</a:t>
              </a:r>
              <a:endParaRPr/>
            </a:p>
          </p:txBody>
        </p:sp>
        <p:sp>
          <p:nvSpPr>
            <p:cNvPr id="305" name="Google Shape;305;p11"/>
            <p:cNvSpPr/>
            <p:nvPr/>
          </p:nvSpPr>
          <p:spPr>
            <a:xfrm>
              <a:off x="876300" y="5486400"/>
              <a:ext cx="53340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Figura 5. De la evidencia a la decisión</a:t>
              </a:r>
              <a:endParaRPr/>
            </a:p>
          </p:txBody>
        </p:sp>
        <p:sp>
          <p:nvSpPr>
            <p:cNvPr id="306" name="Google Shape;306;p11"/>
            <p:cNvSpPr/>
            <p:nvPr/>
          </p:nvSpPr>
          <p:spPr>
            <a:xfrm>
              <a:off x="2571750" y="7543800"/>
              <a:ext cx="142875" cy="953"/>
            </a:xfrm>
            <a:custGeom>
              <a:rect b="b" l="l" r="r" t="t"/>
              <a:pathLst>
                <a:path extrusionOk="0" h="953" w="142875">
                  <a:moveTo>
                    <a:pt x="0" y="0"/>
                  </a:moveTo>
                  <a:lnTo>
                    <a:pt x="142875" y="0"/>
                  </a:lnTo>
                </a:path>
              </a:pathLst>
            </a:custGeom>
            <a:noFill/>
            <a:ln cap="flat" cmpd="sng" w="19050">
              <a:solidFill>
                <a:srgbClr val="664092"/>
              </a:solidFill>
              <a:prstDash val="solid"/>
              <a:round/>
              <a:headEnd len="sm" w="sm" type="none"/>
              <a:tailEnd len="sm" w="sm" type="none"/>
            </a:ln>
          </p:spPr>
          <p:txBody>
            <a:bodyPr/>
            <a:p/>
          </p:txBody>
        </p:sp>
        <p:sp>
          <p:nvSpPr>
            <p:cNvPr id="307" name="Google Shape;307;p11"/>
            <p:cNvSpPr/>
            <p:nvPr/>
          </p:nvSpPr>
          <p:spPr>
            <a:xfrm>
              <a:off x="2714625" y="6191250"/>
              <a:ext cx="953" cy="2447925"/>
            </a:xfrm>
            <a:custGeom>
              <a:rect b="b" l="l" r="r" t="t"/>
              <a:pathLst>
                <a:path extrusionOk="0" h="2447925" w="953">
                  <a:moveTo>
                    <a:pt x="0" y="0"/>
                  </a:moveTo>
                  <a:lnTo>
                    <a:pt x="0" y="2447925"/>
                  </a:lnTo>
                </a:path>
              </a:pathLst>
            </a:custGeom>
            <a:noFill/>
            <a:ln cap="flat" cmpd="sng" w="19050">
              <a:solidFill>
                <a:srgbClr val="664092"/>
              </a:solidFill>
              <a:prstDash val="solid"/>
              <a:round/>
              <a:headEnd len="sm" w="sm" type="none"/>
              <a:tailEnd len="sm" w="sm" type="none"/>
            </a:ln>
          </p:spPr>
          <p:txBody>
            <a:bodyPr/>
            <a:p/>
          </p:txBody>
        </p:sp>
        <p:sp>
          <p:nvSpPr>
            <p:cNvPr id="308" name="Google Shape;308;p11"/>
            <p:cNvSpPr/>
            <p:nvPr/>
          </p:nvSpPr>
          <p:spPr>
            <a:xfrm>
              <a:off x="2714625" y="6200775"/>
              <a:ext cx="142875" cy="953"/>
            </a:xfrm>
            <a:custGeom>
              <a:rect b="b" l="l" r="r" t="t"/>
              <a:pathLst>
                <a:path extrusionOk="0" h="953" w="142875">
                  <a:moveTo>
                    <a:pt x="0" y="0"/>
                  </a:moveTo>
                  <a:lnTo>
                    <a:pt x="142875" y="0"/>
                  </a:lnTo>
                </a:path>
              </a:pathLst>
            </a:custGeom>
            <a:noFill/>
            <a:ln cap="flat" cmpd="sng" w="14275">
              <a:solidFill>
                <a:srgbClr val="664092"/>
              </a:solidFill>
              <a:prstDash val="solid"/>
              <a:round/>
              <a:headEnd len="sm" w="sm" type="none"/>
              <a:tailEnd len="sm" w="sm" type="none"/>
            </a:ln>
          </p:spPr>
          <p:txBody>
            <a:bodyPr/>
            <a:p/>
          </p:txBody>
        </p:sp>
        <p:sp>
          <p:nvSpPr>
            <p:cNvPr id="309" name="Google Shape;309;p11"/>
            <p:cNvSpPr/>
            <p:nvPr/>
          </p:nvSpPr>
          <p:spPr>
            <a:xfrm>
              <a:off x="2808778" y="6200775"/>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txBody>
            <a:bodyPr/>
            <a:p/>
          </p:txBody>
        </p:sp>
        <p:sp>
          <p:nvSpPr>
            <p:cNvPr id="310" name="Google Shape;310;p11"/>
            <p:cNvSpPr/>
            <p:nvPr/>
          </p:nvSpPr>
          <p:spPr>
            <a:xfrm>
              <a:off x="2808778" y="6170903"/>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txBody>
            <a:bodyPr/>
            <a:p/>
          </p:txBody>
        </p:sp>
        <p:sp>
          <p:nvSpPr>
            <p:cNvPr id="311" name="Google Shape;311;p11"/>
            <p:cNvSpPr/>
            <p:nvPr/>
          </p:nvSpPr>
          <p:spPr>
            <a:xfrm>
              <a:off x="2905125" y="5924550"/>
              <a:ext cx="3305175" cy="552450"/>
            </a:xfrm>
            <a:prstGeom prst="roundRect">
              <a:avLst>
                <a:gd fmla="val 22414"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3048000" y="5981700"/>
              <a:ext cx="3019425"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000" u="none" cap="none" strike="noStrike">
                  <a:solidFill>
                    <a:srgbClr val="664092"/>
                  </a:solidFill>
                  <a:latin typeface="Arial"/>
                  <a:ea typeface="Arial"/>
                  <a:cs typeface="Arial"/>
                  <a:sym typeface="Arial"/>
                </a:rPr>
                <a:t>MANTENER</a:t>
              </a:r>
              <a:endParaRPr/>
            </a:p>
          </p:txBody>
        </p:sp>
        <p:sp>
          <p:nvSpPr>
            <p:cNvPr id="313" name="Google Shape;313;p11"/>
            <p:cNvSpPr/>
            <p:nvPr/>
          </p:nvSpPr>
          <p:spPr>
            <a:xfrm>
              <a:off x="3048000" y="6219825"/>
              <a:ext cx="3019425" cy="26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000" u="none" cap="none" strike="noStrike">
                  <a:solidFill>
                    <a:srgbClr val="333238"/>
                  </a:solidFill>
                  <a:latin typeface="Arial"/>
                  <a:ea typeface="Arial"/>
                  <a:cs typeface="Arial"/>
                  <a:sym typeface="Arial"/>
                </a:rPr>
                <a:t>La evidencia respalda una decisión.</a:t>
              </a:r>
              <a:endParaRPr/>
            </a:p>
          </p:txBody>
        </p:sp>
        <p:sp>
          <p:nvSpPr>
            <p:cNvPr id="314" name="Google Shape;314;p11"/>
            <p:cNvSpPr/>
            <p:nvPr/>
          </p:nvSpPr>
          <p:spPr>
            <a:xfrm>
              <a:off x="2714625" y="6810375"/>
              <a:ext cx="142875" cy="953"/>
            </a:xfrm>
            <a:custGeom>
              <a:rect b="b" l="l" r="r" t="t"/>
              <a:pathLst>
                <a:path extrusionOk="0" h="953" w="142875">
                  <a:moveTo>
                    <a:pt x="0" y="0"/>
                  </a:moveTo>
                  <a:lnTo>
                    <a:pt x="142875" y="0"/>
                  </a:lnTo>
                </a:path>
              </a:pathLst>
            </a:custGeom>
            <a:noFill/>
            <a:ln cap="flat" cmpd="sng" w="14275">
              <a:solidFill>
                <a:srgbClr val="664092"/>
              </a:solidFill>
              <a:prstDash val="solid"/>
              <a:round/>
              <a:headEnd len="sm" w="sm" type="none"/>
              <a:tailEnd len="sm" w="sm" type="none"/>
            </a:ln>
          </p:spPr>
          <p:txBody>
            <a:bodyPr/>
            <a:p/>
          </p:txBody>
        </p:sp>
        <p:sp>
          <p:nvSpPr>
            <p:cNvPr id="315" name="Google Shape;315;p11"/>
            <p:cNvSpPr/>
            <p:nvPr/>
          </p:nvSpPr>
          <p:spPr>
            <a:xfrm>
              <a:off x="2808778" y="6810375"/>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txBody>
            <a:bodyPr/>
            <a:p/>
          </p:txBody>
        </p:sp>
        <p:sp>
          <p:nvSpPr>
            <p:cNvPr id="316" name="Google Shape;316;p11"/>
            <p:cNvSpPr/>
            <p:nvPr/>
          </p:nvSpPr>
          <p:spPr>
            <a:xfrm>
              <a:off x="2808778" y="6780503"/>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txBody>
            <a:bodyPr/>
            <a:p/>
          </p:txBody>
        </p:sp>
        <p:sp>
          <p:nvSpPr>
            <p:cNvPr id="317" name="Google Shape;317;p11"/>
            <p:cNvSpPr/>
            <p:nvPr/>
          </p:nvSpPr>
          <p:spPr>
            <a:xfrm>
              <a:off x="2905125" y="6534150"/>
              <a:ext cx="3305175" cy="552450"/>
            </a:xfrm>
            <a:prstGeom prst="roundRect">
              <a:avLst>
                <a:gd fmla="val 22414"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a:off x="3048000" y="6591300"/>
              <a:ext cx="3019425"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000" u="none" cap="none" strike="noStrike">
                  <a:solidFill>
                    <a:srgbClr val="064D95"/>
                  </a:solidFill>
                  <a:latin typeface="Arial"/>
                  <a:ea typeface="Arial"/>
                  <a:cs typeface="Arial"/>
                  <a:sym typeface="Arial"/>
                </a:rPr>
                <a:t>AJUSTAR</a:t>
              </a:r>
              <a:endParaRPr/>
            </a:p>
          </p:txBody>
        </p:sp>
        <p:sp>
          <p:nvSpPr>
            <p:cNvPr id="319" name="Google Shape;319;p11"/>
            <p:cNvSpPr/>
            <p:nvPr/>
          </p:nvSpPr>
          <p:spPr>
            <a:xfrm>
              <a:off x="3048000" y="6829425"/>
              <a:ext cx="3019425" cy="26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000" u="none" cap="none" strike="noStrike">
                  <a:solidFill>
                    <a:srgbClr val="333238"/>
                  </a:solidFill>
                  <a:latin typeface="Arial"/>
                  <a:ea typeface="Arial"/>
                  <a:cs typeface="Arial"/>
                  <a:sym typeface="Arial"/>
                </a:rPr>
                <a:t>Necesitamos modificar parte de la propuesta.</a:t>
              </a:r>
              <a:endParaRPr/>
            </a:p>
          </p:txBody>
        </p:sp>
        <p:sp>
          <p:nvSpPr>
            <p:cNvPr id="320" name="Google Shape;320;p11"/>
            <p:cNvSpPr/>
            <p:nvPr/>
          </p:nvSpPr>
          <p:spPr>
            <a:xfrm>
              <a:off x="2714625" y="7419975"/>
              <a:ext cx="142875" cy="953"/>
            </a:xfrm>
            <a:custGeom>
              <a:rect b="b" l="l" r="r" t="t"/>
              <a:pathLst>
                <a:path extrusionOk="0" h="953" w="142875">
                  <a:moveTo>
                    <a:pt x="0" y="0"/>
                  </a:moveTo>
                  <a:lnTo>
                    <a:pt x="142875" y="0"/>
                  </a:lnTo>
                </a:path>
              </a:pathLst>
            </a:custGeom>
            <a:noFill/>
            <a:ln cap="flat" cmpd="sng" w="14275">
              <a:solidFill>
                <a:srgbClr val="664092"/>
              </a:solidFill>
              <a:prstDash val="solid"/>
              <a:round/>
              <a:headEnd len="sm" w="sm" type="none"/>
              <a:tailEnd len="sm" w="sm" type="none"/>
            </a:ln>
          </p:spPr>
          <p:txBody>
            <a:bodyPr/>
            <a:p/>
          </p:txBody>
        </p:sp>
        <p:sp>
          <p:nvSpPr>
            <p:cNvPr id="321" name="Google Shape;321;p11"/>
            <p:cNvSpPr/>
            <p:nvPr/>
          </p:nvSpPr>
          <p:spPr>
            <a:xfrm>
              <a:off x="2808778" y="7419975"/>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txBody>
            <a:bodyPr/>
            <a:p/>
          </p:txBody>
        </p:sp>
        <p:sp>
          <p:nvSpPr>
            <p:cNvPr id="322" name="Google Shape;322;p11"/>
            <p:cNvSpPr/>
            <p:nvPr/>
          </p:nvSpPr>
          <p:spPr>
            <a:xfrm>
              <a:off x="2808778" y="7390103"/>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txBody>
            <a:bodyPr/>
            <a:p/>
          </p:txBody>
        </p:sp>
        <p:sp>
          <p:nvSpPr>
            <p:cNvPr id="323" name="Google Shape;323;p11"/>
            <p:cNvSpPr/>
            <p:nvPr/>
          </p:nvSpPr>
          <p:spPr>
            <a:xfrm>
              <a:off x="2905125" y="7143750"/>
              <a:ext cx="3305175" cy="552450"/>
            </a:xfrm>
            <a:prstGeom prst="roundRect">
              <a:avLst>
                <a:gd fmla="val 22414"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p:nvPr/>
          </p:nvSpPr>
          <p:spPr>
            <a:xfrm>
              <a:off x="3048000" y="7200900"/>
              <a:ext cx="3019425"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000" u="none" cap="none" strike="noStrike">
                  <a:solidFill>
                    <a:srgbClr val="664092"/>
                  </a:solidFill>
                  <a:latin typeface="Arial"/>
                  <a:ea typeface="Arial"/>
                  <a:cs typeface="Arial"/>
                  <a:sym typeface="Arial"/>
                </a:rPr>
                <a:t>EXPLORAR</a:t>
              </a:r>
              <a:endParaRPr/>
            </a:p>
          </p:txBody>
        </p:sp>
        <p:sp>
          <p:nvSpPr>
            <p:cNvPr id="325" name="Google Shape;325;p11"/>
            <p:cNvSpPr/>
            <p:nvPr/>
          </p:nvSpPr>
          <p:spPr>
            <a:xfrm>
              <a:off x="3048000" y="7439025"/>
              <a:ext cx="3019425" cy="26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000" u="none" cap="none" strike="noStrike">
                  <a:solidFill>
                    <a:srgbClr val="333238"/>
                  </a:solidFill>
                  <a:latin typeface="Arial"/>
                  <a:ea typeface="Arial"/>
                  <a:cs typeface="Arial"/>
                  <a:sym typeface="Arial"/>
                </a:rPr>
                <a:t>Conviene considerar otra alternativa.</a:t>
              </a:r>
              <a:endParaRPr/>
            </a:p>
          </p:txBody>
        </p:sp>
        <p:sp>
          <p:nvSpPr>
            <p:cNvPr id="326" name="Google Shape;326;p11"/>
            <p:cNvSpPr/>
            <p:nvPr/>
          </p:nvSpPr>
          <p:spPr>
            <a:xfrm>
              <a:off x="2714625" y="8029575"/>
              <a:ext cx="142875" cy="953"/>
            </a:xfrm>
            <a:custGeom>
              <a:rect b="b" l="l" r="r" t="t"/>
              <a:pathLst>
                <a:path extrusionOk="0" h="953" w="142875">
                  <a:moveTo>
                    <a:pt x="0" y="0"/>
                  </a:moveTo>
                  <a:lnTo>
                    <a:pt x="142875" y="0"/>
                  </a:lnTo>
                </a:path>
              </a:pathLst>
            </a:custGeom>
            <a:noFill/>
            <a:ln cap="flat" cmpd="sng" w="14275">
              <a:solidFill>
                <a:srgbClr val="664092"/>
              </a:solidFill>
              <a:prstDash val="solid"/>
              <a:round/>
              <a:headEnd len="sm" w="sm" type="none"/>
              <a:tailEnd len="sm" w="sm" type="none"/>
            </a:ln>
          </p:spPr>
          <p:txBody>
            <a:bodyPr/>
            <a:p/>
          </p:txBody>
        </p:sp>
        <p:sp>
          <p:nvSpPr>
            <p:cNvPr id="327" name="Google Shape;327;p11"/>
            <p:cNvSpPr/>
            <p:nvPr/>
          </p:nvSpPr>
          <p:spPr>
            <a:xfrm>
              <a:off x="2808778" y="8029575"/>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txBody>
            <a:bodyPr/>
            <a:p/>
          </p:txBody>
        </p:sp>
        <p:sp>
          <p:nvSpPr>
            <p:cNvPr id="328" name="Google Shape;328;p11"/>
            <p:cNvSpPr/>
            <p:nvPr/>
          </p:nvSpPr>
          <p:spPr>
            <a:xfrm>
              <a:off x="2808778" y="7999703"/>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txBody>
            <a:bodyPr/>
            <a:p/>
          </p:txBody>
        </p:sp>
        <p:sp>
          <p:nvSpPr>
            <p:cNvPr id="329" name="Google Shape;329;p11"/>
            <p:cNvSpPr/>
            <p:nvPr/>
          </p:nvSpPr>
          <p:spPr>
            <a:xfrm>
              <a:off x="2905125" y="7753350"/>
              <a:ext cx="3305175" cy="552450"/>
            </a:xfrm>
            <a:prstGeom prst="roundRect">
              <a:avLst>
                <a:gd fmla="val 22414"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1"/>
            <p:cNvSpPr/>
            <p:nvPr/>
          </p:nvSpPr>
          <p:spPr>
            <a:xfrm>
              <a:off x="3048000" y="7810500"/>
              <a:ext cx="3019425"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000" u="none" cap="none" strike="noStrike">
                  <a:solidFill>
                    <a:srgbClr val="064D95"/>
                  </a:solidFill>
                  <a:latin typeface="Arial"/>
                  <a:ea typeface="Arial"/>
                  <a:cs typeface="Arial"/>
                  <a:sym typeface="Arial"/>
                </a:rPr>
                <a:t>REDEFINIR</a:t>
              </a:r>
              <a:endParaRPr/>
            </a:p>
          </p:txBody>
        </p:sp>
        <p:sp>
          <p:nvSpPr>
            <p:cNvPr id="331" name="Google Shape;331;p11"/>
            <p:cNvSpPr/>
            <p:nvPr/>
          </p:nvSpPr>
          <p:spPr>
            <a:xfrm>
              <a:off x="3048000" y="8048625"/>
              <a:ext cx="3019425" cy="26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000" u="none" cap="none" strike="noStrike">
                  <a:solidFill>
                    <a:srgbClr val="333238"/>
                  </a:solidFill>
                  <a:latin typeface="Arial"/>
                  <a:ea typeface="Arial"/>
                  <a:cs typeface="Arial"/>
                  <a:sym typeface="Arial"/>
                </a:rPr>
                <a:t>El problema necesita una nueva formulación.</a:t>
              </a:r>
              <a:endParaRPr/>
            </a:p>
          </p:txBody>
        </p:sp>
        <p:sp>
          <p:nvSpPr>
            <p:cNvPr id="332" name="Google Shape;332;p11"/>
            <p:cNvSpPr/>
            <p:nvPr/>
          </p:nvSpPr>
          <p:spPr>
            <a:xfrm>
              <a:off x="2714625" y="8639175"/>
              <a:ext cx="142875" cy="953"/>
            </a:xfrm>
            <a:custGeom>
              <a:rect b="b" l="l" r="r" t="t"/>
              <a:pathLst>
                <a:path extrusionOk="0" h="953" w="142875">
                  <a:moveTo>
                    <a:pt x="0" y="0"/>
                  </a:moveTo>
                  <a:lnTo>
                    <a:pt x="142875" y="0"/>
                  </a:lnTo>
                </a:path>
              </a:pathLst>
            </a:custGeom>
            <a:noFill/>
            <a:ln cap="flat" cmpd="sng" w="14275">
              <a:solidFill>
                <a:srgbClr val="664092"/>
              </a:solidFill>
              <a:prstDash val="solid"/>
              <a:round/>
              <a:headEnd len="sm" w="sm" type="none"/>
              <a:tailEnd len="sm" w="sm" type="none"/>
            </a:ln>
          </p:spPr>
          <p:txBody>
            <a:bodyPr/>
            <a:p/>
          </p:txBody>
        </p:sp>
        <p:sp>
          <p:nvSpPr>
            <p:cNvPr id="333" name="Google Shape;333;p11"/>
            <p:cNvSpPr/>
            <p:nvPr/>
          </p:nvSpPr>
          <p:spPr>
            <a:xfrm>
              <a:off x="2808778" y="8639175"/>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txBody>
            <a:bodyPr/>
            <a:p/>
          </p:txBody>
        </p:sp>
        <p:sp>
          <p:nvSpPr>
            <p:cNvPr id="334" name="Google Shape;334;p11"/>
            <p:cNvSpPr/>
            <p:nvPr/>
          </p:nvSpPr>
          <p:spPr>
            <a:xfrm>
              <a:off x="2808778" y="8609303"/>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txBody>
            <a:bodyPr/>
            <a:p/>
          </p:txBody>
        </p:sp>
        <p:sp>
          <p:nvSpPr>
            <p:cNvPr id="335" name="Google Shape;335;p11"/>
            <p:cNvSpPr/>
            <p:nvPr/>
          </p:nvSpPr>
          <p:spPr>
            <a:xfrm>
              <a:off x="2905125" y="8362950"/>
              <a:ext cx="3305175" cy="552450"/>
            </a:xfrm>
            <a:prstGeom prst="roundRect">
              <a:avLst>
                <a:gd fmla="val 22414"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1"/>
            <p:cNvSpPr/>
            <p:nvPr/>
          </p:nvSpPr>
          <p:spPr>
            <a:xfrm>
              <a:off x="3048000" y="8420100"/>
              <a:ext cx="3019425"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000" u="none" cap="none" strike="noStrike">
                  <a:solidFill>
                    <a:srgbClr val="664092"/>
                  </a:solidFill>
                  <a:latin typeface="Arial"/>
                  <a:ea typeface="Arial"/>
                  <a:cs typeface="Arial"/>
                  <a:sym typeface="Arial"/>
                </a:rPr>
                <a:t>VOLVER A COMPRENDER</a:t>
              </a:r>
              <a:endParaRPr/>
            </a:p>
          </p:txBody>
        </p:sp>
        <p:sp>
          <p:nvSpPr>
            <p:cNvPr id="337" name="Google Shape;337;p11"/>
            <p:cNvSpPr/>
            <p:nvPr/>
          </p:nvSpPr>
          <p:spPr>
            <a:xfrm>
              <a:off x="3048000" y="8658225"/>
              <a:ext cx="3019425" cy="26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000" u="none" cap="none" strike="noStrike">
                  <a:solidFill>
                    <a:srgbClr val="333238"/>
                  </a:solidFill>
                  <a:latin typeface="Arial"/>
                  <a:ea typeface="Arial"/>
                  <a:cs typeface="Arial"/>
                  <a:sym typeface="Arial"/>
                </a:rPr>
                <a:t>Necesitamos aprender más de las personas.</a:t>
              </a:r>
              <a:endParaRPr/>
            </a:p>
          </p:txBody>
        </p:sp>
        <p:sp>
          <p:nvSpPr>
            <p:cNvPr id="338" name="Google Shape;338;p11"/>
            <p:cNvSpPr/>
            <p:nvPr/>
          </p:nvSpPr>
          <p:spPr>
            <a:xfrm>
              <a:off x="876300" y="7153275"/>
              <a:ext cx="1685925" cy="771525"/>
            </a:xfrm>
            <a:prstGeom prst="roundRect">
              <a:avLst>
                <a:gd fmla="val 50000" name="adj"/>
              </a:avLst>
            </a:prstGeom>
            <a:solidFill>
              <a:srgbClr val="6640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1"/>
            <p:cNvSpPr/>
            <p:nvPr/>
          </p:nvSpPr>
          <p:spPr>
            <a:xfrm>
              <a:off x="952500" y="7248525"/>
              <a:ext cx="1533525" cy="6572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000" u="none" cap="none" strike="noStrike">
                  <a:solidFill>
                    <a:srgbClr val="FFFFFF"/>
                  </a:solidFill>
                  <a:latin typeface="Arial"/>
                  <a:ea typeface="Arial"/>
                  <a:cs typeface="Arial"/>
                  <a:sym typeface="Arial"/>
                </a:rPr>
                <a:t>¿QUÉ APRENDIMOS?</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2"/>
          <p:cNvSpPr/>
          <p:nvPr/>
        </p:nvSpPr>
        <p:spPr>
          <a:xfrm>
            <a:off x="876300" y="9067800"/>
            <a:ext cx="457200" cy="19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chemeClr val="lt1"/>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346" name="Google Shape;346;p12"/>
          <p:cNvSpPr/>
          <p:nvPr/>
        </p:nvSpPr>
        <p:spPr>
          <a:xfrm>
            <a:off x="876300" y="723900"/>
            <a:ext cx="39052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Pensamiento de diseño</a:t>
            </a:r>
            <a:endParaRPr b="0" i="0" sz="1400" u="none" cap="none" strike="noStrike">
              <a:solidFill>
                <a:srgbClr val="000000"/>
              </a:solidFill>
              <a:latin typeface="Arial"/>
              <a:ea typeface="Arial"/>
              <a:cs typeface="Arial"/>
              <a:sym typeface="Arial"/>
            </a:endParaRPr>
          </a:p>
        </p:txBody>
      </p:sp>
      <p:cxnSp>
        <p:nvCxnSpPr>
          <p:cNvPr id="347" name="Google Shape;347;p12"/>
          <p:cNvCxnSpPr/>
          <p:nvPr/>
        </p:nvCxnSpPr>
        <p:spPr>
          <a:xfrm>
            <a:off x="984006" y="2498480"/>
            <a:ext cx="959094" cy="0"/>
          </a:xfrm>
          <a:prstGeom prst="straightConnector1">
            <a:avLst/>
          </a:prstGeom>
          <a:noFill/>
          <a:ln cap="flat" cmpd="sng" w="53975">
            <a:solidFill>
              <a:srgbClr val="73CDEB"/>
            </a:solidFill>
            <a:prstDash val="solid"/>
            <a:round/>
            <a:headEnd len="med" w="med" type="oval"/>
            <a:tailEnd len="med" w="med" type="oval"/>
          </a:ln>
        </p:spPr>
      </p:cxnSp>
      <p:grpSp>
        <p:nvGrpSpPr>
          <p:cNvPr id="348" name="Google Shape;348;p12"/>
          <p:cNvGrpSpPr/>
          <p:nvPr/>
        </p:nvGrpSpPr>
        <p:grpSpPr>
          <a:xfrm>
            <a:off x="760703" y="1381125"/>
            <a:ext cx="5449597" cy="7658100"/>
            <a:chOff x="760703" y="1381125"/>
            <a:chExt cx="5449597" cy="7658100"/>
          </a:xfrm>
        </p:grpSpPr>
        <p:sp>
          <p:nvSpPr>
            <p:cNvPr id="349" name="Google Shape;349;p12"/>
            <p:cNvSpPr/>
            <p:nvPr/>
          </p:nvSpPr>
          <p:spPr>
            <a:xfrm>
              <a:off x="876300" y="1381125"/>
              <a:ext cx="5334000" cy="100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2400" u="none" cap="none" strike="noStrike">
                  <a:solidFill>
                    <a:srgbClr val="664092"/>
                  </a:solidFill>
                  <a:latin typeface="Arial"/>
                  <a:ea typeface="Arial"/>
                  <a:cs typeface="Arial"/>
                  <a:sym typeface="Arial"/>
                </a:rPr>
                <a:t>El caso empresarial: iPhone</a:t>
              </a:r>
              <a:endParaRPr/>
            </a:p>
          </p:txBody>
        </p:sp>
        <p:sp>
          <p:nvSpPr>
            <p:cNvPr id="350" name="Google Shape;350;p12"/>
            <p:cNvSpPr/>
            <p:nvPr/>
          </p:nvSpPr>
          <p:spPr>
            <a:xfrm>
              <a:off x="876300" y="2781300"/>
              <a:ext cx="5334000" cy="11334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El desarrollo del iPhone es presentado por Asana (2026) como un ejemplo de aplicación del Design Thinking en el desarrollo de productos. Según esta fuente, el caso se relaciona con una observación profunda de cómo las personas utilizaban los teléfonos y de las frustraciones que experimentaban con los dispositivos disponibles.</a:t>
              </a:r>
              <a:endParaRPr/>
            </a:p>
          </p:txBody>
        </p:sp>
        <p:sp>
          <p:nvSpPr>
            <p:cNvPr id="351" name="Google Shape;351;p12"/>
            <p:cNvSpPr/>
            <p:nvPr/>
          </p:nvSpPr>
          <p:spPr>
            <a:xfrm>
              <a:off x="876300" y="4029075"/>
              <a:ext cx="5334000" cy="76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El valor del ejemplo no consiste en afirmar que un producto complejo pueda explicarse completamente mediante cinco pasos. Su utilidad pedagógica está en reconocer una lógica de trabajo centrada en las personas.</a:t>
              </a:r>
              <a:endParaRPr/>
            </a:p>
          </p:txBody>
        </p:sp>
        <p:sp>
          <p:nvSpPr>
            <p:cNvPr id="352" name="Google Shape;352;p12"/>
            <p:cNvSpPr/>
            <p:nvPr/>
          </p:nvSpPr>
          <p:spPr>
            <a:xfrm>
              <a:off x="876300" y="5124450"/>
              <a:ext cx="5334000" cy="514350"/>
            </a:xfrm>
            <a:prstGeom prst="roundRect">
              <a:avLst>
                <a:gd fmla="val 22222"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p:nvPr/>
          </p:nvSpPr>
          <p:spPr>
            <a:xfrm>
              <a:off x="1028700" y="5276850"/>
              <a:ext cx="1352550" cy="2571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OBSERVAR</a:t>
              </a:r>
              <a:endParaRPr/>
            </a:p>
          </p:txBody>
        </p:sp>
        <p:sp>
          <p:nvSpPr>
            <p:cNvPr id="354" name="Google Shape;354;p12"/>
            <p:cNvSpPr/>
            <p:nvPr/>
          </p:nvSpPr>
          <p:spPr>
            <a:xfrm>
              <a:off x="2571750" y="5210175"/>
              <a:ext cx="3448050" cy="41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Comportamientos y dificultades de las personas.</a:t>
              </a:r>
              <a:endParaRPr/>
            </a:p>
          </p:txBody>
        </p:sp>
        <p:sp>
          <p:nvSpPr>
            <p:cNvPr id="355" name="Google Shape;355;p12"/>
            <p:cNvSpPr/>
            <p:nvPr/>
          </p:nvSpPr>
          <p:spPr>
            <a:xfrm>
              <a:off x="790575" y="5372100"/>
              <a:ext cx="953" cy="571500"/>
            </a:xfrm>
            <a:custGeom>
              <a:rect b="b" l="l" r="r" t="t"/>
              <a:pathLst>
                <a:path extrusionOk="0" h="571500" w="953">
                  <a:moveTo>
                    <a:pt x="0" y="0"/>
                  </a:moveTo>
                  <a:lnTo>
                    <a:pt x="0" y="571500"/>
                  </a:lnTo>
                </a:path>
              </a:pathLst>
            </a:custGeom>
            <a:noFill/>
            <a:ln cap="flat" cmpd="sng" w="14275">
              <a:solidFill>
                <a:srgbClr val="664092"/>
              </a:solidFill>
              <a:prstDash val="solid"/>
              <a:round/>
              <a:headEnd len="sm" w="sm" type="none"/>
              <a:tailEnd len="sm" w="sm" type="none"/>
            </a:ln>
          </p:spPr>
        </p:sp>
        <p:sp>
          <p:nvSpPr>
            <p:cNvPr id="356" name="Google Shape;356;p12"/>
            <p:cNvSpPr/>
            <p:nvPr/>
          </p:nvSpPr>
          <p:spPr>
            <a:xfrm>
              <a:off x="760703" y="5894878"/>
              <a:ext cx="29872" cy="48722"/>
            </a:xfrm>
            <a:custGeom>
              <a:rect b="b" l="l" r="r" t="t"/>
              <a:pathLst>
                <a:path extrusionOk="0" h="48722" w="29872">
                  <a:moveTo>
                    <a:pt x="29872" y="48722"/>
                  </a:moveTo>
                  <a:lnTo>
                    <a:pt x="0" y="0"/>
                  </a:lnTo>
                </a:path>
              </a:pathLst>
            </a:custGeom>
            <a:noFill/>
            <a:ln cap="flat" cmpd="sng" w="14275">
              <a:solidFill>
                <a:srgbClr val="664092"/>
              </a:solidFill>
              <a:prstDash val="solid"/>
              <a:round/>
              <a:headEnd len="sm" w="sm" type="none"/>
              <a:tailEnd len="sm" w="sm" type="none"/>
            </a:ln>
          </p:spPr>
        </p:sp>
        <p:sp>
          <p:nvSpPr>
            <p:cNvPr id="357" name="Google Shape;357;p12"/>
            <p:cNvSpPr/>
            <p:nvPr/>
          </p:nvSpPr>
          <p:spPr>
            <a:xfrm>
              <a:off x="790575" y="5894878"/>
              <a:ext cx="29872" cy="48722"/>
            </a:xfrm>
            <a:custGeom>
              <a:rect b="b" l="l" r="r" t="t"/>
              <a:pathLst>
                <a:path extrusionOk="0" h="48722" w="29872">
                  <a:moveTo>
                    <a:pt x="0" y="48722"/>
                  </a:moveTo>
                  <a:lnTo>
                    <a:pt x="29872" y="0"/>
                  </a:lnTo>
                </a:path>
              </a:pathLst>
            </a:custGeom>
            <a:noFill/>
            <a:ln cap="flat" cmpd="sng" w="14275">
              <a:solidFill>
                <a:srgbClr val="664092"/>
              </a:solidFill>
              <a:prstDash val="solid"/>
              <a:round/>
              <a:headEnd len="sm" w="sm" type="none"/>
              <a:tailEnd len="sm" w="sm" type="none"/>
            </a:ln>
          </p:spPr>
        </p:sp>
        <p:sp>
          <p:nvSpPr>
            <p:cNvPr id="358" name="Google Shape;358;p12"/>
            <p:cNvSpPr/>
            <p:nvPr/>
          </p:nvSpPr>
          <p:spPr>
            <a:xfrm>
              <a:off x="876300" y="5724525"/>
              <a:ext cx="5334000" cy="514350"/>
            </a:xfrm>
            <a:prstGeom prst="roundRect">
              <a:avLst>
                <a:gd fmla="val 22222"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2"/>
            <p:cNvSpPr/>
            <p:nvPr/>
          </p:nvSpPr>
          <p:spPr>
            <a:xfrm>
              <a:off x="1028700" y="5876925"/>
              <a:ext cx="1352550" cy="2571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4478F5"/>
                  </a:solidFill>
                  <a:latin typeface="Arial"/>
                  <a:ea typeface="Arial"/>
                  <a:cs typeface="Arial"/>
                  <a:sym typeface="Arial"/>
                </a:rPr>
                <a:t>INTERPRETAR</a:t>
              </a:r>
              <a:endParaRPr/>
            </a:p>
          </p:txBody>
        </p:sp>
        <p:sp>
          <p:nvSpPr>
            <p:cNvPr id="360" name="Google Shape;360;p12"/>
            <p:cNvSpPr/>
            <p:nvPr/>
          </p:nvSpPr>
          <p:spPr>
            <a:xfrm>
              <a:off x="2571750" y="5810250"/>
              <a:ext cx="3448050" cy="41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Reconocer necesidades y oportunidades.</a:t>
              </a:r>
              <a:endParaRPr/>
            </a:p>
          </p:txBody>
        </p:sp>
        <p:sp>
          <p:nvSpPr>
            <p:cNvPr id="361" name="Google Shape;361;p12"/>
            <p:cNvSpPr/>
            <p:nvPr/>
          </p:nvSpPr>
          <p:spPr>
            <a:xfrm>
              <a:off x="790575" y="5972175"/>
              <a:ext cx="953" cy="571500"/>
            </a:xfrm>
            <a:custGeom>
              <a:rect b="b" l="l" r="r" t="t"/>
              <a:pathLst>
                <a:path extrusionOk="0" h="571500" w="953">
                  <a:moveTo>
                    <a:pt x="0" y="0"/>
                  </a:moveTo>
                  <a:lnTo>
                    <a:pt x="0" y="571500"/>
                  </a:lnTo>
                </a:path>
              </a:pathLst>
            </a:custGeom>
            <a:noFill/>
            <a:ln cap="flat" cmpd="sng" w="14275">
              <a:solidFill>
                <a:srgbClr val="664092"/>
              </a:solidFill>
              <a:prstDash val="solid"/>
              <a:round/>
              <a:headEnd len="sm" w="sm" type="none"/>
              <a:tailEnd len="sm" w="sm" type="none"/>
            </a:ln>
          </p:spPr>
        </p:sp>
        <p:sp>
          <p:nvSpPr>
            <p:cNvPr id="362" name="Google Shape;362;p12"/>
            <p:cNvSpPr/>
            <p:nvPr/>
          </p:nvSpPr>
          <p:spPr>
            <a:xfrm>
              <a:off x="760703" y="6494953"/>
              <a:ext cx="29872" cy="48722"/>
            </a:xfrm>
            <a:custGeom>
              <a:rect b="b" l="l" r="r" t="t"/>
              <a:pathLst>
                <a:path extrusionOk="0" h="48722" w="29872">
                  <a:moveTo>
                    <a:pt x="29872" y="48722"/>
                  </a:moveTo>
                  <a:lnTo>
                    <a:pt x="0" y="0"/>
                  </a:lnTo>
                </a:path>
              </a:pathLst>
            </a:custGeom>
            <a:noFill/>
            <a:ln cap="flat" cmpd="sng" w="14275">
              <a:solidFill>
                <a:srgbClr val="664092"/>
              </a:solidFill>
              <a:prstDash val="solid"/>
              <a:round/>
              <a:headEnd len="sm" w="sm" type="none"/>
              <a:tailEnd len="sm" w="sm" type="none"/>
            </a:ln>
          </p:spPr>
        </p:sp>
        <p:sp>
          <p:nvSpPr>
            <p:cNvPr id="363" name="Google Shape;363;p12"/>
            <p:cNvSpPr/>
            <p:nvPr/>
          </p:nvSpPr>
          <p:spPr>
            <a:xfrm>
              <a:off x="790575" y="6494953"/>
              <a:ext cx="29872" cy="48722"/>
            </a:xfrm>
            <a:custGeom>
              <a:rect b="b" l="l" r="r" t="t"/>
              <a:pathLst>
                <a:path extrusionOk="0" h="48722" w="29872">
                  <a:moveTo>
                    <a:pt x="0" y="48722"/>
                  </a:moveTo>
                  <a:lnTo>
                    <a:pt x="29872" y="0"/>
                  </a:lnTo>
                </a:path>
              </a:pathLst>
            </a:custGeom>
            <a:noFill/>
            <a:ln cap="flat" cmpd="sng" w="14275">
              <a:solidFill>
                <a:srgbClr val="664092"/>
              </a:solidFill>
              <a:prstDash val="solid"/>
              <a:round/>
              <a:headEnd len="sm" w="sm" type="none"/>
              <a:tailEnd len="sm" w="sm" type="none"/>
            </a:ln>
          </p:spPr>
        </p:sp>
        <p:sp>
          <p:nvSpPr>
            <p:cNvPr id="364" name="Google Shape;364;p12"/>
            <p:cNvSpPr/>
            <p:nvPr/>
          </p:nvSpPr>
          <p:spPr>
            <a:xfrm>
              <a:off x="876300" y="6324600"/>
              <a:ext cx="5334000" cy="514350"/>
            </a:xfrm>
            <a:prstGeom prst="roundRect">
              <a:avLst>
                <a:gd fmla="val 22222"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2"/>
            <p:cNvSpPr/>
            <p:nvPr/>
          </p:nvSpPr>
          <p:spPr>
            <a:xfrm>
              <a:off x="1028700" y="6477000"/>
              <a:ext cx="1352550" cy="2571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EXPLORAR</a:t>
              </a:r>
              <a:endParaRPr/>
            </a:p>
          </p:txBody>
        </p:sp>
        <p:sp>
          <p:nvSpPr>
            <p:cNvPr id="366" name="Google Shape;366;p12"/>
            <p:cNvSpPr/>
            <p:nvPr/>
          </p:nvSpPr>
          <p:spPr>
            <a:xfrm>
              <a:off x="2571750" y="6410325"/>
              <a:ext cx="3448050" cy="41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Considerar diferentes alternativas.</a:t>
              </a:r>
              <a:endParaRPr/>
            </a:p>
          </p:txBody>
        </p:sp>
        <p:sp>
          <p:nvSpPr>
            <p:cNvPr id="367" name="Google Shape;367;p12"/>
            <p:cNvSpPr/>
            <p:nvPr/>
          </p:nvSpPr>
          <p:spPr>
            <a:xfrm>
              <a:off x="790575" y="6572250"/>
              <a:ext cx="953" cy="571500"/>
            </a:xfrm>
            <a:custGeom>
              <a:rect b="b" l="l" r="r" t="t"/>
              <a:pathLst>
                <a:path extrusionOk="0" h="571500" w="953">
                  <a:moveTo>
                    <a:pt x="0" y="0"/>
                  </a:moveTo>
                  <a:lnTo>
                    <a:pt x="0" y="571500"/>
                  </a:lnTo>
                </a:path>
              </a:pathLst>
            </a:custGeom>
            <a:noFill/>
            <a:ln cap="flat" cmpd="sng" w="14275">
              <a:solidFill>
                <a:srgbClr val="664092"/>
              </a:solidFill>
              <a:prstDash val="solid"/>
              <a:round/>
              <a:headEnd len="sm" w="sm" type="none"/>
              <a:tailEnd len="sm" w="sm" type="none"/>
            </a:ln>
          </p:spPr>
        </p:sp>
        <p:sp>
          <p:nvSpPr>
            <p:cNvPr id="368" name="Google Shape;368;p12"/>
            <p:cNvSpPr/>
            <p:nvPr/>
          </p:nvSpPr>
          <p:spPr>
            <a:xfrm>
              <a:off x="760703" y="7095028"/>
              <a:ext cx="29872" cy="48722"/>
            </a:xfrm>
            <a:custGeom>
              <a:rect b="b" l="l" r="r" t="t"/>
              <a:pathLst>
                <a:path extrusionOk="0" h="48722" w="29872">
                  <a:moveTo>
                    <a:pt x="29872" y="48722"/>
                  </a:moveTo>
                  <a:lnTo>
                    <a:pt x="0" y="0"/>
                  </a:lnTo>
                </a:path>
              </a:pathLst>
            </a:custGeom>
            <a:noFill/>
            <a:ln cap="flat" cmpd="sng" w="14275">
              <a:solidFill>
                <a:srgbClr val="664092"/>
              </a:solidFill>
              <a:prstDash val="solid"/>
              <a:round/>
              <a:headEnd len="sm" w="sm" type="none"/>
              <a:tailEnd len="sm" w="sm" type="none"/>
            </a:ln>
          </p:spPr>
        </p:sp>
        <p:sp>
          <p:nvSpPr>
            <p:cNvPr id="369" name="Google Shape;369;p12"/>
            <p:cNvSpPr/>
            <p:nvPr/>
          </p:nvSpPr>
          <p:spPr>
            <a:xfrm>
              <a:off x="790575" y="7095028"/>
              <a:ext cx="29872" cy="48722"/>
            </a:xfrm>
            <a:custGeom>
              <a:rect b="b" l="l" r="r" t="t"/>
              <a:pathLst>
                <a:path extrusionOk="0" h="48722" w="29872">
                  <a:moveTo>
                    <a:pt x="0" y="48722"/>
                  </a:moveTo>
                  <a:lnTo>
                    <a:pt x="29872" y="0"/>
                  </a:lnTo>
                </a:path>
              </a:pathLst>
            </a:custGeom>
            <a:noFill/>
            <a:ln cap="flat" cmpd="sng" w="14275">
              <a:solidFill>
                <a:srgbClr val="664092"/>
              </a:solidFill>
              <a:prstDash val="solid"/>
              <a:round/>
              <a:headEnd len="sm" w="sm" type="none"/>
              <a:tailEnd len="sm" w="sm" type="none"/>
            </a:ln>
          </p:spPr>
        </p:sp>
        <p:sp>
          <p:nvSpPr>
            <p:cNvPr id="370" name="Google Shape;370;p12"/>
            <p:cNvSpPr/>
            <p:nvPr/>
          </p:nvSpPr>
          <p:spPr>
            <a:xfrm>
              <a:off x="876300" y="6924675"/>
              <a:ext cx="5334000" cy="514350"/>
            </a:xfrm>
            <a:prstGeom prst="roundRect">
              <a:avLst>
                <a:gd fmla="val 22222"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2"/>
            <p:cNvSpPr/>
            <p:nvPr/>
          </p:nvSpPr>
          <p:spPr>
            <a:xfrm>
              <a:off x="1028700" y="7077075"/>
              <a:ext cx="1352550" cy="2571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4478F5"/>
                  </a:solidFill>
                  <a:latin typeface="Arial"/>
                  <a:ea typeface="Arial"/>
                  <a:cs typeface="Arial"/>
                  <a:sym typeface="Arial"/>
                </a:rPr>
                <a:t>PROTOTIPAR</a:t>
              </a:r>
              <a:endParaRPr/>
            </a:p>
          </p:txBody>
        </p:sp>
        <p:sp>
          <p:nvSpPr>
            <p:cNvPr id="372" name="Google Shape;372;p12"/>
            <p:cNvSpPr/>
            <p:nvPr/>
          </p:nvSpPr>
          <p:spPr>
            <a:xfrm>
              <a:off x="2571750" y="7010400"/>
              <a:ext cx="3448050" cy="41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Representar posibilidades.</a:t>
              </a:r>
              <a:endParaRPr/>
            </a:p>
          </p:txBody>
        </p:sp>
        <p:sp>
          <p:nvSpPr>
            <p:cNvPr id="373" name="Google Shape;373;p12"/>
            <p:cNvSpPr/>
            <p:nvPr/>
          </p:nvSpPr>
          <p:spPr>
            <a:xfrm>
              <a:off x="790575" y="7172325"/>
              <a:ext cx="953" cy="571500"/>
            </a:xfrm>
            <a:custGeom>
              <a:rect b="b" l="l" r="r" t="t"/>
              <a:pathLst>
                <a:path extrusionOk="0" h="571500" w="953">
                  <a:moveTo>
                    <a:pt x="0" y="0"/>
                  </a:moveTo>
                  <a:lnTo>
                    <a:pt x="0" y="571500"/>
                  </a:lnTo>
                </a:path>
              </a:pathLst>
            </a:custGeom>
            <a:noFill/>
            <a:ln cap="flat" cmpd="sng" w="14275">
              <a:solidFill>
                <a:srgbClr val="664092"/>
              </a:solidFill>
              <a:prstDash val="solid"/>
              <a:round/>
              <a:headEnd len="sm" w="sm" type="none"/>
              <a:tailEnd len="sm" w="sm" type="none"/>
            </a:ln>
          </p:spPr>
        </p:sp>
        <p:sp>
          <p:nvSpPr>
            <p:cNvPr id="374" name="Google Shape;374;p12"/>
            <p:cNvSpPr/>
            <p:nvPr/>
          </p:nvSpPr>
          <p:spPr>
            <a:xfrm>
              <a:off x="760703" y="7695103"/>
              <a:ext cx="29872" cy="48722"/>
            </a:xfrm>
            <a:custGeom>
              <a:rect b="b" l="l" r="r" t="t"/>
              <a:pathLst>
                <a:path extrusionOk="0" h="48722" w="29872">
                  <a:moveTo>
                    <a:pt x="29872" y="48722"/>
                  </a:moveTo>
                  <a:lnTo>
                    <a:pt x="0" y="0"/>
                  </a:lnTo>
                </a:path>
              </a:pathLst>
            </a:custGeom>
            <a:noFill/>
            <a:ln cap="flat" cmpd="sng" w="14275">
              <a:solidFill>
                <a:srgbClr val="664092"/>
              </a:solidFill>
              <a:prstDash val="solid"/>
              <a:round/>
              <a:headEnd len="sm" w="sm" type="none"/>
              <a:tailEnd len="sm" w="sm" type="none"/>
            </a:ln>
          </p:spPr>
        </p:sp>
        <p:sp>
          <p:nvSpPr>
            <p:cNvPr id="375" name="Google Shape;375;p12"/>
            <p:cNvSpPr/>
            <p:nvPr/>
          </p:nvSpPr>
          <p:spPr>
            <a:xfrm>
              <a:off x="790575" y="7695103"/>
              <a:ext cx="29872" cy="48722"/>
            </a:xfrm>
            <a:custGeom>
              <a:rect b="b" l="l" r="r" t="t"/>
              <a:pathLst>
                <a:path extrusionOk="0" h="48722" w="29872">
                  <a:moveTo>
                    <a:pt x="0" y="48722"/>
                  </a:moveTo>
                  <a:lnTo>
                    <a:pt x="29872" y="0"/>
                  </a:lnTo>
                </a:path>
              </a:pathLst>
            </a:custGeom>
            <a:noFill/>
            <a:ln cap="flat" cmpd="sng" w="14275">
              <a:solidFill>
                <a:srgbClr val="664092"/>
              </a:solidFill>
              <a:prstDash val="solid"/>
              <a:round/>
              <a:headEnd len="sm" w="sm" type="none"/>
              <a:tailEnd len="sm" w="sm" type="none"/>
            </a:ln>
          </p:spPr>
        </p:sp>
        <p:sp>
          <p:nvSpPr>
            <p:cNvPr id="376" name="Google Shape;376;p12"/>
            <p:cNvSpPr/>
            <p:nvPr/>
          </p:nvSpPr>
          <p:spPr>
            <a:xfrm>
              <a:off x="876300" y="7524750"/>
              <a:ext cx="5334000" cy="514350"/>
            </a:xfrm>
            <a:prstGeom prst="roundRect">
              <a:avLst>
                <a:gd fmla="val 22222"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2"/>
            <p:cNvSpPr/>
            <p:nvPr/>
          </p:nvSpPr>
          <p:spPr>
            <a:xfrm>
              <a:off x="1028700" y="7677150"/>
              <a:ext cx="1352550" cy="2571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EVALUAR</a:t>
              </a:r>
              <a:endParaRPr/>
            </a:p>
          </p:txBody>
        </p:sp>
        <p:sp>
          <p:nvSpPr>
            <p:cNvPr id="378" name="Google Shape;378;p12"/>
            <p:cNvSpPr/>
            <p:nvPr/>
          </p:nvSpPr>
          <p:spPr>
            <a:xfrm>
              <a:off x="2571750" y="7610475"/>
              <a:ext cx="3448050" cy="41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Obtener información antes de consolidar la solución.</a:t>
              </a:r>
              <a:endParaRPr/>
            </a:p>
          </p:txBody>
        </p:sp>
        <p:sp>
          <p:nvSpPr>
            <p:cNvPr id="379" name="Google Shape;379;p12"/>
            <p:cNvSpPr/>
            <p:nvPr/>
          </p:nvSpPr>
          <p:spPr>
            <a:xfrm>
              <a:off x="876300" y="8372475"/>
              <a:ext cx="5334000" cy="6667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En contextos de incertidumbre no siempre podemos saber desde el comienzo qué características generarán mayor valor. Experimentar progresivamente permite obtener información antes de realizar inversiones definitivas.</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3"/>
          <p:cNvSpPr/>
          <p:nvPr/>
        </p:nvSpPr>
        <p:spPr>
          <a:xfrm>
            <a:off x="876300" y="9067800"/>
            <a:ext cx="457200" cy="19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chemeClr val="lt1"/>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386" name="Google Shape;386;p13"/>
          <p:cNvSpPr/>
          <p:nvPr/>
        </p:nvSpPr>
        <p:spPr>
          <a:xfrm>
            <a:off x="876300" y="723900"/>
            <a:ext cx="39052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Pensamiento de diseño</a:t>
            </a:r>
            <a:endParaRPr b="0" i="0" sz="1400" u="none" cap="none" strike="noStrike">
              <a:solidFill>
                <a:srgbClr val="000000"/>
              </a:solidFill>
              <a:latin typeface="Arial"/>
              <a:ea typeface="Arial"/>
              <a:cs typeface="Arial"/>
              <a:sym typeface="Arial"/>
            </a:endParaRPr>
          </a:p>
        </p:txBody>
      </p:sp>
      <p:cxnSp>
        <p:nvCxnSpPr>
          <p:cNvPr id="387" name="Google Shape;387;p13"/>
          <p:cNvCxnSpPr/>
          <p:nvPr/>
        </p:nvCxnSpPr>
        <p:spPr>
          <a:xfrm>
            <a:off x="984006" y="2498480"/>
            <a:ext cx="959094" cy="0"/>
          </a:xfrm>
          <a:prstGeom prst="straightConnector1">
            <a:avLst/>
          </a:prstGeom>
          <a:noFill/>
          <a:ln cap="flat" cmpd="sng" w="53975">
            <a:solidFill>
              <a:srgbClr val="73CDEB"/>
            </a:solidFill>
            <a:prstDash val="solid"/>
            <a:round/>
            <a:headEnd len="med" w="med" type="oval"/>
            <a:tailEnd len="med" w="med" type="oval"/>
          </a:ln>
        </p:spPr>
      </p:cxnSp>
      <p:grpSp>
        <p:nvGrpSpPr>
          <p:cNvPr id="388" name="Google Shape;388;p13"/>
          <p:cNvGrpSpPr/>
          <p:nvPr/>
        </p:nvGrpSpPr>
        <p:grpSpPr>
          <a:xfrm>
            <a:off x="876300" y="1381125"/>
            <a:ext cx="5334000" cy="7677150"/>
            <a:chOff x="876300" y="1381125"/>
            <a:chExt cx="5334000" cy="7677150"/>
          </a:xfrm>
        </p:grpSpPr>
        <p:sp>
          <p:nvSpPr>
            <p:cNvPr id="389" name="Google Shape;389;p13"/>
            <p:cNvSpPr/>
            <p:nvPr/>
          </p:nvSpPr>
          <p:spPr>
            <a:xfrm>
              <a:off x="876300" y="1381125"/>
              <a:ext cx="5334000" cy="100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2400" u="none" cap="none" strike="noStrike">
                  <a:solidFill>
                    <a:srgbClr val="664092"/>
                  </a:solidFill>
                  <a:latin typeface="Arial"/>
                  <a:ea typeface="Arial"/>
                  <a:cs typeface="Arial"/>
                  <a:sym typeface="Arial"/>
                </a:rPr>
                <a:t>Design Thinking + Agilidad</a:t>
              </a:r>
              <a:endParaRPr/>
            </a:p>
          </p:txBody>
        </p:sp>
        <p:sp>
          <p:nvSpPr>
            <p:cNvPr id="390" name="Google Shape;390;p13"/>
            <p:cNvSpPr/>
            <p:nvPr/>
          </p:nvSpPr>
          <p:spPr>
            <a:xfrm>
              <a:off x="876300" y="2733675"/>
              <a:ext cx="5334000" cy="4381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Design Thinking y las metodologías ágiles pueden comprenderse como enfoques complementarios.</a:t>
              </a:r>
              <a:endParaRPr/>
            </a:p>
          </p:txBody>
        </p:sp>
        <p:sp>
          <p:nvSpPr>
            <p:cNvPr id="391" name="Google Shape;391;p13"/>
            <p:cNvSpPr/>
            <p:nvPr/>
          </p:nvSpPr>
          <p:spPr>
            <a:xfrm>
              <a:off x="876300" y="3314700"/>
              <a:ext cx="253365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Design Thinking</a:t>
              </a:r>
              <a:endParaRPr/>
            </a:p>
          </p:txBody>
        </p:sp>
        <p:sp>
          <p:nvSpPr>
            <p:cNvPr id="392" name="Google Shape;392;p13"/>
            <p:cNvSpPr/>
            <p:nvPr/>
          </p:nvSpPr>
          <p:spPr>
            <a:xfrm>
              <a:off x="876300" y="3733800"/>
              <a:ext cx="2533650" cy="742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Comprender qué problema merece ser resuelto.</a:t>
              </a:r>
              <a:endParaRPr/>
            </a:p>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Explorar qué solución podría aportar valor.</a:t>
              </a:r>
              <a:endParaRPr/>
            </a:p>
          </p:txBody>
        </p:sp>
        <p:sp>
          <p:nvSpPr>
            <p:cNvPr id="393" name="Google Shape;393;p13"/>
            <p:cNvSpPr/>
            <p:nvPr/>
          </p:nvSpPr>
          <p:spPr>
            <a:xfrm>
              <a:off x="3676650" y="3314700"/>
              <a:ext cx="253365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700" u="none" cap="none" strike="noStrike">
                  <a:solidFill>
                    <a:srgbClr val="664092"/>
                  </a:solidFill>
                  <a:latin typeface="Arial"/>
                  <a:ea typeface="Arial"/>
                  <a:cs typeface="Arial"/>
                  <a:sym typeface="Arial"/>
                </a:rPr>
                <a:t>Metodologías ágiles</a:t>
              </a:r>
              <a:endParaRPr/>
            </a:p>
          </p:txBody>
        </p:sp>
        <p:sp>
          <p:nvSpPr>
            <p:cNvPr id="394" name="Google Shape;394;p13"/>
            <p:cNvSpPr/>
            <p:nvPr/>
          </p:nvSpPr>
          <p:spPr>
            <a:xfrm>
              <a:off x="3676650" y="3733800"/>
              <a:ext cx="2533650" cy="742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Organizar el trabajo para desarrollar, entregar y mejorar soluciones mediante ciclos.</a:t>
              </a:r>
              <a:endParaRPr/>
            </a:p>
          </p:txBody>
        </p:sp>
        <p:sp>
          <p:nvSpPr>
            <p:cNvPr id="395" name="Google Shape;395;p13"/>
            <p:cNvSpPr/>
            <p:nvPr/>
          </p:nvSpPr>
          <p:spPr>
            <a:xfrm>
              <a:off x="3533775" y="3295650"/>
              <a:ext cx="953" cy="1152525"/>
            </a:xfrm>
            <a:custGeom>
              <a:rect b="b" l="l" r="r" t="t"/>
              <a:pathLst>
                <a:path extrusionOk="0" h="1152525" w="953">
                  <a:moveTo>
                    <a:pt x="0" y="0"/>
                  </a:moveTo>
                  <a:lnTo>
                    <a:pt x="0" y="1152525"/>
                  </a:lnTo>
                </a:path>
              </a:pathLst>
            </a:custGeom>
            <a:noFill/>
            <a:ln cap="flat" cmpd="sng" w="9525">
              <a:solidFill>
                <a:srgbClr val="D4CEDF"/>
              </a:solidFill>
              <a:prstDash val="solid"/>
              <a:round/>
              <a:headEnd len="sm" w="sm" type="none"/>
              <a:tailEnd len="sm" w="sm" type="none"/>
            </a:ln>
          </p:spPr>
        </p:sp>
        <p:sp>
          <p:nvSpPr>
            <p:cNvPr id="396" name="Google Shape;396;p13"/>
            <p:cNvSpPr/>
            <p:nvPr/>
          </p:nvSpPr>
          <p:spPr>
            <a:xfrm>
              <a:off x="876300" y="4552950"/>
              <a:ext cx="5334000" cy="6191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La complementariedad ayuda a superar la idea de que ser ágil significa simplemente trabajar más rápido. Ambos enfoques comparten una orientación hacia el aprendizaje, la adaptación y la incorporación de nueva información.</a:t>
              </a:r>
              <a:endParaRPr/>
            </a:p>
          </p:txBody>
        </p:sp>
        <p:sp>
          <p:nvSpPr>
            <p:cNvPr id="397" name="Google Shape;397;p13"/>
            <p:cNvSpPr/>
            <p:nvPr/>
          </p:nvSpPr>
          <p:spPr>
            <a:xfrm>
              <a:off x="876300" y="5248275"/>
              <a:ext cx="5334000" cy="6191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El pensamiento de diseño incorpora sistemáticamente a las personas en la comprensión y experimentación de las soluciones; la agilidad permite continuar aprendiendo mientras estas se desarrollan y evolucionan.</a:t>
              </a:r>
              <a:endParaRPr/>
            </a:p>
          </p:txBody>
        </p:sp>
        <p:sp>
          <p:nvSpPr>
            <p:cNvPr id="398" name="Google Shape;398;p13"/>
            <p:cNvSpPr/>
            <p:nvPr/>
          </p:nvSpPr>
          <p:spPr>
            <a:xfrm>
              <a:off x="2581275" y="6191250"/>
              <a:ext cx="1885950" cy="953"/>
            </a:xfrm>
            <a:custGeom>
              <a:rect b="b" l="l" r="r" t="t"/>
              <a:pathLst>
                <a:path extrusionOk="0" h="953" w="1885950">
                  <a:moveTo>
                    <a:pt x="0" y="0"/>
                  </a:moveTo>
                  <a:lnTo>
                    <a:pt x="1885950" y="0"/>
                  </a:lnTo>
                </a:path>
              </a:pathLst>
            </a:custGeom>
            <a:noFill/>
            <a:ln cap="flat" cmpd="sng" w="14275">
              <a:solidFill>
                <a:srgbClr val="664092"/>
              </a:solidFill>
              <a:prstDash val="solid"/>
              <a:round/>
              <a:headEnd len="sm" w="sm" type="none"/>
              <a:tailEnd len="sm" w="sm" type="none"/>
            </a:ln>
          </p:spPr>
        </p:sp>
        <p:sp>
          <p:nvSpPr>
            <p:cNvPr id="399" name="Google Shape;399;p13"/>
            <p:cNvSpPr/>
            <p:nvPr/>
          </p:nvSpPr>
          <p:spPr>
            <a:xfrm>
              <a:off x="4418503" y="6191250"/>
              <a:ext cx="48722" cy="29872"/>
            </a:xfrm>
            <a:custGeom>
              <a:rect b="b" l="l" r="r" t="t"/>
              <a:pathLst>
                <a:path extrusionOk="0" h="29872" w="48722">
                  <a:moveTo>
                    <a:pt x="48722" y="0"/>
                  </a:moveTo>
                  <a:lnTo>
                    <a:pt x="0" y="29872"/>
                  </a:lnTo>
                </a:path>
              </a:pathLst>
            </a:custGeom>
            <a:noFill/>
            <a:ln cap="flat" cmpd="sng" w="14275">
              <a:solidFill>
                <a:srgbClr val="664092"/>
              </a:solidFill>
              <a:prstDash val="solid"/>
              <a:round/>
              <a:headEnd len="sm" w="sm" type="none"/>
              <a:tailEnd len="sm" w="sm" type="none"/>
            </a:ln>
          </p:spPr>
        </p:sp>
        <p:sp>
          <p:nvSpPr>
            <p:cNvPr id="400" name="Google Shape;400;p13"/>
            <p:cNvSpPr/>
            <p:nvPr/>
          </p:nvSpPr>
          <p:spPr>
            <a:xfrm>
              <a:off x="4418503" y="6161378"/>
              <a:ext cx="48722" cy="29872"/>
            </a:xfrm>
            <a:custGeom>
              <a:rect b="b" l="l" r="r" t="t"/>
              <a:pathLst>
                <a:path extrusionOk="0" h="29872" w="48722">
                  <a:moveTo>
                    <a:pt x="48722" y="29872"/>
                  </a:moveTo>
                  <a:lnTo>
                    <a:pt x="0" y="0"/>
                  </a:lnTo>
                </a:path>
              </a:pathLst>
            </a:custGeom>
            <a:noFill/>
            <a:ln cap="flat" cmpd="sng" w="14275">
              <a:solidFill>
                <a:srgbClr val="664092"/>
              </a:solidFill>
              <a:prstDash val="solid"/>
              <a:round/>
              <a:headEnd len="sm" w="sm" type="none"/>
              <a:tailEnd len="sm" w="sm" type="none"/>
            </a:ln>
          </p:spPr>
        </p:sp>
        <p:sp>
          <p:nvSpPr>
            <p:cNvPr id="401" name="Google Shape;401;p13"/>
            <p:cNvSpPr/>
            <p:nvPr/>
          </p:nvSpPr>
          <p:spPr>
            <a:xfrm>
              <a:off x="5362575" y="6419850"/>
              <a:ext cx="953" cy="266700"/>
            </a:xfrm>
            <a:custGeom>
              <a:rect b="b" l="l" r="r" t="t"/>
              <a:pathLst>
                <a:path extrusionOk="0" h="266700" w="953">
                  <a:moveTo>
                    <a:pt x="0" y="0"/>
                  </a:moveTo>
                  <a:lnTo>
                    <a:pt x="0" y="266700"/>
                  </a:lnTo>
                </a:path>
              </a:pathLst>
            </a:custGeom>
            <a:noFill/>
            <a:ln cap="flat" cmpd="sng" w="14275">
              <a:solidFill>
                <a:srgbClr val="664092"/>
              </a:solidFill>
              <a:prstDash val="solid"/>
              <a:round/>
              <a:headEnd len="sm" w="sm" type="none"/>
              <a:tailEnd len="sm" w="sm" type="none"/>
            </a:ln>
          </p:spPr>
        </p:sp>
        <p:sp>
          <p:nvSpPr>
            <p:cNvPr id="402" name="Google Shape;402;p13"/>
            <p:cNvSpPr/>
            <p:nvPr/>
          </p:nvSpPr>
          <p:spPr>
            <a:xfrm>
              <a:off x="5332703" y="6637828"/>
              <a:ext cx="29872" cy="48722"/>
            </a:xfrm>
            <a:custGeom>
              <a:rect b="b" l="l" r="r" t="t"/>
              <a:pathLst>
                <a:path extrusionOk="0" h="48722" w="29872">
                  <a:moveTo>
                    <a:pt x="29872" y="48722"/>
                  </a:moveTo>
                  <a:lnTo>
                    <a:pt x="0" y="0"/>
                  </a:lnTo>
                </a:path>
              </a:pathLst>
            </a:custGeom>
            <a:noFill/>
            <a:ln cap="flat" cmpd="sng" w="14275">
              <a:solidFill>
                <a:srgbClr val="664092"/>
              </a:solidFill>
              <a:prstDash val="solid"/>
              <a:round/>
              <a:headEnd len="sm" w="sm" type="none"/>
              <a:tailEnd len="sm" w="sm" type="none"/>
            </a:ln>
          </p:spPr>
        </p:sp>
        <p:sp>
          <p:nvSpPr>
            <p:cNvPr id="403" name="Google Shape;403;p13"/>
            <p:cNvSpPr/>
            <p:nvPr/>
          </p:nvSpPr>
          <p:spPr>
            <a:xfrm>
              <a:off x="5362575" y="6637828"/>
              <a:ext cx="29872" cy="48722"/>
            </a:xfrm>
            <a:custGeom>
              <a:rect b="b" l="l" r="r" t="t"/>
              <a:pathLst>
                <a:path extrusionOk="0" h="48722" w="29872">
                  <a:moveTo>
                    <a:pt x="0" y="48722"/>
                  </a:moveTo>
                  <a:lnTo>
                    <a:pt x="29872" y="0"/>
                  </a:lnTo>
                </a:path>
              </a:pathLst>
            </a:custGeom>
            <a:noFill/>
            <a:ln cap="flat" cmpd="sng" w="14275">
              <a:solidFill>
                <a:srgbClr val="664092"/>
              </a:solidFill>
              <a:prstDash val="solid"/>
              <a:round/>
              <a:headEnd len="sm" w="sm" type="none"/>
              <a:tailEnd len="sm" w="sm" type="none"/>
            </a:ln>
          </p:spPr>
        </p:sp>
        <p:sp>
          <p:nvSpPr>
            <p:cNvPr id="404" name="Google Shape;404;p13"/>
            <p:cNvSpPr/>
            <p:nvPr/>
          </p:nvSpPr>
          <p:spPr>
            <a:xfrm>
              <a:off x="4381500" y="7153275"/>
              <a:ext cx="323850" cy="180975"/>
            </a:xfrm>
            <a:custGeom>
              <a:rect b="b" l="l" r="r" t="t"/>
              <a:pathLst>
                <a:path extrusionOk="0" h="180975" w="323850">
                  <a:moveTo>
                    <a:pt x="323850" y="0"/>
                  </a:moveTo>
                  <a:lnTo>
                    <a:pt x="0" y="180975"/>
                  </a:lnTo>
                </a:path>
              </a:pathLst>
            </a:custGeom>
            <a:noFill/>
            <a:ln cap="flat" cmpd="sng" w="14275">
              <a:solidFill>
                <a:srgbClr val="664092"/>
              </a:solidFill>
              <a:prstDash val="solid"/>
              <a:round/>
              <a:headEnd len="sm" w="sm" type="none"/>
              <a:tailEnd len="sm" w="sm" type="none"/>
            </a:ln>
          </p:spPr>
        </p:sp>
        <p:sp>
          <p:nvSpPr>
            <p:cNvPr id="405" name="Google Shape;405;p13"/>
            <p:cNvSpPr/>
            <p:nvPr/>
          </p:nvSpPr>
          <p:spPr>
            <a:xfrm>
              <a:off x="4381500" y="7284406"/>
              <a:ext cx="27959" cy="49844"/>
            </a:xfrm>
            <a:custGeom>
              <a:rect b="b" l="l" r="r" t="t"/>
              <a:pathLst>
                <a:path extrusionOk="0" h="49844" w="27959">
                  <a:moveTo>
                    <a:pt x="0" y="49844"/>
                  </a:moveTo>
                  <a:lnTo>
                    <a:pt x="27959" y="0"/>
                  </a:lnTo>
                </a:path>
              </a:pathLst>
            </a:custGeom>
            <a:noFill/>
            <a:ln cap="flat" cmpd="sng" w="14275">
              <a:solidFill>
                <a:srgbClr val="664092"/>
              </a:solidFill>
              <a:prstDash val="solid"/>
              <a:round/>
              <a:headEnd len="sm" w="sm" type="none"/>
              <a:tailEnd len="sm" w="sm" type="none"/>
            </a:ln>
          </p:spPr>
        </p:sp>
        <p:sp>
          <p:nvSpPr>
            <p:cNvPr id="406" name="Google Shape;406;p13"/>
            <p:cNvSpPr/>
            <p:nvPr/>
          </p:nvSpPr>
          <p:spPr>
            <a:xfrm>
              <a:off x="4381500" y="7334250"/>
              <a:ext cx="57103" cy="2309"/>
            </a:xfrm>
            <a:custGeom>
              <a:rect b="b" l="l" r="r" t="t"/>
              <a:pathLst>
                <a:path extrusionOk="0" h="2309" w="57103">
                  <a:moveTo>
                    <a:pt x="0" y="0"/>
                  </a:moveTo>
                  <a:lnTo>
                    <a:pt x="57103" y="2309"/>
                  </a:lnTo>
                </a:path>
              </a:pathLst>
            </a:custGeom>
            <a:noFill/>
            <a:ln cap="flat" cmpd="sng" w="14275">
              <a:solidFill>
                <a:srgbClr val="664092"/>
              </a:solidFill>
              <a:prstDash val="solid"/>
              <a:round/>
              <a:headEnd len="sm" w="sm" type="none"/>
              <a:tailEnd len="sm" w="sm" type="none"/>
            </a:ln>
          </p:spPr>
        </p:sp>
        <p:sp>
          <p:nvSpPr>
            <p:cNvPr id="407" name="Google Shape;407;p13"/>
            <p:cNvSpPr/>
            <p:nvPr/>
          </p:nvSpPr>
          <p:spPr>
            <a:xfrm>
              <a:off x="2400300" y="7153275"/>
              <a:ext cx="266700" cy="209550"/>
            </a:xfrm>
            <a:custGeom>
              <a:rect b="b" l="l" r="r" t="t"/>
              <a:pathLst>
                <a:path extrusionOk="0" h="209550" w="266700">
                  <a:moveTo>
                    <a:pt x="266700" y="209550"/>
                  </a:moveTo>
                  <a:lnTo>
                    <a:pt x="0" y="0"/>
                  </a:lnTo>
                </a:path>
              </a:pathLst>
            </a:custGeom>
            <a:noFill/>
            <a:ln cap="flat" cmpd="sng" w="14275">
              <a:solidFill>
                <a:srgbClr val="664092"/>
              </a:solidFill>
              <a:prstDash val="solid"/>
              <a:round/>
              <a:headEnd len="sm" w="sm" type="none"/>
              <a:tailEnd len="sm" w="sm" type="none"/>
            </a:ln>
          </p:spPr>
        </p:sp>
        <p:sp>
          <p:nvSpPr>
            <p:cNvPr id="408" name="Google Shape;408;p13"/>
            <p:cNvSpPr/>
            <p:nvPr/>
          </p:nvSpPr>
          <p:spPr>
            <a:xfrm>
              <a:off x="2400300" y="7153275"/>
              <a:ext cx="56766" cy="6613"/>
            </a:xfrm>
            <a:custGeom>
              <a:rect b="b" l="l" r="r" t="t"/>
              <a:pathLst>
                <a:path extrusionOk="0" h="6613" w="56766">
                  <a:moveTo>
                    <a:pt x="0" y="0"/>
                  </a:moveTo>
                  <a:lnTo>
                    <a:pt x="56766" y="6613"/>
                  </a:lnTo>
                </a:path>
              </a:pathLst>
            </a:custGeom>
            <a:noFill/>
            <a:ln cap="flat" cmpd="sng" w="14275">
              <a:solidFill>
                <a:srgbClr val="664092"/>
              </a:solidFill>
              <a:prstDash val="solid"/>
              <a:round/>
              <a:headEnd len="sm" w="sm" type="none"/>
              <a:tailEnd len="sm" w="sm" type="none"/>
            </a:ln>
          </p:spPr>
        </p:sp>
        <p:sp>
          <p:nvSpPr>
            <p:cNvPr id="409" name="Google Shape;409;p13"/>
            <p:cNvSpPr/>
            <p:nvPr/>
          </p:nvSpPr>
          <p:spPr>
            <a:xfrm>
              <a:off x="2400300" y="7153275"/>
              <a:ext cx="19856" cy="53590"/>
            </a:xfrm>
            <a:custGeom>
              <a:rect b="b" l="l" r="r" t="t"/>
              <a:pathLst>
                <a:path extrusionOk="0" h="53590" w="19856">
                  <a:moveTo>
                    <a:pt x="0" y="0"/>
                  </a:moveTo>
                  <a:lnTo>
                    <a:pt x="19856" y="53590"/>
                  </a:lnTo>
                </a:path>
              </a:pathLst>
            </a:custGeom>
            <a:noFill/>
            <a:ln cap="flat" cmpd="sng" w="14275">
              <a:solidFill>
                <a:srgbClr val="664092"/>
              </a:solidFill>
              <a:prstDash val="solid"/>
              <a:round/>
              <a:headEnd len="sm" w="sm" type="none"/>
              <a:tailEnd len="sm" w="sm" type="none"/>
            </a:ln>
          </p:spPr>
        </p:sp>
        <p:sp>
          <p:nvSpPr>
            <p:cNvPr id="410" name="Google Shape;410;p13"/>
            <p:cNvSpPr/>
            <p:nvPr/>
          </p:nvSpPr>
          <p:spPr>
            <a:xfrm>
              <a:off x="1714500" y="6419850"/>
              <a:ext cx="953" cy="266700"/>
            </a:xfrm>
            <a:custGeom>
              <a:rect b="b" l="l" r="r" t="t"/>
              <a:pathLst>
                <a:path extrusionOk="0" h="266700" w="953">
                  <a:moveTo>
                    <a:pt x="0" y="266700"/>
                  </a:moveTo>
                  <a:lnTo>
                    <a:pt x="0" y="0"/>
                  </a:lnTo>
                </a:path>
              </a:pathLst>
            </a:custGeom>
            <a:noFill/>
            <a:ln cap="flat" cmpd="sng" w="14275">
              <a:solidFill>
                <a:srgbClr val="664092"/>
              </a:solidFill>
              <a:prstDash val="solid"/>
              <a:round/>
              <a:headEnd len="sm" w="sm" type="none"/>
              <a:tailEnd len="sm" w="sm" type="none"/>
            </a:ln>
          </p:spPr>
        </p:sp>
        <p:sp>
          <p:nvSpPr>
            <p:cNvPr id="411" name="Google Shape;411;p13"/>
            <p:cNvSpPr/>
            <p:nvPr/>
          </p:nvSpPr>
          <p:spPr>
            <a:xfrm>
              <a:off x="1714500" y="6419850"/>
              <a:ext cx="29872" cy="48722"/>
            </a:xfrm>
            <a:custGeom>
              <a:rect b="b" l="l" r="r" t="t"/>
              <a:pathLst>
                <a:path extrusionOk="0" h="48722" w="29872">
                  <a:moveTo>
                    <a:pt x="0" y="0"/>
                  </a:moveTo>
                  <a:lnTo>
                    <a:pt x="29872" y="48722"/>
                  </a:lnTo>
                </a:path>
              </a:pathLst>
            </a:custGeom>
            <a:noFill/>
            <a:ln cap="flat" cmpd="sng" w="14275">
              <a:solidFill>
                <a:srgbClr val="664092"/>
              </a:solidFill>
              <a:prstDash val="solid"/>
              <a:round/>
              <a:headEnd len="sm" w="sm" type="none"/>
              <a:tailEnd len="sm" w="sm" type="none"/>
            </a:ln>
          </p:spPr>
        </p:sp>
        <p:sp>
          <p:nvSpPr>
            <p:cNvPr id="412" name="Google Shape;412;p13"/>
            <p:cNvSpPr/>
            <p:nvPr/>
          </p:nvSpPr>
          <p:spPr>
            <a:xfrm>
              <a:off x="1684628" y="6419850"/>
              <a:ext cx="29872" cy="48722"/>
            </a:xfrm>
            <a:custGeom>
              <a:rect b="b" l="l" r="r" t="t"/>
              <a:pathLst>
                <a:path extrusionOk="0" h="48722" w="29872">
                  <a:moveTo>
                    <a:pt x="29872" y="0"/>
                  </a:moveTo>
                  <a:lnTo>
                    <a:pt x="0" y="48722"/>
                  </a:lnTo>
                </a:path>
              </a:pathLst>
            </a:custGeom>
            <a:noFill/>
            <a:ln cap="flat" cmpd="sng" w="14275">
              <a:solidFill>
                <a:srgbClr val="664092"/>
              </a:solidFill>
              <a:prstDash val="solid"/>
              <a:round/>
              <a:headEnd len="sm" w="sm" type="none"/>
              <a:tailEnd len="sm" w="sm" type="none"/>
            </a:ln>
          </p:spPr>
        </p:sp>
        <p:sp>
          <p:nvSpPr>
            <p:cNvPr id="413" name="Google Shape;413;p13"/>
            <p:cNvSpPr/>
            <p:nvPr/>
          </p:nvSpPr>
          <p:spPr>
            <a:xfrm>
              <a:off x="876300" y="5981700"/>
              <a:ext cx="1666875" cy="400050"/>
            </a:xfrm>
            <a:prstGeom prst="roundRect">
              <a:avLst>
                <a:gd fmla="val 50000"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3"/>
            <p:cNvSpPr/>
            <p:nvPr/>
          </p:nvSpPr>
          <p:spPr>
            <a:xfrm>
              <a:off x="952500" y="6076950"/>
              <a:ext cx="1514475" cy="2857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COMPRENDER</a:t>
              </a:r>
              <a:endParaRPr/>
            </a:p>
          </p:txBody>
        </p:sp>
        <p:sp>
          <p:nvSpPr>
            <p:cNvPr id="415" name="Google Shape;415;p13"/>
            <p:cNvSpPr/>
            <p:nvPr/>
          </p:nvSpPr>
          <p:spPr>
            <a:xfrm>
              <a:off x="4543425" y="5981700"/>
              <a:ext cx="1666875" cy="400050"/>
            </a:xfrm>
            <a:prstGeom prst="roundRect">
              <a:avLst>
                <a:gd fmla="val 50000"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3"/>
            <p:cNvSpPr/>
            <p:nvPr/>
          </p:nvSpPr>
          <p:spPr>
            <a:xfrm>
              <a:off x="4619625" y="6076950"/>
              <a:ext cx="1514475" cy="2857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200" u="none" cap="none" strike="noStrike">
                  <a:solidFill>
                    <a:srgbClr val="4478F5"/>
                  </a:solidFill>
                  <a:latin typeface="Arial"/>
                  <a:ea typeface="Arial"/>
                  <a:cs typeface="Arial"/>
                  <a:sym typeface="Arial"/>
                </a:rPr>
                <a:t>CREAR</a:t>
              </a:r>
              <a:endParaRPr/>
            </a:p>
          </p:txBody>
        </p:sp>
        <p:sp>
          <p:nvSpPr>
            <p:cNvPr id="417" name="Google Shape;417;p13"/>
            <p:cNvSpPr/>
            <p:nvPr/>
          </p:nvSpPr>
          <p:spPr>
            <a:xfrm>
              <a:off x="4543425" y="6762750"/>
              <a:ext cx="1666875" cy="400050"/>
            </a:xfrm>
            <a:prstGeom prst="roundRect">
              <a:avLst>
                <a:gd fmla="val 50000"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3"/>
            <p:cNvSpPr/>
            <p:nvPr/>
          </p:nvSpPr>
          <p:spPr>
            <a:xfrm>
              <a:off x="4619625" y="6858000"/>
              <a:ext cx="1514475" cy="2857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PROBAR</a:t>
              </a:r>
              <a:endParaRPr/>
            </a:p>
          </p:txBody>
        </p:sp>
        <p:sp>
          <p:nvSpPr>
            <p:cNvPr id="419" name="Google Shape;419;p13"/>
            <p:cNvSpPr/>
            <p:nvPr/>
          </p:nvSpPr>
          <p:spPr>
            <a:xfrm>
              <a:off x="2705100" y="7200900"/>
              <a:ext cx="1666875" cy="400050"/>
            </a:xfrm>
            <a:prstGeom prst="roundRect">
              <a:avLst>
                <a:gd fmla="val 50000" name="adj"/>
              </a:avLst>
            </a:prstGeom>
            <a:solidFill>
              <a:srgbClr val="EE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3"/>
            <p:cNvSpPr/>
            <p:nvPr/>
          </p:nvSpPr>
          <p:spPr>
            <a:xfrm>
              <a:off x="2781300" y="7296150"/>
              <a:ext cx="1514475" cy="2857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200" u="none" cap="none" strike="noStrike">
                  <a:solidFill>
                    <a:srgbClr val="4478F5"/>
                  </a:solidFill>
                  <a:latin typeface="Arial"/>
                  <a:ea typeface="Arial"/>
                  <a:cs typeface="Arial"/>
                  <a:sym typeface="Arial"/>
                </a:rPr>
                <a:t>APRENDER</a:t>
              </a:r>
              <a:endParaRPr/>
            </a:p>
          </p:txBody>
        </p:sp>
        <p:sp>
          <p:nvSpPr>
            <p:cNvPr id="421" name="Google Shape;421;p13"/>
            <p:cNvSpPr/>
            <p:nvPr/>
          </p:nvSpPr>
          <p:spPr>
            <a:xfrm>
              <a:off x="876300" y="6762750"/>
              <a:ext cx="1666875" cy="400050"/>
            </a:xfrm>
            <a:prstGeom prst="roundRect">
              <a:avLst>
                <a:gd fmla="val 50000"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3"/>
            <p:cNvSpPr/>
            <p:nvPr/>
          </p:nvSpPr>
          <p:spPr>
            <a:xfrm>
              <a:off x="952500" y="6858000"/>
              <a:ext cx="1514475" cy="2857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ADAPTAR</a:t>
              </a:r>
              <a:endParaRPr/>
            </a:p>
          </p:txBody>
        </p:sp>
        <p:sp>
          <p:nvSpPr>
            <p:cNvPr id="423" name="Google Shape;423;p13"/>
            <p:cNvSpPr/>
            <p:nvPr/>
          </p:nvSpPr>
          <p:spPr>
            <a:xfrm>
              <a:off x="876300" y="7724775"/>
              <a:ext cx="5334000" cy="2381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Antes de ejecutar, comprendemos.</a:t>
              </a:r>
              <a:endParaRPr/>
            </a:p>
          </p:txBody>
        </p:sp>
        <p:sp>
          <p:nvSpPr>
            <p:cNvPr id="424" name="Google Shape;424;p13"/>
            <p:cNvSpPr/>
            <p:nvPr/>
          </p:nvSpPr>
          <p:spPr>
            <a:xfrm>
              <a:off x="876300" y="7943850"/>
              <a:ext cx="5334000" cy="2381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Antes de invertir grandes recursos, experimentamos.</a:t>
              </a:r>
              <a:endParaRPr/>
            </a:p>
          </p:txBody>
        </p:sp>
        <p:sp>
          <p:nvSpPr>
            <p:cNvPr id="425" name="Google Shape;425;p13"/>
            <p:cNvSpPr/>
            <p:nvPr/>
          </p:nvSpPr>
          <p:spPr>
            <a:xfrm>
              <a:off x="876300" y="8162925"/>
              <a:ext cx="5334000" cy="2381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1200" u="none" cap="none" strike="noStrike">
                  <a:solidFill>
                    <a:srgbClr val="664092"/>
                  </a:solidFill>
                  <a:latin typeface="Arial"/>
                  <a:ea typeface="Arial"/>
                  <a:cs typeface="Arial"/>
                  <a:sym typeface="Arial"/>
                </a:rPr>
                <a:t>Antes de considerar una solución definitiva, aprendemos y ajustamos.</a:t>
              </a:r>
              <a:endParaRPr/>
            </a:p>
          </p:txBody>
        </p:sp>
        <p:sp>
          <p:nvSpPr>
            <p:cNvPr id="426" name="Google Shape;426;p13"/>
            <p:cNvSpPr/>
            <p:nvPr/>
          </p:nvSpPr>
          <p:spPr>
            <a:xfrm>
              <a:off x="876300" y="8477250"/>
              <a:ext cx="5334000" cy="581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La relación entre ambos enfoques puede entenderse como un ciclo continuo en el que la planificación evoluciona conforme aumenta nuestro conocimiento.</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14"/>
          <p:cNvSpPr/>
          <p:nvPr/>
        </p:nvSpPr>
        <p:spPr>
          <a:xfrm>
            <a:off x="876300" y="9067800"/>
            <a:ext cx="457200" cy="19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chemeClr val="lt1"/>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sp>
        <p:nvSpPr>
          <p:cNvPr id="433" name="Google Shape;433;p14"/>
          <p:cNvSpPr/>
          <p:nvPr/>
        </p:nvSpPr>
        <p:spPr>
          <a:xfrm>
            <a:off x="876300" y="723900"/>
            <a:ext cx="39052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Pensamiento de diseño</a:t>
            </a:r>
            <a:endParaRPr b="0" i="0" sz="1400" u="none" cap="none" strike="noStrike">
              <a:solidFill>
                <a:srgbClr val="000000"/>
              </a:solidFill>
              <a:latin typeface="Arial"/>
              <a:ea typeface="Arial"/>
              <a:cs typeface="Arial"/>
              <a:sym typeface="Arial"/>
            </a:endParaRPr>
          </a:p>
        </p:txBody>
      </p:sp>
      <p:cxnSp>
        <p:nvCxnSpPr>
          <p:cNvPr id="434" name="Google Shape;434;p14"/>
          <p:cNvCxnSpPr/>
          <p:nvPr/>
        </p:nvCxnSpPr>
        <p:spPr>
          <a:xfrm>
            <a:off x="984006" y="2498480"/>
            <a:ext cx="959094" cy="0"/>
          </a:xfrm>
          <a:prstGeom prst="straightConnector1">
            <a:avLst/>
          </a:prstGeom>
          <a:noFill/>
          <a:ln cap="flat" cmpd="sng" w="53975">
            <a:solidFill>
              <a:srgbClr val="73CDEB"/>
            </a:solidFill>
            <a:prstDash val="solid"/>
            <a:round/>
            <a:headEnd len="med" w="med" type="oval"/>
            <a:tailEnd len="med" w="med" type="oval"/>
          </a:ln>
        </p:spPr>
      </p:cxnSp>
      <p:grpSp>
        <p:nvGrpSpPr>
          <p:cNvPr id="435" name="Google Shape;435;p14"/>
          <p:cNvGrpSpPr/>
          <p:nvPr/>
        </p:nvGrpSpPr>
        <p:grpSpPr>
          <a:xfrm>
            <a:off x="876300" y="1381125"/>
            <a:ext cx="5334000" cy="5334000"/>
            <a:chOff x="876300" y="1381125"/>
            <a:chExt cx="5334000" cy="5334000"/>
          </a:xfrm>
        </p:grpSpPr>
        <p:sp>
          <p:nvSpPr>
            <p:cNvPr id="436" name="Google Shape;436;p14"/>
            <p:cNvSpPr/>
            <p:nvPr/>
          </p:nvSpPr>
          <p:spPr>
            <a:xfrm>
              <a:off x="876300" y="1381125"/>
              <a:ext cx="5334000" cy="100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s-MX" sz="2400" u="none" cap="none" strike="noStrike">
                  <a:solidFill>
                    <a:srgbClr val="664092"/>
                  </a:solidFill>
                  <a:latin typeface="Arial"/>
                  <a:ea typeface="Arial"/>
                  <a:cs typeface="Arial"/>
                  <a:sym typeface="Arial"/>
                </a:rPr>
                <a:t>Referencias</a:t>
              </a:r>
              <a:endParaRPr/>
            </a:p>
          </p:txBody>
        </p:sp>
        <p:sp>
          <p:nvSpPr>
            <p:cNvPr id="437" name="Google Shape;437;p14"/>
            <p:cNvSpPr/>
            <p:nvPr/>
          </p:nvSpPr>
          <p:spPr>
            <a:xfrm>
              <a:off x="876300" y="2828925"/>
              <a:ext cx="5334000" cy="3886200"/>
            </a:xfrm>
            <a:prstGeom prst="roundRect">
              <a:avLst>
                <a:gd fmla="val 5882" name="adj"/>
              </a:avLst>
            </a:prstGeom>
            <a:solidFill>
              <a:srgbClr val="E6E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4"/>
            <p:cNvSpPr/>
            <p:nvPr/>
          </p:nvSpPr>
          <p:spPr>
            <a:xfrm>
              <a:off x="1114425" y="3095625"/>
              <a:ext cx="485775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s-MX" sz="1200">
                  <a:solidFill>
                    <a:srgbClr val="333238"/>
                  </a:solidFill>
                  <a:latin typeface="Arial"/>
                  <a:ea typeface="Arial"/>
                  <a:cs typeface="Arial"/>
                  <a:sym typeface="Arial"/>
                </a:rPr>
                <a:t>ADEN Business School. (2026, 18 de mayo). </a:t>
              </a:r>
              <a:r>
                <a:rPr i="1" lang="es-MX" sz="1200">
                  <a:solidFill>
                    <a:srgbClr val="333238"/>
                  </a:solidFill>
                  <a:latin typeface="Arial"/>
                  <a:ea typeface="Arial"/>
                  <a:cs typeface="Arial"/>
                  <a:sym typeface="Arial"/>
                </a:rPr>
                <a:t>Metodologías ágiles: ¿Qué son y cuáles son las más utilizadas? </a:t>
              </a:r>
              <a:r>
                <a:rPr lang="es-MX" sz="1200">
                  <a:solidFill>
                    <a:srgbClr val="333238"/>
                  </a:solidFill>
                  <a:latin typeface="Arial"/>
                  <a:ea typeface="Arial"/>
                  <a:cs typeface="Arial"/>
                  <a:sym typeface="Arial"/>
                </a:rPr>
                <a:t>ADEN Business Magazine..</a:t>
              </a:r>
              <a:endParaRPr/>
            </a:p>
          </p:txBody>
        </p:sp>
        <p:sp>
          <p:nvSpPr>
            <p:cNvPr id="439" name="Google Shape;439;p14"/>
            <p:cNvSpPr/>
            <p:nvPr/>
          </p:nvSpPr>
          <p:spPr>
            <a:xfrm>
              <a:off x="1114425" y="4219575"/>
              <a:ext cx="485775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Asana. (2026, 27 de abril). </a:t>
              </a:r>
              <a:r>
                <a:rPr b="0" i="1" lang="es-MX" sz="1200" u="none" cap="none" strike="noStrike">
                  <a:solidFill>
                    <a:srgbClr val="333238"/>
                  </a:solidFill>
                  <a:latin typeface="Arial"/>
                  <a:ea typeface="Arial"/>
                  <a:cs typeface="Arial"/>
                  <a:sym typeface="Arial"/>
                </a:rPr>
                <a:t>Metodología Design Thinking: de la teoría a la práctica.</a:t>
              </a:r>
              <a:endParaRPr i="1"/>
            </a:p>
          </p:txBody>
        </p:sp>
        <p:sp>
          <p:nvSpPr>
            <p:cNvPr id="440" name="Google Shape;440;p14"/>
            <p:cNvSpPr/>
            <p:nvPr/>
          </p:nvSpPr>
          <p:spPr>
            <a:xfrm>
              <a:off x="1114425" y="5343525"/>
              <a:ext cx="485775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s-MX" sz="1200" u="none" cap="none" strike="noStrike">
                  <a:solidFill>
                    <a:srgbClr val="333238"/>
                  </a:solidFill>
                  <a:latin typeface="Arial"/>
                  <a:ea typeface="Arial"/>
                  <a:cs typeface="Arial"/>
                  <a:sym typeface="Arial"/>
                </a:rPr>
                <a:t>Córdoba, C. (2015). Fundamentos del pensamiento en diseño. </a:t>
              </a:r>
              <a:r>
                <a:rPr b="0" i="1" lang="es-MX" sz="1200" u="none" cap="none" strike="noStrike">
                  <a:solidFill>
                    <a:srgbClr val="333238"/>
                  </a:solidFill>
                  <a:latin typeface="Arial"/>
                  <a:ea typeface="Arial"/>
                  <a:cs typeface="Arial"/>
                  <a:sym typeface="Arial"/>
                </a:rPr>
                <a:t>Revista Investigium IRE Ciencias Sociales y Humanas</a:t>
              </a:r>
              <a:r>
                <a:rPr b="0" i="0" lang="es-MX" sz="1200" u="none" cap="none" strike="noStrike">
                  <a:solidFill>
                    <a:srgbClr val="333238"/>
                  </a:solidFill>
                  <a:latin typeface="Arial"/>
                  <a:ea typeface="Arial"/>
                  <a:cs typeface="Arial"/>
                  <a:sym typeface="Arial"/>
                </a:rPr>
                <a:t>, 6(2), 38–50.</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15"/>
          <p:cNvSpPr/>
          <p:nvPr/>
        </p:nvSpPr>
        <p:spPr>
          <a:xfrm>
            <a:off x="876300" y="723900"/>
            <a:ext cx="39052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Pensamiento de diseño</a:t>
            </a:r>
            <a:endParaRPr b="0" i="0" sz="1400" u="none" cap="none" strike="noStrike">
              <a:solidFill>
                <a:srgbClr val="000000"/>
              </a:solidFill>
              <a:latin typeface="Arial"/>
              <a:ea typeface="Arial"/>
              <a:cs typeface="Arial"/>
              <a:sym typeface="Arial"/>
            </a:endParaRPr>
          </a:p>
        </p:txBody>
      </p:sp>
      <p:sp>
        <p:nvSpPr>
          <p:cNvPr id="447" name="Google Shape;447;p15"/>
          <p:cNvSpPr/>
          <p:nvPr/>
        </p:nvSpPr>
        <p:spPr>
          <a:xfrm>
            <a:off x="876300" y="1428750"/>
            <a:ext cx="5334000" cy="8763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MX" sz="2400" u="none" cap="none" strike="noStrike">
                <a:solidFill>
                  <a:srgbClr val="664092"/>
                </a:solidFill>
                <a:latin typeface="Arial"/>
                <a:ea typeface="Arial"/>
                <a:cs typeface="Arial"/>
                <a:sym typeface="Arial"/>
              </a:rPr>
              <a:t>Sobre este documento</a:t>
            </a:r>
            <a:endParaRPr b="0" i="0" sz="2400" u="none" cap="none" strike="noStrike">
              <a:solidFill>
                <a:srgbClr val="000000"/>
              </a:solidFill>
              <a:latin typeface="Arial"/>
              <a:ea typeface="Arial"/>
              <a:cs typeface="Arial"/>
              <a:sym typeface="Arial"/>
            </a:endParaRPr>
          </a:p>
        </p:txBody>
      </p:sp>
      <p:graphicFrame>
        <p:nvGraphicFramePr>
          <p:cNvPr id="448" name="Google Shape;448;p15"/>
          <p:cNvGraphicFramePr/>
          <p:nvPr/>
        </p:nvGraphicFramePr>
        <p:xfrm>
          <a:off x="876300" y="1989302"/>
          <a:ext cx="3000000" cy="5000000"/>
        </p:xfrm>
        <a:graphic>
          <a:graphicData uri="http://schemas.openxmlformats.org/drawingml/2006/table">
            <a:tbl>
              <a:tblPr>
                <a:noFill/>
                <a:tableStyleId>{73600277-58FE-4A55-9BCA-7DBED8A9FAE5}</a:tableStyleId>
              </a:tblPr>
              <a:tblGrid>
                <a:gridCol w="2628125"/>
                <a:gridCol w="2705875"/>
              </a:tblGrid>
              <a:tr h="500000">
                <a:tc>
                  <a:txBody>
                    <a:bodyPr/>
                    <a:lstStyle/>
                    <a:p>
                      <a:pPr indent="0" lvl="0" marL="0" marR="0" rtl="0" algn="l">
                        <a:lnSpc>
                          <a:spcPct val="120833"/>
                        </a:lnSpc>
                        <a:spcBef>
                          <a:spcPts val="0"/>
                        </a:spcBef>
                        <a:spcAft>
                          <a:spcPts val="0"/>
                        </a:spcAft>
                        <a:buNone/>
                      </a:pPr>
                      <a:r>
                        <a:rPr b="1" lang="es-MX" sz="1200" u="none" cap="none" strike="noStrike">
                          <a:solidFill>
                            <a:srgbClr val="26232C"/>
                          </a:solidFill>
                          <a:latin typeface="Arial"/>
                          <a:ea typeface="Arial"/>
                          <a:cs typeface="Arial"/>
                          <a:sym typeface="Arial"/>
                        </a:rPr>
                        <a:t>Proyecto</a:t>
                      </a:r>
                      <a:endParaRPr/>
                    </a:p>
                  </a:txBody>
                  <a:tcPr marT="137150" marB="137150" marR="137150" marL="137150">
                    <a:solidFill>
                      <a:srgbClr val="E5E6ED"/>
                    </a:solidFill>
                  </a:tcPr>
                </a:tc>
                <a:tc>
                  <a:txBody>
                    <a:bodyPr/>
                    <a:lstStyle/>
                    <a:p>
                      <a:pPr indent="0" lvl="0" marL="0" marR="0" rtl="0" algn="r">
                        <a:lnSpc>
                          <a:spcPct val="120833"/>
                        </a:lnSpc>
                        <a:spcBef>
                          <a:spcPts val="0"/>
                        </a:spcBef>
                        <a:spcAft>
                          <a:spcPts val="0"/>
                        </a:spcAft>
                        <a:buNone/>
                      </a:pPr>
                      <a:r>
                        <a:rPr b="0" lang="es-MX" sz="1200" u="none" cap="none" strike="noStrike">
                          <a:solidFill>
                            <a:srgbClr val="26232C"/>
                          </a:solidFill>
                          <a:latin typeface="Arial"/>
                          <a:ea typeface="Arial"/>
                          <a:cs typeface="Arial"/>
                          <a:sym typeface="Arial"/>
                        </a:rPr>
                        <a:t>@Medellín — SAPIENCIA</a:t>
                      </a:r>
                      <a:endParaRPr/>
                    </a:p>
                  </a:txBody>
                  <a:tcPr marT="137150" marB="137150" marR="137150" marL="137150">
                    <a:solidFill>
                      <a:srgbClr val="E5E6ED"/>
                    </a:solidFill>
                  </a:tcPr>
                </a:tc>
              </a:tr>
              <a:tr h="500000">
                <a:tc>
                  <a:txBody>
                    <a:bodyPr/>
                    <a:lstStyle/>
                    <a:p>
                      <a:pPr indent="0" lvl="0" marL="0" marR="0" rtl="0" algn="l">
                        <a:lnSpc>
                          <a:spcPct val="120833"/>
                        </a:lnSpc>
                        <a:spcBef>
                          <a:spcPts val="0"/>
                        </a:spcBef>
                        <a:spcAft>
                          <a:spcPts val="0"/>
                        </a:spcAft>
                        <a:buNone/>
                      </a:pPr>
                      <a:r>
                        <a:rPr b="1" lang="es-MX" sz="1200" u="none" cap="none" strike="noStrike">
                          <a:solidFill>
                            <a:srgbClr val="26232C"/>
                          </a:solidFill>
                          <a:latin typeface="Arial"/>
                          <a:ea typeface="Arial"/>
                          <a:cs typeface="Arial"/>
                          <a:sym typeface="Arial"/>
                        </a:rPr>
                        <a:t>Tipo de recurso</a:t>
                      </a:r>
                      <a:endParaRPr/>
                    </a:p>
                  </a:txBody>
                  <a:tcPr marT="137150" marB="137150" marR="137150" marL="137150">
                    <a:solidFill>
                      <a:srgbClr val="E5E6ED"/>
                    </a:solidFill>
                  </a:tcPr>
                </a:tc>
                <a:tc>
                  <a:txBody>
                    <a:bodyPr/>
                    <a:lstStyle/>
                    <a:p>
                      <a:pPr indent="0" lvl="0" marL="0" marR="0" rtl="0" algn="r">
                        <a:lnSpc>
                          <a:spcPct val="120833"/>
                        </a:lnSpc>
                        <a:spcBef>
                          <a:spcPts val="0"/>
                        </a:spcBef>
                        <a:spcAft>
                          <a:spcPts val="0"/>
                        </a:spcAft>
                        <a:buNone/>
                      </a:pPr>
                      <a:r>
                        <a:rPr b="0" lang="es-MX" sz="1200" u="none" cap="none" strike="noStrike">
                          <a:solidFill>
                            <a:srgbClr val="26232C"/>
                          </a:solidFill>
                          <a:latin typeface="Arial"/>
                          <a:ea typeface="Arial"/>
                          <a:cs typeface="Arial"/>
                          <a:sym typeface="Arial"/>
                        </a:rPr>
                        <a:t>Artículo educativo</a:t>
                      </a:r>
                      <a:endParaRPr/>
                    </a:p>
                  </a:txBody>
                  <a:tcPr marT="137150" marB="137150" marR="137150" marL="137150">
                    <a:solidFill>
                      <a:srgbClr val="E5E6ED"/>
                    </a:solidFill>
                  </a:tcPr>
                </a:tc>
              </a:tr>
              <a:tr h="500000">
                <a:tc>
                  <a:txBody>
                    <a:bodyPr/>
                    <a:lstStyle/>
                    <a:p>
                      <a:pPr indent="0" lvl="0" marL="0" marR="0" rtl="0" algn="l">
                        <a:lnSpc>
                          <a:spcPct val="120833"/>
                        </a:lnSpc>
                        <a:spcBef>
                          <a:spcPts val="0"/>
                        </a:spcBef>
                        <a:spcAft>
                          <a:spcPts val="0"/>
                        </a:spcAft>
                        <a:buNone/>
                      </a:pPr>
                      <a:r>
                        <a:rPr b="1" lang="es-MX" sz="1200" u="none" cap="none" strike="noStrike">
                          <a:solidFill>
                            <a:srgbClr val="26232C"/>
                          </a:solidFill>
                          <a:latin typeface="Arial"/>
                          <a:ea typeface="Arial"/>
                          <a:cs typeface="Arial"/>
                          <a:sym typeface="Arial"/>
                        </a:rPr>
                        <a:t>Coordinación general:</a:t>
                      </a:r>
                      <a:endParaRPr/>
                    </a:p>
                  </a:txBody>
                  <a:tcPr marT="137150" marB="137150" marR="137150" marL="137150">
                    <a:solidFill>
                      <a:srgbClr val="E5E6ED"/>
                    </a:solidFill>
                  </a:tcPr>
                </a:tc>
                <a:tc>
                  <a:txBody>
                    <a:bodyPr/>
                    <a:lstStyle/>
                    <a:p>
                      <a:pPr indent="0" lvl="0" marL="0" marR="0" rtl="0" algn="r">
                        <a:lnSpc>
                          <a:spcPct val="120833"/>
                        </a:lnSpc>
                        <a:spcBef>
                          <a:spcPts val="0"/>
                        </a:spcBef>
                        <a:spcAft>
                          <a:spcPts val="0"/>
                        </a:spcAft>
                        <a:buNone/>
                      </a:pPr>
                      <a:r>
                        <a:rPr b="0" lang="es-MX" sz="1200" u="none" cap="none" strike="noStrike">
                          <a:solidFill>
                            <a:srgbClr val="26232C"/>
                          </a:solidFill>
                          <a:latin typeface="Arial"/>
                          <a:ea typeface="Arial"/>
                          <a:cs typeface="Arial"/>
                          <a:sym typeface="Arial"/>
                        </a:rPr>
                        <a:t>Luz Dary Morales Galvis</a:t>
                      </a:r>
                      <a:endParaRPr/>
                    </a:p>
                  </a:txBody>
                  <a:tcPr marT="137150" marB="137150" marR="137150" marL="137150">
                    <a:solidFill>
                      <a:srgbClr val="E5E6ED"/>
                    </a:solidFill>
                  </a:tcPr>
                </a:tc>
              </a:tr>
              <a:tr h="500000">
                <a:tc>
                  <a:txBody>
                    <a:bodyPr/>
                    <a:lstStyle/>
                    <a:p>
                      <a:pPr indent="0" lvl="0" marL="0" marR="0" rtl="0" algn="l">
                        <a:lnSpc>
                          <a:spcPct val="120833"/>
                        </a:lnSpc>
                        <a:spcBef>
                          <a:spcPts val="0"/>
                        </a:spcBef>
                        <a:spcAft>
                          <a:spcPts val="0"/>
                        </a:spcAft>
                        <a:buNone/>
                      </a:pPr>
                      <a:r>
                        <a:rPr b="1" lang="es-MX" sz="1200" u="none" cap="none" strike="noStrike">
                          <a:solidFill>
                            <a:srgbClr val="26232C"/>
                          </a:solidFill>
                          <a:latin typeface="Arial"/>
                          <a:ea typeface="Arial"/>
                          <a:cs typeface="Arial"/>
                          <a:sym typeface="Arial"/>
                        </a:rPr>
                        <a:t>Experto temático:</a:t>
                      </a:r>
                      <a:endParaRPr/>
                    </a:p>
                  </a:txBody>
                  <a:tcPr marT="137150" marB="137150" marR="137150" marL="137150">
                    <a:solidFill>
                      <a:srgbClr val="E5E6ED"/>
                    </a:solidFill>
                  </a:tcPr>
                </a:tc>
                <a:tc>
                  <a:txBody>
                    <a:bodyPr/>
                    <a:lstStyle/>
                    <a:p>
                      <a:pPr indent="0" lvl="0" marL="0" marR="0" rtl="0" algn="r">
                        <a:lnSpc>
                          <a:spcPct val="120833"/>
                        </a:lnSpc>
                        <a:spcBef>
                          <a:spcPts val="0"/>
                        </a:spcBef>
                        <a:spcAft>
                          <a:spcPts val="0"/>
                        </a:spcAft>
                        <a:buNone/>
                      </a:pPr>
                      <a:r>
                        <a:rPr b="0" lang="es-MX" sz="1200" u="none" cap="none" strike="noStrike">
                          <a:solidFill>
                            <a:srgbClr val="26232C"/>
                          </a:solidFill>
                          <a:latin typeface="Arial"/>
                          <a:ea typeface="Arial"/>
                          <a:cs typeface="Arial"/>
                          <a:sym typeface="Arial"/>
                        </a:rPr>
                        <a:t>Diana María Velázquez García</a:t>
                      </a:r>
                      <a:endParaRPr/>
                    </a:p>
                  </a:txBody>
                  <a:tcPr marT="137150" marB="137150" marR="137150" marL="137150">
                    <a:solidFill>
                      <a:srgbClr val="E5E6ED"/>
                    </a:solidFill>
                  </a:tcPr>
                </a:tc>
              </a:tr>
              <a:tr h="500000">
                <a:tc>
                  <a:txBody>
                    <a:bodyPr/>
                    <a:lstStyle/>
                    <a:p>
                      <a:pPr indent="0" lvl="0" marL="0" marR="0" rtl="0" algn="l">
                        <a:lnSpc>
                          <a:spcPct val="120833"/>
                        </a:lnSpc>
                        <a:spcBef>
                          <a:spcPts val="0"/>
                        </a:spcBef>
                        <a:spcAft>
                          <a:spcPts val="0"/>
                        </a:spcAft>
                        <a:buNone/>
                      </a:pPr>
                      <a:r>
                        <a:rPr b="1" lang="es-MX" sz="1200" u="none" cap="none" strike="noStrike">
                          <a:solidFill>
                            <a:srgbClr val="26232C"/>
                          </a:solidFill>
                          <a:latin typeface="Arial"/>
                          <a:ea typeface="Arial"/>
                          <a:cs typeface="Arial"/>
                          <a:sym typeface="Arial"/>
                        </a:rPr>
                        <a:t>Diseñador de la experiencia virtual de aprendizaje:</a:t>
                      </a:r>
                      <a:endParaRPr/>
                    </a:p>
                  </a:txBody>
                  <a:tcPr marT="137150" marB="137150" marR="137150" marL="137150">
                    <a:solidFill>
                      <a:srgbClr val="E5E6ED"/>
                    </a:solidFill>
                  </a:tcPr>
                </a:tc>
                <a:tc>
                  <a:txBody>
                    <a:bodyPr/>
                    <a:lstStyle/>
                    <a:p>
                      <a:pPr indent="0" lvl="0" marL="0" marR="0" rtl="0" algn="r">
                        <a:lnSpc>
                          <a:spcPct val="120833"/>
                        </a:lnSpc>
                        <a:spcBef>
                          <a:spcPts val="0"/>
                        </a:spcBef>
                        <a:spcAft>
                          <a:spcPts val="0"/>
                        </a:spcAft>
                        <a:buNone/>
                      </a:pPr>
                      <a:r>
                        <a:rPr b="0" lang="es-MX" sz="1200" u="none" cap="none" strike="noStrike">
                          <a:solidFill>
                            <a:srgbClr val="26232C"/>
                          </a:solidFill>
                          <a:latin typeface="Arial"/>
                          <a:ea typeface="Arial"/>
                          <a:cs typeface="Arial"/>
                          <a:sym typeface="Arial"/>
                        </a:rPr>
                        <a:t>Julieta Márquez Gutiérrez</a:t>
                      </a:r>
                      <a:endParaRPr/>
                    </a:p>
                  </a:txBody>
                  <a:tcPr marT="137150" marB="137150" marR="137150" marL="137150">
                    <a:solidFill>
                      <a:srgbClr val="E5E6ED"/>
                    </a:solidFill>
                  </a:tcPr>
                </a:tc>
              </a:tr>
              <a:tr h="500000">
                <a:tc>
                  <a:txBody>
                    <a:bodyPr/>
                    <a:lstStyle/>
                    <a:p>
                      <a:pPr indent="0" lvl="0" marL="0" marR="0" rtl="0" algn="l">
                        <a:lnSpc>
                          <a:spcPct val="120833"/>
                        </a:lnSpc>
                        <a:spcBef>
                          <a:spcPts val="0"/>
                        </a:spcBef>
                        <a:spcAft>
                          <a:spcPts val="0"/>
                        </a:spcAft>
                        <a:buNone/>
                      </a:pPr>
                      <a:r>
                        <a:rPr b="1" lang="es-MX" sz="1200" u="none" cap="none" strike="noStrike">
                          <a:solidFill>
                            <a:srgbClr val="26232C"/>
                          </a:solidFill>
                          <a:latin typeface="Arial"/>
                          <a:ea typeface="Arial"/>
                          <a:cs typeface="Arial"/>
                          <a:sym typeface="Arial"/>
                        </a:rPr>
                        <a:t>Corrección de estilo:</a:t>
                      </a:r>
                      <a:endParaRPr/>
                    </a:p>
                  </a:txBody>
                  <a:tcPr marT="137150" marB="137150" marR="137150" marL="137150">
                    <a:solidFill>
                      <a:srgbClr val="E5E6ED"/>
                    </a:solidFill>
                  </a:tcPr>
                </a:tc>
                <a:tc>
                  <a:txBody>
                    <a:bodyPr/>
                    <a:lstStyle/>
                    <a:p>
                      <a:pPr indent="0" lvl="0" marL="0" marR="0" rtl="0" algn="r">
                        <a:lnSpc>
                          <a:spcPct val="120833"/>
                        </a:lnSpc>
                        <a:spcBef>
                          <a:spcPts val="0"/>
                        </a:spcBef>
                        <a:spcAft>
                          <a:spcPts val="0"/>
                        </a:spcAft>
                        <a:buNone/>
                      </a:pPr>
                      <a:r>
                        <a:rPr b="0" lang="es-MX" sz="1200" u="none" cap="none" strike="noStrike">
                          <a:solidFill>
                            <a:srgbClr val="26232C"/>
                          </a:solidFill>
                          <a:latin typeface="Arial"/>
                          <a:ea typeface="Arial"/>
                          <a:cs typeface="Arial"/>
                          <a:sym typeface="Arial"/>
                        </a:rPr>
                        <a:t>Sergio Andrés Ocampo Rivera</a:t>
                      </a:r>
                      <a:endParaRPr/>
                    </a:p>
                  </a:txBody>
                  <a:tcPr marT="137150" marB="137150" marR="137150" marL="137150">
                    <a:solidFill>
                      <a:srgbClr val="E5E6ED"/>
                    </a:solidFill>
                  </a:tcPr>
                </a:tc>
              </a:tr>
              <a:tr h="500000">
                <a:tc>
                  <a:txBody>
                    <a:bodyPr/>
                    <a:lstStyle/>
                    <a:p>
                      <a:pPr indent="0" lvl="0" marL="0" marR="0" rtl="0" algn="l">
                        <a:lnSpc>
                          <a:spcPct val="120833"/>
                        </a:lnSpc>
                        <a:spcBef>
                          <a:spcPts val="0"/>
                        </a:spcBef>
                        <a:spcAft>
                          <a:spcPts val="0"/>
                        </a:spcAft>
                        <a:buNone/>
                      </a:pPr>
                      <a:r>
                        <a:rPr b="1" lang="es-MX" sz="1200" u="none" cap="none" strike="noStrike">
                          <a:solidFill>
                            <a:srgbClr val="26232C"/>
                          </a:solidFill>
                          <a:latin typeface="Arial"/>
                          <a:ea typeface="Arial"/>
                          <a:cs typeface="Arial"/>
                          <a:sym typeface="Arial"/>
                        </a:rPr>
                        <a:t>Validación pedagógica:</a:t>
                      </a:r>
                      <a:endParaRPr/>
                    </a:p>
                  </a:txBody>
                  <a:tcPr marT="137150" marB="137150" marR="137150" marL="137150">
                    <a:solidFill>
                      <a:srgbClr val="E5E6ED"/>
                    </a:solidFill>
                  </a:tcPr>
                </a:tc>
                <a:tc>
                  <a:txBody>
                    <a:bodyPr/>
                    <a:lstStyle/>
                    <a:p>
                      <a:pPr indent="0" lvl="0" marL="0" marR="0" rtl="0" algn="r">
                        <a:lnSpc>
                          <a:spcPct val="120833"/>
                        </a:lnSpc>
                        <a:spcBef>
                          <a:spcPts val="0"/>
                        </a:spcBef>
                        <a:spcAft>
                          <a:spcPts val="0"/>
                        </a:spcAft>
                        <a:buNone/>
                      </a:pPr>
                      <a:r>
                        <a:rPr b="0" lang="es-MX" sz="1200" u="none" cap="none" strike="noStrike">
                          <a:solidFill>
                            <a:srgbClr val="26232C"/>
                          </a:solidFill>
                          <a:latin typeface="Arial"/>
                          <a:ea typeface="Arial"/>
                          <a:cs typeface="Arial"/>
                          <a:sym typeface="Arial"/>
                        </a:rPr>
                        <a:t>Sandra Patricia Hoyos Sepúlveda</a:t>
                      </a:r>
                      <a:endParaRPr/>
                    </a:p>
                  </a:txBody>
                  <a:tcPr marT="137150" marB="137150" marR="137150" marL="137150">
                    <a:solidFill>
                      <a:srgbClr val="E5E6ED"/>
                    </a:solidFill>
                  </a:tcPr>
                </a:tc>
              </a:tr>
              <a:tr h="500000">
                <a:tc>
                  <a:txBody>
                    <a:bodyPr/>
                    <a:lstStyle/>
                    <a:p>
                      <a:pPr indent="0" lvl="0" marL="0" marR="0" rtl="0" algn="l">
                        <a:lnSpc>
                          <a:spcPct val="120833"/>
                        </a:lnSpc>
                        <a:spcBef>
                          <a:spcPts val="0"/>
                        </a:spcBef>
                        <a:spcAft>
                          <a:spcPts val="0"/>
                        </a:spcAft>
                        <a:buNone/>
                      </a:pPr>
                      <a:r>
                        <a:rPr b="1" lang="es-MX" sz="1200" u="none" cap="none" strike="noStrike">
                          <a:solidFill>
                            <a:srgbClr val="26232C"/>
                          </a:solidFill>
                          <a:latin typeface="Arial"/>
                          <a:ea typeface="Arial"/>
                          <a:cs typeface="Arial"/>
                          <a:sym typeface="Arial"/>
                        </a:rPr>
                        <a:t>Diseño gráfico:</a:t>
                      </a:r>
                      <a:endParaRPr/>
                    </a:p>
                  </a:txBody>
                  <a:tcPr marT="137150" marB="137150" marR="137150" marL="137150">
                    <a:solidFill>
                      <a:srgbClr val="E5E6ED"/>
                    </a:solidFill>
                  </a:tcPr>
                </a:tc>
                <a:tc>
                  <a:txBody>
                    <a:bodyPr/>
                    <a:lstStyle/>
                    <a:p>
                      <a:pPr indent="0" lvl="0" marL="0" marR="0" rtl="0" algn="r">
                        <a:lnSpc>
                          <a:spcPct val="120833"/>
                        </a:lnSpc>
                        <a:spcBef>
                          <a:spcPts val="0"/>
                        </a:spcBef>
                        <a:spcAft>
                          <a:spcPts val="0"/>
                        </a:spcAft>
                        <a:buNone/>
                      </a:pPr>
                      <a:r>
                        <a:rPr b="0" lang="es-MX" sz="1200" u="none" cap="none" strike="noStrike">
                          <a:solidFill>
                            <a:srgbClr val="26232C"/>
                          </a:solidFill>
                          <a:latin typeface="Arial"/>
                          <a:ea typeface="Arial"/>
                          <a:cs typeface="Arial"/>
                          <a:sym typeface="Arial"/>
                        </a:rPr>
                        <a:t>Andrea Valentina Roa Orozco</a:t>
                      </a:r>
                      <a:endParaRPr/>
                    </a:p>
                  </a:txBody>
                  <a:tcPr marT="137150" marB="137150" marR="137150" marL="137150">
                    <a:solidFill>
                      <a:srgbClr val="E5E6ED"/>
                    </a:solidFill>
                  </a:tcPr>
                </a:tc>
              </a:tr>
              <a:tr h="500000">
                <a:tc>
                  <a:txBody>
                    <a:bodyPr/>
                    <a:lstStyle/>
                    <a:p>
                      <a:pPr indent="0" lvl="0" marL="0" marR="0" rtl="0" algn="l">
                        <a:lnSpc>
                          <a:spcPct val="120833"/>
                        </a:lnSpc>
                        <a:spcBef>
                          <a:spcPts val="0"/>
                        </a:spcBef>
                        <a:spcAft>
                          <a:spcPts val="0"/>
                        </a:spcAft>
                        <a:buNone/>
                      </a:pPr>
                      <a:r>
                        <a:rPr b="1" lang="es-MX" sz="1200" u="none" cap="none" strike="noStrike">
                          <a:solidFill>
                            <a:srgbClr val="26232C"/>
                          </a:solidFill>
                          <a:latin typeface="Arial"/>
                          <a:ea typeface="Arial"/>
                          <a:cs typeface="Arial"/>
                          <a:sym typeface="Arial"/>
                        </a:rPr>
                        <a:t>Disposición y ensamble:</a:t>
                      </a:r>
                      <a:endParaRPr/>
                    </a:p>
                  </a:txBody>
                  <a:tcPr marT="137150" marB="137150" marR="137150" marL="137150">
                    <a:solidFill>
                      <a:srgbClr val="E5E6ED"/>
                    </a:solidFill>
                  </a:tcPr>
                </a:tc>
                <a:tc>
                  <a:txBody>
                    <a:bodyPr/>
                    <a:lstStyle/>
                    <a:p>
                      <a:pPr indent="0" lvl="0" marL="0" marR="0" rtl="0" algn="r">
                        <a:lnSpc>
                          <a:spcPct val="120833"/>
                        </a:lnSpc>
                        <a:spcBef>
                          <a:spcPts val="0"/>
                        </a:spcBef>
                        <a:spcAft>
                          <a:spcPts val="0"/>
                        </a:spcAft>
                        <a:buNone/>
                      </a:pPr>
                      <a:r>
                        <a:rPr b="0" lang="es-MX" sz="1200" u="none" cap="none" strike="noStrike">
                          <a:solidFill>
                            <a:srgbClr val="26232C"/>
                          </a:solidFill>
                          <a:latin typeface="Arial"/>
                          <a:ea typeface="Arial"/>
                          <a:cs typeface="Arial"/>
                          <a:sym typeface="Arial"/>
                        </a:rPr>
                        <a:t>Samayda Herrera Betancur</a:t>
                      </a:r>
                      <a:endParaRPr/>
                    </a:p>
                  </a:txBody>
                  <a:tcPr marT="137150" marB="137150" marR="137150" marL="137150">
                    <a:solidFill>
                      <a:srgbClr val="E5E6ED"/>
                    </a:solidFill>
                  </a:tcPr>
                </a:tc>
              </a:tr>
              <a:tr h="500000">
                <a:tc>
                  <a:txBody>
                    <a:bodyPr/>
                    <a:lstStyle/>
                    <a:p>
                      <a:pPr indent="0" lvl="0" marL="0" marR="0" rtl="0" algn="l">
                        <a:lnSpc>
                          <a:spcPct val="120833"/>
                        </a:lnSpc>
                        <a:spcBef>
                          <a:spcPts val="0"/>
                        </a:spcBef>
                        <a:spcAft>
                          <a:spcPts val="0"/>
                        </a:spcAft>
                        <a:buNone/>
                      </a:pPr>
                      <a:r>
                        <a:rPr b="1" lang="es-MX" sz="1200" u="none" cap="none" strike="noStrike">
                          <a:solidFill>
                            <a:srgbClr val="26232C"/>
                          </a:solidFill>
                          <a:latin typeface="Arial"/>
                          <a:ea typeface="Arial"/>
                          <a:cs typeface="Arial"/>
                          <a:sym typeface="Arial"/>
                        </a:rPr>
                        <a:t>Última actualización</a:t>
                      </a:r>
                      <a:endParaRPr/>
                    </a:p>
                  </a:txBody>
                  <a:tcPr marT="137150" marB="137150" marR="137150" marL="137150">
                    <a:solidFill>
                      <a:srgbClr val="E5E6ED"/>
                    </a:solidFill>
                  </a:tcPr>
                </a:tc>
                <a:tc>
                  <a:txBody>
                    <a:bodyPr/>
                    <a:lstStyle/>
                    <a:p>
                      <a:pPr indent="0" lvl="0" marL="0" marR="0" rtl="0" algn="r">
                        <a:lnSpc>
                          <a:spcPct val="120833"/>
                        </a:lnSpc>
                        <a:spcBef>
                          <a:spcPts val="0"/>
                        </a:spcBef>
                        <a:spcAft>
                          <a:spcPts val="0"/>
                        </a:spcAft>
                        <a:buNone/>
                      </a:pPr>
                      <a:r>
                        <a:rPr b="0" lang="es-MX" sz="1200" u="none" cap="none" strike="noStrike">
                          <a:solidFill>
                            <a:srgbClr val="26232C"/>
                          </a:solidFill>
                          <a:latin typeface="Arial"/>
                          <a:ea typeface="Arial"/>
                          <a:cs typeface="Arial"/>
                          <a:sym typeface="Arial"/>
                        </a:rPr>
                        <a:t>Octubre de 2026</a:t>
                      </a:r>
                      <a:endParaRPr/>
                    </a:p>
                  </a:txBody>
                  <a:tcPr marT="137150" marB="137150" marR="137150" marL="137150">
                    <a:solidFill>
                      <a:srgbClr val="E5E6ED"/>
                    </a:solidFill>
                  </a:tcPr>
                </a:tc>
              </a:tr>
            </a:tbl>
          </a:graphicData>
        </a:graphic>
      </p:graphicFrame>
      <p:sp>
        <p:nvSpPr>
          <p:cNvPr id="449" name="Google Shape;449;p15"/>
          <p:cNvSpPr/>
          <p:nvPr/>
        </p:nvSpPr>
        <p:spPr>
          <a:xfrm>
            <a:off x="876300" y="1104900"/>
            <a:ext cx="4953000" cy="2095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75"/>
              <a:buFont typeface="Arial"/>
              <a:buNone/>
            </a:pPr>
            <a:r>
              <a:rPr b="1" i="0" lang="es-MX" sz="1700" u="none" cap="none" strike="noStrike">
                <a:solidFill>
                  <a:srgbClr val="467BF0"/>
                </a:solidFill>
                <a:latin typeface="Arial"/>
                <a:ea typeface="Arial"/>
                <a:cs typeface="Arial"/>
                <a:sym typeface="Arial"/>
              </a:rPr>
              <a:t>Créditos</a:t>
            </a:r>
            <a:endParaRPr b="1" i="0" sz="1700" u="none" cap="none" strike="noStrike">
              <a:solidFill>
                <a:srgbClr val="467BF0"/>
              </a:solidFill>
              <a:latin typeface="Arial"/>
              <a:ea typeface="Arial"/>
              <a:cs typeface="Arial"/>
              <a:sym typeface="Arial"/>
            </a:endParaRPr>
          </a:p>
        </p:txBody>
      </p:sp>
      <p:sp>
        <p:nvSpPr>
          <p:cNvPr id="450" name="Google Shape;450;p15"/>
          <p:cNvSpPr/>
          <p:nvPr/>
        </p:nvSpPr>
        <p:spPr>
          <a:xfrm>
            <a:off x="876300" y="8401050"/>
            <a:ext cx="5105400" cy="2286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975"/>
              <a:buFont typeface="Arial"/>
              <a:buNone/>
            </a:pPr>
            <a:r>
              <a:rPr b="0" i="0" lang="es-MX" sz="975" u="none" cap="none" strike="noStrike">
                <a:solidFill>
                  <a:srgbClr val="7B7480"/>
                </a:solidFill>
                <a:latin typeface="Arial"/>
                <a:ea typeface="Arial"/>
                <a:cs typeface="Arial"/>
                <a:sym typeface="Arial"/>
              </a:rPr>
              <a:t>Copyright 2026. Todos los derechos reservados.</a:t>
            </a:r>
            <a:endParaRPr b="0" i="0" sz="1400" u="none" cap="none" strike="noStrike">
              <a:solidFill>
                <a:srgbClr val="000000"/>
              </a:solidFill>
              <a:latin typeface="Arial"/>
              <a:ea typeface="Arial"/>
              <a:cs typeface="Arial"/>
              <a:sym typeface="Arial"/>
            </a:endParaRPr>
          </a:p>
        </p:txBody>
      </p:sp>
      <p:sp>
        <p:nvSpPr>
          <p:cNvPr id="451" name="Google Shape;451;p15"/>
          <p:cNvSpPr/>
          <p:nvPr/>
        </p:nvSpPr>
        <p:spPr>
          <a:xfrm>
            <a:off x="876300" y="9067800"/>
            <a:ext cx="457200" cy="19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chemeClr val="lt1"/>
                </a:solidFill>
                <a:latin typeface="Arial"/>
                <a:ea typeface="Arial"/>
                <a:cs typeface="Arial"/>
                <a:sym typeface="Arial"/>
              </a:rPr>
              <a:t>13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2026-08-28T21:01:11Z</dcterms:created>
  <dc:creator>Walnut Exporter</dc:creator>
</cp:coreProperties>
</file>