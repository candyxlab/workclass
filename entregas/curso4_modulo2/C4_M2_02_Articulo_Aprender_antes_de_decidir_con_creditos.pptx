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73" r:id="rId23"/>
  </p:sldIdLst>
  <p:sldSz cy="9906000" cx="685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4" roundtripDataSignature="AMtx7mgG2dkpHyBS1/PVzo/jAKu6Mdw2l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AEDA548-11C4-45CD-A2CF-2E88DC4BF23B}">
  <a:tblStyle styleId="{AAEDA548-11C4-45CD-A2CF-2E88DC4BF23B}"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b="off" i="off"/>
      <a:tcStyle>
        <a:fill>
          <a:solidFill>
            <a:srgbClr val="CAD1D8"/>
          </a:solidFill>
        </a:fill>
      </a:tcStyle>
    </a:band1H>
    <a:band2H>
      <a:tcTxStyle b="off" i="off"/>
    </a:band2H>
    <a:band1V>
      <a:tcTxStyle b="off" i="off"/>
      <a:tcStyle>
        <a:fill>
          <a:solidFill>
            <a:srgbClr val="CAD1D8"/>
          </a:solidFill>
        </a:fill>
      </a:tcStyle>
    </a:band1V>
    <a:band2V>
      <a:tcTxStyle b="off" i="off"/>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23" Type="http://schemas.openxmlformats.org/officeDocument/2006/relationships/slide" Target="slides/slide18.xml"/><Relationship Id="rId24" Type="http://customschemas.google.com/relationships/presentationmetadata" Target="metadata"/><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 name="Shape 12"/>
        <p:cNvGrpSpPr/>
        <p:nvPr/>
      </p:nvGrpSpPr>
      <p:grpSpPr>
        <a:xfrm>
          <a:off x="0" y="0"/>
          <a:ext cx="0" cy="0"/>
          <a:chOff x="0" y="0"/>
          <a:chExt cx="0" cy="0"/>
        </a:xfrm>
      </p:grpSpPr>
      <p:sp>
        <p:nvSpPr>
          <p:cNvPr id="13" name="Google Shape;1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p:txBody>
      </p:sp>
      <p:sp>
        <p:nvSpPr>
          <p:cNvPr id="14" name="Google Shape;14;p1:notes"/>
          <p:cNvSpPr/>
          <p:nvPr>
            <p:ph idx="2" type="sldImg"/>
          </p:nvPr>
        </p:nvSpPr>
        <p:spPr>
          <a:xfrm>
            <a:off x="461963" y="0"/>
            <a:ext cx="2076450" cy="3000375"/>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p:txBody>
      </p:sp>
      <p:sp>
        <p:nvSpPr>
          <p:cNvPr id="541" name="Google Shape;541;p9:notes"/>
          <p:cNvSpPr/>
          <p:nvPr>
            <p:ph idx="2" type="sldImg"/>
          </p:nvPr>
        </p:nvSpPr>
        <p:spPr>
          <a:xfrm>
            <a:off x="461963" y="0"/>
            <a:ext cx="2076450" cy="3000375"/>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pic>
        <p:nvPicPr>
          <p:cNvPr id="10" name="Google Shape;10;p7"/>
          <p:cNvPicPr preferRelativeResize="0"/>
          <p:nvPr/>
        </p:nvPicPr>
        <p:blipFill rotWithShape="1">
          <a:blip r:embed="rId1">
            <a:alphaModFix/>
          </a:blip>
          <a:srcRect b="0" l="0" r="0" t="0"/>
          <a:stretch/>
        </p:blipFill>
        <p:spPr>
          <a:xfrm>
            <a:off x="-72969" y="1"/>
            <a:ext cx="7003938" cy="9906000"/>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20.xml"/><Relationship Id="rId3" Type="http://schemas.openxmlformats.org/officeDocument/2006/relationships/slide" Target="slide22.xml"/><Relationship Id="rId4" Type="http://schemas.openxmlformats.org/officeDocument/2006/relationships/slide" Target="slide25.xml"/><Relationship Id="rId5" Type="http://schemas.openxmlformats.org/officeDocument/2006/relationships/slide" Target="slide2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aden.org/business-magazine/metodologias-agiles-que-son/" TargetMode="External"/><Relationship Id="rId3" Type="http://schemas.openxmlformats.org/officeDocument/2006/relationships/hyperlink" Target="https://asana.com/es/resources/design-thinking-process" TargetMode="External"/><Relationship Id="rId4" Type="http://schemas.openxmlformats.org/officeDocument/2006/relationships/hyperlink" Target="https://investigiumire.unicesmag.edu.co/index.php/ire/article/view/191"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bg>
      <p:bgPr>
        <a:blipFill>
          <a:blip r:embed="rId3">
            <a:alphaModFix/>
          </a:blip>
          <a:stretch>
            <a:fillRect/>
          </a:stretch>
        </a:blipFill>
      </p:bgPr>
    </p:bg>
    <p:spTree>
      <p:nvGrpSpPr>
        <p:cNvPr id="15" name="Shape 15"/>
        <p:cNvGrpSpPr/>
        <p:nvPr/>
      </p:nvGrpSpPr>
      <p:grpSpPr>
        <a:xfrm>
          <a:off x="0" y="0"/>
          <a:ext cx="0" cy="0"/>
          <a:chOff x="0" y="0"/>
          <a:chExt cx="0" cy="0"/>
        </a:xfrm>
      </p:grpSpPr>
      <p:sp>
        <p:nvSpPr>
          <p:cNvPr id="16" name="Google Shape;16;p1"/>
          <p:cNvSpPr/>
          <p:nvPr/>
        </p:nvSpPr>
        <p:spPr>
          <a:xfrm>
            <a:off x="0" y="0"/>
            <a:ext cx="6858000" cy="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 name="Google Shape;17;p1"/>
          <p:cNvSpPr/>
          <p:nvPr/>
        </p:nvSpPr>
        <p:spPr>
          <a:xfrm>
            <a:off x="609600" y="685255"/>
            <a:ext cx="2000250" cy="323850"/>
          </a:xfrm>
          <a:prstGeom prst="roundRect">
            <a:avLst>
              <a:gd fmla="val 50000" name="adj"/>
            </a:avLst>
          </a:prstGeom>
          <a:solidFill>
            <a:srgbClr val="6640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 name="Google Shape;18;p1"/>
          <p:cNvSpPr/>
          <p:nvPr/>
        </p:nvSpPr>
        <p:spPr>
          <a:xfrm>
            <a:off x="742950" y="770980"/>
            <a:ext cx="1733550" cy="171450"/>
          </a:xfrm>
          <a:prstGeom prst="rect">
            <a:avLst/>
          </a:prstGeom>
          <a:noFill/>
          <a:ln>
            <a:noFill/>
          </a:ln>
        </p:spPr>
        <p:txBody>
          <a:bodyPr anchorCtr="0" anchor="t" bIns="0" lIns="0" spcFirstLastPara="1" rIns="0" wrap="square" tIns="0">
            <a:normAutofit/>
          </a:bodyPr>
          <a:lstStyle/>
          <a:p>
            <a:pPr indent="0" lvl="0" marL="0" marR="0" rtl="0" algn="ctr">
              <a:lnSpc>
                <a:spcPct val="100000"/>
              </a:lnSpc>
              <a:spcBef>
                <a:spcPts val="0"/>
              </a:spcBef>
              <a:spcAft>
                <a:spcPts val="0"/>
              </a:spcAft>
              <a:buClr>
                <a:srgbClr val="000000"/>
              </a:buClr>
              <a:buSzPts val="900"/>
              <a:buFont typeface="Arial"/>
              <a:buNone/>
            </a:pPr>
            <a:r>
              <a:rPr b="1" i="0" lang="es-MX" sz="900" u="none" cap="none" strike="noStrike">
                <a:solidFill>
                  <a:srgbClr val="E5E6ED"/>
                </a:solidFill>
                <a:latin typeface="Arial"/>
                <a:ea typeface="Arial"/>
                <a:cs typeface="Arial"/>
                <a:sym typeface="Arial"/>
              </a:rPr>
              <a:t>Artículo educativo</a:t>
            </a:r>
            <a:endParaRPr b="1" i="0" sz="900" u="none" cap="none" strike="noStrike">
              <a:solidFill>
                <a:srgbClr val="E5E6ED"/>
              </a:solidFill>
              <a:latin typeface="Arial"/>
              <a:ea typeface="Arial"/>
              <a:cs typeface="Arial"/>
              <a:sym typeface="Arial"/>
            </a:endParaRPr>
          </a:p>
        </p:txBody>
      </p:sp>
      <p:sp>
        <p:nvSpPr>
          <p:cNvPr id="19" name="Google Shape;19;p1"/>
          <p:cNvSpPr/>
          <p:nvPr/>
        </p:nvSpPr>
        <p:spPr>
          <a:xfrm>
            <a:off x="609599" y="1195794"/>
            <a:ext cx="5394960" cy="173736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4000"/>
              <a:buFont typeface="Arial"/>
              <a:buNone/>
            </a:pPr>
            <a:r>
              <a:rPr b="1" i="0" lang="es-MX" sz="3600" u="none" cap="none" strike="noStrike">
                <a:solidFill>
                  <a:srgbClr val="262626"/>
                </a:solidFill>
                <a:latin typeface="Arial"/>
                <a:ea typeface="Arial"/>
                <a:cs typeface="Arial"/>
                <a:sym typeface="Arial"/>
              </a:rPr>
              <a:t>Aprender antes de decidir qué solución construir</a:t>
            </a:r>
            <a:endParaRPr b="0" i="0" sz="1400" u="none" cap="none" strike="noStrike">
              <a:solidFill>
                <a:srgbClr val="000000"/>
              </a:solidFill>
              <a:latin typeface="Arial"/>
              <a:ea typeface="Arial"/>
              <a:cs typeface="Arial"/>
              <a:sym typeface="Arial"/>
            </a:endParaRPr>
          </a:p>
        </p:txBody>
      </p:sp>
      <p:sp>
        <p:nvSpPr>
          <p:cNvPr id="20" name="Google Shape;20;p1"/>
          <p:cNvSpPr/>
          <p:nvPr/>
        </p:nvSpPr>
        <p:spPr>
          <a:xfrm>
            <a:off x="609599" y="3017520"/>
            <a:ext cx="4711337" cy="8763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650"/>
              <a:buFont typeface="Arial"/>
              <a:buNone/>
            </a:pPr>
            <a:r>
              <a:rPr b="1" i="0" lang="es-MX" sz="1650" u="none" cap="none" strike="noStrike">
                <a:solidFill>
                  <a:srgbClr val="262626"/>
                </a:solidFill>
                <a:latin typeface="Arial"/>
                <a:ea typeface="Arial"/>
                <a:cs typeface="Arial"/>
                <a:sym typeface="Arial"/>
              </a:rPr>
              <a:t>Metodologías ágiles</a:t>
            </a:r>
            <a:endParaRPr b="1" i="0" sz="1650" u="none" cap="none" strike="noStrike">
              <a:solidFill>
                <a:srgbClr val="262626"/>
              </a:solidFill>
              <a:latin typeface="Arial"/>
              <a:ea typeface="Arial"/>
              <a:cs typeface="Arial"/>
              <a:sym typeface="Arial"/>
            </a:endParaRPr>
          </a:p>
        </p:txBody>
      </p:sp>
      <p:sp>
        <p:nvSpPr>
          <p:cNvPr id="21" name="Google Shape;21;p1"/>
          <p:cNvSpPr/>
          <p:nvPr/>
        </p:nvSpPr>
        <p:spPr>
          <a:xfrm>
            <a:off x="581025" y="3401568"/>
            <a:ext cx="4206240" cy="8001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731"/>
              <a:buFont typeface="Arial"/>
              <a:buNone/>
            </a:pPr>
            <a:r>
              <a:rPr b="1" i="0" lang="es-MX" sz="1500" u="none" cap="none" strike="noStrike">
                <a:solidFill>
                  <a:srgbClr val="595959"/>
                </a:solidFill>
                <a:latin typeface="Arial"/>
                <a:ea typeface="Arial"/>
                <a:cs typeface="Arial"/>
                <a:sym typeface="Arial"/>
              </a:rPr>
              <a:t>De los supuestos iniciales a decisiones sustentadas en aprendizaje y evidencia.</a:t>
            </a:r>
            <a:endParaRPr b="0" i="0" sz="1400" u="none" cap="none" strike="noStrike">
              <a:solidFill>
                <a:srgbClr val="000000"/>
              </a:solidFill>
              <a:latin typeface="Arial"/>
              <a:ea typeface="Arial"/>
              <a:cs typeface="Arial"/>
              <a:sym typeface="Arial"/>
            </a:endParaRPr>
          </a:p>
        </p:txBody>
      </p:sp>
      <p:pic>
        <p:nvPicPr>
          <p:cNvPr id="22" name="Google Shape;22;p1"/>
          <p:cNvPicPr preferRelativeResize="0"/>
          <p:nvPr/>
        </p:nvPicPr>
        <p:blipFill rotWithShape="1">
          <a:blip r:embed="rId5">
            <a:alphaModFix/>
          </a:blip>
          <a:srcRect b="0" l="0" r="0" t="0"/>
          <a:stretch/>
        </p:blipFill>
        <p:spPr>
          <a:xfrm>
            <a:off x="2654299" y="4528458"/>
            <a:ext cx="3789363" cy="3796800"/>
          </a:xfrm>
          <a:prstGeom prst="flowChartConnector">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p9"/>
          <p:cNvSpPr/>
          <p:nvPr/>
        </p:nvSpPr>
        <p:spPr>
          <a:xfrm>
            <a:off x="638485" y="723900"/>
            <a:ext cx="4086110"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Pensamiento de diseño</a:t>
            </a:r>
            <a:endParaRPr b="0" i="0" sz="1400" u="none" cap="none" strike="noStrike">
              <a:solidFill>
                <a:srgbClr val="000000"/>
              </a:solidFill>
              <a:latin typeface="Arial"/>
              <a:ea typeface="Arial"/>
              <a:cs typeface="Arial"/>
              <a:sym typeface="Arial"/>
            </a:endParaRPr>
          </a:p>
        </p:txBody>
      </p:sp>
      <p:sp>
        <p:nvSpPr>
          <p:cNvPr id="544" name="Google Shape;544;p9"/>
          <p:cNvSpPr/>
          <p:nvPr/>
        </p:nvSpPr>
        <p:spPr>
          <a:xfrm>
            <a:off x="638485" y="1428750"/>
            <a:ext cx="5581029" cy="8763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MX" sz="2325" u="none" cap="none" strike="noStrike">
                <a:solidFill>
                  <a:srgbClr val="664092"/>
                </a:solidFill>
                <a:latin typeface="Arial"/>
                <a:ea typeface="Arial"/>
                <a:cs typeface="Arial"/>
                <a:sym typeface="Arial"/>
              </a:rPr>
              <a:t>Sobre este documento</a:t>
            </a:r>
            <a:endParaRPr b="0" i="0" sz="1400" u="none" cap="none" strike="noStrike">
              <a:solidFill>
                <a:srgbClr val="000000"/>
              </a:solidFill>
              <a:latin typeface="Arial"/>
              <a:ea typeface="Arial"/>
              <a:cs typeface="Arial"/>
              <a:sym typeface="Arial"/>
            </a:endParaRPr>
          </a:p>
        </p:txBody>
      </p:sp>
      <p:graphicFrame>
        <p:nvGraphicFramePr>
          <p:cNvPr id="545" name="Google Shape;545;p9"/>
          <p:cNvGraphicFramePr/>
          <p:nvPr/>
        </p:nvGraphicFramePr>
        <p:xfrm>
          <a:off x="640080" y="1989302"/>
          <a:ext cx="3000000" cy="4700000"/>
        </p:xfrm>
        <a:graphic>
          <a:graphicData uri="http://schemas.openxmlformats.org/drawingml/2006/table">
            <a:tbl>
              <a:tblPr>
                <a:noFill/>
                <a:tableStyleId>{AAEDA548-11C4-45CD-A2CF-2E88DC4BF23B}</a:tableStyleId>
              </a:tblPr>
              <a:tblGrid>
                <a:gridCol w="2749850"/>
                <a:gridCol w="2831200"/>
              </a:tblGrid>
              <a:tr h="47000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Proyecto</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@Medellín — SAPIENCIA</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47000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Tipo de recurso</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Artículo educativo</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47000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Coordinación general:</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Luz Dary Morales Galvis</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47000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Experto temático:</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Diana María Velázquez García</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47000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Diseñador de la experiencia virtual de aprendizaje:</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Julieta Márquez Gutiérrez</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47000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Corrección de estilo:</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Sergio Andrés Ocampo Rivera</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47000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Validación pedagógica:</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Sandra Patricia Hoyos Sepúlveda</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47000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Diseño gráfico:</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Andrea Valentina Roa Orozco</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47000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Disposición y ensamble:</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Samayda Herrera Betancur</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47000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Última actualización</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Octubre de 2026</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bl>
          </a:graphicData>
        </a:graphic>
      </p:graphicFrame>
      <p:sp>
        <p:nvSpPr>
          <p:cNvPr id="546" name="Google Shape;546;p9"/>
          <p:cNvSpPr/>
          <p:nvPr/>
        </p:nvSpPr>
        <p:spPr>
          <a:xfrm>
            <a:off x="638485" y="1104900"/>
            <a:ext cx="5182384" cy="2095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75"/>
              <a:buFont typeface="Arial"/>
              <a:buNone/>
            </a:pPr>
            <a:r>
              <a:rPr b="1" i="0" lang="es-MX" sz="975" u="none" cap="none" strike="noStrike">
                <a:solidFill>
                  <a:srgbClr val="3560D6"/>
                </a:solidFill>
                <a:latin typeface="Arial"/>
                <a:ea typeface="Arial"/>
                <a:cs typeface="Arial"/>
                <a:sym typeface="Arial"/>
              </a:rPr>
              <a:t>Créditos</a:t>
            </a:r>
            <a:endParaRPr b="1" i="0" sz="975" u="none" cap="none" strike="noStrike">
              <a:solidFill>
                <a:srgbClr val="3560D6"/>
              </a:solidFill>
              <a:latin typeface="Arial"/>
              <a:ea typeface="Arial"/>
              <a:cs typeface="Arial"/>
              <a:sym typeface="Arial"/>
            </a:endParaRPr>
          </a:p>
        </p:txBody>
      </p:sp>
      <p:sp>
        <p:nvSpPr>
          <p:cNvPr id="547" name="Google Shape;547;p9"/>
          <p:cNvSpPr/>
          <p:nvPr/>
        </p:nvSpPr>
        <p:spPr>
          <a:xfrm>
            <a:off x="638485" y="8401050"/>
            <a:ext cx="5341842" cy="228600"/>
          </a:xfrm>
          <a:prstGeom prst="rect">
            <a:avLst/>
          </a:prstGeom>
          <a:noFill/>
          <a:ln>
            <a:noFill/>
          </a:ln>
        </p:spPr>
        <p:txBody>
          <a:bodyPr anchorCtr="0" anchor="t" bIns="0" lIns="0" spcFirstLastPara="1" rIns="0" wrap="square" tIns="0">
            <a:normAutofit/>
          </a:bodyPr>
          <a:lstStyle/>
          <a:p>
            <a:pPr indent="0" lvl="0" marL="0" marR="0" rtl="0" algn="ctr">
              <a:lnSpc>
                <a:spcPct val="100000"/>
              </a:lnSpc>
              <a:spcBef>
                <a:spcPts val="0"/>
              </a:spcBef>
              <a:spcAft>
                <a:spcPts val="0"/>
              </a:spcAft>
              <a:buClr>
                <a:srgbClr val="000000"/>
              </a:buClr>
              <a:buSzPts val="975"/>
              <a:buFont typeface="Arial"/>
              <a:buNone/>
            </a:pPr>
            <a:r>
              <a:rPr b="0" i="0" lang="es-MX" sz="975" u="none" cap="none" strike="noStrike">
                <a:solidFill>
                  <a:srgbClr val="7B7480"/>
                </a:solidFill>
                <a:latin typeface="Arial"/>
                <a:ea typeface="Arial"/>
                <a:cs typeface="Arial"/>
                <a:sym typeface="Arial"/>
              </a:rPr>
              <a:t>Copyright 2026. Todos los derechos reservados.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808" y="723900"/>
            <a:ext cx="4265517" cy="171450"/>
          </a:xfrm>
          <a:prstGeom prst="rect">
            <a:avLst/>
          </a:prstGeom>
          <a:noFill/>
        </p:spPr>
        <p:txBody>
          <a:bodyPr wrap="square" lIns="0" rIns="0" tIns="0" bIns="0" anchor="t">
            <a:spAutoFit/>
          </a:bodyPr>
          <a:lstStyle/>
          <a:p>
            <a:pPr algn="l">
              <a:lnSpc>
                <a:spcPct val="100000"/>
              </a:lnSpc>
              <a:spcAft>
                <a:spcPts val="0"/>
              </a:spcAft>
            </a:pPr>
            <a:r>
              <a:rPr sz="825" b="1" i="0">
                <a:solidFill>
                  <a:srgbClr val="664092"/>
                </a:solidFill>
                <a:latin typeface="Arial"/>
              </a:rPr>
              <a:t>Artículo educativo · Pensamiento de diseño</a:t>
            </a:r>
          </a:p>
        </p:txBody>
      </p:sp>
      <p:sp>
        <p:nvSpPr>
          <p:cNvPr id="3" name="TextBox 2"/>
          <p:cNvSpPr txBox="1"/>
          <p:nvPr/>
        </p:nvSpPr>
        <p:spPr>
          <a:xfrm>
            <a:off x="640808" y="1104900"/>
            <a:ext cx="5576383" cy="209550"/>
          </a:xfrm>
          <a:prstGeom prst="rect">
            <a:avLst/>
          </a:prstGeom>
          <a:noFill/>
        </p:spPr>
        <p:txBody>
          <a:bodyPr wrap="square" lIns="0" rIns="0" tIns="0" bIns="0" anchor="t">
            <a:spAutoFit/>
          </a:bodyPr>
          <a:lstStyle/>
          <a:p>
            <a:pPr algn="l">
              <a:lnSpc>
                <a:spcPct val="100000"/>
              </a:lnSpc>
              <a:spcAft>
                <a:spcPts val="0"/>
              </a:spcAft>
            </a:pPr>
            <a:r>
              <a:rPr sz="975" b="1" i="0">
                <a:solidFill>
                  <a:srgbClr val="3560D6"/>
                </a:solidFill>
                <a:latin typeface="Arial"/>
              </a:rPr>
              <a:t>Mapa de lectura</a:t>
            </a:r>
          </a:p>
        </p:txBody>
      </p:sp>
      <p:sp>
        <p:nvSpPr>
          <p:cNvPr id="4" name="TextBox 3"/>
          <p:cNvSpPr txBox="1"/>
          <p:nvPr/>
        </p:nvSpPr>
        <p:spPr>
          <a:xfrm>
            <a:off x="640808" y="1428750"/>
            <a:ext cx="5576383" cy="690943"/>
          </a:xfrm>
          <a:prstGeom prst="rect">
            <a:avLst/>
          </a:prstGeom>
          <a:noFill/>
        </p:spPr>
        <p:txBody>
          <a:bodyPr wrap="square" lIns="0" rIns="0" tIns="0" bIns="0" anchor="t">
            <a:spAutoFit/>
          </a:bodyPr>
          <a:lstStyle/>
          <a:p>
            <a:pPr algn="l">
              <a:lnSpc>
                <a:spcPct val="100000"/>
              </a:lnSpc>
              <a:spcAft>
                <a:spcPts val="0"/>
              </a:spcAft>
            </a:pPr>
            <a:r>
              <a:rPr sz="2325" b="1" i="0">
                <a:solidFill>
                  <a:srgbClr val="664092"/>
                </a:solidFill>
                <a:latin typeface="Arial"/>
              </a:rPr>
              <a:t>Aprender antes de decidir qué solución construir</a:t>
            </a:r>
          </a:p>
        </p:txBody>
      </p:sp>
      <p:cxnSp>
        <p:nvCxnSpPr>
          <p:cNvPr id="67" name="Google Shape;67;p12"/>
          <p:cNvCxnSpPr/>
          <p:nvPr/>
        </p:nvCxnSpPr>
        <p:spPr>
          <a:xfrm>
            <a:off x="748514" y="2349693"/>
            <a:ext cx="998913" cy="0"/>
          </a:xfrm>
          <a:prstGeom prst="straightConnector1">
            <a:avLst/>
          </a:prstGeom>
          <a:noFill/>
          <a:ln cap="flat" cmpd="sng" w="53975">
            <a:solidFill>
              <a:srgbClr val="73CDEB"/>
            </a:solidFill>
            <a:prstDash val="solid"/>
            <a:round/>
            <a:headEnd len="med" w="med" type="oval"/>
            <a:tailEnd len="med" w="med" type="oval"/>
          </a:ln>
        </p:spPr>
      </p:cxnSp>
      <p:sp>
        <p:nvSpPr>
          <p:cNvPr id="68" name="Rounded Rectangle 67"/>
          <p:cNvSpPr/>
          <p:nvPr/>
        </p:nvSpPr>
        <p:spPr>
          <a:xfrm>
            <a:off x="640808" y="2599693"/>
            <a:ext cx="5576383" cy="1180000"/>
          </a:xfrm>
          <a:prstGeom prst="roundRect">
            <a:avLst>
              <a:gd name="adj" fmla="val 16949"/>
            </a:avLst>
          </a:prstGeom>
          <a:solidFill>
            <a:srgbClr val="E5E6ED"/>
          </a:solidFill>
          <a:ln>
            <a:noFill/>
          </a:ln>
        </p:spPr>
        <p:txBody>
          <a:bodyPr rtlCol="0" anchor="ctr"/>
          <a:lstStyle/>
          <a:p>
            <a:pPr algn="ctr"/>
          </a:p>
        </p:txBody>
      </p:sp>
      <p:sp>
        <p:nvSpPr>
          <p:cNvPr id="69" name="TextBox 68"/>
          <p:cNvSpPr txBox="1"/>
          <p:nvPr/>
        </p:nvSpPr>
        <p:spPr>
          <a:xfrm>
            <a:off x="869408" y="2779693"/>
            <a:ext cx="5119183" cy="210000"/>
          </a:xfrm>
          <a:prstGeom prst="rect">
            <a:avLst/>
          </a:prstGeom>
          <a:noFill/>
        </p:spPr>
        <p:txBody>
          <a:bodyPr wrap="square" lIns="0" rIns="0" tIns="0" bIns="0" anchor="t">
            <a:spAutoFit/>
          </a:bodyPr>
          <a:lstStyle/>
          <a:p>
            <a:pPr algn="l">
              <a:lnSpc>
                <a:spcPct val="100000"/>
              </a:lnSpc>
              <a:spcAft>
                <a:spcPts val="0"/>
              </a:spcAft>
            </a:pPr>
            <a:r>
              <a:rPr sz="975" b="1" i="0">
                <a:solidFill>
                  <a:srgbClr val="024791"/>
                </a:solidFill>
                <a:latin typeface="Arial"/>
              </a:rPr>
              <a:t>Resultado de aprendizaje</a:t>
            </a:r>
          </a:p>
        </p:txBody>
      </p:sp>
      <p:sp>
        <p:nvSpPr>
          <p:cNvPr id="70" name="TextBox 69"/>
          <p:cNvSpPr txBox="1"/>
          <p:nvPr/>
        </p:nvSpPr>
        <p:spPr>
          <a:xfrm>
            <a:off x="869408" y="3029693"/>
            <a:ext cx="5119183" cy="700000"/>
          </a:xfrm>
          <a:prstGeom prst="rect">
            <a:avLst/>
          </a:prstGeom>
          <a:noFill/>
        </p:spPr>
        <p:txBody>
          <a:bodyPr wrap="square" lIns="0" rIns="0" tIns="0" bIns="0" anchor="t">
            <a:spAutoFit/>
          </a:bodyPr>
          <a:lstStyle/>
          <a:p>
            <a:pPr algn="l">
              <a:lnSpc>
                <a:spcPct val="100000"/>
              </a:lnSpc>
              <a:spcAft>
                <a:spcPts val="0"/>
              </a:spcAft>
            </a:pPr>
            <a:r>
              <a:rPr sz="1050" b="1" i="0">
                <a:solidFill>
                  <a:srgbClr val="332F37"/>
                </a:solidFill>
                <a:latin typeface="Arial"/>
              </a:rPr>
              <a:t>Analizar cómo la comprensión de las personas, la experimentación y la evidencia permiten cuestionar supuestos, aprender de las pruebas y tomar decisiones más fundamentadas antes de implementar una solución.</a:t>
            </a:r>
          </a:p>
        </p:txBody>
      </p:sp>
      <p:sp>
        <p:nvSpPr>
          <p:cNvPr id="71" name="Rounded Rectangle 70"/>
          <p:cNvSpPr/>
          <p:nvPr/>
        </p:nvSpPr>
        <p:spPr>
          <a:xfrm>
            <a:off x="659808" y="4096693"/>
            <a:ext cx="5536383" cy="742950"/>
          </a:xfrm>
          <a:prstGeom prst="roundRect">
            <a:avLst>
              <a:gd name="adj" fmla="val 20189"/>
            </a:avLst>
          </a:prstGeom>
          <a:solidFill>
            <a:srgbClr val="E3E2E8"/>
          </a:solidFill>
          <a:ln>
            <a:noFill/>
          </a:ln>
        </p:spPr>
        <p:txBody>
          <a:bodyPr rtlCol="0" anchor="ctr"/>
          <a:lstStyle/>
          <a:p>
            <a:pPr algn="ctr"/>
          </a:p>
        </p:txBody>
      </p:sp>
      <p:sp>
        <p:nvSpPr>
          <p:cNvPr id="72" name="Rounded Rectangle 71">
            <a:hlinkClick action="ppaction://hlinksldjump" r:id="rId2"/>
          </p:cNvPr>
          <p:cNvSpPr/>
          <p:nvPr/>
        </p:nvSpPr>
        <p:spPr>
          <a:xfrm>
            <a:off x="640808" y="4049693"/>
            <a:ext cx="5576383" cy="742950"/>
          </a:xfrm>
          <a:prstGeom prst="roundRect">
            <a:avLst>
              <a:gd name="adj" fmla="val 20189"/>
            </a:avLst>
          </a:prstGeom>
          <a:solidFill>
            <a:srgbClr val="FFFFFF"/>
          </a:solidFill>
          <a:ln w="9525">
            <a:solidFill>
              <a:srgbClr val="E3E2E8"/>
            </a:solidFill>
          </a:ln>
        </p:spPr>
        <p:txBody>
          <a:bodyPr rtlCol="0" anchor="ctr"/>
          <a:lstStyle/>
          <a:p>
            <a:pPr algn="ctr"/>
          </a:p>
        </p:txBody>
      </p:sp>
      <p:sp>
        <p:nvSpPr>
          <p:cNvPr id="73" name="Rounded Rectangle 72">
            <a:hlinkClick action="ppaction://hlinksldjump" r:id="rId2"/>
          </p:cNvPr>
          <p:cNvSpPr/>
          <p:nvPr/>
        </p:nvSpPr>
        <p:spPr>
          <a:xfrm>
            <a:off x="640808" y="4049693"/>
            <a:ext cx="790681" cy="742950"/>
          </a:xfrm>
          <a:prstGeom prst="roundRect">
            <a:avLst>
              <a:gd name="adj" fmla="val 20189"/>
            </a:avLst>
          </a:prstGeom>
          <a:solidFill>
            <a:srgbClr val="73CDEB"/>
          </a:solidFill>
          <a:ln>
            <a:noFill/>
          </a:ln>
        </p:spPr>
        <p:txBody>
          <a:bodyPr rtlCol="0" anchor="ctr"/>
          <a:lstStyle/>
          <a:p>
            <a:pPr algn="ctr"/>
          </a:p>
        </p:txBody>
      </p:sp>
      <p:sp>
        <p:nvSpPr>
          <p:cNvPr id="74" name="TextBox 73"/>
          <p:cNvSpPr txBox="1"/>
          <p:nvPr/>
        </p:nvSpPr>
        <p:spPr>
          <a:xfrm>
            <a:off x="640808" y="4049693"/>
            <a:ext cx="790681" cy="742950"/>
          </a:xfrm>
          <a:prstGeom prst="rect">
            <a:avLst/>
          </a:prstGeom>
          <a:noFill/>
        </p:spPr>
        <p:txBody>
          <a:bodyPr wrap="square" lIns="0" rIns="0" tIns="0" bIns="0" anchor="ctr">
            <a:spAutoFit/>
          </a:bodyPr>
          <a:lstStyle/>
          <a:p>
            <a:pPr algn="ctr">
              <a:lnSpc>
                <a:spcPct val="100000"/>
              </a:lnSpc>
              <a:spcAft>
                <a:spcPts val="0"/>
              </a:spcAft>
            </a:pPr>
            <a:r>
              <a:rPr sz="1500" b="1" i="0">
                <a:solidFill>
                  <a:srgbClr val="024791"/>
                </a:solidFill>
                <a:latin typeface="Arial"/>
              </a:rPr>
              <a:t>01</a:t>
            </a:r>
          </a:p>
        </p:txBody>
      </p:sp>
      <p:sp>
        <p:nvSpPr>
          <p:cNvPr id="75" name="TextBox 74">
            <a:hlinkClick action="ppaction://hlinksldjump" r:id="rId2"/>
          </p:cNvPr>
          <p:cNvSpPr txBox="1"/>
          <p:nvPr/>
        </p:nvSpPr>
        <p:spPr>
          <a:xfrm>
            <a:off x="1593308" y="4189693"/>
            <a:ext cx="4057443" cy="230000"/>
          </a:xfrm>
          <a:prstGeom prst="rect">
            <a:avLst/>
          </a:prstGeom>
          <a:noFill/>
        </p:spPr>
        <p:txBody>
          <a:bodyPr wrap="square" lIns="0" rIns="0" tIns="0" bIns="0" anchor="t">
            <a:spAutoFit/>
          </a:bodyPr>
          <a:lstStyle/>
          <a:p>
            <a:pPr algn="l">
              <a:lnSpc>
                <a:spcPct val="100000"/>
              </a:lnSpc>
              <a:spcAft>
                <a:spcPts val="0"/>
              </a:spcAft>
            </a:pPr>
            <a:r>
              <a:rPr sz="1350" b="1" i="0">
                <a:solidFill>
                  <a:srgbClr val="3D2159"/>
                </a:solidFill>
                <a:latin typeface="Arial"/>
              </a:rPr>
              <a:t>CUESTIONAR</a:t>
            </a:r>
          </a:p>
        </p:txBody>
      </p:sp>
      <p:sp>
        <p:nvSpPr>
          <p:cNvPr id="76" name="TextBox 75"/>
          <p:cNvSpPr txBox="1"/>
          <p:nvPr/>
        </p:nvSpPr>
        <p:spPr>
          <a:xfrm>
            <a:off x="1593308" y="4469693"/>
            <a:ext cx="4057443" cy="180000"/>
          </a:xfrm>
          <a:prstGeom prst="rect">
            <a:avLst/>
          </a:prstGeom>
          <a:noFill/>
        </p:spPr>
        <p:txBody>
          <a:bodyPr wrap="square" lIns="0" rIns="0" tIns="0" bIns="0" anchor="t">
            <a:spAutoFit/>
          </a:bodyPr>
          <a:lstStyle/>
          <a:p>
            <a:pPr algn="l">
              <a:lnSpc>
                <a:spcPct val="100000"/>
              </a:lnSpc>
              <a:spcAft>
                <a:spcPts val="0"/>
              </a:spcAft>
            </a:pPr>
            <a:r>
              <a:rPr sz="975" b="0" i="0">
                <a:solidFill>
                  <a:srgbClr val="7B7480"/>
                </a:solidFill>
                <a:latin typeface="Arial"/>
              </a:rPr>
              <a:t>De los supuestos a las preguntas.</a:t>
            </a:r>
          </a:p>
        </p:txBody>
      </p:sp>
      <p:sp>
        <p:nvSpPr>
          <p:cNvPr id="77" name="Rounded Rectangle 76"/>
          <p:cNvSpPr/>
          <p:nvPr/>
        </p:nvSpPr>
        <p:spPr>
          <a:xfrm>
            <a:off x="659808" y="5086693"/>
            <a:ext cx="5536383" cy="742950"/>
          </a:xfrm>
          <a:prstGeom prst="roundRect">
            <a:avLst>
              <a:gd name="adj" fmla="val 20189"/>
            </a:avLst>
          </a:prstGeom>
          <a:solidFill>
            <a:srgbClr val="E3E2E8"/>
          </a:solidFill>
          <a:ln>
            <a:noFill/>
          </a:ln>
        </p:spPr>
        <p:txBody>
          <a:bodyPr rtlCol="0" anchor="ctr"/>
          <a:lstStyle/>
          <a:p>
            <a:pPr algn="ctr"/>
          </a:p>
        </p:txBody>
      </p:sp>
      <p:sp>
        <p:nvSpPr>
          <p:cNvPr id="78" name="Rounded Rectangle 77">
            <a:hlinkClick action="ppaction://hlinksldjump" r:id="rId3"/>
          </p:cNvPr>
          <p:cNvSpPr/>
          <p:nvPr/>
        </p:nvSpPr>
        <p:spPr>
          <a:xfrm>
            <a:off x="640808" y="5039693"/>
            <a:ext cx="5576383" cy="742950"/>
          </a:xfrm>
          <a:prstGeom prst="roundRect">
            <a:avLst>
              <a:gd name="adj" fmla="val 20189"/>
            </a:avLst>
          </a:prstGeom>
          <a:solidFill>
            <a:srgbClr val="FFFFFF"/>
          </a:solidFill>
          <a:ln w="9525">
            <a:solidFill>
              <a:srgbClr val="E3E2E8"/>
            </a:solidFill>
          </a:ln>
        </p:spPr>
        <p:txBody>
          <a:bodyPr rtlCol="0" anchor="ctr"/>
          <a:lstStyle/>
          <a:p>
            <a:pPr algn="ctr"/>
          </a:p>
        </p:txBody>
      </p:sp>
      <p:sp>
        <p:nvSpPr>
          <p:cNvPr id="79" name="Rounded Rectangle 78">
            <a:hlinkClick action="ppaction://hlinksldjump" r:id="rId3"/>
          </p:cNvPr>
          <p:cNvSpPr/>
          <p:nvPr/>
        </p:nvSpPr>
        <p:spPr>
          <a:xfrm>
            <a:off x="640808" y="5039693"/>
            <a:ext cx="790681" cy="742950"/>
          </a:xfrm>
          <a:prstGeom prst="roundRect">
            <a:avLst>
              <a:gd name="adj" fmla="val 20189"/>
            </a:avLst>
          </a:prstGeom>
          <a:solidFill>
            <a:srgbClr val="664092"/>
          </a:solidFill>
          <a:ln>
            <a:noFill/>
          </a:ln>
        </p:spPr>
        <p:txBody>
          <a:bodyPr rtlCol="0" anchor="ctr"/>
          <a:lstStyle/>
          <a:p>
            <a:pPr algn="ctr"/>
          </a:p>
        </p:txBody>
      </p:sp>
      <p:sp>
        <p:nvSpPr>
          <p:cNvPr id="80" name="TextBox 79"/>
          <p:cNvSpPr txBox="1"/>
          <p:nvPr/>
        </p:nvSpPr>
        <p:spPr>
          <a:xfrm>
            <a:off x="640808" y="5039693"/>
            <a:ext cx="790681" cy="742950"/>
          </a:xfrm>
          <a:prstGeom prst="rect">
            <a:avLst/>
          </a:prstGeom>
          <a:noFill/>
        </p:spPr>
        <p:txBody>
          <a:bodyPr wrap="square" lIns="0" rIns="0" tIns="0" bIns="0" anchor="ctr">
            <a:spAutoFit/>
          </a:bodyPr>
          <a:lstStyle/>
          <a:p>
            <a:pPr algn="ctr">
              <a:lnSpc>
                <a:spcPct val="100000"/>
              </a:lnSpc>
              <a:spcAft>
                <a:spcPts val="0"/>
              </a:spcAft>
            </a:pPr>
            <a:r>
              <a:rPr sz="1500" b="1" i="0">
                <a:solidFill>
                  <a:srgbClr val="FFFFFF"/>
                </a:solidFill>
                <a:latin typeface="Arial"/>
              </a:rPr>
              <a:t>02</a:t>
            </a:r>
          </a:p>
        </p:txBody>
      </p:sp>
      <p:sp>
        <p:nvSpPr>
          <p:cNvPr id="81" name="TextBox 80">
            <a:hlinkClick action="ppaction://hlinksldjump" r:id="rId3"/>
          </p:cNvPr>
          <p:cNvSpPr txBox="1"/>
          <p:nvPr/>
        </p:nvSpPr>
        <p:spPr>
          <a:xfrm>
            <a:off x="1593308" y="5179693"/>
            <a:ext cx="4057443" cy="230000"/>
          </a:xfrm>
          <a:prstGeom prst="rect">
            <a:avLst/>
          </a:prstGeom>
          <a:noFill/>
        </p:spPr>
        <p:txBody>
          <a:bodyPr wrap="square" lIns="0" rIns="0" tIns="0" bIns="0" anchor="t">
            <a:spAutoFit/>
          </a:bodyPr>
          <a:lstStyle/>
          <a:p>
            <a:pPr algn="l">
              <a:lnSpc>
                <a:spcPct val="100000"/>
              </a:lnSpc>
              <a:spcAft>
                <a:spcPts val="0"/>
              </a:spcAft>
            </a:pPr>
            <a:r>
              <a:rPr sz="1350" b="1" i="0">
                <a:solidFill>
                  <a:srgbClr val="3D2159"/>
                </a:solidFill>
                <a:latin typeface="Arial"/>
              </a:rPr>
              <a:t>EXPERIMENTAR</a:t>
            </a:r>
          </a:p>
        </p:txBody>
      </p:sp>
      <p:sp>
        <p:nvSpPr>
          <p:cNvPr id="82" name="TextBox 81"/>
          <p:cNvSpPr txBox="1"/>
          <p:nvPr/>
        </p:nvSpPr>
        <p:spPr>
          <a:xfrm>
            <a:off x="1593308" y="5459693"/>
            <a:ext cx="4057443" cy="180000"/>
          </a:xfrm>
          <a:prstGeom prst="rect">
            <a:avLst/>
          </a:prstGeom>
          <a:noFill/>
        </p:spPr>
        <p:txBody>
          <a:bodyPr wrap="square" lIns="0" rIns="0" tIns="0" bIns="0" anchor="t">
            <a:spAutoFit/>
          </a:bodyPr>
          <a:lstStyle/>
          <a:p>
            <a:pPr algn="l">
              <a:lnSpc>
                <a:spcPct val="100000"/>
              </a:lnSpc>
              <a:spcAft>
                <a:spcPts val="0"/>
              </a:spcAft>
            </a:pPr>
            <a:r>
              <a:rPr sz="975" b="0" i="0">
                <a:solidFill>
                  <a:srgbClr val="7B7480"/>
                </a:solidFill>
                <a:latin typeface="Arial"/>
              </a:rPr>
              <a:t>De la idea a algo que podemos probar.</a:t>
            </a:r>
          </a:p>
        </p:txBody>
      </p:sp>
      <p:sp>
        <p:nvSpPr>
          <p:cNvPr id="83" name="Rounded Rectangle 82"/>
          <p:cNvSpPr/>
          <p:nvPr/>
        </p:nvSpPr>
        <p:spPr>
          <a:xfrm>
            <a:off x="659808" y="6076693"/>
            <a:ext cx="5536383" cy="742950"/>
          </a:xfrm>
          <a:prstGeom prst="roundRect">
            <a:avLst>
              <a:gd name="adj" fmla="val 20189"/>
            </a:avLst>
          </a:prstGeom>
          <a:solidFill>
            <a:srgbClr val="E3E2E8"/>
          </a:solidFill>
          <a:ln>
            <a:noFill/>
          </a:ln>
        </p:spPr>
        <p:txBody>
          <a:bodyPr rtlCol="0" anchor="ctr"/>
          <a:lstStyle/>
          <a:p>
            <a:pPr algn="ctr"/>
          </a:p>
        </p:txBody>
      </p:sp>
      <p:sp>
        <p:nvSpPr>
          <p:cNvPr id="84" name="Rounded Rectangle 83">
            <a:hlinkClick action="ppaction://hlinksldjump" r:id="rId4"/>
          </p:cNvPr>
          <p:cNvSpPr/>
          <p:nvPr/>
        </p:nvSpPr>
        <p:spPr>
          <a:xfrm>
            <a:off x="640808" y="6029693"/>
            <a:ext cx="5576383" cy="742950"/>
          </a:xfrm>
          <a:prstGeom prst="roundRect">
            <a:avLst>
              <a:gd name="adj" fmla="val 20189"/>
            </a:avLst>
          </a:prstGeom>
          <a:solidFill>
            <a:srgbClr val="FFFFFF"/>
          </a:solidFill>
          <a:ln w="9525">
            <a:solidFill>
              <a:srgbClr val="E3E2E8"/>
            </a:solidFill>
          </a:ln>
        </p:spPr>
        <p:txBody>
          <a:bodyPr rtlCol="0" anchor="ctr"/>
          <a:lstStyle/>
          <a:p>
            <a:pPr algn="ctr"/>
          </a:p>
        </p:txBody>
      </p:sp>
      <p:sp>
        <p:nvSpPr>
          <p:cNvPr id="85" name="Rounded Rectangle 84">
            <a:hlinkClick action="ppaction://hlinksldjump" r:id="rId4"/>
          </p:cNvPr>
          <p:cNvSpPr/>
          <p:nvPr/>
        </p:nvSpPr>
        <p:spPr>
          <a:xfrm>
            <a:off x="640808" y="6029693"/>
            <a:ext cx="790681" cy="742950"/>
          </a:xfrm>
          <a:prstGeom prst="roundRect">
            <a:avLst>
              <a:gd name="adj" fmla="val 20189"/>
            </a:avLst>
          </a:prstGeom>
          <a:solidFill>
            <a:srgbClr val="4F7BEA"/>
          </a:solidFill>
          <a:ln>
            <a:noFill/>
          </a:ln>
        </p:spPr>
        <p:txBody>
          <a:bodyPr rtlCol="0" anchor="ctr"/>
          <a:lstStyle/>
          <a:p>
            <a:pPr algn="ctr"/>
          </a:p>
        </p:txBody>
      </p:sp>
      <p:sp>
        <p:nvSpPr>
          <p:cNvPr id="86" name="TextBox 85"/>
          <p:cNvSpPr txBox="1"/>
          <p:nvPr/>
        </p:nvSpPr>
        <p:spPr>
          <a:xfrm>
            <a:off x="640808" y="6029693"/>
            <a:ext cx="790681" cy="742950"/>
          </a:xfrm>
          <a:prstGeom prst="rect">
            <a:avLst/>
          </a:prstGeom>
          <a:noFill/>
        </p:spPr>
        <p:txBody>
          <a:bodyPr wrap="square" lIns="0" rIns="0" tIns="0" bIns="0" anchor="ctr">
            <a:spAutoFit/>
          </a:bodyPr>
          <a:lstStyle/>
          <a:p>
            <a:pPr algn="ctr">
              <a:lnSpc>
                <a:spcPct val="100000"/>
              </a:lnSpc>
              <a:spcAft>
                <a:spcPts val="0"/>
              </a:spcAft>
            </a:pPr>
            <a:r>
              <a:rPr sz="1500" b="1" i="0">
                <a:solidFill>
                  <a:srgbClr val="FFFFFF"/>
                </a:solidFill>
                <a:latin typeface="Arial"/>
              </a:rPr>
              <a:t>03</a:t>
            </a:r>
          </a:p>
        </p:txBody>
      </p:sp>
      <p:sp>
        <p:nvSpPr>
          <p:cNvPr id="87" name="TextBox 86">
            <a:hlinkClick action="ppaction://hlinksldjump" r:id="rId4"/>
          </p:cNvPr>
          <p:cNvSpPr txBox="1"/>
          <p:nvPr/>
        </p:nvSpPr>
        <p:spPr>
          <a:xfrm>
            <a:off x="1593308" y="6169693"/>
            <a:ext cx="4057443" cy="230000"/>
          </a:xfrm>
          <a:prstGeom prst="rect">
            <a:avLst/>
          </a:prstGeom>
          <a:noFill/>
        </p:spPr>
        <p:txBody>
          <a:bodyPr wrap="square" lIns="0" rIns="0" tIns="0" bIns="0" anchor="t">
            <a:spAutoFit/>
          </a:bodyPr>
          <a:lstStyle/>
          <a:p>
            <a:pPr algn="l">
              <a:lnSpc>
                <a:spcPct val="100000"/>
              </a:lnSpc>
              <a:spcAft>
                <a:spcPts val="0"/>
              </a:spcAft>
            </a:pPr>
            <a:r>
              <a:rPr sz="1350" b="1" i="0">
                <a:solidFill>
                  <a:srgbClr val="3D2159"/>
                </a:solidFill>
                <a:latin typeface="Arial"/>
              </a:rPr>
              <a:t>APRENDER</a:t>
            </a:r>
          </a:p>
        </p:txBody>
      </p:sp>
      <p:sp>
        <p:nvSpPr>
          <p:cNvPr id="88" name="TextBox 87"/>
          <p:cNvSpPr txBox="1"/>
          <p:nvPr/>
        </p:nvSpPr>
        <p:spPr>
          <a:xfrm>
            <a:off x="1593308" y="6449693"/>
            <a:ext cx="4057443" cy="180000"/>
          </a:xfrm>
          <a:prstGeom prst="rect">
            <a:avLst/>
          </a:prstGeom>
          <a:noFill/>
        </p:spPr>
        <p:txBody>
          <a:bodyPr wrap="square" lIns="0" rIns="0" tIns="0" bIns="0" anchor="t">
            <a:spAutoFit/>
          </a:bodyPr>
          <a:lstStyle/>
          <a:p>
            <a:pPr algn="l">
              <a:lnSpc>
                <a:spcPct val="100000"/>
              </a:lnSpc>
              <a:spcAft>
                <a:spcPts val="0"/>
              </a:spcAft>
            </a:pPr>
            <a:r>
              <a:rPr sz="975" b="0" i="0">
                <a:solidFill>
                  <a:srgbClr val="7B7480"/>
                </a:solidFill>
                <a:latin typeface="Arial"/>
              </a:rPr>
              <a:t>De la reacción a la evidencia.</a:t>
            </a:r>
          </a:p>
        </p:txBody>
      </p:sp>
      <p:sp>
        <p:nvSpPr>
          <p:cNvPr id="89" name="Rounded Rectangle 88"/>
          <p:cNvSpPr/>
          <p:nvPr/>
        </p:nvSpPr>
        <p:spPr>
          <a:xfrm>
            <a:off x="659808" y="7066693"/>
            <a:ext cx="5536383" cy="742950"/>
          </a:xfrm>
          <a:prstGeom prst="roundRect">
            <a:avLst>
              <a:gd name="adj" fmla="val 20189"/>
            </a:avLst>
          </a:prstGeom>
          <a:solidFill>
            <a:srgbClr val="E3E2E8"/>
          </a:solidFill>
          <a:ln>
            <a:noFill/>
          </a:ln>
        </p:spPr>
        <p:txBody>
          <a:bodyPr rtlCol="0" anchor="ctr"/>
          <a:lstStyle/>
          <a:p>
            <a:pPr algn="ctr"/>
          </a:p>
        </p:txBody>
      </p:sp>
      <p:sp>
        <p:nvSpPr>
          <p:cNvPr id="90" name="Rounded Rectangle 89">
            <a:hlinkClick action="ppaction://hlinksldjump" r:id="rId5"/>
          </p:cNvPr>
          <p:cNvSpPr/>
          <p:nvPr/>
        </p:nvSpPr>
        <p:spPr>
          <a:xfrm>
            <a:off x="640808" y="7019693"/>
            <a:ext cx="5576383" cy="742950"/>
          </a:xfrm>
          <a:prstGeom prst="roundRect">
            <a:avLst>
              <a:gd name="adj" fmla="val 20189"/>
            </a:avLst>
          </a:prstGeom>
          <a:solidFill>
            <a:srgbClr val="FFFFFF"/>
          </a:solidFill>
          <a:ln w="9525">
            <a:solidFill>
              <a:srgbClr val="E3E2E8"/>
            </a:solidFill>
          </a:ln>
        </p:spPr>
        <p:txBody>
          <a:bodyPr rtlCol="0" anchor="ctr"/>
          <a:lstStyle/>
          <a:p>
            <a:pPr algn="ctr"/>
          </a:p>
        </p:txBody>
      </p:sp>
      <p:sp>
        <p:nvSpPr>
          <p:cNvPr id="91" name="Rounded Rectangle 90">
            <a:hlinkClick action="ppaction://hlinksldjump" r:id="rId5"/>
          </p:cNvPr>
          <p:cNvSpPr/>
          <p:nvPr/>
        </p:nvSpPr>
        <p:spPr>
          <a:xfrm>
            <a:off x="640808" y="7019693"/>
            <a:ext cx="790681" cy="742950"/>
          </a:xfrm>
          <a:prstGeom prst="roundRect">
            <a:avLst>
              <a:gd name="adj" fmla="val 20189"/>
            </a:avLst>
          </a:prstGeom>
          <a:solidFill>
            <a:srgbClr val="024791"/>
          </a:solidFill>
          <a:ln>
            <a:noFill/>
          </a:ln>
        </p:spPr>
        <p:txBody>
          <a:bodyPr rtlCol="0" anchor="ctr"/>
          <a:lstStyle/>
          <a:p>
            <a:pPr algn="ctr"/>
          </a:p>
        </p:txBody>
      </p:sp>
      <p:sp>
        <p:nvSpPr>
          <p:cNvPr id="92" name="TextBox 91"/>
          <p:cNvSpPr txBox="1"/>
          <p:nvPr/>
        </p:nvSpPr>
        <p:spPr>
          <a:xfrm>
            <a:off x="640808" y="7019693"/>
            <a:ext cx="790681" cy="742950"/>
          </a:xfrm>
          <a:prstGeom prst="rect">
            <a:avLst/>
          </a:prstGeom>
          <a:noFill/>
        </p:spPr>
        <p:txBody>
          <a:bodyPr wrap="square" lIns="0" rIns="0" tIns="0" bIns="0" anchor="ctr">
            <a:spAutoFit/>
          </a:bodyPr>
          <a:lstStyle/>
          <a:p>
            <a:pPr algn="ctr">
              <a:lnSpc>
                <a:spcPct val="100000"/>
              </a:lnSpc>
              <a:spcAft>
                <a:spcPts val="0"/>
              </a:spcAft>
            </a:pPr>
            <a:r>
              <a:rPr sz="1500" b="1" i="0">
                <a:solidFill>
                  <a:srgbClr val="FFFFFF"/>
                </a:solidFill>
                <a:latin typeface="Arial"/>
              </a:rPr>
              <a:t>04</a:t>
            </a:r>
          </a:p>
        </p:txBody>
      </p:sp>
      <p:sp>
        <p:nvSpPr>
          <p:cNvPr id="93" name="TextBox 92">
            <a:hlinkClick action="ppaction://hlinksldjump" r:id="rId5"/>
          </p:cNvPr>
          <p:cNvSpPr txBox="1"/>
          <p:nvPr/>
        </p:nvSpPr>
        <p:spPr>
          <a:xfrm>
            <a:off x="1593308" y="7159693"/>
            <a:ext cx="4057443" cy="230000"/>
          </a:xfrm>
          <a:prstGeom prst="rect">
            <a:avLst/>
          </a:prstGeom>
          <a:noFill/>
        </p:spPr>
        <p:txBody>
          <a:bodyPr wrap="square" lIns="0" rIns="0" tIns="0" bIns="0" anchor="t">
            <a:spAutoFit/>
          </a:bodyPr>
          <a:lstStyle/>
          <a:p>
            <a:pPr algn="l">
              <a:lnSpc>
                <a:spcPct val="100000"/>
              </a:lnSpc>
              <a:spcAft>
                <a:spcPts val="0"/>
              </a:spcAft>
            </a:pPr>
            <a:r>
              <a:rPr sz="1350" b="1" i="0">
                <a:solidFill>
                  <a:srgbClr val="3D2159"/>
                </a:solidFill>
                <a:latin typeface="Arial"/>
              </a:rPr>
              <a:t>DECIDIR</a:t>
            </a:r>
          </a:p>
        </p:txBody>
      </p:sp>
      <p:sp>
        <p:nvSpPr>
          <p:cNvPr id="94" name="TextBox 93"/>
          <p:cNvSpPr txBox="1"/>
          <p:nvPr/>
        </p:nvSpPr>
        <p:spPr>
          <a:xfrm>
            <a:off x="1593308" y="7439693"/>
            <a:ext cx="4057443" cy="180000"/>
          </a:xfrm>
          <a:prstGeom prst="rect">
            <a:avLst/>
          </a:prstGeom>
          <a:noFill/>
        </p:spPr>
        <p:txBody>
          <a:bodyPr wrap="square" lIns="0" rIns="0" tIns="0" bIns="0" anchor="t">
            <a:spAutoFit/>
          </a:bodyPr>
          <a:lstStyle/>
          <a:p>
            <a:pPr algn="l">
              <a:lnSpc>
                <a:spcPct val="100000"/>
              </a:lnSpc>
              <a:spcAft>
                <a:spcPts val="0"/>
              </a:spcAft>
            </a:pPr>
            <a:r>
              <a:rPr sz="975" b="0" i="0">
                <a:solidFill>
                  <a:srgbClr val="7B7480"/>
                </a:solidFill>
                <a:latin typeface="Arial"/>
              </a:rPr>
              <a:t>De los hallazgos al siguiente movimiento.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808" y="723900"/>
            <a:ext cx="4265517" cy="171450"/>
          </a:xfrm>
          <a:prstGeom prst="rect">
            <a:avLst/>
          </a:prstGeom>
          <a:noFill/>
        </p:spPr>
        <p:txBody>
          <a:bodyPr wrap="square" lIns="0" rIns="0" tIns="0" bIns="0" anchor="t">
            <a:spAutoFit/>
          </a:bodyPr>
          <a:lstStyle/>
          <a:p>
            <a:pPr algn="l">
              <a:lnSpc>
                <a:spcPct val="100000"/>
              </a:lnSpc>
              <a:spcAft>
                <a:spcPts val="0"/>
              </a:spcAft>
            </a:pPr>
            <a:r>
              <a:rPr sz="825" b="1" i="0">
                <a:solidFill>
                  <a:srgbClr val="664092"/>
                </a:solidFill>
                <a:latin typeface="Arial"/>
              </a:rPr>
              <a:t>Artículo educativo · Pensamiento de diseño</a:t>
            </a:r>
          </a:p>
        </p:txBody>
      </p:sp>
      <p:sp>
        <p:nvSpPr>
          <p:cNvPr id="3" name="TextBox 2"/>
          <p:cNvSpPr txBox="1"/>
          <p:nvPr/>
        </p:nvSpPr>
        <p:spPr>
          <a:xfrm>
            <a:off x="640808" y="1104900"/>
            <a:ext cx="5576383" cy="209550"/>
          </a:xfrm>
          <a:prstGeom prst="rect">
            <a:avLst/>
          </a:prstGeom>
          <a:noFill/>
        </p:spPr>
        <p:txBody>
          <a:bodyPr wrap="square" lIns="0" rIns="0" tIns="0" bIns="0" anchor="t">
            <a:spAutoFit/>
          </a:bodyPr>
          <a:lstStyle/>
          <a:p>
            <a:pPr algn="l">
              <a:lnSpc>
                <a:spcPct val="100000"/>
              </a:lnSpc>
              <a:spcAft>
                <a:spcPts val="0"/>
              </a:spcAft>
            </a:pPr>
            <a:r>
              <a:rPr sz="975" b="1" i="0">
                <a:solidFill>
                  <a:srgbClr val="3560D6"/>
                </a:solidFill>
                <a:latin typeface="Arial"/>
              </a:rPr>
              <a:t>01 · Cuestionar</a:t>
            </a:r>
          </a:p>
        </p:txBody>
      </p:sp>
      <p:sp>
        <p:nvSpPr>
          <p:cNvPr id="4" name="TextBox 3"/>
          <p:cNvSpPr txBox="1"/>
          <p:nvPr/>
        </p:nvSpPr>
        <p:spPr>
          <a:xfrm>
            <a:off x="640808" y="1428750"/>
            <a:ext cx="5576383" cy="345471"/>
          </a:xfrm>
          <a:prstGeom prst="rect">
            <a:avLst/>
          </a:prstGeom>
          <a:noFill/>
        </p:spPr>
        <p:txBody>
          <a:bodyPr wrap="square" lIns="0" rIns="0" tIns="0" bIns="0" anchor="t">
            <a:spAutoFit/>
          </a:bodyPr>
          <a:lstStyle/>
          <a:p>
            <a:pPr algn="l">
              <a:lnSpc>
                <a:spcPct val="100000"/>
              </a:lnSpc>
              <a:spcAft>
                <a:spcPts val="0"/>
              </a:spcAft>
            </a:pPr>
            <a:r>
              <a:rPr sz="2325" b="1" i="0">
                <a:solidFill>
                  <a:srgbClr val="664092"/>
                </a:solidFill>
                <a:latin typeface="Arial"/>
              </a:rPr>
              <a:t>De los supuestos a las preguntas</a:t>
            </a:r>
          </a:p>
        </p:txBody>
      </p:sp>
      <p:cxnSp>
        <p:nvCxnSpPr>
          <p:cNvPr id="67" name="Google Shape;67;p12"/>
          <p:cNvCxnSpPr/>
          <p:nvPr/>
        </p:nvCxnSpPr>
        <p:spPr>
          <a:xfrm>
            <a:off x="748514" y="2004221"/>
            <a:ext cx="998913" cy="0"/>
          </a:xfrm>
          <a:prstGeom prst="straightConnector1">
            <a:avLst/>
          </a:prstGeom>
          <a:noFill/>
          <a:ln cap="flat" cmpd="sng" w="53975">
            <a:solidFill>
              <a:srgbClr val="73CDEB"/>
            </a:solidFill>
            <a:prstDash val="solid"/>
            <a:round/>
            <a:headEnd len="med" w="med" type="oval"/>
            <a:tailEnd len="med" w="med" type="oval"/>
          </a:ln>
        </p:spPr>
      </p:cxnSp>
      <p:sp>
        <p:nvSpPr>
          <p:cNvPr id="68" name="TextBox 67"/>
          <p:cNvSpPr txBox="1"/>
          <p:nvPr/>
        </p:nvSpPr>
        <p:spPr>
          <a:xfrm>
            <a:off x="642308" y="2254221"/>
            <a:ext cx="5576383" cy="3574770"/>
          </a:xfrm>
          <a:prstGeom prst="rect">
            <a:avLst/>
          </a:prstGeom>
          <a:noFill/>
        </p:spPr>
        <p:txBody>
          <a:bodyPr wrap="square" lIns="0" rIns="0" tIns="0" bIns="0" anchor="t">
            <a:spAutoFit/>
          </a:bodyPr>
          <a:lstStyle/>
          <a:p>
            <a:pPr algn="l">
              <a:lnSpc>
                <a:spcPct val="130000"/>
              </a:lnSpc>
              <a:spcAft>
                <a:spcPts val="1181"/>
              </a:spcAft>
            </a:pPr>
            <a:r>
              <a:rPr sz="1100" b="0" i="0">
                <a:solidFill>
                  <a:srgbClr val="56505B"/>
                </a:solidFill>
                <a:latin typeface="Arial"/>
              </a:rPr>
              <a:t>Cuando trabajamos en un problema podemos creer que conocemos suficientemente a las personas porque tenemos experiencia en el sector, hemos vivido una situación semejante o contamos con información previa. Sin embargo, nuestra perspectiva puede no coincidir con las circunstancias de quienes experimentan realmente el problema.</a:t>
            </a:r>
          </a:p>
          <a:p>
            <a:pPr algn="l">
              <a:lnSpc>
                <a:spcPct val="130000"/>
              </a:lnSpc>
              <a:spcAft>
                <a:spcPts val="1181"/>
              </a:spcAft>
            </a:pPr>
            <a:r>
              <a:rPr sz="1100" b="0" i="0">
                <a:solidFill>
                  <a:srgbClr val="56505B"/>
                </a:solidFill>
                <a:latin typeface="Arial"/>
              </a:rPr>
              <a:t>El pensamiento de diseño propone una actitud diferente: no buscamos demostrar que nuestra primera idea es correcta, sino aumentar progresivamente nuestra comprensión. Para ello observamos, escuchamos e interpretamos comportamientos, motivaciones, frustraciones y condiciones del contexto.</a:t>
            </a:r>
          </a:p>
          <a:p>
            <a:pPr algn="l">
              <a:lnSpc>
                <a:spcPct val="130000"/>
              </a:lnSpc>
              <a:spcAft>
                <a:spcPts val="1181"/>
              </a:spcAft>
            </a:pPr>
            <a:r>
              <a:rPr sz="1100" b="0" i="0">
                <a:solidFill>
                  <a:srgbClr val="56505B"/>
                </a:solidFill>
                <a:latin typeface="Arial"/>
              </a:rPr>
              <a:t>Comprender implica comenzar con preguntas abiertas: ¿cómo aparece la necesidad?, ¿cuándo ocurre?, ¿qué consecuencias genera?, ¿cómo intenta resolverla actualmente la persona?, ¿qué dificultades encuentra?</a:t>
            </a:r>
          </a:p>
          <a:p>
            <a:pPr algn="l">
              <a:lnSpc>
                <a:spcPct val="130000"/>
              </a:lnSpc>
              <a:spcAft>
                <a:spcPts val="1181"/>
              </a:spcAft>
            </a:pPr>
            <a:r>
              <a:rPr sz="1100" b="1" i="0">
                <a:solidFill>
                  <a:srgbClr val="024791"/>
                </a:solidFill>
                <a:latin typeface="Arial"/>
              </a:rPr>
              <a:t>Así evitamos diseñar para usuarios imaginados y comenzamos a diseñar a partir de usuarios comprendidos.</a:t>
            </a:r>
          </a:p>
        </p:txBody>
      </p:sp>
      <p:sp>
        <p:nvSpPr>
          <p:cNvPr id="69" name="TextBox 68"/>
          <p:cNvSpPr txBox="1"/>
          <p:nvPr/>
        </p:nvSpPr>
        <p:spPr>
          <a:xfrm>
            <a:off x="640808" y="5868991"/>
            <a:ext cx="5576383" cy="150000"/>
          </a:xfrm>
          <a:prstGeom prst="rect">
            <a:avLst/>
          </a:prstGeom>
          <a:noFill/>
        </p:spPr>
        <p:txBody>
          <a:bodyPr wrap="square" lIns="0" rIns="0" tIns="0" bIns="0" anchor="t">
            <a:spAutoFit/>
          </a:bodyPr>
          <a:lstStyle/>
          <a:p>
            <a:pPr algn="l">
              <a:lnSpc>
                <a:spcPct val="100000"/>
              </a:lnSpc>
              <a:spcAft>
                <a:spcPts val="0"/>
              </a:spcAft>
            </a:pPr>
            <a:r>
              <a:rPr sz="950" b="1" i="0">
                <a:solidFill>
                  <a:srgbClr val="3560D6"/>
                </a:solidFill>
                <a:latin typeface="Arial"/>
              </a:rPr>
              <a:t>FIGURA 1</a:t>
            </a:r>
          </a:p>
        </p:txBody>
      </p:sp>
      <p:sp>
        <p:nvSpPr>
          <p:cNvPr id="70" name="TextBox 69"/>
          <p:cNvSpPr txBox="1"/>
          <p:nvPr/>
        </p:nvSpPr>
        <p:spPr>
          <a:xfrm>
            <a:off x="640808" y="6106991"/>
            <a:ext cx="5576383" cy="212483"/>
          </a:xfrm>
          <a:prstGeom prst="rect">
            <a:avLst/>
          </a:prstGeom>
          <a:noFill/>
        </p:spPr>
        <p:txBody>
          <a:bodyPr wrap="square" lIns="0" rIns="0" tIns="0" bIns="0" anchor="t">
            <a:spAutoFit/>
          </a:bodyPr>
          <a:lstStyle/>
          <a:p>
            <a:pPr algn="l">
              <a:lnSpc>
                <a:spcPct val="110000"/>
              </a:lnSpc>
              <a:spcAft>
                <a:spcPts val="0"/>
              </a:spcAft>
            </a:pPr>
            <a:r>
              <a:rPr sz="1300" b="1" i="0">
                <a:solidFill>
                  <a:srgbClr val="664092"/>
                </a:solidFill>
                <a:latin typeface="Arial"/>
              </a:rPr>
              <a:t>Del supuesto a la pregunta</a:t>
            </a:r>
          </a:p>
        </p:txBody>
      </p:sp>
      <p:sp>
        <p:nvSpPr>
          <p:cNvPr id="71" name="Rounded Rectangle 70"/>
          <p:cNvSpPr/>
          <p:nvPr/>
        </p:nvSpPr>
        <p:spPr>
          <a:xfrm>
            <a:off x="640808" y="6469474"/>
            <a:ext cx="1260000" cy="1500000"/>
          </a:xfrm>
          <a:prstGeom prst="roundRect">
            <a:avLst>
              <a:gd name="adj" fmla="val 9523"/>
            </a:avLst>
          </a:prstGeom>
          <a:solidFill>
            <a:srgbClr val="F1EBF6"/>
          </a:solidFill>
          <a:ln>
            <a:noFill/>
          </a:ln>
        </p:spPr>
        <p:txBody>
          <a:bodyPr rtlCol="0" anchor="ctr"/>
          <a:lstStyle/>
          <a:p>
            <a:pPr algn="ctr"/>
          </a:p>
        </p:txBody>
      </p:sp>
      <p:sp>
        <p:nvSpPr>
          <p:cNvPr id="72" name="Rectangle 71"/>
          <p:cNvSpPr/>
          <p:nvPr/>
        </p:nvSpPr>
        <p:spPr>
          <a:xfrm>
            <a:off x="640808" y="6469474"/>
            <a:ext cx="1260000" cy="60000"/>
          </a:xfrm>
          <a:prstGeom prst="rect">
            <a:avLst/>
          </a:prstGeom>
          <a:solidFill>
            <a:srgbClr val="664092"/>
          </a:solidFill>
          <a:ln>
            <a:noFill/>
          </a:ln>
        </p:spPr>
        <p:txBody>
          <a:bodyPr rtlCol="0" anchor="ctr"/>
          <a:lstStyle/>
          <a:p>
            <a:pPr algn="ctr"/>
          </a:p>
        </p:txBody>
      </p:sp>
      <p:sp>
        <p:nvSpPr>
          <p:cNvPr id="73" name="Oval 72"/>
          <p:cNvSpPr/>
          <p:nvPr/>
        </p:nvSpPr>
        <p:spPr>
          <a:xfrm>
            <a:off x="1060808" y="6639474"/>
            <a:ext cx="420000" cy="420000"/>
          </a:xfrm>
          <a:prstGeom prst="ellipse">
            <a:avLst/>
          </a:prstGeom>
          <a:solidFill>
            <a:srgbClr val="664092"/>
          </a:solidFill>
          <a:ln>
            <a:noFill/>
          </a:ln>
        </p:spPr>
        <p:txBody>
          <a:bodyPr rtlCol="0" anchor="ctr"/>
          <a:lstStyle/>
          <a:p>
            <a:pPr algn="ctr"/>
          </a:p>
        </p:txBody>
      </p:sp>
      <p:sp>
        <p:nvSpPr>
          <p:cNvPr id="74" name="icono lightbulb"/>
          <p:cNvSpPr/>
          <p:nvPr/>
        </p:nvSpPr>
        <p:spPr>
          <a:xfrm>
            <a:off x="1153208" y="6731874"/>
            <a:ext cx="235200" cy="235200"/>
          </a:xfrm>
          <a:custGeom>
            <a:avLst/>
            <a:gdLst/>
            <a:ahLst/>
            <a:cxnLst/>
            <a:rect l="0" t="0" r="r" b="b"/>
            <a:pathLst>
              <a:path w="25600" h="25600">
                <a:moveTo>
                  <a:pt x="17600" y="23200"/>
                </a:moveTo>
                <a:lnTo>
                  <a:pt x="17580" y="23378"/>
                </a:lnTo>
                <a:lnTo>
                  <a:pt x="17521" y="23547"/>
                </a:lnTo>
                <a:lnTo>
                  <a:pt x="17425" y="23699"/>
                </a:lnTo>
                <a:lnTo>
                  <a:pt x="17299" y="23825"/>
                </a:lnTo>
                <a:lnTo>
                  <a:pt x="17147" y="23921"/>
                </a:lnTo>
                <a:lnTo>
                  <a:pt x="16978" y="23980"/>
                </a:lnTo>
                <a:lnTo>
                  <a:pt x="16800" y="24000"/>
                </a:lnTo>
                <a:lnTo>
                  <a:pt x="8800" y="24000"/>
                </a:lnTo>
                <a:lnTo>
                  <a:pt x="8634" y="23983"/>
                </a:lnTo>
                <a:lnTo>
                  <a:pt x="8475" y="23931"/>
                </a:lnTo>
                <a:lnTo>
                  <a:pt x="8330" y="23847"/>
                </a:lnTo>
                <a:lnTo>
                  <a:pt x="8205" y="23735"/>
                </a:lnTo>
                <a:lnTo>
                  <a:pt x="8107" y="23600"/>
                </a:lnTo>
                <a:lnTo>
                  <a:pt x="8039" y="23447"/>
                </a:lnTo>
                <a:lnTo>
                  <a:pt x="8004" y="23284"/>
                </a:lnTo>
                <a:lnTo>
                  <a:pt x="8004" y="23116"/>
                </a:lnTo>
                <a:lnTo>
                  <a:pt x="8039" y="22953"/>
                </a:lnTo>
                <a:lnTo>
                  <a:pt x="8107" y="22800"/>
                </a:lnTo>
                <a:lnTo>
                  <a:pt x="8205" y="22665"/>
                </a:lnTo>
                <a:lnTo>
                  <a:pt x="8330" y="22553"/>
                </a:lnTo>
                <a:lnTo>
                  <a:pt x="8475" y="22469"/>
                </a:lnTo>
                <a:lnTo>
                  <a:pt x="8634" y="22417"/>
                </a:lnTo>
                <a:lnTo>
                  <a:pt x="8800" y="22400"/>
                </a:lnTo>
                <a:lnTo>
                  <a:pt x="16800" y="22400"/>
                </a:lnTo>
                <a:lnTo>
                  <a:pt x="16978" y="22420"/>
                </a:lnTo>
                <a:lnTo>
                  <a:pt x="17147" y="22479"/>
                </a:lnTo>
                <a:lnTo>
                  <a:pt x="17299" y="22575"/>
                </a:lnTo>
                <a:lnTo>
                  <a:pt x="17425" y="22701"/>
                </a:lnTo>
                <a:lnTo>
                  <a:pt x="17521" y="22853"/>
                </a:lnTo>
                <a:lnTo>
                  <a:pt x="17580" y="23022"/>
                </a:lnTo>
                <a:lnTo>
                  <a:pt x="17600" y="23200"/>
                </a:lnTo>
                <a:close/>
                <a:moveTo>
                  <a:pt x="21600" y="10400"/>
                </a:moveTo>
                <a:lnTo>
                  <a:pt x="21503" y="11723"/>
                </a:lnTo>
                <a:lnTo>
                  <a:pt x="21207" y="13016"/>
                </a:lnTo>
                <a:lnTo>
                  <a:pt x="20719" y="14250"/>
                </a:lnTo>
                <a:lnTo>
                  <a:pt x="20050" y="15396"/>
                </a:lnTo>
                <a:lnTo>
                  <a:pt x="19216" y="16427"/>
                </a:lnTo>
                <a:lnTo>
                  <a:pt x="18236" y="17321"/>
                </a:lnTo>
                <a:lnTo>
                  <a:pt x="18052" y="17485"/>
                </a:lnTo>
                <a:lnTo>
                  <a:pt x="17896" y="17675"/>
                </a:lnTo>
                <a:lnTo>
                  <a:pt x="17770" y="17887"/>
                </a:lnTo>
                <a:lnTo>
                  <a:pt x="17677" y="18115"/>
                </a:lnTo>
                <a:lnTo>
                  <a:pt x="17620" y="18355"/>
                </a:lnTo>
                <a:lnTo>
                  <a:pt x="17600" y="18600"/>
                </a:lnTo>
                <a:lnTo>
                  <a:pt x="17600" y="19200"/>
                </a:lnTo>
                <a:lnTo>
                  <a:pt x="17560" y="19556"/>
                </a:lnTo>
                <a:lnTo>
                  <a:pt x="17442" y="19894"/>
                </a:lnTo>
                <a:lnTo>
                  <a:pt x="17251" y="20198"/>
                </a:lnTo>
                <a:lnTo>
                  <a:pt x="16998" y="20451"/>
                </a:lnTo>
                <a:lnTo>
                  <a:pt x="16694" y="20642"/>
                </a:lnTo>
                <a:lnTo>
                  <a:pt x="16356" y="20760"/>
                </a:lnTo>
                <a:lnTo>
                  <a:pt x="16000" y="20800"/>
                </a:lnTo>
                <a:lnTo>
                  <a:pt x="9600" y="20800"/>
                </a:lnTo>
                <a:lnTo>
                  <a:pt x="9244" y="20760"/>
                </a:lnTo>
                <a:lnTo>
                  <a:pt x="8906" y="20642"/>
                </a:lnTo>
                <a:lnTo>
                  <a:pt x="8602" y="20451"/>
                </a:lnTo>
                <a:lnTo>
                  <a:pt x="8349" y="20198"/>
                </a:lnTo>
                <a:lnTo>
                  <a:pt x="8158" y="19894"/>
                </a:lnTo>
                <a:lnTo>
                  <a:pt x="8040" y="19556"/>
                </a:lnTo>
                <a:lnTo>
                  <a:pt x="8000" y="19200"/>
                </a:lnTo>
                <a:lnTo>
                  <a:pt x="8000" y="18600"/>
                </a:lnTo>
                <a:lnTo>
                  <a:pt x="7981" y="18357"/>
                </a:lnTo>
                <a:lnTo>
                  <a:pt x="7926" y="18120"/>
                </a:lnTo>
                <a:lnTo>
                  <a:pt x="7836" y="17895"/>
                </a:lnTo>
                <a:lnTo>
                  <a:pt x="7712" y="17685"/>
                </a:lnTo>
                <a:lnTo>
                  <a:pt x="7558" y="17497"/>
                </a:lnTo>
                <a:lnTo>
                  <a:pt x="7377" y="17334"/>
                </a:lnTo>
                <a:lnTo>
                  <a:pt x="6399" y="16446"/>
                </a:lnTo>
                <a:lnTo>
                  <a:pt x="5565" y="15420"/>
                </a:lnTo>
                <a:lnTo>
                  <a:pt x="4895" y="14281"/>
                </a:lnTo>
                <a:lnTo>
                  <a:pt x="4404" y="13054"/>
                </a:lnTo>
                <a:lnTo>
                  <a:pt x="4104" y="11767"/>
                </a:lnTo>
                <a:lnTo>
                  <a:pt x="4000" y="10449"/>
                </a:lnTo>
                <a:cubicBezTo>
                  <a:pt x="3974" y="5683"/>
                  <a:pt x="7826" y="1714"/>
                  <a:pt x="12588" y="1600"/>
                </a:cubicBezTo>
                <a:lnTo>
                  <a:pt x="14581" y="1780"/>
                </a:lnTo>
                <a:lnTo>
                  <a:pt x="16482" y="2405"/>
                </a:lnTo>
                <a:lnTo>
                  <a:pt x="18192" y="3443"/>
                </a:lnTo>
                <a:lnTo>
                  <a:pt x="19624" y="4841"/>
                </a:lnTo>
                <a:lnTo>
                  <a:pt x="20703" y="6526"/>
                </a:lnTo>
                <a:lnTo>
                  <a:pt x="21373" y="8412"/>
                </a:lnTo>
                <a:lnTo>
                  <a:pt x="21600" y="10400"/>
                </a:lnTo>
                <a:close/>
                <a:moveTo>
                  <a:pt x="20000" y="10400"/>
                </a:moveTo>
                <a:lnTo>
                  <a:pt x="19814" y="8773"/>
                </a:lnTo>
                <a:lnTo>
                  <a:pt x="19266" y="7231"/>
                </a:lnTo>
                <a:lnTo>
                  <a:pt x="18383" y="5852"/>
                </a:lnTo>
                <a:lnTo>
                  <a:pt x="17212" y="4708"/>
                </a:lnTo>
                <a:lnTo>
                  <a:pt x="15812" y="3858"/>
                </a:lnTo>
                <a:lnTo>
                  <a:pt x="14257" y="3347"/>
                </a:lnTo>
                <a:lnTo>
                  <a:pt x="12626" y="3200"/>
                </a:lnTo>
                <a:cubicBezTo>
                  <a:pt x="8726" y="3292"/>
                  <a:pt x="5579" y="6539"/>
                  <a:pt x="5600" y="10439"/>
                </a:cubicBezTo>
                <a:lnTo>
                  <a:pt x="5685" y="11517"/>
                </a:lnTo>
                <a:lnTo>
                  <a:pt x="5931" y="12569"/>
                </a:lnTo>
                <a:lnTo>
                  <a:pt x="6333" y="13572"/>
                </a:lnTo>
                <a:lnTo>
                  <a:pt x="6881" y="14504"/>
                </a:lnTo>
                <a:lnTo>
                  <a:pt x="7564" y="15343"/>
                </a:lnTo>
                <a:lnTo>
                  <a:pt x="8364" y="16069"/>
                </a:lnTo>
                <a:lnTo>
                  <a:pt x="8724" y="16395"/>
                </a:lnTo>
                <a:lnTo>
                  <a:pt x="9030" y="16772"/>
                </a:lnTo>
                <a:lnTo>
                  <a:pt x="9275" y="17191"/>
                </a:lnTo>
                <a:lnTo>
                  <a:pt x="9455" y="17642"/>
                </a:lnTo>
                <a:lnTo>
                  <a:pt x="9564" y="18116"/>
                </a:lnTo>
                <a:lnTo>
                  <a:pt x="9600" y="18600"/>
                </a:lnTo>
                <a:lnTo>
                  <a:pt x="9600" y="19200"/>
                </a:lnTo>
                <a:lnTo>
                  <a:pt x="16000" y="19200"/>
                </a:lnTo>
                <a:lnTo>
                  <a:pt x="16000" y="18600"/>
                </a:lnTo>
                <a:lnTo>
                  <a:pt x="16038" y="18114"/>
                </a:lnTo>
                <a:lnTo>
                  <a:pt x="16149" y="17640"/>
                </a:lnTo>
                <a:lnTo>
                  <a:pt x="16330" y="17188"/>
                </a:lnTo>
                <a:lnTo>
                  <a:pt x="16578" y="16769"/>
                </a:lnTo>
                <a:lnTo>
                  <a:pt x="16886" y="16391"/>
                </a:lnTo>
                <a:lnTo>
                  <a:pt x="17247" y="16065"/>
                </a:lnTo>
                <a:lnTo>
                  <a:pt x="18049" y="15333"/>
                </a:lnTo>
                <a:lnTo>
                  <a:pt x="18732" y="14489"/>
                </a:lnTo>
                <a:lnTo>
                  <a:pt x="19279" y="13551"/>
                </a:lnTo>
                <a:lnTo>
                  <a:pt x="19679" y="12541"/>
                </a:lnTo>
                <a:lnTo>
                  <a:pt x="19921" y="11483"/>
                </a:lnTo>
                <a:lnTo>
                  <a:pt x="20000" y="10400"/>
                </a:lnTo>
                <a:close/>
                <a:moveTo>
                  <a:pt x="18389" y="9466"/>
                </a:moveTo>
                <a:lnTo>
                  <a:pt x="18068" y="8345"/>
                </a:lnTo>
                <a:lnTo>
                  <a:pt x="17529" y="7311"/>
                </a:lnTo>
                <a:lnTo>
                  <a:pt x="16792" y="6408"/>
                </a:lnTo>
                <a:lnTo>
                  <a:pt x="15888" y="5671"/>
                </a:lnTo>
                <a:lnTo>
                  <a:pt x="14854" y="5131"/>
                </a:lnTo>
                <a:lnTo>
                  <a:pt x="13733" y="4811"/>
                </a:lnTo>
                <a:lnTo>
                  <a:pt x="13566" y="4801"/>
                </a:lnTo>
                <a:lnTo>
                  <a:pt x="13401" y="4825"/>
                </a:lnTo>
                <a:lnTo>
                  <a:pt x="13244" y="4884"/>
                </a:lnTo>
                <a:lnTo>
                  <a:pt x="13103" y="4973"/>
                </a:lnTo>
                <a:lnTo>
                  <a:pt x="12983" y="5090"/>
                </a:lnTo>
                <a:lnTo>
                  <a:pt x="12891" y="5230"/>
                </a:lnTo>
                <a:lnTo>
                  <a:pt x="12829" y="5385"/>
                </a:lnTo>
                <a:lnTo>
                  <a:pt x="12801" y="5550"/>
                </a:lnTo>
                <a:lnTo>
                  <a:pt x="12809" y="5717"/>
                </a:lnTo>
                <a:lnTo>
                  <a:pt x="12850" y="5879"/>
                </a:lnTo>
                <a:lnTo>
                  <a:pt x="12925" y="6029"/>
                </a:lnTo>
                <a:lnTo>
                  <a:pt x="13029" y="6160"/>
                </a:lnTo>
                <a:lnTo>
                  <a:pt x="13158" y="6267"/>
                </a:lnTo>
                <a:lnTo>
                  <a:pt x="13306" y="6344"/>
                </a:lnTo>
                <a:lnTo>
                  <a:pt x="13467" y="6389"/>
                </a:lnTo>
                <a:cubicBezTo>
                  <a:pt x="15124" y="6668"/>
                  <a:pt x="16530" y="8074"/>
                  <a:pt x="16811" y="9734"/>
                </a:cubicBezTo>
                <a:lnTo>
                  <a:pt x="16864" y="9913"/>
                </a:lnTo>
                <a:lnTo>
                  <a:pt x="16956" y="10075"/>
                </a:lnTo>
                <a:lnTo>
                  <a:pt x="17084" y="10211"/>
                </a:lnTo>
                <a:lnTo>
                  <a:pt x="17239" y="10314"/>
                </a:lnTo>
                <a:lnTo>
                  <a:pt x="17415" y="10378"/>
                </a:lnTo>
                <a:lnTo>
                  <a:pt x="17600" y="10400"/>
                </a:lnTo>
                <a:lnTo>
                  <a:pt x="17623" y="10400"/>
                </a:lnTo>
                <a:lnTo>
                  <a:pt x="17645" y="10399"/>
                </a:lnTo>
                <a:lnTo>
                  <a:pt x="17668" y="10397"/>
                </a:lnTo>
                <a:lnTo>
                  <a:pt x="17690" y="10395"/>
                </a:lnTo>
                <a:lnTo>
                  <a:pt x="17713" y="10392"/>
                </a:lnTo>
                <a:lnTo>
                  <a:pt x="17735" y="10389"/>
                </a:lnTo>
                <a:lnTo>
                  <a:pt x="17907" y="10339"/>
                </a:lnTo>
                <a:lnTo>
                  <a:pt x="18064" y="10253"/>
                </a:lnTo>
                <a:lnTo>
                  <a:pt x="18197" y="10133"/>
                </a:lnTo>
                <a:lnTo>
                  <a:pt x="18301" y="9987"/>
                </a:lnTo>
                <a:lnTo>
                  <a:pt x="18369" y="9821"/>
                </a:lnTo>
                <a:lnTo>
                  <a:pt x="18399" y="9645"/>
                </a:lnTo>
                <a:lnTo>
                  <a:pt x="18389" y="9466"/>
                </a:lnTo>
                <a:close/>
              </a:path>
            </a:pathLst>
          </a:custGeom>
          <a:solidFill>
            <a:srgbClr val="FFFFFF"/>
          </a:solidFill>
          <a:ln>
            <a:noFill/>
          </a:ln>
        </p:spPr>
        <p:txBody>
          <a:bodyPr rtlCol="0" anchor="ctr"/>
          <a:lstStyle/>
          <a:p>
            <a:pPr algn="ctr"/>
          </a:p>
        </p:txBody>
      </p:sp>
      <p:sp>
        <p:nvSpPr>
          <p:cNvPr id="75" name="TextBox 74"/>
          <p:cNvSpPr txBox="1"/>
          <p:nvPr/>
        </p:nvSpPr>
        <p:spPr>
          <a:xfrm>
            <a:off x="710808" y="7119474"/>
            <a:ext cx="1120000" cy="320000"/>
          </a:xfrm>
          <a:prstGeom prst="rect">
            <a:avLst/>
          </a:prstGeom>
          <a:noFill/>
        </p:spPr>
        <p:txBody>
          <a:bodyPr wrap="square" lIns="0" rIns="0" tIns="0" bIns="0" anchor="ctr">
            <a:spAutoFit/>
          </a:bodyPr>
          <a:lstStyle/>
          <a:p>
            <a:pPr algn="ctr">
              <a:lnSpc>
                <a:spcPct val="100000"/>
              </a:lnSpc>
              <a:spcAft>
                <a:spcPts val="0"/>
              </a:spcAft>
            </a:pPr>
            <a:r>
              <a:rPr sz="900" b="1" i="0">
                <a:solidFill>
                  <a:srgbClr val="664092"/>
                </a:solidFill>
                <a:latin typeface="Arial"/>
              </a:rPr>
              <a:t>SUPUESTO</a:t>
            </a:r>
          </a:p>
        </p:txBody>
      </p:sp>
      <p:sp>
        <p:nvSpPr>
          <p:cNvPr id="76" name="TextBox 75"/>
          <p:cNvSpPr txBox="1"/>
          <p:nvPr/>
        </p:nvSpPr>
        <p:spPr>
          <a:xfrm>
            <a:off x="720808" y="7459474"/>
            <a:ext cx="1100000" cy="460000"/>
          </a:xfrm>
          <a:prstGeom prst="rect">
            <a:avLst/>
          </a:prstGeom>
          <a:noFill/>
        </p:spPr>
        <p:txBody>
          <a:bodyPr wrap="square" lIns="0" rIns="0" tIns="0" bIns="0" anchor="t">
            <a:spAutoFit/>
          </a:bodyPr>
          <a:lstStyle/>
          <a:p>
            <a:pPr algn="ctr">
              <a:lnSpc>
                <a:spcPct val="110000"/>
              </a:lnSpc>
              <a:spcAft>
                <a:spcPts val="0"/>
              </a:spcAft>
            </a:pPr>
            <a:r>
              <a:rPr sz="900" b="0" i="0">
                <a:solidFill>
                  <a:srgbClr val="3D2159"/>
                </a:solidFill>
                <a:latin typeface="Arial"/>
              </a:rPr>
              <a:t>«Creemos que sabemos qué necesita».</a:t>
            </a:r>
          </a:p>
        </p:txBody>
      </p:sp>
      <p:sp>
        <p:nvSpPr>
          <p:cNvPr id="77" name="Isosceles Triangle 76"/>
          <p:cNvSpPr/>
          <p:nvPr/>
        </p:nvSpPr>
        <p:spPr>
          <a:xfrm rot="5400000">
            <a:off x="1940808" y="6799474"/>
            <a:ext cx="100000" cy="80000"/>
          </a:xfrm>
          <a:prstGeom prst="triangle">
            <a:avLst/>
          </a:prstGeom>
          <a:solidFill>
            <a:srgbClr val="A9B8D9"/>
          </a:solidFill>
          <a:ln>
            <a:noFill/>
          </a:ln>
        </p:spPr>
        <p:txBody>
          <a:bodyPr rtlCol="0" anchor="ctr"/>
          <a:lstStyle/>
          <a:p>
            <a:pPr algn="ctr"/>
          </a:p>
        </p:txBody>
      </p:sp>
      <p:sp>
        <p:nvSpPr>
          <p:cNvPr id="78" name="Rounded Rectangle 77"/>
          <p:cNvSpPr/>
          <p:nvPr/>
        </p:nvSpPr>
        <p:spPr>
          <a:xfrm>
            <a:off x="2079602" y="6469474"/>
            <a:ext cx="1260000" cy="1500000"/>
          </a:xfrm>
          <a:prstGeom prst="roundRect">
            <a:avLst>
              <a:gd name="adj" fmla="val 9523"/>
            </a:avLst>
          </a:prstGeom>
          <a:solidFill>
            <a:srgbClr val="F6EBF3"/>
          </a:solidFill>
          <a:ln>
            <a:noFill/>
          </a:ln>
        </p:spPr>
        <p:txBody>
          <a:bodyPr rtlCol="0" anchor="ctr"/>
          <a:lstStyle/>
          <a:p>
            <a:pPr algn="ctr"/>
          </a:p>
        </p:txBody>
      </p:sp>
      <p:sp>
        <p:nvSpPr>
          <p:cNvPr id="79" name="Rectangle 78"/>
          <p:cNvSpPr/>
          <p:nvPr/>
        </p:nvSpPr>
        <p:spPr>
          <a:xfrm>
            <a:off x="2079602" y="6469474"/>
            <a:ext cx="1260000" cy="60000"/>
          </a:xfrm>
          <a:prstGeom prst="rect">
            <a:avLst/>
          </a:prstGeom>
          <a:solidFill>
            <a:srgbClr val="A71989"/>
          </a:solidFill>
          <a:ln>
            <a:noFill/>
          </a:ln>
        </p:spPr>
        <p:txBody>
          <a:bodyPr rtlCol="0" anchor="ctr"/>
          <a:lstStyle/>
          <a:p>
            <a:pPr algn="ctr"/>
          </a:p>
        </p:txBody>
      </p:sp>
      <p:sp>
        <p:nvSpPr>
          <p:cNvPr id="80" name="Oval 79"/>
          <p:cNvSpPr/>
          <p:nvPr/>
        </p:nvSpPr>
        <p:spPr>
          <a:xfrm>
            <a:off x="2499602" y="6639474"/>
            <a:ext cx="420000" cy="420000"/>
          </a:xfrm>
          <a:prstGeom prst="ellipse">
            <a:avLst/>
          </a:prstGeom>
          <a:solidFill>
            <a:srgbClr val="A71989"/>
          </a:solidFill>
          <a:ln>
            <a:noFill/>
          </a:ln>
        </p:spPr>
        <p:txBody>
          <a:bodyPr rtlCol="0" anchor="ctr"/>
          <a:lstStyle/>
          <a:p>
            <a:pPr algn="ctr"/>
          </a:p>
        </p:txBody>
      </p:sp>
      <p:sp>
        <p:nvSpPr>
          <p:cNvPr id="81" name="icono question"/>
          <p:cNvSpPr/>
          <p:nvPr/>
        </p:nvSpPr>
        <p:spPr>
          <a:xfrm>
            <a:off x="2592002" y="6731874"/>
            <a:ext cx="235200" cy="235200"/>
          </a:xfrm>
          <a:custGeom>
            <a:avLst/>
            <a:gdLst/>
            <a:ahLst/>
            <a:cxnLst/>
            <a:rect l="0" t="0" r="r" b="b"/>
            <a:pathLst>
              <a:path w="25600" h="25600">
                <a:moveTo>
                  <a:pt x="14000" y="18000"/>
                </a:moveTo>
                <a:lnTo>
                  <a:pt x="13973" y="18255"/>
                </a:lnTo>
                <a:lnTo>
                  <a:pt x="13892" y="18498"/>
                </a:lnTo>
                <a:lnTo>
                  <a:pt x="13761" y="18719"/>
                </a:lnTo>
                <a:lnTo>
                  <a:pt x="13586" y="18907"/>
                </a:lnTo>
                <a:lnTo>
                  <a:pt x="13375" y="19053"/>
                </a:lnTo>
                <a:lnTo>
                  <a:pt x="13138" y="19151"/>
                </a:lnTo>
                <a:lnTo>
                  <a:pt x="12886" y="19197"/>
                </a:lnTo>
                <a:lnTo>
                  <a:pt x="12629" y="19188"/>
                </a:lnTo>
                <a:lnTo>
                  <a:pt x="12381" y="19124"/>
                </a:lnTo>
                <a:lnTo>
                  <a:pt x="12151" y="19010"/>
                </a:lnTo>
                <a:lnTo>
                  <a:pt x="11951" y="18849"/>
                </a:lnTo>
                <a:lnTo>
                  <a:pt x="11790" y="18649"/>
                </a:lnTo>
                <a:lnTo>
                  <a:pt x="11676" y="18419"/>
                </a:lnTo>
                <a:lnTo>
                  <a:pt x="11612" y="18171"/>
                </a:lnTo>
                <a:lnTo>
                  <a:pt x="11603" y="17914"/>
                </a:lnTo>
                <a:lnTo>
                  <a:pt x="11649" y="17662"/>
                </a:lnTo>
                <a:lnTo>
                  <a:pt x="11747" y="17425"/>
                </a:lnTo>
                <a:lnTo>
                  <a:pt x="11893" y="17214"/>
                </a:lnTo>
                <a:lnTo>
                  <a:pt x="12081" y="17039"/>
                </a:lnTo>
                <a:lnTo>
                  <a:pt x="12302" y="16908"/>
                </a:lnTo>
                <a:lnTo>
                  <a:pt x="12545" y="16827"/>
                </a:lnTo>
                <a:lnTo>
                  <a:pt x="12800" y="16800"/>
                </a:lnTo>
                <a:lnTo>
                  <a:pt x="13067" y="16830"/>
                </a:lnTo>
                <a:lnTo>
                  <a:pt x="13321" y="16919"/>
                </a:lnTo>
                <a:lnTo>
                  <a:pt x="13548" y="17062"/>
                </a:lnTo>
                <a:lnTo>
                  <a:pt x="13738" y="17252"/>
                </a:lnTo>
                <a:lnTo>
                  <a:pt x="13881" y="17479"/>
                </a:lnTo>
                <a:lnTo>
                  <a:pt x="13970" y="17733"/>
                </a:lnTo>
                <a:lnTo>
                  <a:pt x="14000" y="18000"/>
                </a:lnTo>
                <a:close/>
                <a:moveTo>
                  <a:pt x="12800" y="7200"/>
                </a:moveTo>
                <a:cubicBezTo>
                  <a:pt x="10594" y="7200"/>
                  <a:pt x="8800" y="8815"/>
                  <a:pt x="8800" y="10800"/>
                </a:cubicBezTo>
                <a:lnTo>
                  <a:pt x="8800" y="11200"/>
                </a:lnTo>
                <a:lnTo>
                  <a:pt x="8817" y="11366"/>
                </a:lnTo>
                <a:lnTo>
                  <a:pt x="8869" y="11525"/>
                </a:lnTo>
                <a:lnTo>
                  <a:pt x="8953" y="11670"/>
                </a:lnTo>
                <a:lnTo>
                  <a:pt x="9065" y="11795"/>
                </a:lnTo>
                <a:lnTo>
                  <a:pt x="9200" y="11893"/>
                </a:lnTo>
                <a:lnTo>
                  <a:pt x="9353" y="11961"/>
                </a:lnTo>
                <a:lnTo>
                  <a:pt x="9516" y="11996"/>
                </a:lnTo>
                <a:lnTo>
                  <a:pt x="9684" y="11996"/>
                </a:lnTo>
                <a:lnTo>
                  <a:pt x="9847" y="11961"/>
                </a:lnTo>
                <a:lnTo>
                  <a:pt x="10000" y="11893"/>
                </a:lnTo>
                <a:lnTo>
                  <a:pt x="10135" y="11795"/>
                </a:lnTo>
                <a:lnTo>
                  <a:pt x="10247" y="11670"/>
                </a:lnTo>
                <a:lnTo>
                  <a:pt x="10331" y="11525"/>
                </a:lnTo>
                <a:lnTo>
                  <a:pt x="10383" y="11366"/>
                </a:lnTo>
                <a:lnTo>
                  <a:pt x="10400" y="11200"/>
                </a:lnTo>
                <a:lnTo>
                  <a:pt x="10400" y="10800"/>
                </a:lnTo>
                <a:cubicBezTo>
                  <a:pt x="10400" y="9700"/>
                  <a:pt x="11477" y="8800"/>
                  <a:pt x="12800" y="8800"/>
                </a:cubicBezTo>
                <a:cubicBezTo>
                  <a:pt x="14123" y="8800"/>
                  <a:pt x="15200" y="9700"/>
                  <a:pt x="15200" y="10800"/>
                </a:cubicBezTo>
                <a:cubicBezTo>
                  <a:pt x="15200" y="11900"/>
                  <a:pt x="14123" y="12800"/>
                  <a:pt x="12800" y="12800"/>
                </a:cubicBezTo>
                <a:lnTo>
                  <a:pt x="12622" y="12820"/>
                </a:lnTo>
                <a:lnTo>
                  <a:pt x="12453" y="12879"/>
                </a:lnTo>
                <a:lnTo>
                  <a:pt x="12301" y="12975"/>
                </a:lnTo>
                <a:lnTo>
                  <a:pt x="12175" y="13101"/>
                </a:lnTo>
                <a:lnTo>
                  <a:pt x="12079" y="13253"/>
                </a:lnTo>
                <a:lnTo>
                  <a:pt x="12020" y="13422"/>
                </a:lnTo>
                <a:lnTo>
                  <a:pt x="12000" y="13600"/>
                </a:lnTo>
                <a:lnTo>
                  <a:pt x="12000" y="14400"/>
                </a:lnTo>
                <a:lnTo>
                  <a:pt x="12017" y="14566"/>
                </a:lnTo>
                <a:lnTo>
                  <a:pt x="12069" y="14725"/>
                </a:lnTo>
                <a:lnTo>
                  <a:pt x="12153" y="14870"/>
                </a:lnTo>
                <a:lnTo>
                  <a:pt x="12265" y="14995"/>
                </a:lnTo>
                <a:lnTo>
                  <a:pt x="12400" y="15093"/>
                </a:lnTo>
                <a:lnTo>
                  <a:pt x="12553" y="15161"/>
                </a:lnTo>
                <a:lnTo>
                  <a:pt x="12716" y="15196"/>
                </a:lnTo>
                <a:lnTo>
                  <a:pt x="12884" y="15196"/>
                </a:lnTo>
                <a:lnTo>
                  <a:pt x="13047" y="15161"/>
                </a:lnTo>
                <a:lnTo>
                  <a:pt x="13200" y="15093"/>
                </a:lnTo>
                <a:lnTo>
                  <a:pt x="13335" y="14995"/>
                </a:lnTo>
                <a:lnTo>
                  <a:pt x="13447" y="14870"/>
                </a:lnTo>
                <a:lnTo>
                  <a:pt x="13531" y="14725"/>
                </a:lnTo>
                <a:lnTo>
                  <a:pt x="13583" y="14566"/>
                </a:lnTo>
                <a:lnTo>
                  <a:pt x="13600" y="14400"/>
                </a:lnTo>
                <a:lnTo>
                  <a:pt x="13600" y="14328"/>
                </a:lnTo>
                <a:cubicBezTo>
                  <a:pt x="15424" y="13993"/>
                  <a:pt x="16800" y="12538"/>
                  <a:pt x="16800" y="10800"/>
                </a:cubicBezTo>
                <a:cubicBezTo>
                  <a:pt x="16800" y="8815"/>
                  <a:pt x="15006" y="7200"/>
                  <a:pt x="12800" y="7200"/>
                </a:cubicBezTo>
                <a:close/>
                <a:moveTo>
                  <a:pt x="23200" y="12800"/>
                </a:moveTo>
                <a:lnTo>
                  <a:pt x="22962" y="15011"/>
                </a:lnTo>
                <a:lnTo>
                  <a:pt x="22260" y="17120"/>
                </a:lnTo>
                <a:lnTo>
                  <a:pt x="21126" y="19032"/>
                </a:lnTo>
                <a:lnTo>
                  <a:pt x="19611" y="20660"/>
                </a:lnTo>
                <a:lnTo>
                  <a:pt x="17784" y="21928"/>
                </a:lnTo>
                <a:lnTo>
                  <a:pt x="15730" y="22779"/>
                </a:lnTo>
                <a:lnTo>
                  <a:pt x="13542" y="23174"/>
                </a:lnTo>
                <a:lnTo>
                  <a:pt x="11320" y="23094"/>
                </a:lnTo>
                <a:lnTo>
                  <a:pt x="9166" y="22544"/>
                </a:lnTo>
                <a:lnTo>
                  <a:pt x="7177" y="21549"/>
                </a:lnTo>
                <a:lnTo>
                  <a:pt x="5446" y="20154"/>
                </a:lnTo>
                <a:lnTo>
                  <a:pt x="4051" y="18423"/>
                </a:lnTo>
                <a:lnTo>
                  <a:pt x="3056" y="16434"/>
                </a:lnTo>
                <a:lnTo>
                  <a:pt x="2506" y="14280"/>
                </a:lnTo>
                <a:lnTo>
                  <a:pt x="2426" y="12058"/>
                </a:lnTo>
                <a:lnTo>
                  <a:pt x="2821" y="9870"/>
                </a:lnTo>
                <a:lnTo>
                  <a:pt x="3672" y="7816"/>
                </a:lnTo>
                <a:lnTo>
                  <a:pt x="4940" y="5989"/>
                </a:lnTo>
                <a:lnTo>
                  <a:pt x="6568" y="4474"/>
                </a:lnTo>
                <a:lnTo>
                  <a:pt x="8480" y="3340"/>
                </a:lnTo>
                <a:lnTo>
                  <a:pt x="10589" y="2638"/>
                </a:lnTo>
                <a:lnTo>
                  <a:pt x="12800" y="2400"/>
                </a:lnTo>
                <a:lnTo>
                  <a:pt x="15113" y="2663"/>
                </a:lnTo>
                <a:lnTo>
                  <a:pt x="17310" y="3433"/>
                </a:lnTo>
                <a:lnTo>
                  <a:pt x="19281" y="4672"/>
                </a:lnTo>
                <a:lnTo>
                  <a:pt x="20928" y="6319"/>
                </a:lnTo>
                <a:lnTo>
                  <a:pt x="22167" y="8290"/>
                </a:lnTo>
                <a:lnTo>
                  <a:pt x="22937" y="10487"/>
                </a:lnTo>
                <a:lnTo>
                  <a:pt x="23200" y="12800"/>
                </a:lnTo>
                <a:close/>
                <a:moveTo>
                  <a:pt x="21600" y="12800"/>
                </a:moveTo>
                <a:lnTo>
                  <a:pt x="21399" y="10929"/>
                </a:lnTo>
                <a:lnTo>
                  <a:pt x="20805" y="9144"/>
                </a:lnTo>
                <a:lnTo>
                  <a:pt x="19845" y="7526"/>
                </a:lnTo>
                <a:lnTo>
                  <a:pt x="18563" y="6149"/>
                </a:lnTo>
                <a:lnTo>
                  <a:pt x="17017" y="5076"/>
                </a:lnTo>
                <a:lnTo>
                  <a:pt x="15279" y="4356"/>
                </a:lnTo>
                <a:lnTo>
                  <a:pt x="13428" y="4022"/>
                </a:lnTo>
                <a:lnTo>
                  <a:pt x="11548" y="4090"/>
                </a:lnTo>
                <a:lnTo>
                  <a:pt x="9725" y="4555"/>
                </a:lnTo>
                <a:lnTo>
                  <a:pt x="8042" y="5397"/>
                </a:lnTo>
                <a:lnTo>
                  <a:pt x="6577" y="6577"/>
                </a:lnTo>
                <a:lnTo>
                  <a:pt x="5397" y="8042"/>
                </a:lnTo>
                <a:lnTo>
                  <a:pt x="4555" y="9725"/>
                </a:lnTo>
                <a:lnTo>
                  <a:pt x="4090" y="11548"/>
                </a:lnTo>
                <a:lnTo>
                  <a:pt x="4022" y="13428"/>
                </a:lnTo>
                <a:lnTo>
                  <a:pt x="4356" y="15279"/>
                </a:lnTo>
                <a:lnTo>
                  <a:pt x="5076" y="17017"/>
                </a:lnTo>
                <a:lnTo>
                  <a:pt x="6149" y="18563"/>
                </a:lnTo>
                <a:lnTo>
                  <a:pt x="7526" y="19845"/>
                </a:lnTo>
                <a:lnTo>
                  <a:pt x="9144" y="20805"/>
                </a:lnTo>
                <a:lnTo>
                  <a:pt x="10929" y="21399"/>
                </a:lnTo>
                <a:lnTo>
                  <a:pt x="12800" y="21600"/>
                </a:lnTo>
                <a:lnTo>
                  <a:pt x="14757" y="21378"/>
                </a:lnTo>
                <a:lnTo>
                  <a:pt x="16616" y="20726"/>
                </a:lnTo>
                <a:lnTo>
                  <a:pt x="18284" y="19677"/>
                </a:lnTo>
                <a:lnTo>
                  <a:pt x="19677" y="18284"/>
                </a:lnTo>
                <a:lnTo>
                  <a:pt x="20726" y="16616"/>
                </a:lnTo>
                <a:lnTo>
                  <a:pt x="21378" y="14757"/>
                </a:lnTo>
                <a:lnTo>
                  <a:pt x="21600" y="12800"/>
                </a:lnTo>
                <a:close/>
              </a:path>
            </a:pathLst>
          </a:custGeom>
          <a:solidFill>
            <a:srgbClr val="FFFFFF"/>
          </a:solidFill>
          <a:ln>
            <a:noFill/>
          </a:ln>
        </p:spPr>
        <p:txBody>
          <a:bodyPr rtlCol="0" anchor="ctr"/>
          <a:lstStyle/>
          <a:p>
            <a:pPr algn="ctr"/>
          </a:p>
        </p:txBody>
      </p:sp>
      <p:sp>
        <p:nvSpPr>
          <p:cNvPr id="82" name="TextBox 81"/>
          <p:cNvSpPr txBox="1"/>
          <p:nvPr/>
        </p:nvSpPr>
        <p:spPr>
          <a:xfrm>
            <a:off x="2149602" y="7119474"/>
            <a:ext cx="1120000" cy="320000"/>
          </a:xfrm>
          <a:prstGeom prst="rect">
            <a:avLst/>
          </a:prstGeom>
          <a:noFill/>
        </p:spPr>
        <p:txBody>
          <a:bodyPr wrap="square" lIns="0" rIns="0" tIns="0" bIns="0" anchor="ctr">
            <a:spAutoFit/>
          </a:bodyPr>
          <a:lstStyle/>
          <a:p>
            <a:pPr algn="ctr">
              <a:lnSpc>
                <a:spcPct val="100000"/>
              </a:lnSpc>
              <a:spcAft>
                <a:spcPts val="0"/>
              </a:spcAft>
            </a:pPr>
            <a:r>
              <a:rPr sz="900" b="1" i="0">
                <a:solidFill>
                  <a:srgbClr val="A71989"/>
                </a:solidFill>
                <a:latin typeface="Arial"/>
              </a:rPr>
              <a:t>PREGUNTA</a:t>
            </a:r>
          </a:p>
        </p:txBody>
      </p:sp>
      <p:sp>
        <p:nvSpPr>
          <p:cNvPr id="83" name="TextBox 82"/>
          <p:cNvSpPr txBox="1"/>
          <p:nvPr/>
        </p:nvSpPr>
        <p:spPr>
          <a:xfrm>
            <a:off x="2159602" y="7459474"/>
            <a:ext cx="1100000" cy="460000"/>
          </a:xfrm>
          <a:prstGeom prst="rect">
            <a:avLst/>
          </a:prstGeom>
          <a:noFill/>
        </p:spPr>
        <p:txBody>
          <a:bodyPr wrap="square" lIns="0" rIns="0" tIns="0" bIns="0" anchor="t">
            <a:spAutoFit/>
          </a:bodyPr>
          <a:lstStyle/>
          <a:p>
            <a:pPr algn="ctr">
              <a:lnSpc>
                <a:spcPct val="110000"/>
              </a:lnSpc>
              <a:spcAft>
                <a:spcPts val="0"/>
              </a:spcAft>
            </a:pPr>
            <a:r>
              <a:rPr sz="900" b="0" i="0">
                <a:solidFill>
                  <a:srgbClr val="3D2159"/>
                </a:solidFill>
                <a:latin typeface="Arial"/>
              </a:rPr>
              <a:t>«¿Qué está ocurriendo realmente?»</a:t>
            </a:r>
          </a:p>
        </p:txBody>
      </p:sp>
      <p:sp>
        <p:nvSpPr>
          <p:cNvPr id="84" name="Isosceles Triangle 83"/>
          <p:cNvSpPr/>
          <p:nvPr/>
        </p:nvSpPr>
        <p:spPr>
          <a:xfrm rot="5400000">
            <a:off x="3379602" y="6799474"/>
            <a:ext cx="100000" cy="80000"/>
          </a:xfrm>
          <a:prstGeom prst="triangle">
            <a:avLst/>
          </a:prstGeom>
          <a:solidFill>
            <a:srgbClr val="A9B8D9"/>
          </a:solidFill>
          <a:ln>
            <a:noFill/>
          </a:ln>
        </p:spPr>
        <p:txBody>
          <a:bodyPr rtlCol="0" anchor="ctr"/>
          <a:lstStyle/>
          <a:p>
            <a:pPr algn="ctr"/>
          </a:p>
        </p:txBody>
      </p:sp>
      <p:sp>
        <p:nvSpPr>
          <p:cNvPr id="85" name="Rounded Rectangle 84"/>
          <p:cNvSpPr/>
          <p:nvPr/>
        </p:nvSpPr>
        <p:spPr>
          <a:xfrm>
            <a:off x="3518396" y="6469474"/>
            <a:ext cx="1260000" cy="1500000"/>
          </a:xfrm>
          <a:prstGeom prst="roundRect">
            <a:avLst>
              <a:gd name="adj" fmla="val 9523"/>
            </a:avLst>
          </a:prstGeom>
          <a:solidFill>
            <a:srgbClr val="E8F1FB"/>
          </a:solidFill>
          <a:ln>
            <a:noFill/>
          </a:ln>
        </p:spPr>
        <p:txBody>
          <a:bodyPr rtlCol="0" anchor="ctr"/>
          <a:lstStyle/>
          <a:p>
            <a:pPr algn="ctr"/>
          </a:p>
        </p:txBody>
      </p:sp>
      <p:sp>
        <p:nvSpPr>
          <p:cNvPr id="86" name="Rectangle 85"/>
          <p:cNvSpPr/>
          <p:nvPr/>
        </p:nvSpPr>
        <p:spPr>
          <a:xfrm>
            <a:off x="3518396" y="6469474"/>
            <a:ext cx="1260000" cy="60000"/>
          </a:xfrm>
          <a:prstGeom prst="rect">
            <a:avLst/>
          </a:prstGeom>
          <a:solidFill>
            <a:srgbClr val="3560D6"/>
          </a:solidFill>
          <a:ln>
            <a:noFill/>
          </a:ln>
        </p:spPr>
        <p:txBody>
          <a:bodyPr rtlCol="0" anchor="ctr"/>
          <a:lstStyle/>
          <a:p>
            <a:pPr algn="ctr"/>
          </a:p>
        </p:txBody>
      </p:sp>
      <p:sp>
        <p:nvSpPr>
          <p:cNvPr id="87" name="Oval 86"/>
          <p:cNvSpPr/>
          <p:nvPr/>
        </p:nvSpPr>
        <p:spPr>
          <a:xfrm>
            <a:off x="3938396" y="6639474"/>
            <a:ext cx="420000" cy="420000"/>
          </a:xfrm>
          <a:prstGeom prst="ellipse">
            <a:avLst/>
          </a:prstGeom>
          <a:solidFill>
            <a:srgbClr val="3560D6"/>
          </a:solidFill>
          <a:ln>
            <a:noFill/>
          </a:ln>
        </p:spPr>
        <p:txBody>
          <a:bodyPr rtlCol="0" anchor="ctr"/>
          <a:lstStyle/>
          <a:p>
            <a:pPr algn="ctr"/>
          </a:p>
        </p:txBody>
      </p:sp>
      <p:sp>
        <p:nvSpPr>
          <p:cNvPr id="88" name="icono users-three"/>
          <p:cNvSpPr/>
          <p:nvPr/>
        </p:nvSpPr>
        <p:spPr>
          <a:xfrm>
            <a:off x="4030796" y="6731874"/>
            <a:ext cx="235200" cy="235200"/>
          </a:xfrm>
          <a:custGeom>
            <a:avLst/>
            <a:gdLst/>
            <a:ahLst/>
            <a:cxnLst/>
            <a:rect l="0" t="0" r="r" b="b"/>
            <a:pathLst>
              <a:path w="25600" h="25600">
                <a:moveTo>
                  <a:pt x="24480" y="15040"/>
                </a:moveTo>
                <a:lnTo>
                  <a:pt x="24326" y="15131"/>
                </a:lnTo>
                <a:lnTo>
                  <a:pt x="24155" y="15185"/>
                </a:lnTo>
                <a:lnTo>
                  <a:pt x="23976" y="15200"/>
                </a:lnTo>
                <a:lnTo>
                  <a:pt x="23799" y="15174"/>
                </a:lnTo>
                <a:lnTo>
                  <a:pt x="23632" y="15110"/>
                </a:lnTo>
                <a:lnTo>
                  <a:pt x="23483" y="15010"/>
                </a:lnTo>
                <a:lnTo>
                  <a:pt x="23360" y="14880"/>
                </a:lnTo>
                <a:lnTo>
                  <a:pt x="22832" y="14275"/>
                </a:lnTo>
                <a:lnTo>
                  <a:pt x="22216" y="13759"/>
                </a:lnTo>
                <a:lnTo>
                  <a:pt x="21528" y="13345"/>
                </a:lnTo>
                <a:lnTo>
                  <a:pt x="20783" y="13042"/>
                </a:lnTo>
                <a:lnTo>
                  <a:pt x="20001" y="12859"/>
                </a:lnTo>
                <a:lnTo>
                  <a:pt x="19200" y="12800"/>
                </a:lnTo>
                <a:lnTo>
                  <a:pt x="19045" y="12785"/>
                </a:lnTo>
                <a:lnTo>
                  <a:pt x="18896" y="12740"/>
                </a:lnTo>
                <a:lnTo>
                  <a:pt x="18758" y="12667"/>
                </a:lnTo>
                <a:lnTo>
                  <a:pt x="18637" y="12568"/>
                </a:lnTo>
                <a:lnTo>
                  <a:pt x="18537" y="12448"/>
                </a:lnTo>
                <a:lnTo>
                  <a:pt x="18463" y="12311"/>
                </a:lnTo>
                <a:lnTo>
                  <a:pt x="18428" y="12210"/>
                </a:lnTo>
                <a:lnTo>
                  <a:pt x="18407" y="12106"/>
                </a:lnTo>
                <a:lnTo>
                  <a:pt x="18400" y="12000"/>
                </a:lnTo>
                <a:lnTo>
                  <a:pt x="18407" y="11894"/>
                </a:lnTo>
                <a:lnTo>
                  <a:pt x="18428" y="11790"/>
                </a:lnTo>
                <a:lnTo>
                  <a:pt x="18463" y="11689"/>
                </a:lnTo>
                <a:lnTo>
                  <a:pt x="18537" y="11552"/>
                </a:lnTo>
                <a:lnTo>
                  <a:pt x="18637" y="11432"/>
                </a:lnTo>
                <a:lnTo>
                  <a:pt x="18758" y="11333"/>
                </a:lnTo>
                <a:lnTo>
                  <a:pt x="18896" y="11260"/>
                </a:lnTo>
                <a:lnTo>
                  <a:pt x="19045" y="11215"/>
                </a:lnTo>
                <a:lnTo>
                  <a:pt x="19200" y="11200"/>
                </a:lnTo>
                <a:lnTo>
                  <a:pt x="19706" y="11146"/>
                </a:lnTo>
                <a:lnTo>
                  <a:pt x="20189" y="10987"/>
                </a:lnTo>
                <a:lnTo>
                  <a:pt x="20628" y="10729"/>
                </a:lnTo>
                <a:lnTo>
                  <a:pt x="21002" y="10385"/>
                </a:lnTo>
                <a:lnTo>
                  <a:pt x="21296" y="9969"/>
                </a:lnTo>
                <a:lnTo>
                  <a:pt x="21495" y="9501"/>
                </a:lnTo>
                <a:lnTo>
                  <a:pt x="21591" y="9002"/>
                </a:lnTo>
                <a:lnTo>
                  <a:pt x="21580" y="8493"/>
                </a:lnTo>
                <a:lnTo>
                  <a:pt x="21462" y="7998"/>
                </a:lnTo>
                <a:lnTo>
                  <a:pt x="21242" y="7540"/>
                </a:lnTo>
                <a:lnTo>
                  <a:pt x="20931" y="7137"/>
                </a:lnTo>
                <a:lnTo>
                  <a:pt x="20541" y="6810"/>
                </a:lnTo>
                <a:lnTo>
                  <a:pt x="20092" y="6572"/>
                </a:lnTo>
                <a:lnTo>
                  <a:pt x="19602" y="6434"/>
                </a:lnTo>
                <a:lnTo>
                  <a:pt x="19094" y="6402"/>
                </a:lnTo>
                <a:lnTo>
                  <a:pt x="18591" y="6478"/>
                </a:lnTo>
                <a:lnTo>
                  <a:pt x="18116" y="6659"/>
                </a:lnTo>
                <a:lnTo>
                  <a:pt x="17689" y="6935"/>
                </a:lnTo>
                <a:lnTo>
                  <a:pt x="17330" y="7296"/>
                </a:lnTo>
                <a:lnTo>
                  <a:pt x="17055" y="7724"/>
                </a:lnTo>
                <a:lnTo>
                  <a:pt x="16876" y="8200"/>
                </a:lnTo>
                <a:lnTo>
                  <a:pt x="16817" y="8357"/>
                </a:lnTo>
                <a:lnTo>
                  <a:pt x="16728" y="8498"/>
                </a:lnTo>
                <a:lnTo>
                  <a:pt x="16610" y="8617"/>
                </a:lnTo>
                <a:lnTo>
                  <a:pt x="16471" y="8710"/>
                </a:lnTo>
                <a:lnTo>
                  <a:pt x="16315" y="8771"/>
                </a:lnTo>
                <a:lnTo>
                  <a:pt x="16150" y="8799"/>
                </a:lnTo>
                <a:lnTo>
                  <a:pt x="15983" y="8792"/>
                </a:lnTo>
                <a:lnTo>
                  <a:pt x="15821" y="8750"/>
                </a:lnTo>
                <a:lnTo>
                  <a:pt x="15671" y="8675"/>
                </a:lnTo>
                <a:lnTo>
                  <a:pt x="15540" y="8571"/>
                </a:lnTo>
                <a:lnTo>
                  <a:pt x="15434" y="8442"/>
                </a:lnTo>
                <a:lnTo>
                  <a:pt x="15356" y="8294"/>
                </a:lnTo>
                <a:lnTo>
                  <a:pt x="15312" y="8133"/>
                </a:lnTo>
                <a:lnTo>
                  <a:pt x="15301" y="7966"/>
                </a:lnTo>
                <a:lnTo>
                  <a:pt x="15326" y="7800"/>
                </a:lnTo>
                <a:lnTo>
                  <a:pt x="15635" y="6984"/>
                </a:lnTo>
                <a:lnTo>
                  <a:pt x="16115" y="6254"/>
                </a:lnTo>
                <a:lnTo>
                  <a:pt x="16741" y="5645"/>
                </a:lnTo>
                <a:lnTo>
                  <a:pt x="17484" y="5187"/>
                </a:lnTo>
                <a:lnTo>
                  <a:pt x="18309" y="4901"/>
                </a:lnTo>
                <a:lnTo>
                  <a:pt x="19176" y="4801"/>
                </a:lnTo>
                <a:lnTo>
                  <a:pt x="20045" y="4891"/>
                </a:lnTo>
                <a:lnTo>
                  <a:pt x="20873" y="5168"/>
                </a:lnTo>
                <a:lnTo>
                  <a:pt x="21621" y="5618"/>
                </a:lnTo>
                <a:lnTo>
                  <a:pt x="22254" y="6219"/>
                </a:lnTo>
                <a:lnTo>
                  <a:pt x="22741" y="6944"/>
                </a:lnTo>
                <a:lnTo>
                  <a:pt x="23060" y="7757"/>
                </a:lnTo>
                <a:lnTo>
                  <a:pt x="23195" y="8619"/>
                </a:lnTo>
                <a:lnTo>
                  <a:pt x="23139" y="9491"/>
                </a:lnTo>
                <a:lnTo>
                  <a:pt x="22895" y="10329"/>
                </a:lnTo>
                <a:lnTo>
                  <a:pt x="22476" y="11095"/>
                </a:lnTo>
                <a:lnTo>
                  <a:pt x="21900" y="11751"/>
                </a:lnTo>
                <a:lnTo>
                  <a:pt x="22430" y="12008"/>
                </a:lnTo>
                <a:lnTo>
                  <a:pt x="22936" y="12311"/>
                </a:lnTo>
                <a:lnTo>
                  <a:pt x="23413" y="12656"/>
                </a:lnTo>
                <a:lnTo>
                  <a:pt x="23859" y="13041"/>
                </a:lnTo>
                <a:lnTo>
                  <a:pt x="24270" y="13463"/>
                </a:lnTo>
                <a:lnTo>
                  <a:pt x="24643" y="13919"/>
                </a:lnTo>
                <a:lnTo>
                  <a:pt x="24734" y="14074"/>
                </a:lnTo>
                <a:lnTo>
                  <a:pt x="24788" y="14245"/>
                </a:lnTo>
                <a:lnTo>
                  <a:pt x="24802" y="14424"/>
                </a:lnTo>
                <a:lnTo>
                  <a:pt x="24776" y="14601"/>
                </a:lnTo>
                <a:lnTo>
                  <a:pt x="24711" y="14769"/>
                </a:lnTo>
                <a:lnTo>
                  <a:pt x="24611" y="14917"/>
                </a:lnTo>
                <a:lnTo>
                  <a:pt x="24480" y="15040"/>
                </a:lnTo>
                <a:close/>
                <a:moveTo>
                  <a:pt x="19092" y="21200"/>
                </a:moveTo>
                <a:lnTo>
                  <a:pt x="19168" y="21354"/>
                </a:lnTo>
                <a:lnTo>
                  <a:pt x="19209" y="21521"/>
                </a:lnTo>
                <a:lnTo>
                  <a:pt x="19214" y="21692"/>
                </a:lnTo>
                <a:lnTo>
                  <a:pt x="19183" y="21861"/>
                </a:lnTo>
                <a:lnTo>
                  <a:pt x="19115" y="22019"/>
                </a:lnTo>
                <a:lnTo>
                  <a:pt x="19016" y="22159"/>
                </a:lnTo>
                <a:lnTo>
                  <a:pt x="18889" y="22275"/>
                </a:lnTo>
                <a:lnTo>
                  <a:pt x="18741" y="22361"/>
                </a:lnTo>
                <a:lnTo>
                  <a:pt x="18577" y="22413"/>
                </a:lnTo>
                <a:lnTo>
                  <a:pt x="18406" y="22429"/>
                </a:lnTo>
                <a:lnTo>
                  <a:pt x="18236" y="22408"/>
                </a:lnTo>
                <a:lnTo>
                  <a:pt x="18073" y="22352"/>
                </a:lnTo>
                <a:lnTo>
                  <a:pt x="17927" y="22262"/>
                </a:lnTo>
                <a:lnTo>
                  <a:pt x="17803" y="22143"/>
                </a:lnTo>
                <a:lnTo>
                  <a:pt x="17708" y="22000"/>
                </a:lnTo>
                <a:lnTo>
                  <a:pt x="16916" y="20955"/>
                </a:lnTo>
                <a:lnTo>
                  <a:pt x="15906" y="20119"/>
                </a:lnTo>
                <a:lnTo>
                  <a:pt x="14732" y="19536"/>
                </a:lnTo>
                <a:lnTo>
                  <a:pt x="13456" y="19236"/>
                </a:lnTo>
                <a:lnTo>
                  <a:pt x="12144" y="19236"/>
                </a:lnTo>
                <a:lnTo>
                  <a:pt x="10868" y="19536"/>
                </a:lnTo>
                <a:lnTo>
                  <a:pt x="9694" y="20119"/>
                </a:lnTo>
                <a:lnTo>
                  <a:pt x="8684" y="20955"/>
                </a:lnTo>
                <a:lnTo>
                  <a:pt x="7892" y="22000"/>
                </a:lnTo>
                <a:lnTo>
                  <a:pt x="7797" y="22143"/>
                </a:lnTo>
                <a:lnTo>
                  <a:pt x="7673" y="22262"/>
                </a:lnTo>
                <a:lnTo>
                  <a:pt x="7527" y="22352"/>
                </a:lnTo>
                <a:lnTo>
                  <a:pt x="7364" y="22408"/>
                </a:lnTo>
                <a:lnTo>
                  <a:pt x="7194" y="22429"/>
                </a:lnTo>
                <a:lnTo>
                  <a:pt x="7023" y="22413"/>
                </a:lnTo>
                <a:lnTo>
                  <a:pt x="6859" y="22361"/>
                </a:lnTo>
                <a:lnTo>
                  <a:pt x="6711" y="22275"/>
                </a:lnTo>
                <a:lnTo>
                  <a:pt x="6584" y="22159"/>
                </a:lnTo>
                <a:lnTo>
                  <a:pt x="6485" y="22019"/>
                </a:lnTo>
                <a:lnTo>
                  <a:pt x="6417" y="21861"/>
                </a:lnTo>
                <a:lnTo>
                  <a:pt x="6386" y="21692"/>
                </a:lnTo>
                <a:lnTo>
                  <a:pt x="6391" y="21521"/>
                </a:lnTo>
                <a:lnTo>
                  <a:pt x="6432" y="21354"/>
                </a:lnTo>
                <a:lnTo>
                  <a:pt x="6508" y="21200"/>
                </a:lnTo>
                <a:lnTo>
                  <a:pt x="6927" y="20561"/>
                </a:lnTo>
                <a:lnTo>
                  <a:pt x="7411" y="19970"/>
                </a:lnTo>
                <a:lnTo>
                  <a:pt x="7955" y="19433"/>
                </a:lnTo>
                <a:lnTo>
                  <a:pt x="8553" y="18957"/>
                </a:lnTo>
                <a:lnTo>
                  <a:pt x="9197" y="18547"/>
                </a:lnTo>
                <a:lnTo>
                  <a:pt x="9882" y="18208"/>
                </a:lnTo>
                <a:lnTo>
                  <a:pt x="9132" y="17493"/>
                </a:lnTo>
                <a:lnTo>
                  <a:pt x="8553" y="16633"/>
                </a:lnTo>
                <a:lnTo>
                  <a:pt x="8172" y="15669"/>
                </a:lnTo>
                <a:lnTo>
                  <a:pt x="8006" y="14646"/>
                </a:lnTo>
                <a:lnTo>
                  <a:pt x="8065" y="13611"/>
                </a:lnTo>
                <a:lnTo>
                  <a:pt x="8344" y="12613"/>
                </a:lnTo>
                <a:lnTo>
                  <a:pt x="8831" y="11698"/>
                </a:lnTo>
                <a:lnTo>
                  <a:pt x="9503" y="10909"/>
                </a:lnTo>
                <a:lnTo>
                  <a:pt x="10328" y="10282"/>
                </a:lnTo>
                <a:lnTo>
                  <a:pt x="11269" y="9847"/>
                </a:lnTo>
                <a:lnTo>
                  <a:pt x="12282" y="9625"/>
                </a:lnTo>
                <a:lnTo>
                  <a:pt x="13318" y="9625"/>
                </a:lnTo>
                <a:lnTo>
                  <a:pt x="14331" y="9847"/>
                </a:lnTo>
                <a:lnTo>
                  <a:pt x="15272" y="10282"/>
                </a:lnTo>
                <a:lnTo>
                  <a:pt x="16097" y="10909"/>
                </a:lnTo>
                <a:lnTo>
                  <a:pt x="16769" y="11698"/>
                </a:lnTo>
                <a:lnTo>
                  <a:pt x="17256" y="12613"/>
                </a:lnTo>
                <a:lnTo>
                  <a:pt x="17535" y="13611"/>
                </a:lnTo>
                <a:lnTo>
                  <a:pt x="17594" y="14646"/>
                </a:lnTo>
                <a:lnTo>
                  <a:pt x="17428" y="15669"/>
                </a:lnTo>
                <a:lnTo>
                  <a:pt x="17047" y="16633"/>
                </a:lnTo>
                <a:lnTo>
                  <a:pt x="16468" y="17493"/>
                </a:lnTo>
                <a:lnTo>
                  <a:pt x="15718" y="18208"/>
                </a:lnTo>
                <a:lnTo>
                  <a:pt x="16403" y="18547"/>
                </a:lnTo>
                <a:lnTo>
                  <a:pt x="17047" y="18957"/>
                </a:lnTo>
                <a:lnTo>
                  <a:pt x="17645" y="19433"/>
                </a:lnTo>
                <a:lnTo>
                  <a:pt x="18189" y="19970"/>
                </a:lnTo>
                <a:lnTo>
                  <a:pt x="18673" y="20561"/>
                </a:lnTo>
                <a:lnTo>
                  <a:pt x="19092" y="21200"/>
                </a:lnTo>
                <a:close/>
                <a:moveTo>
                  <a:pt x="12800" y="17600"/>
                </a:moveTo>
                <a:lnTo>
                  <a:pt x="13480" y="17527"/>
                </a:lnTo>
                <a:lnTo>
                  <a:pt x="14129" y="17311"/>
                </a:lnTo>
                <a:lnTo>
                  <a:pt x="14718" y="16962"/>
                </a:lnTo>
                <a:lnTo>
                  <a:pt x="15218" y="16496"/>
                </a:lnTo>
                <a:lnTo>
                  <a:pt x="15609" y="15934"/>
                </a:lnTo>
                <a:lnTo>
                  <a:pt x="15870" y="15302"/>
                </a:lnTo>
                <a:lnTo>
                  <a:pt x="15992" y="14628"/>
                </a:lnTo>
                <a:lnTo>
                  <a:pt x="15967" y="13945"/>
                </a:lnTo>
                <a:lnTo>
                  <a:pt x="15798" y="13282"/>
                </a:lnTo>
                <a:lnTo>
                  <a:pt x="15492" y="12670"/>
                </a:lnTo>
                <a:lnTo>
                  <a:pt x="15063" y="12137"/>
                </a:lnTo>
                <a:lnTo>
                  <a:pt x="14530" y="11708"/>
                </a:lnTo>
                <a:lnTo>
                  <a:pt x="13918" y="11402"/>
                </a:lnTo>
                <a:lnTo>
                  <a:pt x="13255" y="11233"/>
                </a:lnTo>
                <a:lnTo>
                  <a:pt x="12572" y="11208"/>
                </a:lnTo>
                <a:lnTo>
                  <a:pt x="11898" y="11330"/>
                </a:lnTo>
                <a:lnTo>
                  <a:pt x="11266" y="11591"/>
                </a:lnTo>
                <a:lnTo>
                  <a:pt x="10704" y="11982"/>
                </a:lnTo>
                <a:lnTo>
                  <a:pt x="10238" y="12482"/>
                </a:lnTo>
                <a:lnTo>
                  <a:pt x="9889" y="13071"/>
                </a:lnTo>
                <a:lnTo>
                  <a:pt x="9673" y="13720"/>
                </a:lnTo>
                <a:lnTo>
                  <a:pt x="9600" y="14400"/>
                </a:lnTo>
                <a:lnTo>
                  <a:pt x="9680" y="15112"/>
                </a:lnTo>
                <a:lnTo>
                  <a:pt x="9917" y="15788"/>
                </a:lnTo>
                <a:lnTo>
                  <a:pt x="10298" y="16395"/>
                </a:lnTo>
                <a:lnTo>
                  <a:pt x="10805" y="16902"/>
                </a:lnTo>
                <a:lnTo>
                  <a:pt x="11412" y="17283"/>
                </a:lnTo>
                <a:lnTo>
                  <a:pt x="12088" y="17520"/>
                </a:lnTo>
                <a:lnTo>
                  <a:pt x="12800" y="17600"/>
                </a:lnTo>
                <a:close/>
                <a:moveTo>
                  <a:pt x="7200" y="12000"/>
                </a:moveTo>
                <a:lnTo>
                  <a:pt x="7180" y="11822"/>
                </a:lnTo>
                <a:lnTo>
                  <a:pt x="7121" y="11653"/>
                </a:lnTo>
                <a:lnTo>
                  <a:pt x="7025" y="11501"/>
                </a:lnTo>
                <a:lnTo>
                  <a:pt x="6899" y="11375"/>
                </a:lnTo>
                <a:lnTo>
                  <a:pt x="6747" y="11279"/>
                </a:lnTo>
                <a:lnTo>
                  <a:pt x="6578" y="11220"/>
                </a:lnTo>
                <a:lnTo>
                  <a:pt x="6400" y="11200"/>
                </a:lnTo>
                <a:lnTo>
                  <a:pt x="5894" y="11146"/>
                </a:lnTo>
                <a:lnTo>
                  <a:pt x="5411" y="10987"/>
                </a:lnTo>
                <a:lnTo>
                  <a:pt x="4972" y="10729"/>
                </a:lnTo>
                <a:lnTo>
                  <a:pt x="4598" y="10385"/>
                </a:lnTo>
                <a:lnTo>
                  <a:pt x="4304" y="9969"/>
                </a:lnTo>
                <a:lnTo>
                  <a:pt x="4105" y="9501"/>
                </a:lnTo>
                <a:lnTo>
                  <a:pt x="4009" y="9002"/>
                </a:lnTo>
                <a:lnTo>
                  <a:pt x="4020" y="8493"/>
                </a:lnTo>
                <a:lnTo>
                  <a:pt x="4138" y="7998"/>
                </a:lnTo>
                <a:lnTo>
                  <a:pt x="4358" y="7540"/>
                </a:lnTo>
                <a:lnTo>
                  <a:pt x="4669" y="7137"/>
                </a:lnTo>
                <a:lnTo>
                  <a:pt x="5059" y="6810"/>
                </a:lnTo>
                <a:lnTo>
                  <a:pt x="5508" y="6572"/>
                </a:lnTo>
                <a:lnTo>
                  <a:pt x="5998" y="6434"/>
                </a:lnTo>
                <a:lnTo>
                  <a:pt x="6506" y="6402"/>
                </a:lnTo>
                <a:lnTo>
                  <a:pt x="7009" y="6478"/>
                </a:lnTo>
                <a:lnTo>
                  <a:pt x="7484" y="6659"/>
                </a:lnTo>
                <a:lnTo>
                  <a:pt x="7911" y="6935"/>
                </a:lnTo>
                <a:lnTo>
                  <a:pt x="8270" y="7296"/>
                </a:lnTo>
                <a:lnTo>
                  <a:pt x="8545" y="7724"/>
                </a:lnTo>
                <a:lnTo>
                  <a:pt x="8724" y="8200"/>
                </a:lnTo>
                <a:lnTo>
                  <a:pt x="8783" y="8357"/>
                </a:lnTo>
                <a:lnTo>
                  <a:pt x="8872" y="8498"/>
                </a:lnTo>
                <a:lnTo>
                  <a:pt x="8990" y="8617"/>
                </a:lnTo>
                <a:lnTo>
                  <a:pt x="9129" y="8710"/>
                </a:lnTo>
                <a:lnTo>
                  <a:pt x="9285" y="8771"/>
                </a:lnTo>
                <a:lnTo>
                  <a:pt x="9450" y="8799"/>
                </a:lnTo>
                <a:lnTo>
                  <a:pt x="9617" y="8792"/>
                </a:lnTo>
                <a:lnTo>
                  <a:pt x="9779" y="8750"/>
                </a:lnTo>
                <a:lnTo>
                  <a:pt x="9929" y="8675"/>
                </a:lnTo>
                <a:lnTo>
                  <a:pt x="10060" y="8571"/>
                </a:lnTo>
                <a:lnTo>
                  <a:pt x="10166" y="8442"/>
                </a:lnTo>
                <a:lnTo>
                  <a:pt x="10244" y="8294"/>
                </a:lnTo>
                <a:lnTo>
                  <a:pt x="10288" y="8133"/>
                </a:lnTo>
                <a:lnTo>
                  <a:pt x="10299" y="7966"/>
                </a:lnTo>
                <a:lnTo>
                  <a:pt x="10274" y="7800"/>
                </a:lnTo>
                <a:lnTo>
                  <a:pt x="9965" y="6984"/>
                </a:lnTo>
                <a:lnTo>
                  <a:pt x="9485" y="6254"/>
                </a:lnTo>
                <a:lnTo>
                  <a:pt x="8859" y="5645"/>
                </a:lnTo>
                <a:lnTo>
                  <a:pt x="8116" y="5187"/>
                </a:lnTo>
                <a:lnTo>
                  <a:pt x="7291" y="4901"/>
                </a:lnTo>
                <a:lnTo>
                  <a:pt x="6424" y="4801"/>
                </a:lnTo>
                <a:lnTo>
                  <a:pt x="5555" y="4891"/>
                </a:lnTo>
                <a:lnTo>
                  <a:pt x="4727" y="5168"/>
                </a:lnTo>
                <a:lnTo>
                  <a:pt x="3979" y="5618"/>
                </a:lnTo>
                <a:lnTo>
                  <a:pt x="3346" y="6219"/>
                </a:lnTo>
                <a:lnTo>
                  <a:pt x="2859" y="6944"/>
                </a:lnTo>
                <a:lnTo>
                  <a:pt x="2540" y="7757"/>
                </a:lnTo>
                <a:lnTo>
                  <a:pt x="2405" y="8619"/>
                </a:lnTo>
                <a:lnTo>
                  <a:pt x="2461" y="9491"/>
                </a:lnTo>
                <a:lnTo>
                  <a:pt x="2705" y="10329"/>
                </a:lnTo>
                <a:lnTo>
                  <a:pt x="3124" y="11095"/>
                </a:lnTo>
                <a:lnTo>
                  <a:pt x="3700" y="11751"/>
                </a:lnTo>
                <a:lnTo>
                  <a:pt x="3171" y="12009"/>
                </a:lnTo>
                <a:lnTo>
                  <a:pt x="2665" y="12311"/>
                </a:lnTo>
                <a:lnTo>
                  <a:pt x="2188" y="12656"/>
                </a:lnTo>
                <a:lnTo>
                  <a:pt x="1743" y="13041"/>
                </a:lnTo>
                <a:lnTo>
                  <a:pt x="1332" y="13463"/>
                </a:lnTo>
                <a:lnTo>
                  <a:pt x="960" y="13919"/>
                </a:lnTo>
                <a:lnTo>
                  <a:pt x="874" y="14063"/>
                </a:lnTo>
                <a:lnTo>
                  <a:pt x="820" y="14221"/>
                </a:lnTo>
                <a:lnTo>
                  <a:pt x="800" y="14387"/>
                </a:lnTo>
                <a:lnTo>
                  <a:pt x="815" y="14554"/>
                </a:lnTo>
                <a:lnTo>
                  <a:pt x="864" y="14714"/>
                </a:lnTo>
                <a:lnTo>
                  <a:pt x="945" y="14860"/>
                </a:lnTo>
                <a:lnTo>
                  <a:pt x="1055" y="14986"/>
                </a:lnTo>
                <a:lnTo>
                  <a:pt x="1189" y="15086"/>
                </a:lnTo>
                <a:lnTo>
                  <a:pt x="1341" y="15157"/>
                </a:lnTo>
                <a:lnTo>
                  <a:pt x="1504" y="15194"/>
                </a:lnTo>
                <a:lnTo>
                  <a:pt x="1671" y="15197"/>
                </a:lnTo>
                <a:lnTo>
                  <a:pt x="1835" y="15164"/>
                </a:lnTo>
                <a:lnTo>
                  <a:pt x="1989" y="15099"/>
                </a:lnTo>
                <a:lnTo>
                  <a:pt x="2126" y="15003"/>
                </a:lnTo>
                <a:lnTo>
                  <a:pt x="2240" y="14880"/>
                </a:lnTo>
                <a:lnTo>
                  <a:pt x="2768" y="14275"/>
                </a:lnTo>
                <a:lnTo>
                  <a:pt x="3384" y="13759"/>
                </a:lnTo>
                <a:lnTo>
                  <a:pt x="4072" y="13345"/>
                </a:lnTo>
                <a:lnTo>
                  <a:pt x="4817" y="13042"/>
                </a:lnTo>
                <a:lnTo>
                  <a:pt x="5599" y="12859"/>
                </a:lnTo>
                <a:lnTo>
                  <a:pt x="6400" y="12800"/>
                </a:lnTo>
                <a:lnTo>
                  <a:pt x="6578" y="12780"/>
                </a:lnTo>
                <a:lnTo>
                  <a:pt x="6747" y="12721"/>
                </a:lnTo>
                <a:lnTo>
                  <a:pt x="6899" y="12625"/>
                </a:lnTo>
                <a:lnTo>
                  <a:pt x="7025" y="12499"/>
                </a:lnTo>
                <a:lnTo>
                  <a:pt x="7121" y="12347"/>
                </a:lnTo>
                <a:lnTo>
                  <a:pt x="7180" y="12178"/>
                </a:lnTo>
                <a:lnTo>
                  <a:pt x="7200" y="12000"/>
                </a:lnTo>
                <a:close/>
              </a:path>
            </a:pathLst>
          </a:custGeom>
          <a:solidFill>
            <a:srgbClr val="FFFFFF"/>
          </a:solidFill>
          <a:ln>
            <a:noFill/>
          </a:ln>
        </p:spPr>
        <p:txBody>
          <a:bodyPr rtlCol="0" anchor="ctr"/>
          <a:lstStyle/>
          <a:p>
            <a:pPr algn="ctr"/>
          </a:p>
        </p:txBody>
      </p:sp>
      <p:sp>
        <p:nvSpPr>
          <p:cNvPr id="89" name="TextBox 88"/>
          <p:cNvSpPr txBox="1"/>
          <p:nvPr/>
        </p:nvSpPr>
        <p:spPr>
          <a:xfrm>
            <a:off x="3588396" y="7119474"/>
            <a:ext cx="1120000" cy="320000"/>
          </a:xfrm>
          <a:prstGeom prst="rect">
            <a:avLst/>
          </a:prstGeom>
          <a:noFill/>
        </p:spPr>
        <p:txBody>
          <a:bodyPr wrap="square" lIns="0" rIns="0" tIns="0" bIns="0" anchor="ctr">
            <a:spAutoFit/>
          </a:bodyPr>
          <a:lstStyle/>
          <a:p>
            <a:pPr algn="ctr">
              <a:lnSpc>
                <a:spcPct val="100000"/>
              </a:lnSpc>
              <a:spcAft>
                <a:spcPts val="0"/>
              </a:spcAft>
            </a:pPr>
            <a:r>
              <a:rPr sz="900" b="1" i="0">
                <a:solidFill>
                  <a:srgbClr val="3560D6"/>
                </a:solidFill>
                <a:latin typeface="Arial"/>
              </a:rPr>
              <a:t>CONTACTO CON LAS PERSONAS</a:t>
            </a:r>
          </a:p>
        </p:txBody>
      </p:sp>
      <p:sp>
        <p:nvSpPr>
          <p:cNvPr id="90" name="TextBox 89"/>
          <p:cNvSpPr txBox="1"/>
          <p:nvPr/>
        </p:nvSpPr>
        <p:spPr>
          <a:xfrm>
            <a:off x="3598396" y="7459474"/>
            <a:ext cx="1100000" cy="460000"/>
          </a:xfrm>
          <a:prstGeom prst="rect">
            <a:avLst/>
          </a:prstGeom>
          <a:noFill/>
        </p:spPr>
        <p:txBody>
          <a:bodyPr wrap="square" lIns="0" rIns="0" tIns="0" bIns="0" anchor="t">
            <a:spAutoFit/>
          </a:bodyPr>
          <a:lstStyle/>
          <a:p>
            <a:pPr algn="ctr">
              <a:lnSpc>
                <a:spcPct val="110000"/>
              </a:lnSpc>
              <a:spcAft>
                <a:spcPts val="0"/>
              </a:spcAft>
            </a:pPr>
            <a:r>
              <a:rPr sz="900" b="0" i="0">
                <a:solidFill>
                  <a:srgbClr val="3D2159"/>
                </a:solidFill>
                <a:latin typeface="Arial"/>
              </a:rPr>
              <a:t>Observamos, escuchamos y exploramos el contexto.</a:t>
            </a:r>
          </a:p>
        </p:txBody>
      </p:sp>
      <p:sp>
        <p:nvSpPr>
          <p:cNvPr id="91" name="Isosceles Triangle 90"/>
          <p:cNvSpPr/>
          <p:nvPr/>
        </p:nvSpPr>
        <p:spPr>
          <a:xfrm rot="5400000">
            <a:off x="4818396" y="6799474"/>
            <a:ext cx="100000" cy="80000"/>
          </a:xfrm>
          <a:prstGeom prst="triangle">
            <a:avLst/>
          </a:prstGeom>
          <a:solidFill>
            <a:srgbClr val="A9B8D9"/>
          </a:solidFill>
          <a:ln>
            <a:noFill/>
          </a:ln>
        </p:spPr>
        <p:txBody>
          <a:bodyPr rtlCol="0" anchor="ctr"/>
          <a:lstStyle/>
          <a:p>
            <a:pPr algn="ctr"/>
          </a:p>
        </p:txBody>
      </p:sp>
      <p:sp>
        <p:nvSpPr>
          <p:cNvPr id="92" name="Rounded Rectangle 91"/>
          <p:cNvSpPr/>
          <p:nvPr/>
        </p:nvSpPr>
        <p:spPr>
          <a:xfrm>
            <a:off x="4957190" y="6469474"/>
            <a:ext cx="1260000" cy="1500000"/>
          </a:xfrm>
          <a:prstGeom prst="roundRect">
            <a:avLst>
              <a:gd name="adj" fmla="val 9523"/>
            </a:avLst>
          </a:prstGeom>
          <a:solidFill>
            <a:srgbClr val="E8F1FB"/>
          </a:solidFill>
          <a:ln>
            <a:noFill/>
          </a:ln>
        </p:spPr>
        <p:txBody>
          <a:bodyPr rtlCol="0" anchor="ctr"/>
          <a:lstStyle/>
          <a:p>
            <a:pPr algn="ctr"/>
          </a:p>
        </p:txBody>
      </p:sp>
      <p:sp>
        <p:nvSpPr>
          <p:cNvPr id="93" name="Rectangle 92"/>
          <p:cNvSpPr/>
          <p:nvPr/>
        </p:nvSpPr>
        <p:spPr>
          <a:xfrm>
            <a:off x="4957190" y="6469474"/>
            <a:ext cx="1260000" cy="60000"/>
          </a:xfrm>
          <a:prstGeom prst="rect">
            <a:avLst/>
          </a:prstGeom>
          <a:solidFill>
            <a:srgbClr val="024791"/>
          </a:solidFill>
          <a:ln>
            <a:noFill/>
          </a:ln>
        </p:spPr>
        <p:txBody>
          <a:bodyPr rtlCol="0" anchor="ctr"/>
          <a:lstStyle/>
          <a:p>
            <a:pPr algn="ctr"/>
          </a:p>
        </p:txBody>
      </p:sp>
      <p:sp>
        <p:nvSpPr>
          <p:cNvPr id="94" name="Oval 93"/>
          <p:cNvSpPr/>
          <p:nvPr/>
        </p:nvSpPr>
        <p:spPr>
          <a:xfrm>
            <a:off x="5377190" y="6639474"/>
            <a:ext cx="420000" cy="420000"/>
          </a:xfrm>
          <a:prstGeom prst="ellipse">
            <a:avLst/>
          </a:prstGeom>
          <a:solidFill>
            <a:srgbClr val="024791"/>
          </a:solidFill>
          <a:ln>
            <a:noFill/>
          </a:ln>
        </p:spPr>
        <p:txBody>
          <a:bodyPr rtlCol="0" anchor="ctr"/>
          <a:lstStyle/>
          <a:p>
            <a:pPr algn="ctr"/>
          </a:p>
        </p:txBody>
      </p:sp>
      <p:sp>
        <p:nvSpPr>
          <p:cNvPr id="95" name="icono magnifying-glass"/>
          <p:cNvSpPr/>
          <p:nvPr/>
        </p:nvSpPr>
        <p:spPr>
          <a:xfrm>
            <a:off x="5469590" y="6731874"/>
            <a:ext cx="235200" cy="235200"/>
          </a:xfrm>
          <a:custGeom>
            <a:avLst/>
            <a:gdLst/>
            <a:ahLst/>
            <a:cxnLst/>
            <a:rect l="0" t="0" r="r" b="b"/>
            <a:pathLst>
              <a:path w="25600" h="25600">
                <a:moveTo>
                  <a:pt x="22966" y="21834"/>
                </a:moveTo>
                <a:lnTo>
                  <a:pt x="17959" y="16828"/>
                </a:lnTo>
                <a:lnTo>
                  <a:pt x="18987" y="15290"/>
                </a:lnTo>
                <a:lnTo>
                  <a:pt x="19672" y="13571"/>
                </a:lnTo>
                <a:lnTo>
                  <a:pt x="19982" y="11747"/>
                </a:lnTo>
                <a:lnTo>
                  <a:pt x="19905" y="9898"/>
                </a:lnTo>
                <a:lnTo>
                  <a:pt x="19443" y="8106"/>
                </a:lnTo>
                <a:lnTo>
                  <a:pt x="18617" y="6450"/>
                </a:lnTo>
                <a:lnTo>
                  <a:pt x="17464" y="5003"/>
                </a:lnTo>
                <a:lnTo>
                  <a:pt x="16033" y="3829"/>
                </a:lnTo>
                <a:lnTo>
                  <a:pt x="14390" y="2980"/>
                </a:lnTo>
                <a:lnTo>
                  <a:pt x="12605" y="2492"/>
                </a:lnTo>
                <a:lnTo>
                  <a:pt x="10757" y="2388"/>
                </a:lnTo>
                <a:lnTo>
                  <a:pt x="8929" y="2673"/>
                </a:lnTo>
                <a:lnTo>
                  <a:pt x="7200" y="3333"/>
                </a:lnTo>
                <a:lnTo>
                  <a:pt x="5647" y="4339"/>
                </a:lnTo>
                <a:lnTo>
                  <a:pt x="4339" y="5647"/>
                </a:lnTo>
                <a:lnTo>
                  <a:pt x="3333" y="7200"/>
                </a:lnTo>
                <a:lnTo>
                  <a:pt x="2673" y="8929"/>
                </a:lnTo>
                <a:lnTo>
                  <a:pt x="2388" y="10757"/>
                </a:lnTo>
                <a:lnTo>
                  <a:pt x="2492" y="12605"/>
                </a:lnTo>
                <a:lnTo>
                  <a:pt x="2980" y="14390"/>
                </a:lnTo>
                <a:lnTo>
                  <a:pt x="3829" y="16033"/>
                </a:lnTo>
                <a:lnTo>
                  <a:pt x="5003" y="17464"/>
                </a:lnTo>
                <a:lnTo>
                  <a:pt x="6450" y="18617"/>
                </a:lnTo>
                <a:lnTo>
                  <a:pt x="8106" y="19443"/>
                </a:lnTo>
                <a:lnTo>
                  <a:pt x="9898" y="19905"/>
                </a:lnTo>
                <a:lnTo>
                  <a:pt x="11747" y="19982"/>
                </a:lnTo>
                <a:lnTo>
                  <a:pt x="13571" y="19672"/>
                </a:lnTo>
                <a:lnTo>
                  <a:pt x="15290" y="18987"/>
                </a:lnTo>
                <a:lnTo>
                  <a:pt x="16828" y="17959"/>
                </a:lnTo>
                <a:lnTo>
                  <a:pt x="21834" y="22966"/>
                </a:lnTo>
                <a:lnTo>
                  <a:pt x="21964" y="23071"/>
                </a:lnTo>
                <a:lnTo>
                  <a:pt x="22113" y="23147"/>
                </a:lnTo>
                <a:lnTo>
                  <a:pt x="22275" y="23191"/>
                </a:lnTo>
                <a:lnTo>
                  <a:pt x="22442" y="23199"/>
                </a:lnTo>
                <a:lnTo>
                  <a:pt x="22607" y="23173"/>
                </a:lnTo>
                <a:lnTo>
                  <a:pt x="22763" y="23113"/>
                </a:lnTo>
                <a:lnTo>
                  <a:pt x="22904" y="23022"/>
                </a:lnTo>
                <a:lnTo>
                  <a:pt x="23022" y="22904"/>
                </a:lnTo>
                <a:lnTo>
                  <a:pt x="23113" y="22763"/>
                </a:lnTo>
                <a:lnTo>
                  <a:pt x="23173" y="22607"/>
                </a:lnTo>
                <a:lnTo>
                  <a:pt x="23199" y="22442"/>
                </a:lnTo>
                <a:lnTo>
                  <a:pt x="23191" y="22275"/>
                </a:lnTo>
                <a:lnTo>
                  <a:pt x="23147" y="22113"/>
                </a:lnTo>
                <a:lnTo>
                  <a:pt x="23071" y="21964"/>
                </a:lnTo>
                <a:lnTo>
                  <a:pt x="22966" y="21834"/>
                </a:lnTo>
                <a:close/>
                <a:moveTo>
                  <a:pt x="4000" y="11200"/>
                </a:moveTo>
                <a:lnTo>
                  <a:pt x="4165" y="9670"/>
                </a:lnTo>
                <a:lnTo>
                  <a:pt x="4651" y="8209"/>
                </a:lnTo>
                <a:lnTo>
                  <a:pt x="5436" y="6885"/>
                </a:lnTo>
                <a:lnTo>
                  <a:pt x="6485" y="5759"/>
                </a:lnTo>
                <a:lnTo>
                  <a:pt x="7749" y="4881"/>
                </a:lnTo>
                <a:lnTo>
                  <a:pt x="9172" y="4292"/>
                </a:lnTo>
                <a:lnTo>
                  <a:pt x="10686" y="4018"/>
                </a:lnTo>
                <a:lnTo>
                  <a:pt x="12225" y="4073"/>
                </a:lnTo>
                <a:lnTo>
                  <a:pt x="13716" y="4454"/>
                </a:lnTo>
                <a:lnTo>
                  <a:pt x="15093" y="5143"/>
                </a:lnTo>
                <a:lnTo>
                  <a:pt x="16291" y="6109"/>
                </a:lnTo>
                <a:lnTo>
                  <a:pt x="17257" y="7307"/>
                </a:lnTo>
                <a:lnTo>
                  <a:pt x="17946" y="8684"/>
                </a:lnTo>
                <a:lnTo>
                  <a:pt x="18327" y="10175"/>
                </a:lnTo>
                <a:lnTo>
                  <a:pt x="18382" y="11714"/>
                </a:lnTo>
                <a:lnTo>
                  <a:pt x="18108" y="13228"/>
                </a:lnTo>
                <a:lnTo>
                  <a:pt x="17519" y="14651"/>
                </a:lnTo>
                <a:lnTo>
                  <a:pt x="16641" y="15915"/>
                </a:lnTo>
                <a:lnTo>
                  <a:pt x="15515" y="16964"/>
                </a:lnTo>
                <a:lnTo>
                  <a:pt x="14191" y="17749"/>
                </a:lnTo>
                <a:lnTo>
                  <a:pt x="12730" y="18235"/>
                </a:lnTo>
                <a:lnTo>
                  <a:pt x="11200" y="18400"/>
                </a:lnTo>
                <a:lnTo>
                  <a:pt x="9598" y="18218"/>
                </a:lnTo>
                <a:lnTo>
                  <a:pt x="8077" y="17685"/>
                </a:lnTo>
                <a:lnTo>
                  <a:pt x="6713" y="16827"/>
                </a:lnTo>
                <a:lnTo>
                  <a:pt x="5573" y="15687"/>
                </a:lnTo>
                <a:lnTo>
                  <a:pt x="4715" y="14323"/>
                </a:lnTo>
                <a:lnTo>
                  <a:pt x="4182" y="12802"/>
                </a:lnTo>
                <a:lnTo>
                  <a:pt x="4000" y="11200"/>
                </a:lnTo>
                <a:close/>
              </a:path>
            </a:pathLst>
          </a:custGeom>
          <a:solidFill>
            <a:srgbClr val="FFFFFF"/>
          </a:solidFill>
          <a:ln>
            <a:noFill/>
          </a:ln>
        </p:spPr>
        <p:txBody>
          <a:bodyPr rtlCol="0" anchor="ctr"/>
          <a:lstStyle/>
          <a:p>
            <a:pPr algn="ctr"/>
          </a:p>
        </p:txBody>
      </p:sp>
      <p:sp>
        <p:nvSpPr>
          <p:cNvPr id="96" name="TextBox 95"/>
          <p:cNvSpPr txBox="1"/>
          <p:nvPr/>
        </p:nvSpPr>
        <p:spPr>
          <a:xfrm>
            <a:off x="5027190" y="7119474"/>
            <a:ext cx="1120000" cy="320000"/>
          </a:xfrm>
          <a:prstGeom prst="rect">
            <a:avLst/>
          </a:prstGeom>
          <a:noFill/>
        </p:spPr>
        <p:txBody>
          <a:bodyPr wrap="square" lIns="0" rIns="0" tIns="0" bIns="0" anchor="ctr">
            <a:spAutoFit/>
          </a:bodyPr>
          <a:lstStyle/>
          <a:p>
            <a:pPr algn="ctr">
              <a:lnSpc>
                <a:spcPct val="100000"/>
              </a:lnSpc>
              <a:spcAft>
                <a:spcPts val="0"/>
              </a:spcAft>
            </a:pPr>
            <a:r>
              <a:rPr sz="900" b="1" i="0">
                <a:solidFill>
                  <a:srgbClr val="024791"/>
                </a:solidFill>
                <a:latin typeface="Arial"/>
              </a:rPr>
              <a:t>HALLAZGOS</a:t>
            </a:r>
          </a:p>
        </p:txBody>
      </p:sp>
      <p:sp>
        <p:nvSpPr>
          <p:cNvPr id="97" name="TextBox 96"/>
          <p:cNvSpPr txBox="1"/>
          <p:nvPr/>
        </p:nvSpPr>
        <p:spPr>
          <a:xfrm>
            <a:off x="5037190" y="7459474"/>
            <a:ext cx="1100000" cy="460000"/>
          </a:xfrm>
          <a:prstGeom prst="rect">
            <a:avLst/>
          </a:prstGeom>
          <a:noFill/>
        </p:spPr>
        <p:txBody>
          <a:bodyPr wrap="square" lIns="0" rIns="0" tIns="0" bIns="0" anchor="t">
            <a:spAutoFit/>
          </a:bodyPr>
          <a:lstStyle/>
          <a:p>
            <a:pPr algn="ctr">
              <a:lnSpc>
                <a:spcPct val="110000"/>
              </a:lnSpc>
              <a:spcAft>
                <a:spcPts val="0"/>
              </a:spcAft>
            </a:pPr>
            <a:r>
              <a:rPr sz="900" b="0" i="0">
                <a:solidFill>
                  <a:srgbClr val="3D2159"/>
                </a:solidFill>
                <a:latin typeface="Arial"/>
              </a:rPr>
              <a:t>Construimos una comprensión más sustentada.</a:t>
            </a:r>
          </a:p>
        </p:txBody>
      </p:sp>
      <p:sp>
        <p:nvSpPr>
          <p:cNvPr id="98" name="TextBox 97"/>
          <p:cNvSpPr txBox="1"/>
          <p:nvPr/>
        </p:nvSpPr>
        <p:spPr>
          <a:xfrm>
            <a:off x="640808" y="8089474"/>
            <a:ext cx="5576383" cy="150000"/>
          </a:xfrm>
          <a:prstGeom prst="rect">
            <a:avLst/>
          </a:prstGeom>
          <a:noFill/>
        </p:spPr>
        <p:txBody>
          <a:bodyPr wrap="square" lIns="0" rIns="0" tIns="0" bIns="0" anchor="t">
            <a:spAutoFit/>
          </a:bodyPr>
          <a:lstStyle/>
          <a:p>
            <a:pPr algn="l">
              <a:lnSpc>
                <a:spcPct val="100000"/>
              </a:lnSpc>
              <a:spcAft>
                <a:spcPts val="0"/>
              </a:spcAft>
            </a:pPr>
            <a:r>
              <a:rPr sz="950" b="0" i="1">
                <a:solidFill>
                  <a:srgbClr val="7B7480"/>
                </a:solidFill>
                <a:latin typeface="Arial"/>
              </a:rPr>
              <a:t>Fuente: elaboración propia.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808" y="723900"/>
            <a:ext cx="4265517" cy="171450"/>
          </a:xfrm>
          <a:prstGeom prst="rect">
            <a:avLst/>
          </a:prstGeom>
          <a:noFill/>
        </p:spPr>
        <p:txBody>
          <a:bodyPr wrap="square" lIns="0" rIns="0" tIns="0" bIns="0" anchor="t">
            <a:spAutoFit/>
          </a:bodyPr>
          <a:lstStyle/>
          <a:p>
            <a:pPr algn="l">
              <a:lnSpc>
                <a:spcPct val="100000"/>
              </a:lnSpc>
              <a:spcAft>
                <a:spcPts val="0"/>
              </a:spcAft>
            </a:pPr>
            <a:r>
              <a:rPr sz="825" b="1" i="0">
                <a:solidFill>
                  <a:srgbClr val="664092"/>
                </a:solidFill>
                <a:latin typeface="Arial"/>
              </a:rPr>
              <a:t>Artículo educativo · Pensamiento de diseño</a:t>
            </a:r>
          </a:p>
        </p:txBody>
      </p:sp>
      <p:sp>
        <p:nvSpPr>
          <p:cNvPr id="3" name="TextBox 2"/>
          <p:cNvSpPr txBox="1"/>
          <p:nvPr/>
        </p:nvSpPr>
        <p:spPr>
          <a:xfrm>
            <a:off x="640808" y="1104900"/>
            <a:ext cx="5576383" cy="209550"/>
          </a:xfrm>
          <a:prstGeom prst="rect">
            <a:avLst/>
          </a:prstGeom>
          <a:noFill/>
        </p:spPr>
        <p:txBody>
          <a:bodyPr wrap="square" lIns="0" rIns="0" tIns="0" bIns="0" anchor="t">
            <a:spAutoFit/>
          </a:bodyPr>
          <a:lstStyle/>
          <a:p>
            <a:pPr algn="l">
              <a:lnSpc>
                <a:spcPct val="100000"/>
              </a:lnSpc>
              <a:spcAft>
                <a:spcPts val="0"/>
              </a:spcAft>
            </a:pPr>
            <a:r>
              <a:rPr sz="975" b="1" i="0">
                <a:solidFill>
                  <a:srgbClr val="3560D6"/>
                </a:solidFill>
                <a:latin typeface="Arial"/>
              </a:rPr>
              <a:t>01 · Cuestionar</a:t>
            </a:r>
          </a:p>
        </p:txBody>
      </p:sp>
      <p:sp>
        <p:nvSpPr>
          <p:cNvPr id="4" name="TextBox 3"/>
          <p:cNvSpPr txBox="1"/>
          <p:nvPr/>
        </p:nvSpPr>
        <p:spPr>
          <a:xfrm>
            <a:off x="640808" y="1428750"/>
            <a:ext cx="5576383" cy="690943"/>
          </a:xfrm>
          <a:prstGeom prst="rect">
            <a:avLst/>
          </a:prstGeom>
          <a:noFill/>
        </p:spPr>
        <p:txBody>
          <a:bodyPr wrap="square" lIns="0" rIns="0" tIns="0" bIns="0" anchor="t">
            <a:spAutoFit/>
          </a:bodyPr>
          <a:lstStyle/>
          <a:p>
            <a:pPr algn="l">
              <a:lnSpc>
                <a:spcPct val="100000"/>
              </a:lnSpc>
              <a:spcAft>
                <a:spcPts val="0"/>
              </a:spcAft>
            </a:pPr>
            <a:r>
              <a:rPr sz="2325" b="1" i="0">
                <a:solidFill>
                  <a:srgbClr val="664092"/>
                </a:solidFill>
                <a:latin typeface="Arial"/>
              </a:rPr>
              <a:t>Comprender puede transformar el problema</a:t>
            </a:r>
          </a:p>
        </p:txBody>
      </p:sp>
      <p:cxnSp>
        <p:nvCxnSpPr>
          <p:cNvPr id="67" name="Google Shape;67;p12"/>
          <p:cNvCxnSpPr/>
          <p:nvPr/>
        </p:nvCxnSpPr>
        <p:spPr>
          <a:xfrm>
            <a:off x="748514" y="2349693"/>
            <a:ext cx="998913" cy="0"/>
          </a:xfrm>
          <a:prstGeom prst="straightConnector1">
            <a:avLst/>
          </a:prstGeom>
          <a:noFill/>
          <a:ln cap="flat" cmpd="sng" w="53975">
            <a:solidFill>
              <a:srgbClr val="73CDEB"/>
            </a:solidFill>
            <a:prstDash val="solid"/>
            <a:round/>
            <a:headEnd len="med" w="med" type="oval"/>
            <a:tailEnd len="med" w="med" type="oval"/>
          </a:ln>
        </p:spPr>
      </p:cxnSp>
      <p:sp>
        <p:nvSpPr>
          <p:cNvPr id="68" name="TextBox 67"/>
          <p:cNvSpPr txBox="1"/>
          <p:nvPr/>
        </p:nvSpPr>
        <p:spPr>
          <a:xfrm>
            <a:off x="642308" y="2599693"/>
            <a:ext cx="5576383" cy="2574836"/>
          </a:xfrm>
          <a:prstGeom prst="rect">
            <a:avLst/>
          </a:prstGeom>
          <a:noFill/>
        </p:spPr>
        <p:txBody>
          <a:bodyPr wrap="square" lIns="0" rIns="0" tIns="0" bIns="0" anchor="t">
            <a:spAutoFit/>
          </a:bodyPr>
          <a:lstStyle/>
          <a:p>
            <a:pPr algn="l">
              <a:lnSpc>
                <a:spcPct val="130000"/>
              </a:lnSpc>
              <a:spcAft>
                <a:spcPts val="1181"/>
              </a:spcAft>
            </a:pPr>
            <a:r>
              <a:rPr sz="1100" b="0" i="0">
                <a:solidFill>
                  <a:srgbClr val="56505B"/>
                </a:solidFill>
                <a:latin typeface="Arial"/>
              </a:rPr>
              <a:t>Comprender mejor a las personas no siempre confirma el problema que habíamos formulado inicialmente. Los hallazgos pueden mostrarnos que aquello que parecía una dificultad técnica está relacionado, en realidad, con una barrera de información, confianza, tiempo, accesibilidad o comprensión.</a:t>
            </a:r>
          </a:p>
          <a:p>
            <a:pPr algn="l">
              <a:lnSpc>
                <a:spcPct val="130000"/>
              </a:lnSpc>
              <a:spcAft>
                <a:spcPts val="1181"/>
              </a:spcAft>
            </a:pPr>
            <a:r>
              <a:rPr sz="1100" b="0" i="0">
                <a:solidFill>
                  <a:srgbClr val="56505B"/>
                </a:solidFill>
                <a:latin typeface="Arial"/>
              </a:rPr>
              <a:t>Por eso, definir no significa regresar automáticamente al planteamiento inicial. Necesitamos sintetizar la información, reconocer patrones, priorizar necesidades y formular un reto que conserve la perspectiva de quien experimenta la situación.</a:t>
            </a:r>
          </a:p>
          <a:p>
            <a:pPr algn="l">
              <a:lnSpc>
                <a:spcPct val="130000"/>
              </a:lnSpc>
              <a:spcAft>
                <a:spcPts val="1181"/>
              </a:spcAft>
            </a:pPr>
            <a:r>
              <a:rPr sz="1100" b="0" i="0">
                <a:solidFill>
                  <a:srgbClr val="56505B"/>
                </a:solidFill>
                <a:latin typeface="Arial"/>
              </a:rPr>
              <a:t>La manera en que formulamos el problema condiciona las soluciones que podremos imaginar posteriormente. Un reto demasiado estrecho limita las posibilidades; uno excesivamente amplio dificulta orientar la generación de alternativas.</a:t>
            </a:r>
          </a:p>
        </p:txBody>
      </p:sp>
      <p:sp>
        <p:nvSpPr>
          <p:cNvPr id="69" name="TextBox 68"/>
          <p:cNvSpPr txBox="1"/>
          <p:nvPr/>
        </p:nvSpPr>
        <p:spPr>
          <a:xfrm>
            <a:off x="640808" y="5214529"/>
            <a:ext cx="5576383" cy="150000"/>
          </a:xfrm>
          <a:prstGeom prst="rect">
            <a:avLst/>
          </a:prstGeom>
          <a:noFill/>
        </p:spPr>
        <p:txBody>
          <a:bodyPr wrap="square" lIns="0" rIns="0" tIns="0" bIns="0" anchor="t">
            <a:spAutoFit/>
          </a:bodyPr>
          <a:lstStyle/>
          <a:p>
            <a:pPr algn="l">
              <a:lnSpc>
                <a:spcPct val="100000"/>
              </a:lnSpc>
              <a:spcAft>
                <a:spcPts val="0"/>
              </a:spcAft>
            </a:pPr>
            <a:r>
              <a:rPr sz="950" b="1" i="0">
                <a:solidFill>
                  <a:srgbClr val="3560D6"/>
                </a:solidFill>
                <a:latin typeface="Arial"/>
              </a:rPr>
              <a:t>FIGURA 2</a:t>
            </a:r>
          </a:p>
        </p:txBody>
      </p:sp>
      <p:sp>
        <p:nvSpPr>
          <p:cNvPr id="70" name="TextBox 69"/>
          <p:cNvSpPr txBox="1"/>
          <p:nvPr/>
        </p:nvSpPr>
        <p:spPr>
          <a:xfrm>
            <a:off x="640808" y="5452529"/>
            <a:ext cx="5576383" cy="212483"/>
          </a:xfrm>
          <a:prstGeom prst="rect">
            <a:avLst/>
          </a:prstGeom>
          <a:noFill/>
        </p:spPr>
        <p:txBody>
          <a:bodyPr wrap="square" lIns="0" rIns="0" tIns="0" bIns="0" anchor="t">
            <a:spAutoFit/>
          </a:bodyPr>
          <a:lstStyle/>
          <a:p>
            <a:pPr algn="l">
              <a:lnSpc>
                <a:spcPct val="110000"/>
              </a:lnSpc>
              <a:spcAft>
                <a:spcPts val="0"/>
              </a:spcAft>
            </a:pPr>
            <a:r>
              <a:rPr sz="1300" b="1" i="0">
                <a:solidFill>
                  <a:srgbClr val="664092"/>
                </a:solidFill>
                <a:latin typeface="Arial"/>
              </a:rPr>
              <a:t>Problema inicial ≠ problema comprendido</a:t>
            </a:r>
          </a:p>
        </p:txBody>
      </p:sp>
      <p:sp>
        <p:nvSpPr>
          <p:cNvPr id="71" name="Rounded Rectangle 70"/>
          <p:cNvSpPr/>
          <p:nvPr/>
        </p:nvSpPr>
        <p:spPr>
          <a:xfrm>
            <a:off x="640808" y="5815012"/>
            <a:ext cx="2290000" cy="1320000"/>
          </a:xfrm>
          <a:prstGeom prst="roundRect">
            <a:avLst>
              <a:gd name="adj" fmla="val 9090"/>
            </a:avLst>
          </a:prstGeom>
          <a:solidFill>
            <a:srgbClr val="F6EBF3"/>
          </a:solidFill>
          <a:ln>
            <a:noFill/>
          </a:ln>
        </p:spPr>
        <p:txBody>
          <a:bodyPr rtlCol="0" anchor="ctr"/>
          <a:lstStyle/>
          <a:p>
            <a:pPr algn="ctr"/>
          </a:p>
        </p:txBody>
      </p:sp>
      <p:sp>
        <p:nvSpPr>
          <p:cNvPr id="72" name="Rounded Rectangle 71"/>
          <p:cNvSpPr/>
          <p:nvPr/>
        </p:nvSpPr>
        <p:spPr>
          <a:xfrm>
            <a:off x="640808" y="5815012"/>
            <a:ext cx="2290000" cy="560000"/>
          </a:xfrm>
          <a:prstGeom prst="roundRect">
            <a:avLst>
              <a:gd name="adj" fmla="val 21428"/>
            </a:avLst>
          </a:prstGeom>
          <a:solidFill>
            <a:srgbClr val="A71989"/>
          </a:solidFill>
          <a:ln>
            <a:noFill/>
          </a:ln>
        </p:spPr>
        <p:txBody>
          <a:bodyPr rtlCol="0" anchor="ctr"/>
          <a:lstStyle/>
          <a:p>
            <a:pPr algn="ctr"/>
          </a:p>
        </p:txBody>
      </p:sp>
      <p:sp>
        <p:nvSpPr>
          <p:cNvPr id="73" name="Rectangle 72"/>
          <p:cNvSpPr/>
          <p:nvPr/>
        </p:nvSpPr>
        <p:spPr>
          <a:xfrm>
            <a:off x="640808" y="6115012"/>
            <a:ext cx="2290000" cy="260000"/>
          </a:xfrm>
          <a:prstGeom prst="rect">
            <a:avLst/>
          </a:prstGeom>
          <a:solidFill>
            <a:srgbClr val="A71989"/>
          </a:solidFill>
          <a:ln>
            <a:noFill/>
          </a:ln>
        </p:spPr>
        <p:txBody>
          <a:bodyPr rtlCol="0" anchor="ctr"/>
          <a:lstStyle/>
          <a:p>
            <a:pPr algn="ctr"/>
          </a:p>
        </p:txBody>
      </p:sp>
      <p:sp>
        <p:nvSpPr>
          <p:cNvPr id="74" name="Oval 73"/>
          <p:cNvSpPr/>
          <p:nvPr/>
        </p:nvSpPr>
        <p:spPr>
          <a:xfrm>
            <a:off x="790808" y="5915012"/>
            <a:ext cx="360000" cy="360000"/>
          </a:xfrm>
          <a:prstGeom prst="ellipse">
            <a:avLst/>
          </a:prstGeom>
          <a:solidFill>
            <a:srgbClr val="FFFFFF"/>
          </a:solidFill>
          <a:ln>
            <a:noFill/>
          </a:ln>
        </p:spPr>
        <p:txBody>
          <a:bodyPr rtlCol="0" anchor="ctr"/>
          <a:lstStyle/>
          <a:p>
            <a:pPr algn="ctr"/>
          </a:p>
        </p:txBody>
      </p:sp>
      <p:sp>
        <p:nvSpPr>
          <p:cNvPr id="75" name="icono target"/>
          <p:cNvSpPr/>
          <p:nvPr/>
        </p:nvSpPr>
        <p:spPr>
          <a:xfrm>
            <a:off x="870008" y="5994212"/>
            <a:ext cx="201600" cy="201600"/>
          </a:xfrm>
          <a:custGeom>
            <a:avLst/>
            <a:gdLst/>
            <a:ahLst/>
            <a:cxnLst/>
            <a:rect l="0" t="0" r="r" b="b"/>
            <a:pathLst>
              <a:path w="25600" h="25600">
                <a:moveTo>
                  <a:pt x="22187" y="8316"/>
                </a:moveTo>
                <a:lnTo>
                  <a:pt x="22916" y="10368"/>
                </a:lnTo>
                <a:lnTo>
                  <a:pt x="23202" y="12526"/>
                </a:lnTo>
                <a:lnTo>
                  <a:pt x="23032" y="14696"/>
                </a:lnTo>
                <a:lnTo>
                  <a:pt x="22415" y="16784"/>
                </a:lnTo>
                <a:lnTo>
                  <a:pt x="21378" y="18698"/>
                </a:lnTo>
                <a:lnTo>
                  <a:pt x="19964" y="20354"/>
                </a:lnTo>
                <a:lnTo>
                  <a:pt x="18238" y="21680"/>
                </a:lnTo>
                <a:lnTo>
                  <a:pt x="16273" y="22618"/>
                </a:lnTo>
                <a:lnTo>
                  <a:pt x="14156" y="23127"/>
                </a:lnTo>
                <a:lnTo>
                  <a:pt x="11980" y="23184"/>
                </a:lnTo>
                <a:lnTo>
                  <a:pt x="9839" y="22788"/>
                </a:lnTo>
                <a:lnTo>
                  <a:pt x="7828" y="21955"/>
                </a:lnTo>
                <a:lnTo>
                  <a:pt x="6033" y="20721"/>
                </a:lnTo>
                <a:lnTo>
                  <a:pt x="4535" y="19142"/>
                </a:lnTo>
                <a:lnTo>
                  <a:pt x="3398" y="17285"/>
                </a:lnTo>
                <a:lnTo>
                  <a:pt x="2672" y="15233"/>
                </a:lnTo>
                <a:lnTo>
                  <a:pt x="2389" y="13074"/>
                </a:lnTo>
                <a:lnTo>
                  <a:pt x="2561" y="10904"/>
                </a:lnTo>
                <a:lnTo>
                  <a:pt x="3180" y="8817"/>
                </a:lnTo>
                <a:lnTo>
                  <a:pt x="4220" y="6904"/>
                </a:lnTo>
                <a:lnTo>
                  <a:pt x="5636" y="5250"/>
                </a:lnTo>
                <a:lnTo>
                  <a:pt x="7364" y="3926"/>
                </a:lnTo>
                <a:lnTo>
                  <a:pt x="9330" y="2990"/>
                </a:lnTo>
                <a:lnTo>
                  <a:pt x="11447" y="2484"/>
                </a:lnTo>
                <a:lnTo>
                  <a:pt x="13624" y="2430"/>
                </a:lnTo>
                <a:lnTo>
                  <a:pt x="15764" y="2829"/>
                </a:lnTo>
                <a:lnTo>
                  <a:pt x="17774" y="3664"/>
                </a:lnTo>
                <a:lnTo>
                  <a:pt x="19567" y="4900"/>
                </a:lnTo>
                <a:lnTo>
                  <a:pt x="21834" y="2632"/>
                </a:lnTo>
                <a:lnTo>
                  <a:pt x="21964" y="2527"/>
                </a:lnTo>
                <a:lnTo>
                  <a:pt x="22113" y="2451"/>
                </a:lnTo>
                <a:lnTo>
                  <a:pt x="22275" y="2407"/>
                </a:lnTo>
                <a:lnTo>
                  <a:pt x="22442" y="2399"/>
                </a:lnTo>
                <a:lnTo>
                  <a:pt x="22607" y="2425"/>
                </a:lnTo>
                <a:lnTo>
                  <a:pt x="22763" y="2485"/>
                </a:lnTo>
                <a:lnTo>
                  <a:pt x="22904" y="2576"/>
                </a:lnTo>
                <a:lnTo>
                  <a:pt x="23022" y="2694"/>
                </a:lnTo>
                <a:lnTo>
                  <a:pt x="23113" y="2835"/>
                </a:lnTo>
                <a:lnTo>
                  <a:pt x="23173" y="2991"/>
                </a:lnTo>
                <a:lnTo>
                  <a:pt x="23199" y="3156"/>
                </a:lnTo>
                <a:lnTo>
                  <a:pt x="23191" y="3323"/>
                </a:lnTo>
                <a:lnTo>
                  <a:pt x="23147" y="3485"/>
                </a:lnTo>
                <a:lnTo>
                  <a:pt x="23071" y="3634"/>
                </a:lnTo>
                <a:lnTo>
                  <a:pt x="22966" y="3764"/>
                </a:lnTo>
                <a:lnTo>
                  <a:pt x="13366" y="13364"/>
                </a:lnTo>
                <a:lnTo>
                  <a:pt x="13236" y="13469"/>
                </a:lnTo>
                <a:lnTo>
                  <a:pt x="13087" y="13545"/>
                </a:lnTo>
                <a:lnTo>
                  <a:pt x="12925" y="13589"/>
                </a:lnTo>
                <a:lnTo>
                  <a:pt x="12758" y="13597"/>
                </a:lnTo>
                <a:lnTo>
                  <a:pt x="12593" y="13571"/>
                </a:lnTo>
                <a:lnTo>
                  <a:pt x="12437" y="13511"/>
                </a:lnTo>
                <a:lnTo>
                  <a:pt x="12296" y="13420"/>
                </a:lnTo>
                <a:lnTo>
                  <a:pt x="12178" y="13302"/>
                </a:lnTo>
                <a:lnTo>
                  <a:pt x="12087" y="13161"/>
                </a:lnTo>
                <a:lnTo>
                  <a:pt x="12027" y="13005"/>
                </a:lnTo>
                <a:lnTo>
                  <a:pt x="12001" y="12840"/>
                </a:lnTo>
                <a:lnTo>
                  <a:pt x="12009" y="12673"/>
                </a:lnTo>
                <a:lnTo>
                  <a:pt x="12053" y="12511"/>
                </a:lnTo>
                <a:lnTo>
                  <a:pt x="12129" y="12362"/>
                </a:lnTo>
                <a:lnTo>
                  <a:pt x="12234" y="12232"/>
                </a:lnTo>
                <a:lnTo>
                  <a:pt x="15006" y="9460"/>
                </a:lnTo>
                <a:lnTo>
                  <a:pt x="14247" y="9067"/>
                </a:lnTo>
                <a:lnTo>
                  <a:pt x="13421" y="8845"/>
                </a:lnTo>
                <a:lnTo>
                  <a:pt x="12567" y="8803"/>
                </a:lnTo>
                <a:lnTo>
                  <a:pt x="11724" y="8944"/>
                </a:lnTo>
                <a:lnTo>
                  <a:pt x="10930" y="9260"/>
                </a:lnTo>
                <a:lnTo>
                  <a:pt x="10221" y="9738"/>
                </a:lnTo>
                <a:lnTo>
                  <a:pt x="9630" y="10356"/>
                </a:lnTo>
                <a:lnTo>
                  <a:pt x="9184" y="11085"/>
                </a:lnTo>
                <a:lnTo>
                  <a:pt x="8903" y="11893"/>
                </a:lnTo>
                <a:lnTo>
                  <a:pt x="8800" y="12742"/>
                </a:lnTo>
                <a:lnTo>
                  <a:pt x="8880" y="13593"/>
                </a:lnTo>
                <a:lnTo>
                  <a:pt x="9138" y="14408"/>
                </a:lnTo>
                <a:lnTo>
                  <a:pt x="9564" y="15149"/>
                </a:lnTo>
                <a:lnTo>
                  <a:pt x="10138" y="15783"/>
                </a:lnTo>
                <a:lnTo>
                  <a:pt x="10834" y="16280"/>
                </a:lnTo>
                <a:lnTo>
                  <a:pt x="11619" y="16618"/>
                </a:lnTo>
                <a:lnTo>
                  <a:pt x="12458" y="16782"/>
                </a:lnTo>
                <a:lnTo>
                  <a:pt x="13313" y="16763"/>
                </a:lnTo>
                <a:lnTo>
                  <a:pt x="14144" y="16564"/>
                </a:lnTo>
                <a:lnTo>
                  <a:pt x="14914" y="16192"/>
                </a:lnTo>
                <a:lnTo>
                  <a:pt x="15587" y="15665"/>
                </a:lnTo>
                <a:lnTo>
                  <a:pt x="16133" y="15007"/>
                </a:lnTo>
                <a:lnTo>
                  <a:pt x="16527" y="14248"/>
                </a:lnTo>
                <a:lnTo>
                  <a:pt x="16750" y="13423"/>
                </a:lnTo>
                <a:lnTo>
                  <a:pt x="16793" y="12569"/>
                </a:lnTo>
                <a:lnTo>
                  <a:pt x="16801" y="12402"/>
                </a:lnTo>
                <a:lnTo>
                  <a:pt x="16844" y="12240"/>
                </a:lnTo>
                <a:lnTo>
                  <a:pt x="16919" y="12090"/>
                </a:lnTo>
                <a:lnTo>
                  <a:pt x="17024" y="11960"/>
                </a:lnTo>
                <a:lnTo>
                  <a:pt x="17154" y="11854"/>
                </a:lnTo>
                <a:lnTo>
                  <a:pt x="17303" y="11777"/>
                </a:lnTo>
                <a:lnTo>
                  <a:pt x="17465" y="11733"/>
                </a:lnTo>
                <a:lnTo>
                  <a:pt x="17632" y="11724"/>
                </a:lnTo>
                <a:lnTo>
                  <a:pt x="17797" y="11749"/>
                </a:lnTo>
                <a:lnTo>
                  <a:pt x="17954" y="11809"/>
                </a:lnTo>
                <a:lnTo>
                  <a:pt x="18095" y="11899"/>
                </a:lnTo>
                <a:lnTo>
                  <a:pt x="18214" y="12017"/>
                </a:lnTo>
                <a:lnTo>
                  <a:pt x="18306" y="12158"/>
                </a:lnTo>
                <a:lnTo>
                  <a:pt x="18366" y="12314"/>
                </a:lnTo>
                <a:lnTo>
                  <a:pt x="18393" y="12479"/>
                </a:lnTo>
                <a:lnTo>
                  <a:pt x="18331" y="13687"/>
                </a:lnTo>
                <a:lnTo>
                  <a:pt x="18012" y="14854"/>
                </a:lnTo>
                <a:lnTo>
                  <a:pt x="17449" y="15925"/>
                </a:lnTo>
                <a:lnTo>
                  <a:pt x="16669" y="16850"/>
                </a:lnTo>
                <a:lnTo>
                  <a:pt x="15709" y="17586"/>
                </a:lnTo>
                <a:lnTo>
                  <a:pt x="14613" y="18099"/>
                </a:lnTo>
                <a:lnTo>
                  <a:pt x="13433" y="18364"/>
                </a:lnTo>
                <a:lnTo>
                  <a:pt x="12223" y="18369"/>
                </a:lnTo>
                <a:lnTo>
                  <a:pt x="11040" y="18115"/>
                </a:lnTo>
                <a:lnTo>
                  <a:pt x="9939" y="17612"/>
                </a:lnTo>
                <a:lnTo>
                  <a:pt x="8973" y="16885"/>
                </a:lnTo>
                <a:lnTo>
                  <a:pt x="8184" y="15967"/>
                </a:lnTo>
                <a:lnTo>
                  <a:pt x="7612" y="14902"/>
                </a:lnTo>
                <a:lnTo>
                  <a:pt x="7281" y="13738"/>
                </a:lnTo>
                <a:lnTo>
                  <a:pt x="7209" y="12530"/>
                </a:lnTo>
                <a:lnTo>
                  <a:pt x="7397" y="11335"/>
                </a:lnTo>
                <a:lnTo>
                  <a:pt x="7838" y="10208"/>
                </a:lnTo>
                <a:lnTo>
                  <a:pt x="8510" y="9203"/>
                </a:lnTo>
                <a:lnTo>
                  <a:pt x="9383" y="8365"/>
                </a:lnTo>
                <a:lnTo>
                  <a:pt x="10415" y="7734"/>
                </a:lnTo>
                <a:lnTo>
                  <a:pt x="11559" y="7339"/>
                </a:lnTo>
                <a:lnTo>
                  <a:pt x="12760" y="7200"/>
                </a:lnTo>
                <a:lnTo>
                  <a:pt x="13964" y="7321"/>
                </a:lnTo>
                <a:lnTo>
                  <a:pt x="15113" y="7699"/>
                </a:lnTo>
                <a:lnTo>
                  <a:pt x="16155" y="8314"/>
                </a:lnTo>
                <a:lnTo>
                  <a:pt x="18430" y="6039"/>
                </a:lnTo>
                <a:lnTo>
                  <a:pt x="16845" y="4990"/>
                </a:lnTo>
                <a:lnTo>
                  <a:pt x="15071" y="4306"/>
                </a:lnTo>
                <a:lnTo>
                  <a:pt x="13192" y="4020"/>
                </a:lnTo>
                <a:lnTo>
                  <a:pt x="11295" y="4145"/>
                </a:lnTo>
                <a:lnTo>
                  <a:pt x="9469" y="4675"/>
                </a:lnTo>
                <a:lnTo>
                  <a:pt x="7800" y="5585"/>
                </a:lnTo>
                <a:lnTo>
                  <a:pt x="6366" y="6832"/>
                </a:lnTo>
                <a:lnTo>
                  <a:pt x="5233" y="8359"/>
                </a:lnTo>
                <a:lnTo>
                  <a:pt x="4456" y="10093"/>
                </a:lnTo>
                <a:lnTo>
                  <a:pt x="4069" y="11955"/>
                </a:lnTo>
                <a:lnTo>
                  <a:pt x="4092" y="13855"/>
                </a:lnTo>
                <a:lnTo>
                  <a:pt x="4523" y="15707"/>
                </a:lnTo>
                <a:lnTo>
                  <a:pt x="5342" y="17422"/>
                </a:lnTo>
                <a:lnTo>
                  <a:pt x="6511" y="18921"/>
                </a:lnTo>
                <a:lnTo>
                  <a:pt x="7974" y="20134"/>
                </a:lnTo>
                <a:lnTo>
                  <a:pt x="9665" y="21004"/>
                </a:lnTo>
                <a:lnTo>
                  <a:pt x="11502" y="21490"/>
                </a:lnTo>
                <a:lnTo>
                  <a:pt x="13402" y="21569"/>
                </a:lnTo>
                <a:lnTo>
                  <a:pt x="15274" y="21238"/>
                </a:lnTo>
                <a:lnTo>
                  <a:pt x="17030" y="20512"/>
                </a:lnTo>
                <a:lnTo>
                  <a:pt x="18590" y="19425"/>
                </a:lnTo>
                <a:lnTo>
                  <a:pt x="19880" y="18029"/>
                </a:lnTo>
                <a:lnTo>
                  <a:pt x="20839" y="16388"/>
                </a:lnTo>
                <a:lnTo>
                  <a:pt x="21423" y="14579"/>
                </a:lnTo>
                <a:lnTo>
                  <a:pt x="21604" y="12686"/>
                </a:lnTo>
                <a:lnTo>
                  <a:pt x="21373" y="10799"/>
                </a:lnTo>
                <a:lnTo>
                  <a:pt x="20743" y="9006"/>
                </a:lnTo>
                <a:lnTo>
                  <a:pt x="20687" y="8848"/>
                </a:lnTo>
                <a:lnTo>
                  <a:pt x="20665" y="8683"/>
                </a:lnTo>
                <a:lnTo>
                  <a:pt x="20678" y="8516"/>
                </a:lnTo>
                <a:lnTo>
                  <a:pt x="20726" y="8355"/>
                </a:lnTo>
                <a:lnTo>
                  <a:pt x="20805" y="8208"/>
                </a:lnTo>
                <a:lnTo>
                  <a:pt x="20914" y="8081"/>
                </a:lnTo>
                <a:lnTo>
                  <a:pt x="21046" y="7979"/>
                </a:lnTo>
                <a:lnTo>
                  <a:pt x="21197" y="7907"/>
                </a:lnTo>
                <a:lnTo>
                  <a:pt x="21360" y="7868"/>
                </a:lnTo>
                <a:lnTo>
                  <a:pt x="21527" y="7863"/>
                </a:lnTo>
                <a:lnTo>
                  <a:pt x="21692" y="7894"/>
                </a:lnTo>
                <a:lnTo>
                  <a:pt x="21846" y="7958"/>
                </a:lnTo>
                <a:lnTo>
                  <a:pt x="21984" y="8052"/>
                </a:lnTo>
                <a:lnTo>
                  <a:pt x="22099" y="8173"/>
                </a:lnTo>
                <a:lnTo>
                  <a:pt x="22187" y="8316"/>
                </a:lnTo>
                <a:close/>
              </a:path>
            </a:pathLst>
          </a:custGeom>
          <a:solidFill>
            <a:srgbClr val="A71989"/>
          </a:solidFill>
          <a:ln>
            <a:noFill/>
          </a:ln>
        </p:spPr>
        <p:txBody>
          <a:bodyPr rtlCol="0" anchor="ctr"/>
          <a:lstStyle/>
          <a:p>
            <a:pPr algn="ctr"/>
          </a:p>
        </p:txBody>
      </p:sp>
      <p:sp>
        <p:nvSpPr>
          <p:cNvPr id="76" name="TextBox 75"/>
          <p:cNvSpPr txBox="1"/>
          <p:nvPr/>
        </p:nvSpPr>
        <p:spPr>
          <a:xfrm>
            <a:off x="1240808" y="5815012"/>
            <a:ext cx="1590000" cy="560000"/>
          </a:xfrm>
          <a:prstGeom prst="rect">
            <a:avLst/>
          </a:prstGeom>
          <a:noFill/>
        </p:spPr>
        <p:txBody>
          <a:bodyPr wrap="square" lIns="0" rIns="0" tIns="0" bIns="0" anchor="ctr">
            <a:spAutoFit/>
          </a:bodyPr>
          <a:lstStyle/>
          <a:p>
            <a:pPr algn="l">
              <a:lnSpc>
                <a:spcPct val="100000"/>
              </a:lnSpc>
              <a:spcAft>
                <a:spcPts val="0"/>
              </a:spcAft>
            </a:pPr>
            <a:r>
              <a:rPr sz="1000" b="1" i="0">
                <a:solidFill>
                  <a:srgbClr val="FFFFFF"/>
                </a:solidFill>
                <a:latin typeface="Arial"/>
              </a:rPr>
              <a:t>PROBLEMA INICIAL</a:t>
            </a:r>
          </a:p>
        </p:txBody>
      </p:sp>
      <p:sp>
        <p:nvSpPr>
          <p:cNvPr id="77" name="TextBox 76"/>
          <p:cNvSpPr txBox="1"/>
          <p:nvPr/>
        </p:nvSpPr>
        <p:spPr>
          <a:xfrm>
            <a:off x="820808" y="6535012"/>
            <a:ext cx="1930000" cy="560000"/>
          </a:xfrm>
          <a:prstGeom prst="rect">
            <a:avLst/>
          </a:prstGeom>
          <a:noFill/>
        </p:spPr>
        <p:txBody>
          <a:bodyPr wrap="square" lIns="0" rIns="0" tIns="0" bIns="0" anchor="t">
            <a:spAutoFit/>
          </a:bodyPr>
          <a:lstStyle/>
          <a:p>
            <a:pPr algn="l">
              <a:lnSpc>
                <a:spcPct val="115000"/>
              </a:lnSpc>
              <a:spcAft>
                <a:spcPts val="0"/>
              </a:spcAft>
            </a:pPr>
            <a:r>
              <a:rPr sz="1000" b="0" i="0">
                <a:solidFill>
                  <a:srgbClr val="3D2159"/>
                </a:solidFill>
                <a:latin typeface="Arial"/>
              </a:rPr>
              <a:t>Lo formulamos con la información disponible.</a:t>
            </a:r>
          </a:p>
        </p:txBody>
      </p:sp>
      <p:sp>
        <p:nvSpPr>
          <p:cNvPr id="78" name="Rounded Rectangle 77"/>
          <p:cNvSpPr/>
          <p:nvPr/>
        </p:nvSpPr>
        <p:spPr>
          <a:xfrm>
            <a:off x="3927191" y="5815012"/>
            <a:ext cx="2290000" cy="1320000"/>
          </a:xfrm>
          <a:prstGeom prst="roundRect">
            <a:avLst>
              <a:gd name="adj" fmla="val 9090"/>
            </a:avLst>
          </a:prstGeom>
          <a:solidFill>
            <a:srgbClr val="E8F1FB"/>
          </a:solidFill>
          <a:ln>
            <a:noFill/>
          </a:ln>
        </p:spPr>
        <p:txBody>
          <a:bodyPr rtlCol="0" anchor="ctr"/>
          <a:lstStyle/>
          <a:p>
            <a:pPr algn="ctr"/>
          </a:p>
        </p:txBody>
      </p:sp>
      <p:sp>
        <p:nvSpPr>
          <p:cNvPr id="79" name="Rounded Rectangle 78"/>
          <p:cNvSpPr/>
          <p:nvPr/>
        </p:nvSpPr>
        <p:spPr>
          <a:xfrm>
            <a:off x="3927191" y="5815012"/>
            <a:ext cx="2290000" cy="560000"/>
          </a:xfrm>
          <a:prstGeom prst="roundRect">
            <a:avLst>
              <a:gd name="adj" fmla="val 21428"/>
            </a:avLst>
          </a:prstGeom>
          <a:solidFill>
            <a:srgbClr val="024791"/>
          </a:solidFill>
          <a:ln>
            <a:noFill/>
          </a:ln>
        </p:spPr>
        <p:txBody>
          <a:bodyPr rtlCol="0" anchor="ctr"/>
          <a:lstStyle/>
          <a:p>
            <a:pPr algn="ctr"/>
          </a:p>
        </p:txBody>
      </p:sp>
      <p:sp>
        <p:nvSpPr>
          <p:cNvPr id="80" name="Rectangle 79"/>
          <p:cNvSpPr/>
          <p:nvPr/>
        </p:nvSpPr>
        <p:spPr>
          <a:xfrm>
            <a:off x="3927191" y="6115012"/>
            <a:ext cx="2290000" cy="260000"/>
          </a:xfrm>
          <a:prstGeom prst="rect">
            <a:avLst/>
          </a:prstGeom>
          <a:solidFill>
            <a:srgbClr val="024791"/>
          </a:solidFill>
          <a:ln>
            <a:noFill/>
          </a:ln>
        </p:spPr>
        <p:txBody>
          <a:bodyPr rtlCol="0" anchor="ctr"/>
          <a:lstStyle/>
          <a:p>
            <a:pPr algn="ctr"/>
          </a:p>
        </p:txBody>
      </p:sp>
      <p:sp>
        <p:nvSpPr>
          <p:cNvPr id="81" name="Oval 80"/>
          <p:cNvSpPr/>
          <p:nvPr/>
        </p:nvSpPr>
        <p:spPr>
          <a:xfrm>
            <a:off x="4077191" y="5915012"/>
            <a:ext cx="360000" cy="360000"/>
          </a:xfrm>
          <a:prstGeom prst="ellipse">
            <a:avLst/>
          </a:prstGeom>
          <a:solidFill>
            <a:srgbClr val="FFFFFF"/>
          </a:solidFill>
          <a:ln>
            <a:noFill/>
          </a:ln>
        </p:spPr>
        <p:txBody>
          <a:bodyPr rtlCol="0" anchor="ctr"/>
          <a:lstStyle/>
          <a:p>
            <a:pPr algn="ctr"/>
          </a:p>
        </p:txBody>
      </p:sp>
      <p:sp>
        <p:nvSpPr>
          <p:cNvPr id="82" name="icono crosshair"/>
          <p:cNvSpPr/>
          <p:nvPr/>
        </p:nvSpPr>
        <p:spPr>
          <a:xfrm>
            <a:off x="4156391" y="5994212"/>
            <a:ext cx="201600" cy="201600"/>
          </a:xfrm>
          <a:custGeom>
            <a:avLst/>
            <a:gdLst/>
            <a:ahLst/>
            <a:cxnLst/>
            <a:rect l="0" t="0" r="r" b="b"/>
            <a:pathLst>
              <a:path w="25600" h="25600">
                <a:moveTo>
                  <a:pt x="23200" y="12000"/>
                </a:moveTo>
                <a:lnTo>
                  <a:pt x="22366" y="12000"/>
                </a:lnTo>
                <a:lnTo>
                  <a:pt x="21918" y="9805"/>
                </a:lnTo>
                <a:lnTo>
                  <a:pt x="20973" y="7773"/>
                </a:lnTo>
                <a:lnTo>
                  <a:pt x="19585" y="6015"/>
                </a:lnTo>
                <a:lnTo>
                  <a:pt x="17827" y="4627"/>
                </a:lnTo>
                <a:lnTo>
                  <a:pt x="15795" y="3682"/>
                </a:lnTo>
                <a:lnTo>
                  <a:pt x="13600" y="3234"/>
                </a:lnTo>
                <a:lnTo>
                  <a:pt x="13600" y="2400"/>
                </a:lnTo>
                <a:lnTo>
                  <a:pt x="13583" y="2234"/>
                </a:lnTo>
                <a:lnTo>
                  <a:pt x="13531" y="2075"/>
                </a:lnTo>
                <a:lnTo>
                  <a:pt x="13447" y="1930"/>
                </a:lnTo>
                <a:lnTo>
                  <a:pt x="13335" y="1805"/>
                </a:lnTo>
                <a:lnTo>
                  <a:pt x="13200" y="1707"/>
                </a:lnTo>
                <a:lnTo>
                  <a:pt x="13047" y="1639"/>
                </a:lnTo>
                <a:lnTo>
                  <a:pt x="12884" y="1604"/>
                </a:lnTo>
                <a:lnTo>
                  <a:pt x="12716" y="1604"/>
                </a:lnTo>
                <a:lnTo>
                  <a:pt x="12553" y="1639"/>
                </a:lnTo>
                <a:lnTo>
                  <a:pt x="12400" y="1707"/>
                </a:lnTo>
                <a:lnTo>
                  <a:pt x="12265" y="1805"/>
                </a:lnTo>
                <a:lnTo>
                  <a:pt x="12153" y="1930"/>
                </a:lnTo>
                <a:lnTo>
                  <a:pt x="12069" y="2075"/>
                </a:lnTo>
                <a:lnTo>
                  <a:pt x="12017" y="2234"/>
                </a:lnTo>
                <a:lnTo>
                  <a:pt x="12000" y="2400"/>
                </a:lnTo>
                <a:lnTo>
                  <a:pt x="12000" y="3234"/>
                </a:lnTo>
                <a:lnTo>
                  <a:pt x="9805" y="3682"/>
                </a:lnTo>
                <a:lnTo>
                  <a:pt x="7773" y="4627"/>
                </a:lnTo>
                <a:lnTo>
                  <a:pt x="6015" y="6015"/>
                </a:lnTo>
                <a:lnTo>
                  <a:pt x="4627" y="7773"/>
                </a:lnTo>
                <a:lnTo>
                  <a:pt x="3682" y="9805"/>
                </a:lnTo>
                <a:lnTo>
                  <a:pt x="3234" y="12000"/>
                </a:lnTo>
                <a:lnTo>
                  <a:pt x="2400" y="12000"/>
                </a:lnTo>
                <a:lnTo>
                  <a:pt x="2234" y="12017"/>
                </a:lnTo>
                <a:lnTo>
                  <a:pt x="2075" y="12069"/>
                </a:lnTo>
                <a:lnTo>
                  <a:pt x="1930" y="12153"/>
                </a:lnTo>
                <a:lnTo>
                  <a:pt x="1805" y="12265"/>
                </a:lnTo>
                <a:lnTo>
                  <a:pt x="1707" y="12400"/>
                </a:lnTo>
                <a:lnTo>
                  <a:pt x="1639" y="12553"/>
                </a:lnTo>
                <a:lnTo>
                  <a:pt x="1604" y="12716"/>
                </a:lnTo>
                <a:lnTo>
                  <a:pt x="1604" y="12884"/>
                </a:lnTo>
                <a:lnTo>
                  <a:pt x="1639" y="13047"/>
                </a:lnTo>
                <a:lnTo>
                  <a:pt x="1707" y="13200"/>
                </a:lnTo>
                <a:lnTo>
                  <a:pt x="1805" y="13335"/>
                </a:lnTo>
                <a:lnTo>
                  <a:pt x="1930" y="13447"/>
                </a:lnTo>
                <a:lnTo>
                  <a:pt x="2075" y="13531"/>
                </a:lnTo>
                <a:lnTo>
                  <a:pt x="2234" y="13583"/>
                </a:lnTo>
                <a:lnTo>
                  <a:pt x="2400" y="13600"/>
                </a:lnTo>
                <a:lnTo>
                  <a:pt x="3234" y="13600"/>
                </a:lnTo>
                <a:lnTo>
                  <a:pt x="3682" y="15795"/>
                </a:lnTo>
                <a:lnTo>
                  <a:pt x="4627" y="17827"/>
                </a:lnTo>
                <a:lnTo>
                  <a:pt x="6015" y="19585"/>
                </a:lnTo>
                <a:lnTo>
                  <a:pt x="7773" y="20973"/>
                </a:lnTo>
                <a:lnTo>
                  <a:pt x="9805" y="21918"/>
                </a:lnTo>
                <a:lnTo>
                  <a:pt x="12000" y="22366"/>
                </a:lnTo>
                <a:lnTo>
                  <a:pt x="12000" y="23200"/>
                </a:lnTo>
                <a:lnTo>
                  <a:pt x="12017" y="23366"/>
                </a:lnTo>
                <a:lnTo>
                  <a:pt x="12069" y="23525"/>
                </a:lnTo>
                <a:lnTo>
                  <a:pt x="12153" y="23670"/>
                </a:lnTo>
                <a:lnTo>
                  <a:pt x="12265" y="23795"/>
                </a:lnTo>
                <a:lnTo>
                  <a:pt x="12400" y="23893"/>
                </a:lnTo>
                <a:lnTo>
                  <a:pt x="12553" y="23961"/>
                </a:lnTo>
                <a:lnTo>
                  <a:pt x="12716" y="23996"/>
                </a:lnTo>
                <a:lnTo>
                  <a:pt x="12884" y="23996"/>
                </a:lnTo>
                <a:lnTo>
                  <a:pt x="13047" y="23961"/>
                </a:lnTo>
                <a:lnTo>
                  <a:pt x="13200" y="23893"/>
                </a:lnTo>
                <a:lnTo>
                  <a:pt x="13335" y="23795"/>
                </a:lnTo>
                <a:lnTo>
                  <a:pt x="13447" y="23670"/>
                </a:lnTo>
                <a:lnTo>
                  <a:pt x="13531" y="23525"/>
                </a:lnTo>
                <a:lnTo>
                  <a:pt x="13583" y="23366"/>
                </a:lnTo>
                <a:lnTo>
                  <a:pt x="13600" y="23200"/>
                </a:lnTo>
                <a:lnTo>
                  <a:pt x="13600" y="22366"/>
                </a:lnTo>
                <a:lnTo>
                  <a:pt x="15795" y="21918"/>
                </a:lnTo>
                <a:lnTo>
                  <a:pt x="17827" y="20973"/>
                </a:lnTo>
                <a:lnTo>
                  <a:pt x="19585" y="19585"/>
                </a:lnTo>
                <a:lnTo>
                  <a:pt x="20973" y="17827"/>
                </a:lnTo>
                <a:lnTo>
                  <a:pt x="21918" y="15795"/>
                </a:lnTo>
                <a:lnTo>
                  <a:pt x="22366" y="13600"/>
                </a:lnTo>
                <a:lnTo>
                  <a:pt x="23200" y="13600"/>
                </a:lnTo>
                <a:lnTo>
                  <a:pt x="23366" y="13583"/>
                </a:lnTo>
                <a:lnTo>
                  <a:pt x="23525" y="13531"/>
                </a:lnTo>
                <a:lnTo>
                  <a:pt x="23670" y="13447"/>
                </a:lnTo>
                <a:lnTo>
                  <a:pt x="23795" y="13335"/>
                </a:lnTo>
                <a:lnTo>
                  <a:pt x="23893" y="13200"/>
                </a:lnTo>
                <a:lnTo>
                  <a:pt x="23961" y="13047"/>
                </a:lnTo>
                <a:lnTo>
                  <a:pt x="23996" y="12884"/>
                </a:lnTo>
                <a:lnTo>
                  <a:pt x="23996" y="12716"/>
                </a:lnTo>
                <a:lnTo>
                  <a:pt x="23961" y="12553"/>
                </a:lnTo>
                <a:lnTo>
                  <a:pt x="23893" y="12400"/>
                </a:lnTo>
                <a:lnTo>
                  <a:pt x="23795" y="12265"/>
                </a:lnTo>
                <a:lnTo>
                  <a:pt x="23670" y="12153"/>
                </a:lnTo>
                <a:lnTo>
                  <a:pt x="23525" y="12069"/>
                </a:lnTo>
                <a:lnTo>
                  <a:pt x="23366" y="12017"/>
                </a:lnTo>
                <a:lnTo>
                  <a:pt x="23200" y="12000"/>
                </a:lnTo>
                <a:close/>
                <a:moveTo>
                  <a:pt x="13600" y="20760"/>
                </a:moveTo>
                <a:lnTo>
                  <a:pt x="13600" y="20000"/>
                </a:lnTo>
                <a:lnTo>
                  <a:pt x="13583" y="19834"/>
                </a:lnTo>
                <a:lnTo>
                  <a:pt x="13531" y="19675"/>
                </a:lnTo>
                <a:lnTo>
                  <a:pt x="13447" y="19530"/>
                </a:lnTo>
                <a:lnTo>
                  <a:pt x="13335" y="19405"/>
                </a:lnTo>
                <a:lnTo>
                  <a:pt x="13200" y="19307"/>
                </a:lnTo>
                <a:lnTo>
                  <a:pt x="13047" y="19239"/>
                </a:lnTo>
                <a:lnTo>
                  <a:pt x="12884" y="19204"/>
                </a:lnTo>
                <a:lnTo>
                  <a:pt x="12716" y="19204"/>
                </a:lnTo>
                <a:lnTo>
                  <a:pt x="12553" y="19239"/>
                </a:lnTo>
                <a:lnTo>
                  <a:pt x="12400" y="19307"/>
                </a:lnTo>
                <a:lnTo>
                  <a:pt x="12265" y="19405"/>
                </a:lnTo>
                <a:lnTo>
                  <a:pt x="12153" y="19530"/>
                </a:lnTo>
                <a:lnTo>
                  <a:pt x="12069" y="19675"/>
                </a:lnTo>
                <a:lnTo>
                  <a:pt x="12017" y="19834"/>
                </a:lnTo>
                <a:lnTo>
                  <a:pt x="12000" y="20000"/>
                </a:lnTo>
                <a:lnTo>
                  <a:pt x="12000" y="20760"/>
                </a:lnTo>
                <a:lnTo>
                  <a:pt x="10220" y="20370"/>
                </a:lnTo>
                <a:lnTo>
                  <a:pt x="8573" y="19588"/>
                </a:lnTo>
                <a:lnTo>
                  <a:pt x="7146" y="18454"/>
                </a:lnTo>
                <a:lnTo>
                  <a:pt x="6012" y="17027"/>
                </a:lnTo>
                <a:lnTo>
                  <a:pt x="5230" y="15380"/>
                </a:lnTo>
                <a:lnTo>
                  <a:pt x="4840" y="13600"/>
                </a:lnTo>
                <a:lnTo>
                  <a:pt x="5600" y="13600"/>
                </a:lnTo>
                <a:lnTo>
                  <a:pt x="5766" y="13583"/>
                </a:lnTo>
                <a:lnTo>
                  <a:pt x="5925" y="13531"/>
                </a:lnTo>
                <a:lnTo>
                  <a:pt x="6070" y="13447"/>
                </a:lnTo>
                <a:lnTo>
                  <a:pt x="6195" y="13335"/>
                </a:lnTo>
                <a:lnTo>
                  <a:pt x="6293" y="13200"/>
                </a:lnTo>
                <a:lnTo>
                  <a:pt x="6361" y="13047"/>
                </a:lnTo>
                <a:lnTo>
                  <a:pt x="6396" y="12884"/>
                </a:lnTo>
                <a:lnTo>
                  <a:pt x="6396" y="12716"/>
                </a:lnTo>
                <a:lnTo>
                  <a:pt x="6361" y="12553"/>
                </a:lnTo>
                <a:lnTo>
                  <a:pt x="6293" y="12400"/>
                </a:lnTo>
                <a:lnTo>
                  <a:pt x="6195" y="12265"/>
                </a:lnTo>
                <a:lnTo>
                  <a:pt x="6070" y="12153"/>
                </a:lnTo>
                <a:lnTo>
                  <a:pt x="5925" y="12069"/>
                </a:lnTo>
                <a:lnTo>
                  <a:pt x="5766" y="12017"/>
                </a:lnTo>
                <a:lnTo>
                  <a:pt x="5600" y="12000"/>
                </a:lnTo>
                <a:lnTo>
                  <a:pt x="4840" y="12000"/>
                </a:lnTo>
                <a:lnTo>
                  <a:pt x="5230" y="10220"/>
                </a:lnTo>
                <a:lnTo>
                  <a:pt x="6012" y="8573"/>
                </a:lnTo>
                <a:lnTo>
                  <a:pt x="7146" y="7146"/>
                </a:lnTo>
                <a:lnTo>
                  <a:pt x="8573" y="6012"/>
                </a:lnTo>
                <a:lnTo>
                  <a:pt x="10220" y="5230"/>
                </a:lnTo>
                <a:lnTo>
                  <a:pt x="12000" y="4840"/>
                </a:lnTo>
                <a:lnTo>
                  <a:pt x="12000" y="5600"/>
                </a:lnTo>
                <a:lnTo>
                  <a:pt x="12017" y="5766"/>
                </a:lnTo>
                <a:lnTo>
                  <a:pt x="12069" y="5925"/>
                </a:lnTo>
                <a:lnTo>
                  <a:pt x="12153" y="6070"/>
                </a:lnTo>
                <a:lnTo>
                  <a:pt x="12265" y="6195"/>
                </a:lnTo>
                <a:lnTo>
                  <a:pt x="12400" y="6293"/>
                </a:lnTo>
                <a:lnTo>
                  <a:pt x="12553" y="6361"/>
                </a:lnTo>
                <a:lnTo>
                  <a:pt x="12716" y="6396"/>
                </a:lnTo>
                <a:lnTo>
                  <a:pt x="12884" y="6396"/>
                </a:lnTo>
                <a:lnTo>
                  <a:pt x="13047" y="6361"/>
                </a:lnTo>
                <a:lnTo>
                  <a:pt x="13200" y="6293"/>
                </a:lnTo>
                <a:lnTo>
                  <a:pt x="13335" y="6195"/>
                </a:lnTo>
                <a:lnTo>
                  <a:pt x="13447" y="6070"/>
                </a:lnTo>
                <a:lnTo>
                  <a:pt x="13531" y="5925"/>
                </a:lnTo>
                <a:lnTo>
                  <a:pt x="13583" y="5766"/>
                </a:lnTo>
                <a:lnTo>
                  <a:pt x="13600" y="5600"/>
                </a:lnTo>
                <a:lnTo>
                  <a:pt x="13600" y="4840"/>
                </a:lnTo>
                <a:lnTo>
                  <a:pt x="15380" y="5230"/>
                </a:lnTo>
                <a:lnTo>
                  <a:pt x="17027" y="6012"/>
                </a:lnTo>
                <a:lnTo>
                  <a:pt x="18454" y="7146"/>
                </a:lnTo>
                <a:lnTo>
                  <a:pt x="19588" y="8573"/>
                </a:lnTo>
                <a:lnTo>
                  <a:pt x="20370" y="10220"/>
                </a:lnTo>
                <a:lnTo>
                  <a:pt x="20760" y="12000"/>
                </a:lnTo>
                <a:lnTo>
                  <a:pt x="20000" y="12000"/>
                </a:lnTo>
                <a:lnTo>
                  <a:pt x="19834" y="12017"/>
                </a:lnTo>
                <a:lnTo>
                  <a:pt x="19675" y="12069"/>
                </a:lnTo>
                <a:lnTo>
                  <a:pt x="19530" y="12153"/>
                </a:lnTo>
                <a:lnTo>
                  <a:pt x="19405" y="12265"/>
                </a:lnTo>
                <a:lnTo>
                  <a:pt x="19307" y="12400"/>
                </a:lnTo>
                <a:lnTo>
                  <a:pt x="19239" y="12553"/>
                </a:lnTo>
                <a:lnTo>
                  <a:pt x="19204" y="12716"/>
                </a:lnTo>
                <a:lnTo>
                  <a:pt x="19204" y="12884"/>
                </a:lnTo>
                <a:lnTo>
                  <a:pt x="19239" y="13047"/>
                </a:lnTo>
                <a:lnTo>
                  <a:pt x="19307" y="13200"/>
                </a:lnTo>
                <a:lnTo>
                  <a:pt x="19405" y="13335"/>
                </a:lnTo>
                <a:lnTo>
                  <a:pt x="19530" y="13447"/>
                </a:lnTo>
                <a:lnTo>
                  <a:pt x="19675" y="13531"/>
                </a:lnTo>
                <a:lnTo>
                  <a:pt x="19834" y="13583"/>
                </a:lnTo>
                <a:lnTo>
                  <a:pt x="20000" y="13600"/>
                </a:lnTo>
                <a:lnTo>
                  <a:pt x="20760" y="13600"/>
                </a:lnTo>
                <a:lnTo>
                  <a:pt x="20370" y="15380"/>
                </a:lnTo>
                <a:lnTo>
                  <a:pt x="19588" y="17027"/>
                </a:lnTo>
                <a:lnTo>
                  <a:pt x="18454" y="18454"/>
                </a:lnTo>
                <a:lnTo>
                  <a:pt x="17027" y="19588"/>
                </a:lnTo>
                <a:lnTo>
                  <a:pt x="15380" y="20370"/>
                </a:lnTo>
                <a:lnTo>
                  <a:pt x="13600" y="20760"/>
                </a:lnTo>
                <a:close/>
                <a:moveTo>
                  <a:pt x="12800" y="8800"/>
                </a:moveTo>
                <a:lnTo>
                  <a:pt x="11950" y="8891"/>
                </a:lnTo>
                <a:lnTo>
                  <a:pt x="11138" y="9161"/>
                </a:lnTo>
                <a:lnTo>
                  <a:pt x="10403" y="9598"/>
                </a:lnTo>
                <a:lnTo>
                  <a:pt x="9777" y="10181"/>
                </a:lnTo>
                <a:lnTo>
                  <a:pt x="9289" y="10883"/>
                </a:lnTo>
                <a:lnTo>
                  <a:pt x="8962" y="11673"/>
                </a:lnTo>
                <a:lnTo>
                  <a:pt x="8810" y="12515"/>
                </a:lnTo>
                <a:lnTo>
                  <a:pt x="8841" y="13369"/>
                </a:lnTo>
                <a:lnTo>
                  <a:pt x="9052" y="14198"/>
                </a:lnTo>
                <a:lnTo>
                  <a:pt x="9435" y="14963"/>
                </a:lnTo>
                <a:lnTo>
                  <a:pt x="9972" y="15628"/>
                </a:lnTo>
                <a:lnTo>
                  <a:pt x="10637" y="16165"/>
                </a:lnTo>
                <a:lnTo>
                  <a:pt x="11402" y="16548"/>
                </a:lnTo>
                <a:lnTo>
                  <a:pt x="12231" y="16759"/>
                </a:lnTo>
                <a:lnTo>
                  <a:pt x="13085" y="16790"/>
                </a:lnTo>
                <a:lnTo>
                  <a:pt x="13927" y="16638"/>
                </a:lnTo>
                <a:lnTo>
                  <a:pt x="14717" y="16311"/>
                </a:lnTo>
                <a:lnTo>
                  <a:pt x="15419" y="15823"/>
                </a:lnTo>
                <a:lnTo>
                  <a:pt x="16002" y="15197"/>
                </a:lnTo>
                <a:lnTo>
                  <a:pt x="16439" y="14462"/>
                </a:lnTo>
                <a:lnTo>
                  <a:pt x="16709" y="13650"/>
                </a:lnTo>
                <a:lnTo>
                  <a:pt x="16800" y="12800"/>
                </a:lnTo>
                <a:lnTo>
                  <a:pt x="16700" y="11910"/>
                </a:lnTo>
                <a:lnTo>
                  <a:pt x="16404" y="11064"/>
                </a:lnTo>
                <a:lnTo>
                  <a:pt x="15927" y="10306"/>
                </a:lnTo>
                <a:lnTo>
                  <a:pt x="15294" y="9673"/>
                </a:lnTo>
                <a:lnTo>
                  <a:pt x="14536" y="9196"/>
                </a:lnTo>
                <a:lnTo>
                  <a:pt x="13690" y="8900"/>
                </a:lnTo>
                <a:lnTo>
                  <a:pt x="12800" y="8800"/>
                </a:lnTo>
                <a:close/>
                <a:moveTo>
                  <a:pt x="12800" y="15200"/>
                </a:moveTo>
                <a:lnTo>
                  <a:pt x="12290" y="15145"/>
                </a:lnTo>
                <a:lnTo>
                  <a:pt x="11803" y="14983"/>
                </a:lnTo>
                <a:lnTo>
                  <a:pt x="11362" y="14721"/>
                </a:lnTo>
                <a:lnTo>
                  <a:pt x="10986" y="14372"/>
                </a:lnTo>
                <a:lnTo>
                  <a:pt x="10694" y="13950"/>
                </a:lnTo>
                <a:lnTo>
                  <a:pt x="10497" y="13476"/>
                </a:lnTo>
                <a:lnTo>
                  <a:pt x="10406" y="12971"/>
                </a:lnTo>
                <a:lnTo>
                  <a:pt x="10424" y="12458"/>
                </a:lnTo>
                <a:lnTo>
                  <a:pt x="10551" y="11961"/>
                </a:lnTo>
                <a:lnTo>
                  <a:pt x="10781" y="11502"/>
                </a:lnTo>
                <a:lnTo>
                  <a:pt x="11103" y="11103"/>
                </a:lnTo>
                <a:lnTo>
                  <a:pt x="11502" y="10781"/>
                </a:lnTo>
                <a:lnTo>
                  <a:pt x="11961" y="10551"/>
                </a:lnTo>
                <a:lnTo>
                  <a:pt x="12458" y="10424"/>
                </a:lnTo>
                <a:lnTo>
                  <a:pt x="12971" y="10406"/>
                </a:lnTo>
                <a:lnTo>
                  <a:pt x="13476" y="10497"/>
                </a:lnTo>
                <a:lnTo>
                  <a:pt x="13950" y="10694"/>
                </a:lnTo>
                <a:lnTo>
                  <a:pt x="14372" y="10986"/>
                </a:lnTo>
                <a:lnTo>
                  <a:pt x="14721" y="11362"/>
                </a:lnTo>
                <a:lnTo>
                  <a:pt x="14983" y="11803"/>
                </a:lnTo>
                <a:lnTo>
                  <a:pt x="15145" y="12290"/>
                </a:lnTo>
                <a:lnTo>
                  <a:pt x="15200" y="12800"/>
                </a:lnTo>
                <a:lnTo>
                  <a:pt x="15140" y="13334"/>
                </a:lnTo>
                <a:lnTo>
                  <a:pt x="14962" y="13841"/>
                </a:lnTo>
                <a:lnTo>
                  <a:pt x="14676" y="14296"/>
                </a:lnTo>
                <a:lnTo>
                  <a:pt x="14296" y="14676"/>
                </a:lnTo>
                <a:lnTo>
                  <a:pt x="13841" y="14962"/>
                </a:lnTo>
                <a:lnTo>
                  <a:pt x="13334" y="15140"/>
                </a:lnTo>
                <a:lnTo>
                  <a:pt x="12800" y="15200"/>
                </a:lnTo>
                <a:close/>
              </a:path>
            </a:pathLst>
          </a:custGeom>
          <a:solidFill>
            <a:srgbClr val="024791"/>
          </a:solidFill>
          <a:ln>
            <a:noFill/>
          </a:ln>
        </p:spPr>
        <p:txBody>
          <a:bodyPr rtlCol="0" anchor="ctr"/>
          <a:lstStyle/>
          <a:p>
            <a:pPr algn="ctr"/>
          </a:p>
        </p:txBody>
      </p:sp>
      <p:sp>
        <p:nvSpPr>
          <p:cNvPr id="83" name="TextBox 82"/>
          <p:cNvSpPr txBox="1"/>
          <p:nvPr/>
        </p:nvSpPr>
        <p:spPr>
          <a:xfrm>
            <a:off x="4527191" y="5815012"/>
            <a:ext cx="1590000" cy="560000"/>
          </a:xfrm>
          <a:prstGeom prst="rect">
            <a:avLst/>
          </a:prstGeom>
          <a:noFill/>
        </p:spPr>
        <p:txBody>
          <a:bodyPr wrap="square" lIns="0" rIns="0" tIns="0" bIns="0" anchor="ctr">
            <a:spAutoFit/>
          </a:bodyPr>
          <a:lstStyle/>
          <a:p>
            <a:pPr algn="l">
              <a:lnSpc>
                <a:spcPct val="100000"/>
              </a:lnSpc>
              <a:spcAft>
                <a:spcPts val="0"/>
              </a:spcAft>
            </a:pPr>
            <a:r>
              <a:rPr sz="1000" b="1" i="0">
                <a:solidFill>
                  <a:srgbClr val="FFFFFF"/>
                </a:solidFill>
                <a:latin typeface="Arial"/>
              </a:rPr>
              <a:t>PROBLEMA COMPRENDIDO</a:t>
            </a:r>
          </a:p>
        </p:txBody>
      </p:sp>
      <p:sp>
        <p:nvSpPr>
          <p:cNvPr id="84" name="TextBox 83"/>
          <p:cNvSpPr txBox="1"/>
          <p:nvPr/>
        </p:nvSpPr>
        <p:spPr>
          <a:xfrm>
            <a:off x="4107191" y="6535012"/>
            <a:ext cx="1930000" cy="560000"/>
          </a:xfrm>
          <a:prstGeom prst="rect">
            <a:avLst/>
          </a:prstGeom>
          <a:noFill/>
        </p:spPr>
        <p:txBody>
          <a:bodyPr wrap="square" lIns="0" rIns="0" tIns="0" bIns="0" anchor="t">
            <a:spAutoFit/>
          </a:bodyPr>
          <a:lstStyle/>
          <a:p>
            <a:pPr algn="l">
              <a:lnSpc>
                <a:spcPct val="115000"/>
              </a:lnSpc>
              <a:spcAft>
                <a:spcPts val="0"/>
              </a:spcAft>
            </a:pPr>
            <a:r>
              <a:rPr sz="1000" b="0" i="0">
                <a:solidFill>
                  <a:srgbClr val="3D2159"/>
                </a:solidFill>
                <a:latin typeface="Arial"/>
              </a:rPr>
              <a:t>Lo reformulamos a partir de hallazgos y necesidades más precisas.</a:t>
            </a:r>
          </a:p>
        </p:txBody>
      </p:sp>
      <p:sp>
        <p:nvSpPr>
          <p:cNvPr id="85" name="Oval 84"/>
          <p:cNvSpPr/>
          <p:nvPr/>
        </p:nvSpPr>
        <p:spPr>
          <a:xfrm>
            <a:off x="3198999" y="6235012"/>
            <a:ext cx="460000" cy="460000"/>
          </a:xfrm>
          <a:prstGeom prst="ellipse">
            <a:avLst/>
          </a:prstGeom>
          <a:solidFill>
            <a:srgbClr val="FFD900"/>
          </a:solidFill>
          <a:ln>
            <a:noFill/>
          </a:ln>
        </p:spPr>
        <p:txBody>
          <a:bodyPr rtlCol="0" anchor="ctr"/>
          <a:lstStyle/>
          <a:p>
            <a:pPr algn="ctr"/>
          </a:p>
        </p:txBody>
      </p:sp>
      <p:sp>
        <p:nvSpPr>
          <p:cNvPr id="86" name="icono arrows-clockwise"/>
          <p:cNvSpPr/>
          <p:nvPr/>
        </p:nvSpPr>
        <p:spPr>
          <a:xfrm>
            <a:off x="3303999" y="6340012"/>
            <a:ext cx="250000" cy="250000"/>
          </a:xfrm>
          <a:custGeom>
            <a:avLst/>
            <a:gdLst/>
            <a:ahLst/>
            <a:cxnLst/>
            <a:rect l="0" t="0" r="r" b="b"/>
            <a:pathLst>
              <a:path w="25600" h="25600">
                <a:moveTo>
                  <a:pt x="22400" y="4800"/>
                </a:moveTo>
                <a:lnTo>
                  <a:pt x="22400" y="9600"/>
                </a:lnTo>
                <a:lnTo>
                  <a:pt x="22380" y="9778"/>
                </a:lnTo>
                <a:lnTo>
                  <a:pt x="22321" y="9947"/>
                </a:lnTo>
                <a:lnTo>
                  <a:pt x="22225" y="10099"/>
                </a:lnTo>
                <a:lnTo>
                  <a:pt x="22099" y="10225"/>
                </a:lnTo>
                <a:lnTo>
                  <a:pt x="21947" y="10321"/>
                </a:lnTo>
                <a:lnTo>
                  <a:pt x="21778" y="10380"/>
                </a:lnTo>
                <a:lnTo>
                  <a:pt x="21600" y="10400"/>
                </a:lnTo>
                <a:lnTo>
                  <a:pt x="16800" y="10400"/>
                </a:lnTo>
                <a:lnTo>
                  <a:pt x="16634" y="10383"/>
                </a:lnTo>
                <a:lnTo>
                  <a:pt x="16475" y="10331"/>
                </a:lnTo>
                <a:lnTo>
                  <a:pt x="16330" y="10247"/>
                </a:lnTo>
                <a:lnTo>
                  <a:pt x="16205" y="10135"/>
                </a:lnTo>
                <a:lnTo>
                  <a:pt x="16107" y="10000"/>
                </a:lnTo>
                <a:lnTo>
                  <a:pt x="16039" y="9847"/>
                </a:lnTo>
                <a:lnTo>
                  <a:pt x="16004" y="9684"/>
                </a:lnTo>
                <a:lnTo>
                  <a:pt x="16004" y="9516"/>
                </a:lnTo>
                <a:lnTo>
                  <a:pt x="16039" y="9353"/>
                </a:lnTo>
                <a:lnTo>
                  <a:pt x="16107" y="9200"/>
                </a:lnTo>
                <a:lnTo>
                  <a:pt x="16205" y="9065"/>
                </a:lnTo>
                <a:lnTo>
                  <a:pt x="16330" y="8953"/>
                </a:lnTo>
                <a:lnTo>
                  <a:pt x="16475" y="8869"/>
                </a:lnTo>
                <a:lnTo>
                  <a:pt x="16634" y="8817"/>
                </a:lnTo>
                <a:lnTo>
                  <a:pt x="16800" y="8800"/>
                </a:lnTo>
                <a:lnTo>
                  <a:pt x="19669" y="8800"/>
                </a:lnTo>
                <a:lnTo>
                  <a:pt x="18206" y="7337"/>
                </a:lnTo>
                <a:lnTo>
                  <a:pt x="17426" y="6650"/>
                </a:lnTo>
                <a:lnTo>
                  <a:pt x="16563" y="6070"/>
                </a:lnTo>
                <a:lnTo>
                  <a:pt x="15632" y="5608"/>
                </a:lnTo>
                <a:lnTo>
                  <a:pt x="14649" y="5271"/>
                </a:lnTo>
                <a:lnTo>
                  <a:pt x="13630" y="5065"/>
                </a:lnTo>
                <a:lnTo>
                  <a:pt x="12593" y="4994"/>
                </a:lnTo>
                <a:lnTo>
                  <a:pt x="12548" y="4994"/>
                </a:lnTo>
                <a:lnTo>
                  <a:pt x="11519" y="5058"/>
                </a:lnTo>
                <a:lnTo>
                  <a:pt x="10507" y="5255"/>
                </a:lnTo>
                <a:lnTo>
                  <a:pt x="9529" y="5582"/>
                </a:lnTo>
                <a:lnTo>
                  <a:pt x="8602" y="6032"/>
                </a:lnTo>
                <a:lnTo>
                  <a:pt x="7740" y="6598"/>
                </a:lnTo>
                <a:lnTo>
                  <a:pt x="6959" y="7271"/>
                </a:lnTo>
                <a:lnTo>
                  <a:pt x="6817" y="7376"/>
                </a:lnTo>
                <a:lnTo>
                  <a:pt x="6656" y="7448"/>
                </a:lnTo>
                <a:lnTo>
                  <a:pt x="6483" y="7483"/>
                </a:lnTo>
                <a:lnTo>
                  <a:pt x="6307" y="7479"/>
                </a:lnTo>
                <a:lnTo>
                  <a:pt x="6135" y="7436"/>
                </a:lnTo>
                <a:lnTo>
                  <a:pt x="5978" y="7357"/>
                </a:lnTo>
                <a:lnTo>
                  <a:pt x="5841" y="7245"/>
                </a:lnTo>
                <a:lnTo>
                  <a:pt x="5732" y="7106"/>
                </a:lnTo>
                <a:lnTo>
                  <a:pt x="5657" y="6947"/>
                </a:lnTo>
                <a:lnTo>
                  <a:pt x="5618" y="6774"/>
                </a:lnTo>
                <a:lnTo>
                  <a:pt x="5618" y="6598"/>
                </a:lnTo>
                <a:lnTo>
                  <a:pt x="5657" y="6426"/>
                </a:lnTo>
                <a:lnTo>
                  <a:pt x="5732" y="6266"/>
                </a:lnTo>
                <a:lnTo>
                  <a:pt x="5841" y="6127"/>
                </a:lnTo>
                <a:lnTo>
                  <a:pt x="7524" y="4814"/>
                </a:lnTo>
                <a:lnTo>
                  <a:pt x="9455" y="3905"/>
                </a:lnTo>
                <a:lnTo>
                  <a:pt x="11540" y="3446"/>
                </a:lnTo>
                <a:lnTo>
                  <a:pt x="13674" y="3458"/>
                </a:lnTo>
                <a:lnTo>
                  <a:pt x="15753" y="3942"/>
                </a:lnTo>
                <a:lnTo>
                  <a:pt x="17674" y="4873"/>
                </a:lnTo>
                <a:lnTo>
                  <a:pt x="19341" y="6206"/>
                </a:lnTo>
                <a:lnTo>
                  <a:pt x="20800" y="7669"/>
                </a:lnTo>
                <a:lnTo>
                  <a:pt x="20800" y="4800"/>
                </a:lnTo>
                <a:lnTo>
                  <a:pt x="20817" y="4634"/>
                </a:lnTo>
                <a:lnTo>
                  <a:pt x="20869" y="4475"/>
                </a:lnTo>
                <a:lnTo>
                  <a:pt x="20953" y="4330"/>
                </a:lnTo>
                <a:lnTo>
                  <a:pt x="21065" y="4205"/>
                </a:lnTo>
                <a:lnTo>
                  <a:pt x="21200" y="4107"/>
                </a:lnTo>
                <a:lnTo>
                  <a:pt x="21353" y="4039"/>
                </a:lnTo>
                <a:lnTo>
                  <a:pt x="21516" y="4004"/>
                </a:lnTo>
                <a:lnTo>
                  <a:pt x="21684" y="4004"/>
                </a:lnTo>
                <a:lnTo>
                  <a:pt x="21847" y="4039"/>
                </a:lnTo>
                <a:lnTo>
                  <a:pt x="22000" y="4107"/>
                </a:lnTo>
                <a:lnTo>
                  <a:pt x="22135" y="4205"/>
                </a:lnTo>
                <a:lnTo>
                  <a:pt x="22247" y="4330"/>
                </a:lnTo>
                <a:lnTo>
                  <a:pt x="22331" y="4475"/>
                </a:lnTo>
                <a:lnTo>
                  <a:pt x="22383" y="4634"/>
                </a:lnTo>
                <a:lnTo>
                  <a:pt x="22400" y="4800"/>
                </a:lnTo>
                <a:close/>
                <a:moveTo>
                  <a:pt x="18641" y="18329"/>
                </a:moveTo>
                <a:lnTo>
                  <a:pt x="17239" y="19422"/>
                </a:lnTo>
                <a:lnTo>
                  <a:pt x="15630" y="20179"/>
                </a:lnTo>
                <a:lnTo>
                  <a:pt x="13893" y="20562"/>
                </a:lnTo>
                <a:lnTo>
                  <a:pt x="12115" y="20551"/>
                </a:lnTo>
                <a:lnTo>
                  <a:pt x="10383" y="20148"/>
                </a:lnTo>
                <a:lnTo>
                  <a:pt x="8783" y="19373"/>
                </a:lnTo>
                <a:lnTo>
                  <a:pt x="7394" y="18263"/>
                </a:lnTo>
                <a:lnTo>
                  <a:pt x="5931" y="16800"/>
                </a:lnTo>
                <a:lnTo>
                  <a:pt x="8800" y="16800"/>
                </a:lnTo>
                <a:lnTo>
                  <a:pt x="8966" y="16783"/>
                </a:lnTo>
                <a:lnTo>
                  <a:pt x="9125" y="16731"/>
                </a:lnTo>
                <a:lnTo>
                  <a:pt x="9270" y="16647"/>
                </a:lnTo>
                <a:lnTo>
                  <a:pt x="9395" y="16535"/>
                </a:lnTo>
                <a:lnTo>
                  <a:pt x="9493" y="16400"/>
                </a:lnTo>
                <a:lnTo>
                  <a:pt x="9561" y="16247"/>
                </a:lnTo>
                <a:lnTo>
                  <a:pt x="9596" y="16084"/>
                </a:lnTo>
                <a:lnTo>
                  <a:pt x="9596" y="15916"/>
                </a:lnTo>
                <a:lnTo>
                  <a:pt x="9561" y="15753"/>
                </a:lnTo>
                <a:lnTo>
                  <a:pt x="9493" y="15600"/>
                </a:lnTo>
                <a:lnTo>
                  <a:pt x="9395" y="15465"/>
                </a:lnTo>
                <a:lnTo>
                  <a:pt x="9270" y="15353"/>
                </a:lnTo>
                <a:lnTo>
                  <a:pt x="9125" y="15269"/>
                </a:lnTo>
                <a:lnTo>
                  <a:pt x="8966" y="15217"/>
                </a:lnTo>
                <a:lnTo>
                  <a:pt x="8800" y="15200"/>
                </a:lnTo>
                <a:lnTo>
                  <a:pt x="4000" y="15200"/>
                </a:lnTo>
                <a:lnTo>
                  <a:pt x="3822" y="15220"/>
                </a:lnTo>
                <a:lnTo>
                  <a:pt x="3653" y="15279"/>
                </a:lnTo>
                <a:lnTo>
                  <a:pt x="3501" y="15375"/>
                </a:lnTo>
                <a:lnTo>
                  <a:pt x="3375" y="15501"/>
                </a:lnTo>
                <a:lnTo>
                  <a:pt x="3279" y="15653"/>
                </a:lnTo>
                <a:lnTo>
                  <a:pt x="3220" y="15822"/>
                </a:lnTo>
                <a:lnTo>
                  <a:pt x="3200" y="16000"/>
                </a:lnTo>
                <a:lnTo>
                  <a:pt x="3200" y="20800"/>
                </a:lnTo>
                <a:lnTo>
                  <a:pt x="3217" y="20966"/>
                </a:lnTo>
                <a:lnTo>
                  <a:pt x="3269" y="21125"/>
                </a:lnTo>
                <a:lnTo>
                  <a:pt x="3353" y="21270"/>
                </a:lnTo>
                <a:lnTo>
                  <a:pt x="3465" y="21395"/>
                </a:lnTo>
                <a:lnTo>
                  <a:pt x="3600" y="21493"/>
                </a:lnTo>
                <a:lnTo>
                  <a:pt x="3753" y="21561"/>
                </a:lnTo>
                <a:lnTo>
                  <a:pt x="3916" y="21596"/>
                </a:lnTo>
                <a:lnTo>
                  <a:pt x="4084" y="21596"/>
                </a:lnTo>
                <a:lnTo>
                  <a:pt x="4247" y="21561"/>
                </a:lnTo>
                <a:lnTo>
                  <a:pt x="4400" y="21493"/>
                </a:lnTo>
                <a:lnTo>
                  <a:pt x="4535" y="21395"/>
                </a:lnTo>
                <a:lnTo>
                  <a:pt x="4647" y="21270"/>
                </a:lnTo>
                <a:lnTo>
                  <a:pt x="4731" y="21125"/>
                </a:lnTo>
                <a:lnTo>
                  <a:pt x="4783" y="20966"/>
                </a:lnTo>
                <a:lnTo>
                  <a:pt x="4800" y="20800"/>
                </a:lnTo>
                <a:lnTo>
                  <a:pt x="4800" y="17931"/>
                </a:lnTo>
                <a:lnTo>
                  <a:pt x="6263" y="19394"/>
                </a:lnTo>
                <a:lnTo>
                  <a:pt x="7199" y="20219"/>
                </a:lnTo>
                <a:lnTo>
                  <a:pt x="8234" y="20915"/>
                </a:lnTo>
                <a:lnTo>
                  <a:pt x="9352" y="21470"/>
                </a:lnTo>
                <a:lnTo>
                  <a:pt x="10532" y="21874"/>
                </a:lnTo>
                <a:lnTo>
                  <a:pt x="11755" y="22121"/>
                </a:lnTo>
                <a:lnTo>
                  <a:pt x="13000" y="22206"/>
                </a:lnTo>
                <a:lnTo>
                  <a:pt x="13053" y="22206"/>
                </a:lnTo>
                <a:lnTo>
                  <a:pt x="14288" y="22129"/>
                </a:lnTo>
                <a:lnTo>
                  <a:pt x="15502" y="21893"/>
                </a:lnTo>
                <a:lnTo>
                  <a:pt x="16676" y="21501"/>
                </a:lnTo>
                <a:lnTo>
                  <a:pt x="17789" y="20961"/>
                </a:lnTo>
                <a:lnTo>
                  <a:pt x="18823" y="20281"/>
                </a:lnTo>
                <a:lnTo>
                  <a:pt x="19760" y="19473"/>
                </a:lnTo>
                <a:lnTo>
                  <a:pt x="19869" y="19334"/>
                </a:lnTo>
                <a:lnTo>
                  <a:pt x="19944" y="19174"/>
                </a:lnTo>
                <a:lnTo>
                  <a:pt x="19983" y="19002"/>
                </a:lnTo>
                <a:lnTo>
                  <a:pt x="19983" y="18826"/>
                </a:lnTo>
                <a:lnTo>
                  <a:pt x="19944" y="18653"/>
                </a:lnTo>
                <a:lnTo>
                  <a:pt x="19869" y="18494"/>
                </a:lnTo>
                <a:lnTo>
                  <a:pt x="19760" y="18355"/>
                </a:lnTo>
                <a:lnTo>
                  <a:pt x="19623" y="18243"/>
                </a:lnTo>
                <a:lnTo>
                  <a:pt x="19466" y="18164"/>
                </a:lnTo>
                <a:lnTo>
                  <a:pt x="19294" y="18121"/>
                </a:lnTo>
                <a:lnTo>
                  <a:pt x="19118" y="18117"/>
                </a:lnTo>
                <a:lnTo>
                  <a:pt x="18945" y="18152"/>
                </a:lnTo>
                <a:lnTo>
                  <a:pt x="18784" y="18224"/>
                </a:lnTo>
                <a:lnTo>
                  <a:pt x="18642" y="18329"/>
                </a:lnTo>
                <a:lnTo>
                  <a:pt x="18641" y="18329"/>
                </a:lnTo>
                <a:close/>
              </a:path>
            </a:pathLst>
          </a:custGeom>
          <a:solidFill>
            <a:srgbClr val="0B2E6B"/>
          </a:solidFill>
          <a:ln>
            <a:noFill/>
          </a:ln>
        </p:spPr>
        <p:txBody>
          <a:bodyPr rtlCol="0" anchor="ctr"/>
          <a:lstStyle/>
          <a:p>
            <a:pPr algn="ctr"/>
          </a:p>
        </p:txBody>
      </p:sp>
      <p:sp>
        <p:nvSpPr>
          <p:cNvPr id="87" name="TextBox 86"/>
          <p:cNvSpPr txBox="1"/>
          <p:nvPr/>
        </p:nvSpPr>
        <p:spPr>
          <a:xfrm>
            <a:off x="2948999" y="6715012"/>
            <a:ext cx="960000" cy="380000"/>
          </a:xfrm>
          <a:prstGeom prst="rect">
            <a:avLst/>
          </a:prstGeom>
          <a:noFill/>
        </p:spPr>
        <p:txBody>
          <a:bodyPr wrap="square" lIns="0" rIns="0" tIns="0" bIns="0" anchor="t">
            <a:spAutoFit/>
          </a:bodyPr>
          <a:lstStyle/>
          <a:p>
            <a:pPr algn="ctr">
              <a:lnSpc>
                <a:spcPct val="100000"/>
              </a:lnSpc>
              <a:spcAft>
                <a:spcPts val="0"/>
              </a:spcAft>
            </a:pPr>
            <a:r>
              <a:rPr sz="750" b="1" i="0">
                <a:solidFill>
                  <a:srgbClr val="024791"/>
                </a:solidFill>
                <a:latin typeface="Arial"/>
              </a:rPr>
              <a:t>COMPRENDER A LAS PERSONAS</a:t>
            </a:r>
          </a:p>
        </p:txBody>
      </p:sp>
      <p:sp>
        <p:nvSpPr>
          <p:cNvPr id="88" name="Rounded Rectangle 87"/>
          <p:cNvSpPr/>
          <p:nvPr/>
        </p:nvSpPr>
        <p:spPr>
          <a:xfrm>
            <a:off x="640808" y="7255012"/>
            <a:ext cx="5576383" cy="860000"/>
          </a:xfrm>
          <a:prstGeom prst="roundRect">
            <a:avLst>
              <a:gd name="adj" fmla="val 12790"/>
            </a:avLst>
          </a:prstGeom>
          <a:solidFill>
            <a:srgbClr val="E5E6ED"/>
          </a:solidFill>
          <a:ln>
            <a:noFill/>
          </a:ln>
        </p:spPr>
        <p:txBody>
          <a:bodyPr rtlCol="0" anchor="ctr"/>
          <a:lstStyle/>
          <a:p>
            <a:pPr algn="ctr"/>
          </a:p>
        </p:txBody>
      </p:sp>
      <p:cxnSp>
        <p:nvCxnSpPr>
          <p:cNvPr id="67" name="Google Shape;67;p12"/>
          <p:cNvCxnSpPr/>
          <p:nvPr/>
        </p:nvCxnSpPr>
        <p:spPr>
          <a:xfrm>
            <a:off x="748515" y="7255012"/>
            <a:ext cx="1047572" cy="0"/>
          </a:xfrm>
          <a:prstGeom prst="straightConnector1">
            <a:avLst/>
          </a:prstGeom>
          <a:noFill/>
          <a:ln cap="flat" cmpd="sng" w="53975">
            <a:solidFill>
              <a:srgbClr val="73CDEB"/>
            </a:solidFill>
            <a:prstDash val="solid"/>
            <a:round/>
            <a:headEnd len="med" w="med" type="oval"/>
            <a:tailEnd len="med" w="med" type="oval"/>
          </a:ln>
        </p:spPr>
      </p:cxnSp>
      <p:sp>
        <p:nvSpPr>
          <p:cNvPr id="89" name="Oval 88"/>
          <p:cNvSpPr/>
          <p:nvPr/>
        </p:nvSpPr>
        <p:spPr>
          <a:xfrm>
            <a:off x="820808" y="7455012"/>
            <a:ext cx="460000" cy="460000"/>
          </a:xfrm>
          <a:prstGeom prst="ellipse">
            <a:avLst/>
          </a:prstGeom>
          <a:solidFill>
            <a:srgbClr val="FFD900"/>
          </a:solidFill>
          <a:ln>
            <a:noFill/>
          </a:ln>
        </p:spPr>
        <p:txBody>
          <a:bodyPr rtlCol="0" anchor="ctr"/>
          <a:lstStyle/>
          <a:p>
            <a:pPr algn="ctr"/>
          </a:p>
        </p:txBody>
      </p:sp>
      <p:sp>
        <p:nvSpPr>
          <p:cNvPr id="90" name="icono lightbulb"/>
          <p:cNvSpPr/>
          <p:nvPr/>
        </p:nvSpPr>
        <p:spPr>
          <a:xfrm>
            <a:off x="925808" y="7560012"/>
            <a:ext cx="250000" cy="250000"/>
          </a:xfrm>
          <a:custGeom>
            <a:avLst/>
            <a:gdLst/>
            <a:ahLst/>
            <a:cxnLst/>
            <a:rect l="0" t="0" r="r" b="b"/>
            <a:pathLst>
              <a:path w="25600" h="25600">
                <a:moveTo>
                  <a:pt x="17600" y="23200"/>
                </a:moveTo>
                <a:lnTo>
                  <a:pt x="17580" y="23378"/>
                </a:lnTo>
                <a:lnTo>
                  <a:pt x="17521" y="23547"/>
                </a:lnTo>
                <a:lnTo>
                  <a:pt x="17425" y="23699"/>
                </a:lnTo>
                <a:lnTo>
                  <a:pt x="17299" y="23825"/>
                </a:lnTo>
                <a:lnTo>
                  <a:pt x="17147" y="23921"/>
                </a:lnTo>
                <a:lnTo>
                  <a:pt x="16978" y="23980"/>
                </a:lnTo>
                <a:lnTo>
                  <a:pt x="16800" y="24000"/>
                </a:lnTo>
                <a:lnTo>
                  <a:pt x="8800" y="24000"/>
                </a:lnTo>
                <a:lnTo>
                  <a:pt x="8634" y="23983"/>
                </a:lnTo>
                <a:lnTo>
                  <a:pt x="8475" y="23931"/>
                </a:lnTo>
                <a:lnTo>
                  <a:pt x="8330" y="23847"/>
                </a:lnTo>
                <a:lnTo>
                  <a:pt x="8205" y="23735"/>
                </a:lnTo>
                <a:lnTo>
                  <a:pt x="8107" y="23600"/>
                </a:lnTo>
                <a:lnTo>
                  <a:pt x="8039" y="23447"/>
                </a:lnTo>
                <a:lnTo>
                  <a:pt x="8004" y="23284"/>
                </a:lnTo>
                <a:lnTo>
                  <a:pt x="8004" y="23116"/>
                </a:lnTo>
                <a:lnTo>
                  <a:pt x="8039" y="22953"/>
                </a:lnTo>
                <a:lnTo>
                  <a:pt x="8107" y="22800"/>
                </a:lnTo>
                <a:lnTo>
                  <a:pt x="8205" y="22665"/>
                </a:lnTo>
                <a:lnTo>
                  <a:pt x="8330" y="22553"/>
                </a:lnTo>
                <a:lnTo>
                  <a:pt x="8475" y="22469"/>
                </a:lnTo>
                <a:lnTo>
                  <a:pt x="8634" y="22417"/>
                </a:lnTo>
                <a:lnTo>
                  <a:pt x="8800" y="22400"/>
                </a:lnTo>
                <a:lnTo>
                  <a:pt x="16800" y="22400"/>
                </a:lnTo>
                <a:lnTo>
                  <a:pt x="16978" y="22420"/>
                </a:lnTo>
                <a:lnTo>
                  <a:pt x="17147" y="22479"/>
                </a:lnTo>
                <a:lnTo>
                  <a:pt x="17299" y="22575"/>
                </a:lnTo>
                <a:lnTo>
                  <a:pt x="17425" y="22701"/>
                </a:lnTo>
                <a:lnTo>
                  <a:pt x="17521" y="22853"/>
                </a:lnTo>
                <a:lnTo>
                  <a:pt x="17580" y="23022"/>
                </a:lnTo>
                <a:lnTo>
                  <a:pt x="17600" y="23200"/>
                </a:lnTo>
                <a:close/>
                <a:moveTo>
                  <a:pt x="21600" y="10400"/>
                </a:moveTo>
                <a:lnTo>
                  <a:pt x="21503" y="11723"/>
                </a:lnTo>
                <a:lnTo>
                  <a:pt x="21207" y="13016"/>
                </a:lnTo>
                <a:lnTo>
                  <a:pt x="20719" y="14250"/>
                </a:lnTo>
                <a:lnTo>
                  <a:pt x="20050" y="15396"/>
                </a:lnTo>
                <a:lnTo>
                  <a:pt x="19216" y="16427"/>
                </a:lnTo>
                <a:lnTo>
                  <a:pt x="18236" y="17321"/>
                </a:lnTo>
                <a:lnTo>
                  <a:pt x="18052" y="17485"/>
                </a:lnTo>
                <a:lnTo>
                  <a:pt x="17896" y="17675"/>
                </a:lnTo>
                <a:lnTo>
                  <a:pt x="17770" y="17887"/>
                </a:lnTo>
                <a:lnTo>
                  <a:pt x="17677" y="18115"/>
                </a:lnTo>
                <a:lnTo>
                  <a:pt x="17620" y="18355"/>
                </a:lnTo>
                <a:lnTo>
                  <a:pt x="17600" y="18600"/>
                </a:lnTo>
                <a:lnTo>
                  <a:pt x="17600" y="19200"/>
                </a:lnTo>
                <a:lnTo>
                  <a:pt x="17560" y="19556"/>
                </a:lnTo>
                <a:lnTo>
                  <a:pt x="17442" y="19894"/>
                </a:lnTo>
                <a:lnTo>
                  <a:pt x="17251" y="20198"/>
                </a:lnTo>
                <a:lnTo>
                  <a:pt x="16998" y="20451"/>
                </a:lnTo>
                <a:lnTo>
                  <a:pt x="16694" y="20642"/>
                </a:lnTo>
                <a:lnTo>
                  <a:pt x="16356" y="20760"/>
                </a:lnTo>
                <a:lnTo>
                  <a:pt x="16000" y="20800"/>
                </a:lnTo>
                <a:lnTo>
                  <a:pt x="9600" y="20800"/>
                </a:lnTo>
                <a:lnTo>
                  <a:pt x="9244" y="20760"/>
                </a:lnTo>
                <a:lnTo>
                  <a:pt x="8906" y="20642"/>
                </a:lnTo>
                <a:lnTo>
                  <a:pt x="8602" y="20451"/>
                </a:lnTo>
                <a:lnTo>
                  <a:pt x="8349" y="20198"/>
                </a:lnTo>
                <a:lnTo>
                  <a:pt x="8158" y="19894"/>
                </a:lnTo>
                <a:lnTo>
                  <a:pt x="8040" y="19556"/>
                </a:lnTo>
                <a:lnTo>
                  <a:pt x="8000" y="19200"/>
                </a:lnTo>
                <a:lnTo>
                  <a:pt x="8000" y="18600"/>
                </a:lnTo>
                <a:lnTo>
                  <a:pt x="7981" y="18357"/>
                </a:lnTo>
                <a:lnTo>
                  <a:pt x="7926" y="18120"/>
                </a:lnTo>
                <a:lnTo>
                  <a:pt x="7836" y="17895"/>
                </a:lnTo>
                <a:lnTo>
                  <a:pt x="7712" y="17685"/>
                </a:lnTo>
                <a:lnTo>
                  <a:pt x="7558" y="17497"/>
                </a:lnTo>
                <a:lnTo>
                  <a:pt x="7377" y="17334"/>
                </a:lnTo>
                <a:lnTo>
                  <a:pt x="6399" y="16446"/>
                </a:lnTo>
                <a:lnTo>
                  <a:pt x="5565" y="15420"/>
                </a:lnTo>
                <a:lnTo>
                  <a:pt x="4895" y="14281"/>
                </a:lnTo>
                <a:lnTo>
                  <a:pt x="4404" y="13054"/>
                </a:lnTo>
                <a:lnTo>
                  <a:pt x="4104" y="11767"/>
                </a:lnTo>
                <a:lnTo>
                  <a:pt x="4000" y="10449"/>
                </a:lnTo>
                <a:cubicBezTo>
                  <a:pt x="3974" y="5683"/>
                  <a:pt x="7826" y="1714"/>
                  <a:pt x="12588" y="1600"/>
                </a:cubicBezTo>
                <a:lnTo>
                  <a:pt x="14581" y="1780"/>
                </a:lnTo>
                <a:lnTo>
                  <a:pt x="16482" y="2405"/>
                </a:lnTo>
                <a:lnTo>
                  <a:pt x="18192" y="3443"/>
                </a:lnTo>
                <a:lnTo>
                  <a:pt x="19624" y="4841"/>
                </a:lnTo>
                <a:lnTo>
                  <a:pt x="20703" y="6526"/>
                </a:lnTo>
                <a:lnTo>
                  <a:pt x="21373" y="8412"/>
                </a:lnTo>
                <a:lnTo>
                  <a:pt x="21600" y="10400"/>
                </a:lnTo>
                <a:close/>
                <a:moveTo>
                  <a:pt x="20000" y="10400"/>
                </a:moveTo>
                <a:lnTo>
                  <a:pt x="19814" y="8773"/>
                </a:lnTo>
                <a:lnTo>
                  <a:pt x="19266" y="7231"/>
                </a:lnTo>
                <a:lnTo>
                  <a:pt x="18383" y="5852"/>
                </a:lnTo>
                <a:lnTo>
                  <a:pt x="17212" y="4708"/>
                </a:lnTo>
                <a:lnTo>
                  <a:pt x="15812" y="3858"/>
                </a:lnTo>
                <a:lnTo>
                  <a:pt x="14257" y="3347"/>
                </a:lnTo>
                <a:lnTo>
                  <a:pt x="12626" y="3200"/>
                </a:lnTo>
                <a:cubicBezTo>
                  <a:pt x="8726" y="3292"/>
                  <a:pt x="5579" y="6539"/>
                  <a:pt x="5600" y="10439"/>
                </a:cubicBezTo>
                <a:lnTo>
                  <a:pt x="5685" y="11517"/>
                </a:lnTo>
                <a:lnTo>
                  <a:pt x="5931" y="12569"/>
                </a:lnTo>
                <a:lnTo>
                  <a:pt x="6333" y="13572"/>
                </a:lnTo>
                <a:lnTo>
                  <a:pt x="6881" y="14504"/>
                </a:lnTo>
                <a:lnTo>
                  <a:pt x="7564" y="15343"/>
                </a:lnTo>
                <a:lnTo>
                  <a:pt x="8364" y="16069"/>
                </a:lnTo>
                <a:lnTo>
                  <a:pt x="8724" y="16395"/>
                </a:lnTo>
                <a:lnTo>
                  <a:pt x="9030" y="16772"/>
                </a:lnTo>
                <a:lnTo>
                  <a:pt x="9275" y="17191"/>
                </a:lnTo>
                <a:lnTo>
                  <a:pt x="9455" y="17642"/>
                </a:lnTo>
                <a:lnTo>
                  <a:pt x="9564" y="18116"/>
                </a:lnTo>
                <a:lnTo>
                  <a:pt x="9600" y="18600"/>
                </a:lnTo>
                <a:lnTo>
                  <a:pt x="9600" y="19200"/>
                </a:lnTo>
                <a:lnTo>
                  <a:pt x="16000" y="19200"/>
                </a:lnTo>
                <a:lnTo>
                  <a:pt x="16000" y="18600"/>
                </a:lnTo>
                <a:lnTo>
                  <a:pt x="16038" y="18114"/>
                </a:lnTo>
                <a:lnTo>
                  <a:pt x="16149" y="17640"/>
                </a:lnTo>
                <a:lnTo>
                  <a:pt x="16330" y="17188"/>
                </a:lnTo>
                <a:lnTo>
                  <a:pt x="16578" y="16769"/>
                </a:lnTo>
                <a:lnTo>
                  <a:pt x="16886" y="16391"/>
                </a:lnTo>
                <a:lnTo>
                  <a:pt x="17247" y="16065"/>
                </a:lnTo>
                <a:lnTo>
                  <a:pt x="18049" y="15333"/>
                </a:lnTo>
                <a:lnTo>
                  <a:pt x="18732" y="14489"/>
                </a:lnTo>
                <a:lnTo>
                  <a:pt x="19279" y="13551"/>
                </a:lnTo>
                <a:lnTo>
                  <a:pt x="19679" y="12541"/>
                </a:lnTo>
                <a:lnTo>
                  <a:pt x="19921" y="11483"/>
                </a:lnTo>
                <a:lnTo>
                  <a:pt x="20000" y="10400"/>
                </a:lnTo>
                <a:close/>
                <a:moveTo>
                  <a:pt x="18389" y="9466"/>
                </a:moveTo>
                <a:lnTo>
                  <a:pt x="18068" y="8345"/>
                </a:lnTo>
                <a:lnTo>
                  <a:pt x="17529" y="7311"/>
                </a:lnTo>
                <a:lnTo>
                  <a:pt x="16792" y="6408"/>
                </a:lnTo>
                <a:lnTo>
                  <a:pt x="15888" y="5671"/>
                </a:lnTo>
                <a:lnTo>
                  <a:pt x="14854" y="5131"/>
                </a:lnTo>
                <a:lnTo>
                  <a:pt x="13733" y="4811"/>
                </a:lnTo>
                <a:lnTo>
                  <a:pt x="13566" y="4801"/>
                </a:lnTo>
                <a:lnTo>
                  <a:pt x="13401" y="4825"/>
                </a:lnTo>
                <a:lnTo>
                  <a:pt x="13244" y="4884"/>
                </a:lnTo>
                <a:lnTo>
                  <a:pt x="13103" y="4973"/>
                </a:lnTo>
                <a:lnTo>
                  <a:pt x="12983" y="5090"/>
                </a:lnTo>
                <a:lnTo>
                  <a:pt x="12891" y="5230"/>
                </a:lnTo>
                <a:lnTo>
                  <a:pt x="12829" y="5385"/>
                </a:lnTo>
                <a:lnTo>
                  <a:pt x="12801" y="5550"/>
                </a:lnTo>
                <a:lnTo>
                  <a:pt x="12809" y="5717"/>
                </a:lnTo>
                <a:lnTo>
                  <a:pt x="12850" y="5879"/>
                </a:lnTo>
                <a:lnTo>
                  <a:pt x="12925" y="6029"/>
                </a:lnTo>
                <a:lnTo>
                  <a:pt x="13029" y="6160"/>
                </a:lnTo>
                <a:lnTo>
                  <a:pt x="13158" y="6267"/>
                </a:lnTo>
                <a:lnTo>
                  <a:pt x="13306" y="6344"/>
                </a:lnTo>
                <a:lnTo>
                  <a:pt x="13467" y="6389"/>
                </a:lnTo>
                <a:cubicBezTo>
                  <a:pt x="15124" y="6668"/>
                  <a:pt x="16530" y="8074"/>
                  <a:pt x="16811" y="9734"/>
                </a:cubicBezTo>
                <a:lnTo>
                  <a:pt x="16864" y="9913"/>
                </a:lnTo>
                <a:lnTo>
                  <a:pt x="16956" y="10075"/>
                </a:lnTo>
                <a:lnTo>
                  <a:pt x="17084" y="10211"/>
                </a:lnTo>
                <a:lnTo>
                  <a:pt x="17239" y="10314"/>
                </a:lnTo>
                <a:lnTo>
                  <a:pt x="17415" y="10378"/>
                </a:lnTo>
                <a:lnTo>
                  <a:pt x="17600" y="10400"/>
                </a:lnTo>
                <a:lnTo>
                  <a:pt x="17623" y="10400"/>
                </a:lnTo>
                <a:lnTo>
                  <a:pt x="17645" y="10399"/>
                </a:lnTo>
                <a:lnTo>
                  <a:pt x="17668" y="10397"/>
                </a:lnTo>
                <a:lnTo>
                  <a:pt x="17690" y="10395"/>
                </a:lnTo>
                <a:lnTo>
                  <a:pt x="17713" y="10392"/>
                </a:lnTo>
                <a:lnTo>
                  <a:pt x="17735" y="10389"/>
                </a:lnTo>
                <a:lnTo>
                  <a:pt x="17907" y="10339"/>
                </a:lnTo>
                <a:lnTo>
                  <a:pt x="18064" y="10253"/>
                </a:lnTo>
                <a:lnTo>
                  <a:pt x="18197" y="10133"/>
                </a:lnTo>
                <a:lnTo>
                  <a:pt x="18301" y="9987"/>
                </a:lnTo>
                <a:lnTo>
                  <a:pt x="18369" y="9821"/>
                </a:lnTo>
                <a:lnTo>
                  <a:pt x="18399" y="9645"/>
                </a:lnTo>
                <a:lnTo>
                  <a:pt x="18389" y="9466"/>
                </a:lnTo>
                <a:close/>
              </a:path>
            </a:pathLst>
          </a:custGeom>
          <a:solidFill>
            <a:srgbClr val="0B2E6B"/>
          </a:solidFill>
          <a:ln>
            <a:noFill/>
          </a:ln>
        </p:spPr>
        <p:txBody>
          <a:bodyPr rtlCol="0" anchor="ctr"/>
          <a:lstStyle/>
          <a:p>
            <a:pPr algn="ctr"/>
          </a:p>
        </p:txBody>
      </p:sp>
      <p:sp>
        <p:nvSpPr>
          <p:cNvPr id="91" name="TextBox 90"/>
          <p:cNvSpPr txBox="1"/>
          <p:nvPr/>
        </p:nvSpPr>
        <p:spPr>
          <a:xfrm>
            <a:off x="1460808" y="7455012"/>
            <a:ext cx="4576383" cy="460000"/>
          </a:xfrm>
          <a:prstGeom prst="rect">
            <a:avLst/>
          </a:prstGeom>
          <a:noFill/>
        </p:spPr>
        <p:txBody>
          <a:bodyPr wrap="square" lIns="0" rIns="0" tIns="0" bIns="0" anchor="ctr">
            <a:spAutoFit/>
          </a:bodyPr>
          <a:lstStyle/>
          <a:p>
            <a:pPr algn="l">
              <a:lnSpc>
                <a:spcPct val="125000"/>
              </a:lnSpc>
              <a:spcAft>
                <a:spcPts val="0"/>
              </a:spcAft>
            </a:pPr>
            <a:r>
              <a:rPr sz="1050" b="1" i="0">
                <a:solidFill>
                  <a:srgbClr val="024791"/>
                </a:solidFill>
                <a:latin typeface="Arial"/>
              </a:rPr>
              <a:t>Comprender no siempre confirma nuestra definición inicial; </a:t>
            </a:r>
            <a:r>
              <a:rPr sz="1050" b="0" i="0">
                <a:solidFill>
                  <a:srgbClr val="3D2159"/>
                </a:solidFill>
                <a:latin typeface="Arial"/>
              </a:rPr>
              <a:t>también puede transformarla.</a:t>
            </a:r>
          </a:p>
        </p:txBody>
      </p:sp>
      <p:sp>
        <p:nvSpPr>
          <p:cNvPr id="92" name="TextBox 91"/>
          <p:cNvSpPr txBox="1"/>
          <p:nvPr/>
        </p:nvSpPr>
        <p:spPr>
          <a:xfrm>
            <a:off x="640808" y="8395012"/>
            <a:ext cx="5576383" cy="150000"/>
          </a:xfrm>
          <a:prstGeom prst="rect">
            <a:avLst/>
          </a:prstGeom>
          <a:noFill/>
        </p:spPr>
        <p:txBody>
          <a:bodyPr wrap="square" lIns="0" rIns="0" tIns="0" bIns="0" anchor="t">
            <a:spAutoFit/>
          </a:bodyPr>
          <a:lstStyle/>
          <a:p>
            <a:pPr algn="l">
              <a:lnSpc>
                <a:spcPct val="100000"/>
              </a:lnSpc>
              <a:spcAft>
                <a:spcPts val="0"/>
              </a:spcAft>
            </a:pPr>
            <a:r>
              <a:rPr sz="950" b="0" i="1">
                <a:solidFill>
                  <a:srgbClr val="7B7480"/>
                </a:solidFill>
                <a:latin typeface="Arial"/>
              </a:rPr>
              <a:t>Fuente: elaboración propia.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808" y="723900"/>
            <a:ext cx="4265517" cy="171450"/>
          </a:xfrm>
          <a:prstGeom prst="rect">
            <a:avLst/>
          </a:prstGeom>
          <a:noFill/>
        </p:spPr>
        <p:txBody>
          <a:bodyPr wrap="square" lIns="0" rIns="0" tIns="0" bIns="0" anchor="t">
            <a:spAutoFit/>
          </a:bodyPr>
          <a:lstStyle/>
          <a:p>
            <a:pPr algn="l">
              <a:lnSpc>
                <a:spcPct val="100000"/>
              </a:lnSpc>
              <a:spcAft>
                <a:spcPts val="0"/>
              </a:spcAft>
            </a:pPr>
            <a:r>
              <a:rPr sz="825" b="1" i="0">
                <a:solidFill>
                  <a:srgbClr val="664092"/>
                </a:solidFill>
                <a:latin typeface="Arial"/>
              </a:rPr>
              <a:t>Artículo educativo · Pensamiento de diseño</a:t>
            </a:r>
          </a:p>
        </p:txBody>
      </p:sp>
      <p:sp>
        <p:nvSpPr>
          <p:cNvPr id="3" name="TextBox 2"/>
          <p:cNvSpPr txBox="1"/>
          <p:nvPr/>
        </p:nvSpPr>
        <p:spPr>
          <a:xfrm>
            <a:off x="640808" y="1104900"/>
            <a:ext cx="5576383" cy="209550"/>
          </a:xfrm>
          <a:prstGeom prst="rect">
            <a:avLst/>
          </a:prstGeom>
          <a:noFill/>
        </p:spPr>
        <p:txBody>
          <a:bodyPr wrap="square" lIns="0" rIns="0" tIns="0" bIns="0" anchor="t">
            <a:spAutoFit/>
          </a:bodyPr>
          <a:lstStyle/>
          <a:p>
            <a:pPr algn="l">
              <a:lnSpc>
                <a:spcPct val="100000"/>
              </a:lnSpc>
              <a:spcAft>
                <a:spcPts val="0"/>
              </a:spcAft>
            </a:pPr>
            <a:r>
              <a:rPr sz="975" b="1" i="0">
                <a:solidFill>
                  <a:srgbClr val="3560D6"/>
                </a:solidFill>
                <a:latin typeface="Arial"/>
              </a:rPr>
              <a:t>02 · Experimentar</a:t>
            </a:r>
          </a:p>
        </p:txBody>
      </p:sp>
      <p:sp>
        <p:nvSpPr>
          <p:cNvPr id="4" name="TextBox 3"/>
          <p:cNvSpPr txBox="1"/>
          <p:nvPr/>
        </p:nvSpPr>
        <p:spPr>
          <a:xfrm>
            <a:off x="640808" y="1428750"/>
            <a:ext cx="5576383" cy="345471"/>
          </a:xfrm>
          <a:prstGeom prst="rect">
            <a:avLst/>
          </a:prstGeom>
          <a:noFill/>
        </p:spPr>
        <p:txBody>
          <a:bodyPr wrap="square" lIns="0" rIns="0" tIns="0" bIns="0" anchor="t">
            <a:spAutoFit/>
          </a:bodyPr>
          <a:lstStyle/>
          <a:p>
            <a:pPr algn="l">
              <a:lnSpc>
                <a:spcPct val="100000"/>
              </a:lnSpc>
              <a:spcAft>
                <a:spcPts val="0"/>
              </a:spcAft>
            </a:pPr>
            <a:r>
              <a:rPr sz="2325" b="1" i="0">
                <a:solidFill>
                  <a:srgbClr val="664092"/>
                </a:solidFill>
                <a:latin typeface="Arial"/>
              </a:rPr>
              <a:t>Idea ≠ solución validada</a:t>
            </a:r>
          </a:p>
        </p:txBody>
      </p:sp>
      <p:cxnSp>
        <p:nvCxnSpPr>
          <p:cNvPr id="67" name="Google Shape;67;p12"/>
          <p:cNvCxnSpPr/>
          <p:nvPr/>
        </p:nvCxnSpPr>
        <p:spPr>
          <a:xfrm>
            <a:off x="748514" y="2004221"/>
            <a:ext cx="998913" cy="0"/>
          </a:xfrm>
          <a:prstGeom prst="straightConnector1">
            <a:avLst/>
          </a:prstGeom>
          <a:noFill/>
          <a:ln cap="flat" cmpd="sng" w="53975">
            <a:solidFill>
              <a:srgbClr val="73CDEB"/>
            </a:solidFill>
            <a:prstDash val="solid"/>
            <a:round/>
            <a:headEnd len="med" w="med" type="oval"/>
            <a:tailEnd len="med" w="med" type="oval"/>
          </a:ln>
        </p:spPr>
      </p:cxnSp>
      <p:sp>
        <p:nvSpPr>
          <p:cNvPr id="68" name="TextBox 67"/>
          <p:cNvSpPr txBox="1"/>
          <p:nvPr/>
        </p:nvSpPr>
        <p:spPr>
          <a:xfrm>
            <a:off x="642308" y="2254221"/>
            <a:ext cx="5576383" cy="2937319"/>
          </a:xfrm>
          <a:prstGeom prst="rect">
            <a:avLst/>
          </a:prstGeom>
          <a:noFill/>
        </p:spPr>
        <p:txBody>
          <a:bodyPr wrap="square" lIns="0" rIns="0" tIns="0" bIns="0" anchor="t">
            <a:spAutoFit/>
          </a:bodyPr>
          <a:lstStyle/>
          <a:p>
            <a:pPr algn="l">
              <a:lnSpc>
                <a:spcPct val="130000"/>
              </a:lnSpc>
              <a:spcAft>
                <a:spcPts val="1181"/>
              </a:spcAft>
            </a:pPr>
            <a:r>
              <a:rPr sz="1100" b="0" i="0">
                <a:solidFill>
                  <a:srgbClr val="56505B"/>
                </a:solidFill>
                <a:latin typeface="Arial"/>
              </a:rPr>
              <a:t>Cuando el reto está mejor definido podemos ampliar el espacio de soluciones posibles. Durante la ideación buscamos producir alternativas, combinarlas y transformarlas antes de seleccionar aquellas con mayor potencial.</a:t>
            </a:r>
          </a:p>
          <a:p>
            <a:pPr algn="l">
              <a:lnSpc>
                <a:spcPct val="130000"/>
              </a:lnSpc>
              <a:spcAft>
                <a:spcPts val="1181"/>
              </a:spcAft>
            </a:pPr>
            <a:r>
              <a:rPr sz="1100" b="1" i="0">
                <a:solidFill>
                  <a:srgbClr val="024791"/>
                </a:solidFill>
                <a:latin typeface="Arial"/>
              </a:rPr>
              <a:t>Pero seleccionar una idea no significa haber encontrado la solución definitiva.</a:t>
            </a:r>
          </a:p>
          <a:p>
            <a:pPr algn="l">
              <a:lnSpc>
                <a:spcPct val="130000"/>
              </a:lnSpc>
              <a:spcAft>
                <a:spcPts val="1181"/>
              </a:spcAft>
            </a:pPr>
            <a:r>
              <a:rPr sz="1100" b="0" i="0">
                <a:solidFill>
                  <a:srgbClr val="56505B"/>
                </a:solidFill>
                <a:latin typeface="Arial"/>
              </a:rPr>
              <a:t>La alternativa elegida continúa siendo una hipótesis de solución: una posibilidad suficientemente prometedora para avanzar hacia su representación y prueba.</a:t>
            </a:r>
          </a:p>
          <a:p>
            <a:pPr algn="l">
              <a:lnSpc>
                <a:spcPct val="130000"/>
              </a:lnSpc>
              <a:spcAft>
                <a:spcPts val="1181"/>
              </a:spcAft>
            </a:pPr>
            <a:r>
              <a:rPr sz="1100" b="0" i="0">
                <a:solidFill>
                  <a:srgbClr val="56505B"/>
                </a:solidFill>
                <a:latin typeface="Arial"/>
              </a:rPr>
              <a:t>Esta distinción resulta fundamental porque evita que el equipo se comprometa demasiado pronto con una alternativa simplemente porque parece atractiva. Su valor deberá relacionarse con los hallazgos obtenidos previamente y con aquello que aprendamos al experimentarla.</a:t>
            </a:r>
          </a:p>
        </p:txBody>
      </p:sp>
      <p:sp>
        <p:nvSpPr>
          <p:cNvPr id="69" name="Rounded Rectangle 68"/>
          <p:cNvSpPr/>
          <p:nvPr/>
        </p:nvSpPr>
        <p:spPr>
          <a:xfrm>
            <a:off x="640808" y="5251540"/>
            <a:ext cx="5576383" cy="760000"/>
          </a:xfrm>
          <a:prstGeom prst="roundRect">
            <a:avLst>
              <a:gd name="adj" fmla="val 11842"/>
            </a:avLst>
          </a:prstGeom>
          <a:solidFill>
            <a:srgbClr val="FFFFFF"/>
          </a:solidFill>
          <a:ln w="9525">
            <a:solidFill>
              <a:srgbClr val="E3E2E8"/>
            </a:solidFill>
          </a:ln>
        </p:spPr>
        <p:txBody>
          <a:bodyPr rtlCol="0" anchor="ctr"/>
          <a:lstStyle/>
          <a:p>
            <a:pPr algn="ctr"/>
          </a:p>
        </p:txBody>
      </p:sp>
      <p:sp>
        <p:nvSpPr>
          <p:cNvPr id="70" name="Rectangle 69"/>
          <p:cNvSpPr/>
          <p:nvPr/>
        </p:nvSpPr>
        <p:spPr>
          <a:xfrm>
            <a:off x="640808" y="5251540"/>
            <a:ext cx="70000" cy="760000"/>
          </a:xfrm>
          <a:prstGeom prst="rect">
            <a:avLst/>
          </a:prstGeom>
          <a:solidFill>
            <a:srgbClr val="664092"/>
          </a:solidFill>
          <a:ln>
            <a:noFill/>
          </a:ln>
        </p:spPr>
        <p:txBody>
          <a:bodyPr rtlCol="0" anchor="ctr"/>
          <a:lstStyle/>
          <a:p>
            <a:pPr algn="ctr"/>
          </a:p>
        </p:txBody>
      </p:sp>
      <p:sp>
        <p:nvSpPr>
          <p:cNvPr id="71" name="Oval 70"/>
          <p:cNvSpPr/>
          <p:nvPr/>
        </p:nvSpPr>
        <p:spPr>
          <a:xfrm>
            <a:off x="870808" y="5401540"/>
            <a:ext cx="460000" cy="460000"/>
          </a:xfrm>
          <a:prstGeom prst="ellipse">
            <a:avLst/>
          </a:prstGeom>
          <a:solidFill>
            <a:srgbClr val="664092"/>
          </a:solidFill>
          <a:ln>
            <a:noFill/>
          </a:ln>
        </p:spPr>
        <p:txBody>
          <a:bodyPr rtlCol="0" anchor="ctr"/>
          <a:lstStyle/>
          <a:p>
            <a:pPr algn="ctr"/>
          </a:p>
        </p:txBody>
      </p:sp>
      <p:sp>
        <p:nvSpPr>
          <p:cNvPr id="72" name="icono lightbulb"/>
          <p:cNvSpPr/>
          <p:nvPr/>
        </p:nvSpPr>
        <p:spPr>
          <a:xfrm>
            <a:off x="972008" y="5502740"/>
            <a:ext cx="257600" cy="257600"/>
          </a:xfrm>
          <a:custGeom>
            <a:avLst/>
            <a:gdLst/>
            <a:ahLst/>
            <a:cxnLst/>
            <a:rect l="0" t="0" r="r" b="b"/>
            <a:pathLst>
              <a:path w="25600" h="25600">
                <a:moveTo>
                  <a:pt x="17600" y="23200"/>
                </a:moveTo>
                <a:lnTo>
                  <a:pt x="17580" y="23378"/>
                </a:lnTo>
                <a:lnTo>
                  <a:pt x="17521" y="23547"/>
                </a:lnTo>
                <a:lnTo>
                  <a:pt x="17425" y="23699"/>
                </a:lnTo>
                <a:lnTo>
                  <a:pt x="17299" y="23825"/>
                </a:lnTo>
                <a:lnTo>
                  <a:pt x="17147" y="23921"/>
                </a:lnTo>
                <a:lnTo>
                  <a:pt x="16978" y="23980"/>
                </a:lnTo>
                <a:lnTo>
                  <a:pt x="16800" y="24000"/>
                </a:lnTo>
                <a:lnTo>
                  <a:pt x="8800" y="24000"/>
                </a:lnTo>
                <a:lnTo>
                  <a:pt x="8634" y="23983"/>
                </a:lnTo>
                <a:lnTo>
                  <a:pt x="8475" y="23931"/>
                </a:lnTo>
                <a:lnTo>
                  <a:pt x="8330" y="23847"/>
                </a:lnTo>
                <a:lnTo>
                  <a:pt x="8205" y="23735"/>
                </a:lnTo>
                <a:lnTo>
                  <a:pt x="8107" y="23600"/>
                </a:lnTo>
                <a:lnTo>
                  <a:pt x="8039" y="23447"/>
                </a:lnTo>
                <a:lnTo>
                  <a:pt x="8004" y="23284"/>
                </a:lnTo>
                <a:lnTo>
                  <a:pt x="8004" y="23116"/>
                </a:lnTo>
                <a:lnTo>
                  <a:pt x="8039" y="22953"/>
                </a:lnTo>
                <a:lnTo>
                  <a:pt x="8107" y="22800"/>
                </a:lnTo>
                <a:lnTo>
                  <a:pt x="8205" y="22665"/>
                </a:lnTo>
                <a:lnTo>
                  <a:pt x="8330" y="22553"/>
                </a:lnTo>
                <a:lnTo>
                  <a:pt x="8475" y="22469"/>
                </a:lnTo>
                <a:lnTo>
                  <a:pt x="8634" y="22417"/>
                </a:lnTo>
                <a:lnTo>
                  <a:pt x="8800" y="22400"/>
                </a:lnTo>
                <a:lnTo>
                  <a:pt x="16800" y="22400"/>
                </a:lnTo>
                <a:lnTo>
                  <a:pt x="16978" y="22420"/>
                </a:lnTo>
                <a:lnTo>
                  <a:pt x="17147" y="22479"/>
                </a:lnTo>
                <a:lnTo>
                  <a:pt x="17299" y="22575"/>
                </a:lnTo>
                <a:lnTo>
                  <a:pt x="17425" y="22701"/>
                </a:lnTo>
                <a:lnTo>
                  <a:pt x="17521" y="22853"/>
                </a:lnTo>
                <a:lnTo>
                  <a:pt x="17580" y="23022"/>
                </a:lnTo>
                <a:lnTo>
                  <a:pt x="17600" y="23200"/>
                </a:lnTo>
                <a:close/>
                <a:moveTo>
                  <a:pt x="21600" y="10400"/>
                </a:moveTo>
                <a:lnTo>
                  <a:pt x="21503" y="11723"/>
                </a:lnTo>
                <a:lnTo>
                  <a:pt x="21207" y="13016"/>
                </a:lnTo>
                <a:lnTo>
                  <a:pt x="20719" y="14250"/>
                </a:lnTo>
                <a:lnTo>
                  <a:pt x="20050" y="15396"/>
                </a:lnTo>
                <a:lnTo>
                  <a:pt x="19216" y="16427"/>
                </a:lnTo>
                <a:lnTo>
                  <a:pt x="18236" y="17321"/>
                </a:lnTo>
                <a:lnTo>
                  <a:pt x="18052" y="17485"/>
                </a:lnTo>
                <a:lnTo>
                  <a:pt x="17896" y="17675"/>
                </a:lnTo>
                <a:lnTo>
                  <a:pt x="17770" y="17887"/>
                </a:lnTo>
                <a:lnTo>
                  <a:pt x="17677" y="18115"/>
                </a:lnTo>
                <a:lnTo>
                  <a:pt x="17620" y="18355"/>
                </a:lnTo>
                <a:lnTo>
                  <a:pt x="17600" y="18600"/>
                </a:lnTo>
                <a:lnTo>
                  <a:pt x="17600" y="19200"/>
                </a:lnTo>
                <a:lnTo>
                  <a:pt x="17560" y="19556"/>
                </a:lnTo>
                <a:lnTo>
                  <a:pt x="17442" y="19894"/>
                </a:lnTo>
                <a:lnTo>
                  <a:pt x="17251" y="20198"/>
                </a:lnTo>
                <a:lnTo>
                  <a:pt x="16998" y="20451"/>
                </a:lnTo>
                <a:lnTo>
                  <a:pt x="16694" y="20642"/>
                </a:lnTo>
                <a:lnTo>
                  <a:pt x="16356" y="20760"/>
                </a:lnTo>
                <a:lnTo>
                  <a:pt x="16000" y="20800"/>
                </a:lnTo>
                <a:lnTo>
                  <a:pt x="9600" y="20800"/>
                </a:lnTo>
                <a:lnTo>
                  <a:pt x="9244" y="20760"/>
                </a:lnTo>
                <a:lnTo>
                  <a:pt x="8906" y="20642"/>
                </a:lnTo>
                <a:lnTo>
                  <a:pt x="8602" y="20451"/>
                </a:lnTo>
                <a:lnTo>
                  <a:pt x="8349" y="20198"/>
                </a:lnTo>
                <a:lnTo>
                  <a:pt x="8158" y="19894"/>
                </a:lnTo>
                <a:lnTo>
                  <a:pt x="8040" y="19556"/>
                </a:lnTo>
                <a:lnTo>
                  <a:pt x="8000" y="19200"/>
                </a:lnTo>
                <a:lnTo>
                  <a:pt x="8000" y="18600"/>
                </a:lnTo>
                <a:lnTo>
                  <a:pt x="7981" y="18357"/>
                </a:lnTo>
                <a:lnTo>
                  <a:pt x="7926" y="18120"/>
                </a:lnTo>
                <a:lnTo>
                  <a:pt x="7836" y="17895"/>
                </a:lnTo>
                <a:lnTo>
                  <a:pt x="7712" y="17685"/>
                </a:lnTo>
                <a:lnTo>
                  <a:pt x="7558" y="17497"/>
                </a:lnTo>
                <a:lnTo>
                  <a:pt x="7377" y="17334"/>
                </a:lnTo>
                <a:lnTo>
                  <a:pt x="6399" y="16446"/>
                </a:lnTo>
                <a:lnTo>
                  <a:pt x="5565" y="15420"/>
                </a:lnTo>
                <a:lnTo>
                  <a:pt x="4895" y="14281"/>
                </a:lnTo>
                <a:lnTo>
                  <a:pt x="4404" y="13054"/>
                </a:lnTo>
                <a:lnTo>
                  <a:pt x="4104" y="11767"/>
                </a:lnTo>
                <a:lnTo>
                  <a:pt x="4000" y="10449"/>
                </a:lnTo>
                <a:cubicBezTo>
                  <a:pt x="3974" y="5683"/>
                  <a:pt x="7826" y="1714"/>
                  <a:pt x="12588" y="1600"/>
                </a:cubicBezTo>
                <a:lnTo>
                  <a:pt x="14581" y="1780"/>
                </a:lnTo>
                <a:lnTo>
                  <a:pt x="16482" y="2405"/>
                </a:lnTo>
                <a:lnTo>
                  <a:pt x="18192" y="3443"/>
                </a:lnTo>
                <a:lnTo>
                  <a:pt x="19624" y="4841"/>
                </a:lnTo>
                <a:lnTo>
                  <a:pt x="20703" y="6526"/>
                </a:lnTo>
                <a:lnTo>
                  <a:pt x="21373" y="8412"/>
                </a:lnTo>
                <a:lnTo>
                  <a:pt x="21600" y="10400"/>
                </a:lnTo>
                <a:close/>
                <a:moveTo>
                  <a:pt x="20000" y="10400"/>
                </a:moveTo>
                <a:lnTo>
                  <a:pt x="19814" y="8773"/>
                </a:lnTo>
                <a:lnTo>
                  <a:pt x="19266" y="7231"/>
                </a:lnTo>
                <a:lnTo>
                  <a:pt x="18383" y="5852"/>
                </a:lnTo>
                <a:lnTo>
                  <a:pt x="17212" y="4708"/>
                </a:lnTo>
                <a:lnTo>
                  <a:pt x="15812" y="3858"/>
                </a:lnTo>
                <a:lnTo>
                  <a:pt x="14257" y="3347"/>
                </a:lnTo>
                <a:lnTo>
                  <a:pt x="12626" y="3200"/>
                </a:lnTo>
                <a:cubicBezTo>
                  <a:pt x="8726" y="3292"/>
                  <a:pt x="5579" y="6539"/>
                  <a:pt x="5600" y="10439"/>
                </a:cubicBezTo>
                <a:lnTo>
                  <a:pt x="5685" y="11517"/>
                </a:lnTo>
                <a:lnTo>
                  <a:pt x="5931" y="12569"/>
                </a:lnTo>
                <a:lnTo>
                  <a:pt x="6333" y="13572"/>
                </a:lnTo>
                <a:lnTo>
                  <a:pt x="6881" y="14504"/>
                </a:lnTo>
                <a:lnTo>
                  <a:pt x="7564" y="15343"/>
                </a:lnTo>
                <a:lnTo>
                  <a:pt x="8364" y="16069"/>
                </a:lnTo>
                <a:lnTo>
                  <a:pt x="8724" y="16395"/>
                </a:lnTo>
                <a:lnTo>
                  <a:pt x="9030" y="16772"/>
                </a:lnTo>
                <a:lnTo>
                  <a:pt x="9275" y="17191"/>
                </a:lnTo>
                <a:lnTo>
                  <a:pt x="9455" y="17642"/>
                </a:lnTo>
                <a:lnTo>
                  <a:pt x="9564" y="18116"/>
                </a:lnTo>
                <a:lnTo>
                  <a:pt x="9600" y="18600"/>
                </a:lnTo>
                <a:lnTo>
                  <a:pt x="9600" y="19200"/>
                </a:lnTo>
                <a:lnTo>
                  <a:pt x="16000" y="19200"/>
                </a:lnTo>
                <a:lnTo>
                  <a:pt x="16000" y="18600"/>
                </a:lnTo>
                <a:lnTo>
                  <a:pt x="16038" y="18114"/>
                </a:lnTo>
                <a:lnTo>
                  <a:pt x="16149" y="17640"/>
                </a:lnTo>
                <a:lnTo>
                  <a:pt x="16330" y="17188"/>
                </a:lnTo>
                <a:lnTo>
                  <a:pt x="16578" y="16769"/>
                </a:lnTo>
                <a:lnTo>
                  <a:pt x="16886" y="16391"/>
                </a:lnTo>
                <a:lnTo>
                  <a:pt x="17247" y="16065"/>
                </a:lnTo>
                <a:lnTo>
                  <a:pt x="18049" y="15333"/>
                </a:lnTo>
                <a:lnTo>
                  <a:pt x="18732" y="14489"/>
                </a:lnTo>
                <a:lnTo>
                  <a:pt x="19279" y="13551"/>
                </a:lnTo>
                <a:lnTo>
                  <a:pt x="19679" y="12541"/>
                </a:lnTo>
                <a:lnTo>
                  <a:pt x="19921" y="11483"/>
                </a:lnTo>
                <a:lnTo>
                  <a:pt x="20000" y="10400"/>
                </a:lnTo>
                <a:close/>
                <a:moveTo>
                  <a:pt x="18389" y="9466"/>
                </a:moveTo>
                <a:lnTo>
                  <a:pt x="18068" y="8345"/>
                </a:lnTo>
                <a:lnTo>
                  <a:pt x="17529" y="7311"/>
                </a:lnTo>
                <a:lnTo>
                  <a:pt x="16792" y="6408"/>
                </a:lnTo>
                <a:lnTo>
                  <a:pt x="15888" y="5671"/>
                </a:lnTo>
                <a:lnTo>
                  <a:pt x="14854" y="5131"/>
                </a:lnTo>
                <a:lnTo>
                  <a:pt x="13733" y="4811"/>
                </a:lnTo>
                <a:lnTo>
                  <a:pt x="13566" y="4801"/>
                </a:lnTo>
                <a:lnTo>
                  <a:pt x="13401" y="4825"/>
                </a:lnTo>
                <a:lnTo>
                  <a:pt x="13244" y="4884"/>
                </a:lnTo>
                <a:lnTo>
                  <a:pt x="13103" y="4973"/>
                </a:lnTo>
                <a:lnTo>
                  <a:pt x="12983" y="5090"/>
                </a:lnTo>
                <a:lnTo>
                  <a:pt x="12891" y="5230"/>
                </a:lnTo>
                <a:lnTo>
                  <a:pt x="12829" y="5385"/>
                </a:lnTo>
                <a:lnTo>
                  <a:pt x="12801" y="5550"/>
                </a:lnTo>
                <a:lnTo>
                  <a:pt x="12809" y="5717"/>
                </a:lnTo>
                <a:lnTo>
                  <a:pt x="12850" y="5879"/>
                </a:lnTo>
                <a:lnTo>
                  <a:pt x="12925" y="6029"/>
                </a:lnTo>
                <a:lnTo>
                  <a:pt x="13029" y="6160"/>
                </a:lnTo>
                <a:lnTo>
                  <a:pt x="13158" y="6267"/>
                </a:lnTo>
                <a:lnTo>
                  <a:pt x="13306" y="6344"/>
                </a:lnTo>
                <a:lnTo>
                  <a:pt x="13467" y="6389"/>
                </a:lnTo>
                <a:cubicBezTo>
                  <a:pt x="15124" y="6668"/>
                  <a:pt x="16530" y="8074"/>
                  <a:pt x="16811" y="9734"/>
                </a:cubicBezTo>
                <a:lnTo>
                  <a:pt x="16864" y="9913"/>
                </a:lnTo>
                <a:lnTo>
                  <a:pt x="16956" y="10075"/>
                </a:lnTo>
                <a:lnTo>
                  <a:pt x="17084" y="10211"/>
                </a:lnTo>
                <a:lnTo>
                  <a:pt x="17239" y="10314"/>
                </a:lnTo>
                <a:lnTo>
                  <a:pt x="17415" y="10378"/>
                </a:lnTo>
                <a:lnTo>
                  <a:pt x="17600" y="10400"/>
                </a:lnTo>
                <a:lnTo>
                  <a:pt x="17623" y="10400"/>
                </a:lnTo>
                <a:lnTo>
                  <a:pt x="17645" y="10399"/>
                </a:lnTo>
                <a:lnTo>
                  <a:pt x="17668" y="10397"/>
                </a:lnTo>
                <a:lnTo>
                  <a:pt x="17690" y="10395"/>
                </a:lnTo>
                <a:lnTo>
                  <a:pt x="17713" y="10392"/>
                </a:lnTo>
                <a:lnTo>
                  <a:pt x="17735" y="10389"/>
                </a:lnTo>
                <a:lnTo>
                  <a:pt x="17907" y="10339"/>
                </a:lnTo>
                <a:lnTo>
                  <a:pt x="18064" y="10253"/>
                </a:lnTo>
                <a:lnTo>
                  <a:pt x="18197" y="10133"/>
                </a:lnTo>
                <a:lnTo>
                  <a:pt x="18301" y="9987"/>
                </a:lnTo>
                <a:lnTo>
                  <a:pt x="18369" y="9821"/>
                </a:lnTo>
                <a:lnTo>
                  <a:pt x="18399" y="9645"/>
                </a:lnTo>
                <a:lnTo>
                  <a:pt x="18389" y="9466"/>
                </a:lnTo>
                <a:close/>
              </a:path>
            </a:pathLst>
          </a:custGeom>
          <a:solidFill>
            <a:srgbClr val="FFFFFF"/>
          </a:solidFill>
          <a:ln>
            <a:noFill/>
          </a:ln>
        </p:spPr>
        <p:txBody>
          <a:bodyPr rtlCol="0" anchor="ctr"/>
          <a:lstStyle/>
          <a:p>
            <a:pPr algn="ctr"/>
          </a:p>
        </p:txBody>
      </p:sp>
      <p:sp>
        <p:nvSpPr>
          <p:cNvPr id="73" name="TextBox 72"/>
          <p:cNvSpPr txBox="1"/>
          <p:nvPr/>
        </p:nvSpPr>
        <p:spPr>
          <a:xfrm>
            <a:off x="1520808" y="5371540"/>
            <a:ext cx="4526383" cy="240000"/>
          </a:xfrm>
          <a:prstGeom prst="rect">
            <a:avLst/>
          </a:prstGeom>
          <a:noFill/>
        </p:spPr>
        <p:txBody>
          <a:bodyPr wrap="square" lIns="0" rIns="0" tIns="0" bIns="0" anchor="t">
            <a:spAutoFit/>
          </a:bodyPr>
          <a:lstStyle/>
          <a:p>
            <a:pPr algn="l">
              <a:lnSpc>
                <a:spcPct val="100000"/>
              </a:lnSpc>
              <a:spcAft>
                <a:spcPts val="0"/>
              </a:spcAft>
            </a:pPr>
            <a:r>
              <a:rPr sz="1100" b="1" i="0">
                <a:solidFill>
                  <a:srgbClr val="3560D6"/>
                </a:solidFill>
                <a:latin typeface="Arial"/>
              </a:rPr>
              <a:t>01. </a:t>
            </a:r>
            <a:r>
              <a:rPr sz="1150" b="1" i="0">
                <a:solidFill>
                  <a:srgbClr val="3D2159"/>
                </a:solidFill>
                <a:latin typeface="Arial"/>
              </a:rPr>
              <a:t>Idea</a:t>
            </a:r>
          </a:p>
        </p:txBody>
      </p:sp>
      <p:sp>
        <p:nvSpPr>
          <p:cNvPr id="74" name="TextBox 73"/>
          <p:cNvSpPr txBox="1"/>
          <p:nvPr/>
        </p:nvSpPr>
        <p:spPr>
          <a:xfrm>
            <a:off x="1520808" y="5661540"/>
            <a:ext cx="4526383" cy="240000"/>
          </a:xfrm>
          <a:prstGeom prst="rect">
            <a:avLst/>
          </a:prstGeom>
          <a:noFill/>
        </p:spPr>
        <p:txBody>
          <a:bodyPr wrap="square" lIns="0" rIns="0" tIns="0" bIns="0" anchor="t">
            <a:spAutoFit/>
          </a:bodyPr>
          <a:lstStyle/>
          <a:p>
            <a:pPr algn="l">
              <a:lnSpc>
                <a:spcPct val="100000"/>
              </a:lnSpc>
              <a:spcAft>
                <a:spcPts val="0"/>
              </a:spcAft>
            </a:pPr>
            <a:r>
              <a:rPr sz="1000" b="0" i="0">
                <a:solidFill>
                  <a:srgbClr val="56505B"/>
                </a:solidFill>
                <a:latin typeface="Arial"/>
              </a:rPr>
              <a:t>Una posibilidad para responder al reto.</a:t>
            </a:r>
          </a:p>
        </p:txBody>
      </p:sp>
      <p:sp>
        <p:nvSpPr>
          <p:cNvPr id="75" name="Isosceles Triangle 74"/>
          <p:cNvSpPr/>
          <p:nvPr/>
        </p:nvSpPr>
        <p:spPr>
          <a:xfrm rot="10800000">
            <a:off x="1040808" y="6041540"/>
            <a:ext cx="120000" cy="80000"/>
          </a:xfrm>
          <a:prstGeom prst="triangle">
            <a:avLst/>
          </a:prstGeom>
          <a:solidFill>
            <a:srgbClr val="A9B8D9"/>
          </a:solidFill>
          <a:ln>
            <a:noFill/>
          </a:ln>
        </p:spPr>
        <p:txBody>
          <a:bodyPr rtlCol="0" anchor="ctr"/>
          <a:lstStyle/>
          <a:p>
            <a:pPr algn="ctr"/>
          </a:p>
        </p:txBody>
      </p:sp>
      <p:sp>
        <p:nvSpPr>
          <p:cNvPr id="76" name="Rounded Rectangle 75"/>
          <p:cNvSpPr/>
          <p:nvPr/>
        </p:nvSpPr>
        <p:spPr>
          <a:xfrm>
            <a:off x="640808" y="6151540"/>
            <a:ext cx="5576383" cy="760000"/>
          </a:xfrm>
          <a:prstGeom prst="roundRect">
            <a:avLst>
              <a:gd name="adj" fmla="val 11842"/>
            </a:avLst>
          </a:prstGeom>
          <a:solidFill>
            <a:srgbClr val="FFFFFF"/>
          </a:solidFill>
          <a:ln w="9525">
            <a:solidFill>
              <a:srgbClr val="E3E2E8"/>
            </a:solidFill>
          </a:ln>
        </p:spPr>
        <p:txBody>
          <a:bodyPr rtlCol="0" anchor="ctr"/>
          <a:lstStyle/>
          <a:p>
            <a:pPr algn="ctr"/>
          </a:p>
        </p:txBody>
      </p:sp>
      <p:sp>
        <p:nvSpPr>
          <p:cNvPr id="77" name="Rectangle 76"/>
          <p:cNvSpPr/>
          <p:nvPr/>
        </p:nvSpPr>
        <p:spPr>
          <a:xfrm>
            <a:off x="640808" y="6151540"/>
            <a:ext cx="70000" cy="760000"/>
          </a:xfrm>
          <a:prstGeom prst="rect">
            <a:avLst/>
          </a:prstGeom>
          <a:solidFill>
            <a:srgbClr val="3560D6"/>
          </a:solidFill>
          <a:ln>
            <a:noFill/>
          </a:ln>
        </p:spPr>
        <p:txBody>
          <a:bodyPr rtlCol="0" anchor="ctr"/>
          <a:lstStyle/>
          <a:p>
            <a:pPr algn="ctr"/>
          </a:p>
        </p:txBody>
      </p:sp>
      <p:sp>
        <p:nvSpPr>
          <p:cNvPr id="78" name="Oval 77"/>
          <p:cNvSpPr/>
          <p:nvPr/>
        </p:nvSpPr>
        <p:spPr>
          <a:xfrm>
            <a:off x="870808" y="6301540"/>
            <a:ext cx="460000" cy="460000"/>
          </a:xfrm>
          <a:prstGeom prst="ellipse">
            <a:avLst/>
          </a:prstGeom>
          <a:solidFill>
            <a:srgbClr val="3560D6"/>
          </a:solidFill>
          <a:ln>
            <a:noFill/>
          </a:ln>
        </p:spPr>
        <p:txBody>
          <a:bodyPr rtlCol="0" anchor="ctr"/>
          <a:lstStyle/>
          <a:p>
            <a:pPr algn="ctr"/>
          </a:p>
        </p:txBody>
      </p:sp>
      <p:sp>
        <p:nvSpPr>
          <p:cNvPr id="79" name="icono flask"/>
          <p:cNvSpPr/>
          <p:nvPr/>
        </p:nvSpPr>
        <p:spPr>
          <a:xfrm>
            <a:off x="972008" y="6402740"/>
            <a:ext cx="257600" cy="257600"/>
          </a:xfrm>
          <a:custGeom>
            <a:avLst/>
            <a:gdLst/>
            <a:ahLst/>
            <a:cxnLst/>
            <a:rect l="0" t="0" r="r" b="b"/>
            <a:pathLst>
              <a:path w="25600" h="25600">
                <a:moveTo>
                  <a:pt x="22169" y="19977"/>
                </a:moveTo>
                <a:lnTo>
                  <a:pt x="16000" y="9692"/>
                </a:lnTo>
                <a:lnTo>
                  <a:pt x="16000" y="4000"/>
                </a:lnTo>
                <a:lnTo>
                  <a:pt x="16800" y="4000"/>
                </a:lnTo>
                <a:lnTo>
                  <a:pt x="16966" y="3983"/>
                </a:lnTo>
                <a:lnTo>
                  <a:pt x="17125" y="3931"/>
                </a:lnTo>
                <a:lnTo>
                  <a:pt x="17270" y="3847"/>
                </a:lnTo>
                <a:lnTo>
                  <a:pt x="17395" y="3735"/>
                </a:lnTo>
                <a:lnTo>
                  <a:pt x="17493" y="3600"/>
                </a:lnTo>
                <a:lnTo>
                  <a:pt x="17561" y="3447"/>
                </a:lnTo>
                <a:lnTo>
                  <a:pt x="17596" y="3284"/>
                </a:lnTo>
                <a:lnTo>
                  <a:pt x="17596" y="3116"/>
                </a:lnTo>
                <a:lnTo>
                  <a:pt x="17561" y="2953"/>
                </a:lnTo>
                <a:lnTo>
                  <a:pt x="17493" y="2800"/>
                </a:lnTo>
                <a:lnTo>
                  <a:pt x="17395" y="2665"/>
                </a:lnTo>
                <a:lnTo>
                  <a:pt x="17270" y="2553"/>
                </a:lnTo>
                <a:lnTo>
                  <a:pt x="17125" y="2469"/>
                </a:lnTo>
                <a:lnTo>
                  <a:pt x="16966" y="2417"/>
                </a:lnTo>
                <a:lnTo>
                  <a:pt x="16800" y="2400"/>
                </a:lnTo>
                <a:lnTo>
                  <a:pt x="8800" y="2400"/>
                </a:lnTo>
                <a:lnTo>
                  <a:pt x="8634" y="2417"/>
                </a:lnTo>
                <a:lnTo>
                  <a:pt x="8475" y="2469"/>
                </a:lnTo>
                <a:lnTo>
                  <a:pt x="8330" y="2553"/>
                </a:lnTo>
                <a:lnTo>
                  <a:pt x="8205" y="2665"/>
                </a:lnTo>
                <a:lnTo>
                  <a:pt x="8107" y="2800"/>
                </a:lnTo>
                <a:lnTo>
                  <a:pt x="8039" y="2953"/>
                </a:lnTo>
                <a:lnTo>
                  <a:pt x="8004" y="3116"/>
                </a:lnTo>
                <a:lnTo>
                  <a:pt x="8004" y="3284"/>
                </a:lnTo>
                <a:lnTo>
                  <a:pt x="8039" y="3447"/>
                </a:lnTo>
                <a:lnTo>
                  <a:pt x="8107" y="3600"/>
                </a:lnTo>
                <a:lnTo>
                  <a:pt x="8205" y="3735"/>
                </a:lnTo>
                <a:lnTo>
                  <a:pt x="8330" y="3847"/>
                </a:lnTo>
                <a:lnTo>
                  <a:pt x="8475" y="3931"/>
                </a:lnTo>
                <a:lnTo>
                  <a:pt x="8634" y="3983"/>
                </a:lnTo>
                <a:lnTo>
                  <a:pt x="8800" y="4000"/>
                </a:lnTo>
                <a:lnTo>
                  <a:pt x="9600" y="4000"/>
                </a:lnTo>
                <a:lnTo>
                  <a:pt x="9600" y="9692"/>
                </a:lnTo>
                <a:lnTo>
                  <a:pt x="3431" y="19977"/>
                </a:lnTo>
                <a:lnTo>
                  <a:pt x="3289" y="20282"/>
                </a:lnTo>
                <a:lnTo>
                  <a:pt x="3214" y="20611"/>
                </a:lnTo>
                <a:lnTo>
                  <a:pt x="3210" y="20948"/>
                </a:lnTo>
                <a:lnTo>
                  <a:pt x="3276" y="21278"/>
                </a:lnTo>
                <a:lnTo>
                  <a:pt x="3410" y="21587"/>
                </a:lnTo>
                <a:lnTo>
                  <a:pt x="3606" y="21861"/>
                </a:lnTo>
                <a:lnTo>
                  <a:pt x="3854" y="22088"/>
                </a:lnTo>
                <a:lnTo>
                  <a:pt x="4145" y="22258"/>
                </a:lnTo>
                <a:lnTo>
                  <a:pt x="4465" y="22364"/>
                </a:lnTo>
                <a:lnTo>
                  <a:pt x="4800" y="22400"/>
                </a:lnTo>
                <a:lnTo>
                  <a:pt x="20800" y="22400"/>
                </a:lnTo>
                <a:lnTo>
                  <a:pt x="21135" y="22364"/>
                </a:lnTo>
                <a:lnTo>
                  <a:pt x="21456" y="22259"/>
                </a:lnTo>
                <a:lnTo>
                  <a:pt x="21747" y="22090"/>
                </a:lnTo>
                <a:lnTo>
                  <a:pt x="21996" y="21863"/>
                </a:lnTo>
                <a:lnTo>
                  <a:pt x="22192" y="21588"/>
                </a:lnTo>
                <a:lnTo>
                  <a:pt x="22326" y="21279"/>
                </a:lnTo>
                <a:lnTo>
                  <a:pt x="22393" y="20949"/>
                </a:lnTo>
                <a:lnTo>
                  <a:pt x="22389" y="20612"/>
                </a:lnTo>
                <a:lnTo>
                  <a:pt x="22314" y="20283"/>
                </a:lnTo>
                <a:lnTo>
                  <a:pt x="22172" y="19977"/>
                </a:lnTo>
                <a:lnTo>
                  <a:pt x="22169" y="19977"/>
                </a:lnTo>
                <a:close/>
                <a:moveTo>
                  <a:pt x="11086" y="10325"/>
                </a:moveTo>
                <a:lnTo>
                  <a:pt x="11120" y="10262"/>
                </a:lnTo>
                <a:lnTo>
                  <a:pt x="11149" y="10196"/>
                </a:lnTo>
                <a:lnTo>
                  <a:pt x="11171" y="10127"/>
                </a:lnTo>
                <a:lnTo>
                  <a:pt x="11187" y="10057"/>
                </a:lnTo>
                <a:lnTo>
                  <a:pt x="11197" y="9986"/>
                </a:lnTo>
                <a:lnTo>
                  <a:pt x="11200" y="9914"/>
                </a:lnTo>
                <a:lnTo>
                  <a:pt x="11200" y="4000"/>
                </a:lnTo>
                <a:lnTo>
                  <a:pt x="14400" y="4000"/>
                </a:lnTo>
                <a:lnTo>
                  <a:pt x="14400" y="9914"/>
                </a:lnTo>
                <a:lnTo>
                  <a:pt x="14403" y="9986"/>
                </a:lnTo>
                <a:lnTo>
                  <a:pt x="14413" y="10057"/>
                </a:lnTo>
                <a:lnTo>
                  <a:pt x="14429" y="10127"/>
                </a:lnTo>
                <a:lnTo>
                  <a:pt x="14451" y="10196"/>
                </a:lnTo>
                <a:lnTo>
                  <a:pt x="14480" y="10262"/>
                </a:lnTo>
                <a:lnTo>
                  <a:pt x="14514" y="10325"/>
                </a:lnTo>
                <a:lnTo>
                  <a:pt x="18336" y="16700"/>
                </a:lnTo>
                <a:cubicBezTo>
                  <a:pt x="17136" y="16937"/>
                  <a:pt x="15429" y="16837"/>
                  <a:pt x="13161" y="15689"/>
                </a:cubicBezTo>
                <a:cubicBezTo>
                  <a:pt x="11570" y="14884"/>
                  <a:pt x="10056" y="14457"/>
                  <a:pt x="8639" y="14408"/>
                </a:cubicBezTo>
                <a:lnTo>
                  <a:pt x="11086" y="10325"/>
                </a:lnTo>
                <a:close/>
                <a:moveTo>
                  <a:pt x="4800" y="20800"/>
                </a:moveTo>
                <a:lnTo>
                  <a:pt x="7654" y="16042"/>
                </a:lnTo>
                <a:cubicBezTo>
                  <a:pt x="9079" y="15868"/>
                  <a:pt x="10685" y="16227"/>
                  <a:pt x="12436" y="17114"/>
                </a:cubicBezTo>
                <a:cubicBezTo>
                  <a:pt x="14336" y="18075"/>
                  <a:pt x="15936" y="18402"/>
                  <a:pt x="17236" y="18402"/>
                </a:cubicBezTo>
                <a:lnTo>
                  <a:pt x="17566" y="18396"/>
                </a:lnTo>
                <a:lnTo>
                  <a:pt x="17895" y="18374"/>
                </a:lnTo>
                <a:lnTo>
                  <a:pt x="18223" y="18336"/>
                </a:lnTo>
                <a:lnTo>
                  <a:pt x="18549" y="18284"/>
                </a:lnTo>
                <a:lnTo>
                  <a:pt x="18872" y="18215"/>
                </a:lnTo>
                <a:lnTo>
                  <a:pt x="19191" y="18132"/>
                </a:lnTo>
                <a:lnTo>
                  <a:pt x="20800" y="20800"/>
                </a:lnTo>
                <a:lnTo>
                  <a:pt x="4800" y="20800"/>
                </a:lnTo>
                <a:close/>
              </a:path>
            </a:pathLst>
          </a:custGeom>
          <a:solidFill>
            <a:srgbClr val="FFFFFF"/>
          </a:solidFill>
          <a:ln>
            <a:noFill/>
          </a:ln>
        </p:spPr>
        <p:txBody>
          <a:bodyPr rtlCol="0" anchor="ctr"/>
          <a:lstStyle/>
          <a:p>
            <a:pPr algn="ctr"/>
          </a:p>
        </p:txBody>
      </p:sp>
      <p:sp>
        <p:nvSpPr>
          <p:cNvPr id="80" name="TextBox 79"/>
          <p:cNvSpPr txBox="1"/>
          <p:nvPr/>
        </p:nvSpPr>
        <p:spPr>
          <a:xfrm>
            <a:off x="1520808" y="6271540"/>
            <a:ext cx="4526383" cy="240000"/>
          </a:xfrm>
          <a:prstGeom prst="rect">
            <a:avLst/>
          </a:prstGeom>
          <a:noFill/>
        </p:spPr>
        <p:txBody>
          <a:bodyPr wrap="square" lIns="0" rIns="0" tIns="0" bIns="0" anchor="t">
            <a:spAutoFit/>
          </a:bodyPr>
          <a:lstStyle/>
          <a:p>
            <a:pPr algn="l">
              <a:lnSpc>
                <a:spcPct val="100000"/>
              </a:lnSpc>
              <a:spcAft>
                <a:spcPts val="0"/>
              </a:spcAft>
            </a:pPr>
            <a:r>
              <a:rPr sz="1100" b="1" i="0">
                <a:solidFill>
                  <a:srgbClr val="3560D6"/>
                </a:solidFill>
                <a:latin typeface="Arial"/>
              </a:rPr>
              <a:t>02. </a:t>
            </a:r>
            <a:r>
              <a:rPr sz="1150" b="1" i="0">
                <a:solidFill>
                  <a:srgbClr val="3D2159"/>
                </a:solidFill>
                <a:latin typeface="Arial"/>
              </a:rPr>
              <a:t>Hipótesis de solución</a:t>
            </a:r>
          </a:p>
        </p:txBody>
      </p:sp>
      <p:sp>
        <p:nvSpPr>
          <p:cNvPr id="81" name="TextBox 80"/>
          <p:cNvSpPr txBox="1"/>
          <p:nvPr/>
        </p:nvSpPr>
        <p:spPr>
          <a:xfrm>
            <a:off x="1520808" y="6561540"/>
            <a:ext cx="4526383" cy="240000"/>
          </a:xfrm>
          <a:prstGeom prst="rect">
            <a:avLst/>
          </a:prstGeom>
          <a:noFill/>
        </p:spPr>
        <p:txBody>
          <a:bodyPr wrap="square" lIns="0" rIns="0" tIns="0" bIns="0" anchor="t">
            <a:spAutoFit/>
          </a:bodyPr>
          <a:lstStyle/>
          <a:p>
            <a:pPr algn="l">
              <a:lnSpc>
                <a:spcPct val="100000"/>
              </a:lnSpc>
              <a:spcAft>
                <a:spcPts val="0"/>
              </a:spcAft>
            </a:pPr>
            <a:r>
              <a:rPr sz="1000" b="0" i="0">
                <a:solidFill>
                  <a:srgbClr val="56505B"/>
                </a:solidFill>
                <a:latin typeface="Arial"/>
              </a:rPr>
              <a:t>Una alternativa que merece ser representada y probada.</a:t>
            </a:r>
          </a:p>
        </p:txBody>
      </p:sp>
      <p:sp>
        <p:nvSpPr>
          <p:cNvPr id="82" name="Isosceles Triangle 81"/>
          <p:cNvSpPr/>
          <p:nvPr/>
        </p:nvSpPr>
        <p:spPr>
          <a:xfrm rot="10800000">
            <a:off x="1040808" y="6941540"/>
            <a:ext cx="120000" cy="80000"/>
          </a:xfrm>
          <a:prstGeom prst="triangle">
            <a:avLst/>
          </a:prstGeom>
          <a:solidFill>
            <a:srgbClr val="A9B8D9"/>
          </a:solidFill>
          <a:ln>
            <a:noFill/>
          </a:ln>
        </p:spPr>
        <p:txBody>
          <a:bodyPr rtlCol="0" anchor="ctr"/>
          <a:lstStyle/>
          <a:p>
            <a:pPr algn="ctr"/>
          </a:p>
        </p:txBody>
      </p:sp>
      <p:sp>
        <p:nvSpPr>
          <p:cNvPr id="83" name="Rounded Rectangle 82"/>
          <p:cNvSpPr/>
          <p:nvPr/>
        </p:nvSpPr>
        <p:spPr>
          <a:xfrm>
            <a:off x="640808" y="7051540"/>
            <a:ext cx="5576383" cy="760000"/>
          </a:xfrm>
          <a:prstGeom prst="roundRect">
            <a:avLst>
              <a:gd name="adj" fmla="val 11842"/>
            </a:avLst>
          </a:prstGeom>
          <a:solidFill>
            <a:srgbClr val="FFFFFF"/>
          </a:solidFill>
          <a:ln w="9525">
            <a:solidFill>
              <a:srgbClr val="E3E2E8"/>
            </a:solidFill>
          </a:ln>
        </p:spPr>
        <p:txBody>
          <a:bodyPr rtlCol="0" anchor="ctr"/>
          <a:lstStyle/>
          <a:p>
            <a:pPr algn="ctr"/>
          </a:p>
        </p:txBody>
      </p:sp>
      <p:sp>
        <p:nvSpPr>
          <p:cNvPr id="84" name="Rectangle 83"/>
          <p:cNvSpPr/>
          <p:nvPr/>
        </p:nvSpPr>
        <p:spPr>
          <a:xfrm>
            <a:off x="640808" y="7051540"/>
            <a:ext cx="70000" cy="760000"/>
          </a:xfrm>
          <a:prstGeom prst="rect">
            <a:avLst/>
          </a:prstGeom>
          <a:solidFill>
            <a:srgbClr val="024791"/>
          </a:solidFill>
          <a:ln>
            <a:noFill/>
          </a:ln>
        </p:spPr>
        <p:txBody>
          <a:bodyPr rtlCol="0" anchor="ctr"/>
          <a:lstStyle/>
          <a:p>
            <a:pPr algn="ctr"/>
          </a:p>
        </p:txBody>
      </p:sp>
      <p:sp>
        <p:nvSpPr>
          <p:cNvPr id="85" name="Oval 84"/>
          <p:cNvSpPr/>
          <p:nvPr/>
        </p:nvSpPr>
        <p:spPr>
          <a:xfrm>
            <a:off x="870808" y="7201540"/>
            <a:ext cx="460000" cy="460000"/>
          </a:xfrm>
          <a:prstGeom prst="ellipse">
            <a:avLst/>
          </a:prstGeom>
          <a:solidFill>
            <a:srgbClr val="024791"/>
          </a:solidFill>
          <a:ln>
            <a:noFill/>
          </a:ln>
        </p:spPr>
        <p:txBody>
          <a:bodyPr rtlCol="0" anchor="ctr"/>
          <a:lstStyle/>
          <a:p>
            <a:pPr algn="ctr"/>
          </a:p>
        </p:txBody>
      </p:sp>
      <p:sp>
        <p:nvSpPr>
          <p:cNvPr id="86" name="icono chart-bar"/>
          <p:cNvSpPr/>
          <p:nvPr/>
        </p:nvSpPr>
        <p:spPr>
          <a:xfrm>
            <a:off x="972008" y="7302740"/>
            <a:ext cx="257600" cy="257600"/>
          </a:xfrm>
          <a:custGeom>
            <a:avLst/>
            <a:gdLst/>
            <a:ahLst/>
            <a:cxnLst/>
            <a:rect l="0" t="0" r="r" b="b"/>
            <a:pathLst>
              <a:path w="25600" h="25600">
                <a:moveTo>
                  <a:pt x="22400" y="20000"/>
                </a:moveTo>
                <a:lnTo>
                  <a:pt x="21600" y="20000"/>
                </a:lnTo>
                <a:lnTo>
                  <a:pt x="21600" y="4000"/>
                </a:lnTo>
                <a:lnTo>
                  <a:pt x="21580" y="3822"/>
                </a:lnTo>
                <a:lnTo>
                  <a:pt x="21521" y="3653"/>
                </a:lnTo>
                <a:lnTo>
                  <a:pt x="21425" y="3501"/>
                </a:lnTo>
                <a:lnTo>
                  <a:pt x="21299" y="3375"/>
                </a:lnTo>
                <a:lnTo>
                  <a:pt x="21147" y="3279"/>
                </a:lnTo>
                <a:lnTo>
                  <a:pt x="20978" y="3220"/>
                </a:lnTo>
                <a:lnTo>
                  <a:pt x="20800" y="3200"/>
                </a:lnTo>
                <a:lnTo>
                  <a:pt x="15200" y="3200"/>
                </a:lnTo>
                <a:lnTo>
                  <a:pt x="15022" y="3220"/>
                </a:lnTo>
                <a:lnTo>
                  <a:pt x="14853" y="3279"/>
                </a:lnTo>
                <a:lnTo>
                  <a:pt x="14701" y="3375"/>
                </a:lnTo>
                <a:lnTo>
                  <a:pt x="14575" y="3501"/>
                </a:lnTo>
                <a:lnTo>
                  <a:pt x="14479" y="3653"/>
                </a:lnTo>
                <a:lnTo>
                  <a:pt x="14420" y="3822"/>
                </a:lnTo>
                <a:lnTo>
                  <a:pt x="14400" y="4000"/>
                </a:lnTo>
                <a:lnTo>
                  <a:pt x="14400" y="8000"/>
                </a:lnTo>
                <a:lnTo>
                  <a:pt x="9600" y="8000"/>
                </a:lnTo>
                <a:lnTo>
                  <a:pt x="9422" y="8020"/>
                </a:lnTo>
                <a:lnTo>
                  <a:pt x="9253" y="8079"/>
                </a:lnTo>
                <a:lnTo>
                  <a:pt x="9101" y="8175"/>
                </a:lnTo>
                <a:lnTo>
                  <a:pt x="8975" y="8301"/>
                </a:lnTo>
                <a:lnTo>
                  <a:pt x="8879" y="8453"/>
                </a:lnTo>
                <a:lnTo>
                  <a:pt x="8820" y="8622"/>
                </a:lnTo>
                <a:lnTo>
                  <a:pt x="8800" y="8800"/>
                </a:lnTo>
                <a:lnTo>
                  <a:pt x="8800" y="12800"/>
                </a:lnTo>
                <a:lnTo>
                  <a:pt x="4800" y="12800"/>
                </a:lnTo>
                <a:lnTo>
                  <a:pt x="4622" y="12820"/>
                </a:lnTo>
                <a:lnTo>
                  <a:pt x="4453" y="12879"/>
                </a:lnTo>
                <a:lnTo>
                  <a:pt x="4301" y="12975"/>
                </a:lnTo>
                <a:lnTo>
                  <a:pt x="4175" y="13101"/>
                </a:lnTo>
                <a:lnTo>
                  <a:pt x="4079" y="13253"/>
                </a:lnTo>
                <a:lnTo>
                  <a:pt x="4020" y="13422"/>
                </a:lnTo>
                <a:lnTo>
                  <a:pt x="4000" y="13600"/>
                </a:lnTo>
                <a:lnTo>
                  <a:pt x="4000" y="20000"/>
                </a:lnTo>
                <a:lnTo>
                  <a:pt x="3200" y="20000"/>
                </a:lnTo>
                <a:lnTo>
                  <a:pt x="3034" y="20017"/>
                </a:lnTo>
                <a:lnTo>
                  <a:pt x="2875" y="20069"/>
                </a:lnTo>
                <a:lnTo>
                  <a:pt x="2730" y="20153"/>
                </a:lnTo>
                <a:lnTo>
                  <a:pt x="2605" y="20265"/>
                </a:lnTo>
                <a:lnTo>
                  <a:pt x="2507" y="20400"/>
                </a:lnTo>
                <a:lnTo>
                  <a:pt x="2439" y="20553"/>
                </a:lnTo>
                <a:lnTo>
                  <a:pt x="2404" y="20716"/>
                </a:lnTo>
                <a:lnTo>
                  <a:pt x="2404" y="20884"/>
                </a:lnTo>
                <a:lnTo>
                  <a:pt x="2439" y="21047"/>
                </a:lnTo>
                <a:lnTo>
                  <a:pt x="2507" y="21200"/>
                </a:lnTo>
                <a:lnTo>
                  <a:pt x="2605" y="21335"/>
                </a:lnTo>
                <a:lnTo>
                  <a:pt x="2730" y="21447"/>
                </a:lnTo>
                <a:lnTo>
                  <a:pt x="2875" y="21531"/>
                </a:lnTo>
                <a:lnTo>
                  <a:pt x="3034" y="21583"/>
                </a:lnTo>
                <a:lnTo>
                  <a:pt x="3200" y="21600"/>
                </a:lnTo>
                <a:lnTo>
                  <a:pt x="22400" y="21600"/>
                </a:lnTo>
                <a:lnTo>
                  <a:pt x="22566" y="21583"/>
                </a:lnTo>
                <a:lnTo>
                  <a:pt x="22725" y="21531"/>
                </a:lnTo>
                <a:lnTo>
                  <a:pt x="22870" y="21447"/>
                </a:lnTo>
                <a:lnTo>
                  <a:pt x="22995" y="21335"/>
                </a:lnTo>
                <a:lnTo>
                  <a:pt x="23093" y="21200"/>
                </a:lnTo>
                <a:lnTo>
                  <a:pt x="23161" y="21047"/>
                </a:lnTo>
                <a:lnTo>
                  <a:pt x="23196" y="20884"/>
                </a:lnTo>
                <a:lnTo>
                  <a:pt x="23196" y="20716"/>
                </a:lnTo>
                <a:lnTo>
                  <a:pt x="23161" y="20553"/>
                </a:lnTo>
                <a:lnTo>
                  <a:pt x="23093" y="20400"/>
                </a:lnTo>
                <a:lnTo>
                  <a:pt x="22995" y="20265"/>
                </a:lnTo>
                <a:lnTo>
                  <a:pt x="22870" y="20153"/>
                </a:lnTo>
                <a:lnTo>
                  <a:pt x="22725" y="20069"/>
                </a:lnTo>
                <a:lnTo>
                  <a:pt x="22566" y="20017"/>
                </a:lnTo>
                <a:lnTo>
                  <a:pt x="22400" y="20000"/>
                </a:lnTo>
                <a:close/>
                <a:moveTo>
                  <a:pt x="16000" y="4800"/>
                </a:moveTo>
                <a:lnTo>
                  <a:pt x="20000" y="4800"/>
                </a:lnTo>
                <a:lnTo>
                  <a:pt x="20000" y="20000"/>
                </a:lnTo>
                <a:lnTo>
                  <a:pt x="16000" y="20000"/>
                </a:lnTo>
                <a:lnTo>
                  <a:pt x="16000" y="4800"/>
                </a:lnTo>
                <a:close/>
                <a:moveTo>
                  <a:pt x="10400" y="9600"/>
                </a:moveTo>
                <a:lnTo>
                  <a:pt x="14400" y="9600"/>
                </a:lnTo>
                <a:lnTo>
                  <a:pt x="14400" y="20000"/>
                </a:lnTo>
                <a:lnTo>
                  <a:pt x="10400" y="20000"/>
                </a:lnTo>
                <a:lnTo>
                  <a:pt x="10400" y="9600"/>
                </a:lnTo>
                <a:close/>
                <a:moveTo>
                  <a:pt x="5600" y="14400"/>
                </a:moveTo>
                <a:lnTo>
                  <a:pt x="8800" y="14400"/>
                </a:lnTo>
                <a:lnTo>
                  <a:pt x="8800" y="20000"/>
                </a:lnTo>
                <a:lnTo>
                  <a:pt x="5600" y="20000"/>
                </a:lnTo>
                <a:lnTo>
                  <a:pt x="5600" y="14400"/>
                </a:lnTo>
                <a:close/>
              </a:path>
            </a:pathLst>
          </a:custGeom>
          <a:solidFill>
            <a:srgbClr val="FFFFFF"/>
          </a:solidFill>
          <a:ln>
            <a:noFill/>
          </a:ln>
        </p:spPr>
        <p:txBody>
          <a:bodyPr rtlCol="0" anchor="ctr"/>
          <a:lstStyle/>
          <a:p>
            <a:pPr algn="ctr"/>
          </a:p>
        </p:txBody>
      </p:sp>
      <p:sp>
        <p:nvSpPr>
          <p:cNvPr id="87" name="TextBox 86"/>
          <p:cNvSpPr txBox="1"/>
          <p:nvPr/>
        </p:nvSpPr>
        <p:spPr>
          <a:xfrm>
            <a:off x="1520808" y="7171540"/>
            <a:ext cx="4526383" cy="240000"/>
          </a:xfrm>
          <a:prstGeom prst="rect">
            <a:avLst/>
          </a:prstGeom>
          <a:noFill/>
        </p:spPr>
        <p:txBody>
          <a:bodyPr wrap="square" lIns="0" rIns="0" tIns="0" bIns="0" anchor="t">
            <a:spAutoFit/>
          </a:bodyPr>
          <a:lstStyle/>
          <a:p>
            <a:pPr algn="l">
              <a:lnSpc>
                <a:spcPct val="100000"/>
              </a:lnSpc>
              <a:spcAft>
                <a:spcPts val="0"/>
              </a:spcAft>
            </a:pPr>
            <a:r>
              <a:rPr sz="1100" b="1" i="0">
                <a:solidFill>
                  <a:srgbClr val="3560D6"/>
                </a:solidFill>
                <a:latin typeface="Arial"/>
              </a:rPr>
              <a:t>03. </a:t>
            </a:r>
            <a:r>
              <a:rPr sz="1150" b="1" i="0">
                <a:solidFill>
                  <a:srgbClr val="3D2159"/>
                </a:solidFill>
                <a:latin typeface="Arial"/>
              </a:rPr>
              <a:t>Evidencia</a:t>
            </a:r>
          </a:p>
        </p:txBody>
      </p:sp>
      <p:sp>
        <p:nvSpPr>
          <p:cNvPr id="88" name="TextBox 87"/>
          <p:cNvSpPr txBox="1"/>
          <p:nvPr/>
        </p:nvSpPr>
        <p:spPr>
          <a:xfrm>
            <a:off x="1520808" y="7461540"/>
            <a:ext cx="4526383" cy="240000"/>
          </a:xfrm>
          <a:prstGeom prst="rect">
            <a:avLst/>
          </a:prstGeom>
          <a:noFill/>
        </p:spPr>
        <p:txBody>
          <a:bodyPr wrap="square" lIns="0" rIns="0" tIns="0" bIns="0" anchor="t">
            <a:spAutoFit/>
          </a:bodyPr>
          <a:lstStyle/>
          <a:p>
            <a:pPr algn="l">
              <a:lnSpc>
                <a:spcPct val="100000"/>
              </a:lnSpc>
              <a:spcAft>
                <a:spcPts val="0"/>
              </a:spcAft>
            </a:pPr>
            <a:r>
              <a:rPr sz="1000" b="0" i="0">
                <a:solidFill>
                  <a:srgbClr val="56505B"/>
                </a:solidFill>
                <a:latin typeface="Arial"/>
              </a:rPr>
              <a:t>Información que permitirá decidir qué hacer con ella.</a:t>
            </a:r>
          </a:p>
        </p:txBody>
      </p:sp>
      <p:sp>
        <p:nvSpPr>
          <p:cNvPr id="89" name="TextBox 88"/>
          <p:cNvSpPr txBox="1"/>
          <p:nvPr/>
        </p:nvSpPr>
        <p:spPr>
          <a:xfrm>
            <a:off x="640808" y="8071540"/>
            <a:ext cx="5576383" cy="150000"/>
          </a:xfrm>
          <a:prstGeom prst="rect">
            <a:avLst/>
          </a:prstGeom>
          <a:noFill/>
        </p:spPr>
        <p:txBody>
          <a:bodyPr wrap="square" lIns="0" rIns="0" tIns="0" bIns="0" anchor="t">
            <a:spAutoFit/>
          </a:bodyPr>
          <a:lstStyle/>
          <a:p>
            <a:pPr algn="l">
              <a:lnSpc>
                <a:spcPct val="100000"/>
              </a:lnSpc>
              <a:spcAft>
                <a:spcPts val="0"/>
              </a:spcAft>
            </a:pPr>
            <a:r>
              <a:rPr sz="950" b="0" i="1">
                <a:solidFill>
                  <a:srgbClr val="7B7480"/>
                </a:solidFill>
                <a:latin typeface="Arial"/>
              </a:rPr>
              <a:t>Fuente: elaboración propia.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808" y="723900"/>
            <a:ext cx="4265517" cy="171450"/>
          </a:xfrm>
          <a:prstGeom prst="rect">
            <a:avLst/>
          </a:prstGeom>
          <a:noFill/>
        </p:spPr>
        <p:txBody>
          <a:bodyPr wrap="square" lIns="0" rIns="0" tIns="0" bIns="0" anchor="t">
            <a:spAutoFit/>
          </a:bodyPr>
          <a:lstStyle/>
          <a:p>
            <a:pPr algn="l">
              <a:lnSpc>
                <a:spcPct val="100000"/>
              </a:lnSpc>
              <a:spcAft>
                <a:spcPts val="0"/>
              </a:spcAft>
            </a:pPr>
            <a:r>
              <a:rPr sz="825" b="1" i="0">
                <a:solidFill>
                  <a:srgbClr val="664092"/>
                </a:solidFill>
                <a:latin typeface="Arial"/>
              </a:rPr>
              <a:t>Artículo educativo · Pensamiento de diseño</a:t>
            </a:r>
          </a:p>
        </p:txBody>
      </p:sp>
      <p:sp>
        <p:nvSpPr>
          <p:cNvPr id="3" name="TextBox 2"/>
          <p:cNvSpPr txBox="1"/>
          <p:nvPr/>
        </p:nvSpPr>
        <p:spPr>
          <a:xfrm>
            <a:off x="640808" y="1104900"/>
            <a:ext cx="5576383" cy="209550"/>
          </a:xfrm>
          <a:prstGeom prst="rect">
            <a:avLst/>
          </a:prstGeom>
          <a:noFill/>
        </p:spPr>
        <p:txBody>
          <a:bodyPr wrap="square" lIns="0" rIns="0" tIns="0" bIns="0" anchor="t">
            <a:spAutoFit/>
          </a:bodyPr>
          <a:lstStyle/>
          <a:p>
            <a:pPr algn="l">
              <a:lnSpc>
                <a:spcPct val="100000"/>
              </a:lnSpc>
              <a:spcAft>
                <a:spcPts val="0"/>
              </a:spcAft>
            </a:pPr>
            <a:r>
              <a:rPr sz="975" b="1" i="0">
                <a:solidFill>
                  <a:srgbClr val="3560D6"/>
                </a:solidFill>
                <a:latin typeface="Arial"/>
              </a:rPr>
              <a:t>02 · Experimentar</a:t>
            </a:r>
          </a:p>
        </p:txBody>
      </p:sp>
      <p:sp>
        <p:nvSpPr>
          <p:cNvPr id="4" name="TextBox 3"/>
          <p:cNvSpPr txBox="1"/>
          <p:nvPr/>
        </p:nvSpPr>
        <p:spPr>
          <a:xfrm>
            <a:off x="640808" y="1428750"/>
            <a:ext cx="5576383" cy="690943"/>
          </a:xfrm>
          <a:prstGeom prst="rect">
            <a:avLst/>
          </a:prstGeom>
          <a:noFill/>
        </p:spPr>
        <p:txBody>
          <a:bodyPr wrap="square" lIns="0" rIns="0" tIns="0" bIns="0" anchor="t">
            <a:spAutoFit/>
          </a:bodyPr>
          <a:lstStyle/>
          <a:p>
            <a:pPr algn="l">
              <a:lnSpc>
                <a:spcPct val="100000"/>
              </a:lnSpc>
              <a:spcAft>
                <a:spcPts val="0"/>
              </a:spcAft>
            </a:pPr>
            <a:r>
              <a:rPr sz="2325" b="1" i="0">
                <a:solidFill>
                  <a:srgbClr val="664092"/>
                </a:solidFill>
                <a:latin typeface="Arial"/>
              </a:rPr>
              <a:t>Aprender temprano antes de invertir demasiado</a:t>
            </a:r>
          </a:p>
        </p:txBody>
      </p:sp>
      <p:cxnSp>
        <p:nvCxnSpPr>
          <p:cNvPr id="67" name="Google Shape;67;p12"/>
          <p:cNvCxnSpPr/>
          <p:nvPr/>
        </p:nvCxnSpPr>
        <p:spPr>
          <a:xfrm>
            <a:off x="748514" y="2349693"/>
            <a:ext cx="998913" cy="0"/>
          </a:xfrm>
          <a:prstGeom prst="straightConnector1">
            <a:avLst/>
          </a:prstGeom>
          <a:noFill/>
          <a:ln cap="flat" cmpd="sng" w="53975">
            <a:solidFill>
              <a:srgbClr val="73CDEB"/>
            </a:solidFill>
            <a:prstDash val="solid"/>
            <a:round/>
            <a:headEnd len="med" w="med" type="oval"/>
            <a:tailEnd len="med" w="med" type="oval"/>
          </a:ln>
        </p:spPr>
      </p:cxnSp>
      <p:sp>
        <p:nvSpPr>
          <p:cNvPr id="68" name="TextBox 67"/>
          <p:cNvSpPr txBox="1"/>
          <p:nvPr/>
        </p:nvSpPr>
        <p:spPr>
          <a:xfrm>
            <a:off x="642308" y="2599693"/>
            <a:ext cx="5576383" cy="2937319"/>
          </a:xfrm>
          <a:prstGeom prst="rect">
            <a:avLst/>
          </a:prstGeom>
          <a:noFill/>
        </p:spPr>
        <p:txBody>
          <a:bodyPr wrap="square" lIns="0" rIns="0" tIns="0" bIns="0" anchor="t">
            <a:spAutoFit/>
          </a:bodyPr>
          <a:lstStyle/>
          <a:p>
            <a:pPr algn="l">
              <a:lnSpc>
                <a:spcPct val="130000"/>
              </a:lnSpc>
              <a:spcAft>
                <a:spcPts val="1181"/>
              </a:spcAft>
            </a:pPr>
            <a:r>
              <a:rPr sz="1100" b="0" i="0">
                <a:solidFill>
                  <a:srgbClr val="56505B"/>
                </a:solidFill>
                <a:latin typeface="Arial"/>
              </a:rPr>
              <a:t>Un prototipo transforma una idea abstracta en una representación que permite explorar cómo podría funcionar. Puede representar un producto, servicio, interfaz, procedimiento, experiencia o secuencia de interacción.</a:t>
            </a:r>
          </a:p>
          <a:p>
            <a:pPr algn="l">
              <a:lnSpc>
                <a:spcPct val="130000"/>
              </a:lnSpc>
              <a:spcAft>
                <a:spcPts val="1181"/>
              </a:spcAft>
            </a:pPr>
            <a:r>
              <a:rPr sz="1100" b="0" i="0">
                <a:solidFill>
                  <a:srgbClr val="56505B"/>
                </a:solidFill>
                <a:latin typeface="Arial"/>
              </a:rPr>
              <a:t>Su objetivo principal no consiste en parecer un producto terminado, sino en hacer tangible una idea para aprender sobre ella.</a:t>
            </a:r>
          </a:p>
          <a:p>
            <a:pPr algn="l">
              <a:lnSpc>
                <a:spcPct val="130000"/>
              </a:lnSpc>
              <a:spcAft>
                <a:spcPts val="1181"/>
              </a:spcAft>
            </a:pPr>
            <a:r>
              <a:rPr sz="1100" b="0" i="0">
                <a:solidFill>
                  <a:srgbClr val="56505B"/>
                </a:solidFill>
                <a:latin typeface="Arial"/>
              </a:rPr>
              <a:t>Por eso, en momentos iniciales puede resultar más conveniente construir representaciones sencillas, rápidas y económicas. Cuanto antes podamos observar una idea y obtener información sobre ella, más posibilidades tendremos de modificarla antes de comprometer grandes cantidades de tiempo o recursos.</a:t>
            </a:r>
          </a:p>
          <a:p>
            <a:pPr algn="l">
              <a:lnSpc>
                <a:spcPct val="130000"/>
              </a:lnSpc>
              <a:spcAft>
                <a:spcPts val="1181"/>
              </a:spcAft>
            </a:pPr>
            <a:r>
              <a:rPr sz="1100" b="1" i="0">
                <a:solidFill>
                  <a:srgbClr val="024791"/>
                </a:solidFill>
                <a:latin typeface="Arial"/>
              </a:rPr>
              <a:t>El prototipado reduce la distancia entre imaginar una solución y observar cómo podría comportarse.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808" y="723900"/>
            <a:ext cx="4265517" cy="171450"/>
          </a:xfrm>
          <a:prstGeom prst="rect">
            <a:avLst/>
          </a:prstGeom>
          <a:noFill/>
        </p:spPr>
        <p:txBody>
          <a:bodyPr wrap="square" lIns="0" rIns="0" tIns="0" bIns="0" anchor="t">
            <a:spAutoFit/>
          </a:bodyPr>
          <a:lstStyle/>
          <a:p>
            <a:pPr algn="l">
              <a:lnSpc>
                <a:spcPct val="100000"/>
              </a:lnSpc>
              <a:spcAft>
                <a:spcPts val="0"/>
              </a:spcAft>
            </a:pPr>
            <a:r>
              <a:rPr sz="825" b="1" i="0">
                <a:solidFill>
                  <a:srgbClr val="664092"/>
                </a:solidFill>
                <a:latin typeface="Arial"/>
              </a:rPr>
              <a:t>Artículo educativo · Pensamiento de diseño</a:t>
            </a:r>
          </a:p>
        </p:txBody>
      </p:sp>
      <p:sp>
        <p:nvSpPr>
          <p:cNvPr id="3" name="TextBox 2"/>
          <p:cNvSpPr txBox="1"/>
          <p:nvPr/>
        </p:nvSpPr>
        <p:spPr>
          <a:xfrm>
            <a:off x="640808" y="1144900"/>
            <a:ext cx="5576383" cy="150000"/>
          </a:xfrm>
          <a:prstGeom prst="rect">
            <a:avLst/>
          </a:prstGeom>
          <a:noFill/>
        </p:spPr>
        <p:txBody>
          <a:bodyPr wrap="square" lIns="0" rIns="0" tIns="0" bIns="0" anchor="t">
            <a:spAutoFit/>
          </a:bodyPr>
          <a:lstStyle/>
          <a:p>
            <a:pPr algn="l">
              <a:lnSpc>
                <a:spcPct val="100000"/>
              </a:lnSpc>
              <a:spcAft>
                <a:spcPts val="0"/>
              </a:spcAft>
            </a:pPr>
            <a:r>
              <a:rPr sz="950" b="1" i="0">
                <a:solidFill>
                  <a:srgbClr val="3560D6"/>
                </a:solidFill>
                <a:latin typeface="Arial"/>
              </a:rPr>
              <a:t>FIGURA 3</a:t>
            </a:r>
          </a:p>
        </p:txBody>
      </p:sp>
      <p:sp>
        <p:nvSpPr>
          <p:cNvPr id="4" name="TextBox 3"/>
          <p:cNvSpPr txBox="1"/>
          <p:nvPr/>
        </p:nvSpPr>
        <p:spPr>
          <a:xfrm>
            <a:off x="640808" y="1382900"/>
            <a:ext cx="5576383" cy="212483"/>
          </a:xfrm>
          <a:prstGeom prst="rect">
            <a:avLst/>
          </a:prstGeom>
          <a:noFill/>
        </p:spPr>
        <p:txBody>
          <a:bodyPr wrap="square" lIns="0" rIns="0" tIns="0" bIns="0" anchor="t">
            <a:spAutoFit/>
          </a:bodyPr>
          <a:lstStyle/>
          <a:p>
            <a:pPr algn="l">
              <a:lnSpc>
                <a:spcPct val="110000"/>
              </a:lnSpc>
              <a:spcAft>
                <a:spcPts val="0"/>
              </a:spcAft>
            </a:pPr>
            <a:r>
              <a:rPr sz="1300" b="1" i="0">
                <a:solidFill>
                  <a:srgbClr val="664092"/>
                </a:solidFill>
                <a:latin typeface="Arial"/>
              </a:rPr>
              <a:t>Aprender temprano antes de invertir demasiado</a:t>
            </a:r>
          </a:p>
        </p:txBody>
      </p:sp>
      <p:sp>
        <p:nvSpPr>
          <p:cNvPr id="5" name="Rounded Rectangle 4"/>
          <p:cNvSpPr/>
          <p:nvPr/>
        </p:nvSpPr>
        <p:spPr>
          <a:xfrm>
            <a:off x="640808" y="1745383"/>
            <a:ext cx="1900000" cy="280000"/>
          </a:xfrm>
          <a:prstGeom prst="roundRect">
            <a:avLst>
              <a:gd name="adj" fmla="val 50000"/>
            </a:avLst>
          </a:prstGeom>
          <a:solidFill>
            <a:srgbClr val="024791"/>
          </a:solidFill>
          <a:ln>
            <a:noFill/>
          </a:ln>
        </p:spPr>
        <p:txBody>
          <a:bodyPr rtlCol="0" anchor="ctr"/>
          <a:lstStyle/>
          <a:p>
            <a:pPr algn="ctr"/>
          </a:p>
        </p:txBody>
      </p:sp>
      <p:sp>
        <p:nvSpPr>
          <p:cNvPr id="6" name="TextBox 5"/>
          <p:cNvSpPr txBox="1"/>
          <p:nvPr/>
        </p:nvSpPr>
        <p:spPr>
          <a:xfrm>
            <a:off x="640808" y="1745383"/>
            <a:ext cx="1900000" cy="280000"/>
          </a:xfrm>
          <a:prstGeom prst="rect">
            <a:avLst/>
          </a:prstGeom>
          <a:noFill/>
        </p:spPr>
        <p:txBody>
          <a:bodyPr wrap="square" lIns="0" rIns="0" tIns="0" bIns="0" anchor="ctr">
            <a:spAutoFit/>
          </a:bodyPr>
          <a:lstStyle/>
          <a:p>
            <a:pPr algn="ctr">
              <a:lnSpc>
                <a:spcPct val="100000"/>
              </a:lnSpc>
              <a:spcAft>
                <a:spcPts val="0"/>
              </a:spcAft>
            </a:pPr>
            <a:r>
              <a:rPr sz="900" b="1" i="0">
                <a:solidFill>
                  <a:srgbClr val="FFFFFF"/>
                </a:solidFill>
                <a:latin typeface="Arial"/>
              </a:rPr>
              <a:t>APRENDIZAJE TEMPRANO</a:t>
            </a:r>
          </a:p>
        </p:txBody>
      </p:sp>
      <p:sp>
        <p:nvSpPr>
          <p:cNvPr id="7" name="Rounded Rectangle 6"/>
          <p:cNvSpPr/>
          <p:nvPr/>
        </p:nvSpPr>
        <p:spPr>
          <a:xfrm>
            <a:off x="640808" y="2125383"/>
            <a:ext cx="1000000" cy="760000"/>
          </a:xfrm>
          <a:prstGeom prst="roundRect">
            <a:avLst>
              <a:gd name="adj" fmla="val 11842"/>
            </a:avLst>
          </a:prstGeom>
          <a:solidFill>
            <a:srgbClr val="E8F1FB"/>
          </a:solidFill>
          <a:ln>
            <a:noFill/>
          </a:ln>
        </p:spPr>
        <p:txBody>
          <a:bodyPr rtlCol="0" anchor="ctr"/>
          <a:lstStyle/>
          <a:p>
            <a:pPr algn="ctr"/>
          </a:p>
        </p:txBody>
      </p:sp>
      <p:sp>
        <p:nvSpPr>
          <p:cNvPr id="8" name="TextBox 7"/>
          <p:cNvSpPr txBox="1"/>
          <p:nvPr/>
        </p:nvSpPr>
        <p:spPr>
          <a:xfrm>
            <a:off x="690808" y="2125383"/>
            <a:ext cx="900000" cy="760000"/>
          </a:xfrm>
          <a:prstGeom prst="rect">
            <a:avLst/>
          </a:prstGeom>
          <a:noFill/>
        </p:spPr>
        <p:txBody>
          <a:bodyPr wrap="square" lIns="0" rIns="0" tIns="0" bIns="0" anchor="ctr">
            <a:spAutoFit/>
          </a:bodyPr>
          <a:lstStyle/>
          <a:p>
            <a:pPr algn="ctr">
              <a:lnSpc>
                <a:spcPct val="105000"/>
              </a:lnSpc>
              <a:spcAft>
                <a:spcPts val="0"/>
              </a:spcAft>
            </a:pPr>
            <a:r>
              <a:rPr sz="900" b="1" i="0">
                <a:solidFill>
                  <a:srgbClr val="024791"/>
                </a:solidFill>
                <a:latin typeface="Arial"/>
              </a:rPr>
              <a:t>Idea</a:t>
            </a:r>
          </a:p>
        </p:txBody>
      </p:sp>
      <p:sp>
        <p:nvSpPr>
          <p:cNvPr id="9" name="Isosceles Triangle 8"/>
          <p:cNvSpPr/>
          <p:nvPr/>
        </p:nvSpPr>
        <p:spPr>
          <a:xfrm rot="5400000">
            <a:off x="1665808" y="2460383"/>
            <a:ext cx="90000" cy="72000"/>
          </a:xfrm>
          <a:prstGeom prst="triangle">
            <a:avLst/>
          </a:prstGeom>
          <a:solidFill>
            <a:srgbClr val="A9B8D9"/>
          </a:solidFill>
          <a:ln>
            <a:noFill/>
          </a:ln>
        </p:spPr>
        <p:txBody>
          <a:bodyPr rtlCol="0" anchor="ctr"/>
          <a:lstStyle/>
          <a:p>
            <a:pPr algn="ctr"/>
          </a:p>
        </p:txBody>
      </p:sp>
      <p:sp>
        <p:nvSpPr>
          <p:cNvPr id="10" name="Rounded Rectangle 9"/>
          <p:cNvSpPr/>
          <p:nvPr/>
        </p:nvSpPr>
        <p:spPr>
          <a:xfrm>
            <a:off x="1784904" y="2125383"/>
            <a:ext cx="1000000" cy="760000"/>
          </a:xfrm>
          <a:prstGeom prst="roundRect">
            <a:avLst>
              <a:gd name="adj" fmla="val 11842"/>
            </a:avLst>
          </a:prstGeom>
          <a:solidFill>
            <a:srgbClr val="E8F1FB"/>
          </a:solidFill>
          <a:ln>
            <a:noFill/>
          </a:ln>
        </p:spPr>
        <p:txBody>
          <a:bodyPr rtlCol="0" anchor="ctr"/>
          <a:lstStyle/>
          <a:p>
            <a:pPr algn="ctr"/>
          </a:p>
        </p:txBody>
      </p:sp>
      <p:sp>
        <p:nvSpPr>
          <p:cNvPr id="11" name="TextBox 10"/>
          <p:cNvSpPr txBox="1"/>
          <p:nvPr/>
        </p:nvSpPr>
        <p:spPr>
          <a:xfrm>
            <a:off x="1834904" y="2125383"/>
            <a:ext cx="900000" cy="760000"/>
          </a:xfrm>
          <a:prstGeom prst="rect">
            <a:avLst/>
          </a:prstGeom>
          <a:noFill/>
        </p:spPr>
        <p:txBody>
          <a:bodyPr wrap="square" lIns="0" rIns="0" tIns="0" bIns="0" anchor="ctr">
            <a:spAutoFit/>
          </a:bodyPr>
          <a:lstStyle/>
          <a:p>
            <a:pPr algn="ctr">
              <a:lnSpc>
                <a:spcPct val="105000"/>
              </a:lnSpc>
              <a:spcAft>
                <a:spcPts val="0"/>
              </a:spcAft>
            </a:pPr>
            <a:r>
              <a:rPr sz="900" b="1" i="0">
                <a:solidFill>
                  <a:srgbClr val="024791"/>
                </a:solidFill>
                <a:latin typeface="Arial"/>
              </a:rPr>
              <a:t>Prototipo sencillo</a:t>
            </a:r>
          </a:p>
        </p:txBody>
      </p:sp>
      <p:sp>
        <p:nvSpPr>
          <p:cNvPr id="12" name="Isosceles Triangle 11"/>
          <p:cNvSpPr/>
          <p:nvPr/>
        </p:nvSpPr>
        <p:spPr>
          <a:xfrm rot="5400000">
            <a:off x="2809904" y="2460383"/>
            <a:ext cx="90000" cy="72000"/>
          </a:xfrm>
          <a:prstGeom prst="triangle">
            <a:avLst/>
          </a:prstGeom>
          <a:solidFill>
            <a:srgbClr val="A9B8D9"/>
          </a:solidFill>
          <a:ln>
            <a:noFill/>
          </a:ln>
        </p:spPr>
        <p:txBody>
          <a:bodyPr rtlCol="0" anchor="ctr"/>
          <a:lstStyle/>
          <a:p>
            <a:pPr algn="ctr"/>
          </a:p>
        </p:txBody>
      </p:sp>
      <p:sp>
        <p:nvSpPr>
          <p:cNvPr id="13" name="Rounded Rectangle 12"/>
          <p:cNvSpPr/>
          <p:nvPr/>
        </p:nvSpPr>
        <p:spPr>
          <a:xfrm>
            <a:off x="2929000" y="2125383"/>
            <a:ext cx="1000000" cy="760000"/>
          </a:xfrm>
          <a:prstGeom prst="roundRect">
            <a:avLst>
              <a:gd name="adj" fmla="val 11842"/>
            </a:avLst>
          </a:prstGeom>
          <a:solidFill>
            <a:srgbClr val="E8F1FB"/>
          </a:solidFill>
          <a:ln>
            <a:noFill/>
          </a:ln>
        </p:spPr>
        <p:txBody>
          <a:bodyPr rtlCol="0" anchor="ctr"/>
          <a:lstStyle/>
          <a:p>
            <a:pPr algn="ctr"/>
          </a:p>
        </p:txBody>
      </p:sp>
      <p:sp>
        <p:nvSpPr>
          <p:cNvPr id="14" name="TextBox 13"/>
          <p:cNvSpPr txBox="1"/>
          <p:nvPr/>
        </p:nvSpPr>
        <p:spPr>
          <a:xfrm>
            <a:off x="2979000" y="2125383"/>
            <a:ext cx="900000" cy="760000"/>
          </a:xfrm>
          <a:prstGeom prst="rect">
            <a:avLst/>
          </a:prstGeom>
          <a:noFill/>
        </p:spPr>
        <p:txBody>
          <a:bodyPr wrap="square" lIns="0" rIns="0" tIns="0" bIns="0" anchor="ctr">
            <a:spAutoFit/>
          </a:bodyPr>
          <a:lstStyle/>
          <a:p>
            <a:pPr algn="ctr">
              <a:lnSpc>
                <a:spcPct val="105000"/>
              </a:lnSpc>
              <a:spcAft>
                <a:spcPts val="0"/>
              </a:spcAft>
            </a:pPr>
            <a:r>
              <a:rPr sz="900" b="1" i="0">
                <a:solidFill>
                  <a:srgbClr val="024791"/>
                </a:solidFill>
                <a:latin typeface="Arial"/>
              </a:rPr>
              <a:t>Prueba</a:t>
            </a:r>
          </a:p>
        </p:txBody>
      </p:sp>
      <p:sp>
        <p:nvSpPr>
          <p:cNvPr id="15" name="Isosceles Triangle 14"/>
          <p:cNvSpPr/>
          <p:nvPr/>
        </p:nvSpPr>
        <p:spPr>
          <a:xfrm rot="5400000">
            <a:off x="3954000" y="2460383"/>
            <a:ext cx="90000" cy="72000"/>
          </a:xfrm>
          <a:prstGeom prst="triangle">
            <a:avLst/>
          </a:prstGeom>
          <a:solidFill>
            <a:srgbClr val="A9B8D9"/>
          </a:solidFill>
          <a:ln>
            <a:noFill/>
          </a:ln>
        </p:spPr>
        <p:txBody>
          <a:bodyPr rtlCol="0" anchor="ctr"/>
          <a:lstStyle/>
          <a:p>
            <a:pPr algn="ctr"/>
          </a:p>
        </p:txBody>
      </p:sp>
      <p:sp>
        <p:nvSpPr>
          <p:cNvPr id="16" name="Rounded Rectangle 15"/>
          <p:cNvSpPr/>
          <p:nvPr/>
        </p:nvSpPr>
        <p:spPr>
          <a:xfrm>
            <a:off x="4073096" y="2125383"/>
            <a:ext cx="1000000" cy="760000"/>
          </a:xfrm>
          <a:prstGeom prst="roundRect">
            <a:avLst>
              <a:gd name="adj" fmla="val 11842"/>
            </a:avLst>
          </a:prstGeom>
          <a:solidFill>
            <a:srgbClr val="E8F1FB"/>
          </a:solidFill>
          <a:ln>
            <a:noFill/>
          </a:ln>
        </p:spPr>
        <p:txBody>
          <a:bodyPr rtlCol="0" anchor="ctr"/>
          <a:lstStyle/>
          <a:p>
            <a:pPr algn="ctr"/>
          </a:p>
        </p:txBody>
      </p:sp>
      <p:sp>
        <p:nvSpPr>
          <p:cNvPr id="17" name="TextBox 16"/>
          <p:cNvSpPr txBox="1"/>
          <p:nvPr/>
        </p:nvSpPr>
        <p:spPr>
          <a:xfrm>
            <a:off x="4123096" y="2125383"/>
            <a:ext cx="900000" cy="760000"/>
          </a:xfrm>
          <a:prstGeom prst="rect">
            <a:avLst/>
          </a:prstGeom>
          <a:noFill/>
        </p:spPr>
        <p:txBody>
          <a:bodyPr wrap="square" lIns="0" rIns="0" tIns="0" bIns="0" anchor="ctr">
            <a:spAutoFit/>
          </a:bodyPr>
          <a:lstStyle/>
          <a:p>
            <a:pPr algn="ctr">
              <a:lnSpc>
                <a:spcPct val="105000"/>
              </a:lnSpc>
              <a:spcAft>
                <a:spcPts val="0"/>
              </a:spcAft>
            </a:pPr>
            <a:r>
              <a:rPr sz="900" b="1" i="0">
                <a:solidFill>
                  <a:srgbClr val="024791"/>
                </a:solidFill>
                <a:latin typeface="Arial"/>
              </a:rPr>
              <a:t>Aprendizaje</a:t>
            </a:r>
          </a:p>
        </p:txBody>
      </p:sp>
      <p:sp>
        <p:nvSpPr>
          <p:cNvPr id="18" name="Isosceles Triangle 17"/>
          <p:cNvSpPr/>
          <p:nvPr/>
        </p:nvSpPr>
        <p:spPr>
          <a:xfrm rot="5400000">
            <a:off x="5098096" y="2460383"/>
            <a:ext cx="90000" cy="72000"/>
          </a:xfrm>
          <a:prstGeom prst="triangle">
            <a:avLst/>
          </a:prstGeom>
          <a:solidFill>
            <a:srgbClr val="A9B8D9"/>
          </a:solidFill>
          <a:ln>
            <a:noFill/>
          </a:ln>
        </p:spPr>
        <p:txBody>
          <a:bodyPr rtlCol="0" anchor="ctr"/>
          <a:lstStyle/>
          <a:p>
            <a:pPr algn="ctr"/>
          </a:p>
        </p:txBody>
      </p:sp>
      <p:sp>
        <p:nvSpPr>
          <p:cNvPr id="19" name="Rounded Rectangle 18"/>
          <p:cNvSpPr/>
          <p:nvPr/>
        </p:nvSpPr>
        <p:spPr>
          <a:xfrm>
            <a:off x="5217192" y="2125383"/>
            <a:ext cx="1000000" cy="760000"/>
          </a:xfrm>
          <a:prstGeom prst="roundRect">
            <a:avLst>
              <a:gd name="adj" fmla="val 11842"/>
            </a:avLst>
          </a:prstGeom>
          <a:solidFill>
            <a:srgbClr val="E8F1FB"/>
          </a:solidFill>
          <a:ln>
            <a:noFill/>
          </a:ln>
        </p:spPr>
        <p:txBody>
          <a:bodyPr rtlCol="0" anchor="ctr"/>
          <a:lstStyle/>
          <a:p>
            <a:pPr algn="ctr"/>
          </a:p>
        </p:txBody>
      </p:sp>
      <p:sp>
        <p:nvSpPr>
          <p:cNvPr id="20" name="TextBox 19"/>
          <p:cNvSpPr txBox="1"/>
          <p:nvPr/>
        </p:nvSpPr>
        <p:spPr>
          <a:xfrm>
            <a:off x="5267192" y="2125383"/>
            <a:ext cx="900000" cy="760000"/>
          </a:xfrm>
          <a:prstGeom prst="rect">
            <a:avLst/>
          </a:prstGeom>
          <a:noFill/>
        </p:spPr>
        <p:txBody>
          <a:bodyPr wrap="square" lIns="0" rIns="0" tIns="0" bIns="0" anchor="ctr">
            <a:spAutoFit/>
          </a:bodyPr>
          <a:lstStyle/>
          <a:p>
            <a:pPr algn="ctr">
              <a:lnSpc>
                <a:spcPct val="105000"/>
              </a:lnSpc>
              <a:spcAft>
                <a:spcPts val="0"/>
              </a:spcAft>
            </a:pPr>
            <a:r>
              <a:rPr sz="900" b="1" i="0">
                <a:solidFill>
                  <a:srgbClr val="024791"/>
                </a:solidFill>
                <a:latin typeface="Arial"/>
              </a:rPr>
              <a:t>Ajuste</a:t>
            </a:r>
          </a:p>
        </p:txBody>
      </p:sp>
      <p:sp>
        <p:nvSpPr>
          <p:cNvPr id="21" name="TextBox 20"/>
          <p:cNvSpPr txBox="1"/>
          <p:nvPr/>
        </p:nvSpPr>
        <p:spPr>
          <a:xfrm>
            <a:off x="640808" y="2985383"/>
            <a:ext cx="5576383" cy="200000"/>
          </a:xfrm>
          <a:prstGeom prst="rect">
            <a:avLst/>
          </a:prstGeom>
          <a:noFill/>
        </p:spPr>
        <p:txBody>
          <a:bodyPr wrap="square" lIns="0" rIns="0" tIns="0" bIns="0" anchor="t">
            <a:spAutoFit/>
          </a:bodyPr>
          <a:lstStyle/>
          <a:p>
            <a:pPr algn="ctr">
              <a:lnSpc>
                <a:spcPct val="100000"/>
              </a:lnSpc>
              <a:spcAft>
                <a:spcPts val="0"/>
              </a:spcAft>
            </a:pPr>
            <a:r>
              <a:rPr sz="900" b="0" i="1">
                <a:solidFill>
                  <a:srgbClr val="7B7480"/>
                </a:solidFill>
                <a:latin typeface="Arial"/>
              </a:rPr>
              <a:t>frente a</a:t>
            </a:r>
          </a:p>
        </p:txBody>
      </p:sp>
      <p:sp>
        <p:nvSpPr>
          <p:cNvPr id="22" name="Rounded Rectangle 21"/>
          <p:cNvSpPr/>
          <p:nvPr/>
        </p:nvSpPr>
        <p:spPr>
          <a:xfrm>
            <a:off x="640808" y="3305383"/>
            <a:ext cx="1900000" cy="280000"/>
          </a:xfrm>
          <a:prstGeom prst="roundRect">
            <a:avLst>
              <a:gd name="adj" fmla="val 50000"/>
            </a:avLst>
          </a:prstGeom>
          <a:solidFill>
            <a:srgbClr val="A71989"/>
          </a:solidFill>
          <a:ln>
            <a:noFill/>
          </a:ln>
        </p:spPr>
        <p:txBody>
          <a:bodyPr rtlCol="0" anchor="ctr"/>
          <a:lstStyle/>
          <a:p>
            <a:pPr algn="ctr"/>
          </a:p>
        </p:txBody>
      </p:sp>
      <p:sp>
        <p:nvSpPr>
          <p:cNvPr id="23" name="TextBox 22"/>
          <p:cNvSpPr txBox="1"/>
          <p:nvPr/>
        </p:nvSpPr>
        <p:spPr>
          <a:xfrm>
            <a:off x="640808" y="3305383"/>
            <a:ext cx="1900000" cy="280000"/>
          </a:xfrm>
          <a:prstGeom prst="rect">
            <a:avLst/>
          </a:prstGeom>
          <a:noFill/>
        </p:spPr>
        <p:txBody>
          <a:bodyPr wrap="square" lIns="0" rIns="0" tIns="0" bIns="0" anchor="ctr">
            <a:spAutoFit/>
          </a:bodyPr>
          <a:lstStyle/>
          <a:p>
            <a:pPr algn="ctr">
              <a:lnSpc>
                <a:spcPct val="100000"/>
              </a:lnSpc>
              <a:spcAft>
                <a:spcPts val="0"/>
              </a:spcAft>
            </a:pPr>
            <a:r>
              <a:rPr sz="900" b="1" i="0">
                <a:solidFill>
                  <a:srgbClr val="FFFFFF"/>
                </a:solidFill>
                <a:latin typeface="Arial"/>
              </a:rPr>
              <a:t>APRENDIZAJE TARDÍO</a:t>
            </a:r>
          </a:p>
        </p:txBody>
      </p:sp>
      <p:sp>
        <p:nvSpPr>
          <p:cNvPr id="24" name="Rounded Rectangle 23"/>
          <p:cNvSpPr/>
          <p:nvPr/>
        </p:nvSpPr>
        <p:spPr>
          <a:xfrm>
            <a:off x="640808" y="3685383"/>
            <a:ext cx="1000000" cy="760000"/>
          </a:xfrm>
          <a:prstGeom prst="roundRect">
            <a:avLst>
              <a:gd name="adj" fmla="val 11842"/>
            </a:avLst>
          </a:prstGeom>
          <a:solidFill>
            <a:srgbClr val="F6EBF3"/>
          </a:solidFill>
          <a:ln>
            <a:noFill/>
          </a:ln>
        </p:spPr>
        <p:txBody>
          <a:bodyPr rtlCol="0" anchor="ctr"/>
          <a:lstStyle/>
          <a:p>
            <a:pPr algn="ctr"/>
          </a:p>
        </p:txBody>
      </p:sp>
      <p:sp>
        <p:nvSpPr>
          <p:cNvPr id="25" name="TextBox 24"/>
          <p:cNvSpPr txBox="1"/>
          <p:nvPr/>
        </p:nvSpPr>
        <p:spPr>
          <a:xfrm>
            <a:off x="690808" y="3685383"/>
            <a:ext cx="900000" cy="760000"/>
          </a:xfrm>
          <a:prstGeom prst="rect">
            <a:avLst/>
          </a:prstGeom>
          <a:noFill/>
        </p:spPr>
        <p:txBody>
          <a:bodyPr wrap="square" lIns="0" rIns="0" tIns="0" bIns="0" anchor="ctr">
            <a:spAutoFit/>
          </a:bodyPr>
          <a:lstStyle/>
          <a:p>
            <a:pPr algn="ctr">
              <a:lnSpc>
                <a:spcPct val="105000"/>
              </a:lnSpc>
              <a:spcAft>
                <a:spcPts val="0"/>
              </a:spcAft>
            </a:pPr>
            <a:r>
              <a:rPr sz="900" b="1" i="0">
                <a:solidFill>
                  <a:srgbClr val="A71989"/>
                </a:solidFill>
                <a:latin typeface="Arial"/>
              </a:rPr>
              <a:t>Idea</a:t>
            </a:r>
          </a:p>
        </p:txBody>
      </p:sp>
      <p:sp>
        <p:nvSpPr>
          <p:cNvPr id="26" name="Isosceles Triangle 25"/>
          <p:cNvSpPr/>
          <p:nvPr/>
        </p:nvSpPr>
        <p:spPr>
          <a:xfrm rot="5400000">
            <a:off x="1665808" y="4020383"/>
            <a:ext cx="90000" cy="72000"/>
          </a:xfrm>
          <a:prstGeom prst="triangle">
            <a:avLst/>
          </a:prstGeom>
          <a:solidFill>
            <a:srgbClr val="A9B8D9"/>
          </a:solidFill>
          <a:ln>
            <a:noFill/>
          </a:ln>
        </p:spPr>
        <p:txBody>
          <a:bodyPr rtlCol="0" anchor="ctr"/>
          <a:lstStyle/>
          <a:p>
            <a:pPr algn="ctr"/>
          </a:p>
        </p:txBody>
      </p:sp>
      <p:sp>
        <p:nvSpPr>
          <p:cNvPr id="27" name="Rounded Rectangle 26"/>
          <p:cNvSpPr/>
          <p:nvPr/>
        </p:nvSpPr>
        <p:spPr>
          <a:xfrm>
            <a:off x="1784904" y="3685383"/>
            <a:ext cx="1000000" cy="760000"/>
          </a:xfrm>
          <a:prstGeom prst="roundRect">
            <a:avLst>
              <a:gd name="adj" fmla="val 11842"/>
            </a:avLst>
          </a:prstGeom>
          <a:solidFill>
            <a:srgbClr val="F6EBF3"/>
          </a:solidFill>
          <a:ln>
            <a:noFill/>
          </a:ln>
        </p:spPr>
        <p:txBody>
          <a:bodyPr rtlCol="0" anchor="ctr"/>
          <a:lstStyle/>
          <a:p>
            <a:pPr algn="ctr"/>
          </a:p>
        </p:txBody>
      </p:sp>
      <p:sp>
        <p:nvSpPr>
          <p:cNvPr id="28" name="TextBox 27"/>
          <p:cNvSpPr txBox="1"/>
          <p:nvPr/>
        </p:nvSpPr>
        <p:spPr>
          <a:xfrm>
            <a:off x="1834904" y="3685383"/>
            <a:ext cx="900000" cy="760000"/>
          </a:xfrm>
          <a:prstGeom prst="rect">
            <a:avLst/>
          </a:prstGeom>
          <a:noFill/>
        </p:spPr>
        <p:txBody>
          <a:bodyPr wrap="square" lIns="0" rIns="0" tIns="0" bIns="0" anchor="ctr">
            <a:spAutoFit/>
          </a:bodyPr>
          <a:lstStyle/>
          <a:p>
            <a:pPr algn="ctr">
              <a:lnSpc>
                <a:spcPct val="105000"/>
              </a:lnSpc>
              <a:spcAft>
                <a:spcPts val="0"/>
              </a:spcAft>
            </a:pPr>
            <a:r>
              <a:rPr sz="900" b="1" i="0">
                <a:solidFill>
                  <a:srgbClr val="A71989"/>
                </a:solidFill>
                <a:latin typeface="Arial"/>
              </a:rPr>
              <a:t>Gran inversión</a:t>
            </a:r>
          </a:p>
        </p:txBody>
      </p:sp>
      <p:sp>
        <p:nvSpPr>
          <p:cNvPr id="29" name="Isosceles Triangle 28"/>
          <p:cNvSpPr/>
          <p:nvPr/>
        </p:nvSpPr>
        <p:spPr>
          <a:xfrm rot="5400000">
            <a:off x="2809904" y="4020383"/>
            <a:ext cx="90000" cy="72000"/>
          </a:xfrm>
          <a:prstGeom prst="triangle">
            <a:avLst/>
          </a:prstGeom>
          <a:solidFill>
            <a:srgbClr val="A9B8D9"/>
          </a:solidFill>
          <a:ln>
            <a:noFill/>
          </a:ln>
        </p:spPr>
        <p:txBody>
          <a:bodyPr rtlCol="0" anchor="ctr"/>
          <a:lstStyle/>
          <a:p>
            <a:pPr algn="ctr"/>
          </a:p>
        </p:txBody>
      </p:sp>
      <p:sp>
        <p:nvSpPr>
          <p:cNvPr id="30" name="Rounded Rectangle 29"/>
          <p:cNvSpPr/>
          <p:nvPr/>
        </p:nvSpPr>
        <p:spPr>
          <a:xfrm>
            <a:off x="2929000" y="3685383"/>
            <a:ext cx="1000000" cy="760000"/>
          </a:xfrm>
          <a:prstGeom prst="roundRect">
            <a:avLst>
              <a:gd name="adj" fmla="val 11842"/>
            </a:avLst>
          </a:prstGeom>
          <a:solidFill>
            <a:srgbClr val="F6EBF3"/>
          </a:solidFill>
          <a:ln>
            <a:noFill/>
          </a:ln>
        </p:spPr>
        <p:txBody>
          <a:bodyPr rtlCol="0" anchor="ctr"/>
          <a:lstStyle/>
          <a:p>
            <a:pPr algn="ctr"/>
          </a:p>
        </p:txBody>
      </p:sp>
      <p:sp>
        <p:nvSpPr>
          <p:cNvPr id="31" name="TextBox 30"/>
          <p:cNvSpPr txBox="1"/>
          <p:nvPr/>
        </p:nvSpPr>
        <p:spPr>
          <a:xfrm>
            <a:off x="2979000" y="3685383"/>
            <a:ext cx="900000" cy="760000"/>
          </a:xfrm>
          <a:prstGeom prst="rect">
            <a:avLst/>
          </a:prstGeom>
          <a:noFill/>
        </p:spPr>
        <p:txBody>
          <a:bodyPr wrap="square" lIns="0" rIns="0" tIns="0" bIns="0" anchor="ctr">
            <a:spAutoFit/>
          </a:bodyPr>
          <a:lstStyle/>
          <a:p>
            <a:pPr algn="ctr">
              <a:lnSpc>
                <a:spcPct val="105000"/>
              </a:lnSpc>
              <a:spcAft>
                <a:spcPts val="0"/>
              </a:spcAft>
            </a:pPr>
            <a:r>
              <a:rPr sz="900" b="1" i="0">
                <a:solidFill>
                  <a:srgbClr val="A71989"/>
                </a:solidFill>
                <a:latin typeface="Arial"/>
              </a:rPr>
              <a:t>Solución muy desarrollada</a:t>
            </a:r>
          </a:p>
        </p:txBody>
      </p:sp>
      <p:sp>
        <p:nvSpPr>
          <p:cNvPr id="32" name="Isosceles Triangle 31"/>
          <p:cNvSpPr/>
          <p:nvPr/>
        </p:nvSpPr>
        <p:spPr>
          <a:xfrm rot="5400000">
            <a:off x="3954000" y="4020383"/>
            <a:ext cx="90000" cy="72000"/>
          </a:xfrm>
          <a:prstGeom prst="triangle">
            <a:avLst/>
          </a:prstGeom>
          <a:solidFill>
            <a:srgbClr val="A9B8D9"/>
          </a:solidFill>
          <a:ln>
            <a:noFill/>
          </a:ln>
        </p:spPr>
        <p:txBody>
          <a:bodyPr rtlCol="0" anchor="ctr"/>
          <a:lstStyle/>
          <a:p>
            <a:pPr algn="ctr"/>
          </a:p>
        </p:txBody>
      </p:sp>
      <p:sp>
        <p:nvSpPr>
          <p:cNvPr id="33" name="Rounded Rectangle 32"/>
          <p:cNvSpPr/>
          <p:nvPr/>
        </p:nvSpPr>
        <p:spPr>
          <a:xfrm>
            <a:off x="4073096" y="3685383"/>
            <a:ext cx="1000000" cy="760000"/>
          </a:xfrm>
          <a:prstGeom prst="roundRect">
            <a:avLst>
              <a:gd name="adj" fmla="val 11842"/>
            </a:avLst>
          </a:prstGeom>
          <a:solidFill>
            <a:srgbClr val="F6EBF3"/>
          </a:solidFill>
          <a:ln>
            <a:noFill/>
          </a:ln>
        </p:spPr>
        <p:txBody>
          <a:bodyPr rtlCol="0" anchor="ctr"/>
          <a:lstStyle/>
          <a:p>
            <a:pPr algn="ctr"/>
          </a:p>
        </p:txBody>
      </p:sp>
      <p:sp>
        <p:nvSpPr>
          <p:cNvPr id="34" name="TextBox 33"/>
          <p:cNvSpPr txBox="1"/>
          <p:nvPr/>
        </p:nvSpPr>
        <p:spPr>
          <a:xfrm>
            <a:off x="4123096" y="3685383"/>
            <a:ext cx="900000" cy="760000"/>
          </a:xfrm>
          <a:prstGeom prst="rect">
            <a:avLst/>
          </a:prstGeom>
          <a:noFill/>
        </p:spPr>
        <p:txBody>
          <a:bodyPr wrap="square" lIns="0" rIns="0" tIns="0" bIns="0" anchor="ctr">
            <a:spAutoFit/>
          </a:bodyPr>
          <a:lstStyle/>
          <a:p>
            <a:pPr algn="ctr">
              <a:lnSpc>
                <a:spcPct val="105000"/>
              </a:lnSpc>
              <a:spcAft>
                <a:spcPts val="0"/>
              </a:spcAft>
            </a:pPr>
            <a:r>
              <a:rPr sz="900" b="1" i="0">
                <a:solidFill>
                  <a:srgbClr val="A71989"/>
                </a:solidFill>
                <a:latin typeface="Arial"/>
              </a:rPr>
              <a:t>Problema descubierto tarde</a:t>
            </a:r>
          </a:p>
        </p:txBody>
      </p:sp>
      <p:sp>
        <p:nvSpPr>
          <p:cNvPr id="35" name="Isosceles Triangle 34"/>
          <p:cNvSpPr/>
          <p:nvPr/>
        </p:nvSpPr>
        <p:spPr>
          <a:xfrm rot="5400000">
            <a:off x="5098096" y="4020383"/>
            <a:ext cx="90000" cy="72000"/>
          </a:xfrm>
          <a:prstGeom prst="triangle">
            <a:avLst/>
          </a:prstGeom>
          <a:solidFill>
            <a:srgbClr val="A9B8D9"/>
          </a:solidFill>
          <a:ln>
            <a:noFill/>
          </a:ln>
        </p:spPr>
        <p:txBody>
          <a:bodyPr rtlCol="0" anchor="ctr"/>
          <a:lstStyle/>
          <a:p>
            <a:pPr algn="ctr"/>
          </a:p>
        </p:txBody>
      </p:sp>
      <p:sp>
        <p:nvSpPr>
          <p:cNvPr id="36" name="Rounded Rectangle 35"/>
          <p:cNvSpPr/>
          <p:nvPr/>
        </p:nvSpPr>
        <p:spPr>
          <a:xfrm>
            <a:off x="5217192" y="3685383"/>
            <a:ext cx="1000000" cy="760000"/>
          </a:xfrm>
          <a:prstGeom prst="roundRect">
            <a:avLst>
              <a:gd name="adj" fmla="val 11842"/>
            </a:avLst>
          </a:prstGeom>
          <a:solidFill>
            <a:srgbClr val="F6EBF3"/>
          </a:solidFill>
          <a:ln>
            <a:noFill/>
          </a:ln>
        </p:spPr>
        <p:txBody>
          <a:bodyPr rtlCol="0" anchor="ctr"/>
          <a:lstStyle/>
          <a:p>
            <a:pPr algn="ctr"/>
          </a:p>
        </p:txBody>
      </p:sp>
      <p:sp>
        <p:nvSpPr>
          <p:cNvPr id="37" name="TextBox 36"/>
          <p:cNvSpPr txBox="1"/>
          <p:nvPr/>
        </p:nvSpPr>
        <p:spPr>
          <a:xfrm>
            <a:off x="5267192" y="3685383"/>
            <a:ext cx="900000" cy="760000"/>
          </a:xfrm>
          <a:prstGeom prst="rect">
            <a:avLst/>
          </a:prstGeom>
          <a:noFill/>
        </p:spPr>
        <p:txBody>
          <a:bodyPr wrap="square" lIns="0" rIns="0" tIns="0" bIns="0" anchor="ctr">
            <a:spAutoFit/>
          </a:bodyPr>
          <a:lstStyle/>
          <a:p>
            <a:pPr algn="ctr">
              <a:lnSpc>
                <a:spcPct val="105000"/>
              </a:lnSpc>
              <a:spcAft>
                <a:spcPts val="0"/>
              </a:spcAft>
            </a:pPr>
            <a:r>
              <a:rPr sz="900" b="1" i="0">
                <a:solidFill>
                  <a:srgbClr val="A71989"/>
                </a:solidFill>
                <a:latin typeface="Arial"/>
              </a:rPr>
              <a:t>Cambio más difícil</a:t>
            </a:r>
          </a:p>
        </p:txBody>
      </p:sp>
      <p:sp>
        <p:nvSpPr>
          <p:cNvPr id="38" name="Rounded Rectangle 37"/>
          <p:cNvSpPr/>
          <p:nvPr/>
        </p:nvSpPr>
        <p:spPr>
          <a:xfrm>
            <a:off x="640808" y="4705383"/>
            <a:ext cx="5576383" cy="860000"/>
          </a:xfrm>
          <a:prstGeom prst="roundRect">
            <a:avLst>
              <a:gd name="adj" fmla="val 12790"/>
            </a:avLst>
          </a:prstGeom>
          <a:solidFill>
            <a:srgbClr val="E5E6ED"/>
          </a:solidFill>
          <a:ln>
            <a:noFill/>
          </a:ln>
        </p:spPr>
        <p:txBody>
          <a:bodyPr rtlCol="0" anchor="ctr"/>
          <a:lstStyle/>
          <a:p>
            <a:pPr algn="ctr"/>
          </a:p>
        </p:txBody>
      </p:sp>
      <p:cxnSp>
        <p:nvCxnSpPr>
          <p:cNvPr id="67" name="Google Shape;67;p12"/>
          <p:cNvCxnSpPr/>
          <p:nvPr/>
        </p:nvCxnSpPr>
        <p:spPr>
          <a:xfrm>
            <a:off x="748515" y="4705383"/>
            <a:ext cx="1047572" cy="0"/>
          </a:xfrm>
          <a:prstGeom prst="straightConnector1">
            <a:avLst/>
          </a:prstGeom>
          <a:noFill/>
          <a:ln cap="flat" cmpd="sng" w="53975">
            <a:solidFill>
              <a:srgbClr val="73CDEB"/>
            </a:solidFill>
            <a:prstDash val="solid"/>
            <a:round/>
            <a:headEnd len="med" w="med" type="oval"/>
            <a:tailEnd len="med" w="med" type="oval"/>
          </a:ln>
        </p:spPr>
      </p:cxnSp>
      <p:sp>
        <p:nvSpPr>
          <p:cNvPr id="68" name="Oval 67"/>
          <p:cNvSpPr/>
          <p:nvPr/>
        </p:nvSpPr>
        <p:spPr>
          <a:xfrm>
            <a:off x="820808" y="4905383"/>
            <a:ext cx="460000" cy="460000"/>
          </a:xfrm>
          <a:prstGeom prst="ellipse">
            <a:avLst/>
          </a:prstGeom>
          <a:solidFill>
            <a:srgbClr val="FFD900"/>
          </a:solidFill>
          <a:ln>
            <a:noFill/>
          </a:ln>
        </p:spPr>
        <p:txBody>
          <a:bodyPr rtlCol="0" anchor="ctr"/>
          <a:lstStyle/>
          <a:p>
            <a:pPr algn="ctr"/>
          </a:p>
        </p:txBody>
      </p:sp>
      <p:sp>
        <p:nvSpPr>
          <p:cNvPr id="69" name="icono flask"/>
          <p:cNvSpPr/>
          <p:nvPr/>
        </p:nvSpPr>
        <p:spPr>
          <a:xfrm>
            <a:off x="925808" y="5010383"/>
            <a:ext cx="250000" cy="250000"/>
          </a:xfrm>
          <a:custGeom>
            <a:avLst/>
            <a:gdLst/>
            <a:ahLst/>
            <a:cxnLst/>
            <a:rect l="0" t="0" r="r" b="b"/>
            <a:pathLst>
              <a:path w="25600" h="25600">
                <a:moveTo>
                  <a:pt x="22169" y="19977"/>
                </a:moveTo>
                <a:lnTo>
                  <a:pt x="16000" y="9692"/>
                </a:lnTo>
                <a:lnTo>
                  <a:pt x="16000" y="4000"/>
                </a:lnTo>
                <a:lnTo>
                  <a:pt x="16800" y="4000"/>
                </a:lnTo>
                <a:lnTo>
                  <a:pt x="16966" y="3983"/>
                </a:lnTo>
                <a:lnTo>
                  <a:pt x="17125" y="3931"/>
                </a:lnTo>
                <a:lnTo>
                  <a:pt x="17270" y="3847"/>
                </a:lnTo>
                <a:lnTo>
                  <a:pt x="17395" y="3735"/>
                </a:lnTo>
                <a:lnTo>
                  <a:pt x="17493" y="3600"/>
                </a:lnTo>
                <a:lnTo>
                  <a:pt x="17561" y="3447"/>
                </a:lnTo>
                <a:lnTo>
                  <a:pt x="17596" y="3284"/>
                </a:lnTo>
                <a:lnTo>
                  <a:pt x="17596" y="3116"/>
                </a:lnTo>
                <a:lnTo>
                  <a:pt x="17561" y="2953"/>
                </a:lnTo>
                <a:lnTo>
                  <a:pt x="17493" y="2800"/>
                </a:lnTo>
                <a:lnTo>
                  <a:pt x="17395" y="2665"/>
                </a:lnTo>
                <a:lnTo>
                  <a:pt x="17270" y="2553"/>
                </a:lnTo>
                <a:lnTo>
                  <a:pt x="17125" y="2469"/>
                </a:lnTo>
                <a:lnTo>
                  <a:pt x="16966" y="2417"/>
                </a:lnTo>
                <a:lnTo>
                  <a:pt x="16800" y="2400"/>
                </a:lnTo>
                <a:lnTo>
                  <a:pt x="8800" y="2400"/>
                </a:lnTo>
                <a:lnTo>
                  <a:pt x="8634" y="2417"/>
                </a:lnTo>
                <a:lnTo>
                  <a:pt x="8475" y="2469"/>
                </a:lnTo>
                <a:lnTo>
                  <a:pt x="8330" y="2553"/>
                </a:lnTo>
                <a:lnTo>
                  <a:pt x="8205" y="2665"/>
                </a:lnTo>
                <a:lnTo>
                  <a:pt x="8107" y="2800"/>
                </a:lnTo>
                <a:lnTo>
                  <a:pt x="8039" y="2953"/>
                </a:lnTo>
                <a:lnTo>
                  <a:pt x="8004" y="3116"/>
                </a:lnTo>
                <a:lnTo>
                  <a:pt x="8004" y="3284"/>
                </a:lnTo>
                <a:lnTo>
                  <a:pt x="8039" y="3447"/>
                </a:lnTo>
                <a:lnTo>
                  <a:pt x="8107" y="3600"/>
                </a:lnTo>
                <a:lnTo>
                  <a:pt x="8205" y="3735"/>
                </a:lnTo>
                <a:lnTo>
                  <a:pt x="8330" y="3847"/>
                </a:lnTo>
                <a:lnTo>
                  <a:pt x="8475" y="3931"/>
                </a:lnTo>
                <a:lnTo>
                  <a:pt x="8634" y="3983"/>
                </a:lnTo>
                <a:lnTo>
                  <a:pt x="8800" y="4000"/>
                </a:lnTo>
                <a:lnTo>
                  <a:pt x="9600" y="4000"/>
                </a:lnTo>
                <a:lnTo>
                  <a:pt x="9600" y="9692"/>
                </a:lnTo>
                <a:lnTo>
                  <a:pt x="3431" y="19977"/>
                </a:lnTo>
                <a:lnTo>
                  <a:pt x="3289" y="20282"/>
                </a:lnTo>
                <a:lnTo>
                  <a:pt x="3214" y="20611"/>
                </a:lnTo>
                <a:lnTo>
                  <a:pt x="3210" y="20948"/>
                </a:lnTo>
                <a:lnTo>
                  <a:pt x="3276" y="21278"/>
                </a:lnTo>
                <a:lnTo>
                  <a:pt x="3410" y="21587"/>
                </a:lnTo>
                <a:lnTo>
                  <a:pt x="3606" y="21861"/>
                </a:lnTo>
                <a:lnTo>
                  <a:pt x="3854" y="22088"/>
                </a:lnTo>
                <a:lnTo>
                  <a:pt x="4145" y="22258"/>
                </a:lnTo>
                <a:lnTo>
                  <a:pt x="4465" y="22364"/>
                </a:lnTo>
                <a:lnTo>
                  <a:pt x="4800" y="22400"/>
                </a:lnTo>
                <a:lnTo>
                  <a:pt x="20800" y="22400"/>
                </a:lnTo>
                <a:lnTo>
                  <a:pt x="21135" y="22364"/>
                </a:lnTo>
                <a:lnTo>
                  <a:pt x="21456" y="22259"/>
                </a:lnTo>
                <a:lnTo>
                  <a:pt x="21747" y="22090"/>
                </a:lnTo>
                <a:lnTo>
                  <a:pt x="21996" y="21863"/>
                </a:lnTo>
                <a:lnTo>
                  <a:pt x="22192" y="21588"/>
                </a:lnTo>
                <a:lnTo>
                  <a:pt x="22326" y="21279"/>
                </a:lnTo>
                <a:lnTo>
                  <a:pt x="22393" y="20949"/>
                </a:lnTo>
                <a:lnTo>
                  <a:pt x="22389" y="20612"/>
                </a:lnTo>
                <a:lnTo>
                  <a:pt x="22314" y="20283"/>
                </a:lnTo>
                <a:lnTo>
                  <a:pt x="22172" y="19977"/>
                </a:lnTo>
                <a:lnTo>
                  <a:pt x="22169" y="19977"/>
                </a:lnTo>
                <a:close/>
                <a:moveTo>
                  <a:pt x="11086" y="10325"/>
                </a:moveTo>
                <a:lnTo>
                  <a:pt x="11120" y="10262"/>
                </a:lnTo>
                <a:lnTo>
                  <a:pt x="11149" y="10196"/>
                </a:lnTo>
                <a:lnTo>
                  <a:pt x="11171" y="10127"/>
                </a:lnTo>
                <a:lnTo>
                  <a:pt x="11187" y="10057"/>
                </a:lnTo>
                <a:lnTo>
                  <a:pt x="11197" y="9986"/>
                </a:lnTo>
                <a:lnTo>
                  <a:pt x="11200" y="9914"/>
                </a:lnTo>
                <a:lnTo>
                  <a:pt x="11200" y="4000"/>
                </a:lnTo>
                <a:lnTo>
                  <a:pt x="14400" y="4000"/>
                </a:lnTo>
                <a:lnTo>
                  <a:pt x="14400" y="9914"/>
                </a:lnTo>
                <a:lnTo>
                  <a:pt x="14403" y="9986"/>
                </a:lnTo>
                <a:lnTo>
                  <a:pt x="14413" y="10057"/>
                </a:lnTo>
                <a:lnTo>
                  <a:pt x="14429" y="10127"/>
                </a:lnTo>
                <a:lnTo>
                  <a:pt x="14451" y="10196"/>
                </a:lnTo>
                <a:lnTo>
                  <a:pt x="14480" y="10262"/>
                </a:lnTo>
                <a:lnTo>
                  <a:pt x="14514" y="10325"/>
                </a:lnTo>
                <a:lnTo>
                  <a:pt x="18336" y="16700"/>
                </a:lnTo>
                <a:cubicBezTo>
                  <a:pt x="17136" y="16937"/>
                  <a:pt x="15429" y="16837"/>
                  <a:pt x="13161" y="15689"/>
                </a:cubicBezTo>
                <a:cubicBezTo>
                  <a:pt x="11570" y="14884"/>
                  <a:pt x="10056" y="14457"/>
                  <a:pt x="8639" y="14408"/>
                </a:cubicBezTo>
                <a:lnTo>
                  <a:pt x="11086" y="10325"/>
                </a:lnTo>
                <a:close/>
                <a:moveTo>
                  <a:pt x="4800" y="20800"/>
                </a:moveTo>
                <a:lnTo>
                  <a:pt x="7654" y="16042"/>
                </a:lnTo>
                <a:cubicBezTo>
                  <a:pt x="9079" y="15868"/>
                  <a:pt x="10685" y="16227"/>
                  <a:pt x="12436" y="17114"/>
                </a:cubicBezTo>
                <a:cubicBezTo>
                  <a:pt x="14336" y="18075"/>
                  <a:pt x="15936" y="18402"/>
                  <a:pt x="17236" y="18402"/>
                </a:cubicBezTo>
                <a:lnTo>
                  <a:pt x="17566" y="18396"/>
                </a:lnTo>
                <a:lnTo>
                  <a:pt x="17895" y="18374"/>
                </a:lnTo>
                <a:lnTo>
                  <a:pt x="18223" y="18336"/>
                </a:lnTo>
                <a:lnTo>
                  <a:pt x="18549" y="18284"/>
                </a:lnTo>
                <a:lnTo>
                  <a:pt x="18872" y="18215"/>
                </a:lnTo>
                <a:lnTo>
                  <a:pt x="19191" y="18132"/>
                </a:lnTo>
                <a:lnTo>
                  <a:pt x="20800" y="20800"/>
                </a:lnTo>
                <a:lnTo>
                  <a:pt x="4800" y="20800"/>
                </a:lnTo>
                <a:close/>
              </a:path>
            </a:pathLst>
          </a:custGeom>
          <a:solidFill>
            <a:srgbClr val="0B2E6B"/>
          </a:solidFill>
          <a:ln>
            <a:noFill/>
          </a:ln>
        </p:spPr>
        <p:txBody>
          <a:bodyPr rtlCol="0" anchor="ctr"/>
          <a:lstStyle/>
          <a:p>
            <a:pPr algn="ctr"/>
          </a:p>
        </p:txBody>
      </p:sp>
      <p:sp>
        <p:nvSpPr>
          <p:cNvPr id="70" name="TextBox 69"/>
          <p:cNvSpPr txBox="1"/>
          <p:nvPr/>
        </p:nvSpPr>
        <p:spPr>
          <a:xfrm>
            <a:off x="1460808" y="4905383"/>
            <a:ext cx="4576383" cy="460000"/>
          </a:xfrm>
          <a:prstGeom prst="rect">
            <a:avLst/>
          </a:prstGeom>
          <a:noFill/>
        </p:spPr>
        <p:txBody>
          <a:bodyPr wrap="square" lIns="0" rIns="0" tIns="0" bIns="0" anchor="ctr">
            <a:spAutoFit/>
          </a:bodyPr>
          <a:lstStyle/>
          <a:p>
            <a:pPr algn="l">
              <a:lnSpc>
                <a:spcPct val="125000"/>
              </a:lnSpc>
              <a:spcAft>
                <a:spcPts val="0"/>
              </a:spcAft>
            </a:pPr>
            <a:r>
              <a:rPr sz="1050" b="1" i="0">
                <a:solidFill>
                  <a:srgbClr val="024791"/>
                </a:solidFill>
                <a:latin typeface="Arial"/>
              </a:rPr>
              <a:t>Prototipar permite aprender </a:t>
            </a:r>
            <a:r>
              <a:rPr sz="1050" b="0" i="0">
                <a:solidFill>
                  <a:srgbClr val="3D2159"/>
                </a:solidFill>
                <a:latin typeface="Arial"/>
              </a:rPr>
              <a:t>cuando modificar todavía resulta relativamente sencillo.</a:t>
            </a:r>
          </a:p>
        </p:txBody>
      </p:sp>
      <p:sp>
        <p:nvSpPr>
          <p:cNvPr id="71" name="TextBox 70"/>
          <p:cNvSpPr txBox="1"/>
          <p:nvPr/>
        </p:nvSpPr>
        <p:spPr>
          <a:xfrm>
            <a:off x="640808" y="5845383"/>
            <a:ext cx="5576383" cy="150000"/>
          </a:xfrm>
          <a:prstGeom prst="rect">
            <a:avLst/>
          </a:prstGeom>
          <a:noFill/>
        </p:spPr>
        <p:txBody>
          <a:bodyPr wrap="square" lIns="0" rIns="0" tIns="0" bIns="0" anchor="t">
            <a:spAutoFit/>
          </a:bodyPr>
          <a:lstStyle/>
          <a:p>
            <a:pPr algn="l">
              <a:lnSpc>
                <a:spcPct val="100000"/>
              </a:lnSpc>
              <a:spcAft>
                <a:spcPts val="0"/>
              </a:spcAft>
            </a:pPr>
            <a:r>
              <a:rPr sz="950" b="0" i="1">
                <a:solidFill>
                  <a:srgbClr val="7B7480"/>
                </a:solidFill>
                <a:latin typeface="Arial"/>
              </a:rPr>
              <a:t>Fuente: elaboración propia.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808" y="723900"/>
            <a:ext cx="4265517" cy="171450"/>
          </a:xfrm>
          <a:prstGeom prst="rect">
            <a:avLst/>
          </a:prstGeom>
          <a:noFill/>
        </p:spPr>
        <p:txBody>
          <a:bodyPr wrap="square" lIns="0" rIns="0" tIns="0" bIns="0" anchor="t">
            <a:spAutoFit/>
          </a:bodyPr>
          <a:lstStyle/>
          <a:p>
            <a:pPr algn="l">
              <a:lnSpc>
                <a:spcPct val="100000"/>
              </a:lnSpc>
              <a:spcAft>
                <a:spcPts val="0"/>
              </a:spcAft>
            </a:pPr>
            <a:r>
              <a:rPr sz="825" b="1" i="0">
                <a:solidFill>
                  <a:srgbClr val="664092"/>
                </a:solidFill>
                <a:latin typeface="Arial"/>
              </a:rPr>
              <a:t>Artículo educativo · Pensamiento de diseño</a:t>
            </a:r>
          </a:p>
        </p:txBody>
      </p:sp>
      <p:sp>
        <p:nvSpPr>
          <p:cNvPr id="3" name="TextBox 2"/>
          <p:cNvSpPr txBox="1"/>
          <p:nvPr/>
        </p:nvSpPr>
        <p:spPr>
          <a:xfrm>
            <a:off x="640808" y="1104900"/>
            <a:ext cx="5576383" cy="209550"/>
          </a:xfrm>
          <a:prstGeom prst="rect">
            <a:avLst/>
          </a:prstGeom>
          <a:noFill/>
        </p:spPr>
        <p:txBody>
          <a:bodyPr wrap="square" lIns="0" rIns="0" tIns="0" bIns="0" anchor="t">
            <a:spAutoFit/>
          </a:bodyPr>
          <a:lstStyle/>
          <a:p>
            <a:pPr algn="l">
              <a:lnSpc>
                <a:spcPct val="100000"/>
              </a:lnSpc>
              <a:spcAft>
                <a:spcPts val="0"/>
              </a:spcAft>
            </a:pPr>
            <a:r>
              <a:rPr sz="975" b="1" i="0">
                <a:solidFill>
                  <a:srgbClr val="3560D6"/>
                </a:solidFill>
                <a:latin typeface="Arial"/>
              </a:rPr>
              <a:t>03 · Aprender</a:t>
            </a:r>
          </a:p>
        </p:txBody>
      </p:sp>
      <p:sp>
        <p:nvSpPr>
          <p:cNvPr id="4" name="TextBox 3"/>
          <p:cNvSpPr txBox="1"/>
          <p:nvPr/>
        </p:nvSpPr>
        <p:spPr>
          <a:xfrm>
            <a:off x="640808" y="1428750"/>
            <a:ext cx="5576383" cy="345471"/>
          </a:xfrm>
          <a:prstGeom prst="rect">
            <a:avLst/>
          </a:prstGeom>
          <a:noFill/>
        </p:spPr>
        <p:txBody>
          <a:bodyPr wrap="square" lIns="0" rIns="0" tIns="0" bIns="0" anchor="t">
            <a:spAutoFit/>
          </a:bodyPr>
          <a:lstStyle/>
          <a:p>
            <a:pPr algn="l">
              <a:lnSpc>
                <a:spcPct val="100000"/>
              </a:lnSpc>
              <a:spcAft>
                <a:spcPts val="0"/>
              </a:spcAft>
            </a:pPr>
            <a:r>
              <a:rPr sz="2325" b="1" i="0">
                <a:solidFill>
                  <a:srgbClr val="664092"/>
                </a:solidFill>
                <a:latin typeface="Arial"/>
              </a:rPr>
              <a:t>¿Qué puede producir una prueba?</a:t>
            </a:r>
          </a:p>
        </p:txBody>
      </p:sp>
      <p:cxnSp>
        <p:nvCxnSpPr>
          <p:cNvPr id="67" name="Google Shape;67;p12"/>
          <p:cNvCxnSpPr/>
          <p:nvPr/>
        </p:nvCxnSpPr>
        <p:spPr>
          <a:xfrm>
            <a:off x="748514" y="2004221"/>
            <a:ext cx="998913" cy="0"/>
          </a:xfrm>
          <a:prstGeom prst="straightConnector1">
            <a:avLst/>
          </a:prstGeom>
          <a:noFill/>
          <a:ln cap="flat" cmpd="sng" w="53975">
            <a:solidFill>
              <a:srgbClr val="73CDEB"/>
            </a:solidFill>
            <a:prstDash val="solid"/>
            <a:round/>
            <a:headEnd len="med" w="med" type="oval"/>
            <a:tailEnd len="med" w="med" type="oval"/>
          </a:ln>
        </p:spPr>
      </p:cxnSp>
      <p:sp>
        <p:nvSpPr>
          <p:cNvPr id="68" name="TextBox 67"/>
          <p:cNvSpPr txBox="1"/>
          <p:nvPr/>
        </p:nvSpPr>
        <p:spPr>
          <a:xfrm>
            <a:off x="642308" y="2254221"/>
            <a:ext cx="5576383" cy="2362352"/>
          </a:xfrm>
          <a:prstGeom prst="rect">
            <a:avLst/>
          </a:prstGeom>
          <a:noFill/>
        </p:spPr>
        <p:txBody>
          <a:bodyPr wrap="square" lIns="0" rIns="0" tIns="0" bIns="0" anchor="t">
            <a:spAutoFit/>
          </a:bodyPr>
          <a:lstStyle/>
          <a:p>
            <a:pPr algn="l">
              <a:lnSpc>
                <a:spcPct val="130000"/>
              </a:lnSpc>
              <a:spcAft>
                <a:spcPts val="1181"/>
              </a:spcAft>
            </a:pPr>
            <a:r>
              <a:rPr sz="1100" b="0" i="0">
                <a:solidFill>
                  <a:srgbClr val="56505B"/>
                </a:solidFill>
                <a:latin typeface="Arial"/>
              </a:rPr>
              <a:t>Prototipar no significa demostrar que nuestra idea es correcta. Una representación puede revelar dificultades que no aparecieron durante la conversación o la ideación.</a:t>
            </a:r>
          </a:p>
          <a:p>
            <a:pPr algn="l">
              <a:lnSpc>
                <a:spcPct val="130000"/>
              </a:lnSpc>
              <a:spcAft>
                <a:spcPts val="1181"/>
              </a:spcAft>
            </a:pPr>
            <a:r>
              <a:rPr sz="1100" b="0" i="0">
                <a:solidFill>
                  <a:srgbClr val="56505B"/>
                </a:solidFill>
                <a:latin typeface="Arial"/>
              </a:rPr>
              <a:t>Una secuencia que parecía lógica puede resultar confusa al representarla; una característica considerada indispensable puede mostrar poca utilidad; o puede aparecer una necesidad que nos obligue a regresar a la comprensión de las personas o a la definición del problema.</a:t>
            </a:r>
          </a:p>
          <a:p>
            <a:pPr algn="l">
              <a:lnSpc>
                <a:spcPct val="130000"/>
              </a:lnSpc>
              <a:spcAft>
                <a:spcPts val="1181"/>
              </a:spcAft>
            </a:pPr>
            <a:r>
              <a:rPr sz="1100" b="0" i="0">
                <a:solidFill>
                  <a:srgbClr val="56505B"/>
                </a:solidFill>
                <a:latin typeface="Arial"/>
              </a:rPr>
              <a:t>En estos casos, el proceso no ha fracasado. Hemos obtenido información antes de avanzar hacia una implementación más costosa.</a:t>
            </a:r>
          </a:p>
        </p:txBody>
      </p:sp>
      <p:sp>
        <p:nvSpPr>
          <p:cNvPr id="69" name="TextBox 68"/>
          <p:cNvSpPr txBox="1"/>
          <p:nvPr/>
        </p:nvSpPr>
        <p:spPr>
          <a:xfrm>
            <a:off x="640808" y="4656573"/>
            <a:ext cx="5576383" cy="150000"/>
          </a:xfrm>
          <a:prstGeom prst="rect">
            <a:avLst/>
          </a:prstGeom>
          <a:noFill/>
        </p:spPr>
        <p:txBody>
          <a:bodyPr wrap="square" lIns="0" rIns="0" tIns="0" bIns="0" anchor="t">
            <a:spAutoFit/>
          </a:bodyPr>
          <a:lstStyle/>
          <a:p>
            <a:pPr algn="l">
              <a:lnSpc>
                <a:spcPct val="100000"/>
              </a:lnSpc>
              <a:spcAft>
                <a:spcPts val="0"/>
              </a:spcAft>
            </a:pPr>
            <a:r>
              <a:rPr sz="950" b="1" i="0">
                <a:solidFill>
                  <a:srgbClr val="3560D6"/>
                </a:solidFill>
                <a:latin typeface="Arial"/>
              </a:rPr>
              <a:t>FIGURA 4</a:t>
            </a:r>
          </a:p>
        </p:txBody>
      </p:sp>
      <p:sp>
        <p:nvSpPr>
          <p:cNvPr id="70" name="TextBox 69"/>
          <p:cNvSpPr txBox="1"/>
          <p:nvPr/>
        </p:nvSpPr>
        <p:spPr>
          <a:xfrm>
            <a:off x="640808" y="4894573"/>
            <a:ext cx="5576383" cy="212483"/>
          </a:xfrm>
          <a:prstGeom prst="rect">
            <a:avLst/>
          </a:prstGeom>
          <a:noFill/>
        </p:spPr>
        <p:txBody>
          <a:bodyPr wrap="square" lIns="0" rIns="0" tIns="0" bIns="0" anchor="t">
            <a:spAutoFit/>
          </a:bodyPr>
          <a:lstStyle/>
          <a:p>
            <a:pPr algn="l">
              <a:lnSpc>
                <a:spcPct val="110000"/>
              </a:lnSpc>
              <a:spcAft>
                <a:spcPts val="0"/>
              </a:spcAft>
            </a:pPr>
            <a:r>
              <a:rPr sz="1300" b="1" i="0">
                <a:solidFill>
                  <a:srgbClr val="664092"/>
                </a:solidFill>
                <a:latin typeface="Arial"/>
              </a:rPr>
              <a:t>¿Qué puede producir una prueba?</a:t>
            </a:r>
          </a:p>
        </p:txBody>
      </p:sp>
      <p:sp>
        <p:nvSpPr>
          <p:cNvPr id="71" name="Rounded Rectangle 70"/>
          <p:cNvSpPr/>
          <p:nvPr/>
        </p:nvSpPr>
        <p:spPr>
          <a:xfrm>
            <a:off x="640808" y="5257056"/>
            <a:ext cx="1780000" cy="1700000"/>
          </a:xfrm>
          <a:prstGeom prst="roundRect">
            <a:avLst>
              <a:gd name="adj" fmla="val 7058"/>
            </a:avLst>
          </a:prstGeom>
          <a:solidFill>
            <a:srgbClr val="E8F1FB"/>
          </a:solidFill>
          <a:ln>
            <a:noFill/>
          </a:ln>
        </p:spPr>
        <p:txBody>
          <a:bodyPr rtlCol="0" anchor="ctr"/>
          <a:lstStyle/>
          <a:p>
            <a:pPr algn="ctr"/>
          </a:p>
        </p:txBody>
      </p:sp>
      <p:sp>
        <p:nvSpPr>
          <p:cNvPr id="72" name="Oval 71"/>
          <p:cNvSpPr/>
          <p:nvPr/>
        </p:nvSpPr>
        <p:spPr>
          <a:xfrm>
            <a:off x="800808" y="5417056"/>
            <a:ext cx="420000" cy="420000"/>
          </a:xfrm>
          <a:prstGeom prst="ellipse">
            <a:avLst/>
          </a:prstGeom>
          <a:solidFill>
            <a:srgbClr val="024791"/>
          </a:solidFill>
          <a:ln>
            <a:noFill/>
          </a:ln>
        </p:spPr>
        <p:txBody>
          <a:bodyPr rtlCol="0" anchor="ctr"/>
          <a:lstStyle/>
          <a:p>
            <a:pPr algn="ctr"/>
          </a:p>
        </p:txBody>
      </p:sp>
      <p:sp>
        <p:nvSpPr>
          <p:cNvPr id="73" name="icono check-circle"/>
          <p:cNvSpPr/>
          <p:nvPr/>
        </p:nvSpPr>
        <p:spPr>
          <a:xfrm>
            <a:off x="893208" y="5509456"/>
            <a:ext cx="235200" cy="235200"/>
          </a:xfrm>
          <a:custGeom>
            <a:avLst/>
            <a:gdLst/>
            <a:ahLst/>
            <a:cxnLst/>
            <a:rect l="0" t="0" r="r" b="b"/>
            <a:pathLst>
              <a:path w="25600" h="25600">
                <a:moveTo>
                  <a:pt x="17366" y="9834"/>
                </a:moveTo>
                <a:lnTo>
                  <a:pt x="17478" y="9974"/>
                </a:lnTo>
                <a:lnTo>
                  <a:pt x="17556" y="10136"/>
                </a:lnTo>
                <a:lnTo>
                  <a:pt x="17596" y="10310"/>
                </a:lnTo>
                <a:lnTo>
                  <a:pt x="17596" y="10490"/>
                </a:lnTo>
                <a:lnTo>
                  <a:pt x="17556" y="10664"/>
                </a:lnTo>
                <a:lnTo>
                  <a:pt x="17478" y="10826"/>
                </a:lnTo>
                <a:lnTo>
                  <a:pt x="17366" y="10966"/>
                </a:lnTo>
                <a:lnTo>
                  <a:pt x="11766" y="16566"/>
                </a:lnTo>
                <a:lnTo>
                  <a:pt x="11626" y="16678"/>
                </a:lnTo>
                <a:lnTo>
                  <a:pt x="11464" y="16756"/>
                </a:lnTo>
                <a:lnTo>
                  <a:pt x="11290" y="16796"/>
                </a:lnTo>
                <a:lnTo>
                  <a:pt x="11110" y="16796"/>
                </a:lnTo>
                <a:lnTo>
                  <a:pt x="10936" y="16756"/>
                </a:lnTo>
                <a:lnTo>
                  <a:pt x="10774" y="16678"/>
                </a:lnTo>
                <a:lnTo>
                  <a:pt x="10634" y="16566"/>
                </a:lnTo>
                <a:lnTo>
                  <a:pt x="8234" y="14166"/>
                </a:lnTo>
                <a:lnTo>
                  <a:pt x="8129" y="14036"/>
                </a:lnTo>
                <a:lnTo>
                  <a:pt x="8053" y="13887"/>
                </a:lnTo>
                <a:lnTo>
                  <a:pt x="8009" y="13725"/>
                </a:lnTo>
                <a:lnTo>
                  <a:pt x="8001" y="13558"/>
                </a:lnTo>
                <a:lnTo>
                  <a:pt x="8027" y="13393"/>
                </a:lnTo>
                <a:lnTo>
                  <a:pt x="8087" y="13237"/>
                </a:lnTo>
                <a:lnTo>
                  <a:pt x="8178" y="13096"/>
                </a:lnTo>
                <a:lnTo>
                  <a:pt x="8296" y="12978"/>
                </a:lnTo>
                <a:lnTo>
                  <a:pt x="8437" y="12887"/>
                </a:lnTo>
                <a:lnTo>
                  <a:pt x="8593" y="12827"/>
                </a:lnTo>
                <a:lnTo>
                  <a:pt x="8758" y="12801"/>
                </a:lnTo>
                <a:lnTo>
                  <a:pt x="8925" y="12809"/>
                </a:lnTo>
                <a:lnTo>
                  <a:pt x="9087" y="12853"/>
                </a:lnTo>
                <a:lnTo>
                  <a:pt x="9236" y="12929"/>
                </a:lnTo>
                <a:lnTo>
                  <a:pt x="9366" y="13034"/>
                </a:lnTo>
                <a:lnTo>
                  <a:pt x="11200" y="14869"/>
                </a:lnTo>
                <a:lnTo>
                  <a:pt x="16234" y="9834"/>
                </a:lnTo>
                <a:lnTo>
                  <a:pt x="16374" y="9722"/>
                </a:lnTo>
                <a:lnTo>
                  <a:pt x="16536" y="9644"/>
                </a:lnTo>
                <a:lnTo>
                  <a:pt x="16710" y="9604"/>
                </a:lnTo>
                <a:lnTo>
                  <a:pt x="16890" y="9604"/>
                </a:lnTo>
                <a:lnTo>
                  <a:pt x="17064" y="9644"/>
                </a:lnTo>
                <a:lnTo>
                  <a:pt x="17226" y="9722"/>
                </a:lnTo>
                <a:lnTo>
                  <a:pt x="17366" y="9834"/>
                </a:lnTo>
                <a:close/>
                <a:moveTo>
                  <a:pt x="23200" y="12800"/>
                </a:moveTo>
                <a:lnTo>
                  <a:pt x="22962" y="15011"/>
                </a:lnTo>
                <a:lnTo>
                  <a:pt x="22260" y="17120"/>
                </a:lnTo>
                <a:lnTo>
                  <a:pt x="21126" y="19032"/>
                </a:lnTo>
                <a:lnTo>
                  <a:pt x="19611" y="20660"/>
                </a:lnTo>
                <a:lnTo>
                  <a:pt x="17784" y="21928"/>
                </a:lnTo>
                <a:lnTo>
                  <a:pt x="15730" y="22779"/>
                </a:lnTo>
                <a:lnTo>
                  <a:pt x="13542" y="23174"/>
                </a:lnTo>
                <a:lnTo>
                  <a:pt x="11320" y="23094"/>
                </a:lnTo>
                <a:lnTo>
                  <a:pt x="9166" y="22544"/>
                </a:lnTo>
                <a:lnTo>
                  <a:pt x="7177" y="21549"/>
                </a:lnTo>
                <a:lnTo>
                  <a:pt x="5446" y="20154"/>
                </a:lnTo>
                <a:lnTo>
                  <a:pt x="4051" y="18423"/>
                </a:lnTo>
                <a:lnTo>
                  <a:pt x="3056" y="16434"/>
                </a:lnTo>
                <a:lnTo>
                  <a:pt x="2506" y="14280"/>
                </a:lnTo>
                <a:lnTo>
                  <a:pt x="2426" y="12058"/>
                </a:lnTo>
                <a:lnTo>
                  <a:pt x="2821" y="9870"/>
                </a:lnTo>
                <a:lnTo>
                  <a:pt x="3672" y="7816"/>
                </a:lnTo>
                <a:lnTo>
                  <a:pt x="4940" y="5989"/>
                </a:lnTo>
                <a:lnTo>
                  <a:pt x="6568" y="4474"/>
                </a:lnTo>
                <a:lnTo>
                  <a:pt x="8480" y="3340"/>
                </a:lnTo>
                <a:lnTo>
                  <a:pt x="10589" y="2638"/>
                </a:lnTo>
                <a:lnTo>
                  <a:pt x="12800" y="2400"/>
                </a:lnTo>
                <a:lnTo>
                  <a:pt x="15113" y="2663"/>
                </a:lnTo>
                <a:lnTo>
                  <a:pt x="17310" y="3433"/>
                </a:lnTo>
                <a:lnTo>
                  <a:pt x="19281" y="4672"/>
                </a:lnTo>
                <a:lnTo>
                  <a:pt x="20928" y="6319"/>
                </a:lnTo>
                <a:lnTo>
                  <a:pt x="22167" y="8290"/>
                </a:lnTo>
                <a:lnTo>
                  <a:pt x="22937" y="10487"/>
                </a:lnTo>
                <a:lnTo>
                  <a:pt x="23200" y="12800"/>
                </a:lnTo>
                <a:close/>
                <a:moveTo>
                  <a:pt x="21600" y="12800"/>
                </a:moveTo>
                <a:lnTo>
                  <a:pt x="21399" y="10929"/>
                </a:lnTo>
                <a:lnTo>
                  <a:pt x="20805" y="9144"/>
                </a:lnTo>
                <a:lnTo>
                  <a:pt x="19845" y="7526"/>
                </a:lnTo>
                <a:lnTo>
                  <a:pt x="18563" y="6149"/>
                </a:lnTo>
                <a:lnTo>
                  <a:pt x="17017" y="5076"/>
                </a:lnTo>
                <a:lnTo>
                  <a:pt x="15279" y="4356"/>
                </a:lnTo>
                <a:lnTo>
                  <a:pt x="13428" y="4022"/>
                </a:lnTo>
                <a:lnTo>
                  <a:pt x="11548" y="4090"/>
                </a:lnTo>
                <a:lnTo>
                  <a:pt x="9725" y="4555"/>
                </a:lnTo>
                <a:lnTo>
                  <a:pt x="8042" y="5397"/>
                </a:lnTo>
                <a:lnTo>
                  <a:pt x="6577" y="6577"/>
                </a:lnTo>
                <a:lnTo>
                  <a:pt x="5397" y="8042"/>
                </a:lnTo>
                <a:lnTo>
                  <a:pt x="4555" y="9725"/>
                </a:lnTo>
                <a:lnTo>
                  <a:pt x="4090" y="11548"/>
                </a:lnTo>
                <a:lnTo>
                  <a:pt x="4022" y="13428"/>
                </a:lnTo>
                <a:lnTo>
                  <a:pt x="4356" y="15279"/>
                </a:lnTo>
                <a:lnTo>
                  <a:pt x="5076" y="17017"/>
                </a:lnTo>
                <a:lnTo>
                  <a:pt x="6149" y="18563"/>
                </a:lnTo>
                <a:lnTo>
                  <a:pt x="7526" y="19845"/>
                </a:lnTo>
                <a:lnTo>
                  <a:pt x="9144" y="20805"/>
                </a:lnTo>
                <a:lnTo>
                  <a:pt x="10929" y="21399"/>
                </a:lnTo>
                <a:lnTo>
                  <a:pt x="12800" y="21600"/>
                </a:lnTo>
                <a:lnTo>
                  <a:pt x="14757" y="21378"/>
                </a:lnTo>
                <a:lnTo>
                  <a:pt x="16616" y="20726"/>
                </a:lnTo>
                <a:lnTo>
                  <a:pt x="18284" y="19677"/>
                </a:lnTo>
                <a:lnTo>
                  <a:pt x="19677" y="18284"/>
                </a:lnTo>
                <a:lnTo>
                  <a:pt x="20726" y="16616"/>
                </a:lnTo>
                <a:lnTo>
                  <a:pt x="21378" y="14757"/>
                </a:lnTo>
                <a:lnTo>
                  <a:pt x="21600" y="12800"/>
                </a:lnTo>
                <a:close/>
              </a:path>
            </a:pathLst>
          </a:custGeom>
          <a:solidFill>
            <a:srgbClr val="FFFFFF"/>
          </a:solidFill>
          <a:ln>
            <a:noFill/>
          </a:ln>
        </p:spPr>
        <p:txBody>
          <a:bodyPr rtlCol="0" anchor="ctr"/>
          <a:lstStyle/>
          <a:p>
            <a:pPr algn="ctr"/>
          </a:p>
        </p:txBody>
      </p:sp>
      <p:sp>
        <p:nvSpPr>
          <p:cNvPr id="74" name="TextBox 73"/>
          <p:cNvSpPr txBox="1"/>
          <p:nvPr/>
        </p:nvSpPr>
        <p:spPr>
          <a:xfrm>
            <a:off x="1320808" y="5417056"/>
            <a:ext cx="1020000" cy="420000"/>
          </a:xfrm>
          <a:prstGeom prst="rect">
            <a:avLst/>
          </a:prstGeom>
          <a:noFill/>
        </p:spPr>
        <p:txBody>
          <a:bodyPr wrap="square" lIns="0" rIns="0" tIns="0" bIns="0" anchor="ctr">
            <a:spAutoFit/>
          </a:bodyPr>
          <a:lstStyle/>
          <a:p>
            <a:pPr algn="l">
              <a:lnSpc>
                <a:spcPct val="100000"/>
              </a:lnSpc>
              <a:spcAft>
                <a:spcPts val="0"/>
              </a:spcAft>
            </a:pPr>
            <a:r>
              <a:rPr sz="1100" b="1" i="0">
                <a:solidFill>
                  <a:srgbClr val="024791"/>
                </a:solidFill>
                <a:latin typeface="Arial"/>
              </a:rPr>
              <a:t>CONFIRMA</a:t>
            </a:r>
          </a:p>
        </p:txBody>
      </p:sp>
      <p:sp>
        <p:nvSpPr>
          <p:cNvPr id="75" name="TextBox 74"/>
          <p:cNvSpPr txBox="1"/>
          <p:nvPr/>
        </p:nvSpPr>
        <p:spPr>
          <a:xfrm>
            <a:off x="800808" y="5917056"/>
            <a:ext cx="1460000" cy="420000"/>
          </a:xfrm>
          <a:prstGeom prst="rect">
            <a:avLst/>
          </a:prstGeom>
          <a:noFill/>
        </p:spPr>
        <p:txBody>
          <a:bodyPr wrap="square" lIns="0" rIns="0" tIns="0" bIns="0" anchor="t">
            <a:spAutoFit/>
          </a:bodyPr>
          <a:lstStyle/>
          <a:p>
            <a:pPr algn="l">
              <a:lnSpc>
                <a:spcPct val="115000"/>
              </a:lnSpc>
              <a:spcAft>
                <a:spcPts val="0"/>
              </a:spcAft>
            </a:pPr>
            <a:r>
              <a:rPr sz="1000" b="0" i="0">
                <a:solidFill>
                  <a:srgbClr val="3D2159"/>
                </a:solidFill>
                <a:latin typeface="Arial"/>
              </a:rPr>
              <a:t>Algunas decisiones funcionan.</a:t>
            </a:r>
          </a:p>
        </p:txBody>
      </p:sp>
      <p:sp>
        <p:nvSpPr>
          <p:cNvPr id="76" name="Rounded Rectangle 75"/>
          <p:cNvSpPr/>
          <p:nvPr/>
        </p:nvSpPr>
        <p:spPr>
          <a:xfrm>
            <a:off x="800808" y="6337056"/>
            <a:ext cx="1460000" cy="480000"/>
          </a:xfrm>
          <a:prstGeom prst="roundRect">
            <a:avLst>
              <a:gd name="adj" fmla="val 16666"/>
            </a:avLst>
          </a:prstGeom>
          <a:solidFill>
            <a:srgbClr val="FFFFFF"/>
          </a:solidFill>
          <a:ln>
            <a:noFill/>
          </a:ln>
        </p:spPr>
        <p:txBody>
          <a:bodyPr rtlCol="0" anchor="ctr"/>
          <a:lstStyle/>
          <a:p>
            <a:pPr algn="ctr"/>
          </a:p>
        </p:txBody>
      </p:sp>
      <p:sp>
        <p:nvSpPr>
          <p:cNvPr id="77" name="icono arrow-right"/>
          <p:cNvSpPr/>
          <p:nvPr/>
        </p:nvSpPr>
        <p:spPr>
          <a:xfrm>
            <a:off x="870808" y="6477056"/>
            <a:ext cx="200000" cy="200000"/>
          </a:xfrm>
          <a:custGeom>
            <a:avLst/>
            <a:gdLst/>
            <a:ahLst/>
            <a:cxnLst/>
            <a:rect l="0" t="0" r="r" b="b"/>
            <a:pathLst>
              <a:path w="25600" h="25600">
                <a:moveTo>
                  <a:pt x="22166" y="13366"/>
                </a:moveTo>
                <a:lnTo>
                  <a:pt x="14966" y="20566"/>
                </a:lnTo>
                <a:lnTo>
                  <a:pt x="14836" y="20671"/>
                </a:lnTo>
                <a:lnTo>
                  <a:pt x="14687" y="20747"/>
                </a:lnTo>
                <a:lnTo>
                  <a:pt x="14525" y="20791"/>
                </a:lnTo>
                <a:lnTo>
                  <a:pt x="14358" y="20799"/>
                </a:lnTo>
                <a:lnTo>
                  <a:pt x="14193" y="20773"/>
                </a:lnTo>
                <a:lnTo>
                  <a:pt x="14037" y="20713"/>
                </a:lnTo>
                <a:lnTo>
                  <a:pt x="13896" y="20622"/>
                </a:lnTo>
                <a:lnTo>
                  <a:pt x="13778" y="20504"/>
                </a:lnTo>
                <a:lnTo>
                  <a:pt x="13687" y="20363"/>
                </a:lnTo>
                <a:lnTo>
                  <a:pt x="13627" y="20207"/>
                </a:lnTo>
                <a:lnTo>
                  <a:pt x="13601" y="20042"/>
                </a:lnTo>
                <a:lnTo>
                  <a:pt x="13609" y="19875"/>
                </a:lnTo>
                <a:lnTo>
                  <a:pt x="13653" y="19713"/>
                </a:lnTo>
                <a:lnTo>
                  <a:pt x="13729" y="19564"/>
                </a:lnTo>
                <a:lnTo>
                  <a:pt x="13834" y="19434"/>
                </a:lnTo>
                <a:lnTo>
                  <a:pt x="19669" y="13600"/>
                </a:lnTo>
                <a:lnTo>
                  <a:pt x="4000" y="13600"/>
                </a:lnTo>
                <a:lnTo>
                  <a:pt x="3834" y="13583"/>
                </a:lnTo>
                <a:lnTo>
                  <a:pt x="3675" y="13531"/>
                </a:lnTo>
                <a:lnTo>
                  <a:pt x="3530" y="13447"/>
                </a:lnTo>
                <a:lnTo>
                  <a:pt x="3405" y="13335"/>
                </a:lnTo>
                <a:lnTo>
                  <a:pt x="3307" y="13200"/>
                </a:lnTo>
                <a:lnTo>
                  <a:pt x="3239" y="13047"/>
                </a:lnTo>
                <a:lnTo>
                  <a:pt x="3204" y="12884"/>
                </a:lnTo>
                <a:lnTo>
                  <a:pt x="3204" y="12716"/>
                </a:lnTo>
                <a:lnTo>
                  <a:pt x="3239" y="12553"/>
                </a:lnTo>
                <a:lnTo>
                  <a:pt x="3307" y="12400"/>
                </a:lnTo>
                <a:lnTo>
                  <a:pt x="3405" y="12265"/>
                </a:lnTo>
                <a:lnTo>
                  <a:pt x="3530" y="12153"/>
                </a:lnTo>
                <a:lnTo>
                  <a:pt x="3675" y="12069"/>
                </a:lnTo>
                <a:lnTo>
                  <a:pt x="3834" y="12017"/>
                </a:lnTo>
                <a:lnTo>
                  <a:pt x="4000" y="12000"/>
                </a:lnTo>
                <a:lnTo>
                  <a:pt x="19669" y="12000"/>
                </a:lnTo>
                <a:lnTo>
                  <a:pt x="13834" y="6166"/>
                </a:lnTo>
                <a:lnTo>
                  <a:pt x="13729" y="6036"/>
                </a:lnTo>
                <a:lnTo>
                  <a:pt x="13653" y="5887"/>
                </a:lnTo>
                <a:lnTo>
                  <a:pt x="13609" y="5725"/>
                </a:lnTo>
                <a:lnTo>
                  <a:pt x="13601" y="5558"/>
                </a:lnTo>
                <a:lnTo>
                  <a:pt x="13627" y="5393"/>
                </a:lnTo>
                <a:lnTo>
                  <a:pt x="13687" y="5237"/>
                </a:lnTo>
                <a:lnTo>
                  <a:pt x="13778" y="5096"/>
                </a:lnTo>
                <a:lnTo>
                  <a:pt x="13896" y="4978"/>
                </a:lnTo>
                <a:lnTo>
                  <a:pt x="14037" y="4887"/>
                </a:lnTo>
                <a:lnTo>
                  <a:pt x="14193" y="4827"/>
                </a:lnTo>
                <a:lnTo>
                  <a:pt x="14358" y="4801"/>
                </a:lnTo>
                <a:lnTo>
                  <a:pt x="14525" y="4809"/>
                </a:lnTo>
                <a:lnTo>
                  <a:pt x="14687" y="4853"/>
                </a:lnTo>
                <a:lnTo>
                  <a:pt x="14836" y="4929"/>
                </a:lnTo>
                <a:lnTo>
                  <a:pt x="14966" y="5034"/>
                </a:lnTo>
                <a:lnTo>
                  <a:pt x="22166" y="12234"/>
                </a:lnTo>
                <a:lnTo>
                  <a:pt x="22278" y="12374"/>
                </a:lnTo>
                <a:lnTo>
                  <a:pt x="22356" y="12536"/>
                </a:lnTo>
                <a:lnTo>
                  <a:pt x="22396" y="12710"/>
                </a:lnTo>
                <a:lnTo>
                  <a:pt x="22396" y="12890"/>
                </a:lnTo>
                <a:lnTo>
                  <a:pt x="22356" y="13064"/>
                </a:lnTo>
                <a:lnTo>
                  <a:pt x="22278" y="13226"/>
                </a:lnTo>
                <a:lnTo>
                  <a:pt x="22166" y="13366"/>
                </a:lnTo>
                <a:close/>
              </a:path>
            </a:pathLst>
          </a:custGeom>
          <a:solidFill>
            <a:srgbClr val="024791"/>
          </a:solidFill>
          <a:ln>
            <a:noFill/>
          </a:ln>
        </p:spPr>
        <p:txBody>
          <a:bodyPr rtlCol="0" anchor="ctr"/>
          <a:lstStyle/>
          <a:p>
            <a:pPr algn="ctr"/>
          </a:p>
        </p:txBody>
      </p:sp>
      <p:sp>
        <p:nvSpPr>
          <p:cNvPr id="78" name="TextBox 77"/>
          <p:cNvSpPr txBox="1"/>
          <p:nvPr/>
        </p:nvSpPr>
        <p:spPr>
          <a:xfrm>
            <a:off x="1120808" y="6337056"/>
            <a:ext cx="1080000" cy="480000"/>
          </a:xfrm>
          <a:prstGeom prst="rect">
            <a:avLst/>
          </a:prstGeom>
          <a:noFill/>
        </p:spPr>
        <p:txBody>
          <a:bodyPr wrap="square" lIns="0" rIns="0" tIns="0" bIns="0" anchor="ctr">
            <a:spAutoFit/>
          </a:bodyPr>
          <a:lstStyle/>
          <a:p>
            <a:pPr algn="l">
              <a:lnSpc>
                <a:spcPct val="105000"/>
              </a:lnSpc>
              <a:spcAft>
                <a:spcPts val="0"/>
              </a:spcAft>
            </a:pPr>
            <a:r>
              <a:rPr sz="950" b="1" i="0">
                <a:solidFill>
                  <a:srgbClr val="024791"/>
                </a:solidFill>
                <a:latin typeface="Arial"/>
              </a:rPr>
              <a:t>Conservamos y seguimos aprendiendo.</a:t>
            </a:r>
          </a:p>
        </p:txBody>
      </p:sp>
      <p:sp>
        <p:nvSpPr>
          <p:cNvPr id="79" name="Rounded Rectangle 78"/>
          <p:cNvSpPr/>
          <p:nvPr/>
        </p:nvSpPr>
        <p:spPr>
          <a:xfrm>
            <a:off x="2538999" y="5257056"/>
            <a:ext cx="1780000" cy="1700000"/>
          </a:xfrm>
          <a:prstGeom prst="roundRect">
            <a:avLst>
              <a:gd name="adj" fmla="val 7058"/>
            </a:avLst>
          </a:prstGeom>
          <a:solidFill>
            <a:srgbClr val="F6EBF3"/>
          </a:solidFill>
          <a:ln>
            <a:noFill/>
          </a:ln>
        </p:spPr>
        <p:txBody>
          <a:bodyPr rtlCol="0" anchor="ctr"/>
          <a:lstStyle/>
          <a:p>
            <a:pPr algn="ctr"/>
          </a:p>
        </p:txBody>
      </p:sp>
      <p:sp>
        <p:nvSpPr>
          <p:cNvPr id="80" name="Oval 79"/>
          <p:cNvSpPr/>
          <p:nvPr/>
        </p:nvSpPr>
        <p:spPr>
          <a:xfrm>
            <a:off x="2698999" y="5417056"/>
            <a:ext cx="420000" cy="420000"/>
          </a:xfrm>
          <a:prstGeom prst="ellipse">
            <a:avLst/>
          </a:prstGeom>
          <a:solidFill>
            <a:srgbClr val="A71989"/>
          </a:solidFill>
          <a:ln>
            <a:noFill/>
          </a:ln>
        </p:spPr>
        <p:txBody>
          <a:bodyPr rtlCol="0" anchor="ctr"/>
          <a:lstStyle/>
          <a:p>
            <a:pPr algn="ctr"/>
          </a:p>
        </p:txBody>
      </p:sp>
      <p:sp>
        <p:nvSpPr>
          <p:cNvPr id="81" name="icono warning-circle"/>
          <p:cNvSpPr/>
          <p:nvPr/>
        </p:nvSpPr>
        <p:spPr>
          <a:xfrm>
            <a:off x="2791399" y="5509456"/>
            <a:ext cx="235200" cy="235200"/>
          </a:xfrm>
          <a:custGeom>
            <a:avLst/>
            <a:gdLst/>
            <a:ahLst/>
            <a:cxnLst/>
            <a:rect l="0" t="0" r="r" b="b"/>
            <a:pathLst>
              <a:path w="25600" h="25600">
                <a:moveTo>
                  <a:pt x="12800" y="2400"/>
                </a:moveTo>
                <a:lnTo>
                  <a:pt x="10589" y="2638"/>
                </a:lnTo>
                <a:lnTo>
                  <a:pt x="8480" y="3340"/>
                </a:lnTo>
                <a:lnTo>
                  <a:pt x="6568" y="4474"/>
                </a:lnTo>
                <a:lnTo>
                  <a:pt x="4940" y="5989"/>
                </a:lnTo>
                <a:lnTo>
                  <a:pt x="3672" y="7816"/>
                </a:lnTo>
                <a:lnTo>
                  <a:pt x="2821" y="9870"/>
                </a:lnTo>
                <a:lnTo>
                  <a:pt x="2426" y="12058"/>
                </a:lnTo>
                <a:lnTo>
                  <a:pt x="2506" y="14280"/>
                </a:lnTo>
                <a:lnTo>
                  <a:pt x="3056" y="16434"/>
                </a:lnTo>
                <a:lnTo>
                  <a:pt x="4051" y="18423"/>
                </a:lnTo>
                <a:lnTo>
                  <a:pt x="5446" y="20154"/>
                </a:lnTo>
                <a:lnTo>
                  <a:pt x="7177" y="21549"/>
                </a:lnTo>
                <a:lnTo>
                  <a:pt x="9166" y="22544"/>
                </a:lnTo>
                <a:lnTo>
                  <a:pt x="11320" y="23094"/>
                </a:lnTo>
                <a:lnTo>
                  <a:pt x="13542" y="23174"/>
                </a:lnTo>
                <a:lnTo>
                  <a:pt x="15730" y="22779"/>
                </a:lnTo>
                <a:lnTo>
                  <a:pt x="17784" y="21928"/>
                </a:lnTo>
                <a:lnTo>
                  <a:pt x="19611" y="20660"/>
                </a:lnTo>
                <a:lnTo>
                  <a:pt x="21126" y="19032"/>
                </a:lnTo>
                <a:lnTo>
                  <a:pt x="22260" y="17120"/>
                </a:lnTo>
                <a:lnTo>
                  <a:pt x="22962" y="15011"/>
                </a:lnTo>
                <a:lnTo>
                  <a:pt x="23200" y="12800"/>
                </a:lnTo>
                <a:lnTo>
                  <a:pt x="22937" y="10487"/>
                </a:lnTo>
                <a:lnTo>
                  <a:pt x="22167" y="8290"/>
                </a:lnTo>
                <a:lnTo>
                  <a:pt x="20928" y="6319"/>
                </a:lnTo>
                <a:lnTo>
                  <a:pt x="19281" y="4672"/>
                </a:lnTo>
                <a:lnTo>
                  <a:pt x="17310" y="3433"/>
                </a:lnTo>
                <a:lnTo>
                  <a:pt x="15113" y="2663"/>
                </a:lnTo>
                <a:lnTo>
                  <a:pt x="12800" y="2400"/>
                </a:lnTo>
                <a:close/>
                <a:moveTo>
                  <a:pt x="12800" y="21600"/>
                </a:moveTo>
                <a:lnTo>
                  <a:pt x="10929" y="21399"/>
                </a:lnTo>
                <a:lnTo>
                  <a:pt x="9144" y="20805"/>
                </a:lnTo>
                <a:lnTo>
                  <a:pt x="7526" y="19845"/>
                </a:lnTo>
                <a:lnTo>
                  <a:pt x="6149" y="18563"/>
                </a:lnTo>
                <a:lnTo>
                  <a:pt x="5076" y="17017"/>
                </a:lnTo>
                <a:lnTo>
                  <a:pt x="4356" y="15279"/>
                </a:lnTo>
                <a:lnTo>
                  <a:pt x="4022" y="13428"/>
                </a:lnTo>
                <a:lnTo>
                  <a:pt x="4090" y="11548"/>
                </a:lnTo>
                <a:lnTo>
                  <a:pt x="4555" y="9725"/>
                </a:lnTo>
                <a:lnTo>
                  <a:pt x="5397" y="8042"/>
                </a:lnTo>
                <a:lnTo>
                  <a:pt x="6577" y="6577"/>
                </a:lnTo>
                <a:lnTo>
                  <a:pt x="8042" y="5397"/>
                </a:lnTo>
                <a:lnTo>
                  <a:pt x="9725" y="4555"/>
                </a:lnTo>
                <a:lnTo>
                  <a:pt x="11548" y="4090"/>
                </a:lnTo>
                <a:lnTo>
                  <a:pt x="13428" y="4022"/>
                </a:lnTo>
                <a:lnTo>
                  <a:pt x="15279" y="4356"/>
                </a:lnTo>
                <a:lnTo>
                  <a:pt x="17017" y="5076"/>
                </a:lnTo>
                <a:lnTo>
                  <a:pt x="18563" y="6149"/>
                </a:lnTo>
                <a:lnTo>
                  <a:pt x="19845" y="7526"/>
                </a:lnTo>
                <a:lnTo>
                  <a:pt x="20805" y="9144"/>
                </a:lnTo>
                <a:lnTo>
                  <a:pt x="21399" y="10929"/>
                </a:lnTo>
                <a:lnTo>
                  <a:pt x="21600" y="12800"/>
                </a:lnTo>
                <a:lnTo>
                  <a:pt x="21378" y="14757"/>
                </a:lnTo>
                <a:lnTo>
                  <a:pt x="20726" y="16616"/>
                </a:lnTo>
                <a:lnTo>
                  <a:pt x="19677" y="18284"/>
                </a:lnTo>
                <a:lnTo>
                  <a:pt x="18284" y="19677"/>
                </a:lnTo>
                <a:lnTo>
                  <a:pt x="16616" y="20726"/>
                </a:lnTo>
                <a:lnTo>
                  <a:pt x="14757" y="21378"/>
                </a:lnTo>
                <a:lnTo>
                  <a:pt x="12800" y="21600"/>
                </a:lnTo>
                <a:close/>
                <a:moveTo>
                  <a:pt x="12000" y="13600"/>
                </a:moveTo>
                <a:lnTo>
                  <a:pt x="12000" y="8000"/>
                </a:lnTo>
                <a:lnTo>
                  <a:pt x="12017" y="7834"/>
                </a:lnTo>
                <a:lnTo>
                  <a:pt x="12069" y="7675"/>
                </a:lnTo>
                <a:lnTo>
                  <a:pt x="12153" y="7530"/>
                </a:lnTo>
                <a:lnTo>
                  <a:pt x="12265" y="7405"/>
                </a:lnTo>
                <a:lnTo>
                  <a:pt x="12400" y="7307"/>
                </a:lnTo>
                <a:lnTo>
                  <a:pt x="12553" y="7239"/>
                </a:lnTo>
                <a:lnTo>
                  <a:pt x="12716" y="7204"/>
                </a:lnTo>
                <a:lnTo>
                  <a:pt x="12884" y="7204"/>
                </a:lnTo>
                <a:lnTo>
                  <a:pt x="13047" y="7239"/>
                </a:lnTo>
                <a:lnTo>
                  <a:pt x="13200" y="7307"/>
                </a:lnTo>
                <a:lnTo>
                  <a:pt x="13335" y="7405"/>
                </a:lnTo>
                <a:lnTo>
                  <a:pt x="13447" y="7530"/>
                </a:lnTo>
                <a:lnTo>
                  <a:pt x="13531" y="7675"/>
                </a:lnTo>
                <a:lnTo>
                  <a:pt x="13583" y="7834"/>
                </a:lnTo>
                <a:lnTo>
                  <a:pt x="13600" y="8000"/>
                </a:lnTo>
                <a:lnTo>
                  <a:pt x="13600" y="13600"/>
                </a:lnTo>
                <a:lnTo>
                  <a:pt x="13583" y="13766"/>
                </a:lnTo>
                <a:lnTo>
                  <a:pt x="13531" y="13925"/>
                </a:lnTo>
                <a:lnTo>
                  <a:pt x="13447" y="14070"/>
                </a:lnTo>
                <a:lnTo>
                  <a:pt x="13335" y="14195"/>
                </a:lnTo>
                <a:lnTo>
                  <a:pt x="13200" y="14293"/>
                </a:lnTo>
                <a:lnTo>
                  <a:pt x="13047" y="14361"/>
                </a:lnTo>
                <a:lnTo>
                  <a:pt x="12884" y="14396"/>
                </a:lnTo>
                <a:lnTo>
                  <a:pt x="12716" y="14396"/>
                </a:lnTo>
                <a:lnTo>
                  <a:pt x="12553" y="14361"/>
                </a:lnTo>
                <a:lnTo>
                  <a:pt x="12400" y="14293"/>
                </a:lnTo>
                <a:lnTo>
                  <a:pt x="12265" y="14195"/>
                </a:lnTo>
                <a:lnTo>
                  <a:pt x="12153" y="14070"/>
                </a:lnTo>
                <a:lnTo>
                  <a:pt x="12069" y="13925"/>
                </a:lnTo>
                <a:lnTo>
                  <a:pt x="12017" y="13766"/>
                </a:lnTo>
                <a:lnTo>
                  <a:pt x="12000" y="13600"/>
                </a:lnTo>
                <a:close/>
                <a:moveTo>
                  <a:pt x="14000" y="17200"/>
                </a:moveTo>
                <a:lnTo>
                  <a:pt x="13973" y="17455"/>
                </a:lnTo>
                <a:lnTo>
                  <a:pt x="13892" y="17698"/>
                </a:lnTo>
                <a:lnTo>
                  <a:pt x="13761" y="17919"/>
                </a:lnTo>
                <a:lnTo>
                  <a:pt x="13586" y="18107"/>
                </a:lnTo>
                <a:lnTo>
                  <a:pt x="13375" y="18253"/>
                </a:lnTo>
                <a:lnTo>
                  <a:pt x="13138" y="18351"/>
                </a:lnTo>
                <a:lnTo>
                  <a:pt x="12886" y="18397"/>
                </a:lnTo>
                <a:lnTo>
                  <a:pt x="12629" y="18388"/>
                </a:lnTo>
                <a:lnTo>
                  <a:pt x="12381" y="18324"/>
                </a:lnTo>
                <a:lnTo>
                  <a:pt x="12151" y="18210"/>
                </a:lnTo>
                <a:lnTo>
                  <a:pt x="11951" y="18049"/>
                </a:lnTo>
                <a:lnTo>
                  <a:pt x="11790" y="17849"/>
                </a:lnTo>
                <a:lnTo>
                  <a:pt x="11676" y="17619"/>
                </a:lnTo>
                <a:lnTo>
                  <a:pt x="11612" y="17371"/>
                </a:lnTo>
                <a:lnTo>
                  <a:pt x="11603" y="17114"/>
                </a:lnTo>
                <a:lnTo>
                  <a:pt x="11649" y="16862"/>
                </a:lnTo>
                <a:lnTo>
                  <a:pt x="11747" y="16625"/>
                </a:lnTo>
                <a:lnTo>
                  <a:pt x="11893" y="16414"/>
                </a:lnTo>
                <a:lnTo>
                  <a:pt x="12081" y="16239"/>
                </a:lnTo>
                <a:lnTo>
                  <a:pt x="12302" y="16108"/>
                </a:lnTo>
                <a:lnTo>
                  <a:pt x="12545" y="16027"/>
                </a:lnTo>
                <a:lnTo>
                  <a:pt x="12800" y="16000"/>
                </a:lnTo>
                <a:lnTo>
                  <a:pt x="13067" y="16030"/>
                </a:lnTo>
                <a:lnTo>
                  <a:pt x="13321" y="16119"/>
                </a:lnTo>
                <a:lnTo>
                  <a:pt x="13548" y="16262"/>
                </a:lnTo>
                <a:lnTo>
                  <a:pt x="13738" y="16452"/>
                </a:lnTo>
                <a:lnTo>
                  <a:pt x="13881" y="16679"/>
                </a:lnTo>
                <a:lnTo>
                  <a:pt x="13970" y="16933"/>
                </a:lnTo>
                <a:lnTo>
                  <a:pt x="14000" y="17200"/>
                </a:lnTo>
                <a:close/>
              </a:path>
            </a:pathLst>
          </a:custGeom>
          <a:solidFill>
            <a:srgbClr val="FFFFFF"/>
          </a:solidFill>
          <a:ln>
            <a:noFill/>
          </a:ln>
        </p:spPr>
        <p:txBody>
          <a:bodyPr rtlCol="0" anchor="ctr"/>
          <a:lstStyle/>
          <a:p>
            <a:pPr algn="ctr"/>
          </a:p>
        </p:txBody>
      </p:sp>
      <p:sp>
        <p:nvSpPr>
          <p:cNvPr id="82" name="TextBox 81"/>
          <p:cNvSpPr txBox="1"/>
          <p:nvPr/>
        </p:nvSpPr>
        <p:spPr>
          <a:xfrm>
            <a:off x="3218999" y="5417056"/>
            <a:ext cx="1020000" cy="420000"/>
          </a:xfrm>
          <a:prstGeom prst="rect">
            <a:avLst/>
          </a:prstGeom>
          <a:noFill/>
        </p:spPr>
        <p:txBody>
          <a:bodyPr wrap="square" lIns="0" rIns="0" tIns="0" bIns="0" anchor="ctr">
            <a:spAutoFit/>
          </a:bodyPr>
          <a:lstStyle/>
          <a:p>
            <a:pPr algn="l">
              <a:lnSpc>
                <a:spcPct val="100000"/>
              </a:lnSpc>
              <a:spcAft>
                <a:spcPts val="0"/>
              </a:spcAft>
            </a:pPr>
            <a:r>
              <a:rPr sz="1100" b="1" i="0">
                <a:solidFill>
                  <a:srgbClr val="A71989"/>
                </a:solidFill>
                <a:latin typeface="Arial"/>
              </a:rPr>
              <a:t>CUESTIONA</a:t>
            </a:r>
          </a:p>
        </p:txBody>
      </p:sp>
      <p:sp>
        <p:nvSpPr>
          <p:cNvPr id="83" name="TextBox 82"/>
          <p:cNvSpPr txBox="1"/>
          <p:nvPr/>
        </p:nvSpPr>
        <p:spPr>
          <a:xfrm>
            <a:off x="2698999" y="5917056"/>
            <a:ext cx="1460000" cy="420000"/>
          </a:xfrm>
          <a:prstGeom prst="rect">
            <a:avLst/>
          </a:prstGeom>
          <a:noFill/>
        </p:spPr>
        <p:txBody>
          <a:bodyPr wrap="square" lIns="0" rIns="0" tIns="0" bIns="0" anchor="t">
            <a:spAutoFit/>
          </a:bodyPr>
          <a:lstStyle/>
          <a:p>
            <a:pPr algn="l">
              <a:lnSpc>
                <a:spcPct val="115000"/>
              </a:lnSpc>
              <a:spcAft>
                <a:spcPts val="0"/>
              </a:spcAft>
            </a:pPr>
            <a:r>
              <a:rPr sz="1000" b="0" i="0">
                <a:solidFill>
                  <a:srgbClr val="3D2159"/>
                </a:solidFill>
                <a:latin typeface="Arial"/>
              </a:rPr>
              <a:t>Aparecen dificultades o contradicciones.</a:t>
            </a:r>
          </a:p>
        </p:txBody>
      </p:sp>
      <p:sp>
        <p:nvSpPr>
          <p:cNvPr id="84" name="Rounded Rectangle 83"/>
          <p:cNvSpPr/>
          <p:nvPr/>
        </p:nvSpPr>
        <p:spPr>
          <a:xfrm>
            <a:off x="2698999" y="6337056"/>
            <a:ext cx="1460000" cy="480000"/>
          </a:xfrm>
          <a:prstGeom prst="roundRect">
            <a:avLst>
              <a:gd name="adj" fmla="val 16666"/>
            </a:avLst>
          </a:prstGeom>
          <a:solidFill>
            <a:srgbClr val="FFFFFF"/>
          </a:solidFill>
          <a:ln>
            <a:noFill/>
          </a:ln>
        </p:spPr>
        <p:txBody>
          <a:bodyPr rtlCol="0" anchor="ctr"/>
          <a:lstStyle/>
          <a:p>
            <a:pPr algn="ctr"/>
          </a:p>
        </p:txBody>
      </p:sp>
      <p:sp>
        <p:nvSpPr>
          <p:cNvPr id="85" name="icono arrow-right"/>
          <p:cNvSpPr/>
          <p:nvPr/>
        </p:nvSpPr>
        <p:spPr>
          <a:xfrm>
            <a:off x="2768999" y="6477056"/>
            <a:ext cx="200000" cy="200000"/>
          </a:xfrm>
          <a:custGeom>
            <a:avLst/>
            <a:gdLst/>
            <a:ahLst/>
            <a:cxnLst/>
            <a:rect l="0" t="0" r="r" b="b"/>
            <a:pathLst>
              <a:path w="25600" h="25600">
                <a:moveTo>
                  <a:pt x="22166" y="13366"/>
                </a:moveTo>
                <a:lnTo>
                  <a:pt x="14966" y="20566"/>
                </a:lnTo>
                <a:lnTo>
                  <a:pt x="14836" y="20671"/>
                </a:lnTo>
                <a:lnTo>
                  <a:pt x="14687" y="20747"/>
                </a:lnTo>
                <a:lnTo>
                  <a:pt x="14525" y="20791"/>
                </a:lnTo>
                <a:lnTo>
                  <a:pt x="14358" y="20799"/>
                </a:lnTo>
                <a:lnTo>
                  <a:pt x="14193" y="20773"/>
                </a:lnTo>
                <a:lnTo>
                  <a:pt x="14037" y="20713"/>
                </a:lnTo>
                <a:lnTo>
                  <a:pt x="13896" y="20622"/>
                </a:lnTo>
                <a:lnTo>
                  <a:pt x="13778" y="20504"/>
                </a:lnTo>
                <a:lnTo>
                  <a:pt x="13687" y="20363"/>
                </a:lnTo>
                <a:lnTo>
                  <a:pt x="13627" y="20207"/>
                </a:lnTo>
                <a:lnTo>
                  <a:pt x="13601" y="20042"/>
                </a:lnTo>
                <a:lnTo>
                  <a:pt x="13609" y="19875"/>
                </a:lnTo>
                <a:lnTo>
                  <a:pt x="13653" y="19713"/>
                </a:lnTo>
                <a:lnTo>
                  <a:pt x="13729" y="19564"/>
                </a:lnTo>
                <a:lnTo>
                  <a:pt x="13834" y="19434"/>
                </a:lnTo>
                <a:lnTo>
                  <a:pt x="19669" y="13600"/>
                </a:lnTo>
                <a:lnTo>
                  <a:pt x="4000" y="13600"/>
                </a:lnTo>
                <a:lnTo>
                  <a:pt x="3834" y="13583"/>
                </a:lnTo>
                <a:lnTo>
                  <a:pt x="3675" y="13531"/>
                </a:lnTo>
                <a:lnTo>
                  <a:pt x="3530" y="13447"/>
                </a:lnTo>
                <a:lnTo>
                  <a:pt x="3405" y="13335"/>
                </a:lnTo>
                <a:lnTo>
                  <a:pt x="3307" y="13200"/>
                </a:lnTo>
                <a:lnTo>
                  <a:pt x="3239" y="13047"/>
                </a:lnTo>
                <a:lnTo>
                  <a:pt x="3204" y="12884"/>
                </a:lnTo>
                <a:lnTo>
                  <a:pt x="3204" y="12716"/>
                </a:lnTo>
                <a:lnTo>
                  <a:pt x="3239" y="12553"/>
                </a:lnTo>
                <a:lnTo>
                  <a:pt x="3307" y="12400"/>
                </a:lnTo>
                <a:lnTo>
                  <a:pt x="3405" y="12265"/>
                </a:lnTo>
                <a:lnTo>
                  <a:pt x="3530" y="12153"/>
                </a:lnTo>
                <a:lnTo>
                  <a:pt x="3675" y="12069"/>
                </a:lnTo>
                <a:lnTo>
                  <a:pt x="3834" y="12017"/>
                </a:lnTo>
                <a:lnTo>
                  <a:pt x="4000" y="12000"/>
                </a:lnTo>
                <a:lnTo>
                  <a:pt x="19669" y="12000"/>
                </a:lnTo>
                <a:lnTo>
                  <a:pt x="13834" y="6166"/>
                </a:lnTo>
                <a:lnTo>
                  <a:pt x="13729" y="6036"/>
                </a:lnTo>
                <a:lnTo>
                  <a:pt x="13653" y="5887"/>
                </a:lnTo>
                <a:lnTo>
                  <a:pt x="13609" y="5725"/>
                </a:lnTo>
                <a:lnTo>
                  <a:pt x="13601" y="5558"/>
                </a:lnTo>
                <a:lnTo>
                  <a:pt x="13627" y="5393"/>
                </a:lnTo>
                <a:lnTo>
                  <a:pt x="13687" y="5237"/>
                </a:lnTo>
                <a:lnTo>
                  <a:pt x="13778" y="5096"/>
                </a:lnTo>
                <a:lnTo>
                  <a:pt x="13896" y="4978"/>
                </a:lnTo>
                <a:lnTo>
                  <a:pt x="14037" y="4887"/>
                </a:lnTo>
                <a:lnTo>
                  <a:pt x="14193" y="4827"/>
                </a:lnTo>
                <a:lnTo>
                  <a:pt x="14358" y="4801"/>
                </a:lnTo>
                <a:lnTo>
                  <a:pt x="14525" y="4809"/>
                </a:lnTo>
                <a:lnTo>
                  <a:pt x="14687" y="4853"/>
                </a:lnTo>
                <a:lnTo>
                  <a:pt x="14836" y="4929"/>
                </a:lnTo>
                <a:lnTo>
                  <a:pt x="14966" y="5034"/>
                </a:lnTo>
                <a:lnTo>
                  <a:pt x="22166" y="12234"/>
                </a:lnTo>
                <a:lnTo>
                  <a:pt x="22278" y="12374"/>
                </a:lnTo>
                <a:lnTo>
                  <a:pt x="22356" y="12536"/>
                </a:lnTo>
                <a:lnTo>
                  <a:pt x="22396" y="12710"/>
                </a:lnTo>
                <a:lnTo>
                  <a:pt x="22396" y="12890"/>
                </a:lnTo>
                <a:lnTo>
                  <a:pt x="22356" y="13064"/>
                </a:lnTo>
                <a:lnTo>
                  <a:pt x="22278" y="13226"/>
                </a:lnTo>
                <a:lnTo>
                  <a:pt x="22166" y="13366"/>
                </a:lnTo>
                <a:close/>
              </a:path>
            </a:pathLst>
          </a:custGeom>
          <a:solidFill>
            <a:srgbClr val="A71989"/>
          </a:solidFill>
          <a:ln>
            <a:noFill/>
          </a:ln>
        </p:spPr>
        <p:txBody>
          <a:bodyPr rtlCol="0" anchor="ctr"/>
          <a:lstStyle/>
          <a:p>
            <a:pPr algn="ctr"/>
          </a:p>
        </p:txBody>
      </p:sp>
      <p:sp>
        <p:nvSpPr>
          <p:cNvPr id="86" name="TextBox 85"/>
          <p:cNvSpPr txBox="1"/>
          <p:nvPr/>
        </p:nvSpPr>
        <p:spPr>
          <a:xfrm>
            <a:off x="3018999" y="6337056"/>
            <a:ext cx="1080000" cy="480000"/>
          </a:xfrm>
          <a:prstGeom prst="rect">
            <a:avLst/>
          </a:prstGeom>
          <a:noFill/>
        </p:spPr>
        <p:txBody>
          <a:bodyPr wrap="square" lIns="0" rIns="0" tIns="0" bIns="0" anchor="ctr">
            <a:spAutoFit/>
          </a:bodyPr>
          <a:lstStyle/>
          <a:p>
            <a:pPr algn="l">
              <a:lnSpc>
                <a:spcPct val="105000"/>
              </a:lnSpc>
              <a:spcAft>
                <a:spcPts val="0"/>
              </a:spcAft>
            </a:pPr>
            <a:r>
              <a:rPr sz="950" b="1" i="0">
                <a:solidFill>
                  <a:srgbClr val="A71989"/>
                </a:solidFill>
                <a:latin typeface="Arial"/>
              </a:rPr>
              <a:t>Revisamos y ajustamos.</a:t>
            </a:r>
          </a:p>
        </p:txBody>
      </p:sp>
      <p:sp>
        <p:nvSpPr>
          <p:cNvPr id="87" name="Rounded Rectangle 86"/>
          <p:cNvSpPr/>
          <p:nvPr/>
        </p:nvSpPr>
        <p:spPr>
          <a:xfrm>
            <a:off x="4437190" y="5257056"/>
            <a:ext cx="1780000" cy="1700000"/>
          </a:xfrm>
          <a:prstGeom prst="roundRect">
            <a:avLst>
              <a:gd name="adj" fmla="val 7058"/>
            </a:avLst>
          </a:prstGeom>
          <a:solidFill>
            <a:srgbClr val="F1EBF6"/>
          </a:solidFill>
          <a:ln>
            <a:noFill/>
          </a:ln>
        </p:spPr>
        <p:txBody>
          <a:bodyPr rtlCol="0" anchor="ctr"/>
          <a:lstStyle/>
          <a:p>
            <a:pPr algn="ctr"/>
          </a:p>
        </p:txBody>
      </p:sp>
      <p:sp>
        <p:nvSpPr>
          <p:cNvPr id="88" name="Oval 87"/>
          <p:cNvSpPr/>
          <p:nvPr/>
        </p:nvSpPr>
        <p:spPr>
          <a:xfrm>
            <a:off x="4597190" y="5417056"/>
            <a:ext cx="420000" cy="420000"/>
          </a:xfrm>
          <a:prstGeom prst="ellipse">
            <a:avLst/>
          </a:prstGeom>
          <a:solidFill>
            <a:srgbClr val="664092"/>
          </a:solidFill>
          <a:ln>
            <a:noFill/>
          </a:ln>
        </p:spPr>
        <p:txBody>
          <a:bodyPr rtlCol="0" anchor="ctr"/>
          <a:lstStyle/>
          <a:p>
            <a:pPr algn="ctr"/>
          </a:p>
        </p:txBody>
      </p:sp>
      <p:sp>
        <p:nvSpPr>
          <p:cNvPr id="89" name="icono eye"/>
          <p:cNvSpPr/>
          <p:nvPr/>
        </p:nvSpPr>
        <p:spPr>
          <a:xfrm>
            <a:off x="4689590" y="5509456"/>
            <a:ext cx="235200" cy="235200"/>
          </a:xfrm>
          <a:custGeom>
            <a:avLst/>
            <a:gdLst/>
            <a:ahLst/>
            <a:cxnLst/>
            <a:rect l="0" t="0" r="r" b="b"/>
            <a:pathLst>
              <a:path w="25600" h="25600">
                <a:moveTo>
                  <a:pt x="24731" y="12476"/>
                </a:moveTo>
                <a:cubicBezTo>
                  <a:pt x="24696" y="12397"/>
                  <a:pt x="23849" y="10518"/>
                  <a:pt x="21966" y="8635"/>
                </a:cubicBezTo>
                <a:cubicBezTo>
                  <a:pt x="19457" y="6126"/>
                  <a:pt x="16288" y="4800"/>
                  <a:pt x="12800" y="4800"/>
                </a:cubicBezTo>
                <a:cubicBezTo>
                  <a:pt x="9312" y="4800"/>
                  <a:pt x="6143" y="6126"/>
                  <a:pt x="3634" y="8635"/>
                </a:cubicBezTo>
                <a:cubicBezTo>
                  <a:pt x="1751" y="10518"/>
                  <a:pt x="900" y="12400"/>
                  <a:pt x="869" y="12476"/>
                </a:cubicBezTo>
                <a:lnTo>
                  <a:pt x="831" y="12581"/>
                </a:lnTo>
                <a:lnTo>
                  <a:pt x="808" y="12690"/>
                </a:lnTo>
                <a:lnTo>
                  <a:pt x="800" y="12801"/>
                </a:lnTo>
                <a:lnTo>
                  <a:pt x="808" y="12912"/>
                </a:lnTo>
                <a:lnTo>
                  <a:pt x="831" y="13021"/>
                </a:lnTo>
                <a:lnTo>
                  <a:pt x="869" y="13126"/>
                </a:lnTo>
                <a:cubicBezTo>
                  <a:pt x="904" y="13205"/>
                  <a:pt x="1751" y="15083"/>
                  <a:pt x="3634" y="16966"/>
                </a:cubicBezTo>
                <a:cubicBezTo>
                  <a:pt x="6143" y="19474"/>
                  <a:pt x="9312" y="20800"/>
                  <a:pt x="12800" y="20800"/>
                </a:cubicBezTo>
                <a:cubicBezTo>
                  <a:pt x="16288" y="20800"/>
                  <a:pt x="19457" y="19474"/>
                  <a:pt x="21966" y="16966"/>
                </a:cubicBezTo>
                <a:cubicBezTo>
                  <a:pt x="23849" y="15083"/>
                  <a:pt x="24696" y="13205"/>
                  <a:pt x="24731" y="13126"/>
                </a:cubicBezTo>
                <a:lnTo>
                  <a:pt x="24769" y="13021"/>
                </a:lnTo>
                <a:lnTo>
                  <a:pt x="24792" y="12912"/>
                </a:lnTo>
                <a:lnTo>
                  <a:pt x="24800" y="12801"/>
                </a:lnTo>
                <a:lnTo>
                  <a:pt x="24792" y="12690"/>
                </a:lnTo>
                <a:lnTo>
                  <a:pt x="24769" y="12581"/>
                </a:lnTo>
                <a:lnTo>
                  <a:pt x="24731" y="12476"/>
                </a:lnTo>
                <a:close/>
                <a:moveTo>
                  <a:pt x="12800" y="19200"/>
                </a:moveTo>
                <a:cubicBezTo>
                  <a:pt x="9722" y="19200"/>
                  <a:pt x="7033" y="18081"/>
                  <a:pt x="4807" y="15875"/>
                </a:cubicBezTo>
                <a:lnTo>
                  <a:pt x="4362" y="15411"/>
                </a:lnTo>
                <a:lnTo>
                  <a:pt x="3940" y="14926"/>
                </a:lnTo>
                <a:lnTo>
                  <a:pt x="3542" y="14421"/>
                </a:lnTo>
                <a:lnTo>
                  <a:pt x="3169" y="13898"/>
                </a:lnTo>
                <a:lnTo>
                  <a:pt x="2821" y="13357"/>
                </a:lnTo>
                <a:lnTo>
                  <a:pt x="2500" y="12800"/>
                </a:lnTo>
                <a:lnTo>
                  <a:pt x="2821" y="12243"/>
                </a:lnTo>
                <a:lnTo>
                  <a:pt x="3169" y="11702"/>
                </a:lnTo>
                <a:lnTo>
                  <a:pt x="3542" y="11179"/>
                </a:lnTo>
                <a:lnTo>
                  <a:pt x="3940" y="10674"/>
                </a:lnTo>
                <a:lnTo>
                  <a:pt x="4362" y="10189"/>
                </a:lnTo>
                <a:lnTo>
                  <a:pt x="4807" y="9725"/>
                </a:lnTo>
                <a:cubicBezTo>
                  <a:pt x="7033" y="7519"/>
                  <a:pt x="9722" y="6400"/>
                  <a:pt x="12800" y="6400"/>
                </a:cubicBezTo>
                <a:cubicBezTo>
                  <a:pt x="15878" y="6400"/>
                  <a:pt x="18567" y="7519"/>
                  <a:pt x="20793" y="9725"/>
                </a:cubicBezTo>
                <a:lnTo>
                  <a:pt x="21239" y="10189"/>
                </a:lnTo>
                <a:lnTo>
                  <a:pt x="21661" y="10674"/>
                </a:lnTo>
                <a:lnTo>
                  <a:pt x="22060" y="11179"/>
                </a:lnTo>
                <a:lnTo>
                  <a:pt x="22435" y="11702"/>
                </a:lnTo>
                <a:lnTo>
                  <a:pt x="22783" y="12243"/>
                </a:lnTo>
                <a:lnTo>
                  <a:pt x="23105" y="12800"/>
                </a:lnTo>
                <a:cubicBezTo>
                  <a:pt x="22384" y="14146"/>
                  <a:pt x="19243" y="19200"/>
                  <a:pt x="12800" y="19200"/>
                </a:cubicBezTo>
                <a:close/>
                <a:moveTo>
                  <a:pt x="12800" y="8000"/>
                </a:moveTo>
                <a:lnTo>
                  <a:pt x="11780" y="8110"/>
                </a:lnTo>
                <a:lnTo>
                  <a:pt x="10806" y="8434"/>
                </a:lnTo>
                <a:lnTo>
                  <a:pt x="9923" y="8957"/>
                </a:lnTo>
                <a:lnTo>
                  <a:pt x="9172" y="9657"/>
                </a:lnTo>
                <a:lnTo>
                  <a:pt x="8587" y="10500"/>
                </a:lnTo>
                <a:lnTo>
                  <a:pt x="8194" y="11448"/>
                </a:lnTo>
                <a:lnTo>
                  <a:pt x="8012" y="12458"/>
                </a:lnTo>
                <a:lnTo>
                  <a:pt x="8049" y="13483"/>
                </a:lnTo>
                <a:lnTo>
                  <a:pt x="8303" y="14477"/>
                </a:lnTo>
                <a:lnTo>
                  <a:pt x="8762" y="15395"/>
                </a:lnTo>
                <a:lnTo>
                  <a:pt x="9406" y="16194"/>
                </a:lnTo>
                <a:lnTo>
                  <a:pt x="10205" y="16838"/>
                </a:lnTo>
                <a:lnTo>
                  <a:pt x="11123" y="17297"/>
                </a:lnTo>
                <a:lnTo>
                  <a:pt x="12117" y="17551"/>
                </a:lnTo>
                <a:lnTo>
                  <a:pt x="13142" y="17588"/>
                </a:lnTo>
                <a:lnTo>
                  <a:pt x="14152" y="17406"/>
                </a:lnTo>
                <a:lnTo>
                  <a:pt x="15100" y="17013"/>
                </a:lnTo>
                <a:lnTo>
                  <a:pt x="15943" y="16428"/>
                </a:lnTo>
                <a:lnTo>
                  <a:pt x="16643" y="15677"/>
                </a:lnTo>
                <a:lnTo>
                  <a:pt x="17166" y="14794"/>
                </a:lnTo>
                <a:lnTo>
                  <a:pt x="17490" y="13820"/>
                </a:lnTo>
                <a:lnTo>
                  <a:pt x="17600" y="12800"/>
                </a:lnTo>
                <a:lnTo>
                  <a:pt x="17479" y="11732"/>
                </a:lnTo>
                <a:lnTo>
                  <a:pt x="17123" y="10718"/>
                </a:lnTo>
                <a:lnTo>
                  <a:pt x="16551" y="9809"/>
                </a:lnTo>
                <a:lnTo>
                  <a:pt x="15791" y="9049"/>
                </a:lnTo>
                <a:lnTo>
                  <a:pt x="14882" y="8477"/>
                </a:lnTo>
                <a:lnTo>
                  <a:pt x="13868" y="8121"/>
                </a:lnTo>
                <a:lnTo>
                  <a:pt x="12800" y="8000"/>
                </a:lnTo>
                <a:close/>
                <a:moveTo>
                  <a:pt x="12800" y="16000"/>
                </a:moveTo>
                <a:lnTo>
                  <a:pt x="12120" y="15927"/>
                </a:lnTo>
                <a:lnTo>
                  <a:pt x="11471" y="15711"/>
                </a:lnTo>
                <a:lnTo>
                  <a:pt x="10882" y="15362"/>
                </a:lnTo>
                <a:lnTo>
                  <a:pt x="10382" y="14896"/>
                </a:lnTo>
                <a:lnTo>
                  <a:pt x="9991" y="14334"/>
                </a:lnTo>
                <a:lnTo>
                  <a:pt x="9730" y="13702"/>
                </a:lnTo>
                <a:lnTo>
                  <a:pt x="9608" y="13028"/>
                </a:lnTo>
                <a:lnTo>
                  <a:pt x="9633" y="12345"/>
                </a:lnTo>
                <a:lnTo>
                  <a:pt x="9802" y="11682"/>
                </a:lnTo>
                <a:lnTo>
                  <a:pt x="10108" y="11070"/>
                </a:lnTo>
                <a:lnTo>
                  <a:pt x="10537" y="10537"/>
                </a:lnTo>
                <a:lnTo>
                  <a:pt x="11070" y="10108"/>
                </a:lnTo>
                <a:lnTo>
                  <a:pt x="11682" y="9802"/>
                </a:lnTo>
                <a:lnTo>
                  <a:pt x="12345" y="9633"/>
                </a:lnTo>
                <a:lnTo>
                  <a:pt x="13028" y="9608"/>
                </a:lnTo>
                <a:lnTo>
                  <a:pt x="13702" y="9730"/>
                </a:lnTo>
                <a:lnTo>
                  <a:pt x="14334" y="9991"/>
                </a:lnTo>
                <a:lnTo>
                  <a:pt x="14896" y="10382"/>
                </a:lnTo>
                <a:lnTo>
                  <a:pt x="15362" y="10882"/>
                </a:lnTo>
                <a:lnTo>
                  <a:pt x="15711" y="11471"/>
                </a:lnTo>
                <a:lnTo>
                  <a:pt x="15927" y="12120"/>
                </a:lnTo>
                <a:lnTo>
                  <a:pt x="16000" y="12800"/>
                </a:lnTo>
                <a:lnTo>
                  <a:pt x="15920" y="13512"/>
                </a:lnTo>
                <a:lnTo>
                  <a:pt x="15683" y="14188"/>
                </a:lnTo>
                <a:lnTo>
                  <a:pt x="15302" y="14795"/>
                </a:lnTo>
                <a:lnTo>
                  <a:pt x="14795" y="15302"/>
                </a:lnTo>
                <a:lnTo>
                  <a:pt x="14188" y="15683"/>
                </a:lnTo>
                <a:lnTo>
                  <a:pt x="13512" y="15920"/>
                </a:lnTo>
                <a:lnTo>
                  <a:pt x="12800" y="16000"/>
                </a:lnTo>
                <a:close/>
              </a:path>
            </a:pathLst>
          </a:custGeom>
          <a:solidFill>
            <a:srgbClr val="FFFFFF"/>
          </a:solidFill>
          <a:ln>
            <a:noFill/>
          </a:ln>
        </p:spPr>
        <p:txBody>
          <a:bodyPr rtlCol="0" anchor="ctr"/>
          <a:lstStyle/>
          <a:p>
            <a:pPr algn="ctr"/>
          </a:p>
        </p:txBody>
      </p:sp>
      <p:sp>
        <p:nvSpPr>
          <p:cNvPr id="90" name="TextBox 89"/>
          <p:cNvSpPr txBox="1"/>
          <p:nvPr/>
        </p:nvSpPr>
        <p:spPr>
          <a:xfrm>
            <a:off x="5117190" y="5417056"/>
            <a:ext cx="1020000" cy="420000"/>
          </a:xfrm>
          <a:prstGeom prst="rect">
            <a:avLst/>
          </a:prstGeom>
          <a:noFill/>
        </p:spPr>
        <p:txBody>
          <a:bodyPr wrap="square" lIns="0" rIns="0" tIns="0" bIns="0" anchor="ctr">
            <a:spAutoFit/>
          </a:bodyPr>
          <a:lstStyle/>
          <a:p>
            <a:pPr algn="l">
              <a:lnSpc>
                <a:spcPct val="100000"/>
              </a:lnSpc>
              <a:spcAft>
                <a:spcPts val="0"/>
              </a:spcAft>
            </a:pPr>
            <a:r>
              <a:rPr sz="1100" b="1" i="0">
                <a:solidFill>
                  <a:srgbClr val="664092"/>
                </a:solidFill>
                <a:latin typeface="Arial"/>
              </a:rPr>
              <a:t>REVELA</a:t>
            </a:r>
          </a:p>
        </p:txBody>
      </p:sp>
      <p:sp>
        <p:nvSpPr>
          <p:cNvPr id="91" name="TextBox 90"/>
          <p:cNvSpPr txBox="1"/>
          <p:nvPr/>
        </p:nvSpPr>
        <p:spPr>
          <a:xfrm>
            <a:off x="4597190" y="5917056"/>
            <a:ext cx="1460000" cy="420000"/>
          </a:xfrm>
          <a:prstGeom prst="rect">
            <a:avLst/>
          </a:prstGeom>
          <a:noFill/>
        </p:spPr>
        <p:txBody>
          <a:bodyPr wrap="square" lIns="0" rIns="0" tIns="0" bIns="0" anchor="t">
            <a:spAutoFit/>
          </a:bodyPr>
          <a:lstStyle/>
          <a:p>
            <a:pPr algn="l">
              <a:lnSpc>
                <a:spcPct val="115000"/>
              </a:lnSpc>
              <a:spcAft>
                <a:spcPts val="0"/>
              </a:spcAft>
            </a:pPr>
            <a:r>
              <a:rPr sz="1000" b="0" i="0">
                <a:solidFill>
                  <a:srgbClr val="3D2159"/>
                </a:solidFill>
                <a:latin typeface="Arial"/>
              </a:rPr>
              <a:t>Surge información que no habíamos considerado.</a:t>
            </a:r>
          </a:p>
        </p:txBody>
      </p:sp>
      <p:sp>
        <p:nvSpPr>
          <p:cNvPr id="92" name="Rounded Rectangle 91"/>
          <p:cNvSpPr/>
          <p:nvPr/>
        </p:nvSpPr>
        <p:spPr>
          <a:xfrm>
            <a:off x="4597190" y="6337056"/>
            <a:ext cx="1460000" cy="480000"/>
          </a:xfrm>
          <a:prstGeom prst="roundRect">
            <a:avLst>
              <a:gd name="adj" fmla="val 16666"/>
            </a:avLst>
          </a:prstGeom>
          <a:solidFill>
            <a:srgbClr val="FFFFFF"/>
          </a:solidFill>
          <a:ln>
            <a:noFill/>
          </a:ln>
        </p:spPr>
        <p:txBody>
          <a:bodyPr rtlCol="0" anchor="ctr"/>
          <a:lstStyle/>
          <a:p>
            <a:pPr algn="ctr"/>
          </a:p>
        </p:txBody>
      </p:sp>
      <p:sp>
        <p:nvSpPr>
          <p:cNvPr id="93" name="icono arrow-right"/>
          <p:cNvSpPr/>
          <p:nvPr/>
        </p:nvSpPr>
        <p:spPr>
          <a:xfrm>
            <a:off x="4667190" y="6477056"/>
            <a:ext cx="200000" cy="200000"/>
          </a:xfrm>
          <a:custGeom>
            <a:avLst/>
            <a:gdLst/>
            <a:ahLst/>
            <a:cxnLst/>
            <a:rect l="0" t="0" r="r" b="b"/>
            <a:pathLst>
              <a:path w="25600" h="25600">
                <a:moveTo>
                  <a:pt x="22166" y="13366"/>
                </a:moveTo>
                <a:lnTo>
                  <a:pt x="14966" y="20566"/>
                </a:lnTo>
                <a:lnTo>
                  <a:pt x="14836" y="20671"/>
                </a:lnTo>
                <a:lnTo>
                  <a:pt x="14687" y="20747"/>
                </a:lnTo>
                <a:lnTo>
                  <a:pt x="14525" y="20791"/>
                </a:lnTo>
                <a:lnTo>
                  <a:pt x="14358" y="20799"/>
                </a:lnTo>
                <a:lnTo>
                  <a:pt x="14193" y="20773"/>
                </a:lnTo>
                <a:lnTo>
                  <a:pt x="14037" y="20713"/>
                </a:lnTo>
                <a:lnTo>
                  <a:pt x="13896" y="20622"/>
                </a:lnTo>
                <a:lnTo>
                  <a:pt x="13778" y="20504"/>
                </a:lnTo>
                <a:lnTo>
                  <a:pt x="13687" y="20363"/>
                </a:lnTo>
                <a:lnTo>
                  <a:pt x="13627" y="20207"/>
                </a:lnTo>
                <a:lnTo>
                  <a:pt x="13601" y="20042"/>
                </a:lnTo>
                <a:lnTo>
                  <a:pt x="13609" y="19875"/>
                </a:lnTo>
                <a:lnTo>
                  <a:pt x="13653" y="19713"/>
                </a:lnTo>
                <a:lnTo>
                  <a:pt x="13729" y="19564"/>
                </a:lnTo>
                <a:lnTo>
                  <a:pt x="13834" y="19434"/>
                </a:lnTo>
                <a:lnTo>
                  <a:pt x="19669" y="13600"/>
                </a:lnTo>
                <a:lnTo>
                  <a:pt x="4000" y="13600"/>
                </a:lnTo>
                <a:lnTo>
                  <a:pt x="3834" y="13583"/>
                </a:lnTo>
                <a:lnTo>
                  <a:pt x="3675" y="13531"/>
                </a:lnTo>
                <a:lnTo>
                  <a:pt x="3530" y="13447"/>
                </a:lnTo>
                <a:lnTo>
                  <a:pt x="3405" y="13335"/>
                </a:lnTo>
                <a:lnTo>
                  <a:pt x="3307" y="13200"/>
                </a:lnTo>
                <a:lnTo>
                  <a:pt x="3239" y="13047"/>
                </a:lnTo>
                <a:lnTo>
                  <a:pt x="3204" y="12884"/>
                </a:lnTo>
                <a:lnTo>
                  <a:pt x="3204" y="12716"/>
                </a:lnTo>
                <a:lnTo>
                  <a:pt x="3239" y="12553"/>
                </a:lnTo>
                <a:lnTo>
                  <a:pt x="3307" y="12400"/>
                </a:lnTo>
                <a:lnTo>
                  <a:pt x="3405" y="12265"/>
                </a:lnTo>
                <a:lnTo>
                  <a:pt x="3530" y="12153"/>
                </a:lnTo>
                <a:lnTo>
                  <a:pt x="3675" y="12069"/>
                </a:lnTo>
                <a:lnTo>
                  <a:pt x="3834" y="12017"/>
                </a:lnTo>
                <a:lnTo>
                  <a:pt x="4000" y="12000"/>
                </a:lnTo>
                <a:lnTo>
                  <a:pt x="19669" y="12000"/>
                </a:lnTo>
                <a:lnTo>
                  <a:pt x="13834" y="6166"/>
                </a:lnTo>
                <a:lnTo>
                  <a:pt x="13729" y="6036"/>
                </a:lnTo>
                <a:lnTo>
                  <a:pt x="13653" y="5887"/>
                </a:lnTo>
                <a:lnTo>
                  <a:pt x="13609" y="5725"/>
                </a:lnTo>
                <a:lnTo>
                  <a:pt x="13601" y="5558"/>
                </a:lnTo>
                <a:lnTo>
                  <a:pt x="13627" y="5393"/>
                </a:lnTo>
                <a:lnTo>
                  <a:pt x="13687" y="5237"/>
                </a:lnTo>
                <a:lnTo>
                  <a:pt x="13778" y="5096"/>
                </a:lnTo>
                <a:lnTo>
                  <a:pt x="13896" y="4978"/>
                </a:lnTo>
                <a:lnTo>
                  <a:pt x="14037" y="4887"/>
                </a:lnTo>
                <a:lnTo>
                  <a:pt x="14193" y="4827"/>
                </a:lnTo>
                <a:lnTo>
                  <a:pt x="14358" y="4801"/>
                </a:lnTo>
                <a:lnTo>
                  <a:pt x="14525" y="4809"/>
                </a:lnTo>
                <a:lnTo>
                  <a:pt x="14687" y="4853"/>
                </a:lnTo>
                <a:lnTo>
                  <a:pt x="14836" y="4929"/>
                </a:lnTo>
                <a:lnTo>
                  <a:pt x="14966" y="5034"/>
                </a:lnTo>
                <a:lnTo>
                  <a:pt x="22166" y="12234"/>
                </a:lnTo>
                <a:lnTo>
                  <a:pt x="22278" y="12374"/>
                </a:lnTo>
                <a:lnTo>
                  <a:pt x="22356" y="12536"/>
                </a:lnTo>
                <a:lnTo>
                  <a:pt x="22396" y="12710"/>
                </a:lnTo>
                <a:lnTo>
                  <a:pt x="22396" y="12890"/>
                </a:lnTo>
                <a:lnTo>
                  <a:pt x="22356" y="13064"/>
                </a:lnTo>
                <a:lnTo>
                  <a:pt x="22278" y="13226"/>
                </a:lnTo>
                <a:lnTo>
                  <a:pt x="22166" y="13366"/>
                </a:lnTo>
                <a:close/>
              </a:path>
            </a:pathLst>
          </a:custGeom>
          <a:solidFill>
            <a:srgbClr val="664092"/>
          </a:solidFill>
          <a:ln>
            <a:noFill/>
          </a:ln>
        </p:spPr>
        <p:txBody>
          <a:bodyPr rtlCol="0" anchor="ctr"/>
          <a:lstStyle/>
          <a:p>
            <a:pPr algn="ctr"/>
          </a:p>
        </p:txBody>
      </p:sp>
      <p:sp>
        <p:nvSpPr>
          <p:cNvPr id="94" name="TextBox 93"/>
          <p:cNvSpPr txBox="1"/>
          <p:nvPr/>
        </p:nvSpPr>
        <p:spPr>
          <a:xfrm>
            <a:off x="4917190" y="6337056"/>
            <a:ext cx="1080000" cy="480000"/>
          </a:xfrm>
          <a:prstGeom prst="rect">
            <a:avLst/>
          </a:prstGeom>
          <a:noFill/>
        </p:spPr>
        <p:txBody>
          <a:bodyPr wrap="square" lIns="0" rIns="0" tIns="0" bIns="0" anchor="ctr">
            <a:spAutoFit/>
          </a:bodyPr>
          <a:lstStyle/>
          <a:p>
            <a:pPr algn="l">
              <a:lnSpc>
                <a:spcPct val="105000"/>
              </a:lnSpc>
              <a:spcAft>
                <a:spcPts val="0"/>
              </a:spcAft>
            </a:pPr>
            <a:r>
              <a:rPr sz="950" b="1" i="0">
                <a:solidFill>
                  <a:srgbClr val="664092"/>
                </a:solidFill>
                <a:latin typeface="Arial"/>
              </a:rPr>
              <a:t>Ampliamos nuestra comprensión.</a:t>
            </a:r>
          </a:p>
        </p:txBody>
      </p:sp>
      <p:sp>
        <p:nvSpPr>
          <p:cNvPr id="95" name="Rounded Rectangle 94"/>
          <p:cNvSpPr/>
          <p:nvPr/>
        </p:nvSpPr>
        <p:spPr>
          <a:xfrm>
            <a:off x="640808" y="7077056"/>
            <a:ext cx="5576383" cy="860000"/>
          </a:xfrm>
          <a:prstGeom prst="roundRect">
            <a:avLst>
              <a:gd name="adj" fmla="val 12790"/>
            </a:avLst>
          </a:prstGeom>
          <a:solidFill>
            <a:srgbClr val="E5E6ED"/>
          </a:solidFill>
          <a:ln>
            <a:noFill/>
          </a:ln>
        </p:spPr>
        <p:txBody>
          <a:bodyPr rtlCol="0" anchor="ctr"/>
          <a:lstStyle/>
          <a:p>
            <a:pPr algn="ctr"/>
          </a:p>
        </p:txBody>
      </p:sp>
      <p:cxnSp>
        <p:nvCxnSpPr>
          <p:cNvPr id="67" name="Google Shape;67;p12"/>
          <p:cNvCxnSpPr/>
          <p:nvPr/>
        </p:nvCxnSpPr>
        <p:spPr>
          <a:xfrm>
            <a:off x="748515" y="7077056"/>
            <a:ext cx="1047572" cy="0"/>
          </a:xfrm>
          <a:prstGeom prst="straightConnector1">
            <a:avLst/>
          </a:prstGeom>
          <a:noFill/>
          <a:ln cap="flat" cmpd="sng" w="53975">
            <a:solidFill>
              <a:srgbClr val="73CDEB"/>
            </a:solidFill>
            <a:prstDash val="solid"/>
            <a:round/>
            <a:headEnd len="med" w="med" type="oval"/>
            <a:tailEnd len="med" w="med" type="oval"/>
          </a:ln>
        </p:spPr>
      </p:cxnSp>
      <p:sp>
        <p:nvSpPr>
          <p:cNvPr id="96" name="Oval 95"/>
          <p:cNvSpPr/>
          <p:nvPr/>
        </p:nvSpPr>
        <p:spPr>
          <a:xfrm>
            <a:off x="820808" y="7277056"/>
            <a:ext cx="460000" cy="460000"/>
          </a:xfrm>
          <a:prstGeom prst="ellipse">
            <a:avLst/>
          </a:prstGeom>
          <a:solidFill>
            <a:srgbClr val="FFD900"/>
          </a:solidFill>
          <a:ln>
            <a:noFill/>
          </a:ln>
        </p:spPr>
        <p:txBody>
          <a:bodyPr rtlCol="0" anchor="ctr"/>
          <a:lstStyle/>
          <a:p>
            <a:pPr algn="ctr"/>
          </a:p>
        </p:txBody>
      </p:sp>
      <p:sp>
        <p:nvSpPr>
          <p:cNvPr id="97" name="icono chart-bar"/>
          <p:cNvSpPr/>
          <p:nvPr/>
        </p:nvSpPr>
        <p:spPr>
          <a:xfrm>
            <a:off x="925808" y="7382056"/>
            <a:ext cx="250000" cy="250000"/>
          </a:xfrm>
          <a:custGeom>
            <a:avLst/>
            <a:gdLst/>
            <a:ahLst/>
            <a:cxnLst/>
            <a:rect l="0" t="0" r="r" b="b"/>
            <a:pathLst>
              <a:path w="25600" h="25600">
                <a:moveTo>
                  <a:pt x="22400" y="20000"/>
                </a:moveTo>
                <a:lnTo>
                  <a:pt x="21600" y="20000"/>
                </a:lnTo>
                <a:lnTo>
                  <a:pt x="21600" y="4000"/>
                </a:lnTo>
                <a:lnTo>
                  <a:pt x="21580" y="3822"/>
                </a:lnTo>
                <a:lnTo>
                  <a:pt x="21521" y="3653"/>
                </a:lnTo>
                <a:lnTo>
                  <a:pt x="21425" y="3501"/>
                </a:lnTo>
                <a:lnTo>
                  <a:pt x="21299" y="3375"/>
                </a:lnTo>
                <a:lnTo>
                  <a:pt x="21147" y="3279"/>
                </a:lnTo>
                <a:lnTo>
                  <a:pt x="20978" y="3220"/>
                </a:lnTo>
                <a:lnTo>
                  <a:pt x="20800" y="3200"/>
                </a:lnTo>
                <a:lnTo>
                  <a:pt x="15200" y="3200"/>
                </a:lnTo>
                <a:lnTo>
                  <a:pt x="15022" y="3220"/>
                </a:lnTo>
                <a:lnTo>
                  <a:pt x="14853" y="3279"/>
                </a:lnTo>
                <a:lnTo>
                  <a:pt x="14701" y="3375"/>
                </a:lnTo>
                <a:lnTo>
                  <a:pt x="14575" y="3501"/>
                </a:lnTo>
                <a:lnTo>
                  <a:pt x="14479" y="3653"/>
                </a:lnTo>
                <a:lnTo>
                  <a:pt x="14420" y="3822"/>
                </a:lnTo>
                <a:lnTo>
                  <a:pt x="14400" y="4000"/>
                </a:lnTo>
                <a:lnTo>
                  <a:pt x="14400" y="8000"/>
                </a:lnTo>
                <a:lnTo>
                  <a:pt x="9600" y="8000"/>
                </a:lnTo>
                <a:lnTo>
                  <a:pt x="9422" y="8020"/>
                </a:lnTo>
                <a:lnTo>
                  <a:pt x="9253" y="8079"/>
                </a:lnTo>
                <a:lnTo>
                  <a:pt x="9101" y="8175"/>
                </a:lnTo>
                <a:lnTo>
                  <a:pt x="8975" y="8301"/>
                </a:lnTo>
                <a:lnTo>
                  <a:pt x="8879" y="8453"/>
                </a:lnTo>
                <a:lnTo>
                  <a:pt x="8820" y="8622"/>
                </a:lnTo>
                <a:lnTo>
                  <a:pt x="8800" y="8800"/>
                </a:lnTo>
                <a:lnTo>
                  <a:pt x="8800" y="12800"/>
                </a:lnTo>
                <a:lnTo>
                  <a:pt x="4800" y="12800"/>
                </a:lnTo>
                <a:lnTo>
                  <a:pt x="4622" y="12820"/>
                </a:lnTo>
                <a:lnTo>
                  <a:pt x="4453" y="12879"/>
                </a:lnTo>
                <a:lnTo>
                  <a:pt x="4301" y="12975"/>
                </a:lnTo>
                <a:lnTo>
                  <a:pt x="4175" y="13101"/>
                </a:lnTo>
                <a:lnTo>
                  <a:pt x="4079" y="13253"/>
                </a:lnTo>
                <a:lnTo>
                  <a:pt x="4020" y="13422"/>
                </a:lnTo>
                <a:lnTo>
                  <a:pt x="4000" y="13600"/>
                </a:lnTo>
                <a:lnTo>
                  <a:pt x="4000" y="20000"/>
                </a:lnTo>
                <a:lnTo>
                  <a:pt x="3200" y="20000"/>
                </a:lnTo>
                <a:lnTo>
                  <a:pt x="3034" y="20017"/>
                </a:lnTo>
                <a:lnTo>
                  <a:pt x="2875" y="20069"/>
                </a:lnTo>
                <a:lnTo>
                  <a:pt x="2730" y="20153"/>
                </a:lnTo>
                <a:lnTo>
                  <a:pt x="2605" y="20265"/>
                </a:lnTo>
                <a:lnTo>
                  <a:pt x="2507" y="20400"/>
                </a:lnTo>
                <a:lnTo>
                  <a:pt x="2439" y="20553"/>
                </a:lnTo>
                <a:lnTo>
                  <a:pt x="2404" y="20716"/>
                </a:lnTo>
                <a:lnTo>
                  <a:pt x="2404" y="20884"/>
                </a:lnTo>
                <a:lnTo>
                  <a:pt x="2439" y="21047"/>
                </a:lnTo>
                <a:lnTo>
                  <a:pt x="2507" y="21200"/>
                </a:lnTo>
                <a:lnTo>
                  <a:pt x="2605" y="21335"/>
                </a:lnTo>
                <a:lnTo>
                  <a:pt x="2730" y="21447"/>
                </a:lnTo>
                <a:lnTo>
                  <a:pt x="2875" y="21531"/>
                </a:lnTo>
                <a:lnTo>
                  <a:pt x="3034" y="21583"/>
                </a:lnTo>
                <a:lnTo>
                  <a:pt x="3200" y="21600"/>
                </a:lnTo>
                <a:lnTo>
                  <a:pt x="22400" y="21600"/>
                </a:lnTo>
                <a:lnTo>
                  <a:pt x="22566" y="21583"/>
                </a:lnTo>
                <a:lnTo>
                  <a:pt x="22725" y="21531"/>
                </a:lnTo>
                <a:lnTo>
                  <a:pt x="22870" y="21447"/>
                </a:lnTo>
                <a:lnTo>
                  <a:pt x="22995" y="21335"/>
                </a:lnTo>
                <a:lnTo>
                  <a:pt x="23093" y="21200"/>
                </a:lnTo>
                <a:lnTo>
                  <a:pt x="23161" y="21047"/>
                </a:lnTo>
                <a:lnTo>
                  <a:pt x="23196" y="20884"/>
                </a:lnTo>
                <a:lnTo>
                  <a:pt x="23196" y="20716"/>
                </a:lnTo>
                <a:lnTo>
                  <a:pt x="23161" y="20553"/>
                </a:lnTo>
                <a:lnTo>
                  <a:pt x="23093" y="20400"/>
                </a:lnTo>
                <a:lnTo>
                  <a:pt x="22995" y="20265"/>
                </a:lnTo>
                <a:lnTo>
                  <a:pt x="22870" y="20153"/>
                </a:lnTo>
                <a:lnTo>
                  <a:pt x="22725" y="20069"/>
                </a:lnTo>
                <a:lnTo>
                  <a:pt x="22566" y="20017"/>
                </a:lnTo>
                <a:lnTo>
                  <a:pt x="22400" y="20000"/>
                </a:lnTo>
                <a:close/>
                <a:moveTo>
                  <a:pt x="16000" y="4800"/>
                </a:moveTo>
                <a:lnTo>
                  <a:pt x="20000" y="4800"/>
                </a:lnTo>
                <a:lnTo>
                  <a:pt x="20000" y="20000"/>
                </a:lnTo>
                <a:lnTo>
                  <a:pt x="16000" y="20000"/>
                </a:lnTo>
                <a:lnTo>
                  <a:pt x="16000" y="4800"/>
                </a:lnTo>
                <a:close/>
                <a:moveTo>
                  <a:pt x="10400" y="9600"/>
                </a:moveTo>
                <a:lnTo>
                  <a:pt x="14400" y="9600"/>
                </a:lnTo>
                <a:lnTo>
                  <a:pt x="14400" y="20000"/>
                </a:lnTo>
                <a:lnTo>
                  <a:pt x="10400" y="20000"/>
                </a:lnTo>
                <a:lnTo>
                  <a:pt x="10400" y="9600"/>
                </a:lnTo>
                <a:close/>
                <a:moveTo>
                  <a:pt x="5600" y="14400"/>
                </a:moveTo>
                <a:lnTo>
                  <a:pt x="8800" y="14400"/>
                </a:lnTo>
                <a:lnTo>
                  <a:pt x="8800" y="20000"/>
                </a:lnTo>
                <a:lnTo>
                  <a:pt x="5600" y="20000"/>
                </a:lnTo>
                <a:lnTo>
                  <a:pt x="5600" y="14400"/>
                </a:lnTo>
                <a:close/>
              </a:path>
            </a:pathLst>
          </a:custGeom>
          <a:solidFill>
            <a:srgbClr val="0B2E6B"/>
          </a:solidFill>
          <a:ln>
            <a:noFill/>
          </a:ln>
        </p:spPr>
        <p:txBody>
          <a:bodyPr rtlCol="0" anchor="ctr"/>
          <a:lstStyle/>
          <a:p>
            <a:pPr algn="ctr"/>
          </a:p>
        </p:txBody>
      </p:sp>
      <p:sp>
        <p:nvSpPr>
          <p:cNvPr id="98" name="TextBox 97"/>
          <p:cNvSpPr txBox="1"/>
          <p:nvPr/>
        </p:nvSpPr>
        <p:spPr>
          <a:xfrm>
            <a:off x="1460808" y="7277056"/>
            <a:ext cx="4576383" cy="460000"/>
          </a:xfrm>
          <a:prstGeom prst="rect">
            <a:avLst/>
          </a:prstGeom>
          <a:noFill/>
        </p:spPr>
        <p:txBody>
          <a:bodyPr wrap="square" lIns="0" rIns="0" tIns="0" bIns="0" anchor="ctr">
            <a:spAutoFit/>
          </a:bodyPr>
          <a:lstStyle/>
          <a:p>
            <a:pPr algn="l">
              <a:lnSpc>
                <a:spcPct val="125000"/>
              </a:lnSpc>
              <a:spcAft>
                <a:spcPts val="0"/>
              </a:spcAft>
            </a:pPr>
            <a:r>
              <a:rPr sz="1050" b="1" i="0">
                <a:solidFill>
                  <a:srgbClr val="024791"/>
                </a:solidFill>
                <a:latin typeface="Arial"/>
              </a:rPr>
              <a:t>En los tres casos obtenemos información para decidir.</a:t>
            </a:r>
          </a:p>
        </p:txBody>
      </p:sp>
      <p:sp>
        <p:nvSpPr>
          <p:cNvPr id="99" name="TextBox 98"/>
          <p:cNvSpPr txBox="1"/>
          <p:nvPr/>
        </p:nvSpPr>
        <p:spPr>
          <a:xfrm>
            <a:off x="640808" y="8217056"/>
            <a:ext cx="5576383" cy="150000"/>
          </a:xfrm>
          <a:prstGeom prst="rect">
            <a:avLst/>
          </a:prstGeom>
          <a:noFill/>
        </p:spPr>
        <p:txBody>
          <a:bodyPr wrap="square" lIns="0" rIns="0" tIns="0" bIns="0" anchor="t">
            <a:spAutoFit/>
          </a:bodyPr>
          <a:lstStyle/>
          <a:p>
            <a:pPr algn="l">
              <a:lnSpc>
                <a:spcPct val="100000"/>
              </a:lnSpc>
              <a:spcAft>
                <a:spcPts val="0"/>
              </a:spcAft>
            </a:pPr>
            <a:r>
              <a:rPr sz="950" b="0" i="1">
                <a:solidFill>
                  <a:srgbClr val="7B7480"/>
                </a:solidFill>
                <a:latin typeface="Arial"/>
              </a:rPr>
              <a:t>Fuente: elaboración propia.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808" y="723900"/>
            <a:ext cx="4265517" cy="171450"/>
          </a:xfrm>
          <a:prstGeom prst="rect">
            <a:avLst/>
          </a:prstGeom>
          <a:noFill/>
        </p:spPr>
        <p:txBody>
          <a:bodyPr wrap="square" lIns="0" rIns="0" tIns="0" bIns="0" anchor="t">
            <a:spAutoFit/>
          </a:bodyPr>
          <a:lstStyle/>
          <a:p>
            <a:pPr algn="l">
              <a:lnSpc>
                <a:spcPct val="100000"/>
              </a:lnSpc>
              <a:spcAft>
                <a:spcPts val="0"/>
              </a:spcAft>
            </a:pPr>
            <a:r>
              <a:rPr sz="825" b="1" i="0">
                <a:solidFill>
                  <a:srgbClr val="664092"/>
                </a:solidFill>
                <a:latin typeface="Arial"/>
              </a:rPr>
              <a:t>Artículo educativo · Pensamiento de diseño</a:t>
            </a:r>
          </a:p>
        </p:txBody>
      </p:sp>
      <p:sp>
        <p:nvSpPr>
          <p:cNvPr id="3" name="TextBox 2"/>
          <p:cNvSpPr txBox="1"/>
          <p:nvPr/>
        </p:nvSpPr>
        <p:spPr>
          <a:xfrm>
            <a:off x="640808" y="1104900"/>
            <a:ext cx="5576383" cy="209550"/>
          </a:xfrm>
          <a:prstGeom prst="rect">
            <a:avLst/>
          </a:prstGeom>
          <a:noFill/>
        </p:spPr>
        <p:txBody>
          <a:bodyPr wrap="square" lIns="0" rIns="0" tIns="0" bIns="0" anchor="t">
            <a:spAutoFit/>
          </a:bodyPr>
          <a:lstStyle/>
          <a:p>
            <a:pPr algn="l">
              <a:lnSpc>
                <a:spcPct val="100000"/>
              </a:lnSpc>
              <a:spcAft>
                <a:spcPts val="0"/>
              </a:spcAft>
            </a:pPr>
            <a:r>
              <a:rPr sz="975" b="1" i="0">
                <a:solidFill>
                  <a:srgbClr val="3560D6"/>
                </a:solidFill>
                <a:latin typeface="Arial"/>
              </a:rPr>
              <a:t>03 · Aprender</a:t>
            </a:r>
          </a:p>
        </p:txBody>
      </p:sp>
      <p:sp>
        <p:nvSpPr>
          <p:cNvPr id="4" name="TextBox 3"/>
          <p:cNvSpPr txBox="1"/>
          <p:nvPr/>
        </p:nvSpPr>
        <p:spPr>
          <a:xfrm>
            <a:off x="640808" y="1428750"/>
            <a:ext cx="5576383" cy="690943"/>
          </a:xfrm>
          <a:prstGeom prst="rect">
            <a:avLst/>
          </a:prstGeom>
          <a:noFill/>
        </p:spPr>
        <p:txBody>
          <a:bodyPr wrap="square" lIns="0" rIns="0" tIns="0" bIns="0" anchor="t">
            <a:spAutoFit/>
          </a:bodyPr>
          <a:lstStyle/>
          <a:p>
            <a:pPr algn="l">
              <a:lnSpc>
                <a:spcPct val="100000"/>
              </a:lnSpc>
              <a:spcAft>
                <a:spcPts val="0"/>
              </a:spcAft>
            </a:pPr>
            <a:r>
              <a:rPr sz="2325" b="1" i="0">
                <a:solidFill>
                  <a:srgbClr val="664092"/>
                </a:solidFill>
                <a:latin typeface="Arial"/>
              </a:rPr>
              <a:t>“¿Te gusta?” vs. observar la interacción</a:t>
            </a:r>
          </a:p>
        </p:txBody>
      </p:sp>
      <p:cxnSp>
        <p:nvCxnSpPr>
          <p:cNvPr id="67" name="Google Shape;67;p12"/>
          <p:cNvCxnSpPr/>
          <p:nvPr/>
        </p:nvCxnSpPr>
        <p:spPr>
          <a:xfrm>
            <a:off x="748514" y="2349693"/>
            <a:ext cx="998913" cy="0"/>
          </a:xfrm>
          <a:prstGeom prst="straightConnector1">
            <a:avLst/>
          </a:prstGeom>
          <a:noFill/>
          <a:ln cap="flat" cmpd="sng" w="53975">
            <a:solidFill>
              <a:srgbClr val="73CDEB"/>
            </a:solidFill>
            <a:prstDash val="solid"/>
            <a:round/>
            <a:headEnd len="med" w="med" type="oval"/>
            <a:tailEnd len="med" w="med" type="oval"/>
          </a:ln>
        </p:spPr>
      </p:cxnSp>
      <p:sp>
        <p:nvSpPr>
          <p:cNvPr id="68" name="TextBox 67"/>
          <p:cNvSpPr txBox="1"/>
          <p:nvPr/>
        </p:nvSpPr>
        <p:spPr>
          <a:xfrm>
            <a:off x="642308" y="2599693"/>
            <a:ext cx="5576383" cy="1362418"/>
          </a:xfrm>
          <a:prstGeom prst="rect">
            <a:avLst/>
          </a:prstGeom>
          <a:noFill/>
        </p:spPr>
        <p:txBody>
          <a:bodyPr wrap="square" lIns="0" rIns="0" tIns="0" bIns="0" anchor="t">
            <a:spAutoFit/>
          </a:bodyPr>
          <a:lstStyle/>
          <a:p>
            <a:pPr algn="l">
              <a:lnSpc>
                <a:spcPct val="130000"/>
              </a:lnSpc>
              <a:spcAft>
                <a:spcPts val="1181"/>
              </a:spcAft>
            </a:pPr>
            <a:r>
              <a:rPr sz="1100" b="0" i="0">
                <a:solidFill>
                  <a:srgbClr val="56505B"/>
                </a:solidFill>
                <a:latin typeface="Arial"/>
              </a:rPr>
              <a:t>Cuando un prototipo entra en contacto con las personas buscamos observar su interacción, recopilar retroalimentación y reconocer qué funciona, qué genera dificultades y qué requiere modificaciones.</a:t>
            </a:r>
          </a:p>
          <a:p>
            <a:pPr algn="l">
              <a:lnSpc>
                <a:spcPct val="130000"/>
              </a:lnSpc>
              <a:spcAft>
                <a:spcPts val="1181"/>
              </a:spcAft>
            </a:pPr>
            <a:r>
              <a:rPr sz="1100" b="0" i="0">
                <a:solidFill>
                  <a:srgbClr val="56505B"/>
                </a:solidFill>
                <a:latin typeface="Arial"/>
              </a:rPr>
              <a:t>Preguntar si una persona “le gusta” una propuesta puede aportar una opinión, pero no necesariamente explica cómo funciona la experiencia.</a:t>
            </a:r>
          </a:p>
        </p:txBody>
      </p:sp>
      <p:sp>
        <p:nvSpPr>
          <p:cNvPr id="69" name="Rounded Rectangle 68"/>
          <p:cNvSpPr/>
          <p:nvPr/>
        </p:nvSpPr>
        <p:spPr>
          <a:xfrm>
            <a:off x="640808" y="4042111"/>
            <a:ext cx="1900000" cy="2500000"/>
          </a:xfrm>
          <a:prstGeom prst="roundRect">
            <a:avLst>
              <a:gd name="adj" fmla="val 6315"/>
            </a:avLst>
          </a:prstGeom>
          <a:solidFill>
            <a:srgbClr val="F6EBF3"/>
          </a:solidFill>
          <a:ln>
            <a:noFill/>
          </a:ln>
        </p:spPr>
        <p:txBody>
          <a:bodyPr rtlCol="0" anchor="ctr"/>
          <a:lstStyle/>
          <a:p>
            <a:pPr algn="ctr"/>
          </a:p>
        </p:txBody>
      </p:sp>
      <p:sp>
        <p:nvSpPr>
          <p:cNvPr id="70" name="Rounded Rectangle 69"/>
          <p:cNvSpPr/>
          <p:nvPr/>
        </p:nvSpPr>
        <p:spPr>
          <a:xfrm>
            <a:off x="640808" y="4042111"/>
            <a:ext cx="1900000" cy="560000"/>
          </a:xfrm>
          <a:prstGeom prst="roundRect">
            <a:avLst>
              <a:gd name="adj" fmla="val 21428"/>
            </a:avLst>
          </a:prstGeom>
          <a:solidFill>
            <a:srgbClr val="A71989"/>
          </a:solidFill>
          <a:ln>
            <a:noFill/>
          </a:ln>
        </p:spPr>
        <p:txBody>
          <a:bodyPr rtlCol="0" anchor="ctr"/>
          <a:lstStyle/>
          <a:p>
            <a:pPr algn="ctr"/>
          </a:p>
        </p:txBody>
      </p:sp>
      <p:sp>
        <p:nvSpPr>
          <p:cNvPr id="71" name="Rectangle 70"/>
          <p:cNvSpPr/>
          <p:nvPr/>
        </p:nvSpPr>
        <p:spPr>
          <a:xfrm>
            <a:off x="640808" y="4342111"/>
            <a:ext cx="1900000" cy="260000"/>
          </a:xfrm>
          <a:prstGeom prst="rect">
            <a:avLst/>
          </a:prstGeom>
          <a:solidFill>
            <a:srgbClr val="A71989"/>
          </a:solidFill>
          <a:ln>
            <a:noFill/>
          </a:ln>
        </p:spPr>
        <p:txBody>
          <a:bodyPr rtlCol="0" anchor="ctr"/>
          <a:lstStyle/>
          <a:p>
            <a:pPr algn="ctr"/>
          </a:p>
        </p:txBody>
      </p:sp>
      <p:sp>
        <p:nvSpPr>
          <p:cNvPr id="72" name="Oval 71"/>
          <p:cNvSpPr/>
          <p:nvPr/>
        </p:nvSpPr>
        <p:spPr>
          <a:xfrm>
            <a:off x="790808" y="4142111"/>
            <a:ext cx="360000" cy="360000"/>
          </a:xfrm>
          <a:prstGeom prst="ellipse">
            <a:avLst/>
          </a:prstGeom>
          <a:solidFill>
            <a:srgbClr val="FFFFFF"/>
          </a:solidFill>
          <a:ln>
            <a:noFill/>
          </a:ln>
        </p:spPr>
        <p:txBody>
          <a:bodyPr rtlCol="0" anchor="ctr"/>
          <a:lstStyle/>
          <a:p>
            <a:pPr algn="ctr"/>
          </a:p>
        </p:txBody>
      </p:sp>
      <p:sp>
        <p:nvSpPr>
          <p:cNvPr id="73" name="icono thumbs-up"/>
          <p:cNvSpPr/>
          <p:nvPr/>
        </p:nvSpPr>
        <p:spPr>
          <a:xfrm>
            <a:off x="870008" y="4221311"/>
            <a:ext cx="201600" cy="201600"/>
          </a:xfrm>
          <a:custGeom>
            <a:avLst/>
            <a:gdLst/>
            <a:ahLst/>
            <a:cxnLst/>
            <a:rect l="0" t="0" r="r" b="b"/>
            <a:pathLst>
              <a:path w="25600" h="25600">
                <a:moveTo>
                  <a:pt x="23400" y="8012"/>
                </a:moveTo>
                <a:lnTo>
                  <a:pt x="23158" y="7774"/>
                </a:lnTo>
                <a:lnTo>
                  <a:pt x="22886" y="7573"/>
                </a:lnTo>
                <a:lnTo>
                  <a:pt x="22587" y="7412"/>
                </a:lnTo>
                <a:lnTo>
                  <a:pt x="22269" y="7295"/>
                </a:lnTo>
                <a:lnTo>
                  <a:pt x="21938" y="7224"/>
                </a:lnTo>
                <a:lnTo>
                  <a:pt x="21600" y="7200"/>
                </a:lnTo>
                <a:lnTo>
                  <a:pt x="16000" y="7200"/>
                </a:lnTo>
                <a:lnTo>
                  <a:pt x="16000" y="5600"/>
                </a:lnTo>
                <a:lnTo>
                  <a:pt x="15900" y="4710"/>
                </a:lnTo>
                <a:lnTo>
                  <a:pt x="15604" y="3864"/>
                </a:lnTo>
                <a:lnTo>
                  <a:pt x="15127" y="3106"/>
                </a:lnTo>
                <a:lnTo>
                  <a:pt x="14494" y="2473"/>
                </a:lnTo>
                <a:lnTo>
                  <a:pt x="13736" y="1996"/>
                </a:lnTo>
                <a:lnTo>
                  <a:pt x="12890" y="1700"/>
                </a:lnTo>
                <a:lnTo>
                  <a:pt x="12000" y="1600"/>
                </a:lnTo>
                <a:lnTo>
                  <a:pt x="11853" y="1613"/>
                </a:lnTo>
                <a:lnTo>
                  <a:pt x="11711" y="1654"/>
                </a:lnTo>
                <a:lnTo>
                  <a:pt x="11579" y="1719"/>
                </a:lnTo>
                <a:lnTo>
                  <a:pt x="11461" y="1808"/>
                </a:lnTo>
                <a:lnTo>
                  <a:pt x="11362" y="1917"/>
                </a:lnTo>
                <a:lnTo>
                  <a:pt x="11284" y="2042"/>
                </a:lnTo>
                <a:lnTo>
                  <a:pt x="7506" y="9600"/>
                </a:lnTo>
                <a:lnTo>
                  <a:pt x="3200" y="9600"/>
                </a:lnTo>
                <a:lnTo>
                  <a:pt x="2844" y="9640"/>
                </a:lnTo>
                <a:lnTo>
                  <a:pt x="2506" y="9758"/>
                </a:lnTo>
                <a:lnTo>
                  <a:pt x="2202" y="9949"/>
                </a:lnTo>
                <a:lnTo>
                  <a:pt x="1949" y="10202"/>
                </a:lnTo>
                <a:lnTo>
                  <a:pt x="1758" y="10506"/>
                </a:lnTo>
                <a:lnTo>
                  <a:pt x="1640" y="10844"/>
                </a:lnTo>
                <a:lnTo>
                  <a:pt x="1600" y="11200"/>
                </a:lnTo>
                <a:lnTo>
                  <a:pt x="1600" y="20000"/>
                </a:lnTo>
                <a:lnTo>
                  <a:pt x="1640" y="20356"/>
                </a:lnTo>
                <a:lnTo>
                  <a:pt x="1758" y="20694"/>
                </a:lnTo>
                <a:lnTo>
                  <a:pt x="1949" y="20998"/>
                </a:lnTo>
                <a:lnTo>
                  <a:pt x="2202" y="21251"/>
                </a:lnTo>
                <a:lnTo>
                  <a:pt x="2506" y="21442"/>
                </a:lnTo>
                <a:lnTo>
                  <a:pt x="2844" y="21560"/>
                </a:lnTo>
                <a:lnTo>
                  <a:pt x="3200" y="21600"/>
                </a:lnTo>
                <a:lnTo>
                  <a:pt x="20400" y="21600"/>
                </a:lnTo>
                <a:lnTo>
                  <a:pt x="20973" y="21531"/>
                </a:lnTo>
                <a:lnTo>
                  <a:pt x="21512" y="21327"/>
                </a:lnTo>
                <a:lnTo>
                  <a:pt x="21988" y="21000"/>
                </a:lnTo>
                <a:lnTo>
                  <a:pt x="22372" y="20569"/>
                </a:lnTo>
                <a:lnTo>
                  <a:pt x="22642" y="20060"/>
                </a:lnTo>
                <a:lnTo>
                  <a:pt x="22782" y="19500"/>
                </a:lnTo>
                <a:lnTo>
                  <a:pt x="23982" y="9900"/>
                </a:lnTo>
                <a:lnTo>
                  <a:pt x="24000" y="9561"/>
                </a:lnTo>
                <a:lnTo>
                  <a:pt x="23971" y="9224"/>
                </a:lnTo>
                <a:lnTo>
                  <a:pt x="23894" y="8893"/>
                </a:lnTo>
                <a:lnTo>
                  <a:pt x="23772" y="8577"/>
                </a:lnTo>
                <a:lnTo>
                  <a:pt x="23606" y="8281"/>
                </a:lnTo>
                <a:lnTo>
                  <a:pt x="23400" y="8012"/>
                </a:lnTo>
                <a:close/>
                <a:moveTo>
                  <a:pt x="3200" y="11200"/>
                </a:moveTo>
                <a:lnTo>
                  <a:pt x="7200" y="11200"/>
                </a:lnTo>
                <a:lnTo>
                  <a:pt x="7200" y="20000"/>
                </a:lnTo>
                <a:lnTo>
                  <a:pt x="3200" y="20000"/>
                </a:lnTo>
                <a:lnTo>
                  <a:pt x="3200" y="11200"/>
                </a:lnTo>
                <a:close/>
                <a:moveTo>
                  <a:pt x="22394" y="9700"/>
                </a:moveTo>
                <a:lnTo>
                  <a:pt x="21194" y="19300"/>
                </a:lnTo>
                <a:lnTo>
                  <a:pt x="21147" y="19487"/>
                </a:lnTo>
                <a:lnTo>
                  <a:pt x="21057" y="19656"/>
                </a:lnTo>
                <a:lnTo>
                  <a:pt x="20929" y="19800"/>
                </a:lnTo>
                <a:lnTo>
                  <a:pt x="20771" y="19909"/>
                </a:lnTo>
                <a:lnTo>
                  <a:pt x="20591" y="19977"/>
                </a:lnTo>
                <a:lnTo>
                  <a:pt x="20400" y="20000"/>
                </a:lnTo>
                <a:lnTo>
                  <a:pt x="8800" y="20000"/>
                </a:lnTo>
                <a:lnTo>
                  <a:pt x="8800" y="10589"/>
                </a:lnTo>
                <a:lnTo>
                  <a:pt x="12471" y="3246"/>
                </a:lnTo>
                <a:lnTo>
                  <a:pt x="12993" y="3414"/>
                </a:lnTo>
                <a:lnTo>
                  <a:pt x="13463" y="3697"/>
                </a:lnTo>
                <a:lnTo>
                  <a:pt x="13856" y="4078"/>
                </a:lnTo>
                <a:lnTo>
                  <a:pt x="14153" y="4539"/>
                </a:lnTo>
                <a:lnTo>
                  <a:pt x="14338" y="5055"/>
                </a:lnTo>
                <a:lnTo>
                  <a:pt x="14400" y="5600"/>
                </a:lnTo>
                <a:lnTo>
                  <a:pt x="14400" y="8000"/>
                </a:lnTo>
                <a:lnTo>
                  <a:pt x="14420" y="8178"/>
                </a:lnTo>
                <a:lnTo>
                  <a:pt x="14479" y="8347"/>
                </a:lnTo>
                <a:lnTo>
                  <a:pt x="14575" y="8499"/>
                </a:lnTo>
                <a:lnTo>
                  <a:pt x="14701" y="8625"/>
                </a:lnTo>
                <a:lnTo>
                  <a:pt x="14853" y="8721"/>
                </a:lnTo>
                <a:lnTo>
                  <a:pt x="15022" y="8780"/>
                </a:lnTo>
                <a:lnTo>
                  <a:pt x="15200" y="8800"/>
                </a:lnTo>
                <a:lnTo>
                  <a:pt x="21600" y="8800"/>
                </a:lnTo>
                <a:lnTo>
                  <a:pt x="21768" y="8818"/>
                </a:lnTo>
                <a:lnTo>
                  <a:pt x="21929" y="8871"/>
                </a:lnTo>
                <a:lnTo>
                  <a:pt x="22075" y="8956"/>
                </a:lnTo>
                <a:lnTo>
                  <a:pt x="22200" y="9071"/>
                </a:lnTo>
                <a:lnTo>
                  <a:pt x="22298" y="9209"/>
                </a:lnTo>
                <a:lnTo>
                  <a:pt x="22365" y="9365"/>
                </a:lnTo>
                <a:lnTo>
                  <a:pt x="22397" y="9531"/>
                </a:lnTo>
                <a:lnTo>
                  <a:pt x="22394" y="9700"/>
                </a:lnTo>
                <a:close/>
              </a:path>
            </a:pathLst>
          </a:custGeom>
          <a:solidFill>
            <a:srgbClr val="A71989"/>
          </a:solidFill>
          <a:ln>
            <a:noFill/>
          </a:ln>
        </p:spPr>
        <p:txBody>
          <a:bodyPr rtlCol="0" anchor="ctr"/>
          <a:lstStyle/>
          <a:p>
            <a:pPr algn="ctr"/>
          </a:p>
        </p:txBody>
      </p:sp>
      <p:sp>
        <p:nvSpPr>
          <p:cNvPr id="74" name="TextBox 73"/>
          <p:cNvSpPr txBox="1"/>
          <p:nvPr/>
        </p:nvSpPr>
        <p:spPr>
          <a:xfrm>
            <a:off x="1240808" y="4042111"/>
            <a:ext cx="1250000" cy="560000"/>
          </a:xfrm>
          <a:prstGeom prst="rect">
            <a:avLst/>
          </a:prstGeom>
          <a:noFill/>
        </p:spPr>
        <p:txBody>
          <a:bodyPr wrap="square" lIns="0" rIns="0" tIns="0" bIns="0" anchor="ctr">
            <a:spAutoFit/>
          </a:bodyPr>
          <a:lstStyle/>
          <a:p>
            <a:pPr algn="l">
              <a:lnSpc>
                <a:spcPct val="100000"/>
              </a:lnSpc>
              <a:spcAft>
                <a:spcPts val="0"/>
              </a:spcAft>
            </a:pPr>
            <a:r>
              <a:rPr sz="1000" b="1" i="0">
                <a:solidFill>
                  <a:srgbClr val="FFFFFF"/>
                </a:solidFill>
                <a:latin typeface="Arial"/>
              </a:rPr>
              <a:t>NO SOLO</a:t>
            </a:r>
          </a:p>
        </p:txBody>
      </p:sp>
      <p:sp>
        <p:nvSpPr>
          <p:cNvPr id="75" name="TextBox 74"/>
          <p:cNvSpPr txBox="1"/>
          <p:nvPr/>
        </p:nvSpPr>
        <p:spPr>
          <a:xfrm>
            <a:off x="760808" y="4942111"/>
            <a:ext cx="1660000" cy="900000"/>
          </a:xfrm>
          <a:prstGeom prst="rect">
            <a:avLst/>
          </a:prstGeom>
          <a:noFill/>
        </p:spPr>
        <p:txBody>
          <a:bodyPr wrap="square" lIns="0" rIns="0" tIns="0" bIns="0" anchor="ctr">
            <a:spAutoFit/>
          </a:bodyPr>
          <a:lstStyle/>
          <a:p>
            <a:pPr algn="ctr">
              <a:lnSpc>
                <a:spcPct val="100000"/>
              </a:lnSpc>
              <a:spcAft>
                <a:spcPts val="0"/>
              </a:spcAft>
            </a:pPr>
            <a:r>
              <a:rPr sz="2000" b="1" i="1">
                <a:solidFill>
                  <a:srgbClr val="A71989"/>
                </a:solidFill>
                <a:latin typeface="Arial"/>
              </a:rPr>
              <a:t>“¿Te gusta?”</a:t>
            </a:r>
          </a:p>
        </p:txBody>
      </p:sp>
      <p:sp>
        <p:nvSpPr>
          <p:cNvPr id="76" name="Rounded Rectangle 75"/>
          <p:cNvSpPr/>
          <p:nvPr/>
        </p:nvSpPr>
        <p:spPr>
          <a:xfrm>
            <a:off x="2957191" y="4042111"/>
            <a:ext cx="3260000" cy="2500000"/>
          </a:xfrm>
          <a:prstGeom prst="roundRect">
            <a:avLst>
              <a:gd name="adj" fmla="val 4800"/>
            </a:avLst>
          </a:prstGeom>
          <a:solidFill>
            <a:srgbClr val="E8F1FB"/>
          </a:solidFill>
          <a:ln>
            <a:noFill/>
          </a:ln>
        </p:spPr>
        <p:txBody>
          <a:bodyPr rtlCol="0" anchor="ctr"/>
          <a:lstStyle/>
          <a:p>
            <a:pPr algn="ctr"/>
          </a:p>
        </p:txBody>
      </p:sp>
      <p:sp>
        <p:nvSpPr>
          <p:cNvPr id="77" name="Rounded Rectangle 76"/>
          <p:cNvSpPr/>
          <p:nvPr/>
        </p:nvSpPr>
        <p:spPr>
          <a:xfrm>
            <a:off x="2957191" y="4042111"/>
            <a:ext cx="3260000" cy="560000"/>
          </a:xfrm>
          <a:prstGeom prst="roundRect">
            <a:avLst>
              <a:gd name="adj" fmla="val 21428"/>
            </a:avLst>
          </a:prstGeom>
          <a:solidFill>
            <a:srgbClr val="024791"/>
          </a:solidFill>
          <a:ln>
            <a:noFill/>
          </a:ln>
        </p:spPr>
        <p:txBody>
          <a:bodyPr rtlCol="0" anchor="ctr"/>
          <a:lstStyle/>
          <a:p>
            <a:pPr algn="ctr"/>
          </a:p>
        </p:txBody>
      </p:sp>
      <p:sp>
        <p:nvSpPr>
          <p:cNvPr id="78" name="Rectangle 77"/>
          <p:cNvSpPr/>
          <p:nvPr/>
        </p:nvSpPr>
        <p:spPr>
          <a:xfrm>
            <a:off x="2957191" y="4342111"/>
            <a:ext cx="3260000" cy="260000"/>
          </a:xfrm>
          <a:prstGeom prst="rect">
            <a:avLst/>
          </a:prstGeom>
          <a:solidFill>
            <a:srgbClr val="024791"/>
          </a:solidFill>
          <a:ln>
            <a:noFill/>
          </a:ln>
        </p:spPr>
        <p:txBody>
          <a:bodyPr rtlCol="0" anchor="ctr"/>
          <a:lstStyle/>
          <a:p>
            <a:pPr algn="ctr"/>
          </a:p>
        </p:txBody>
      </p:sp>
      <p:sp>
        <p:nvSpPr>
          <p:cNvPr id="79" name="Oval 78"/>
          <p:cNvSpPr/>
          <p:nvPr/>
        </p:nvSpPr>
        <p:spPr>
          <a:xfrm>
            <a:off x="3107191" y="4142111"/>
            <a:ext cx="360000" cy="360000"/>
          </a:xfrm>
          <a:prstGeom prst="ellipse">
            <a:avLst/>
          </a:prstGeom>
          <a:solidFill>
            <a:srgbClr val="FFFFFF"/>
          </a:solidFill>
          <a:ln>
            <a:noFill/>
          </a:ln>
        </p:spPr>
        <p:txBody>
          <a:bodyPr rtlCol="0" anchor="ctr"/>
          <a:lstStyle/>
          <a:p>
            <a:pPr algn="ctr"/>
          </a:p>
        </p:txBody>
      </p:sp>
      <p:sp>
        <p:nvSpPr>
          <p:cNvPr id="80" name="icono eye"/>
          <p:cNvSpPr/>
          <p:nvPr/>
        </p:nvSpPr>
        <p:spPr>
          <a:xfrm>
            <a:off x="3186391" y="4221311"/>
            <a:ext cx="201600" cy="201600"/>
          </a:xfrm>
          <a:custGeom>
            <a:avLst/>
            <a:gdLst/>
            <a:ahLst/>
            <a:cxnLst/>
            <a:rect l="0" t="0" r="r" b="b"/>
            <a:pathLst>
              <a:path w="25600" h="25600">
                <a:moveTo>
                  <a:pt x="24731" y="12476"/>
                </a:moveTo>
                <a:cubicBezTo>
                  <a:pt x="24696" y="12397"/>
                  <a:pt x="23849" y="10518"/>
                  <a:pt x="21966" y="8635"/>
                </a:cubicBezTo>
                <a:cubicBezTo>
                  <a:pt x="19457" y="6126"/>
                  <a:pt x="16288" y="4800"/>
                  <a:pt x="12800" y="4800"/>
                </a:cubicBezTo>
                <a:cubicBezTo>
                  <a:pt x="9312" y="4800"/>
                  <a:pt x="6143" y="6126"/>
                  <a:pt x="3634" y="8635"/>
                </a:cubicBezTo>
                <a:cubicBezTo>
                  <a:pt x="1751" y="10518"/>
                  <a:pt x="900" y="12400"/>
                  <a:pt x="869" y="12476"/>
                </a:cubicBezTo>
                <a:lnTo>
                  <a:pt x="831" y="12581"/>
                </a:lnTo>
                <a:lnTo>
                  <a:pt x="808" y="12690"/>
                </a:lnTo>
                <a:lnTo>
                  <a:pt x="800" y="12801"/>
                </a:lnTo>
                <a:lnTo>
                  <a:pt x="808" y="12912"/>
                </a:lnTo>
                <a:lnTo>
                  <a:pt x="831" y="13021"/>
                </a:lnTo>
                <a:lnTo>
                  <a:pt x="869" y="13126"/>
                </a:lnTo>
                <a:cubicBezTo>
                  <a:pt x="904" y="13205"/>
                  <a:pt x="1751" y="15083"/>
                  <a:pt x="3634" y="16966"/>
                </a:cubicBezTo>
                <a:cubicBezTo>
                  <a:pt x="6143" y="19474"/>
                  <a:pt x="9312" y="20800"/>
                  <a:pt x="12800" y="20800"/>
                </a:cubicBezTo>
                <a:cubicBezTo>
                  <a:pt x="16288" y="20800"/>
                  <a:pt x="19457" y="19474"/>
                  <a:pt x="21966" y="16966"/>
                </a:cubicBezTo>
                <a:cubicBezTo>
                  <a:pt x="23849" y="15083"/>
                  <a:pt x="24696" y="13205"/>
                  <a:pt x="24731" y="13126"/>
                </a:cubicBezTo>
                <a:lnTo>
                  <a:pt x="24769" y="13021"/>
                </a:lnTo>
                <a:lnTo>
                  <a:pt x="24792" y="12912"/>
                </a:lnTo>
                <a:lnTo>
                  <a:pt x="24800" y="12801"/>
                </a:lnTo>
                <a:lnTo>
                  <a:pt x="24792" y="12690"/>
                </a:lnTo>
                <a:lnTo>
                  <a:pt x="24769" y="12581"/>
                </a:lnTo>
                <a:lnTo>
                  <a:pt x="24731" y="12476"/>
                </a:lnTo>
                <a:close/>
                <a:moveTo>
                  <a:pt x="12800" y="19200"/>
                </a:moveTo>
                <a:cubicBezTo>
                  <a:pt x="9722" y="19200"/>
                  <a:pt x="7033" y="18081"/>
                  <a:pt x="4807" y="15875"/>
                </a:cubicBezTo>
                <a:lnTo>
                  <a:pt x="4362" y="15411"/>
                </a:lnTo>
                <a:lnTo>
                  <a:pt x="3940" y="14926"/>
                </a:lnTo>
                <a:lnTo>
                  <a:pt x="3542" y="14421"/>
                </a:lnTo>
                <a:lnTo>
                  <a:pt x="3169" y="13898"/>
                </a:lnTo>
                <a:lnTo>
                  <a:pt x="2821" y="13357"/>
                </a:lnTo>
                <a:lnTo>
                  <a:pt x="2500" y="12800"/>
                </a:lnTo>
                <a:lnTo>
                  <a:pt x="2821" y="12243"/>
                </a:lnTo>
                <a:lnTo>
                  <a:pt x="3169" y="11702"/>
                </a:lnTo>
                <a:lnTo>
                  <a:pt x="3542" y="11179"/>
                </a:lnTo>
                <a:lnTo>
                  <a:pt x="3940" y="10674"/>
                </a:lnTo>
                <a:lnTo>
                  <a:pt x="4362" y="10189"/>
                </a:lnTo>
                <a:lnTo>
                  <a:pt x="4807" y="9725"/>
                </a:lnTo>
                <a:cubicBezTo>
                  <a:pt x="7033" y="7519"/>
                  <a:pt x="9722" y="6400"/>
                  <a:pt x="12800" y="6400"/>
                </a:cubicBezTo>
                <a:cubicBezTo>
                  <a:pt x="15878" y="6400"/>
                  <a:pt x="18567" y="7519"/>
                  <a:pt x="20793" y="9725"/>
                </a:cubicBezTo>
                <a:lnTo>
                  <a:pt x="21239" y="10189"/>
                </a:lnTo>
                <a:lnTo>
                  <a:pt x="21661" y="10674"/>
                </a:lnTo>
                <a:lnTo>
                  <a:pt x="22060" y="11179"/>
                </a:lnTo>
                <a:lnTo>
                  <a:pt x="22435" y="11702"/>
                </a:lnTo>
                <a:lnTo>
                  <a:pt x="22783" y="12243"/>
                </a:lnTo>
                <a:lnTo>
                  <a:pt x="23105" y="12800"/>
                </a:lnTo>
                <a:cubicBezTo>
                  <a:pt x="22384" y="14146"/>
                  <a:pt x="19243" y="19200"/>
                  <a:pt x="12800" y="19200"/>
                </a:cubicBezTo>
                <a:close/>
                <a:moveTo>
                  <a:pt x="12800" y="8000"/>
                </a:moveTo>
                <a:lnTo>
                  <a:pt x="11780" y="8110"/>
                </a:lnTo>
                <a:lnTo>
                  <a:pt x="10806" y="8434"/>
                </a:lnTo>
                <a:lnTo>
                  <a:pt x="9923" y="8957"/>
                </a:lnTo>
                <a:lnTo>
                  <a:pt x="9172" y="9657"/>
                </a:lnTo>
                <a:lnTo>
                  <a:pt x="8587" y="10500"/>
                </a:lnTo>
                <a:lnTo>
                  <a:pt x="8194" y="11448"/>
                </a:lnTo>
                <a:lnTo>
                  <a:pt x="8012" y="12458"/>
                </a:lnTo>
                <a:lnTo>
                  <a:pt x="8049" y="13483"/>
                </a:lnTo>
                <a:lnTo>
                  <a:pt x="8303" y="14477"/>
                </a:lnTo>
                <a:lnTo>
                  <a:pt x="8762" y="15395"/>
                </a:lnTo>
                <a:lnTo>
                  <a:pt x="9406" y="16194"/>
                </a:lnTo>
                <a:lnTo>
                  <a:pt x="10205" y="16838"/>
                </a:lnTo>
                <a:lnTo>
                  <a:pt x="11123" y="17297"/>
                </a:lnTo>
                <a:lnTo>
                  <a:pt x="12117" y="17551"/>
                </a:lnTo>
                <a:lnTo>
                  <a:pt x="13142" y="17588"/>
                </a:lnTo>
                <a:lnTo>
                  <a:pt x="14152" y="17406"/>
                </a:lnTo>
                <a:lnTo>
                  <a:pt x="15100" y="17013"/>
                </a:lnTo>
                <a:lnTo>
                  <a:pt x="15943" y="16428"/>
                </a:lnTo>
                <a:lnTo>
                  <a:pt x="16643" y="15677"/>
                </a:lnTo>
                <a:lnTo>
                  <a:pt x="17166" y="14794"/>
                </a:lnTo>
                <a:lnTo>
                  <a:pt x="17490" y="13820"/>
                </a:lnTo>
                <a:lnTo>
                  <a:pt x="17600" y="12800"/>
                </a:lnTo>
                <a:lnTo>
                  <a:pt x="17479" y="11732"/>
                </a:lnTo>
                <a:lnTo>
                  <a:pt x="17123" y="10718"/>
                </a:lnTo>
                <a:lnTo>
                  <a:pt x="16551" y="9809"/>
                </a:lnTo>
                <a:lnTo>
                  <a:pt x="15791" y="9049"/>
                </a:lnTo>
                <a:lnTo>
                  <a:pt x="14882" y="8477"/>
                </a:lnTo>
                <a:lnTo>
                  <a:pt x="13868" y="8121"/>
                </a:lnTo>
                <a:lnTo>
                  <a:pt x="12800" y="8000"/>
                </a:lnTo>
                <a:close/>
                <a:moveTo>
                  <a:pt x="12800" y="16000"/>
                </a:moveTo>
                <a:lnTo>
                  <a:pt x="12120" y="15927"/>
                </a:lnTo>
                <a:lnTo>
                  <a:pt x="11471" y="15711"/>
                </a:lnTo>
                <a:lnTo>
                  <a:pt x="10882" y="15362"/>
                </a:lnTo>
                <a:lnTo>
                  <a:pt x="10382" y="14896"/>
                </a:lnTo>
                <a:lnTo>
                  <a:pt x="9991" y="14334"/>
                </a:lnTo>
                <a:lnTo>
                  <a:pt x="9730" y="13702"/>
                </a:lnTo>
                <a:lnTo>
                  <a:pt x="9608" y="13028"/>
                </a:lnTo>
                <a:lnTo>
                  <a:pt x="9633" y="12345"/>
                </a:lnTo>
                <a:lnTo>
                  <a:pt x="9802" y="11682"/>
                </a:lnTo>
                <a:lnTo>
                  <a:pt x="10108" y="11070"/>
                </a:lnTo>
                <a:lnTo>
                  <a:pt x="10537" y="10537"/>
                </a:lnTo>
                <a:lnTo>
                  <a:pt x="11070" y="10108"/>
                </a:lnTo>
                <a:lnTo>
                  <a:pt x="11682" y="9802"/>
                </a:lnTo>
                <a:lnTo>
                  <a:pt x="12345" y="9633"/>
                </a:lnTo>
                <a:lnTo>
                  <a:pt x="13028" y="9608"/>
                </a:lnTo>
                <a:lnTo>
                  <a:pt x="13702" y="9730"/>
                </a:lnTo>
                <a:lnTo>
                  <a:pt x="14334" y="9991"/>
                </a:lnTo>
                <a:lnTo>
                  <a:pt x="14896" y="10382"/>
                </a:lnTo>
                <a:lnTo>
                  <a:pt x="15362" y="10882"/>
                </a:lnTo>
                <a:lnTo>
                  <a:pt x="15711" y="11471"/>
                </a:lnTo>
                <a:lnTo>
                  <a:pt x="15927" y="12120"/>
                </a:lnTo>
                <a:lnTo>
                  <a:pt x="16000" y="12800"/>
                </a:lnTo>
                <a:lnTo>
                  <a:pt x="15920" y="13512"/>
                </a:lnTo>
                <a:lnTo>
                  <a:pt x="15683" y="14188"/>
                </a:lnTo>
                <a:lnTo>
                  <a:pt x="15302" y="14795"/>
                </a:lnTo>
                <a:lnTo>
                  <a:pt x="14795" y="15302"/>
                </a:lnTo>
                <a:lnTo>
                  <a:pt x="14188" y="15683"/>
                </a:lnTo>
                <a:lnTo>
                  <a:pt x="13512" y="15920"/>
                </a:lnTo>
                <a:lnTo>
                  <a:pt x="12800" y="16000"/>
                </a:lnTo>
                <a:close/>
              </a:path>
            </a:pathLst>
          </a:custGeom>
          <a:solidFill>
            <a:srgbClr val="024791"/>
          </a:solidFill>
          <a:ln>
            <a:noFill/>
          </a:ln>
        </p:spPr>
        <p:txBody>
          <a:bodyPr rtlCol="0" anchor="ctr"/>
          <a:lstStyle/>
          <a:p>
            <a:pPr algn="ctr"/>
          </a:p>
        </p:txBody>
      </p:sp>
      <p:sp>
        <p:nvSpPr>
          <p:cNvPr id="81" name="TextBox 80"/>
          <p:cNvSpPr txBox="1"/>
          <p:nvPr/>
        </p:nvSpPr>
        <p:spPr>
          <a:xfrm>
            <a:off x="3557191" y="4042111"/>
            <a:ext cx="2610000" cy="560000"/>
          </a:xfrm>
          <a:prstGeom prst="rect">
            <a:avLst/>
          </a:prstGeom>
          <a:noFill/>
        </p:spPr>
        <p:txBody>
          <a:bodyPr wrap="square" lIns="0" rIns="0" tIns="0" bIns="0" anchor="ctr">
            <a:spAutoFit/>
          </a:bodyPr>
          <a:lstStyle/>
          <a:p>
            <a:pPr algn="l">
              <a:lnSpc>
                <a:spcPct val="100000"/>
              </a:lnSpc>
              <a:spcAft>
                <a:spcPts val="0"/>
              </a:spcAft>
            </a:pPr>
            <a:r>
              <a:rPr sz="1000" b="1" i="0">
                <a:solidFill>
                  <a:srgbClr val="FFFFFF"/>
                </a:solidFill>
                <a:latin typeface="Arial"/>
              </a:rPr>
              <a:t>OBSERVEMOS TAMBIÉN</a:t>
            </a:r>
          </a:p>
        </p:txBody>
      </p:sp>
      <p:sp>
        <p:nvSpPr>
          <p:cNvPr id="82" name="Rounded Rectangle 81"/>
          <p:cNvSpPr/>
          <p:nvPr/>
        </p:nvSpPr>
        <p:spPr>
          <a:xfrm>
            <a:off x="3077191" y="4722111"/>
            <a:ext cx="3020000" cy="300000"/>
          </a:xfrm>
          <a:prstGeom prst="roundRect">
            <a:avLst>
              <a:gd name="adj" fmla="val 23333"/>
            </a:avLst>
          </a:prstGeom>
          <a:solidFill>
            <a:srgbClr val="FFFFFF"/>
          </a:solidFill>
          <a:ln>
            <a:noFill/>
          </a:ln>
        </p:spPr>
        <p:txBody>
          <a:bodyPr rtlCol="0" anchor="ctr"/>
          <a:lstStyle/>
          <a:p>
            <a:pPr algn="ctr"/>
          </a:p>
        </p:txBody>
      </p:sp>
      <p:sp>
        <p:nvSpPr>
          <p:cNvPr id="83" name="icono brain"/>
          <p:cNvSpPr/>
          <p:nvPr/>
        </p:nvSpPr>
        <p:spPr>
          <a:xfrm>
            <a:off x="3157191" y="4767111"/>
            <a:ext cx="210000" cy="210000"/>
          </a:xfrm>
          <a:custGeom>
            <a:avLst/>
            <a:gdLst/>
            <a:ahLst/>
            <a:cxnLst/>
            <a:rect l="0" t="0" r="r" b="b"/>
            <a:pathLst>
              <a:path w="25600" h="25600">
                <a:moveTo>
                  <a:pt x="24800" y="12400"/>
                </a:moveTo>
                <a:lnTo>
                  <a:pt x="24701" y="11354"/>
                </a:lnTo>
                <a:lnTo>
                  <a:pt x="24408" y="10344"/>
                </a:lnTo>
                <a:lnTo>
                  <a:pt x="23932" y="9407"/>
                </a:lnTo>
                <a:lnTo>
                  <a:pt x="23289" y="8575"/>
                </a:lnTo>
                <a:lnTo>
                  <a:pt x="22503" y="7878"/>
                </a:lnTo>
                <a:lnTo>
                  <a:pt x="21600" y="7339"/>
                </a:lnTo>
                <a:lnTo>
                  <a:pt x="21600" y="7200"/>
                </a:lnTo>
                <a:lnTo>
                  <a:pt x="21491" y="6186"/>
                </a:lnTo>
                <a:lnTo>
                  <a:pt x="21170" y="5218"/>
                </a:lnTo>
                <a:lnTo>
                  <a:pt x="20651" y="4339"/>
                </a:lnTo>
                <a:lnTo>
                  <a:pt x="19959" y="3590"/>
                </a:lnTo>
                <a:lnTo>
                  <a:pt x="19124" y="3004"/>
                </a:lnTo>
                <a:lnTo>
                  <a:pt x="18184" y="2608"/>
                </a:lnTo>
                <a:lnTo>
                  <a:pt x="17181" y="2419"/>
                </a:lnTo>
                <a:lnTo>
                  <a:pt x="16161" y="2447"/>
                </a:lnTo>
                <a:lnTo>
                  <a:pt x="15171" y="2689"/>
                </a:lnTo>
                <a:lnTo>
                  <a:pt x="14253" y="3136"/>
                </a:lnTo>
                <a:lnTo>
                  <a:pt x="13451" y="3766"/>
                </a:lnTo>
                <a:lnTo>
                  <a:pt x="12800" y="4551"/>
                </a:lnTo>
                <a:lnTo>
                  <a:pt x="12149" y="3766"/>
                </a:lnTo>
                <a:lnTo>
                  <a:pt x="11347" y="3136"/>
                </a:lnTo>
                <a:lnTo>
                  <a:pt x="10429" y="2689"/>
                </a:lnTo>
                <a:lnTo>
                  <a:pt x="9439" y="2447"/>
                </a:lnTo>
                <a:lnTo>
                  <a:pt x="8419" y="2419"/>
                </a:lnTo>
                <a:lnTo>
                  <a:pt x="7416" y="2608"/>
                </a:lnTo>
                <a:lnTo>
                  <a:pt x="6476" y="3004"/>
                </a:lnTo>
                <a:lnTo>
                  <a:pt x="5641" y="3590"/>
                </a:lnTo>
                <a:lnTo>
                  <a:pt x="4949" y="4339"/>
                </a:lnTo>
                <a:lnTo>
                  <a:pt x="4430" y="5218"/>
                </a:lnTo>
                <a:lnTo>
                  <a:pt x="4109" y="6186"/>
                </a:lnTo>
                <a:lnTo>
                  <a:pt x="4000" y="7200"/>
                </a:lnTo>
                <a:lnTo>
                  <a:pt x="4000" y="7339"/>
                </a:lnTo>
                <a:lnTo>
                  <a:pt x="2929" y="8004"/>
                </a:lnTo>
                <a:lnTo>
                  <a:pt x="2034" y="8892"/>
                </a:lnTo>
                <a:lnTo>
                  <a:pt x="1360" y="9957"/>
                </a:lnTo>
                <a:lnTo>
                  <a:pt x="941" y="11146"/>
                </a:lnTo>
                <a:lnTo>
                  <a:pt x="799" y="12399"/>
                </a:lnTo>
                <a:lnTo>
                  <a:pt x="941" y="13652"/>
                </a:lnTo>
                <a:lnTo>
                  <a:pt x="1360" y="14841"/>
                </a:lnTo>
                <a:lnTo>
                  <a:pt x="2034" y="15906"/>
                </a:lnTo>
                <a:lnTo>
                  <a:pt x="2929" y="16794"/>
                </a:lnTo>
                <a:lnTo>
                  <a:pt x="4000" y="17459"/>
                </a:lnTo>
                <a:lnTo>
                  <a:pt x="4000" y="17600"/>
                </a:lnTo>
                <a:lnTo>
                  <a:pt x="4109" y="18614"/>
                </a:lnTo>
                <a:lnTo>
                  <a:pt x="4430" y="19582"/>
                </a:lnTo>
                <a:lnTo>
                  <a:pt x="4949" y="20461"/>
                </a:lnTo>
                <a:lnTo>
                  <a:pt x="5641" y="21210"/>
                </a:lnTo>
                <a:lnTo>
                  <a:pt x="6476" y="21796"/>
                </a:lnTo>
                <a:lnTo>
                  <a:pt x="7416" y="22192"/>
                </a:lnTo>
                <a:lnTo>
                  <a:pt x="8419" y="22381"/>
                </a:lnTo>
                <a:lnTo>
                  <a:pt x="9439" y="22353"/>
                </a:lnTo>
                <a:lnTo>
                  <a:pt x="10429" y="22111"/>
                </a:lnTo>
                <a:lnTo>
                  <a:pt x="11347" y="21664"/>
                </a:lnTo>
                <a:lnTo>
                  <a:pt x="12149" y="21034"/>
                </a:lnTo>
                <a:lnTo>
                  <a:pt x="12800" y="20249"/>
                </a:lnTo>
                <a:lnTo>
                  <a:pt x="13451" y="21034"/>
                </a:lnTo>
                <a:lnTo>
                  <a:pt x="14253" y="21664"/>
                </a:lnTo>
                <a:lnTo>
                  <a:pt x="15171" y="22111"/>
                </a:lnTo>
                <a:lnTo>
                  <a:pt x="16161" y="22353"/>
                </a:lnTo>
                <a:lnTo>
                  <a:pt x="17181" y="22381"/>
                </a:lnTo>
                <a:lnTo>
                  <a:pt x="18184" y="22192"/>
                </a:lnTo>
                <a:lnTo>
                  <a:pt x="19124" y="21796"/>
                </a:lnTo>
                <a:lnTo>
                  <a:pt x="19959" y="21210"/>
                </a:lnTo>
                <a:lnTo>
                  <a:pt x="20651" y="20461"/>
                </a:lnTo>
                <a:lnTo>
                  <a:pt x="21170" y="19582"/>
                </a:lnTo>
                <a:lnTo>
                  <a:pt x="21491" y="18614"/>
                </a:lnTo>
                <a:lnTo>
                  <a:pt x="21600" y="17600"/>
                </a:lnTo>
                <a:lnTo>
                  <a:pt x="21600" y="17459"/>
                </a:lnTo>
                <a:lnTo>
                  <a:pt x="22503" y="16921"/>
                </a:lnTo>
                <a:lnTo>
                  <a:pt x="23289" y="16224"/>
                </a:lnTo>
                <a:lnTo>
                  <a:pt x="23931" y="15392"/>
                </a:lnTo>
                <a:lnTo>
                  <a:pt x="24407" y="14455"/>
                </a:lnTo>
                <a:lnTo>
                  <a:pt x="24700" y="13446"/>
                </a:lnTo>
                <a:lnTo>
                  <a:pt x="24800" y="12400"/>
                </a:lnTo>
                <a:close/>
                <a:moveTo>
                  <a:pt x="8800" y="20800"/>
                </a:moveTo>
                <a:lnTo>
                  <a:pt x="8027" y="20705"/>
                </a:lnTo>
                <a:lnTo>
                  <a:pt x="7301" y="20427"/>
                </a:lnTo>
                <a:lnTo>
                  <a:pt x="6663" y="19981"/>
                </a:lnTo>
                <a:lnTo>
                  <a:pt x="6151" y="19395"/>
                </a:lnTo>
                <a:lnTo>
                  <a:pt x="5796" y="18702"/>
                </a:lnTo>
                <a:lnTo>
                  <a:pt x="5619" y="17944"/>
                </a:lnTo>
                <a:lnTo>
                  <a:pt x="5749" y="17961"/>
                </a:lnTo>
                <a:lnTo>
                  <a:pt x="5878" y="17975"/>
                </a:lnTo>
                <a:lnTo>
                  <a:pt x="6009" y="17986"/>
                </a:lnTo>
                <a:lnTo>
                  <a:pt x="6139" y="17994"/>
                </a:lnTo>
                <a:lnTo>
                  <a:pt x="6269" y="17998"/>
                </a:lnTo>
                <a:lnTo>
                  <a:pt x="6400" y="18000"/>
                </a:lnTo>
                <a:lnTo>
                  <a:pt x="7200" y="18000"/>
                </a:lnTo>
                <a:lnTo>
                  <a:pt x="7366" y="17983"/>
                </a:lnTo>
                <a:lnTo>
                  <a:pt x="7525" y="17931"/>
                </a:lnTo>
                <a:lnTo>
                  <a:pt x="7670" y="17847"/>
                </a:lnTo>
                <a:lnTo>
                  <a:pt x="7795" y="17735"/>
                </a:lnTo>
                <a:lnTo>
                  <a:pt x="7893" y="17600"/>
                </a:lnTo>
                <a:lnTo>
                  <a:pt x="7961" y="17447"/>
                </a:lnTo>
                <a:lnTo>
                  <a:pt x="7996" y="17284"/>
                </a:lnTo>
                <a:lnTo>
                  <a:pt x="7996" y="17116"/>
                </a:lnTo>
                <a:lnTo>
                  <a:pt x="7961" y="16953"/>
                </a:lnTo>
                <a:lnTo>
                  <a:pt x="7893" y="16800"/>
                </a:lnTo>
                <a:lnTo>
                  <a:pt x="7795" y="16665"/>
                </a:lnTo>
                <a:lnTo>
                  <a:pt x="7670" y="16553"/>
                </a:lnTo>
                <a:lnTo>
                  <a:pt x="7525" y="16469"/>
                </a:lnTo>
                <a:lnTo>
                  <a:pt x="7366" y="16417"/>
                </a:lnTo>
                <a:lnTo>
                  <a:pt x="7200" y="16400"/>
                </a:lnTo>
                <a:lnTo>
                  <a:pt x="6400" y="16400"/>
                </a:lnTo>
                <a:lnTo>
                  <a:pt x="5544" y="16308"/>
                </a:lnTo>
                <a:lnTo>
                  <a:pt x="4727" y="16035"/>
                </a:lnTo>
                <a:lnTo>
                  <a:pt x="3987" y="15594"/>
                </a:lnTo>
                <a:lnTo>
                  <a:pt x="3360" y="15005"/>
                </a:lnTo>
                <a:lnTo>
                  <a:pt x="2872" y="14295"/>
                </a:lnTo>
                <a:lnTo>
                  <a:pt x="2549" y="13497"/>
                </a:lnTo>
                <a:lnTo>
                  <a:pt x="2403" y="12648"/>
                </a:lnTo>
                <a:lnTo>
                  <a:pt x="2442" y="11788"/>
                </a:lnTo>
                <a:lnTo>
                  <a:pt x="2665" y="10956"/>
                </a:lnTo>
                <a:lnTo>
                  <a:pt x="3061" y="10191"/>
                </a:lnTo>
                <a:lnTo>
                  <a:pt x="3611" y="9528"/>
                </a:lnTo>
                <a:lnTo>
                  <a:pt x="4290" y="8999"/>
                </a:lnTo>
                <a:lnTo>
                  <a:pt x="5067" y="8627"/>
                </a:lnTo>
                <a:lnTo>
                  <a:pt x="5215" y="8557"/>
                </a:lnTo>
                <a:lnTo>
                  <a:pt x="5346" y="8458"/>
                </a:lnTo>
                <a:lnTo>
                  <a:pt x="5453" y="8335"/>
                </a:lnTo>
                <a:lnTo>
                  <a:pt x="5534" y="8192"/>
                </a:lnTo>
                <a:lnTo>
                  <a:pt x="5583" y="8036"/>
                </a:lnTo>
                <a:lnTo>
                  <a:pt x="5600" y="7873"/>
                </a:lnTo>
                <a:lnTo>
                  <a:pt x="5600" y="7200"/>
                </a:lnTo>
                <a:lnTo>
                  <a:pt x="5670" y="6535"/>
                </a:lnTo>
                <a:lnTo>
                  <a:pt x="5877" y="5898"/>
                </a:lnTo>
                <a:lnTo>
                  <a:pt x="6211" y="5319"/>
                </a:lnTo>
                <a:lnTo>
                  <a:pt x="6659" y="4822"/>
                </a:lnTo>
                <a:lnTo>
                  <a:pt x="7200" y="4429"/>
                </a:lnTo>
                <a:lnTo>
                  <a:pt x="7811" y="4157"/>
                </a:lnTo>
                <a:lnTo>
                  <a:pt x="8466" y="4018"/>
                </a:lnTo>
                <a:lnTo>
                  <a:pt x="9134" y="4018"/>
                </a:lnTo>
                <a:lnTo>
                  <a:pt x="9789" y="4157"/>
                </a:lnTo>
                <a:lnTo>
                  <a:pt x="10400" y="4429"/>
                </a:lnTo>
                <a:lnTo>
                  <a:pt x="10941" y="4822"/>
                </a:lnTo>
                <a:lnTo>
                  <a:pt x="11389" y="5319"/>
                </a:lnTo>
                <a:lnTo>
                  <a:pt x="11723" y="5898"/>
                </a:lnTo>
                <a:lnTo>
                  <a:pt x="11930" y="6535"/>
                </a:lnTo>
                <a:lnTo>
                  <a:pt x="12000" y="7200"/>
                </a:lnTo>
                <a:lnTo>
                  <a:pt x="12000" y="14026"/>
                </a:lnTo>
                <a:lnTo>
                  <a:pt x="11543" y="13663"/>
                </a:lnTo>
                <a:lnTo>
                  <a:pt x="11045" y="13358"/>
                </a:lnTo>
                <a:lnTo>
                  <a:pt x="10514" y="13116"/>
                </a:lnTo>
                <a:lnTo>
                  <a:pt x="9957" y="12941"/>
                </a:lnTo>
                <a:lnTo>
                  <a:pt x="9383" y="12835"/>
                </a:lnTo>
                <a:lnTo>
                  <a:pt x="8800" y="12800"/>
                </a:lnTo>
                <a:lnTo>
                  <a:pt x="8634" y="12817"/>
                </a:lnTo>
                <a:lnTo>
                  <a:pt x="8475" y="12869"/>
                </a:lnTo>
                <a:lnTo>
                  <a:pt x="8330" y="12953"/>
                </a:lnTo>
                <a:lnTo>
                  <a:pt x="8205" y="13065"/>
                </a:lnTo>
                <a:lnTo>
                  <a:pt x="8107" y="13200"/>
                </a:lnTo>
                <a:lnTo>
                  <a:pt x="8039" y="13353"/>
                </a:lnTo>
                <a:lnTo>
                  <a:pt x="8004" y="13516"/>
                </a:lnTo>
                <a:lnTo>
                  <a:pt x="8004" y="13684"/>
                </a:lnTo>
                <a:lnTo>
                  <a:pt x="8039" y="13847"/>
                </a:lnTo>
                <a:lnTo>
                  <a:pt x="8107" y="14000"/>
                </a:lnTo>
                <a:lnTo>
                  <a:pt x="8205" y="14135"/>
                </a:lnTo>
                <a:lnTo>
                  <a:pt x="8330" y="14247"/>
                </a:lnTo>
                <a:lnTo>
                  <a:pt x="8475" y="14331"/>
                </a:lnTo>
                <a:lnTo>
                  <a:pt x="8634" y="14383"/>
                </a:lnTo>
                <a:lnTo>
                  <a:pt x="8800" y="14400"/>
                </a:lnTo>
                <a:lnTo>
                  <a:pt x="9465" y="14470"/>
                </a:lnTo>
                <a:lnTo>
                  <a:pt x="10102" y="14677"/>
                </a:lnTo>
                <a:lnTo>
                  <a:pt x="10681" y="15011"/>
                </a:lnTo>
                <a:lnTo>
                  <a:pt x="11178" y="15459"/>
                </a:lnTo>
                <a:lnTo>
                  <a:pt x="11571" y="16000"/>
                </a:lnTo>
                <a:lnTo>
                  <a:pt x="11843" y="16611"/>
                </a:lnTo>
                <a:lnTo>
                  <a:pt x="11982" y="17266"/>
                </a:lnTo>
                <a:lnTo>
                  <a:pt x="11982" y="17934"/>
                </a:lnTo>
                <a:lnTo>
                  <a:pt x="11843" y="18589"/>
                </a:lnTo>
                <a:lnTo>
                  <a:pt x="11571" y="19200"/>
                </a:lnTo>
                <a:lnTo>
                  <a:pt x="11178" y="19741"/>
                </a:lnTo>
                <a:lnTo>
                  <a:pt x="10681" y="20189"/>
                </a:lnTo>
                <a:lnTo>
                  <a:pt x="10102" y="20523"/>
                </a:lnTo>
                <a:lnTo>
                  <a:pt x="9465" y="20730"/>
                </a:lnTo>
                <a:lnTo>
                  <a:pt x="8800" y="20800"/>
                </a:lnTo>
                <a:close/>
                <a:moveTo>
                  <a:pt x="19200" y="16400"/>
                </a:moveTo>
                <a:lnTo>
                  <a:pt x="18400" y="16400"/>
                </a:lnTo>
                <a:lnTo>
                  <a:pt x="18234" y="16417"/>
                </a:lnTo>
                <a:lnTo>
                  <a:pt x="18075" y="16469"/>
                </a:lnTo>
                <a:lnTo>
                  <a:pt x="17930" y="16553"/>
                </a:lnTo>
                <a:lnTo>
                  <a:pt x="17805" y="16665"/>
                </a:lnTo>
                <a:lnTo>
                  <a:pt x="17707" y="16800"/>
                </a:lnTo>
                <a:lnTo>
                  <a:pt x="17639" y="16953"/>
                </a:lnTo>
                <a:lnTo>
                  <a:pt x="17604" y="17116"/>
                </a:lnTo>
                <a:lnTo>
                  <a:pt x="17604" y="17284"/>
                </a:lnTo>
                <a:lnTo>
                  <a:pt x="17639" y="17447"/>
                </a:lnTo>
                <a:lnTo>
                  <a:pt x="17707" y="17600"/>
                </a:lnTo>
                <a:lnTo>
                  <a:pt x="17805" y="17735"/>
                </a:lnTo>
                <a:lnTo>
                  <a:pt x="17930" y="17847"/>
                </a:lnTo>
                <a:lnTo>
                  <a:pt x="18075" y="17931"/>
                </a:lnTo>
                <a:lnTo>
                  <a:pt x="18234" y="17983"/>
                </a:lnTo>
                <a:lnTo>
                  <a:pt x="18400" y="18000"/>
                </a:lnTo>
                <a:lnTo>
                  <a:pt x="19200" y="18000"/>
                </a:lnTo>
                <a:lnTo>
                  <a:pt x="19331" y="17998"/>
                </a:lnTo>
                <a:lnTo>
                  <a:pt x="19461" y="17994"/>
                </a:lnTo>
                <a:lnTo>
                  <a:pt x="19591" y="17986"/>
                </a:lnTo>
                <a:lnTo>
                  <a:pt x="19722" y="17975"/>
                </a:lnTo>
                <a:lnTo>
                  <a:pt x="19851" y="17961"/>
                </a:lnTo>
                <a:lnTo>
                  <a:pt x="19981" y="17944"/>
                </a:lnTo>
                <a:lnTo>
                  <a:pt x="19830" y="18628"/>
                </a:lnTo>
                <a:lnTo>
                  <a:pt x="19534" y="19262"/>
                </a:lnTo>
                <a:lnTo>
                  <a:pt x="19107" y="19817"/>
                </a:lnTo>
                <a:lnTo>
                  <a:pt x="18569" y="20266"/>
                </a:lnTo>
                <a:lnTo>
                  <a:pt x="17947" y="20587"/>
                </a:lnTo>
                <a:lnTo>
                  <a:pt x="17270" y="20765"/>
                </a:lnTo>
                <a:lnTo>
                  <a:pt x="16570" y="20792"/>
                </a:lnTo>
                <a:lnTo>
                  <a:pt x="15881" y="20665"/>
                </a:lnTo>
                <a:lnTo>
                  <a:pt x="15236" y="20392"/>
                </a:lnTo>
                <a:lnTo>
                  <a:pt x="14666" y="19985"/>
                </a:lnTo>
                <a:lnTo>
                  <a:pt x="14199" y="19464"/>
                </a:lnTo>
                <a:lnTo>
                  <a:pt x="13855" y="18854"/>
                </a:lnTo>
                <a:lnTo>
                  <a:pt x="13653" y="18183"/>
                </a:lnTo>
                <a:lnTo>
                  <a:pt x="13602" y="17485"/>
                </a:lnTo>
                <a:lnTo>
                  <a:pt x="13703" y="16792"/>
                </a:lnTo>
                <a:lnTo>
                  <a:pt x="13953" y="16138"/>
                </a:lnTo>
                <a:lnTo>
                  <a:pt x="14339" y="15554"/>
                </a:lnTo>
                <a:lnTo>
                  <a:pt x="14843" y="15067"/>
                </a:lnTo>
                <a:lnTo>
                  <a:pt x="15441" y="14703"/>
                </a:lnTo>
                <a:lnTo>
                  <a:pt x="16104" y="14477"/>
                </a:lnTo>
                <a:lnTo>
                  <a:pt x="16800" y="14400"/>
                </a:lnTo>
                <a:lnTo>
                  <a:pt x="16966" y="14383"/>
                </a:lnTo>
                <a:lnTo>
                  <a:pt x="17125" y="14331"/>
                </a:lnTo>
                <a:lnTo>
                  <a:pt x="17270" y="14247"/>
                </a:lnTo>
                <a:lnTo>
                  <a:pt x="17395" y="14135"/>
                </a:lnTo>
                <a:lnTo>
                  <a:pt x="17493" y="14000"/>
                </a:lnTo>
                <a:lnTo>
                  <a:pt x="17561" y="13847"/>
                </a:lnTo>
                <a:lnTo>
                  <a:pt x="17596" y="13684"/>
                </a:lnTo>
                <a:lnTo>
                  <a:pt x="17596" y="13516"/>
                </a:lnTo>
                <a:lnTo>
                  <a:pt x="17561" y="13353"/>
                </a:lnTo>
                <a:lnTo>
                  <a:pt x="17493" y="13200"/>
                </a:lnTo>
                <a:lnTo>
                  <a:pt x="17395" y="13065"/>
                </a:lnTo>
                <a:lnTo>
                  <a:pt x="17270" y="12953"/>
                </a:lnTo>
                <a:lnTo>
                  <a:pt x="17125" y="12869"/>
                </a:lnTo>
                <a:lnTo>
                  <a:pt x="16966" y="12817"/>
                </a:lnTo>
                <a:lnTo>
                  <a:pt x="16800" y="12800"/>
                </a:lnTo>
                <a:lnTo>
                  <a:pt x="16217" y="12835"/>
                </a:lnTo>
                <a:lnTo>
                  <a:pt x="15643" y="12941"/>
                </a:lnTo>
                <a:lnTo>
                  <a:pt x="15086" y="13116"/>
                </a:lnTo>
                <a:lnTo>
                  <a:pt x="14555" y="13358"/>
                </a:lnTo>
                <a:lnTo>
                  <a:pt x="14057" y="13663"/>
                </a:lnTo>
                <a:lnTo>
                  <a:pt x="13600" y="14026"/>
                </a:lnTo>
                <a:lnTo>
                  <a:pt x="13600" y="7200"/>
                </a:lnTo>
                <a:lnTo>
                  <a:pt x="13670" y="6535"/>
                </a:lnTo>
                <a:lnTo>
                  <a:pt x="13877" y="5898"/>
                </a:lnTo>
                <a:lnTo>
                  <a:pt x="14211" y="5319"/>
                </a:lnTo>
                <a:lnTo>
                  <a:pt x="14659" y="4822"/>
                </a:lnTo>
                <a:lnTo>
                  <a:pt x="15200" y="4429"/>
                </a:lnTo>
                <a:lnTo>
                  <a:pt x="15811" y="4157"/>
                </a:lnTo>
                <a:lnTo>
                  <a:pt x="16466" y="4018"/>
                </a:lnTo>
                <a:lnTo>
                  <a:pt x="17134" y="4018"/>
                </a:lnTo>
                <a:lnTo>
                  <a:pt x="17789" y="4157"/>
                </a:lnTo>
                <a:lnTo>
                  <a:pt x="18400" y="4429"/>
                </a:lnTo>
                <a:lnTo>
                  <a:pt x="18941" y="4822"/>
                </a:lnTo>
                <a:lnTo>
                  <a:pt x="19389" y="5319"/>
                </a:lnTo>
                <a:lnTo>
                  <a:pt x="19723" y="5898"/>
                </a:lnTo>
                <a:lnTo>
                  <a:pt x="19930" y="6535"/>
                </a:lnTo>
                <a:lnTo>
                  <a:pt x="20000" y="7200"/>
                </a:lnTo>
                <a:lnTo>
                  <a:pt x="20000" y="7873"/>
                </a:lnTo>
                <a:lnTo>
                  <a:pt x="20017" y="8036"/>
                </a:lnTo>
                <a:lnTo>
                  <a:pt x="20066" y="8192"/>
                </a:lnTo>
                <a:lnTo>
                  <a:pt x="20147" y="8335"/>
                </a:lnTo>
                <a:lnTo>
                  <a:pt x="20254" y="8458"/>
                </a:lnTo>
                <a:lnTo>
                  <a:pt x="20385" y="8557"/>
                </a:lnTo>
                <a:lnTo>
                  <a:pt x="20533" y="8627"/>
                </a:lnTo>
                <a:lnTo>
                  <a:pt x="21310" y="8999"/>
                </a:lnTo>
                <a:lnTo>
                  <a:pt x="21989" y="9528"/>
                </a:lnTo>
                <a:lnTo>
                  <a:pt x="22539" y="10191"/>
                </a:lnTo>
                <a:lnTo>
                  <a:pt x="22935" y="10956"/>
                </a:lnTo>
                <a:lnTo>
                  <a:pt x="23158" y="11788"/>
                </a:lnTo>
                <a:lnTo>
                  <a:pt x="23197" y="12648"/>
                </a:lnTo>
                <a:lnTo>
                  <a:pt x="23051" y="13497"/>
                </a:lnTo>
                <a:lnTo>
                  <a:pt x="22728" y="14295"/>
                </a:lnTo>
                <a:lnTo>
                  <a:pt x="22240" y="15005"/>
                </a:lnTo>
                <a:lnTo>
                  <a:pt x="21613" y="15594"/>
                </a:lnTo>
                <a:lnTo>
                  <a:pt x="20873" y="16035"/>
                </a:lnTo>
                <a:lnTo>
                  <a:pt x="20056" y="16308"/>
                </a:lnTo>
                <a:lnTo>
                  <a:pt x="19200" y="16400"/>
                </a:lnTo>
                <a:close/>
                <a:moveTo>
                  <a:pt x="20800" y="11200"/>
                </a:moveTo>
                <a:lnTo>
                  <a:pt x="20780" y="11378"/>
                </a:lnTo>
                <a:lnTo>
                  <a:pt x="20721" y="11547"/>
                </a:lnTo>
                <a:lnTo>
                  <a:pt x="20625" y="11699"/>
                </a:lnTo>
                <a:lnTo>
                  <a:pt x="20499" y="11825"/>
                </a:lnTo>
                <a:lnTo>
                  <a:pt x="20347" y="11921"/>
                </a:lnTo>
                <a:lnTo>
                  <a:pt x="20178" y="11980"/>
                </a:lnTo>
                <a:lnTo>
                  <a:pt x="20000" y="12000"/>
                </a:lnTo>
                <a:lnTo>
                  <a:pt x="19600" y="12000"/>
                </a:lnTo>
                <a:lnTo>
                  <a:pt x="18799" y="11910"/>
                </a:lnTo>
                <a:lnTo>
                  <a:pt x="18038" y="11643"/>
                </a:lnTo>
                <a:lnTo>
                  <a:pt x="17355" y="11215"/>
                </a:lnTo>
                <a:lnTo>
                  <a:pt x="16785" y="10645"/>
                </a:lnTo>
                <a:lnTo>
                  <a:pt x="16357" y="9962"/>
                </a:lnTo>
                <a:lnTo>
                  <a:pt x="16090" y="9201"/>
                </a:lnTo>
                <a:lnTo>
                  <a:pt x="16000" y="8400"/>
                </a:lnTo>
                <a:lnTo>
                  <a:pt x="16000" y="8000"/>
                </a:lnTo>
                <a:lnTo>
                  <a:pt x="16017" y="7834"/>
                </a:lnTo>
                <a:lnTo>
                  <a:pt x="16069" y="7675"/>
                </a:lnTo>
                <a:lnTo>
                  <a:pt x="16153" y="7530"/>
                </a:lnTo>
                <a:lnTo>
                  <a:pt x="16265" y="7405"/>
                </a:lnTo>
                <a:lnTo>
                  <a:pt x="16400" y="7307"/>
                </a:lnTo>
                <a:lnTo>
                  <a:pt x="16553" y="7239"/>
                </a:lnTo>
                <a:lnTo>
                  <a:pt x="16716" y="7204"/>
                </a:lnTo>
                <a:lnTo>
                  <a:pt x="16884" y="7204"/>
                </a:lnTo>
                <a:lnTo>
                  <a:pt x="17047" y="7239"/>
                </a:lnTo>
                <a:lnTo>
                  <a:pt x="17200" y="7307"/>
                </a:lnTo>
                <a:lnTo>
                  <a:pt x="17335" y="7405"/>
                </a:lnTo>
                <a:lnTo>
                  <a:pt x="17447" y="7530"/>
                </a:lnTo>
                <a:lnTo>
                  <a:pt x="17531" y="7675"/>
                </a:lnTo>
                <a:lnTo>
                  <a:pt x="17583" y="7834"/>
                </a:lnTo>
                <a:lnTo>
                  <a:pt x="17600" y="8000"/>
                </a:lnTo>
                <a:lnTo>
                  <a:pt x="17600" y="8400"/>
                </a:lnTo>
                <a:lnTo>
                  <a:pt x="17650" y="8845"/>
                </a:lnTo>
                <a:lnTo>
                  <a:pt x="17798" y="9268"/>
                </a:lnTo>
                <a:lnTo>
                  <a:pt x="18036" y="9647"/>
                </a:lnTo>
                <a:lnTo>
                  <a:pt x="18353" y="9964"/>
                </a:lnTo>
                <a:lnTo>
                  <a:pt x="18732" y="10202"/>
                </a:lnTo>
                <a:lnTo>
                  <a:pt x="19155" y="10350"/>
                </a:lnTo>
                <a:lnTo>
                  <a:pt x="19600" y="10400"/>
                </a:lnTo>
                <a:lnTo>
                  <a:pt x="20000" y="10400"/>
                </a:lnTo>
                <a:lnTo>
                  <a:pt x="20178" y="10420"/>
                </a:lnTo>
                <a:lnTo>
                  <a:pt x="20347" y="10479"/>
                </a:lnTo>
                <a:lnTo>
                  <a:pt x="20499" y="10575"/>
                </a:lnTo>
                <a:lnTo>
                  <a:pt x="20625" y="10701"/>
                </a:lnTo>
                <a:lnTo>
                  <a:pt x="20721" y="10853"/>
                </a:lnTo>
                <a:lnTo>
                  <a:pt x="20780" y="11022"/>
                </a:lnTo>
                <a:lnTo>
                  <a:pt x="20800" y="11200"/>
                </a:lnTo>
                <a:close/>
                <a:moveTo>
                  <a:pt x="6000" y="12000"/>
                </a:moveTo>
                <a:lnTo>
                  <a:pt x="5600" y="12000"/>
                </a:lnTo>
                <a:lnTo>
                  <a:pt x="5434" y="11983"/>
                </a:lnTo>
                <a:lnTo>
                  <a:pt x="5275" y="11931"/>
                </a:lnTo>
                <a:lnTo>
                  <a:pt x="5130" y="11847"/>
                </a:lnTo>
                <a:lnTo>
                  <a:pt x="5005" y="11735"/>
                </a:lnTo>
                <a:lnTo>
                  <a:pt x="4907" y="11600"/>
                </a:lnTo>
                <a:lnTo>
                  <a:pt x="4839" y="11447"/>
                </a:lnTo>
                <a:lnTo>
                  <a:pt x="4804" y="11284"/>
                </a:lnTo>
                <a:lnTo>
                  <a:pt x="4804" y="11116"/>
                </a:lnTo>
                <a:lnTo>
                  <a:pt x="4839" y="10953"/>
                </a:lnTo>
                <a:lnTo>
                  <a:pt x="4907" y="10800"/>
                </a:lnTo>
                <a:lnTo>
                  <a:pt x="5005" y="10665"/>
                </a:lnTo>
                <a:lnTo>
                  <a:pt x="5130" y="10553"/>
                </a:lnTo>
                <a:lnTo>
                  <a:pt x="5275" y="10469"/>
                </a:lnTo>
                <a:lnTo>
                  <a:pt x="5434" y="10417"/>
                </a:lnTo>
                <a:lnTo>
                  <a:pt x="5600" y="10400"/>
                </a:lnTo>
                <a:lnTo>
                  <a:pt x="6000" y="10400"/>
                </a:lnTo>
                <a:lnTo>
                  <a:pt x="6445" y="10350"/>
                </a:lnTo>
                <a:lnTo>
                  <a:pt x="6868" y="10202"/>
                </a:lnTo>
                <a:lnTo>
                  <a:pt x="7247" y="9964"/>
                </a:lnTo>
                <a:lnTo>
                  <a:pt x="7564" y="9647"/>
                </a:lnTo>
                <a:lnTo>
                  <a:pt x="7802" y="9268"/>
                </a:lnTo>
                <a:lnTo>
                  <a:pt x="7950" y="8845"/>
                </a:lnTo>
                <a:lnTo>
                  <a:pt x="8000" y="8400"/>
                </a:lnTo>
                <a:lnTo>
                  <a:pt x="8000" y="8000"/>
                </a:lnTo>
                <a:lnTo>
                  <a:pt x="8017" y="7834"/>
                </a:lnTo>
                <a:lnTo>
                  <a:pt x="8069" y="7675"/>
                </a:lnTo>
                <a:lnTo>
                  <a:pt x="8153" y="7530"/>
                </a:lnTo>
                <a:lnTo>
                  <a:pt x="8265" y="7405"/>
                </a:lnTo>
                <a:lnTo>
                  <a:pt x="8400" y="7307"/>
                </a:lnTo>
                <a:lnTo>
                  <a:pt x="8553" y="7239"/>
                </a:lnTo>
                <a:lnTo>
                  <a:pt x="8716" y="7204"/>
                </a:lnTo>
                <a:lnTo>
                  <a:pt x="8884" y="7204"/>
                </a:lnTo>
                <a:lnTo>
                  <a:pt x="9047" y="7239"/>
                </a:lnTo>
                <a:lnTo>
                  <a:pt x="9200" y="7307"/>
                </a:lnTo>
                <a:lnTo>
                  <a:pt x="9335" y="7405"/>
                </a:lnTo>
                <a:lnTo>
                  <a:pt x="9447" y="7530"/>
                </a:lnTo>
                <a:lnTo>
                  <a:pt x="9531" y="7675"/>
                </a:lnTo>
                <a:lnTo>
                  <a:pt x="9583" y="7834"/>
                </a:lnTo>
                <a:lnTo>
                  <a:pt x="9600" y="8000"/>
                </a:lnTo>
                <a:lnTo>
                  <a:pt x="9600" y="8400"/>
                </a:lnTo>
                <a:lnTo>
                  <a:pt x="9510" y="9201"/>
                </a:lnTo>
                <a:lnTo>
                  <a:pt x="9243" y="9962"/>
                </a:lnTo>
                <a:lnTo>
                  <a:pt x="8815" y="10645"/>
                </a:lnTo>
                <a:lnTo>
                  <a:pt x="8245" y="11215"/>
                </a:lnTo>
                <a:lnTo>
                  <a:pt x="7562" y="11643"/>
                </a:lnTo>
                <a:lnTo>
                  <a:pt x="6801" y="11910"/>
                </a:lnTo>
                <a:lnTo>
                  <a:pt x="6000" y="12000"/>
                </a:lnTo>
                <a:close/>
              </a:path>
            </a:pathLst>
          </a:custGeom>
          <a:solidFill>
            <a:srgbClr val="024791"/>
          </a:solidFill>
          <a:ln>
            <a:noFill/>
          </a:ln>
        </p:spPr>
        <p:txBody>
          <a:bodyPr rtlCol="0" anchor="ctr"/>
          <a:lstStyle/>
          <a:p>
            <a:pPr algn="ctr"/>
          </a:p>
        </p:txBody>
      </p:sp>
      <p:sp>
        <p:nvSpPr>
          <p:cNvPr id="84" name="TextBox 83"/>
          <p:cNvSpPr txBox="1"/>
          <p:nvPr/>
        </p:nvSpPr>
        <p:spPr>
          <a:xfrm>
            <a:off x="3457191" y="4722111"/>
            <a:ext cx="2560000" cy="300000"/>
          </a:xfrm>
          <a:prstGeom prst="rect">
            <a:avLst/>
          </a:prstGeom>
          <a:noFill/>
        </p:spPr>
        <p:txBody>
          <a:bodyPr wrap="square" lIns="0" rIns="0" tIns="0" bIns="0" anchor="ctr">
            <a:spAutoFit/>
          </a:bodyPr>
          <a:lstStyle/>
          <a:p>
            <a:pPr algn="l">
              <a:lnSpc>
                <a:spcPct val="100000"/>
              </a:lnSpc>
              <a:spcAft>
                <a:spcPts val="0"/>
              </a:spcAft>
            </a:pPr>
            <a:r>
              <a:rPr sz="950" b="1" i="0">
                <a:solidFill>
                  <a:srgbClr val="024791"/>
                </a:solidFill>
                <a:latin typeface="Arial"/>
              </a:rPr>
              <a:t>¿Qué comprende?</a:t>
            </a:r>
          </a:p>
        </p:txBody>
      </p:sp>
      <p:sp>
        <p:nvSpPr>
          <p:cNvPr id="85" name="Rounded Rectangle 84"/>
          <p:cNvSpPr/>
          <p:nvPr/>
        </p:nvSpPr>
        <p:spPr>
          <a:xfrm>
            <a:off x="3077191" y="5072111"/>
            <a:ext cx="3020000" cy="300000"/>
          </a:xfrm>
          <a:prstGeom prst="roundRect">
            <a:avLst>
              <a:gd name="adj" fmla="val 23333"/>
            </a:avLst>
          </a:prstGeom>
          <a:solidFill>
            <a:srgbClr val="FFFFFF"/>
          </a:solidFill>
          <a:ln>
            <a:noFill/>
          </a:ln>
        </p:spPr>
        <p:txBody>
          <a:bodyPr rtlCol="0" anchor="ctr"/>
          <a:lstStyle/>
          <a:p>
            <a:pPr algn="ctr"/>
          </a:p>
        </p:txBody>
      </p:sp>
      <p:sp>
        <p:nvSpPr>
          <p:cNvPr id="86" name="icono hand-pointing"/>
          <p:cNvSpPr/>
          <p:nvPr/>
        </p:nvSpPr>
        <p:spPr>
          <a:xfrm>
            <a:off x="3157191" y="5117111"/>
            <a:ext cx="210000" cy="210000"/>
          </a:xfrm>
          <a:custGeom>
            <a:avLst/>
            <a:gdLst/>
            <a:ahLst/>
            <a:cxnLst/>
            <a:rect l="0" t="0" r="r" b="b"/>
            <a:pathLst>
              <a:path w="25600" h="25600">
                <a:moveTo>
                  <a:pt x="19600" y="8800"/>
                </a:moveTo>
                <a:lnTo>
                  <a:pt x="19368" y="8809"/>
                </a:lnTo>
                <a:lnTo>
                  <a:pt x="19138" y="8838"/>
                </a:lnTo>
                <a:lnTo>
                  <a:pt x="18911" y="8886"/>
                </a:lnTo>
                <a:lnTo>
                  <a:pt x="18689" y="8952"/>
                </a:lnTo>
                <a:lnTo>
                  <a:pt x="18473" y="9037"/>
                </a:lnTo>
                <a:lnTo>
                  <a:pt x="18265" y="9139"/>
                </a:lnTo>
                <a:lnTo>
                  <a:pt x="18023" y="8596"/>
                </a:lnTo>
                <a:lnTo>
                  <a:pt x="17672" y="8116"/>
                </a:lnTo>
                <a:lnTo>
                  <a:pt x="17228" y="7721"/>
                </a:lnTo>
                <a:lnTo>
                  <a:pt x="16711" y="7429"/>
                </a:lnTo>
                <a:lnTo>
                  <a:pt x="16143" y="7253"/>
                </a:lnTo>
                <a:lnTo>
                  <a:pt x="15551" y="7200"/>
                </a:lnTo>
                <a:lnTo>
                  <a:pt x="14961" y="7274"/>
                </a:lnTo>
                <a:lnTo>
                  <a:pt x="14400" y="7470"/>
                </a:lnTo>
                <a:lnTo>
                  <a:pt x="14400" y="4400"/>
                </a:lnTo>
                <a:lnTo>
                  <a:pt x="14339" y="3818"/>
                </a:lnTo>
                <a:lnTo>
                  <a:pt x="14158" y="3261"/>
                </a:lnTo>
                <a:lnTo>
                  <a:pt x="13865" y="2754"/>
                </a:lnTo>
                <a:lnTo>
                  <a:pt x="13474" y="2319"/>
                </a:lnTo>
                <a:lnTo>
                  <a:pt x="13000" y="1975"/>
                </a:lnTo>
                <a:lnTo>
                  <a:pt x="12465" y="1737"/>
                </a:lnTo>
                <a:lnTo>
                  <a:pt x="11893" y="1615"/>
                </a:lnTo>
                <a:lnTo>
                  <a:pt x="11307" y="1615"/>
                </a:lnTo>
                <a:lnTo>
                  <a:pt x="10735" y="1737"/>
                </a:lnTo>
                <a:lnTo>
                  <a:pt x="10200" y="1975"/>
                </a:lnTo>
                <a:lnTo>
                  <a:pt x="9726" y="2319"/>
                </a:lnTo>
                <a:lnTo>
                  <a:pt x="9335" y="2754"/>
                </a:lnTo>
                <a:lnTo>
                  <a:pt x="9042" y="3261"/>
                </a:lnTo>
                <a:lnTo>
                  <a:pt x="8861" y="3818"/>
                </a:lnTo>
                <a:lnTo>
                  <a:pt x="8800" y="4400"/>
                </a:lnTo>
                <a:lnTo>
                  <a:pt x="8800" y="12400"/>
                </a:lnTo>
                <a:lnTo>
                  <a:pt x="8418" y="11787"/>
                </a:lnTo>
                <a:lnTo>
                  <a:pt x="8073" y="11314"/>
                </a:lnTo>
                <a:lnTo>
                  <a:pt x="7636" y="10923"/>
                </a:lnTo>
                <a:lnTo>
                  <a:pt x="7129" y="10632"/>
                </a:lnTo>
                <a:lnTo>
                  <a:pt x="6571" y="10452"/>
                </a:lnTo>
                <a:lnTo>
                  <a:pt x="5989" y="10392"/>
                </a:lnTo>
                <a:lnTo>
                  <a:pt x="5406" y="10455"/>
                </a:lnTo>
                <a:lnTo>
                  <a:pt x="4850" y="10637"/>
                </a:lnTo>
                <a:lnTo>
                  <a:pt x="4343" y="10931"/>
                </a:lnTo>
                <a:lnTo>
                  <a:pt x="3909" y="11324"/>
                </a:lnTo>
                <a:lnTo>
                  <a:pt x="3566" y="11799"/>
                </a:lnTo>
                <a:lnTo>
                  <a:pt x="3329" y="12334"/>
                </a:lnTo>
                <a:lnTo>
                  <a:pt x="3209" y="12907"/>
                </a:lnTo>
                <a:lnTo>
                  <a:pt x="3210" y="13493"/>
                </a:lnTo>
                <a:lnTo>
                  <a:pt x="3334" y="14066"/>
                </a:lnTo>
                <a:lnTo>
                  <a:pt x="3573" y="14600"/>
                </a:lnTo>
                <a:lnTo>
                  <a:pt x="4040" y="15423"/>
                </a:lnTo>
                <a:cubicBezTo>
                  <a:pt x="7481" y="21489"/>
                  <a:pt x="8905" y="24000"/>
                  <a:pt x="13600" y="24000"/>
                </a:cubicBezTo>
                <a:lnTo>
                  <a:pt x="15557" y="23778"/>
                </a:lnTo>
                <a:lnTo>
                  <a:pt x="17416" y="23126"/>
                </a:lnTo>
                <a:lnTo>
                  <a:pt x="19084" y="22077"/>
                </a:lnTo>
                <a:lnTo>
                  <a:pt x="20477" y="20684"/>
                </a:lnTo>
                <a:lnTo>
                  <a:pt x="21526" y="19016"/>
                </a:lnTo>
                <a:lnTo>
                  <a:pt x="22178" y="17157"/>
                </a:lnTo>
                <a:lnTo>
                  <a:pt x="22400" y="15200"/>
                </a:lnTo>
                <a:lnTo>
                  <a:pt x="22400" y="11600"/>
                </a:lnTo>
                <a:lnTo>
                  <a:pt x="22330" y="10977"/>
                </a:lnTo>
                <a:lnTo>
                  <a:pt x="22123" y="10385"/>
                </a:lnTo>
                <a:lnTo>
                  <a:pt x="21789" y="9854"/>
                </a:lnTo>
                <a:lnTo>
                  <a:pt x="21346" y="9411"/>
                </a:lnTo>
                <a:lnTo>
                  <a:pt x="20815" y="9077"/>
                </a:lnTo>
                <a:lnTo>
                  <a:pt x="20223" y="8870"/>
                </a:lnTo>
                <a:lnTo>
                  <a:pt x="19600" y="8800"/>
                </a:lnTo>
                <a:close/>
                <a:moveTo>
                  <a:pt x="20800" y="15200"/>
                </a:moveTo>
                <a:lnTo>
                  <a:pt x="20618" y="16802"/>
                </a:lnTo>
                <a:lnTo>
                  <a:pt x="20085" y="18323"/>
                </a:lnTo>
                <a:lnTo>
                  <a:pt x="19227" y="19687"/>
                </a:lnTo>
                <a:lnTo>
                  <a:pt x="18087" y="20827"/>
                </a:lnTo>
                <a:lnTo>
                  <a:pt x="16723" y="21685"/>
                </a:lnTo>
                <a:lnTo>
                  <a:pt x="15202" y="22218"/>
                </a:lnTo>
                <a:lnTo>
                  <a:pt x="13600" y="22400"/>
                </a:lnTo>
                <a:cubicBezTo>
                  <a:pt x="9837" y="22400"/>
                  <a:pt x="8816" y="20600"/>
                  <a:pt x="5432" y="14632"/>
                </a:cubicBezTo>
                <a:lnTo>
                  <a:pt x="4963" y="13805"/>
                </a:lnTo>
                <a:lnTo>
                  <a:pt x="4963" y="13800"/>
                </a:lnTo>
                <a:lnTo>
                  <a:pt x="4855" y="13554"/>
                </a:lnTo>
                <a:lnTo>
                  <a:pt x="4805" y="13290"/>
                </a:lnTo>
                <a:lnTo>
                  <a:pt x="4815" y="13022"/>
                </a:lnTo>
                <a:lnTo>
                  <a:pt x="4884" y="12762"/>
                </a:lnTo>
                <a:lnTo>
                  <a:pt x="5009" y="12525"/>
                </a:lnTo>
                <a:lnTo>
                  <a:pt x="5184" y="12321"/>
                </a:lnTo>
                <a:lnTo>
                  <a:pt x="5400" y="12161"/>
                </a:lnTo>
                <a:lnTo>
                  <a:pt x="5493" y="12113"/>
                </a:lnTo>
                <a:lnTo>
                  <a:pt x="5590" y="12073"/>
                </a:lnTo>
                <a:lnTo>
                  <a:pt x="5689" y="12041"/>
                </a:lnTo>
                <a:lnTo>
                  <a:pt x="5792" y="12019"/>
                </a:lnTo>
                <a:lnTo>
                  <a:pt x="5895" y="12005"/>
                </a:lnTo>
                <a:lnTo>
                  <a:pt x="6000" y="12001"/>
                </a:lnTo>
                <a:lnTo>
                  <a:pt x="6209" y="12019"/>
                </a:lnTo>
                <a:lnTo>
                  <a:pt x="6411" y="12073"/>
                </a:lnTo>
                <a:lnTo>
                  <a:pt x="6601" y="12161"/>
                </a:lnTo>
                <a:lnTo>
                  <a:pt x="6773" y="12281"/>
                </a:lnTo>
                <a:lnTo>
                  <a:pt x="6921" y="12429"/>
                </a:lnTo>
                <a:lnTo>
                  <a:pt x="7041" y="12601"/>
                </a:lnTo>
                <a:lnTo>
                  <a:pt x="7043" y="12605"/>
                </a:lnTo>
                <a:lnTo>
                  <a:pt x="7045" y="12609"/>
                </a:lnTo>
                <a:lnTo>
                  <a:pt x="7048" y="12613"/>
                </a:lnTo>
                <a:lnTo>
                  <a:pt x="7050" y="12617"/>
                </a:lnTo>
                <a:lnTo>
                  <a:pt x="7052" y="12620"/>
                </a:lnTo>
                <a:lnTo>
                  <a:pt x="7055" y="12624"/>
                </a:lnTo>
                <a:lnTo>
                  <a:pt x="8922" y="15624"/>
                </a:lnTo>
                <a:lnTo>
                  <a:pt x="9028" y="15759"/>
                </a:lnTo>
                <a:lnTo>
                  <a:pt x="9161" y="15868"/>
                </a:lnTo>
                <a:lnTo>
                  <a:pt x="9314" y="15946"/>
                </a:lnTo>
                <a:lnTo>
                  <a:pt x="9480" y="15990"/>
                </a:lnTo>
                <a:lnTo>
                  <a:pt x="9651" y="15998"/>
                </a:lnTo>
                <a:lnTo>
                  <a:pt x="9821" y="15968"/>
                </a:lnTo>
                <a:lnTo>
                  <a:pt x="9980" y="15904"/>
                </a:lnTo>
                <a:lnTo>
                  <a:pt x="10121" y="15806"/>
                </a:lnTo>
                <a:lnTo>
                  <a:pt x="10239" y="15681"/>
                </a:lnTo>
                <a:lnTo>
                  <a:pt x="10327" y="15534"/>
                </a:lnTo>
                <a:lnTo>
                  <a:pt x="10381" y="15371"/>
                </a:lnTo>
                <a:lnTo>
                  <a:pt x="10400" y="15200"/>
                </a:lnTo>
                <a:lnTo>
                  <a:pt x="10400" y="4400"/>
                </a:lnTo>
                <a:lnTo>
                  <a:pt x="10426" y="4151"/>
                </a:lnTo>
                <a:lnTo>
                  <a:pt x="10504" y="3912"/>
                </a:lnTo>
                <a:lnTo>
                  <a:pt x="10629" y="3695"/>
                </a:lnTo>
                <a:lnTo>
                  <a:pt x="10797" y="3508"/>
                </a:lnTo>
                <a:lnTo>
                  <a:pt x="11000" y="3361"/>
                </a:lnTo>
                <a:lnTo>
                  <a:pt x="11229" y="3259"/>
                </a:lnTo>
                <a:lnTo>
                  <a:pt x="11475" y="3207"/>
                </a:lnTo>
                <a:lnTo>
                  <a:pt x="11725" y="3207"/>
                </a:lnTo>
                <a:lnTo>
                  <a:pt x="11971" y="3259"/>
                </a:lnTo>
                <a:lnTo>
                  <a:pt x="12200" y="3361"/>
                </a:lnTo>
                <a:lnTo>
                  <a:pt x="12403" y="3508"/>
                </a:lnTo>
                <a:lnTo>
                  <a:pt x="12571" y="3695"/>
                </a:lnTo>
                <a:lnTo>
                  <a:pt x="12696" y="3912"/>
                </a:lnTo>
                <a:lnTo>
                  <a:pt x="12774" y="4151"/>
                </a:lnTo>
                <a:lnTo>
                  <a:pt x="12800" y="4400"/>
                </a:lnTo>
                <a:lnTo>
                  <a:pt x="12800" y="11200"/>
                </a:lnTo>
                <a:lnTo>
                  <a:pt x="12817" y="11366"/>
                </a:lnTo>
                <a:lnTo>
                  <a:pt x="12869" y="11525"/>
                </a:lnTo>
                <a:lnTo>
                  <a:pt x="12953" y="11670"/>
                </a:lnTo>
                <a:lnTo>
                  <a:pt x="13065" y="11795"/>
                </a:lnTo>
                <a:lnTo>
                  <a:pt x="13200" y="11893"/>
                </a:lnTo>
                <a:lnTo>
                  <a:pt x="13353" y="11961"/>
                </a:lnTo>
                <a:lnTo>
                  <a:pt x="13516" y="11996"/>
                </a:lnTo>
                <a:lnTo>
                  <a:pt x="13684" y="11996"/>
                </a:lnTo>
                <a:lnTo>
                  <a:pt x="13847" y="11961"/>
                </a:lnTo>
                <a:lnTo>
                  <a:pt x="14000" y="11893"/>
                </a:lnTo>
                <a:lnTo>
                  <a:pt x="14135" y="11795"/>
                </a:lnTo>
                <a:lnTo>
                  <a:pt x="14247" y="11670"/>
                </a:lnTo>
                <a:lnTo>
                  <a:pt x="14331" y="11525"/>
                </a:lnTo>
                <a:lnTo>
                  <a:pt x="14383" y="11366"/>
                </a:lnTo>
                <a:lnTo>
                  <a:pt x="14400" y="11200"/>
                </a:lnTo>
                <a:lnTo>
                  <a:pt x="14400" y="10000"/>
                </a:lnTo>
                <a:lnTo>
                  <a:pt x="14426" y="9751"/>
                </a:lnTo>
                <a:lnTo>
                  <a:pt x="14504" y="9512"/>
                </a:lnTo>
                <a:lnTo>
                  <a:pt x="14629" y="9295"/>
                </a:lnTo>
                <a:lnTo>
                  <a:pt x="14797" y="9108"/>
                </a:lnTo>
                <a:lnTo>
                  <a:pt x="15000" y="8961"/>
                </a:lnTo>
                <a:lnTo>
                  <a:pt x="15229" y="8859"/>
                </a:lnTo>
                <a:lnTo>
                  <a:pt x="15475" y="8807"/>
                </a:lnTo>
                <a:lnTo>
                  <a:pt x="15725" y="8807"/>
                </a:lnTo>
                <a:lnTo>
                  <a:pt x="15971" y="8859"/>
                </a:lnTo>
                <a:lnTo>
                  <a:pt x="16200" y="8961"/>
                </a:lnTo>
                <a:lnTo>
                  <a:pt x="16403" y="9108"/>
                </a:lnTo>
                <a:lnTo>
                  <a:pt x="16571" y="9295"/>
                </a:lnTo>
                <a:lnTo>
                  <a:pt x="16696" y="9512"/>
                </a:lnTo>
                <a:lnTo>
                  <a:pt x="16774" y="9751"/>
                </a:lnTo>
                <a:lnTo>
                  <a:pt x="16800" y="10000"/>
                </a:lnTo>
                <a:lnTo>
                  <a:pt x="16800" y="12000"/>
                </a:lnTo>
                <a:lnTo>
                  <a:pt x="16817" y="12166"/>
                </a:lnTo>
                <a:lnTo>
                  <a:pt x="16869" y="12325"/>
                </a:lnTo>
                <a:lnTo>
                  <a:pt x="16953" y="12470"/>
                </a:lnTo>
                <a:lnTo>
                  <a:pt x="17065" y="12595"/>
                </a:lnTo>
                <a:lnTo>
                  <a:pt x="17200" y="12693"/>
                </a:lnTo>
                <a:lnTo>
                  <a:pt x="17353" y="12761"/>
                </a:lnTo>
                <a:lnTo>
                  <a:pt x="17516" y="12796"/>
                </a:lnTo>
                <a:lnTo>
                  <a:pt x="17684" y="12796"/>
                </a:lnTo>
                <a:lnTo>
                  <a:pt x="17847" y="12761"/>
                </a:lnTo>
                <a:lnTo>
                  <a:pt x="18000" y="12693"/>
                </a:lnTo>
                <a:lnTo>
                  <a:pt x="18135" y="12595"/>
                </a:lnTo>
                <a:lnTo>
                  <a:pt x="18247" y="12470"/>
                </a:lnTo>
                <a:lnTo>
                  <a:pt x="18331" y="12325"/>
                </a:lnTo>
                <a:lnTo>
                  <a:pt x="18383" y="12166"/>
                </a:lnTo>
                <a:lnTo>
                  <a:pt x="18400" y="12000"/>
                </a:lnTo>
                <a:lnTo>
                  <a:pt x="18400" y="11600"/>
                </a:lnTo>
                <a:lnTo>
                  <a:pt x="18426" y="11351"/>
                </a:lnTo>
                <a:lnTo>
                  <a:pt x="18504" y="11112"/>
                </a:lnTo>
                <a:lnTo>
                  <a:pt x="18629" y="10895"/>
                </a:lnTo>
                <a:lnTo>
                  <a:pt x="18797" y="10708"/>
                </a:lnTo>
                <a:lnTo>
                  <a:pt x="19000" y="10561"/>
                </a:lnTo>
                <a:lnTo>
                  <a:pt x="19229" y="10459"/>
                </a:lnTo>
                <a:lnTo>
                  <a:pt x="19475" y="10407"/>
                </a:lnTo>
                <a:lnTo>
                  <a:pt x="19725" y="10407"/>
                </a:lnTo>
                <a:lnTo>
                  <a:pt x="19971" y="10459"/>
                </a:lnTo>
                <a:lnTo>
                  <a:pt x="20200" y="10561"/>
                </a:lnTo>
                <a:lnTo>
                  <a:pt x="20403" y="10708"/>
                </a:lnTo>
                <a:lnTo>
                  <a:pt x="20571" y="10895"/>
                </a:lnTo>
                <a:lnTo>
                  <a:pt x="20696" y="11112"/>
                </a:lnTo>
                <a:lnTo>
                  <a:pt x="20774" y="11351"/>
                </a:lnTo>
                <a:lnTo>
                  <a:pt x="20800" y="11600"/>
                </a:lnTo>
                <a:lnTo>
                  <a:pt x="20800" y="15200"/>
                </a:lnTo>
                <a:close/>
              </a:path>
            </a:pathLst>
          </a:custGeom>
          <a:solidFill>
            <a:srgbClr val="024791"/>
          </a:solidFill>
          <a:ln>
            <a:noFill/>
          </a:ln>
        </p:spPr>
        <p:txBody>
          <a:bodyPr rtlCol="0" anchor="ctr"/>
          <a:lstStyle/>
          <a:p>
            <a:pPr algn="ctr"/>
          </a:p>
        </p:txBody>
      </p:sp>
      <p:sp>
        <p:nvSpPr>
          <p:cNvPr id="87" name="TextBox 86"/>
          <p:cNvSpPr txBox="1"/>
          <p:nvPr/>
        </p:nvSpPr>
        <p:spPr>
          <a:xfrm>
            <a:off x="3457191" y="5072111"/>
            <a:ext cx="2560000" cy="300000"/>
          </a:xfrm>
          <a:prstGeom prst="rect">
            <a:avLst/>
          </a:prstGeom>
          <a:noFill/>
        </p:spPr>
        <p:txBody>
          <a:bodyPr wrap="square" lIns="0" rIns="0" tIns="0" bIns="0" anchor="ctr">
            <a:spAutoFit/>
          </a:bodyPr>
          <a:lstStyle/>
          <a:p>
            <a:pPr algn="l">
              <a:lnSpc>
                <a:spcPct val="100000"/>
              </a:lnSpc>
              <a:spcAft>
                <a:spcPts val="0"/>
              </a:spcAft>
            </a:pPr>
            <a:r>
              <a:rPr sz="950" b="1" i="0">
                <a:solidFill>
                  <a:srgbClr val="024791"/>
                </a:solidFill>
                <a:latin typeface="Arial"/>
              </a:rPr>
              <a:t>¿Qué intenta hacer?</a:t>
            </a:r>
          </a:p>
        </p:txBody>
      </p:sp>
      <p:sp>
        <p:nvSpPr>
          <p:cNvPr id="88" name="Rounded Rectangle 87"/>
          <p:cNvSpPr/>
          <p:nvPr/>
        </p:nvSpPr>
        <p:spPr>
          <a:xfrm>
            <a:off x="3077191" y="5422111"/>
            <a:ext cx="3020000" cy="300000"/>
          </a:xfrm>
          <a:prstGeom prst="roundRect">
            <a:avLst>
              <a:gd name="adj" fmla="val 23333"/>
            </a:avLst>
          </a:prstGeom>
          <a:solidFill>
            <a:srgbClr val="FFFFFF"/>
          </a:solidFill>
          <a:ln>
            <a:noFill/>
          </a:ln>
        </p:spPr>
        <p:txBody>
          <a:bodyPr rtlCol="0" anchor="ctr"/>
          <a:lstStyle/>
          <a:p>
            <a:pPr algn="ctr"/>
          </a:p>
        </p:txBody>
      </p:sp>
      <p:sp>
        <p:nvSpPr>
          <p:cNvPr id="89" name="icono warning-circle"/>
          <p:cNvSpPr/>
          <p:nvPr/>
        </p:nvSpPr>
        <p:spPr>
          <a:xfrm>
            <a:off x="3157191" y="5467111"/>
            <a:ext cx="210000" cy="210000"/>
          </a:xfrm>
          <a:custGeom>
            <a:avLst/>
            <a:gdLst/>
            <a:ahLst/>
            <a:cxnLst/>
            <a:rect l="0" t="0" r="r" b="b"/>
            <a:pathLst>
              <a:path w="25600" h="25600">
                <a:moveTo>
                  <a:pt x="12800" y="2400"/>
                </a:moveTo>
                <a:lnTo>
                  <a:pt x="10589" y="2638"/>
                </a:lnTo>
                <a:lnTo>
                  <a:pt x="8480" y="3340"/>
                </a:lnTo>
                <a:lnTo>
                  <a:pt x="6568" y="4474"/>
                </a:lnTo>
                <a:lnTo>
                  <a:pt x="4940" y="5989"/>
                </a:lnTo>
                <a:lnTo>
                  <a:pt x="3672" y="7816"/>
                </a:lnTo>
                <a:lnTo>
                  <a:pt x="2821" y="9870"/>
                </a:lnTo>
                <a:lnTo>
                  <a:pt x="2426" y="12058"/>
                </a:lnTo>
                <a:lnTo>
                  <a:pt x="2506" y="14280"/>
                </a:lnTo>
                <a:lnTo>
                  <a:pt x="3056" y="16434"/>
                </a:lnTo>
                <a:lnTo>
                  <a:pt x="4051" y="18423"/>
                </a:lnTo>
                <a:lnTo>
                  <a:pt x="5446" y="20154"/>
                </a:lnTo>
                <a:lnTo>
                  <a:pt x="7177" y="21549"/>
                </a:lnTo>
                <a:lnTo>
                  <a:pt x="9166" y="22544"/>
                </a:lnTo>
                <a:lnTo>
                  <a:pt x="11320" y="23094"/>
                </a:lnTo>
                <a:lnTo>
                  <a:pt x="13542" y="23174"/>
                </a:lnTo>
                <a:lnTo>
                  <a:pt x="15730" y="22779"/>
                </a:lnTo>
                <a:lnTo>
                  <a:pt x="17784" y="21928"/>
                </a:lnTo>
                <a:lnTo>
                  <a:pt x="19611" y="20660"/>
                </a:lnTo>
                <a:lnTo>
                  <a:pt x="21126" y="19032"/>
                </a:lnTo>
                <a:lnTo>
                  <a:pt x="22260" y="17120"/>
                </a:lnTo>
                <a:lnTo>
                  <a:pt x="22962" y="15011"/>
                </a:lnTo>
                <a:lnTo>
                  <a:pt x="23200" y="12800"/>
                </a:lnTo>
                <a:lnTo>
                  <a:pt x="22937" y="10487"/>
                </a:lnTo>
                <a:lnTo>
                  <a:pt x="22167" y="8290"/>
                </a:lnTo>
                <a:lnTo>
                  <a:pt x="20928" y="6319"/>
                </a:lnTo>
                <a:lnTo>
                  <a:pt x="19281" y="4672"/>
                </a:lnTo>
                <a:lnTo>
                  <a:pt x="17310" y="3433"/>
                </a:lnTo>
                <a:lnTo>
                  <a:pt x="15113" y="2663"/>
                </a:lnTo>
                <a:lnTo>
                  <a:pt x="12800" y="2400"/>
                </a:lnTo>
                <a:close/>
                <a:moveTo>
                  <a:pt x="12800" y="21600"/>
                </a:moveTo>
                <a:lnTo>
                  <a:pt x="10929" y="21399"/>
                </a:lnTo>
                <a:lnTo>
                  <a:pt x="9144" y="20805"/>
                </a:lnTo>
                <a:lnTo>
                  <a:pt x="7526" y="19845"/>
                </a:lnTo>
                <a:lnTo>
                  <a:pt x="6149" y="18563"/>
                </a:lnTo>
                <a:lnTo>
                  <a:pt x="5076" y="17017"/>
                </a:lnTo>
                <a:lnTo>
                  <a:pt x="4356" y="15279"/>
                </a:lnTo>
                <a:lnTo>
                  <a:pt x="4022" y="13428"/>
                </a:lnTo>
                <a:lnTo>
                  <a:pt x="4090" y="11548"/>
                </a:lnTo>
                <a:lnTo>
                  <a:pt x="4555" y="9725"/>
                </a:lnTo>
                <a:lnTo>
                  <a:pt x="5397" y="8042"/>
                </a:lnTo>
                <a:lnTo>
                  <a:pt x="6577" y="6577"/>
                </a:lnTo>
                <a:lnTo>
                  <a:pt x="8042" y="5397"/>
                </a:lnTo>
                <a:lnTo>
                  <a:pt x="9725" y="4555"/>
                </a:lnTo>
                <a:lnTo>
                  <a:pt x="11548" y="4090"/>
                </a:lnTo>
                <a:lnTo>
                  <a:pt x="13428" y="4022"/>
                </a:lnTo>
                <a:lnTo>
                  <a:pt x="15279" y="4356"/>
                </a:lnTo>
                <a:lnTo>
                  <a:pt x="17017" y="5076"/>
                </a:lnTo>
                <a:lnTo>
                  <a:pt x="18563" y="6149"/>
                </a:lnTo>
                <a:lnTo>
                  <a:pt x="19845" y="7526"/>
                </a:lnTo>
                <a:lnTo>
                  <a:pt x="20805" y="9144"/>
                </a:lnTo>
                <a:lnTo>
                  <a:pt x="21399" y="10929"/>
                </a:lnTo>
                <a:lnTo>
                  <a:pt x="21600" y="12800"/>
                </a:lnTo>
                <a:lnTo>
                  <a:pt x="21378" y="14757"/>
                </a:lnTo>
                <a:lnTo>
                  <a:pt x="20726" y="16616"/>
                </a:lnTo>
                <a:lnTo>
                  <a:pt x="19677" y="18284"/>
                </a:lnTo>
                <a:lnTo>
                  <a:pt x="18284" y="19677"/>
                </a:lnTo>
                <a:lnTo>
                  <a:pt x="16616" y="20726"/>
                </a:lnTo>
                <a:lnTo>
                  <a:pt x="14757" y="21378"/>
                </a:lnTo>
                <a:lnTo>
                  <a:pt x="12800" y="21600"/>
                </a:lnTo>
                <a:close/>
                <a:moveTo>
                  <a:pt x="12000" y="13600"/>
                </a:moveTo>
                <a:lnTo>
                  <a:pt x="12000" y="8000"/>
                </a:lnTo>
                <a:lnTo>
                  <a:pt x="12017" y="7834"/>
                </a:lnTo>
                <a:lnTo>
                  <a:pt x="12069" y="7675"/>
                </a:lnTo>
                <a:lnTo>
                  <a:pt x="12153" y="7530"/>
                </a:lnTo>
                <a:lnTo>
                  <a:pt x="12265" y="7405"/>
                </a:lnTo>
                <a:lnTo>
                  <a:pt x="12400" y="7307"/>
                </a:lnTo>
                <a:lnTo>
                  <a:pt x="12553" y="7239"/>
                </a:lnTo>
                <a:lnTo>
                  <a:pt x="12716" y="7204"/>
                </a:lnTo>
                <a:lnTo>
                  <a:pt x="12884" y="7204"/>
                </a:lnTo>
                <a:lnTo>
                  <a:pt x="13047" y="7239"/>
                </a:lnTo>
                <a:lnTo>
                  <a:pt x="13200" y="7307"/>
                </a:lnTo>
                <a:lnTo>
                  <a:pt x="13335" y="7405"/>
                </a:lnTo>
                <a:lnTo>
                  <a:pt x="13447" y="7530"/>
                </a:lnTo>
                <a:lnTo>
                  <a:pt x="13531" y="7675"/>
                </a:lnTo>
                <a:lnTo>
                  <a:pt x="13583" y="7834"/>
                </a:lnTo>
                <a:lnTo>
                  <a:pt x="13600" y="8000"/>
                </a:lnTo>
                <a:lnTo>
                  <a:pt x="13600" y="13600"/>
                </a:lnTo>
                <a:lnTo>
                  <a:pt x="13583" y="13766"/>
                </a:lnTo>
                <a:lnTo>
                  <a:pt x="13531" y="13925"/>
                </a:lnTo>
                <a:lnTo>
                  <a:pt x="13447" y="14070"/>
                </a:lnTo>
                <a:lnTo>
                  <a:pt x="13335" y="14195"/>
                </a:lnTo>
                <a:lnTo>
                  <a:pt x="13200" y="14293"/>
                </a:lnTo>
                <a:lnTo>
                  <a:pt x="13047" y="14361"/>
                </a:lnTo>
                <a:lnTo>
                  <a:pt x="12884" y="14396"/>
                </a:lnTo>
                <a:lnTo>
                  <a:pt x="12716" y="14396"/>
                </a:lnTo>
                <a:lnTo>
                  <a:pt x="12553" y="14361"/>
                </a:lnTo>
                <a:lnTo>
                  <a:pt x="12400" y="14293"/>
                </a:lnTo>
                <a:lnTo>
                  <a:pt x="12265" y="14195"/>
                </a:lnTo>
                <a:lnTo>
                  <a:pt x="12153" y="14070"/>
                </a:lnTo>
                <a:lnTo>
                  <a:pt x="12069" y="13925"/>
                </a:lnTo>
                <a:lnTo>
                  <a:pt x="12017" y="13766"/>
                </a:lnTo>
                <a:lnTo>
                  <a:pt x="12000" y="13600"/>
                </a:lnTo>
                <a:close/>
                <a:moveTo>
                  <a:pt x="14000" y="17200"/>
                </a:moveTo>
                <a:lnTo>
                  <a:pt x="13973" y="17455"/>
                </a:lnTo>
                <a:lnTo>
                  <a:pt x="13892" y="17698"/>
                </a:lnTo>
                <a:lnTo>
                  <a:pt x="13761" y="17919"/>
                </a:lnTo>
                <a:lnTo>
                  <a:pt x="13586" y="18107"/>
                </a:lnTo>
                <a:lnTo>
                  <a:pt x="13375" y="18253"/>
                </a:lnTo>
                <a:lnTo>
                  <a:pt x="13138" y="18351"/>
                </a:lnTo>
                <a:lnTo>
                  <a:pt x="12886" y="18397"/>
                </a:lnTo>
                <a:lnTo>
                  <a:pt x="12629" y="18388"/>
                </a:lnTo>
                <a:lnTo>
                  <a:pt x="12381" y="18324"/>
                </a:lnTo>
                <a:lnTo>
                  <a:pt x="12151" y="18210"/>
                </a:lnTo>
                <a:lnTo>
                  <a:pt x="11951" y="18049"/>
                </a:lnTo>
                <a:lnTo>
                  <a:pt x="11790" y="17849"/>
                </a:lnTo>
                <a:lnTo>
                  <a:pt x="11676" y="17619"/>
                </a:lnTo>
                <a:lnTo>
                  <a:pt x="11612" y="17371"/>
                </a:lnTo>
                <a:lnTo>
                  <a:pt x="11603" y="17114"/>
                </a:lnTo>
                <a:lnTo>
                  <a:pt x="11649" y="16862"/>
                </a:lnTo>
                <a:lnTo>
                  <a:pt x="11747" y="16625"/>
                </a:lnTo>
                <a:lnTo>
                  <a:pt x="11893" y="16414"/>
                </a:lnTo>
                <a:lnTo>
                  <a:pt x="12081" y="16239"/>
                </a:lnTo>
                <a:lnTo>
                  <a:pt x="12302" y="16108"/>
                </a:lnTo>
                <a:lnTo>
                  <a:pt x="12545" y="16027"/>
                </a:lnTo>
                <a:lnTo>
                  <a:pt x="12800" y="16000"/>
                </a:lnTo>
                <a:lnTo>
                  <a:pt x="13067" y="16030"/>
                </a:lnTo>
                <a:lnTo>
                  <a:pt x="13321" y="16119"/>
                </a:lnTo>
                <a:lnTo>
                  <a:pt x="13548" y="16262"/>
                </a:lnTo>
                <a:lnTo>
                  <a:pt x="13738" y="16452"/>
                </a:lnTo>
                <a:lnTo>
                  <a:pt x="13881" y="16679"/>
                </a:lnTo>
                <a:lnTo>
                  <a:pt x="13970" y="16933"/>
                </a:lnTo>
                <a:lnTo>
                  <a:pt x="14000" y="17200"/>
                </a:lnTo>
                <a:close/>
              </a:path>
            </a:pathLst>
          </a:custGeom>
          <a:solidFill>
            <a:srgbClr val="024791"/>
          </a:solidFill>
          <a:ln>
            <a:noFill/>
          </a:ln>
        </p:spPr>
        <p:txBody>
          <a:bodyPr rtlCol="0" anchor="ctr"/>
          <a:lstStyle/>
          <a:p>
            <a:pPr algn="ctr"/>
          </a:p>
        </p:txBody>
      </p:sp>
      <p:sp>
        <p:nvSpPr>
          <p:cNvPr id="90" name="TextBox 89"/>
          <p:cNvSpPr txBox="1"/>
          <p:nvPr/>
        </p:nvSpPr>
        <p:spPr>
          <a:xfrm>
            <a:off x="3457191" y="5422111"/>
            <a:ext cx="2560000" cy="300000"/>
          </a:xfrm>
          <a:prstGeom prst="rect">
            <a:avLst/>
          </a:prstGeom>
          <a:noFill/>
        </p:spPr>
        <p:txBody>
          <a:bodyPr wrap="square" lIns="0" rIns="0" tIns="0" bIns="0" anchor="ctr">
            <a:spAutoFit/>
          </a:bodyPr>
          <a:lstStyle/>
          <a:p>
            <a:pPr algn="l">
              <a:lnSpc>
                <a:spcPct val="100000"/>
              </a:lnSpc>
              <a:spcAft>
                <a:spcPts val="0"/>
              </a:spcAft>
            </a:pPr>
            <a:r>
              <a:rPr sz="950" b="1" i="0">
                <a:solidFill>
                  <a:srgbClr val="024791"/>
                </a:solidFill>
                <a:latin typeface="Arial"/>
              </a:rPr>
              <a:t>¿Dónde encuentra dificultades?</a:t>
            </a:r>
          </a:p>
        </p:txBody>
      </p:sp>
      <p:sp>
        <p:nvSpPr>
          <p:cNvPr id="91" name="Rounded Rectangle 90"/>
          <p:cNvSpPr/>
          <p:nvPr/>
        </p:nvSpPr>
        <p:spPr>
          <a:xfrm>
            <a:off x="3077191" y="5772111"/>
            <a:ext cx="3020000" cy="300000"/>
          </a:xfrm>
          <a:prstGeom prst="roundRect">
            <a:avLst>
              <a:gd name="adj" fmla="val 23333"/>
            </a:avLst>
          </a:prstGeom>
          <a:solidFill>
            <a:srgbClr val="FFFFFF"/>
          </a:solidFill>
          <a:ln>
            <a:noFill/>
          </a:ln>
        </p:spPr>
        <p:txBody>
          <a:bodyPr rtlCol="0" anchor="ctr"/>
          <a:lstStyle/>
          <a:p>
            <a:pPr algn="ctr"/>
          </a:p>
        </p:txBody>
      </p:sp>
      <p:sp>
        <p:nvSpPr>
          <p:cNvPr id="92" name="icono magnifying-glass"/>
          <p:cNvSpPr/>
          <p:nvPr/>
        </p:nvSpPr>
        <p:spPr>
          <a:xfrm>
            <a:off x="3157191" y="5817111"/>
            <a:ext cx="210000" cy="210000"/>
          </a:xfrm>
          <a:custGeom>
            <a:avLst/>
            <a:gdLst/>
            <a:ahLst/>
            <a:cxnLst/>
            <a:rect l="0" t="0" r="r" b="b"/>
            <a:pathLst>
              <a:path w="25600" h="25600">
                <a:moveTo>
                  <a:pt x="22966" y="21834"/>
                </a:moveTo>
                <a:lnTo>
                  <a:pt x="17959" y="16828"/>
                </a:lnTo>
                <a:lnTo>
                  <a:pt x="18987" y="15290"/>
                </a:lnTo>
                <a:lnTo>
                  <a:pt x="19672" y="13571"/>
                </a:lnTo>
                <a:lnTo>
                  <a:pt x="19982" y="11747"/>
                </a:lnTo>
                <a:lnTo>
                  <a:pt x="19905" y="9898"/>
                </a:lnTo>
                <a:lnTo>
                  <a:pt x="19443" y="8106"/>
                </a:lnTo>
                <a:lnTo>
                  <a:pt x="18617" y="6450"/>
                </a:lnTo>
                <a:lnTo>
                  <a:pt x="17464" y="5003"/>
                </a:lnTo>
                <a:lnTo>
                  <a:pt x="16033" y="3829"/>
                </a:lnTo>
                <a:lnTo>
                  <a:pt x="14390" y="2980"/>
                </a:lnTo>
                <a:lnTo>
                  <a:pt x="12605" y="2492"/>
                </a:lnTo>
                <a:lnTo>
                  <a:pt x="10757" y="2388"/>
                </a:lnTo>
                <a:lnTo>
                  <a:pt x="8929" y="2673"/>
                </a:lnTo>
                <a:lnTo>
                  <a:pt x="7200" y="3333"/>
                </a:lnTo>
                <a:lnTo>
                  <a:pt x="5647" y="4339"/>
                </a:lnTo>
                <a:lnTo>
                  <a:pt x="4339" y="5647"/>
                </a:lnTo>
                <a:lnTo>
                  <a:pt x="3333" y="7200"/>
                </a:lnTo>
                <a:lnTo>
                  <a:pt x="2673" y="8929"/>
                </a:lnTo>
                <a:lnTo>
                  <a:pt x="2388" y="10757"/>
                </a:lnTo>
                <a:lnTo>
                  <a:pt x="2492" y="12605"/>
                </a:lnTo>
                <a:lnTo>
                  <a:pt x="2980" y="14390"/>
                </a:lnTo>
                <a:lnTo>
                  <a:pt x="3829" y="16033"/>
                </a:lnTo>
                <a:lnTo>
                  <a:pt x="5003" y="17464"/>
                </a:lnTo>
                <a:lnTo>
                  <a:pt x="6450" y="18617"/>
                </a:lnTo>
                <a:lnTo>
                  <a:pt x="8106" y="19443"/>
                </a:lnTo>
                <a:lnTo>
                  <a:pt x="9898" y="19905"/>
                </a:lnTo>
                <a:lnTo>
                  <a:pt x="11747" y="19982"/>
                </a:lnTo>
                <a:lnTo>
                  <a:pt x="13571" y="19672"/>
                </a:lnTo>
                <a:lnTo>
                  <a:pt x="15290" y="18987"/>
                </a:lnTo>
                <a:lnTo>
                  <a:pt x="16828" y="17959"/>
                </a:lnTo>
                <a:lnTo>
                  <a:pt x="21834" y="22966"/>
                </a:lnTo>
                <a:lnTo>
                  <a:pt x="21964" y="23071"/>
                </a:lnTo>
                <a:lnTo>
                  <a:pt x="22113" y="23147"/>
                </a:lnTo>
                <a:lnTo>
                  <a:pt x="22275" y="23191"/>
                </a:lnTo>
                <a:lnTo>
                  <a:pt x="22442" y="23199"/>
                </a:lnTo>
                <a:lnTo>
                  <a:pt x="22607" y="23173"/>
                </a:lnTo>
                <a:lnTo>
                  <a:pt x="22763" y="23113"/>
                </a:lnTo>
                <a:lnTo>
                  <a:pt x="22904" y="23022"/>
                </a:lnTo>
                <a:lnTo>
                  <a:pt x="23022" y="22904"/>
                </a:lnTo>
                <a:lnTo>
                  <a:pt x="23113" y="22763"/>
                </a:lnTo>
                <a:lnTo>
                  <a:pt x="23173" y="22607"/>
                </a:lnTo>
                <a:lnTo>
                  <a:pt x="23199" y="22442"/>
                </a:lnTo>
                <a:lnTo>
                  <a:pt x="23191" y="22275"/>
                </a:lnTo>
                <a:lnTo>
                  <a:pt x="23147" y="22113"/>
                </a:lnTo>
                <a:lnTo>
                  <a:pt x="23071" y="21964"/>
                </a:lnTo>
                <a:lnTo>
                  <a:pt x="22966" y="21834"/>
                </a:lnTo>
                <a:close/>
                <a:moveTo>
                  <a:pt x="4000" y="11200"/>
                </a:moveTo>
                <a:lnTo>
                  <a:pt x="4165" y="9670"/>
                </a:lnTo>
                <a:lnTo>
                  <a:pt x="4651" y="8209"/>
                </a:lnTo>
                <a:lnTo>
                  <a:pt x="5436" y="6885"/>
                </a:lnTo>
                <a:lnTo>
                  <a:pt x="6485" y="5759"/>
                </a:lnTo>
                <a:lnTo>
                  <a:pt x="7749" y="4881"/>
                </a:lnTo>
                <a:lnTo>
                  <a:pt x="9172" y="4292"/>
                </a:lnTo>
                <a:lnTo>
                  <a:pt x="10686" y="4018"/>
                </a:lnTo>
                <a:lnTo>
                  <a:pt x="12225" y="4073"/>
                </a:lnTo>
                <a:lnTo>
                  <a:pt x="13716" y="4454"/>
                </a:lnTo>
                <a:lnTo>
                  <a:pt x="15093" y="5143"/>
                </a:lnTo>
                <a:lnTo>
                  <a:pt x="16291" y="6109"/>
                </a:lnTo>
                <a:lnTo>
                  <a:pt x="17257" y="7307"/>
                </a:lnTo>
                <a:lnTo>
                  <a:pt x="17946" y="8684"/>
                </a:lnTo>
                <a:lnTo>
                  <a:pt x="18327" y="10175"/>
                </a:lnTo>
                <a:lnTo>
                  <a:pt x="18382" y="11714"/>
                </a:lnTo>
                <a:lnTo>
                  <a:pt x="18108" y="13228"/>
                </a:lnTo>
                <a:lnTo>
                  <a:pt x="17519" y="14651"/>
                </a:lnTo>
                <a:lnTo>
                  <a:pt x="16641" y="15915"/>
                </a:lnTo>
                <a:lnTo>
                  <a:pt x="15515" y="16964"/>
                </a:lnTo>
                <a:lnTo>
                  <a:pt x="14191" y="17749"/>
                </a:lnTo>
                <a:lnTo>
                  <a:pt x="12730" y="18235"/>
                </a:lnTo>
                <a:lnTo>
                  <a:pt x="11200" y="18400"/>
                </a:lnTo>
                <a:lnTo>
                  <a:pt x="9598" y="18218"/>
                </a:lnTo>
                <a:lnTo>
                  <a:pt x="8077" y="17685"/>
                </a:lnTo>
                <a:lnTo>
                  <a:pt x="6713" y="16827"/>
                </a:lnTo>
                <a:lnTo>
                  <a:pt x="5573" y="15687"/>
                </a:lnTo>
                <a:lnTo>
                  <a:pt x="4715" y="14323"/>
                </a:lnTo>
                <a:lnTo>
                  <a:pt x="4182" y="12802"/>
                </a:lnTo>
                <a:lnTo>
                  <a:pt x="4000" y="11200"/>
                </a:lnTo>
                <a:close/>
              </a:path>
            </a:pathLst>
          </a:custGeom>
          <a:solidFill>
            <a:srgbClr val="024791"/>
          </a:solidFill>
          <a:ln>
            <a:noFill/>
          </a:ln>
        </p:spPr>
        <p:txBody>
          <a:bodyPr rtlCol="0" anchor="ctr"/>
          <a:lstStyle/>
          <a:p>
            <a:pPr algn="ctr"/>
          </a:p>
        </p:txBody>
      </p:sp>
      <p:sp>
        <p:nvSpPr>
          <p:cNvPr id="93" name="TextBox 92"/>
          <p:cNvSpPr txBox="1"/>
          <p:nvPr/>
        </p:nvSpPr>
        <p:spPr>
          <a:xfrm>
            <a:off x="3457191" y="5772111"/>
            <a:ext cx="2560000" cy="300000"/>
          </a:xfrm>
          <a:prstGeom prst="rect">
            <a:avLst/>
          </a:prstGeom>
          <a:noFill/>
        </p:spPr>
        <p:txBody>
          <a:bodyPr wrap="square" lIns="0" rIns="0" tIns="0" bIns="0" anchor="ctr">
            <a:spAutoFit/>
          </a:bodyPr>
          <a:lstStyle/>
          <a:p>
            <a:pPr algn="l">
              <a:lnSpc>
                <a:spcPct val="100000"/>
              </a:lnSpc>
              <a:spcAft>
                <a:spcPts val="0"/>
              </a:spcAft>
            </a:pPr>
            <a:r>
              <a:rPr sz="950" b="1" i="0">
                <a:solidFill>
                  <a:srgbClr val="024791"/>
                </a:solidFill>
                <a:latin typeface="Arial"/>
              </a:rPr>
              <a:t>¿Qué esperaba encontrar?</a:t>
            </a:r>
          </a:p>
        </p:txBody>
      </p:sp>
      <p:sp>
        <p:nvSpPr>
          <p:cNvPr id="94" name="Rounded Rectangle 93"/>
          <p:cNvSpPr/>
          <p:nvPr/>
        </p:nvSpPr>
        <p:spPr>
          <a:xfrm>
            <a:off x="3077191" y="6122111"/>
            <a:ext cx="3020000" cy="300000"/>
          </a:xfrm>
          <a:prstGeom prst="roundRect">
            <a:avLst>
              <a:gd name="adj" fmla="val 23333"/>
            </a:avLst>
          </a:prstGeom>
          <a:solidFill>
            <a:srgbClr val="FFFFFF"/>
          </a:solidFill>
          <a:ln>
            <a:noFill/>
          </a:ln>
        </p:spPr>
        <p:txBody>
          <a:bodyPr rtlCol="0" anchor="ctr"/>
          <a:lstStyle/>
          <a:p>
            <a:pPr algn="ctr"/>
          </a:p>
        </p:txBody>
      </p:sp>
      <p:sp>
        <p:nvSpPr>
          <p:cNvPr id="95" name="icono chat-circle-dots"/>
          <p:cNvSpPr/>
          <p:nvPr/>
        </p:nvSpPr>
        <p:spPr>
          <a:xfrm>
            <a:off x="3157191" y="6167111"/>
            <a:ext cx="210000" cy="210000"/>
          </a:xfrm>
          <a:custGeom>
            <a:avLst/>
            <a:gdLst/>
            <a:ahLst/>
            <a:cxnLst/>
            <a:rect l="0" t="0" r="r" b="b"/>
            <a:pathLst>
              <a:path w="25600" h="25600">
                <a:moveTo>
                  <a:pt x="14000" y="12800"/>
                </a:moveTo>
                <a:lnTo>
                  <a:pt x="13973" y="13055"/>
                </a:lnTo>
                <a:lnTo>
                  <a:pt x="13892" y="13298"/>
                </a:lnTo>
                <a:lnTo>
                  <a:pt x="13761" y="13519"/>
                </a:lnTo>
                <a:lnTo>
                  <a:pt x="13586" y="13707"/>
                </a:lnTo>
                <a:lnTo>
                  <a:pt x="13375" y="13853"/>
                </a:lnTo>
                <a:lnTo>
                  <a:pt x="13138" y="13951"/>
                </a:lnTo>
                <a:lnTo>
                  <a:pt x="12886" y="13997"/>
                </a:lnTo>
                <a:lnTo>
                  <a:pt x="12629" y="13988"/>
                </a:lnTo>
                <a:lnTo>
                  <a:pt x="12381" y="13924"/>
                </a:lnTo>
                <a:lnTo>
                  <a:pt x="12151" y="13810"/>
                </a:lnTo>
                <a:lnTo>
                  <a:pt x="11951" y="13649"/>
                </a:lnTo>
                <a:lnTo>
                  <a:pt x="11790" y="13449"/>
                </a:lnTo>
                <a:lnTo>
                  <a:pt x="11676" y="13219"/>
                </a:lnTo>
                <a:lnTo>
                  <a:pt x="11612" y="12971"/>
                </a:lnTo>
                <a:lnTo>
                  <a:pt x="11603" y="12714"/>
                </a:lnTo>
                <a:lnTo>
                  <a:pt x="11649" y="12462"/>
                </a:lnTo>
                <a:lnTo>
                  <a:pt x="11747" y="12225"/>
                </a:lnTo>
                <a:lnTo>
                  <a:pt x="11893" y="12014"/>
                </a:lnTo>
                <a:lnTo>
                  <a:pt x="12081" y="11839"/>
                </a:lnTo>
                <a:lnTo>
                  <a:pt x="12302" y="11708"/>
                </a:lnTo>
                <a:lnTo>
                  <a:pt x="12545" y="11627"/>
                </a:lnTo>
                <a:lnTo>
                  <a:pt x="12800" y="11600"/>
                </a:lnTo>
                <a:lnTo>
                  <a:pt x="13067" y="11630"/>
                </a:lnTo>
                <a:lnTo>
                  <a:pt x="13321" y="11719"/>
                </a:lnTo>
                <a:lnTo>
                  <a:pt x="13548" y="11862"/>
                </a:lnTo>
                <a:lnTo>
                  <a:pt x="13738" y="12052"/>
                </a:lnTo>
                <a:lnTo>
                  <a:pt x="13881" y="12279"/>
                </a:lnTo>
                <a:lnTo>
                  <a:pt x="13970" y="12533"/>
                </a:lnTo>
                <a:lnTo>
                  <a:pt x="14000" y="12800"/>
                </a:lnTo>
                <a:close/>
                <a:moveTo>
                  <a:pt x="8400" y="11600"/>
                </a:moveTo>
                <a:lnTo>
                  <a:pt x="8145" y="11627"/>
                </a:lnTo>
                <a:lnTo>
                  <a:pt x="7902" y="11708"/>
                </a:lnTo>
                <a:lnTo>
                  <a:pt x="7681" y="11839"/>
                </a:lnTo>
                <a:lnTo>
                  <a:pt x="7493" y="12014"/>
                </a:lnTo>
                <a:lnTo>
                  <a:pt x="7347" y="12225"/>
                </a:lnTo>
                <a:lnTo>
                  <a:pt x="7249" y="12462"/>
                </a:lnTo>
                <a:lnTo>
                  <a:pt x="7203" y="12714"/>
                </a:lnTo>
                <a:lnTo>
                  <a:pt x="7212" y="12971"/>
                </a:lnTo>
                <a:lnTo>
                  <a:pt x="7276" y="13219"/>
                </a:lnTo>
                <a:lnTo>
                  <a:pt x="7390" y="13449"/>
                </a:lnTo>
                <a:lnTo>
                  <a:pt x="7551" y="13649"/>
                </a:lnTo>
                <a:lnTo>
                  <a:pt x="7751" y="13810"/>
                </a:lnTo>
                <a:lnTo>
                  <a:pt x="7981" y="13924"/>
                </a:lnTo>
                <a:lnTo>
                  <a:pt x="8229" y="13988"/>
                </a:lnTo>
                <a:lnTo>
                  <a:pt x="8486" y="13997"/>
                </a:lnTo>
                <a:lnTo>
                  <a:pt x="8738" y="13951"/>
                </a:lnTo>
                <a:lnTo>
                  <a:pt x="8975" y="13853"/>
                </a:lnTo>
                <a:lnTo>
                  <a:pt x="9186" y="13707"/>
                </a:lnTo>
                <a:lnTo>
                  <a:pt x="9361" y="13519"/>
                </a:lnTo>
                <a:lnTo>
                  <a:pt x="9492" y="13298"/>
                </a:lnTo>
                <a:lnTo>
                  <a:pt x="9573" y="13055"/>
                </a:lnTo>
                <a:lnTo>
                  <a:pt x="9600" y="12800"/>
                </a:lnTo>
                <a:lnTo>
                  <a:pt x="9570" y="12533"/>
                </a:lnTo>
                <a:lnTo>
                  <a:pt x="9481" y="12279"/>
                </a:lnTo>
                <a:lnTo>
                  <a:pt x="9338" y="12052"/>
                </a:lnTo>
                <a:lnTo>
                  <a:pt x="9148" y="11862"/>
                </a:lnTo>
                <a:lnTo>
                  <a:pt x="8921" y="11719"/>
                </a:lnTo>
                <a:lnTo>
                  <a:pt x="8667" y="11630"/>
                </a:lnTo>
                <a:lnTo>
                  <a:pt x="8400" y="11600"/>
                </a:lnTo>
                <a:close/>
                <a:moveTo>
                  <a:pt x="17200" y="11600"/>
                </a:moveTo>
                <a:lnTo>
                  <a:pt x="16945" y="11627"/>
                </a:lnTo>
                <a:lnTo>
                  <a:pt x="16702" y="11708"/>
                </a:lnTo>
                <a:lnTo>
                  <a:pt x="16481" y="11839"/>
                </a:lnTo>
                <a:lnTo>
                  <a:pt x="16293" y="12014"/>
                </a:lnTo>
                <a:lnTo>
                  <a:pt x="16147" y="12225"/>
                </a:lnTo>
                <a:lnTo>
                  <a:pt x="16049" y="12462"/>
                </a:lnTo>
                <a:lnTo>
                  <a:pt x="16003" y="12714"/>
                </a:lnTo>
                <a:lnTo>
                  <a:pt x="16012" y="12971"/>
                </a:lnTo>
                <a:lnTo>
                  <a:pt x="16076" y="13219"/>
                </a:lnTo>
                <a:lnTo>
                  <a:pt x="16190" y="13449"/>
                </a:lnTo>
                <a:lnTo>
                  <a:pt x="16351" y="13649"/>
                </a:lnTo>
                <a:lnTo>
                  <a:pt x="16551" y="13810"/>
                </a:lnTo>
                <a:lnTo>
                  <a:pt x="16781" y="13924"/>
                </a:lnTo>
                <a:lnTo>
                  <a:pt x="17029" y="13988"/>
                </a:lnTo>
                <a:lnTo>
                  <a:pt x="17286" y="13997"/>
                </a:lnTo>
                <a:lnTo>
                  <a:pt x="17538" y="13951"/>
                </a:lnTo>
                <a:lnTo>
                  <a:pt x="17775" y="13853"/>
                </a:lnTo>
                <a:lnTo>
                  <a:pt x="17986" y="13707"/>
                </a:lnTo>
                <a:lnTo>
                  <a:pt x="18161" y="13519"/>
                </a:lnTo>
                <a:lnTo>
                  <a:pt x="18292" y="13298"/>
                </a:lnTo>
                <a:lnTo>
                  <a:pt x="18373" y="13055"/>
                </a:lnTo>
                <a:lnTo>
                  <a:pt x="18400" y="12800"/>
                </a:lnTo>
                <a:lnTo>
                  <a:pt x="18370" y="12533"/>
                </a:lnTo>
                <a:lnTo>
                  <a:pt x="18281" y="12279"/>
                </a:lnTo>
                <a:lnTo>
                  <a:pt x="18138" y="12052"/>
                </a:lnTo>
                <a:lnTo>
                  <a:pt x="17948" y="11862"/>
                </a:lnTo>
                <a:lnTo>
                  <a:pt x="17721" y="11719"/>
                </a:lnTo>
                <a:lnTo>
                  <a:pt x="17467" y="11630"/>
                </a:lnTo>
                <a:lnTo>
                  <a:pt x="17200" y="11600"/>
                </a:lnTo>
                <a:close/>
                <a:moveTo>
                  <a:pt x="23200" y="12800"/>
                </a:moveTo>
                <a:lnTo>
                  <a:pt x="22929" y="15160"/>
                </a:lnTo>
                <a:lnTo>
                  <a:pt x="22130" y="17397"/>
                </a:lnTo>
                <a:lnTo>
                  <a:pt x="20844" y="19395"/>
                </a:lnTo>
                <a:lnTo>
                  <a:pt x="19138" y="21048"/>
                </a:lnTo>
                <a:lnTo>
                  <a:pt x="17101" y="22271"/>
                </a:lnTo>
                <a:lnTo>
                  <a:pt x="14840" y="23000"/>
                </a:lnTo>
                <a:lnTo>
                  <a:pt x="12473" y="23197"/>
                </a:lnTo>
                <a:lnTo>
                  <a:pt x="10123" y="22852"/>
                </a:lnTo>
                <a:lnTo>
                  <a:pt x="7912" y="21982"/>
                </a:lnTo>
                <a:lnTo>
                  <a:pt x="4507" y="23117"/>
                </a:lnTo>
                <a:lnTo>
                  <a:pt x="4161" y="23191"/>
                </a:lnTo>
                <a:lnTo>
                  <a:pt x="3808" y="23187"/>
                </a:lnTo>
                <a:lnTo>
                  <a:pt x="3463" y="23106"/>
                </a:lnTo>
                <a:lnTo>
                  <a:pt x="3146" y="22951"/>
                </a:lnTo>
                <a:lnTo>
                  <a:pt x="2869" y="22731"/>
                </a:lnTo>
                <a:lnTo>
                  <a:pt x="2649" y="22454"/>
                </a:lnTo>
                <a:lnTo>
                  <a:pt x="2494" y="22137"/>
                </a:lnTo>
                <a:lnTo>
                  <a:pt x="2413" y="21792"/>
                </a:lnTo>
                <a:lnTo>
                  <a:pt x="2409" y="21439"/>
                </a:lnTo>
                <a:lnTo>
                  <a:pt x="2483" y="21093"/>
                </a:lnTo>
                <a:lnTo>
                  <a:pt x="3618" y="17688"/>
                </a:lnTo>
                <a:lnTo>
                  <a:pt x="2792" y="15631"/>
                </a:lnTo>
                <a:lnTo>
                  <a:pt x="2420" y="13446"/>
                </a:lnTo>
                <a:lnTo>
                  <a:pt x="2520" y="11232"/>
                </a:lnTo>
                <a:lnTo>
                  <a:pt x="3086" y="9089"/>
                </a:lnTo>
                <a:lnTo>
                  <a:pt x="4094" y="7115"/>
                </a:lnTo>
                <a:lnTo>
                  <a:pt x="5497" y="5399"/>
                </a:lnTo>
                <a:lnTo>
                  <a:pt x="7232" y="4020"/>
                </a:lnTo>
                <a:lnTo>
                  <a:pt x="9220" y="3040"/>
                </a:lnTo>
                <a:lnTo>
                  <a:pt x="11371" y="2503"/>
                </a:lnTo>
                <a:lnTo>
                  <a:pt x="13586" y="2434"/>
                </a:lnTo>
                <a:lnTo>
                  <a:pt x="15766" y="2836"/>
                </a:lnTo>
                <a:lnTo>
                  <a:pt x="17811" y="3691"/>
                </a:lnTo>
                <a:lnTo>
                  <a:pt x="19628" y="4960"/>
                </a:lnTo>
                <a:lnTo>
                  <a:pt x="21136" y="6585"/>
                </a:lnTo>
                <a:lnTo>
                  <a:pt x="22264" y="8493"/>
                </a:lnTo>
                <a:lnTo>
                  <a:pt x="22963" y="10596"/>
                </a:lnTo>
                <a:lnTo>
                  <a:pt x="23200" y="12800"/>
                </a:lnTo>
                <a:close/>
                <a:moveTo>
                  <a:pt x="21600" y="12800"/>
                </a:moveTo>
                <a:lnTo>
                  <a:pt x="21396" y="10917"/>
                </a:lnTo>
                <a:lnTo>
                  <a:pt x="20793" y="9122"/>
                </a:lnTo>
                <a:lnTo>
                  <a:pt x="19821" y="7497"/>
                </a:lnTo>
                <a:lnTo>
                  <a:pt x="18523" y="6118"/>
                </a:lnTo>
                <a:lnTo>
                  <a:pt x="16961" y="5048"/>
                </a:lnTo>
                <a:lnTo>
                  <a:pt x="15205" y="4338"/>
                </a:lnTo>
                <a:lnTo>
                  <a:pt x="13339" y="4019"/>
                </a:lnTo>
                <a:lnTo>
                  <a:pt x="11447" y="4107"/>
                </a:lnTo>
                <a:lnTo>
                  <a:pt x="9618" y="4598"/>
                </a:lnTo>
                <a:lnTo>
                  <a:pt x="7936" y="5469"/>
                </a:lnTo>
                <a:lnTo>
                  <a:pt x="6480" y="6679"/>
                </a:lnTo>
                <a:lnTo>
                  <a:pt x="5316" y="8173"/>
                </a:lnTo>
                <a:lnTo>
                  <a:pt x="4499" y="9881"/>
                </a:lnTo>
                <a:lnTo>
                  <a:pt x="4066" y="11725"/>
                </a:lnTo>
                <a:lnTo>
                  <a:pt x="4038" y="13618"/>
                </a:lnTo>
                <a:lnTo>
                  <a:pt x="4415" y="15474"/>
                </a:lnTo>
                <a:lnTo>
                  <a:pt x="5181" y="17206"/>
                </a:lnTo>
                <a:lnTo>
                  <a:pt x="5230" y="17307"/>
                </a:lnTo>
                <a:lnTo>
                  <a:pt x="5265" y="17415"/>
                </a:lnTo>
                <a:lnTo>
                  <a:pt x="5284" y="17526"/>
                </a:lnTo>
                <a:lnTo>
                  <a:pt x="5288" y="17639"/>
                </a:lnTo>
                <a:lnTo>
                  <a:pt x="5275" y="17751"/>
                </a:lnTo>
                <a:lnTo>
                  <a:pt x="5247" y="17860"/>
                </a:lnTo>
                <a:lnTo>
                  <a:pt x="4000" y="21600"/>
                </a:lnTo>
                <a:lnTo>
                  <a:pt x="7740" y="20353"/>
                </a:lnTo>
                <a:lnTo>
                  <a:pt x="7781" y="20340"/>
                </a:lnTo>
                <a:lnTo>
                  <a:pt x="7823" y="20330"/>
                </a:lnTo>
                <a:lnTo>
                  <a:pt x="7865" y="20322"/>
                </a:lnTo>
                <a:lnTo>
                  <a:pt x="7907" y="20316"/>
                </a:lnTo>
                <a:lnTo>
                  <a:pt x="7950" y="20312"/>
                </a:lnTo>
                <a:lnTo>
                  <a:pt x="7993" y="20311"/>
                </a:lnTo>
                <a:lnTo>
                  <a:pt x="8063" y="20314"/>
                </a:lnTo>
                <a:lnTo>
                  <a:pt x="8132" y="20323"/>
                </a:lnTo>
                <a:lnTo>
                  <a:pt x="8200" y="20339"/>
                </a:lnTo>
                <a:lnTo>
                  <a:pt x="8267" y="20360"/>
                </a:lnTo>
                <a:lnTo>
                  <a:pt x="8331" y="20387"/>
                </a:lnTo>
                <a:lnTo>
                  <a:pt x="8393" y="20419"/>
                </a:lnTo>
                <a:lnTo>
                  <a:pt x="10074" y="21169"/>
                </a:lnTo>
                <a:lnTo>
                  <a:pt x="11874" y="21553"/>
                </a:lnTo>
                <a:lnTo>
                  <a:pt x="13715" y="21554"/>
                </a:lnTo>
                <a:lnTo>
                  <a:pt x="15516" y="21173"/>
                </a:lnTo>
                <a:lnTo>
                  <a:pt x="17197" y="20425"/>
                </a:lnTo>
                <a:lnTo>
                  <a:pt x="18687" y="19343"/>
                </a:lnTo>
                <a:lnTo>
                  <a:pt x="19919" y="17975"/>
                </a:lnTo>
                <a:lnTo>
                  <a:pt x="20839" y="16381"/>
                </a:lnTo>
                <a:lnTo>
                  <a:pt x="21408" y="14631"/>
                </a:lnTo>
                <a:lnTo>
                  <a:pt x="21600" y="12800"/>
                </a:lnTo>
                <a:close/>
              </a:path>
            </a:pathLst>
          </a:custGeom>
          <a:solidFill>
            <a:srgbClr val="024791"/>
          </a:solidFill>
          <a:ln>
            <a:noFill/>
          </a:ln>
        </p:spPr>
        <p:txBody>
          <a:bodyPr rtlCol="0" anchor="ctr"/>
          <a:lstStyle/>
          <a:p>
            <a:pPr algn="ctr"/>
          </a:p>
        </p:txBody>
      </p:sp>
      <p:sp>
        <p:nvSpPr>
          <p:cNvPr id="96" name="TextBox 95"/>
          <p:cNvSpPr txBox="1"/>
          <p:nvPr/>
        </p:nvSpPr>
        <p:spPr>
          <a:xfrm>
            <a:off x="3457191" y="6122111"/>
            <a:ext cx="2560000" cy="300000"/>
          </a:xfrm>
          <a:prstGeom prst="rect">
            <a:avLst/>
          </a:prstGeom>
          <a:noFill/>
        </p:spPr>
        <p:txBody>
          <a:bodyPr wrap="square" lIns="0" rIns="0" tIns="0" bIns="0" anchor="ctr">
            <a:spAutoFit/>
          </a:bodyPr>
          <a:lstStyle/>
          <a:p>
            <a:pPr algn="l">
              <a:lnSpc>
                <a:spcPct val="100000"/>
              </a:lnSpc>
              <a:spcAft>
                <a:spcPts val="0"/>
              </a:spcAft>
            </a:pPr>
            <a:r>
              <a:rPr sz="950" b="1" i="0">
                <a:solidFill>
                  <a:srgbClr val="024791"/>
                </a:solidFill>
                <a:latin typeface="Arial"/>
              </a:rPr>
              <a:t>¿Cómo interpreta la propuesta?</a:t>
            </a:r>
          </a:p>
        </p:txBody>
      </p:sp>
      <p:sp>
        <p:nvSpPr>
          <p:cNvPr id="97" name="Oval 96"/>
          <p:cNvSpPr/>
          <p:nvPr/>
        </p:nvSpPr>
        <p:spPr>
          <a:xfrm>
            <a:off x="2548999" y="5092111"/>
            <a:ext cx="400000" cy="400000"/>
          </a:xfrm>
          <a:prstGeom prst="ellipse">
            <a:avLst/>
          </a:prstGeom>
          <a:solidFill>
            <a:srgbClr val="FFD900"/>
          </a:solidFill>
          <a:ln>
            <a:noFill/>
          </a:ln>
        </p:spPr>
        <p:txBody>
          <a:bodyPr rtlCol="0" anchor="ctr"/>
          <a:lstStyle/>
          <a:p>
            <a:pPr algn="ctr"/>
          </a:p>
        </p:txBody>
      </p:sp>
      <p:sp>
        <p:nvSpPr>
          <p:cNvPr id="98" name="TextBox 97"/>
          <p:cNvSpPr txBox="1"/>
          <p:nvPr/>
        </p:nvSpPr>
        <p:spPr>
          <a:xfrm>
            <a:off x="2548999" y="5092111"/>
            <a:ext cx="400000" cy="400000"/>
          </a:xfrm>
          <a:prstGeom prst="rect">
            <a:avLst/>
          </a:prstGeom>
          <a:noFill/>
        </p:spPr>
        <p:txBody>
          <a:bodyPr wrap="square" lIns="0" rIns="0" tIns="0" bIns="0" anchor="ctr">
            <a:spAutoFit/>
          </a:bodyPr>
          <a:lstStyle/>
          <a:p>
            <a:pPr algn="ctr">
              <a:lnSpc>
                <a:spcPct val="100000"/>
              </a:lnSpc>
              <a:spcAft>
                <a:spcPts val="0"/>
              </a:spcAft>
            </a:pPr>
            <a:r>
              <a:rPr sz="1600" b="1" i="0">
                <a:solidFill>
                  <a:srgbClr val="0B2E6B"/>
                </a:solidFill>
                <a:latin typeface="Arial"/>
              </a:rPr>
              <a:t>≠</a:t>
            </a:r>
          </a:p>
        </p:txBody>
      </p:sp>
      <p:sp>
        <p:nvSpPr>
          <p:cNvPr id="99" name="TextBox 98"/>
          <p:cNvSpPr txBox="1"/>
          <p:nvPr/>
        </p:nvSpPr>
        <p:spPr>
          <a:xfrm>
            <a:off x="642308" y="6762111"/>
            <a:ext cx="5576383" cy="787451"/>
          </a:xfrm>
          <a:prstGeom prst="rect">
            <a:avLst/>
          </a:prstGeom>
          <a:noFill/>
        </p:spPr>
        <p:txBody>
          <a:bodyPr wrap="square" lIns="0" rIns="0" tIns="0" bIns="0" anchor="t">
            <a:spAutoFit/>
          </a:bodyPr>
          <a:lstStyle/>
          <a:p>
            <a:pPr algn="l">
              <a:lnSpc>
                <a:spcPct val="130000"/>
              </a:lnSpc>
              <a:spcAft>
                <a:spcPts val="1181"/>
              </a:spcAft>
            </a:pPr>
            <a:r>
              <a:rPr sz="1100" b="0" i="0">
                <a:solidFill>
                  <a:srgbClr val="56505B"/>
                </a:solidFill>
                <a:latin typeface="Arial"/>
              </a:rPr>
              <a:t>El propósito central de evaluar es obtener aprendizaje, no únicamente aprobación. Una prueba que demuestra que necesitamos cambiar una decisión puede ser tan valiosa como aquella que confirma determinados aspectos de la propuesta.</a:t>
            </a:r>
          </a:p>
        </p:txBody>
      </p:sp>
      <p:sp>
        <p:nvSpPr>
          <p:cNvPr id="100" name="TextBox 99"/>
          <p:cNvSpPr txBox="1"/>
          <p:nvPr/>
        </p:nvSpPr>
        <p:spPr>
          <a:xfrm>
            <a:off x="640808" y="7669562"/>
            <a:ext cx="5576383" cy="150000"/>
          </a:xfrm>
          <a:prstGeom prst="rect">
            <a:avLst/>
          </a:prstGeom>
          <a:noFill/>
        </p:spPr>
        <p:txBody>
          <a:bodyPr wrap="square" lIns="0" rIns="0" tIns="0" bIns="0" anchor="t">
            <a:spAutoFit/>
          </a:bodyPr>
          <a:lstStyle/>
          <a:p>
            <a:pPr algn="l">
              <a:lnSpc>
                <a:spcPct val="100000"/>
              </a:lnSpc>
              <a:spcAft>
                <a:spcPts val="0"/>
              </a:spcAft>
            </a:pPr>
            <a:r>
              <a:rPr sz="950" b="0" i="1">
                <a:solidFill>
                  <a:srgbClr val="7B7480"/>
                </a:solidFill>
                <a:latin typeface="Arial"/>
              </a:rPr>
              <a:t>Fuente: elaboración propia.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808" y="723900"/>
            <a:ext cx="4265517" cy="171450"/>
          </a:xfrm>
          <a:prstGeom prst="rect">
            <a:avLst/>
          </a:prstGeom>
          <a:noFill/>
        </p:spPr>
        <p:txBody>
          <a:bodyPr wrap="square" lIns="0" rIns="0" tIns="0" bIns="0" anchor="t">
            <a:spAutoFit/>
          </a:bodyPr>
          <a:lstStyle/>
          <a:p>
            <a:pPr algn="l">
              <a:lnSpc>
                <a:spcPct val="100000"/>
              </a:lnSpc>
              <a:spcAft>
                <a:spcPts val="0"/>
              </a:spcAft>
            </a:pPr>
            <a:r>
              <a:rPr sz="825" b="1" i="0">
                <a:solidFill>
                  <a:srgbClr val="664092"/>
                </a:solidFill>
                <a:latin typeface="Arial"/>
              </a:rPr>
              <a:t>Artículo educativo · Pensamiento de diseño</a:t>
            </a:r>
          </a:p>
        </p:txBody>
      </p:sp>
      <p:sp>
        <p:nvSpPr>
          <p:cNvPr id="3" name="TextBox 2"/>
          <p:cNvSpPr txBox="1"/>
          <p:nvPr/>
        </p:nvSpPr>
        <p:spPr>
          <a:xfrm>
            <a:off x="640808" y="1104900"/>
            <a:ext cx="5576383" cy="209550"/>
          </a:xfrm>
          <a:prstGeom prst="rect">
            <a:avLst/>
          </a:prstGeom>
          <a:noFill/>
        </p:spPr>
        <p:txBody>
          <a:bodyPr wrap="square" lIns="0" rIns="0" tIns="0" bIns="0" anchor="t">
            <a:spAutoFit/>
          </a:bodyPr>
          <a:lstStyle/>
          <a:p>
            <a:pPr algn="l">
              <a:lnSpc>
                <a:spcPct val="100000"/>
              </a:lnSpc>
              <a:spcAft>
                <a:spcPts val="0"/>
              </a:spcAft>
            </a:pPr>
            <a:r>
              <a:rPr sz="975" b="1" i="0">
                <a:solidFill>
                  <a:srgbClr val="3560D6"/>
                </a:solidFill>
                <a:latin typeface="Arial"/>
              </a:rPr>
              <a:t>04 · Decidir</a:t>
            </a:r>
          </a:p>
        </p:txBody>
      </p:sp>
      <p:sp>
        <p:nvSpPr>
          <p:cNvPr id="4" name="TextBox 3"/>
          <p:cNvSpPr txBox="1"/>
          <p:nvPr/>
        </p:nvSpPr>
        <p:spPr>
          <a:xfrm>
            <a:off x="640808" y="1428750"/>
            <a:ext cx="5576383" cy="345471"/>
          </a:xfrm>
          <a:prstGeom prst="rect">
            <a:avLst/>
          </a:prstGeom>
          <a:noFill/>
        </p:spPr>
        <p:txBody>
          <a:bodyPr wrap="square" lIns="0" rIns="0" tIns="0" bIns="0" anchor="t">
            <a:spAutoFit/>
          </a:bodyPr>
          <a:lstStyle/>
          <a:p>
            <a:pPr algn="l">
              <a:lnSpc>
                <a:spcPct val="100000"/>
              </a:lnSpc>
              <a:spcAft>
                <a:spcPts val="0"/>
              </a:spcAft>
            </a:pPr>
            <a:r>
              <a:rPr sz="2325" b="1" i="0">
                <a:solidFill>
                  <a:srgbClr val="664092"/>
                </a:solidFill>
                <a:latin typeface="Arial"/>
              </a:rPr>
              <a:t>De la evidencia a la decisión</a:t>
            </a:r>
          </a:p>
        </p:txBody>
      </p:sp>
      <p:cxnSp>
        <p:nvCxnSpPr>
          <p:cNvPr id="67" name="Google Shape;67;p12"/>
          <p:cNvCxnSpPr/>
          <p:nvPr/>
        </p:nvCxnSpPr>
        <p:spPr>
          <a:xfrm>
            <a:off x="748514" y="2004221"/>
            <a:ext cx="998913" cy="0"/>
          </a:xfrm>
          <a:prstGeom prst="straightConnector1">
            <a:avLst/>
          </a:prstGeom>
          <a:noFill/>
          <a:ln cap="flat" cmpd="sng" w="53975">
            <a:solidFill>
              <a:srgbClr val="73CDEB"/>
            </a:solidFill>
            <a:prstDash val="solid"/>
            <a:round/>
            <a:headEnd len="med" w="med" type="oval"/>
            <a:tailEnd len="med" w="med" type="oval"/>
          </a:ln>
        </p:spPr>
      </p:cxnSp>
      <p:sp>
        <p:nvSpPr>
          <p:cNvPr id="68" name="TextBox 67"/>
          <p:cNvSpPr txBox="1"/>
          <p:nvPr/>
        </p:nvSpPr>
        <p:spPr>
          <a:xfrm>
            <a:off x="642308" y="2254221"/>
            <a:ext cx="5576383" cy="2574836"/>
          </a:xfrm>
          <a:prstGeom prst="rect">
            <a:avLst/>
          </a:prstGeom>
          <a:noFill/>
        </p:spPr>
        <p:txBody>
          <a:bodyPr wrap="square" lIns="0" rIns="0" tIns="0" bIns="0" anchor="t">
            <a:spAutoFit/>
          </a:bodyPr>
          <a:lstStyle/>
          <a:p>
            <a:pPr algn="l">
              <a:lnSpc>
                <a:spcPct val="130000"/>
              </a:lnSpc>
              <a:spcAft>
                <a:spcPts val="1181"/>
              </a:spcAft>
            </a:pPr>
            <a:r>
              <a:rPr sz="1100" b="0" i="0">
                <a:solidFill>
                  <a:srgbClr val="56505B"/>
                </a:solidFill>
                <a:latin typeface="Arial"/>
              </a:rPr>
              <a:t>La evaluación no representa necesariamente el final del proceso. Los resultados pueden llevarnos nuevamente a idear, prototipar, redefinir el problema o incluso regresar a comprender mejor a las personas.</a:t>
            </a:r>
          </a:p>
          <a:p>
            <a:pPr algn="l">
              <a:lnSpc>
                <a:spcPct val="130000"/>
              </a:lnSpc>
              <a:spcAft>
                <a:spcPts val="1181"/>
              </a:spcAft>
            </a:pPr>
            <a:r>
              <a:rPr sz="1100" b="0" i="0">
                <a:solidFill>
                  <a:srgbClr val="56505B"/>
                </a:solidFill>
                <a:latin typeface="Arial"/>
              </a:rPr>
              <a:t>Esta posibilidad de avanzar y retroceder permite incorporar el aprendizaje a las decisiones. Si una prueba muestra que las personas pueden utilizar correctamente el prototipo pero que la propuesta no atiende aquello que consideran prioritario, modificar únicamente detalles de la solución probablemente no será suficiente: necesitaremos revisar nuestra comprensión del problema.</a:t>
            </a:r>
          </a:p>
          <a:p>
            <a:pPr algn="l">
              <a:lnSpc>
                <a:spcPct val="130000"/>
              </a:lnSpc>
              <a:spcAft>
                <a:spcPts val="1181"/>
              </a:spcAft>
            </a:pPr>
            <a:r>
              <a:rPr sz="1100" b="1" i="0">
                <a:solidFill>
                  <a:srgbClr val="024791"/>
                </a:solidFill>
                <a:latin typeface="Arial"/>
              </a:rPr>
              <a:t>Así, la evidencia no sirve solamente para decir “funciona” o “no funciona”. Sirve para decidir qué debemos hacer a continuación.</a:t>
            </a:r>
          </a:p>
        </p:txBody>
      </p:sp>
      <p:sp>
        <p:nvSpPr>
          <p:cNvPr id="69" name="TextBox 68"/>
          <p:cNvSpPr txBox="1"/>
          <p:nvPr/>
        </p:nvSpPr>
        <p:spPr>
          <a:xfrm>
            <a:off x="640808" y="4869057"/>
            <a:ext cx="5576383" cy="150000"/>
          </a:xfrm>
          <a:prstGeom prst="rect">
            <a:avLst/>
          </a:prstGeom>
          <a:noFill/>
        </p:spPr>
        <p:txBody>
          <a:bodyPr wrap="square" lIns="0" rIns="0" tIns="0" bIns="0" anchor="t">
            <a:spAutoFit/>
          </a:bodyPr>
          <a:lstStyle/>
          <a:p>
            <a:pPr algn="l">
              <a:lnSpc>
                <a:spcPct val="100000"/>
              </a:lnSpc>
              <a:spcAft>
                <a:spcPts val="0"/>
              </a:spcAft>
            </a:pPr>
            <a:r>
              <a:rPr sz="950" b="1" i="0">
                <a:solidFill>
                  <a:srgbClr val="3560D6"/>
                </a:solidFill>
                <a:latin typeface="Arial"/>
              </a:rPr>
              <a:t>FIGURA 5</a:t>
            </a:r>
          </a:p>
        </p:txBody>
      </p:sp>
      <p:sp>
        <p:nvSpPr>
          <p:cNvPr id="70" name="TextBox 69"/>
          <p:cNvSpPr txBox="1"/>
          <p:nvPr/>
        </p:nvSpPr>
        <p:spPr>
          <a:xfrm>
            <a:off x="640808" y="5107057"/>
            <a:ext cx="5576383" cy="212483"/>
          </a:xfrm>
          <a:prstGeom prst="rect">
            <a:avLst/>
          </a:prstGeom>
          <a:noFill/>
        </p:spPr>
        <p:txBody>
          <a:bodyPr wrap="square" lIns="0" rIns="0" tIns="0" bIns="0" anchor="t">
            <a:spAutoFit/>
          </a:bodyPr>
          <a:lstStyle/>
          <a:p>
            <a:pPr algn="l">
              <a:lnSpc>
                <a:spcPct val="110000"/>
              </a:lnSpc>
              <a:spcAft>
                <a:spcPts val="0"/>
              </a:spcAft>
            </a:pPr>
            <a:r>
              <a:rPr sz="1300" b="1" i="0">
                <a:solidFill>
                  <a:srgbClr val="664092"/>
                </a:solidFill>
                <a:latin typeface="Arial"/>
              </a:rPr>
              <a:t>De la evidencia a la decisión</a:t>
            </a:r>
          </a:p>
        </p:txBody>
      </p:sp>
      <p:sp>
        <p:nvSpPr>
          <p:cNvPr id="71" name="Rounded Rectangle 70"/>
          <p:cNvSpPr/>
          <p:nvPr/>
        </p:nvSpPr>
        <p:spPr>
          <a:xfrm>
            <a:off x="640808" y="6159540"/>
            <a:ext cx="1500000" cy="900000"/>
          </a:xfrm>
          <a:prstGeom prst="roundRect">
            <a:avLst>
              <a:gd name="adj" fmla="val 50000"/>
            </a:avLst>
          </a:prstGeom>
          <a:solidFill>
            <a:srgbClr val="664092"/>
          </a:solidFill>
          <a:ln>
            <a:noFill/>
          </a:ln>
        </p:spPr>
        <p:txBody>
          <a:bodyPr rtlCol="0" anchor="ctr"/>
          <a:lstStyle/>
          <a:p>
            <a:pPr algn="ctr"/>
          </a:p>
        </p:txBody>
      </p:sp>
      <p:sp>
        <p:nvSpPr>
          <p:cNvPr id="72" name="icono question"/>
          <p:cNvSpPr/>
          <p:nvPr/>
        </p:nvSpPr>
        <p:spPr>
          <a:xfrm>
            <a:off x="760808" y="6449540"/>
            <a:ext cx="320000" cy="320000"/>
          </a:xfrm>
          <a:custGeom>
            <a:avLst/>
            <a:gdLst/>
            <a:ahLst/>
            <a:cxnLst/>
            <a:rect l="0" t="0" r="r" b="b"/>
            <a:pathLst>
              <a:path w="25600" h="25600">
                <a:moveTo>
                  <a:pt x="14000" y="18000"/>
                </a:moveTo>
                <a:lnTo>
                  <a:pt x="13973" y="18255"/>
                </a:lnTo>
                <a:lnTo>
                  <a:pt x="13892" y="18498"/>
                </a:lnTo>
                <a:lnTo>
                  <a:pt x="13761" y="18719"/>
                </a:lnTo>
                <a:lnTo>
                  <a:pt x="13586" y="18907"/>
                </a:lnTo>
                <a:lnTo>
                  <a:pt x="13375" y="19053"/>
                </a:lnTo>
                <a:lnTo>
                  <a:pt x="13138" y="19151"/>
                </a:lnTo>
                <a:lnTo>
                  <a:pt x="12886" y="19197"/>
                </a:lnTo>
                <a:lnTo>
                  <a:pt x="12629" y="19188"/>
                </a:lnTo>
                <a:lnTo>
                  <a:pt x="12381" y="19124"/>
                </a:lnTo>
                <a:lnTo>
                  <a:pt x="12151" y="19010"/>
                </a:lnTo>
                <a:lnTo>
                  <a:pt x="11951" y="18849"/>
                </a:lnTo>
                <a:lnTo>
                  <a:pt x="11790" y="18649"/>
                </a:lnTo>
                <a:lnTo>
                  <a:pt x="11676" y="18419"/>
                </a:lnTo>
                <a:lnTo>
                  <a:pt x="11612" y="18171"/>
                </a:lnTo>
                <a:lnTo>
                  <a:pt x="11603" y="17914"/>
                </a:lnTo>
                <a:lnTo>
                  <a:pt x="11649" y="17662"/>
                </a:lnTo>
                <a:lnTo>
                  <a:pt x="11747" y="17425"/>
                </a:lnTo>
                <a:lnTo>
                  <a:pt x="11893" y="17214"/>
                </a:lnTo>
                <a:lnTo>
                  <a:pt x="12081" y="17039"/>
                </a:lnTo>
                <a:lnTo>
                  <a:pt x="12302" y="16908"/>
                </a:lnTo>
                <a:lnTo>
                  <a:pt x="12545" y="16827"/>
                </a:lnTo>
                <a:lnTo>
                  <a:pt x="12800" y="16800"/>
                </a:lnTo>
                <a:lnTo>
                  <a:pt x="13067" y="16830"/>
                </a:lnTo>
                <a:lnTo>
                  <a:pt x="13321" y="16919"/>
                </a:lnTo>
                <a:lnTo>
                  <a:pt x="13548" y="17062"/>
                </a:lnTo>
                <a:lnTo>
                  <a:pt x="13738" y="17252"/>
                </a:lnTo>
                <a:lnTo>
                  <a:pt x="13881" y="17479"/>
                </a:lnTo>
                <a:lnTo>
                  <a:pt x="13970" y="17733"/>
                </a:lnTo>
                <a:lnTo>
                  <a:pt x="14000" y="18000"/>
                </a:lnTo>
                <a:close/>
                <a:moveTo>
                  <a:pt x="12800" y="7200"/>
                </a:moveTo>
                <a:cubicBezTo>
                  <a:pt x="10594" y="7200"/>
                  <a:pt x="8800" y="8815"/>
                  <a:pt x="8800" y="10800"/>
                </a:cubicBezTo>
                <a:lnTo>
                  <a:pt x="8800" y="11200"/>
                </a:lnTo>
                <a:lnTo>
                  <a:pt x="8817" y="11366"/>
                </a:lnTo>
                <a:lnTo>
                  <a:pt x="8869" y="11525"/>
                </a:lnTo>
                <a:lnTo>
                  <a:pt x="8953" y="11670"/>
                </a:lnTo>
                <a:lnTo>
                  <a:pt x="9065" y="11795"/>
                </a:lnTo>
                <a:lnTo>
                  <a:pt x="9200" y="11893"/>
                </a:lnTo>
                <a:lnTo>
                  <a:pt x="9353" y="11961"/>
                </a:lnTo>
                <a:lnTo>
                  <a:pt x="9516" y="11996"/>
                </a:lnTo>
                <a:lnTo>
                  <a:pt x="9684" y="11996"/>
                </a:lnTo>
                <a:lnTo>
                  <a:pt x="9847" y="11961"/>
                </a:lnTo>
                <a:lnTo>
                  <a:pt x="10000" y="11893"/>
                </a:lnTo>
                <a:lnTo>
                  <a:pt x="10135" y="11795"/>
                </a:lnTo>
                <a:lnTo>
                  <a:pt x="10247" y="11670"/>
                </a:lnTo>
                <a:lnTo>
                  <a:pt x="10331" y="11525"/>
                </a:lnTo>
                <a:lnTo>
                  <a:pt x="10383" y="11366"/>
                </a:lnTo>
                <a:lnTo>
                  <a:pt x="10400" y="11200"/>
                </a:lnTo>
                <a:lnTo>
                  <a:pt x="10400" y="10800"/>
                </a:lnTo>
                <a:cubicBezTo>
                  <a:pt x="10400" y="9700"/>
                  <a:pt x="11477" y="8800"/>
                  <a:pt x="12800" y="8800"/>
                </a:cubicBezTo>
                <a:cubicBezTo>
                  <a:pt x="14123" y="8800"/>
                  <a:pt x="15200" y="9700"/>
                  <a:pt x="15200" y="10800"/>
                </a:cubicBezTo>
                <a:cubicBezTo>
                  <a:pt x="15200" y="11900"/>
                  <a:pt x="14123" y="12800"/>
                  <a:pt x="12800" y="12800"/>
                </a:cubicBezTo>
                <a:lnTo>
                  <a:pt x="12622" y="12820"/>
                </a:lnTo>
                <a:lnTo>
                  <a:pt x="12453" y="12879"/>
                </a:lnTo>
                <a:lnTo>
                  <a:pt x="12301" y="12975"/>
                </a:lnTo>
                <a:lnTo>
                  <a:pt x="12175" y="13101"/>
                </a:lnTo>
                <a:lnTo>
                  <a:pt x="12079" y="13253"/>
                </a:lnTo>
                <a:lnTo>
                  <a:pt x="12020" y="13422"/>
                </a:lnTo>
                <a:lnTo>
                  <a:pt x="12000" y="13600"/>
                </a:lnTo>
                <a:lnTo>
                  <a:pt x="12000" y="14400"/>
                </a:lnTo>
                <a:lnTo>
                  <a:pt x="12017" y="14566"/>
                </a:lnTo>
                <a:lnTo>
                  <a:pt x="12069" y="14725"/>
                </a:lnTo>
                <a:lnTo>
                  <a:pt x="12153" y="14870"/>
                </a:lnTo>
                <a:lnTo>
                  <a:pt x="12265" y="14995"/>
                </a:lnTo>
                <a:lnTo>
                  <a:pt x="12400" y="15093"/>
                </a:lnTo>
                <a:lnTo>
                  <a:pt x="12553" y="15161"/>
                </a:lnTo>
                <a:lnTo>
                  <a:pt x="12716" y="15196"/>
                </a:lnTo>
                <a:lnTo>
                  <a:pt x="12884" y="15196"/>
                </a:lnTo>
                <a:lnTo>
                  <a:pt x="13047" y="15161"/>
                </a:lnTo>
                <a:lnTo>
                  <a:pt x="13200" y="15093"/>
                </a:lnTo>
                <a:lnTo>
                  <a:pt x="13335" y="14995"/>
                </a:lnTo>
                <a:lnTo>
                  <a:pt x="13447" y="14870"/>
                </a:lnTo>
                <a:lnTo>
                  <a:pt x="13531" y="14725"/>
                </a:lnTo>
                <a:lnTo>
                  <a:pt x="13583" y="14566"/>
                </a:lnTo>
                <a:lnTo>
                  <a:pt x="13600" y="14400"/>
                </a:lnTo>
                <a:lnTo>
                  <a:pt x="13600" y="14328"/>
                </a:lnTo>
                <a:cubicBezTo>
                  <a:pt x="15424" y="13993"/>
                  <a:pt x="16800" y="12538"/>
                  <a:pt x="16800" y="10800"/>
                </a:cubicBezTo>
                <a:cubicBezTo>
                  <a:pt x="16800" y="8815"/>
                  <a:pt x="15006" y="7200"/>
                  <a:pt x="12800" y="7200"/>
                </a:cubicBezTo>
                <a:close/>
                <a:moveTo>
                  <a:pt x="23200" y="12800"/>
                </a:moveTo>
                <a:lnTo>
                  <a:pt x="22962" y="15011"/>
                </a:lnTo>
                <a:lnTo>
                  <a:pt x="22260" y="17120"/>
                </a:lnTo>
                <a:lnTo>
                  <a:pt x="21126" y="19032"/>
                </a:lnTo>
                <a:lnTo>
                  <a:pt x="19611" y="20660"/>
                </a:lnTo>
                <a:lnTo>
                  <a:pt x="17784" y="21928"/>
                </a:lnTo>
                <a:lnTo>
                  <a:pt x="15730" y="22779"/>
                </a:lnTo>
                <a:lnTo>
                  <a:pt x="13542" y="23174"/>
                </a:lnTo>
                <a:lnTo>
                  <a:pt x="11320" y="23094"/>
                </a:lnTo>
                <a:lnTo>
                  <a:pt x="9166" y="22544"/>
                </a:lnTo>
                <a:lnTo>
                  <a:pt x="7177" y="21549"/>
                </a:lnTo>
                <a:lnTo>
                  <a:pt x="5446" y="20154"/>
                </a:lnTo>
                <a:lnTo>
                  <a:pt x="4051" y="18423"/>
                </a:lnTo>
                <a:lnTo>
                  <a:pt x="3056" y="16434"/>
                </a:lnTo>
                <a:lnTo>
                  <a:pt x="2506" y="14280"/>
                </a:lnTo>
                <a:lnTo>
                  <a:pt x="2426" y="12058"/>
                </a:lnTo>
                <a:lnTo>
                  <a:pt x="2821" y="9870"/>
                </a:lnTo>
                <a:lnTo>
                  <a:pt x="3672" y="7816"/>
                </a:lnTo>
                <a:lnTo>
                  <a:pt x="4940" y="5989"/>
                </a:lnTo>
                <a:lnTo>
                  <a:pt x="6568" y="4474"/>
                </a:lnTo>
                <a:lnTo>
                  <a:pt x="8480" y="3340"/>
                </a:lnTo>
                <a:lnTo>
                  <a:pt x="10589" y="2638"/>
                </a:lnTo>
                <a:lnTo>
                  <a:pt x="12800" y="2400"/>
                </a:lnTo>
                <a:lnTo>
                  <a:pt x="15113" y="2663"/>
                </a:lnTo>
                <a:lnTo>
                  <a:pt x="17310" y="3433"/>
                </a:lnTo>
                <a:lnTo>
                  <a:pt x="19281" y="4672"/>
                </a:lnTo>
                <a:lnTo>
                  <a:pt x="20928" y="6319"/>
                </a:lnTo>
                <a:lnTo>
                  <a:pt x="22167" y="8290"/>
                </a:lnTo>
                <a:lnTo>
                  <a:pt x="22937" y="10487"/>
                </a:lnTo>
                <a:lnTo>
                  <a:pt x="23200" y="12800"/>
                </a:lnTo>
                <a:close/>
                <a:moveTo>
                  <a:pt x="21600" y="12800"/>
                </a:moveTo>
                <a:lnTo>
                  <a:pt x="21399" y="10929"/>
                </a:lnTo>
                <a:lnTo>
                  <a:pt x="20805" y="9144"/>
                </a:lnTo>
                <a:lnTo>
                  <a:pt x="19845" y="7526"/>
                </a:lnTo>
                <a:lnTo>
                  <a:pt x="18563" y="6149"/>
                </a:lnTo>
                <a:lnTo>
                  <a:pt x="17017" y="5076"/>
                </a:lnTo>
                <a:lnTo>
                  <a:pt x="15279" y="4356"/>
                </a:lnTo>
                <a:lnTo>
                  <a:pt x="13428" y="4022"/>
                </a:lnTo>
                <a:lnTo>
                  <a:pt x="11548" y="4090"/>
                </a:lnTo>
                <a:lnTo>
                  <a:pt x="9725" y="4555"/>
                </a:lnTo>
                <a:lnTo>
                  <a:pt x="8042" y="5397"/>
                </a:lnTo>
                <a:lnTo>
                  <a:pt x="6577" y="6577"/>
                </a:lnTo>
                <a:lnTo>
                  <a:pt x="5397" y="8042"/>
                </a:lnTo>
                <a:lnTo>
                  <a:pt x="4555" y="9725"/>
                </a:lnTo>
                <a:lnTo>
                  <a:pt x="4090" y="11548"/>
                </a:lnTo>
                <a:lnTo>
                  <a:pt x="4022" y="13428"/>
                </a:lnTo>
                <a:lnTo>
                  <a:pt x="4356" y="15279"/>
                </a:lnTo>
                <a:lnTo>
                  <a:pt x="5076" y="17017"/>
                </a:lnTo>
                <a:lnTo>
                  <a:pt x="6149" y="18563"/>
                </a:lnTo>
                <a:lnTo>
                  <a:pt x="7526" y="19845"/>
                </a:lnTo>
                <a:lnTo>
                  <a:pt x="9144" y="20805"/>
                </a:lnTo>
                <a:lnTo>
                  <a:pt x="10929" y="21399"/>
                </a:lnTo>
                <a:lnTo>
                  <a:pt x="12800" y="21600"/>
                </a:lnTo>
                <a:lnTo>
                  <a:pt x="14757" y="21378"/>
                </a:lnTo>
                <a:lnTo>
                  <a:pt x="16616" y="20726"/>
                </a:lnTo>
                <a:lnTo>
                  <a:pt x="18284" y="19677"/>
                </a:lnTo>
                <a:lnTo>
                  <a:pt x="19677" y="18284"/>
                </a:lnTo>
                <a:lnTo>
                  <a:pt x="20726" y="16616"/>
                </a:lnTo>
                <a:lnTo>
                  <a:pt x="21378" y="14757"/>
                </a:lnTo>
                <a:lnTo>
                  <a:pt x="21600" y="12800"/>
                </a:lnTo>
                <a:close/>
              </a:path>
            </a:pathLst>
          </a:custGeom>
          <a:solidFill>
            <a:srgbClr val="FFFFFF"/>
          </a:solidFill>
          <a:ln>
            <a:noFill/>
          </a:ln>
        </p:spPr>
        <p:txBody>
          <a:bodyPr rtlCol="0" anchor="ctr"/>
          <a:lstStyle/>
          <a:p>
            <a:pPr algn="ctr"/>
          </a:p>
        </p:txBody>
      </p:sp>
      <p:sp>
        <p:nvSpPr>
          <p:cNvPr id="73" name="TextBox 72"/>
          <p:cNvSpPr txBox="1"/>
          <p:nvPr/>
        </p:nvSpPr>
        <p:spPr>
          <a:xfrm>
            <a:off x="1110808" y="6159540"/>
            <a:ext cx="980000" cy="900000"/>
          </a:xfrm>
          <a:prstGeom prst="rect">
            <a:avLst/>
          </a:prstGeom>
          <a:noFill/>
        </p:spPr>
        <p:txBody>
          <a:bodyPr wrap="square" lIns="0" rIns="0" tIns="0" bIns="0" anchor="ctr">
            <a:spAutoFit/>
          </a:bodyPr>
          <a:lstStyle/>
          <a:p>
            <a:pPr algn="l">
              <a:lnSpc>
                <a:spcPct val="100000"/>
              </a:lnSpc>
              <a:spcAft>
                <a:spcPts val="0"/>
              </a:spcAft>
            </a:pPr>
            <a:r>
              <a:rPr sz="1000" b="1" i="0">
                <a:solidFill>
                  <a:srgbClr val="FFFFFF"/>
                </a:solidFill>
                <a:latin typeface="Arial"/>
              </a:rPr>
              <a:t>¿QUÉ APRENDIMOS?</a:t>
            </a:r>
          </a:p>
        </p:txBody>
      </p:sp>
      <p:sp>
        <p:nvSpPr>
          <p:cNvPr id="74" name="Isosceles Triangle 73"/>
          <p:cNvSpPr/>
          <p:nvPr/>
        </p:nvSpPr>
        <p:spPr>
          <a:xfrm rot="5400000">
            <a:off x="2230808" y="5624540"/>
            <a:ext cx="90000" cy="72000"/>
          </a:xfrm>
          <a:prstGeom prst="triangle">
            <a:avLst/>
          </a:prstGeom>
          <a:solidFill>
            <a:srgbClr val="C9C1D9"/>
          </a:solidFill>
          <a:ln>
            <a:noFill/>
          </a:ln>
        </p:spPr>
        <p:txBody>
          <a:bodyPr rtlCol="0" anchor="ctr"/>
          <a:lstStyle/>
          <a:p>
            <a:pPr algn="ctr"/>
          </a:p>
        </p:txBody>
      </p:sp>
      <p:sp>
        <p:nvSpPr>
          <p:cNvPr id="75" name="Rounded Rectangle 74"/>
          <p:cNvSpPr/>
          <p:nvPr/>
        </p:nvSpPr>
        <p:spPr>
          <a:xfrm>
            <a:off x="2440808" y="5469540"/>
            <a:ext cx="3776383" cy="400000"/>
          </a:xfrm>
          <a:prstGeom prst="roundRect">
            <a:avLst>
              <a:gd name="adj" fmla="val 20000"/>
            </a:avLst>
          </a:prstGeom>
          <a:solidFill>
            <a:srgbClr val="F1EBF6"/>
          </a:solidFill>
          <a:ln>
            <a:noFill/>
          </a:ln>
        </p:spPr>
        <p:txBody>
          <a:bodyPr rtlCol="0" anchor="ctr"/>
          <a:lstStyle/>
          <a:p>
            <a:pPr algn="ctr"/>
          </a:p>
        </p:txBody>
      </p:sp>
      <p:sp>
        <p:nvSpPr>
          <p:cNvPr id="76" name="Rectangle 75"/>
          <p:cNvSpPr/>
          <p:nvPr/>
        </p:nvSpPr>
        <p:spPr>
          <a:xfrm>
            <a:off x="2440808" y="5469540"/>
            <a:ext cx="50000" cy="400000"/>
          </a:xfrm>
          <a:prstGeom prst="rect">
            <a:avLst/>
          </a:prstGeom>
          <a:solidFill>
            <a:srgbClr val="024791"/>
          </a:solidFill>
          <a:ln>
            <a:noFill/>
          </a:ln>
        </p:spPr>
        <p:txBody>
          <a:bodyPr rtlCol="0" anchor="ctr"/>
          <a:lstStyle/>
          <a:p>
            <a:pPr algn="ctr"/>
          </a:p>
        </p:txBody>
      </p:sp>
      <p:sp>
        <p:nvSpPr>
          <p:cNvPr id="77" name="icono check-circle"/>
          <p:cNvSpPr/>
          <p:nvPr/>
        </p:nvSpPr>
        <p:spPr>
          <a:xfrm>
            <a:off x="2580808" y="5559540"/>
            <a:ext cx="220000" cy="220000"/>
          </a:xfrm>
          <a:custGeom>
            <a:avLst/>
            <a:gdLst/>
            <a:ahLst/>
            <a:cxnLst/>
            <a:rect l="0" t="0" r="r" b="b"/>
            <a:pathLst>
              <a:path w="25600" h="25600">
                <a:moveTo>
                  <a:pt x="17366" y="9834"/>
                </a:moveTo>
                <a:lnTo>
                  <a:pt x="17478" y="9974"/>
                </a:lnTo>
                <a:lnTo>
                  <a:pt x="17556" y="10136"/>
                </a:lnTo>
                <a:lnTo>
                  <a:pt x="17596" y="10310"/>
                </a:lnTo>
                <a:lnTo>
                  <a:pt x="17596" y="10490"/>
                </a:lnTo>
                <a:lnTo>
                  <a:pt x="17556" y="10664"/>
                </a:lnTo>
                <a:lnTo>
                  <a:pt x="17478" y="10826"/>
                </a:lnTo>
                <a:lnTo>
                  <a:pt x="17366" y="10966"/>
                </a:lnTo>
                <a:lnTo>
                  <a:pt x="11766" y="16566"/>
                </a:lnTo>
                <a:lnTo>
                  <a:pt x="11626" y="16678"/>
                </a:lnTo>
                <a:lnTo>
                  <a:pt x="11464" y="16756"/>
                </a:lnTo>
                <a:lnTo>
                  <a:pt x="11290" y="16796"/>
                </a:lnTo>
                <a:lnTo>
                  <a:pt x="11110" y="16796"/>
                </a:lnTo>
                <a:lnTo>
                  <a:pt x="10936" y="16756"/>
                </a:lnTo>
                <a:lnTo>
                  <a:pt x="10774" y="16678"/>
                </a:lnTo>
                <a:lnTo>
                  <a:pt x="10634" y="16566"/>
                </a:lnTo>
                <a:lnTo>
                  <a:pt x="8234" y="14166"/>
                </a:lnTo>
                <a:lnTo>
                  <a:pt x="8129" y="14036"/>
                </a:lnTo>
                <a:lnTo>
                  <a:pt x="8053" y="13887"/>
                </a:lnTo>
                <a:lnTo>
                  <a:pt x="8009" y="13725"/>
                </a:lnTo>
                <a:lnTo>
                  <a:pt x="8001" y="13558"/>
                </a:lnTo>
                <a:lnTo>
                  <a:pt x="8027" y="13393"/>
                </a:lnTo>
                <a:lnTo>
                  <a:pt x="8087" y="13237"/>
                </a:lnTo>
                <a:lnTo>
                  <a:pt x="8178" y="13096"/>
                </a:lnTo>
                <a:lnTo>
                  <a:pt x="8296" y="12978"/>
                </a:lnTo>
                <a:lnTo>
                  <a:pt x="8437" y="12887"/>
                </a:lnTo>
                <a:lnTo>
                  <a:pt x="8593" y="12827"/>
                </a:lnTo>
                <a:lnTo>
                  <a:pt x="8758" y="12801"/>
                </a:lnTo>
                <a:lnTo>
                  <a:pt x="8925" y="12809"/>
                </a:lnTo>
                <a:lnTo>
                  <a:pt x="9087" y="12853"/>
                </a:lnTo>
                <a:lnTo>
                  <a:pt x="9236" y="12929"/>
                </a:lnTo>
                <a:lnTo>
                  <a:pt x="9366" y="13034"/>
                </a:lnTo>
                <a:lnTo>
                  <a:pt x="11200" y="14869"/>
                </a:lnTo>
                <a:lnTo>
                  <a:pt x="16234" y="9834"/>
                </a:lnTo>
                <a:lnTo>
                  <a:pt x="16374" y="9722"/>
                </a:lnTo>
                <a:lnTo>
                  <a:pt x="16536" y="9644"/>
                </a:lnTo>
                <a:lnTo>
                  <a:pt x="16710" y="9604"/>
                </a:lnTo>
                <a:lnTo>
                  <a:pt x="16890" y="9604"/>
                </a:lnTo>
                <a:lnTo>
                  <a:pt x="17064" y="9644"/>
                </a:lnTo>
                <a:lnTo>
                  <a:pt x="17226" y="9722"/>
                </a:lnTo>
                <a:lnTo>
                  <a:pt x="17366" y="9834"/>
                </a:lnTo>
                <a:close/>
                <a:moveTo>
                  <a:pt x="23200" y="12800"/>
                </a:moveTo>
                <a:lnTo>
                  <a:pt x="22962" y="15011"/>
                </a:lnTo>
                <a:lnTo>
                  <a:pt x="22260" y="17120"/>
                </a:lnTo>
                <a:lnTo>
                  <a:pt x="21126" y="19032"/>
                </a:lnTo>
                <a:lnTo>
                  <a:pt x="19611" y="20660"/>
                </a:lnTo>
                <a:lnTo>
                  <a:pt x="17784" y="21928"/>
                </a:lnTo>
                <a:lnTo>
                  <a:pt x="15730" y="22779"/>
                </a:lnTo>
                <a:lnTo>
                  <a:pt x="13542" y="23174"/>
                </a:lnTo>
                <a:lnTo>
                  <a:pt x="11320" y="23094"/>
                </a:lnTo>
                <a:lnTo>
                  <a:pt x="9166" y="22544"/>
                </a:lnTo>
                <a:lnTo>
                  <a:pt x="7177" y="21549"/>
                </a:lnTo>
                <a:lnTo>
                  <a:pt x="5446" y="20154"/>
                </a:lnTo>
                <a:lnTo>
                  <a:pt x="4051" y="18423"/>
                </a:lnTo>
                <a:lnTo>
                  <a:pt x="3056" y="16434"/>
                </a:lnTo>
                <a:lnTo>
                  <a:pt x="2506" y="14280"/>
                </a:lnTo>
                <a:lnTo>
                  <a:pt x="2426" y="12058"/>
                </a:lnTo>
                <a:lnTo>
                  <a:pt x="2821" y="9870"/>
                </a:lnTo>
                <a:lnTo>
                  <a:pt x="3672" y="7816"/>
                </a:lnTo>
                <a:lnTo>
                  <a:pt x="4940" y="5989"/>
                </a:lnTo>
                <a:lnTo>
                  <a:pt x="6568" y="4474"/>
                </a:lnTo>
                <a:lnTo>
                  <a:pt x="8480" y="3340"/>
                </a:lnTo>
                <a:lnTo>
                  <a:pt x="10589" y="2638"/>
                </a:lnTo>
                <a:lnTo>
                  <a:pt x="12800" y="2400"/>
                </a:lnTo>
                <a:lnTo>
                  <a:pt x="15113" y="2663"/>
                </a:lnTo>
                <a:lnTo>
                  <a:pt x="17310" y="3433"/>
                </a:lnTo>
                <a:lnTo>
                  <a:pt x="19281" y="4672"/>
                </a:lnTo>
                <a:lnTo>
                  <a:pt x="20928" y="6319"/>
                </a:lnTo>
                <a:lnTo>
                  <a:pt x="22167" y="8290"/>
                </a:lnTo>
                <a:lnTo>
                  <a:pt x="22937" y="10487"/>
                </a:lnTo>
                <a:lnTo>
                  <a:pt x="23200" y="12800"/>
                </a:lnTo>
                <a:close/>
                <a:moveTo>
                  <a:pt x="21600" y="12800"/>
                </a:moveTo>
                <a:lnTo>
                  <a:pt x="21399" y="10929"/>
                </a:lnTo>
                <a:lnTo>
                  <a:pt x="20805" y="9144"/>
                </a:lnTo>
                <a:lnTo>
                  <a:pt x="19845" y="7526"/>
                </a:lnTo>
                <a:lnTo>
                  <a:pt x="18563" y="6149"/>
                </a:lnTo>
                <a:lnTo>
                  <a:pt x="17017" y="5076"/>
                </a:lnTo>
                <a:lnTo>
                  <a:pt x="15279" y="4356"/>
                </a:lnTo>
                <a:lnTo>
                  <a:pt x="13428" y="4022"/>
                </a:lnTo>
                <a:lnTo>
                  <a:pt x="11548" y="4090"/>
                </a:lnTo>
                <a:lnTo>
                  <a:pt x="9725" y="4555"/>
                </a:lnTo>
                <a:lnTo>
                  <a:pt x="8042" y="5397"/>
                </a:lnTo>
                <a:lnTo>
                  <a:pt x="6577" y="6577"/>
                </a:lnTo>
                <a:lnTo>
                  <a:pt x="5397" y="8042"/>
                </a:lnTo>
                <a:lnTo>
                  <a:pt x="4555" y="9725"/>
                </a:lnTo>
                <a:lnTo>
                  <a:pt x="4090" y="11548"/>
                </a:lnTo>
                <a:lnTo>
                  <a:pt x="4022" y="13428"/>
                </a:lnTo>
                <a:lnTo>
                  <a:pt x="4356" y="15279"/>
                </a:lnTo>
                <a:lnTo>
                  <a:pt x="5076" y="17017"/>
                </a:lnTo>
                <a:lnTo>
                  <a:pt x="6149" y="18563"/>
                </a:lnTo>
                <a:lnTo>
                  <a:pt x="7526" y="19845"/>
                </a:lnTo>
                <a:lnTo>
                  <a:pt x="9144" y="20805"/>
                </a:lnTo>
                <a:lnTo>
                  <a:pt x="10929" y="21399"/>
                </a:lnTo>
                <a:lnTo>
                  <a:pt x="12800" y="21600"/>
                </a:lnTo>
                <a:lnTo>
                  <a:pt x="14757" y="21378"/>
                </a:lnTo>
                <a:lnTo>
                  <a:pt x="16616" y="20726"/>
                </a:lnTo>
                <a:lnTo>
                  <a:pt x="18284" y="19677"/>
                </a:lnTo>
                <a:lnTo>
                  <a:pt x="19677" y="18284"/>
                </a:lnTo>
                <a:lnTo>
                  <a:pt x="20726" y="16616"/>
                </a:lnTo>
                <a:lnTo>
                  <a:pt x="21378" y="14757"/>
                </a:lnTo>
                <a:lnTo>
                  <a:pt x="21600" y="12800"/>
                </a:lnTo>
                <a:close/>
              </a:path>
            </a:pathLst>
          </a:custGeom>
          <a:solidFill>
            <a:srgbClr val="024791"/>
          </a:solidFill>
          <a:ln>
            <a:noFill/>
          </a:ln>
        </p:spPr>
        <p:txBody>
          <a:bodyPr rtlCol="0" anchor="ctr"/>
          <a:lstStyle/>
          <a:p>
            <a:pPr algn="ctr"/>
          </a:p>
        </p:txBody>
      </p:sp>
      <p:sp>
        <p:nvSpPr>
          <p:cNvPr id="78" name="TextBox 77"/>
          <p:cNvSpPr txBox="1"/>
          <p:nvPr/>
        </p:nvSpPr>
        <p:spPr>
          <a:xfrm>
            <a:off x="2890808" y="5469540"/>
            <a:ext cx="1350000" cy="400000"/>
          </a:xfrm>
          <a:prstGeom prst="rect">
            <a:avLst/>
          </a:prstGeom>
          <a:noFill/>
        </p:spPr>
        <p:txBody>
          <a:bodyPr wrap="square" lIns="0" rIns="0" tIns="0" bIns="0" anchor="ctr">
            <a:spAutoFit/>
          </a:bodyPr>
          <a:lstStyle/>
          <a:p>
            <a:pPr algn="l">
              <a:lnSpc>
                <a:spcPct val="100000"/>
              </a:lnSpc>
              <a:spcAft>
                <a:spcPts val="0"/>
              </a:spcAft>
            </a:pPr>
            <a:r>
              <a:rPr sz="950" b="1" i="0">
                <a:solidFill>
                  <a:srgbClr val="024791"/>
                </a:solidFill>
                <a:latin typeface="Arial"/>
              </a:rPr>
              <a:t>MANTENER</a:t>
            </a:r>
          </a:p>
        </p:txBody>
      </p:sp>
      <p:sp>
        <p:nvSpPr>
          <p:cNvPr id="79" name="TextBox 78"/>
          <p:cNvSpPr txBox="1"/>
          <p:nvPr/>
        </p:nvSpPr>
        <p:spPr>
          <a:xfrm>
            <a:off x="4240808" y="5469540"/>
            <a:ext cx="1896383" cy="400000"/>
          </a:xfrm>
          <a:prstGeom prst="rect">
            <a:avLst/>
          </a:prstGeom>
          <a:noFill/>
        </p:spPr>
        <p:txBody>
          <a:bodyPr wrap="square" lIns="0" rIns="0" tIns="0" bIns="0" anchor="ctr">
            <a:spAutoFit/>
          </a:bodyPr>
          <a:lstStyle/>
          <a:p>
            <a:pPr algn="l">
              <a:lnSpc>
                <a:spcPct val="100000"/>
              </a:lnSpc>
              <a:spcAft>
                <a:spcPts val="0"/>
              </a:spcAft>
            </a:pPr>
            <a:r>
              <a:rPr sz="950" b="0" i="0">
                <a:solidFill>
                  <a:srgbClr val="3D2159"/>
                </a:solidFill>
                <a:latin typeface="Arial"/>
              </a:rPr>
              <a:t>La evidencia respalda una decisión.</a:t>
            </a:r>
          </a:p>
        </p:txBody>
      </p:sp>
      <p:sp>
        <p:nvSpPr>
          <p:cNvPr id="80" name="Isosceles Triangle 79"/>
          <p:cNvSpPr/>
          <p:nvPr/>
        </p:nvSpPr>
        <p:spPr>
          <a:xfrm rot="5400000">
            <a:off x="2230808" y="6094540"/>
            <a:ext cx="90000" cy="72000"/>
          </a:xfrm>
          <a:prstGeom prst="triangle">
            <a:avLst/>
          </a:prstGeom>
          <a:solidFill>
            <a:srgbClr val="C9C1D9"/>
          </a:solidFill>
          <a:ln>
            <a:noFill/>
          </a:ln>
        </p:spPr>
        <p:txBody>
          <a:bodyPr rtlCol="0" anchor="ctr"/>
          <a:lstStyle/>
          <a:p>
            <a:pPr algn="ctr"/>
          </a:p>
        </p:txBody>
      </p:sp>
      <p:sp>
        <p:nvSpPr>
          <p:cNvPr id="81" name="Rounded Rectangle 80"/>
          <p:cNvSpPr/>
          <p:nvPr/>
        </p:nvSpPr>
        <p:spPr>
          <a:xfrm>
            <a:off x="2440808" y="5939540"/>
            <a:ext cx="3776383" cy="400000"/>
          </a:xfrm>
          <a:prstGeom prst="roundRect">
            <a:avLst>
              <a:gd name="adj" fmla="val 20000"/>
            </a:avLst>
          </a:prstGeom>
          <a:solidFill>
            <a:srgbClr val="E5E6ED"/>
          </a:solidFill>
          <a:ln>
            <a:noFill/>
          </a:ln>
        </p:spPr>
        <p:txBody>
          <a:bodyPr rtlCol="0" anchor="ctr"/>
          <a:lstStyle/>
          <a:p>
            <a:pPr algn="ctr"/>
          </a:p>
        </p:txBody>
      </p:sp>
      <p:sp>
        <p:nvSpPr>
          <p:cNvPr id="82" name="Rectangle 81"/>
          <p:cNvSpPr/>
          <p:nvPr/>
        </p:nvSpPr>
        <p:spPr>
          <a:xfrm>
            <a:off x="2440808" y="5939540"/>
            <a:ext cx="50000" cy="400000"/>
          </a:xfrm>
          <a:prstGeom prst="rect">
            <a:avLst/>
          </a:prstGeom>
          <a:solidFill>
            <a:srgbClr val="3560D6"/>
          </a:solidFill>
          <a:ln>
            <a:noFill/>
          </a:ln>
        </p:spPr>
        <p:txBody>
          <a:bodyPr rtlCol="0" anchor="ctr"/>
          <a:lstStyle/>
          <a:p>
            <a:pPr algn="ctr"/>
          </a:p>
        </p:txBody>
      </p:sp>
      <p:sp>
        <p:nvSpPr>
          <p:cNvPr id="83" name="icono sliders-horizontal"/>
          <p:cNvSpPr/>
          <p:nvPr/>
        </p:nvSpPr>
        <p:spPr>
          <a:xfrm>
            <a:off x="2580808" y="6029540"/>
            <a:ext cx="220000" cy="220000"/>
          </a:xfrm>
          <a:custGeom>
            <a:avLst/>
            <a:gdLst/>
            <a:ahLst/>
            <a:cxnLst/>
            <a:rect l="0" t="0" r="r" b="b"/>
            <a:pathLst>
              <a:path w="25600" h="25600">
                <a:moveTo>
                  <a:pt x="4000" y="8800"/>
                </a:moveTo>
                <a:lnTo>
                  <a:pt x="7300" y="8800"/>
                </a:lnTo>
                <a:lnTo>
                  <a:pt x="7548" y="9457"/>
                </a:lnTo>
                <a:lnTo>
                  <a:pt x="7933" y="10045"/>
                </a:lnTo>
                <a:lnTo>
                  <a:pt x="8438" y="10534"/>
                </a:lnTo>
                <a:lnTo>
                  <a:pt x="9037" y="10901"/>
                </a:lnTo>
                <a:lnTo>
                  <a:pt x="9702" y="11129"/>
                </a:lnTo>
                <a:lnTo>
                  <a:pt x="10400" y="11206"/>
                </a:lnTo>
                <a:lnTo>
                  <a:pt x="11098" y="11129"/>
                </a:lnTo>
                <a:lnTo>
                  <a:pt x="11763" y="10901"/>
                </a:lnTo>
                <a:lnTo>
                  <a:pt x="12362" y="10534"/>
                </a:lnTo>
                <a:lnTo>
                  <a:pt x="12867" y="10045"/>
                </a:lnTo>
                <a:lnTo>
                  <a:pt x="13252" y="9457"/>
                </a:lnTo>
                <a:lnTo>
                  <a:pt x="13500" y="8800"/>
                </a:lnTo>
                <a:lnTo>
                  <a:pt x="21600" y="8800"/>
                </a:lnTo>
                <a:lnTo>
                  <a:pt x="21766" y="8783"/>
                </a:lnTo>
                <a:lnTo>
                  <a:pt x="21925" y="8731"/>
                </a:lnTo>
                <a:lnTo>
                  <a:pt x="22070" y="8647"/>
                </a:lnTo>
                <a:lnTo>
                  <a:pt x="22195" y="8535"/>
                </a:lnTo>
                <a:lnTo>
                  <a:pt x="22293" y="8400"/>
                </a:lnTo>
                <a:lnTo>
                  <a:pt x="22361" y="8247"/>
                </a:lnTo>
                <a:lnTo>
                  <a:pt x="22396" y="8084"/>
                </a:lnTo>
                <a:lnTo>
                  <a:pt x="22396" y="7916"/>
                </a:lnTo>
                <a:lnTo>
                  <a:pt x="22361" y="7753"/>
                </a:lnTo>
                <a:lnTo>
                  <a:pt x="22293" y="7600"/>
                </a:lnTo>
                <a:lnTo>
                  <a:pt x="22195" y="7465"/>
                </a:lnTo>
                <a:lnTo>
                  <a:pt x="22070" y="7353"/>
                </a:lnTo>
                <a:lnTo>
                  <a:pt x="21925" y="7269"/>
                </a:lnTo>
                <a:lnTo>
                  <a:pt x="21766" y="7217"/>
                </a:lnTo>
                <a:lnTo>
                  <a:pt x="21600" y="7200"/>
                </a:lnTo>
                <a:lnTo>
                  <a:pt x="13500" y="7200"/>
                </a:lnTo>
                <a:lnTo>
                  <a:pt x="13252" y="6543"/>
                </a:lnTo>
                <a:lnTo>
                  <a:pt x="12867" y="5955"/>
                </a:lnTo>
                <a:lnTo>
                  <a:pt x="12362" y="5466"/>
                </a:lnTo>
                <a:lnTo>
                  <a:pt x="11763" y="5099"/>
                </a:lnTo>
                <a:lnTo>
                  <a:pt x="11098" y="4871"/>
                </a:lnTo>
                <a:lnTo>
                  <a:pt x="10400" y="4794"/>
                </a:lnTo>
                <a:lnTo>
                  <a:pt x="9702" y="4871"/>
                </a:lnTo>
                <a:lnTo>
                  <a:pt x="9037" y="5099"/>
                </a:lnTo>
                <a:lnTo>
                  <a:pt x="8438" y="5466"/>
                </a:lnTo>
                <a:lnTo>
                  <a:pt x="7933" y="5955"/>
                </a:lnTo>
                <a:lnTo>
                  <a:pt x="7548" y="6543"/>
                </a:lnTo>
                <a:lnTo>
                  <a:pt x="7300" y="7200"/>
                </a:lnTo>
                <a:lnTo>
                  <a:pt x="4000" y="7200"/>
                </a:lnTo>
                <a:lnTo>
                  <a:pt x="3834" y="7217"/>
                </a:lnTo>
                <a:lnTo>
                  <a:pt x="3675" y="7269"/>
                </a:lnTo>
                <a:lnTo>
                  <a:pt x="3530" y="7353"/>
                </a:lnTo>
                <a:lnTo>
                  <a:pt x="3405" y="7465"/>
                </a:lnTo>
                <a:lnTo>
                  <a:pt x="3307" y="7600"/>
                </a:lnTo>
                <a:lnTo>
                  <a:pt x="3239" y="7753"/>
                </a:lnTo>
                <a:lnTo>
                  <a:pt x="3204" y="7916"/>
                </a:lnTo>
                <a:lnTo>
                  <a:pt x="3204" y="8084"/>
                </a:lnTo>
                <a:lnTo>
                  <a:pt x="3239" y="8247"/>
                </a:lnTo>
                <a:lnTo>
                  <a:pt x="3307" y="8400"/>
                </a:lnTo>
                <a:lnTo>
                  <a:pt x="3405" y="8535"/>
                </a:lnTo>
                <a:lnTo>
                  <a:pt x="3530" y="8647"/>
                </a:lnTo>
                <a:lnTo>
                  <a:pt x="3675" y="8731"/>
                </a:lnTo>
                <a:lnTo>
                  <a:pt x="3834" y="8783"/>
                </a:lnTo>
                <a:lnTo>
                  <a:pt x="4000" y="8800"/>
                </a:lnTo>
                <a:close/>
                <a:moveTo>
                  <a:pt x="10400" y="6400"/>
                </a:moveTo>
                <a:lnTo>
                  <a:pt x="10740" y="6437"/>
                </a:lnTo>
                <a:lnTo>
                  <a:pt x="11065" y="6545"/>
                </a:lnTo>
                <a:lnTo>
                  <a:pt x="11359" y="6719"/>
                </a:lnTo>
                <a:lnTo>
                  <a:pt x="11609" y="6952"/>
                </a:lnTo>
                <a:lnTo>
                  <a:pt x="11804" y="7233"/>
                </a:lnTo>
                <a:lnTo>
                  <a:pt x="11935" y="7549"/>
                </a:lnTo>
                <a:lnTo>
                  <a:pt x="11996" y="7886"/>
                </a:lnTo>
                <a:lnTo>
                  <a:pt x="11984" y="8228"/>
                </a:lnTo>
                <a:lnTo>
                  <a:pt x="11899" y="8559"/>
                </a:lnTo>
                <a:lnTo>
                  <a:pt x="11746" y="8865"/>
                </a:lnTo>
                <a:lnTo>
                  <a:pt x="11531" y="9131"/>
                </a:lnTo>
                <a:lnTo>
                  <a:pt x="11265" y="9346"/>
                </a:lnTo>
                <a:lnTo>
                  <a:pt x="10959" y="9499"/>
                </a:lnTo>
                <a:lnTo>
                  <a:pt x="10628" y="9584"/>
                </a:lnTo>
                <a:lnTo>
                  <a:pt x="10286" y="9596"/>
                </a:lnTo>
                <a:lnTo>
                  <a:pt x="9949" y="9535"/>
                </a:lnTo>
                <a:lnTo>
                  <a:pt x="9633" y="9404"/>
                </a:lnTo>
                <a:lnTo>
                  <a:pt x="9352" y="9209"/>
                </a:lnTo>
                <a:lnTo>
                  <a:pt x="9119" y="8959"/>
                </a:lnTo>
                <a:lnTo>
                  <a:pt x="8945" y="8665"/>
                </a:lnTo>
                <a:lnTo>
                  <a:pt x="8837" y="8340"/>
                </a:lnTo>
                <a:lnTo>
                  <a:pt x="8800" y="8000"/>
                </a:lnTo>
                <a:lnTo>
                  <a:pt x="8840" y="7644"/>
                </a:lnTo>
                <a:lnTo>
                  <a:pt x="8958" y="7306"/>
                </a:lnTo>
                <a:lnTo>
                  <a:pt x="9149" y="7002"/>
                </a:lnTo>
                <a:lnTo>
                  <a:pt x="9402" y="6749"/>
                </a:lnTo>
                <a:lnTo>
                  <a:pt x="9706" y="6558"/>
                </a:lnTo>
                <a:lnTo>
                  <a:pt x="10044" y="6440"/>
                </a:lnTo>
                <a:lnTo>
                  <a:pt x="10400" y="6400"/>
                </a:lnTo>
                <a:close/>
                <a:moveTo>
                  <a:pt x="21600" y="16800"/>
                </a:moveTo>
                <a:lnTo>
                  <a:pt x="19900" y="16800"/>
                </a:lnTo>
                <a:lnTo>
                  <a:pt x="19652" y="16143"/>
                </a:lnTo>
                <a:lnTo>
                  <a:pt x="19267" y="15555"/>
                </a:lnTo>
                <a:lnTo>
                  <a:pt x="18762" y="15066"/>
                </a:lnTo>
                <a:lnTo>
                  <a:pt x="18163" y="14699"/>
                </a:lnTo>
                <a:lnTo>
                  <a:pt x="17498" y="14471"/>
                </a:lnTo>
                <a:lnTo>
                  <a:pt x="16800" y="14394"/>
                </a:lnTo>
                <a:lnTo>
                  <a:pt x="16102" y="14471"/>
                </a:lnTo>
                <a:lnTo>
                  <a:pt x="15437" y="14699"/>
                </a:lnTo>
                <a:lnTo>
                  <a:pt x="14838" y="15066"/>
                </a:lnTo>
                <a:lnTo>
                  <a:pt x="14333" y="15555"/>
                </a:lnTo>
                <a:lnTo>
                  <a:pt x="13948" y="16143"/>
                </a:lnTo>
                <a:lnTo>
                  <a:pt x="13700" y="16800"/>
                </a:lnTo>
                <a:lnTo>
                  <a:pt x="4000" y="16800"/>
                </a:lnTo>
                <a:lnTo>
                  <a:pt x="3834" y="16817"/>
                </a:lnTo>
                <a:lnTo>
                  <a:pt x="3675" y="16869"/>
                </a:lnTo>
                <a:lnTo>
                  <a:pt x="3530" y="16953"/>
                </a:lnTo>
                <a:lnTo>
                  <a:pt x="3405" y="17065"/>
                </a:lnTo>
                <a:lnTo>
                  <a:pt x="3307" y="17200"/>
                </a:lnTo>
                <a:lnTo>
                  <a:pt x="3239" y="17353"/>
                </a:lnTo>
                <a:lnTo>
                  <a:pt x="3204" y="17516"/>
                </a:lnTo>
                <a:lnTo>
                  <a:pt x="3204" y="17684"/>
                </a:lnTo>
                <a:lnTo>
                  <a:pt x="3239" y="17847"/>
                </a:lnTo>
                <a:lnTo>
                  <a:pt x="3307" y="18000"/>
                </a:lnTo>
                <a:lnTo>
                  <a:pt x="3405" y="18135"/>
                </a:lnTo>
                <a:lnTo>
                  <a:pt x="3530" y="18247"/>
                </a:lnTo>
                <a:lnTo>
                  <a:pt x="3675" y="18331"/>
                </a:lnTo>
                <a:lnTo>
                  <a:pt x="3834" y="18383"/>
                </a:lnTo>
                <a:lnTo>
                  <a:pt x="4000" y="18400"/>
                </a:lnTo>
                <a:lnTo>
                  <a:pt x="13700" y="18400"/>
                </a:lnTo>
                <a:lnTo>
                  <a:pt x="13948" y="19057"/>
                </a:lnTo>
                <a:lnTo>
                  <a:pt x="14333" y="19645"/>
                </a:lnTo>
                <a:lnTo>
                  <a:pt x="14838" y="20134"/>
                </a:lnTo>
                <a:lnTo>
                  <a:pt x="15437" y="20501"/>
                </a:lnTo>
                <a:lnTo>
                  <a:pt x="16102" y="20729"/>
                </a:lnTo>
                <a:lnTo>
                  <a:pt x="16800" y="20806"/>
                </a:lnTo>
                <a:lnTo>
                  <a:pt x="17498" y="20729"/>
                </a:lnTo>
                <a:lnTo>
                  <a:pt x="18163" y="20501"/>
                </a:lnTo>
                <a:lnTo>
                  <a:pt x="18762" y="20134"/>
                </a:lnTo>
                <a:lnTo>
                  <a:pt x="19267" y="19645"/>
                </a:lnTo>
                <a:lnTo>
                  <a:pt x="19652" y="19057"/>
                </a:lnTo>
                <a:lnTo>
                  <a:pt x="19900" y="18400"/>
                </a:lnTo>
                <a:lnTo>
                  <a:pt x="21600" y="18400"/>
                </a:lnTo>
                <a:lnTo>
                  <a:pt x="21766" y="18383"/>
                </a:lnTo>
                <a:lnTo>
                  <a:pt x="21925" y="18331"/>
                </a:lnTo>
                <a:lnTo>
                  <a:pt x="22070" y="18247"/>
                </a:lnTo>
                <a:lnTo>
                  <a:pt x="22195" y="18135"/>
                </a:lnTo>
                <a:lnTo>
                  <a:pt x="22293" y="18000"/>
                </a:lnTo>
                <a:lnTo>
                  <a:pt x="22361" y="17847"/>
                </a:lnTo>
                <a:lnTo>
                  <a:pt x="22396" y="17684"/>
                </a:lnTo>
                <a:lnTo>
                  <a:pt x="22396" y="17516"/>
                </a:lnTo>
                <a:lnTo>
                  <a:pt x="22361" y="17353"/>
                </a:lnTo>
                <a:lnTo>
                  <a:pt x="22293" y="17200"/>
                </a:lnTo>
                <a:lnTo>
                  <a:pt x="22195" y="17065"/>
                </a:lnTo>
                <a:lnTo>
                  <a:pt x="22070" y="16953"/>
                </a:lnTo>
                <a:lnTo>
                  <a:pt x="21925" y="16869"/>
                </a:lnTo>
                <a:lnTo>
                  <a:pt x="21766" y="16817"/>
                </a:lnTo>
                <a:lnTo>
                  <a:pt x="21600" y="16800"/>
                </a:lnTo>
                <a:close/>
                <a:moveTo>
                  <a:pt x="16800" y="19200"/>
                </a:moveTo>
                <a:lnTo>
                  <a:pt x="16460" y="19163"/>
                </a:lnTo>
                <a:lnTo>
                  <a:pt x="16135" y="19055"/>
                </a:lnTo>
                <a:lnTo>
                  <a:pt x="15841" y="18881"/>
                </a:lnTo>
                <a:lnTo>
                  <a:pt x="15591" y="18648"/>
                </a:lnTo>
                <a:lnTo>
                  <a:pt x="15396" y="18367"/>
                </a:lnTo>
                <a:lnTo>
                  <a:pt x="15265" y="18051"/>
                </a:lnTo>
                <a:lnTo>
                  <a:pt x="15204" y="17714"/>
                </a:lnTo>
                <a:lnTo>
                  <a:pt x="15216" y="17372"/>
                </a:lnTo>
                <a:lnTo>
                  <a:pt x="15301" y="17041"/>
                </a:lnTo>
                <a:lnTo>
                  <a:pt x="15454" y="16735"/>
                </a:lnTo>
                <a:lnTo>
                  <a:pt x="15669" y="16469"/>
                </a:lnTo>
                <a:lnTo>
                  <a:pt x="15935" y="16254"/>
                </a:lnTo>
                <a:lnTo>
                  <a:pt x="16241" y="16101"/>
                </a:lnTo>
                <a:lnTo>
                  <a:pt x="16572" y="16016"/>
                </a:lnTo>
                <a:lnTo>
                  <a:pt x="16914" y="16004"/>
                </a:lnTo>
                <a:lnTo>
                  <a:pt x="17251" y="16065"/>
                </a:lnTo>
                <a:lnTo>
                  <a:pt x="17567" y="16196"/>
                </a:lnTo>
                <a:lnTo>
                  <a:pt x="17848" y="16391"/>
                </a:lnTo>
                <a:lnTo>
                  <a:pt x="18081" y="16641"/>
                </a:lnTo>
                <a:lnTo>
                  <a:pt x="18255" y="16935"/>
                </a:lnTo>
                <a:lnTo>
                  <a:pt x="18363" y="17260"/>
                </a:lnTo>
                <a:lnTo>
                  <a:pt x="18400" y="17600"/>
                </a:lnTo>
                <a:lnTo>
                  <a:pt x="18360" y="17956"/>
                </a:lnTo>
                <a:lnTo>
                  <a:pt x="18242" y="18294"/>
                </a:lnTo>
                <a:lnTo>
                  <a:pt x="18051" y="18598"/>
                </a:lnTo>
                <a:lnTo>
                  <a:pt x="17798" y="18851"/>
                </a:lnTo>
                <a:lnTo>
                  <a:pt x="17494" y="19042"/>
                </a:lnTo>
                <a:lnTo>
                  <a:pt x="17156" y="19160"/>
                </a:lnTo>
                <a:lnTo>
                  <a:pt x="16800" y="19200"/>
                </a:lnTo>
                <a:close/>
              </a:path>
            </a:pathLst>
          </a:custGeom>
          <a:solidFill>
            <a:srgbClr val="3560D6"/>
          </a:solidFill>
          <a:ln>
            <a:noFill/>
          </a:ln>
        </p:spPr>
        <p:txBody>
          <a:bodyPr rtlCol="0" anchor="ctr"/>
          <a:lstStyle/>
          <a:p>
            <a:pPr algn="ctr"/>
          </a:p>
        </p:txBody>
      </p:sp>
      <p:sp>
        <p:nvSpPr>
          <p:cNvPr id="84" name="TextBox 83"/>
          <p:cNvSpPr txBox="1"/>
          <p:nvPr/>
        </p:nvSpPr>
        <p:spPr>
          <a:xfrm>
            <a:off x="2890808" y="5939540"/>
            <a:ext cx="1350000" cy="400000"/>
          </a:xfrm>
          <a:prstGeom prst="rect">
            <a:avLst/>
          </a:prstGeom>
          <a:noFill/>
        </p:spPr>
        <p:txBody>
          <a:bodyPr wrap="square" lIns="0" rIns="0" tIns="0" bIns="0" anchor="ctr">
            <a:spAutoFit/>
          </a:bodyPr>
          <a:lstStyle/>
          <a:p>
            <a:pPr algn="l">
              <a:lnSpc>
                <a:spcPct val="100000"/>
              </a:lnSpc>
              <a:spcAft>
                <a:spcPts val="0"/>
              </a:spcAft>
            </a:pPr>
            <a:r>
              <a:rPr sz="950" b="1" i="0">
                <a:solidFill>
                  <a:srgbClr val="3560D6"/>
                </a:solidFill>
                <a:latin typeface="Arial"/>
              </a:rPr>
              <a:t>AJUSTAR</a:t>
            </a:r>
          </a:p>
        </p:txBody>
      </p:sp>
      <p:sp>
        <p:nvSpPr>
          <p:cNvPr id="85" name="TextBox 84"/>
          <p:cNvSpPr txBox="1"/>
          <p:nvPr/>
        </p:nvSpPr>
        <p:spPr>
          <a:xfrm>
            <a:off x="4240808" y="5939540"/>
            <a:ext cx="1896383" cy="400000"/>
          </a:xfrm>
          <a:prstGeom prst="rect">
            <a:avLst/>
          </a:prstGeom>
          <a:noFill/>
        </p:spPr>
        <p:txBody>
          <a:bodyPr wrap="square" lIns="0" rIns="0" tIns="0" bIns="0" anchor="ctr">
            <a:spAutoFit/>
          </a:bodyPr>
          <a:lstStyle/>
          <a:p>
            <a:pPr algn="l">
              <a:lnSpc>
                <a:spcPct val="100000"/>
              </a:lnSpc>
              <a:spcAft>
                <a:spcPts val="0"/>
              </a:spcAft>
            </a:pPr>
            <a:r>
              <a:rPr sz="950" b="0" i="0">
                <a:solidFill>
                  <a:srgbClr val="3D2159"/>
                </a:solidFill>
                <a:latin typeface="Arial"/>
              </a:rPr>
              <a:t>Necesitamos modificar parte de la propuesta.</a:t>
            </a:r>
          </a:p>
        </p:txBody>
      </p:sp>
      <p:sp>
        <p:nvSpPr>
          <p:cNvPr id="86" name="Isosceles Triangle 85"/>
          <p:cNvSpPr/>
          <p:nvPr/>
        </p:nvSpPr>
        <p:spPr>
          <a:xfrm rot="5400000">
            <a:off x="2230808" y="6564540"/>
            <a:ext cx="90000" cy="72000"/>
          </a:xfrm>
          <a:prstGeom prst="triangle">
            <a:avLst/>
          </a:prstGeom>
          <a:solidFill>
            <a:srgbClr val="C9C1D9"/>
          </a:solidFill>
          <a:ln>
            <a:noFill/>
          </a:ln>
        </p:spPr>
        <p:txBody>
          <a:bodyPr rtlCol="0" anchor="ctr"/>
          <a:lstStyle/>
          <a:p>
            <a:pPr algn="ctr"/>
          </a:p>
        </p:txBody>
      </p:sp>
      <p:sp>
        <p:nvSpPr>
          <p:cNvPr id="87" name="Rounded Rectangle 86"/>
          <p:cNvSpPr/>
          <p:nvPr/>
        </p:nvSpPr>
        <p:spPr>
          <a:xfrm>
            <a:off x="2440808" y="6409540"/>
            <a:ext cx="3776383" cy="400000"/>
          </a:xfrm>
          <a:prstGeom prst="roundRect">
            <a:avLst>
              <a:gd name="adj" fmla="val 20000"/>
            </a:avLst>
          </a:prstGeom>
          <a:solidFill>
            <a:srgbClr val="F1EBF6"/>
          </a:solidFill>
          <a:ln>
            <a:noFill/>
          </a:ln>
        </p:spPr>
        <p:txBody>
          <a:bodyPr rtlCol="0" anchor="ctr"/>
          <a:lstStyle/>
          <a:p>
            <a:pPr algn="ctr"/>
          </a:p>
        </p:txBody>
      </p:sp>
      <p:sp>
        <p:nvSpPr>
          <p:cNvPr id="88" name="Rectangle 87"/>
          <p:cNvSpPr/>
          <p:nvPr/>
        </p:nvSpPr>
        <p:spPr>
          <a:xfrm>
            <a:off x="2440808" y="6409540"/>
            <a:ext cx="50000" cy="400000"/>
          </a:xfrm>
          <a:prstGeom prst="rect">
            <a:avLst/>
          </a:prstGeom>
          <a:solidFill>
            <a:srgbClr val="664092"/>
          </a:solidFill>
          <a:ln>
            <a:noFill/>
          </a:ln>
        </p:spPr>
        <p:txBody>
          <a:bodyPr rtlCol="0" anchor="ctr"/>
          <a:lstStyle/>
          <a:p>
            <a:pPr algn="ctr"/>
          </a:p>
        </p:txBody>
      </p:sp>
      <p:sp>
        <p:nvSpPr>
          <p:cNvPr id="89" name="icono compass"/>
          <p:cNvSpPr/>
          <p:nvPr/>
        </p:nvSpPr>
        <p:spPr>
          <a:xfrm>
            <a:off x="2580808" y="6499540"/>
            <a:ext cx="220000" cy="220000"/>
          </a:xfrm>
          <a:custGeom>
            <a:avLst/>
            <a:gdLst/>
            <a:ahLst/>
            <a:cxnLst/>
            <a:rect l="0" t="0" r="r" b="b"/>
            <a:pathLst>
              <a:path w="25600" h="25600">
                <a:moveTo>
                  <a:pt x="12800" y="2400"/>
                </a:moveTo>
                <a:lnTo>
                  <a:pt x="10589" y="2638"/>
                </a:lnTo>
                <a:lnTo>
                  <a:pt x="8480" y="3340"/>
                </a:lnTo>
                <a:lnTo>
                  <a:pt x="6568" y="4474"/>
                </a:lnTo>
                <a:lnTo>
                  <a:pt x="4940" y="5989"/>
                </a:lnTo>
                <a:lnTo>
                  <a:pt x="3672" y="7816"/>
                </a:lnTo>
                <a:lnTo>
                  <a:pt x="2821" y="9870"/>
                </a:lnTo>
                <a:lnTo>
                  <a:pt x="2426" y="12058"/>
                </a:lnTo>
                <a:lnTo>
                  <a:pt x="2506" y="14280"/>
                </a:lnTo>
                <a:lnTo>
                  <a:pt x="3056" y="16434"/>
                </a:lnTo>
                <a:lnTo>
                  <a:pt x="4051" y="18423"/>
                </a:lnTo>
                <a:lnTo>
                  <a:pt x="5446" y="20154"/>
                </a:lnTo>
                <a:lnTo>
                  <a:pt x="7177" y="21549"/>
                </a:lnTo>
                <a:lnTo>
                  <a:pt x="9166" y="22544"/>
                </a:lnTo>
                <a:lnTo>
                  <a:pt x="11320" y="23094"/>
                </a:lnTo>
                <a:lnTo>
                  <a:pt x="13542" y="23174"/>
                </a:lnTo>
                <a:lnTo>
                  <a:pt x="15730" y="22779"/>
                </a:lnTo>
                <a:lnTo>
                  <a:pt x="17784" y="21928"/>
                </a:lnTo>
                <a:lnTo>
                  <a:pt x="19611" y="20660"/>
                </a:lnTo>
                <a:lnTo>
                  <a:pt x="21126" y="19032"/>
                </a:lnTo>
                <a:lnTo>
                  <a:pt x="22260" y="17120"/>
                </a:lnTo>
                <a:lnTo>
                  <a:pt x="22962" y="15011"/>
                </a:lnTo>
                <a:lnTo>
                  <a:pt x="23200" y="12800"/>
                </a:lnTo>
                <a:lnTo>
                  <a:pt x="22937" y="10487"/>
                </a:lnTo>
                <a:lnTo>
                  <a:pt x="22167" y="8290"/>
                </a:lnTo>
                <a:lnTo>
                  <a:pt x="20928" y="6319"/>
                </a:lnTo>
                <a:lnTo>
                  <a:pt x="19281" y="4672"/>
                </a:lnTo>
                <a:lnTo>
                  <a:pt x="17310" y="3433"/>
                </a:lnTo>
                <a:lnTo>
                  <a:pt x="15113" y="2663"/>
                </a:lnTo>
                <a:lnTo>
                  <a:pt x="12800" y="2400"/>
                </a:lnTo>
                <a:close/>
                <a:moveTo>
                  <a:pt x="12800" y="21600"/>
                </a:moveTo>
                <a:lnTo>
                  <a:pt x="10929" y="21399"/>
                </a:lnTo>
                <a:lnTo>
                  <a:pt x="9144" y="20805"/>
                </a:lnTo>
                <a:lnTo>
                  <a:pt x="7526" y="19845"/>
                </a:lnTo>
                <a:lnTo>
                  <a:pt x="6149" y="18563"/>
                </a:lnTo>
                <a:lnTo>
                  <a:pt x="5076" y="17017"/>
                </a:lnTo>
                <a:lnTo>
                  <a:pt x="4356" y="15279"/>
                </a:lnTo>
                <a:lnTo>
                  <a:pt x="4022" y="13428"/>
                </a:lnTo>
                <a:lnTo>
                  <a:pt x="4090" y="11548"/>
                </a:lnTo>
                <a:lnTo>
                  <a:pt x="4555" y="9725"/>
                </a:lnTo>
                <a:lnTo>
                  <a:pt x="5397" y="8042"/>
                </a:lnTo>
                <a:lnTo>
                  <a:pt x="6577" y="6577"/>
                </a:lnTo>
                <a:lnTo>
                  <a:pt x="8042" y="5397"/>
                </a:lnTo>
                <a:lnTo>
                  <a:pt x="9725" y="4555"/>
                </a:lnTo>
                <a:lnTo>
                  <a:pt x="11548" y="4090"/>
                </a:lnTo>
                <a:lnTo>
                  <a:pt x="13428" y="4022"/>
                </a:lnTo>
                <a:lnTo>
                  <a:pt x="15279" y="4356"/>
                </a:lnTo>
                <a:lnTo>
                  <a:pt x="17017" y="5076"/>
                </a:lnTo>
                <a:lnTo>
                  <a:pt x="18563" y="6149"/>
                </a:lnTo>
                <a:lnTo>
                  <a:pt x="19845" y="7526"/>
                </a:lnTo>
                <a:lnTo>
                  <a:pt x="20805" y="9144"/>
                </a:lnTo>
                <a:lnTo>
                  <a:pt x="21399" y="10929"/>
                </a:lnTo>
                <a:lnTo>
                  <a:pt x="21600" y="12800"/>
                </a:lnTo>
                <a:lnTo>
                  <a:pt x="21378" y="14757"/>
                </a:lnTo>
                <a:lnTo>
                  <a:pt x="20726" y="16616"/>
                </a:lnTo>
                <a:lnTo>
                  <a:pt x="19677" y="18284"/>
                </a:lnTo>
                <a:lnTo>
                  <a:pt x="18284" y="19677"/>
                </a:lnTo>
                <a:lnTo>
                  <a:pt x="16616" y="20726"/>
                </a:lnTo>
                <a:lnTo>
                  <a:pt x="14757" y="21378"/>
                </a:lnTo>
                <a:lnTo>
                  <a:pt x="12800" y="21600"/>
                </a:lnTo>
                <a:close/>
                <a:moveTo>
                  <a:pt x="17242" y="7284"/>
                </a:moveTo>
                <a:lnTo>
                  <a:pt x="10842" y="10484"/>
                </a:lnTo>
                <a:lnTo>
                  <a:pt x="10767" y="10527"/>
                </a:lnTo>
                <a:lnTo>
                  <a:pt x="10698" y="10577"/>
                </a:lnTo>
                <a:lnTo>
                  <a:pt x="10634" y="10634"/>
                </a:lnTo>
                <a:lnTo>
                  <a:pt x="10577" y="10698"/>
                </a:lnTo>
                <a:lnTo>
                  <a:pt x="10527" y="10767"/>
                </a:lnTo>
                <a:lnTo>
                  <a:pt x="10484" y="10842"/>
                </a:lnTo>
                <a:lnTo>
                  <a:pt x="7284" y="17242"/>
                </a:lnTo>
                <a:lnTo>
                  <a:pt x="7222" y="17412"/>
                </a:lnTo>
                <a:lnTo>
                  <a:pt x="7199" y="17591"/>
                </a:lnTo>
                <a:lnTo>
                  <a:pt x="7218" y="17770"/>
                </a:lnTo>
                <a:lnTo>
                  <a:pt x="7276" y="17941"/>
                </a:lnTo>
                <a:lnTo>
                  <a:pt x="7371" y="18095"/>
                </a:lnTo>
                <a:lnTo>
                  <a:pt x="7498" y="18223"/>
                </a:lnTo>
                <a:lnTo>
                  <a:pt x="7650" y="18320"/>
                </a:lnTo>
                <a:lnTo>
                  <a:pt x="7821" y="18380"/>
                </a:lnTo>
                <a:lnTo>
                  <a:pt x="8000" y="18400"/>
                </a:lnTo>
                <a:lnTo>
                  <a:pt x="8062" y="18398"/>
                </a:lnTo>
                <a:lnTo>
                  <a:pt x="8123" y="18390"/>
                </a:lnTo>
                <a:lnTo>
                  <a:pt x="8184" y="18379"/>
                </a:lnTo>
                <a:lnTo>
                  <a:pt x="8243" y="18362"/>
                </a:lnTo>
                <a:lnTo>
                  <a:pt x="8302" y="18341"/>
                </a:lnTo>
                <a:lnTo>
                  <a:pt x="8358" y="18316"/>
                </a:lnTo>
                <a:lnTo>
                  <a:pt x="14758" y="15116"/>
                </a:lnTo>
                <a:lnTo>
                  <a:pt x="14833" y="15073"/>
                </a:lnTo>
                <a:lnTo>
                  <a:pt x="14902" y="15023"/>
                </a:lnTo>
                <a:lnTo>
                  <a:pt x="14966" y="14966"/>
                </a:lnTo>
                <a:lnTo>
                  <a:pt x="15023" y="14902"/>
                </a:lnTo>
                <a:lnTo>
                  <a:pt x="15073" y="14833"/>
                </a:lnTo>
                <a:lnTo>
                  <a:pt x="15116" y="14758"/>
                </a:lnTo>
                <a:lnTo>
                  <a:pt x="18316" y="8358"/>
                </a:lnTo>
                <a:lnTo>
                  <a:pt x="18379" y="8188"/>
                </a:lnTo>
                <a:lnTo>
                  <a:pt x="18401" y="8007"/>
                </a:lnTo>
                <a:lnTo>
                  <a:pt x="18382" y="7827"/>
                </a:lnTo>
                <a:lnTo>
                  <a:pt x="18324" y="7655"/>
                </a:lnTo>
                <a:lnTo>
                  <a:pt x="18227" y="7501"/>
                </a:lnTo>
                <a:lnTo>
                  <a:pt x="18099" y="7373"/>
                </a:lnTo>
                <a:lnTo>
                  <a:pt x="17945" y="7276"/>
                </a:lnTo>
                <a:lnTo>
                  <a:pt x="17773" y="7218"/>
                </a:lnTo>
                <a:lnTo>
                  <a:pt x="17593" y="7199"/>
                </a:lnTo>
                <a:lnTo>
                  <a:pt x="17412" y="7221"/>
                </a:lnTo>
                <a:lnTo>
                  <a:pt x="17242" y="7284"/>
                </a:lnTo>
                <a:lnTo>
                  <a:pt x="17242" y="7284"/>
                </a:lnTo>
                <a:close/>
                <a:moveTo>
                  <a:pt x="13800" y="13800"/>
                </a:moveTo>
                <a:lnTo>
                  <a:pt x="9789" y="15811"/>
                </a:lnTo>
                <a:lnTo>
                  <a:pt x="11800" y="11800"/>
                </a:lnTo>
                <a:lnTo>
                  <a:pt x="15815" y="9793"/>
                </a:lnTo>
                <a:lnTo>
                  <a:pt x="13800" y="13800"/>
                </a:lnTo>
                <a:close/>
              </a:path>
            </a:pathLst>
          </a:custGeom>
          <a:solidFill>
            <a:srgbClr val="664092"/>
          </a:solidFill>
          <a:ln>
            <a:noFill/>
          </a:ln>
        </p:spPr>
        <p:txBody>
          <a:bodyPr rtlCol="0" anchor="ctr"/>
          <a:lstStyle/>
          <a:p>
            <a:pPr algn="ctr"/>
          </a:p>
        </p:txBody>
      </p:sp>
      <p:sp>
        <p:nvSpPr>
          <p:cNvPr id="90" name="TextBox 89"/>
          <p:cNvSpPr txBox="1"/>
          <p:nvPr/>
        </p:nvSpPr>
        <p:spPr>
          <a:xfrm>
            <a:off x="2890808" y="6409540"/>
            <a:ext cx="1350000" cy="400000"/>
          </a:xfrm>
          <a:prstGeom prst="rect">
            <a:avLst/>
          </a:prstGeom>
          <a:noFill/>
        </p:spPr>
        <p:txBody>
          <a:bodyPr wrap="square" lIns="0" rIns="0" tIns="0" bIns="0" anchor="ctr">
            <a:spAutoFit/>
          </a:bodyPr>
          <a:lstStyle/>
          <a:p>
            <a:pPr algn="l">
              <a:lnSpc>
                <a:spcPct val="100000"/>
              </a:lnSpc>
              <a:spcAft>
                <a:spcPts val="0"/>
              </a:spcAft>
            </a:pPr>
            <a:r>
              <a:rPr sz="950" b="1" i="0">
                <a:solidFill>
                  <a:srgbClr val="664092"/>
                </a:solidFill>
                <a:latin typeface="Arial"/>
              </a:rPr>
              <a:t>EXPLORAR</a:t>
            </a:r>
          </a:p>
        </p:txBody>
      </p:sp>
      <p:sp>
        <p:nvSpPr>
          <p:cNvPr id="91" name="TextBox 90"/>
          <p:cNvSpPr txBox="1"/>
          <p:nvPr/>
        </p:nvSpPr>
        <p:spPr>
          <a:xfrm>
            <a:off x="4240808" y="6409540"/>
            <a:ext cx="1896383" cy="400000"/>
          </a:xfrm>
          <a:prstGeom prst="rect">
            <a:avLst/>
          </a:prstGeom>
          <a:noFill/>
        </p:spPr>
        <p:txBody>
          <a:bodyPr wrap="square" lIns="0" rIns="0" tIns="0" bIns="0" anchor="ctr">
            <a:spAutoFit/>
          </a:bodyPr>
          <a:lstStyle/>
          <a:p>
            <a:pPr algn="l">
              <a:lnSpc>
                <a:spcPct val="100000"/>
              </a:lnSpc>
              <a:spcAft>
                <a:spcPts val="0"/>
              </a:spcAft>
            </a:pPr>
            <a:r>
              <a:rPr sz="950" b="0" i="0">
                <a:solidFill>
                  <a:srgbClr val="3D2159"/>
                </a:solidFill>
                <a:latin typeface="Arial"/>
              </a:rPr>
              <a:t>Conviene considerar otra alternativa.</a:t>
            </a:r>
          </a:p>
        </p:txBody>
      </p:sp>
      <p:sp>
        <p:nvSpPr>
          <p:cNvPr id="92" name="Isosceles Triangle 91"/>
          <p:cNvSpPr/>
          <p:nvPr/>
        </p:nvSpPr>
        <p:spPr>
          <a:xfrm rot="5400000">
            <a:off x="2230808" y="7034540"/>
            <a:ext cx="90000" cy="72000"/>
          </a:xfrm>
          <a:prstGeom prst="triangle">
            <a:avLst/>
          </a:prstGeom>
          <a:solidFill>
            <a:srgbClr val="C9C1D9"/>
          </a:solidFill>
          <a:ln>
            <a:noFill/>
          </a:ln>
        </p:spPr>
        <p:txBody>
          <a:bodyPr rtlCol="0" anchor="ctr"/>
          <a:lstStyle/>
          <a:p>
            <a:pPr algn="ctr"/>
          </a:p>
        </p:txBody>
      </p:sp>
      <p:sp>
        <p:nvSpPr>
          <p:cNvPr id="93" name="Rounded Rectangle 92"/>
          <p:cNvSpPr/>
          <p:nvPr/>
        </p:nvSpPr>
        <p:spPr>
          <a:xfrm>
            <a:off x="2440808" y="6879540"/>
            <a:ext cx="3776383" cy="400000"/>
          </a:xfrm>
          <a:prstGeom prst="roundRect">
            <a:avLst>
              <a:gd name="adj" fmla="val 20000"/>
            </a:avLst>
          </a:prstGeom>
          <a:solidFill>
            <a:srgbClr val="E5E6ED"/>
          </a:solidFill>
          <a:ln>
            <a:noFill/>
          </a:ln>
        </p:spPr>
        <p:txBody>
          <a:bodyPr rtlCol="0" anchor="ctr"/>
          <a:lstStyle/>
          <a:p>
            <a:pPr algn="ctr"/>
          </a:p>
        </p:txBody>
      </p:sp>
      <p:sp>
        <p:nvSpPr>
          <p:cNvPr id="94" name="Rectangle 93"/>
          <p:cNvSpPr/>
          <p:nvPr/>
        </p:nvSpPr>
        <p:spPr>
          <a:xfrm>
            <a:off x="2440808" y="6879540"/>
            <a:ext cx="50000" cy="400000"/>
          </a:xfrm>
          <a:prstGeom prst="rect">
            <a:avLst/>
          </a:prstGeom>
          <a:solidFill>
            <a:srgbClr val="A71989"/>
          </a:solidFill>
          <a:ln>
            <a:noFill/>
          </a:ln>
        </p:spPr>
        <p:txBody>
          <a:bodyPr rtlCol="0" anchor="ctr"/>
          <a:lstStyle/>
          <a:p>
            <a:pPr algn="ctr"/>
          </a:p>
        </p:txBody>
      </p:sp>
      <p:sp>
        <p:nvSpPr>
          <p:cNvPr id="95" name="icono pencil-simple-line"/>
          <p:cNvSpPr/>
          <p:nvPr/>
        </p:nvSpPr>
        <p:spPr>
          <a:xfrm>
            <a:off x="2580808" y="6969540"/>
            <a:ext cx="220000" cy="220000"/>
          </a:xfrm>
          <a:custGeom>
            <a:avLst/>
            <a:gdLst/>
            <a:ahLst/>
            <a:cxnLst/>
            <a:rect l="0" t="0" r="r" b="b"/>
            <a:pathLst>
              <a:path w="25600" h="25600">
                <a:moveTo>
                  <a:pt x="22732" y="7337"/>
                </a:moveTo>
                <a:lnTo>
                  <a:pt x="18263" y="2869"/>
                </a:lnTo>
                <a:lnTo>
                  <a:pt x="17983" y="2646"/>
                </a:lnTo>
                <a:lnTo>
                  <a:pt x="17660" y="2490"/>
                </a:lnTo>
                <a:lnTo>
                  <a:pt x="17311" y="2410"/>
                </a:lnTo>
                <a:lnTo>
                  <a:pt x="16952" y="2410"/>
                </a:lnTo>
                <a:lnTo>
                  <a:pt x="16603" y="2490"/>
                </a:lnTo>
                <a:lnTo>
                  <a:pt x="16280" y="2646"/>
                </a:lnTo>
                <a:lnTo>
                  <a:pt x="16000" y="2869"/>
                </a:lnTo>
                <a:lnTo>
                  <a:pt x="3669" y="15200"/>
                </a:lnTo>
                <a:lnTo>
                  <a:pt x="3530" y="15357"/>
                </a:lnTo>
                <a:lnTo>
                  <a:pt x="3414" y="15531"/>
                </a:lnTo>
                <a:lnTo>
                  <a:pt x="3321" y="15718"/>
                </a:lnTo>
                <a:lnTo>
                  <a:pt x="3254" y="15917"/>
                </a:lnTo>
                <a:lnTo>
                  <a:pt x="3213" y="16122"/>
                </a:lnTo>
                <a:lnTo>
                  <a:pt x="3200" y="16331"/>
                </a:lnTo>
                <a:lnTo>
                  <a:pt x="3200" y="20800"/>
                </a:lnTo>
                <a:lnTo>
                  <a:pt x="3240" y="21156"/>
                </a:lnTo>
                <a:lnTo>
                  <a:pt x="3358" y="21494"/>
                </a:lnTo>
                <a:lnTo>
                  <a:pt x="3549" y="21798"/>
                </a:lnTo>
                <a:lnTo>
                  <a:pt x="3802" y="22051"/>
                </a:lnTo>
                <a:lnTo>
                  <a:pt x="4106" y="22242"/>
                </a:lnTo>
                <a:lnTo>
                  <a:pt x="4444" y="22360"/>
                </a:lnTo>
                <a:lnTo>
                  <a:pt x="4800" y="22400"/>
                </a:lnTo>
                <a:lnTo>
                  <a:pt x="21600" y="22400"/>
                </a:lnTo>
                <a:lnTo>
                  <a:pt x="21766" y="22383"/>
                </a:lnTo>
                <a:lnTo>
                  <a:pt x="21925" y="22331"/>
                </a:lnTo>
                <a:lnTo>
                  <a:pt x="22070" y="22247"/>
                </a:lnTo>
                <a:lnTo>
                  <a:pt x="22195" y="22135"/>
                </a:lnTo>
                <a:lnTo>
                  <a:pt x="22293" y="22000"/>
                </a:lnTo>
                <a:lnTo>
                  <a:pt x="22361" y="21847"/>
                </a:lnTo>
                <a:lnTo>
                  <a:pt x="22396" y="21684"/>
                </a:lnTo>
                <a:lnTo>
                  <a:pt x="22396" y="21516"/>
                </a:lnTo>
                <a:lnTo>
                  <a:pt x="22361" y="21353"/>
                </a:lnTo>
                <a:lnTo>
                  <a:pt x="22293" y="21200"/>
                </a:lnTo>
                <a:lnTo>
                  <a:pt x="22195" y="21065"/>
                </a:lnTo>
                <a:lnTo>
                  <a:pt x="22070" y="20953"/>
                </a:lnTo>
                <a:lnTo>
                  <a:pt x="21925" y="20869"/>
                </a:lnTo>
                <a:lnTo>
                  <a:pt x="21766" y="20817"/>
                </a:lnTo>
                <a:lnTo>
                  <a:pt x="21600" y="20800"/>
                </a:lnTo>
                <a:lnTo>
                  <a:pt x="11532" y="20800"/>
                </a:lnTo>
                <a:lnTo>
                  <a:pt x="22732" y="9600"/>
                </a:lnTo>
                <a:lnTo>
                  <a:pt x="22955" y="9320"/>
                </a:lnTo>
                <a:lnTo>
                  <a:pt x="23111" y="8997"/>
                </a:lnTo>
                <a:lnTo>
                  <a:pt x="23191" y="8648"/>
                </a:lnTo>
                <a:lnTo>
                  <a:pt x="23191" y="8289"/>
                </a:lnTo>
                <a:lnTo>
                  <a:pt x="23111" y="7940"/>
                </a:lnTo>
                <a:lnTo>
                  <a:pt x="22955" y="7617"/>
                </a:lnTo>
                <a:lnTo>
                  <a:pt x="22732" y="7337"/>
                </a:lnTo>
                <a:close/>
                <a:moveTo>
                  <a:pt x="9269" y="20800"/>
                </a:moveTo>
                <a:lnTo>
                  <a:pt x="4800" y="20800"/>
                </a:lnTo>
                <a:lnTo>
                  <a:pt x="4800" y="16331"/>
                </a:lnTo>
                <a:lnTo>
                  <a:pt x="13600" y="7531"/>
                </a:lnTo>
                <a:lnTo>
                  <a:pt x="18069" y="12000"/>
                </a:lnTo>
                <a:lnTo>
                  <a:pt x="9269" y="20800"/>
                </a:lnTo>
                <a:close/>
                <a:moveTo>
                  <a:pt x="19200" y="10869"/>
                </a:moveTo>
                <a:lnTo>
                  <a:pt x="14732" y="6400"/>
                </a:lnTo>
                <a:lnTo>
                  <a:pt x="17132" y="4000"/>
                </a:lnTo>
                <a:lnTo>
                  <a:pt x="21600" y="8469"/>
                </a:lnTo>
                <a:lnTo>
                  <a:pt x="19200" y="10869"/>
                </a:lnTo>
                <a:close/>
              </a:path>
            </a:pathLst>
          </a:custGeom>
          <a:solidFill>
            <a:srgbClr val="A71989"/>
          </a:solidFill>
          <a:ln>
            <a:noFill/>
          </a:ln>
        </p:spPr>
        <p:txBody>
          <a:bodyPr rtlCol="0" anchor="ctr"/>
          <a:lstStyle/>
          <a:p>
            <a:pPr algn="ctr"/>
          </a:p>
        </p:txBody>
      </p:sp>
      <p:sp>
        <p:nvSpPr>
          <p:cNvPr id="96" name="TextBox 95"/>
          <p:cNvSpPr txBox="1"/>
          <p:nvPr/>
        </p:nvSpPr>
        <p:spPr>
          <a:xfrm>
            <a:off x="2890808" y="6879540"/>
            <a:ext cx="1350000" cy="400000"/>
          </a:xfrm>
          <a:prstGeom prst="rect">
            <a:avLst/>
          </a:prstGeom>
          <a:noFill/>
        </p:spPr>
        <p:txBody>
          <a:bodyPr wrap="square" lIns="0" rIns="0" tIns="0" bIns="0" anchor="ctr">
            <a:spAutoFit/>
          </a:bodyPr>
          <a:lstStyle/>
          <a:p>
            <a:pPr algn="l">
              <a:lnSpc>
                <a:spcPct val="100000"/>
              </a:lnSpc>
              <a:spcAft>
                <a:spcPts val="0"/>
              </a:spcAft>
            </a:pPr>
            <a:r>
              <a:rPr sz="950" b="1" i="0">
                <a:solidFill>
                  <a:srgbClr val="A71989"/>
                </a:solidFill>
                <a:latin typeface="Arial"/>
              </a:rPr>
              <a:t>REDEFINIR</a:t>
            </a:r>
          </a:p>
        </p:txBody>
      </p:sp>
      <p:sp>
        <p:nvSpPr>
          <p:cNvPr id="97" name="TextBox 96"/>
          <p:cNvSpPr txBox="1"/>
          <p:nvPr/>
        </p:nvSpPr>
        <p:spPr>
          <a:xfrm>
            <a:off x="4240808" y="6879540"/>
            <a:ext cx="1896383" cy="400000"/>
          </a:xfrm>
          <a:prstGeom prst="rect">
            <a:avLst/>
          </a:prstGeom>
          <a:noFill/>
        </p:spPr>
        <p:txBody>
          <a:bodyPr wrap="square" lIns="0" rIns="0" tIns="0" bIns="0" anchor="ctr">
            <a:spAutoFit/>
          </a:bodyPr>
          <a:lstStyle/>
          <a:p>
            <a:pPr algn="l">
              <a:lnSpc>
                <a:spcPct val="100000"/>
              </a:lnSpc>
              <a:spcAft>
                <a:spcPts val="0"/>
              </a:spcAft>
            </a:pPr>
            <a:r>
              <a:rPr sz="950" b="0" i="0">
                <a:solidFill>
                  <a:srgbClr val="3D2159"/>
                </a:solidFill>
                <a:latin typeface="Arial"/>
              </a:rPr>
              <a:t>El problema necesita una nueva formulación.</a:t>
            </a:r>
          </a:p>
        </p:txBody>
      </p:sp>
      <p:sp>
        <p:nvSpPr>
          <p:cNvPr id="98" name="Isosceles Triangle 97"/>
          <p:cNvSpPr/>
          <p:nvPr/>
        </p:nvSpPr>
        <p:spPr>
          <a:xfrm rot="5400000">
            <a:off x="2230808" y="7504540"/>
            <a:ext cx="90000" cy="72000"/>
          </a:xfrm>
          <a:prstGeom prst="triangle">
            <a:avLst/>
          </a:prstGeom>
          <a:solidFill>
            <a:srgbClr val="C9C1D9"/>
          </a:solidFill>
          <a:ln>
            <a:noFill/>
          </a:ln>
        </p:spPr>
        <p:txBody>
          <a:bodyPr rtlCol="0" anchor="ctr"/>
          <a:lstStyle/>
          <a:p>
            <a:pPr algn="ctr"/>
          </a:p>
        </p:txBody>
      </p:sp>
      <p:sp>
        <p:nvSpPr>
          <p:cNvPr id="99" name="Rounded Rectangle 98"/>
          <p:cNvSpPr/>
          <p:nvPr/>
        </p:nvSpPr>
        <p:spPr>
          <a:xfrm>
            <a:off x="2440808" y="7349540"/>
            <a:ext cx="3776383" cy="400000"/>
          </a:xfrm>
          <a:prstGeom prst="roundRect">
            <a:avLst>
              <a:gd name="adj" fmla="val 20000"/>
            </a:avLst>
          </a:prstGeom>
          <a:solidFill>
            <a:srgbClr val="F1EBF6"/>
          </a:solidFill>
          <a:ln>
            <a:noFill/>
          </a:ln>
        </p:spPr>
        <p:txBody>
          <a:bodyPr rtlCol="0" anchor="ctr"/>
          <a:lstStyle/>
          <a:p>
            <a:pPr algn="ctr"/>
          </a:p>
        </p:txBody>
      </p:sp>
      <p:sp>
        <p:nvSpPr>
          <p:cNvPr id="100" name="Rectangle 99"/>
          <p:cNvSpPr/>
          <p:nvPr/>
        </p:nvSpPr>
        <p:spPr>
          <a:xfrm>
            <a:off x="2440808" y="7349540"/>
            <a:ext cx="50000" cy="400000"/>
          </a:xfrm>
          <a:prstGeom prst="rect">
            <a:avLst/>
          </a:prstGeom>
          <a:solidFill>
            <a:srgbClr val="0B2E6B"/>
          </a:solidFill>
          <a:ln>
            <a:noFill/>
          </a:ln>
        </p:spPr>
        <p:txBody>
          <a:bodyPr rtlCol="0" anchor="ctr"/>
          <a:lstStyle/>
          <a:p>
            <a:pPr algn="ctr"/>
          </a:p>
        </p:txBody>
      </p:sp>
      <p:sp>
        <p:nvSpPr>
          <p:cNvPr id="101" name="icono users-three"/>
          <p:cNvSpPr/>
          <p:nvPr/>
        </p:nvSpPr>
        <p:spPr>
          <a:xfrm>
            <a:off x="2580808" y="7439540"/>
            <a:ext cx="220000" cy="220000"/>
          </a:xfrm>
          <a:custGeom>
            <a:avLst/>
            <a:gdLst/>
            <a:ahLst/>
            <a:cxnLst/>
            <a:rect l="0" t="0" r="r" b="b"/>
            <a:pathLst>
              <a:path w="25600" h="25600">
                <a:moveTo>
                  <a:pt x="24480" y="15040"/>
                </a:moveTo>
                <a:lnTo>
                  <a:pt x="24326" y="15131"/>
                </a:lnTo>
                <a:lnTo>
                  <a:pt x="24155" y="15185"/>
                </a:lnTo>
                <a:lnTo>
                  <a:pt x="23976" y="15200"/>
                </a:lnTo>
                <a:lnTo>
                  <a:pt x="23799" y="15174"/>
                </a:lnTo>
                <a:lnTo>
                  <a:pt x="23632" y="15110"/>
                </a:lnTo>
                <a:lnTo>
                  <a:pt x="23483" y="15010"/>
                </a:lnTo>
                <a:lnTo>
                  <a:pt x="23360" y="14880"/>
                </a:lnTo>
                <a:lnTo>
                  <a:pt x="22832" y="14275"/>
                </a:lnTo>
                <a:lnTo>
                  <a:pt x="22216" y="13759"/>
                </a:lnTo>
                <a:lnTo>
                  <a:pt x="21528" y="13345"/>
                </a:lnTo>
                <a:lnTo>
                  <a:pt x="20783" y="13042"/>
                </a:lnTo>
                <a:lnTo>
                  <a:pt x="20001" y="12859"/>
                </a:lnTo>
                <a:lnTo>
                  <a:pt x="19200" y="12800"/>
                </a:lnTo>
                <a:lnTo>
                  <a:pt x="19045" y="12785"/>
                </a:lnTo>
                <a:lnTo>
                  <a:pt x="18896" y="12740"/>
                </a:lnTo>
                <a:lnTo>
                  <a:pt x="18758" y="12667"/>
                </a:lnTo>
                <a:lnTo>
                  <a:pt x="18637" y="12568"/>
                </a:lnTo>
                <a:lnTo>
                  <a:pt x="18537" y="12448"/>
                </a:lnTo>
                <a:lnTo>
                  <a:pt x="18463" y="12311"/>
                </a:lnTo>
                <a:lnTo>
                  <a:pt x="18428" y="12210"/>
                </a:lnTo>
                <a:lnTo>
                  <a:pt x="18407" y="12106"/>
                </a:lnTo>
                <a:lnTo>
                  <a:pt x="18400" y="12000"/>
                </a:lnTo>
                <a:lnTo>
                  <a:pt x="18407" y="11894"/>
                </a:lnTo>
                <a:lnTo>
                  <a:pt x="18428" y="11790"/>
                </a:lnTo>
                <a:lnTo>
                  <a:pt x="18463" y="11689"/>
                </a:lnTo>
                <a:lnTo>
                  <a:pt x="18537" y="11552"/>
                </a:lnTo>
                <a:lnTo>
                  <a:pt x="18637" y="11432"/>
                </a:lnTo>
                <a:lnTo>
                  <a:pt x="18758" y="11333"/>
                </a:lnTo>
                <a:lnTo>
                  <a:pt x="18896" y="11260"/>
                </a:lnTo>
                <a:lnTo>
                  <a:pt x="19045" y="11215"/>
                </a:lnTo>
                <a:lnTo>
                  <a:pt x="19200" y="11200"/>
                </a:lnTo>
                <a:lnTo>
                  <a:pt x="19706" y="11146"/>
                </a:lnTo>
                <a:lnTo>
                  <a:pt x="20189" y="10987"/>
                </a:lnTo>
                <a:lnTo>
                  <a:pt x="20628" y="10729"/>
                </a:lnTo>
                <a:lnTo>
                  <a:pt x="21002" y="10385"/>
                </a:lnTo>
                <a:lnTo>
                  <a:pt x="21296" y="9969"/>
                </a:lnTo>
                <a:lnTo>
                  <a:pt x="21495" y="9501"/>
                </a:lnTo>
                <a:lnTo>
                  <a:pt x="21591" y="9002"/>
                </a:lnTo>
                <a:lnTo>
                  <a:pt x="21580" y="8493"/>
                </a:lnTo>
                <a:lnTo>
                  <a:pt x="21462" y="7998"/>
                </a:lnTo>
                <a:lnTo>
                  <a:pt x="21242" y="7540"/>
                </a:lnTo>
                <a:lnTo>
                  <a:pt x="20931" y="7137"/>
                </a:lnTo>
                <a:lnTo>
                  <a:pt x="20541" y="6810"/>
                </a:lnTo>
                <a:lnTo>
                  <a:pt x="20092" y="6572"/>
                </a:lnTo>
                <a:lnTo>
                  <a:pt x="19602" y="6434"/>
                </a:lnTo>
                <a:lnTo>
                  <a:pt x="19094" y="6402"/>
                </a:lnTo>
                <a:lnTo>
                  <a:pt x="18591" y="6478"/>
                </a:lnTo>
                <a:lnTo>
                  <a:pt x="18116" y="6659"/>
                </a:lnTo>
                <a:lnTo>
                  <a:pt x="17689" y="6935"/>
                </a:lnTo>
                <a:lnTo>
                  <a:pt x="17330" y="7296"/>
                </a:lnTo>
                <a:lnTo>
                  <a:pt x="17055" y="7724"/>
                </a:lnTo>
                <a:lnTo>
                  <a:pt x="16876" y="8200"/>
                </a:lnTo>
                <a:lnTo>
                  <a:pt x="16817" y="8357"/>
                </a:lnTo>
                <a:lnTo>
                  <a:pt x="16728" y="8498"/>
                </a:lnTo>
                <a:lnTo>
                  <a:pt x="16610" y="8617"/>
                </a:lnTo>
                <a:lnTo>
                  <a:pt x="16471" y="8710"/>
                </a:lnTo>
                <a:lnTo>
                  <a:pt x="16315" y="8771"/>
                </a:lnTo>
                <a:lnTo>
                  <a:pt x="16150" y="8799"/>
                </a:lnTo>
                <a:lnTo>
                  <a:pt x="15983" y="8792"/>
                </a:lnTo>
                <a:lnTo>
                  <a:pt x="15821" y="8750"/>
                </a:lnTo>
                <a:lnTo>
                  <a:pt x="15671" y="8675"/>
                </a:lnTo>
                <a:lnTo>
                  <a:pt x="15540" y="8571"/>
                </a:lnTo>
                <a:lnTo>
                  <a:pt x="15434" y="8442"/>
                </a:lnTo>
                <a:lnTo>
                  <a:pt x="15356" y="8294"/>
                </a:lnTo>
                <a:lnTo>
                  <a:pt x="15312" y="8133"/>
                </a:lnTo>
                <a:lnTo>
                  <a:pt x="15301" y="7966"/>
                </a:lnTo>
                <a:lnTo>
                  <a:pt x="15326" y="7800"/>
                </a:lnTo>
                <a:lnTo>
                  <a:pt x="15635" y="6984"/>
                </a:lnTo>
                <a:lnTo>
                  <a:pt x="16115" y="6254"/>
                </a:lnTo>
                <a:lnTo>
                  <a:pt x="16741" y="5645"/>
                </a:lnTo>
                <a:lnTo>
                  <a:pt x="17484" y="5187"/>
                </a:lnTo>
                <a:lnTo>
                  <a:pt x="18309" y="4901"/>
                </a:lnTo>
                <a:lnTo>
                  <a:pt x="19176" y="4801"/>
                </a:lnTo>
                <a:lnTo>
                  <a:pt x="20045" y="4891"/>
                </a:lnTo>
                <a:lnTo>
                  <a:pt x="20873" y="5168"/>
                </a:lnTo>
                <a:lnTo>
                  <a:pt x="21621" y="5618"/>
                </a:lnTo>
                <a:lnTo>
                  <a:pt x="22254" y="6219"/>
                </a:lnTo>
                <a:lnTo>
                  <a:pt x="22741" y="6944"/>
                </a:lnTo>
                <a:lnTo>
                  <a:pt x="23060" y="7757"/>
                </a:lnTo>
                <a:lnTo>
                  <a:pt x="23195" y="8619"/>
                </a:lnTo>
                <a:lnTo>
                  <a:pt x="23139" y="9491"/>
                </a:lnTo>
                <a:lnTo>
                  <a:pt x="22895" y="10329"/>
                </a:lnTo>
                <a:lnTo>
                  <a:pt x="22476" y="11095"/>
                </a:lnTo>
                <a:lnTo>
                  <a:pt x="21900" y="11751"/>
                </a:lnTo>
                <a:lnTo>
                  <a:pt x="22430" y="12008"/>
                </a:lnTo>
                <a:lnTo>
                  <a:pt x="22936" y="12311"/>
                </a:lnTo>
                <a:lnTo>
                  <a:pt x="23413" y="12656"/>
                </a:lnTo>
                <a:lnTo>
                  <a:pt x="23859" y="13041"/>
                </a:lnTo>
                <a:lnTo>
                  <a:pt x="24270" y="13463"/>
                </a:lnTo>
                <a:lnTo>
                  <a:pt x="24643" y="13919"/>
                </a:lnTo>
                <a:lnTo>
                  <a:pt x="24734" y="14074"/>
                </a:lnTo>
                <a:lnTo>
                  <a:pt x="24788" y="14245"/>
                </a:lnTo>
                <a:lnTo>
                  <a:pt x="24802" y="14424"/>
                </a:lnTo>
                <a:lnTo>
                  <a:pt x="24776" y="14601"/>
                </a:lnTo>
                <a:lnTo>
                  <a:pt x="24711" y="14769"/>
                </a:lnTo>
                <a:lnTo>
                  <a:pt x="24611" y="14917"/>
                </a:lnTo>
                <a:lnTo>
                  <a:pt x="24480" y="15040"/>
                </a:lnTo>
                <a:close/>
                <a:moveTo>
                  <a:pt x="19092" y="21200"/>
                </a:moveTo>
                <a:lnTo>
                  <a:pt x="19168" y="21354"/>
                </a:lnTo>
                <a:lnTo>
                  <a:pt x="19209" y="21521"/>
                </a:lnTo>
                <a:lnTo>
                  <a:pt x="19214" y="21692"/>
                </a:lnTo>
                <a:lnTo>
                  <a:pt x="19183" y="21861"/>
                </a:lnTo>
                <a:lnTo>
                  <a:pt x="19115" y="22019"/>
                </a:lnTo>
                <a:lnTo>
                  <a:pt x="19016" y="22159"/>
                </a:lnTo>
                <a:lnTo>
                  <a:pt x="18889" y="22275"/>
                </a:lnTo>
                <a:lnTo>
                  <a:pt x="18741" y="22361"/>
                </a:lnTo>
                <a:lnTo>
                  <a:pt x="18577" y="22413"/>
                </a:lnTo>
                <a:lnTo>
                  <a:pt x="18406" y="22429"/>
                </a:lnTo>
                <a:lnTo>
                  <a:pt x="18236" y="22408"/>
                </a:lnTo>
                <a:lnTo>
                  <a:pt x="18073" y="22352"/>
                </a:lnTo>
                <a:lnTo>
                  <a:pt x="17927" y="22262"/>
                </a:lnTo>
                <a:lnTo>
                  <a:pt x="17803" y="22143"/>
                </a:lnTo>
                <a:lnTo>
                  <a:pt x="17708" y="22000"/>
                </a:lnTo>
                <a:lnTo>
                  <a:pt x="16916" y="20955"/>
                </a:lnTo>
                <a:lnTo>
                  <a:pt x="15906" y="20119"/>
                </a:lnTo>
                <a:lnTo>
                  <a:pt x="14732" y="19536"/>
                </a:lnTo>
                <a:lnTo>
                  <a:pt x="13456" y="19236"/>
                </a:lnTo>
                <a:lnTo>
                  <a:pt x="12144" y="19236"/>
                </a:lnTo>
                <a:lnTo>
                  <a:pt x="10868" y="19536"/>
                </a:lnTo>
                <a:lnTo>
                  <a:pt x="9694" y="20119"/>
                </a:lnTo>
                <a:lnTo>
                  <a:pt x="8684" y="20955"/>
                </a:lnTo>
                <a:lnTo>
                  <a:pt x="7892" y="22000"/>
                </a:lnTo>
                <a:lnTo>
                  <a:pt x="7797" y="22143"/>
                </a:lnTo>
                <a:lnTo>
                  <a:pt x="7673" y="22262"/>
                </a:lnTo>
                <a:lnTo>
                  <a:pt x="7527" y="22352"/>
                </a:lnTo>
                <a:lnTo>
                  <a:pt x="7364" y="22408"/>
                </a:lnTo>
                <a:lnTo>
                  <a:pt x="7194" y="22429"/>
                </a:lnTo>
                <a:lnTo>
                  <a:pt x="7023" y="22413"/>
                </a:lnTo>
                <a:lnTo>
                  <a:pt x="6859" y="22361"/>
                </a:lnTo>
                <a:lnTo>
                  <a:pt x="6711" y="22275"/>
                </a:lnTo>
                <a:lnTo>
                  <a:pt x="6584" y="22159"/>
                </a:lnTo>
                <a:lnTo>
                  <a:pt x="6485" y="22019"/>
                </a:lnTo>
                <a:lnTo>
                  <a:pt x="6417" y="21861"/>
                </a:lnTo>
                <a:lnTo>
                  <a:pt x="6386" y="21692"/>
                </a:lnTo>
                <a:lnTo>
                  <a:pt x="6391" y="21521"/>
                </a:lnTo>
                <a:lnTo>
                  <a:pt x="6432" y="21354"/>
                </a:lnTo>
                <a:lnTo>
                  <a:pt x="6508" y="21200"/>
                </a:lnTo>
                <a:lnTo>
                  <a:pt x="6927" y="20561"/>
                </a:lnTo>
                <a:lnTo>
                  <a:pt x="7411" y="19970"/>
                </a:lnTo>
                <a:lnTo>
                  <a:pt x="7955" y="19433"/>
                </a:lnTo>
                <a:lnTo>
                  <a:pt x="8553" y="18957"/>
                </a:lnTo>
                <a:lnTo>
                  <a:pt x="9197" y="18547"/>
                </a:lnTo>
                <a:lnTo>
                  <a:pt x="9882" y="18208"/>
                </a:lnTo>
                <a:lnTo>
                  <a:pt x="9132" y="17493"/>
                </a:lnTo>
                <a:lnTo>
                  <a:pt x="8553" y="16633"/>
                </a:lnTo>
                <a:lnTo>
                  <a:pt x="8172" y="15669"/>
                </a:lnTo>
                <a:lnTo>
                  <a:pt x="8006" y="14646"/>
                </a:lnTo>
                <a:lnTo>
                  <a:pt x="8065" y="13611"/>
                </a:lnTo>
                <a:lnTo>
                  <a:pt x="8344" y="12613"/>
                </a:lnTo>
                <a:lnTo>
                  <a:pt x="8831" y="11698"/>
                </a:lnTo>
                <a:lnTo>
                  <a:pt x="9503" y="10909"/>
                </a:lnTo>
                <a:lnTo>
                  <a:pt x="10328" y="10282"/>
                </a:lnTo>
                <a:lnTo>
                  <a:pt x="11269" y="9847"/>
                </a:lnTo>
                <a:lnTo>
                  <a:pt x="12282" y="9625"/>
                </a:lnTo>
                <a:lnTo>
                  <a:pt x="13318" y="9625"/>
                </a:lnTo>
                <a:lnTo>
                  <a:pt x="14331" y="9847"/>
                </a:lnTo>
                <a:lnTo>
                  <a:pt x="15272" y="10282"/>
                </a:lnTo>
                <a:lnTo>
                  <a:pt x="16097" y="10909"/>
                </a:lnTo>
                <a:lnTo>
                  <a:pt x="16769" y="11698"/>
                </a:lnTo>
                <a:lnTo>
                  <a:pt x="17256" y="12613"/>
                </a:lnTo>
                <a:lnTo>
                  <a:pt x="17535" y="13611"/>
                </a:lnTo>
                <a:lnTo>
                  <a:pt x="17594" y="14646"/>
                </a:lnTo>
                <a:lnTo>
                  <a:pt x="17428" y="15669"/>
                </a:lnTo>
                <a:lnTo>
                  <a:pt x="17047" y="16633"/>
                </a:lnTo>
                <a:lnTo>
                  <a:pt x="16468" y="17493"/>
                </a:lnTo>
                <a:lnTo>
                  <a:pt x="15718" y="18208"/>
                </a:lnTo>
                <a:lnTo>
                  <a:pt x="16403" y="18547"/>
                </a:lnTo>
                <a:lnTo>
                  <a:pt x="17047" y="18957"/>
                </a:lnTo>
                <a:lnTo>
                  <a:pt x="17645" y="19433"/>
                </a:lnTo>
                <a:lnTo>
                  <a:pt x="18189" y="19970"/>
                </a:lnTo>
                <a:lnTo>
                  <a:pt x="18673" y="20561"/>
                </a:lnTo>
                <a:lnTo>
                  <a:pt x="19092" y="21200"/>
                </a:lnTo>
                <a:close/>
                <a:moveTo>
                  <a:pt x="12800" y="17600"/>
                </a:moveTo>
                <a:lnTo>
                  <a:pt x="13480" y="17527"/>
                </a:lnTo>
                <a:lnTo>
                  <a:pt x="14129" y="17311"/>
                </a:lnTo>
                <a:lnTo>
                  <a:pt x="14718" y="16962"/>
                </a:lnTo>
                <a:lnTo>
                  <a:pt x="15218" y="16496"/>
                </a:lnTo>
                <a:lnTo>
                  <a:pt x="15609" y="15934"/>
                </a:lnTo>
                <a:lnTo>
                  <a:pt x="15870" y="15302"/>
                </a:lnTo>
                <a:lnTo>
                  <a:pt x="15992" y="14628"/>
                </a:lnTo>
                <a:lnTo>
                  <a:pt x="15967" y="13945"/>
                </a:lnTo>
                <a:lnTo>
                  <a:pt x="15798" y="13282"/>
                </a:lnTo>
                <a:lnTo>
                  <a:pt x="15492" y="12670"/>
                </a:lnTo>
                <a:lnTo>
                  <a:pt x="15063" y="12137"/>
                </a:lnTo>
                <a:lnTo>
                  <a:pt x="14530" y="11708"/>
                </a:lnTo>
                <a:lnTo>
                  <a:pt x="13918" y="11402"/>
                </a:lnTo>
                <a:lnTo>
                  <a:pt x="13255" y="11233"/>
                </a:lnTo>
                <a:lnTo>
                  <a:pt x="12572" y="11208"/>
                </a:lnTo>
                <a:lnTo>
                  <a:pt x="11898" y="11330"/>
                </a:lnTo>
                <a:lnTo>
                  <a:pt x="11266" y="11591"/>
                </a:lnTo>
                <a:lnTo>
                  <a:pt x="10704" y="11982"/>
                </a:lnTo>
                <a:lnTo>
                  <a:pt x="10238" y="12482"/>
                </a:lnTo>
                <a:lnTo>
                  <a:pt x="9889" y="13071"/>
                </a:lnTo>
                <a:lnTo>
                  <a:pt x="9673" y="13720"/>
                </a:lnTo>
                <a:lnTo>
                  <a:pt x="9600" y="14400"/>
                </a:lnTo>
                <a:lnTo>
                  <a:pt x="9680" y="15112"/>
                </a:lnTo>
                <a:lnTo>
                  <a:pt x="9917" y="15788"/>
                </a:lnTo>
                <a:lnTo>
                  <a:pt x="10298" y="16395"/>
                </a:lnTo>
                <a:lnTo>
                  <a:pt x="10805" y="16902"/>
                </a:lnTo>
                <a:lnTo>
                  <a:pt x="11412" y="17283"/>
                </a:lnTo>
                <a:lnTo>
                  <a:pt x="12088" y="17520"/>
                </a:lnTo>
                <a:lnTo>
                  <a:pt x="12800" y="17600"/>
                </a:lnTo>
                <a:close/>
                <a:moveTo>
                  <a:pt x="7200" y="12000"/>
                </a:moveTo>
                <a:lnTo>
                  <a:pt x="7180" y="11822"/>
                </a:lnTo>
                <a:lnTo>
                  <a:pt x="7121" y="11653"/>
                </a:lnTo>
                <a:lnTo>
                  <a:pt x="7025" y="11501"/>
                </a:lnTo>
                <a:lnTo>
                  <a:pt x="6899" y="11375"/>
                </a:lnTo>
                <a:lnTo>
                  <a:pt x="6747" y="11279"/>
                </a:lnTo>
                <a:lnTo>
                  <a:pt x="6578" y="11220"/>
                </a:lnTo>
                <a:lnTo>
                  <a:pt x="6400" y="11200"/>
                </a:lnTo>
                <a:lnTo>
                  <a:pt x="5894" y="11146"/>
                </a:lnTo>
                <a:lnTo>
                  <a:pt x="5411" y="10987"/>
                </a:lnTo>
                <a:lnTo>
                  <a:pt x="4972" y="10729"/>
                </a:lnTo>
                <a:lnTo>
                  <a:pt x="4598" y="10385"/>
                </a:lnTo>
                <a:lnTo>
                  <a:pt x="4304" y="9969"/>
                </a:lnTo>
                <a:lnTo>
                  <a:pt x="4105" y="9501"/>
                </a:lnTo>
                <a:lnTo>
                  <a:pt x="4009" y="9002"/>
                </a:lnTo>
                <a:lnTo>
                  <a:pt x="4020" y="8493"/>
                </a:lnTo>
                <a:lnTo>
                  <a:pt x="4138" y="7998"/>
                </a:lnTo>
                <a:lnTo>
                  <a:pt x="4358" y="7540"/>
                </a:lnTo>
                <a:lnTo>
                  <a:pt x="4669" y="7137"/>
                </a:lnTo>
                <a:lnTo>
                  <a:pt x="5059" y="6810"/>
                </a:lnTo>
                <a:lnTo>
                  <a:pt x="5508" y="6572"/>
                </a:lnTo>
                <a:lnTo>
                  <a:pt x="5998" y="6434"/>
                </a:lnTo>
                <a:lnTo>
                  <a:pt x="6506" y="6402"/>
                </a:lnTo>
                <a:lnTo>
                  <a:pt x="7009" y="6478"/>
                </a:lnTo>
                <a:lnTo>
                  <a:pt x="7484" y="6659"/>
                </a:lnTo>
                <a:lnTo>
                  <a:pt x="7911" y="6935"/>
                </a:lnTo>
                <a:lnTo>
                  <a:pt x="8270" y="7296"/>
                </a:lnTo>
                <a:lnTo>
                  <a:pt x="8545" y="7724"/>
                </a:lnTo>
                <a:lnTo>
                  <a:pt x="8724" y="8200"/>
                </a:lnTo>
                <a:lnTo>
                  <a:pt x="8783" y="8357"/>
                </a:lnTo>
                <a:lnTo>
                  <a:pt x="8872" y="8498"/>
                </a:lnTo>
                <a:lnTo>
                  <a:pt x="8990" y="8617"/>
                </a:lnTo>
                <a:lnTo>
                  <a:pt x="9129" y="8710"/>
                </a:lnTo>
                <a:lnTo>
                  <a:pt x="9285" y="8771"/>
                </a:lnTo>
                <a:lnTo>
                  <a:pt x="9450" y="8799"/>
                </a:lnTo>
                <a:lnTo>
                  <a:pt x="9617" y="8792"/>
                </a:lnTo>
                <a:lnTo>
                  <a:pt x="9779" y="8750"/>
                </a:lnTo>
                <a:lnTo>
                  <a:pt x="9929" y="8675"/>
                </a:lnTo>
                <a:lnTo>
                  <a:pt x="10060" y="8571"/>
                </a:lnTo>
                <a:lnTo>
                  <a:pt x="10166" y="8442"/>
                </a:lnTo>
                <a:lnTo>
                  <a:pt x="10244" y="8294"/>
                </a:lnTo>
                <a:lnTo>
                  <a:pt x="10288" y="8133"/>
                </a:lnTo>
                <a:lnTo>
                  <a:pt x="10299" y="7966"/>
                </a:lnTo>
                <a:lnTo>
                  <a:pt x="10274" y="7800"/>
                </a:lnTo>
                <a:lnTo>
                  <a:pt x="9965" y="6984"/>
                </a:lnTo>
                <a:lnTo>
                  <a:pt x="9485" y="6254"/>
                </a:lnTo>
                <a:lnTo>
                  <a:pt x="8859" y="5645"/>
                </a:lnTo>
                <a:lnTo>
                  <a:pt x="8116" y="5187"/>
                </a:lnTo>
                <a:lnTo>
                  <a:pt x="7291" y="4901"/>
                </a:lnTo>
                <a:lnTo>
                  <a:pt x="6424" y="4801"/>
                </a:lnTo>
                <a:lnTo>
                  <a:pt x="5555" y="4891"/>
                </a:lnTo>
                <a:lnTo>
                  <a:pt x="4727" y="5168"/>
                </a:lnTo>
                <a:lnTo>
                  <a:pt x="3979" y="5618"/>
                </a:lnTo>
                <a:lnTo>
                  <a:pt x="3346" y="6219"/>
                </a:lnTo>
                <a:lnTo>
                  <a:pt x="2859" y="6944"/>
                </a:lnTo>
                <a:lnTo>
                  <a:pt x="2540" y="7757"/>
                </a:lnTo>
                <a:lnTo>
                  <a:pt x="2405" y="8619"/>
                </a:lnTo>
                <a:lnTo>
                  <a:pt x="2461" y="9491"/>
                </a:lnTo>
                <a:lnTo>
                  <a:pt x="2705" y="10329"/>
                </a:lnTo>
                <a:lnTo>
                  <a:pt x="3124" y="11095"/>
                </a:lnTo>
                <a:lnTo>
                  <a:pt x="3700" y="11751"/>
                </a:lnTo>
                <a:lnTo>
                  <a:pt x="3171" y="12009"/>
                </a:lnTo>
                <a:lnTo>
                  <a:pt x="2665" y="12311"/>
                </a:lnTo>
                <a:lnTo>
                  <a:pt x="2188" y="12656"/>
                </a:lnTo>
                <a:lnTo>
                  <a:pt x="1743" y="13041"/>
                </a:lnTo>
                <a:lnTo>
                  <a:pt x="1332" y="13463"/>
                </a:lnTo>
                <a:lnTo>
                  <a:pt x="960" y="13919"/>
                </a:lnTo>
                <a:lnTo>
                  <a:pt x="874" y="14063"/>
                </a:lnTo>
                <a:lnTo>
                  <a:pt x="820" y="14221"/>
                </a:lnTo>
                <a:lnTo>
                  <a:pt x="800" y="14387"/>
                </a:lnTo>
                <a:lnTo>
                  <a:pt x="815" y="14554"/>
                </a:lnTo>
                <a:lnTo>
                  <a:pt x="864" y="14714"/>
                </a:lnTo>
                <a:lnTo>
                  <a:pt x="945" y="14860"/>
                </a:lnTo>
                <a:lnTo>
                  <a:pt x="1055" y="14986"/>
                </a:lnTo>
                <a:lnTo>
                  <a:pt x="1189" y="15086"/>
                </a:lnTo>
                <a:lnTo>
                  <a:pt x="1341" y="15157"/>
                </a:lnTo>
                <a:lnTo>
                  <a:pt x="1504" y="15194"/>
                </a:lnTo>
                <a:lnTo>
                  <a:pt x="1671" y="15197"/>
                </a:lnTo>
                <a:lnTo>
                  <a:pt x="1835" y="15164"/>
                </a:lnTo>
                <a:lnTo>
                  <a:pt x="1989" y="15099"/>
                </a:lnTo>
                <a:lnTo>
                  <a:pt x="2126" y="15003"/>
                </a:lnTo>
                <a:lnTo>
                  <a:pt x="2240" y="14880"/>
                </a:lnTo>
                <a:lnTo>
                  <a:pt x="2768" y="14275"/>
                </a:lnTo>
                <a:lnTo>
                  <a:pt x="3384" y="13759"/>
                </a:lnTo>
                <a:lnTo>
                  <a:pt x="4072" y="13345"/>
                </a:lnTo>
                <a:lnTo>
                  <a:pt x="4817" y="13042"/>
                </a:lnTo>
                <a:lnTo>
                  <a:pt x="5599" y="12859"/>
                </a:lnTo>
                <a:lnTo>
                  <a:pt x="6400" y="12800"/>
                </a:lnTo>
                <a:lnTo>
                  <a:pt x="6578" y="12780"/>
                </a:lnTo>
                <a:lnTo>
                  <a:pt x="6747" y="12721"/>
                </a:lnTo>
                <a:lnTo>
                  <a:pt x="6899" y="12625"/>
                </a:lnTo>
                <a:lnTo>
                  <a:pt x="7025" y="12499"/>
                </a:lnTo>
                <a:lnTo>
                  <a:pt x="7121" y="12347"/>
                </a:lnTo>
                <a:lnTo>
                  <a:pt x="7180" y="12178"/>
                </a:lnTo>
                <a:lnTo>
                  <a:pt x="7200" y="12000"/>
                </a:lnTo>
                <a:close/>
              </a:path>
            </a:pathLst>
          </a:custGeom>
          <a:solidFill>
            <a:srgbClr val="0B2E6B"/>
          </a:solidFill>
          <a:ln>
            <a:noFill/>
          </a:ln>
        </p:spPr>
        <p:txBody>
          <a:bodyPr rtlCol="0" anchor="ctr"/>
          <a:lstStyle/>
          <a:p>
            <a:pPr algn="ctr"/>
          </a:p>
        </p:txBody>
      </p:sp>
      <p:sp>
        <p:nvSpPr>
          <p:cNvPr id="102" name="TextBox 101"/>
          <p:cNvSpPr txBox="1"/>
          <p:nvPr/>
        </p:nvSpPr>
        <p:spPr>
          <a:xfrm>
            <a:off x="2890808" y="7349540"/>
            <a:ext cx="1350000" cy="400000"/>
          </a:xfrm>
          <a:prstGeom prst="rect">
            <a:avLst/>
          </a:prstGeom>
          <a:noFill/>
        </p:spPr>
        <p:txBody>
          <a:bodyPr wrap="square" lIns="0" rIns="0" tIns="0" bIns="0" anchor="ctr">
            <a:spAutoFit/>
          </a:bodyPr>
          <a:lstStyle/>
          <a:p>
            <a:pPr algn="l">
              <a:lnSpc>
                <a:spcPct val="100000"/>
              </a:lnSpc>
              <a:spcAft>
                <a:spcPts val="0"/>
              </a:spcAft>
            </a:pPr>
            <a:r>
              <a:rPr sz="950" b="1" i="0">
                <a:solidFill>
                  <a:srgbClr val="0B2E6B"/>
                </a:solidFill>
                <a:latin typeface="Arial"/>
              </a:rPr>
              <a:t>VOLVER A COMPRENDER</a:t>
            </a:r>
          </a:p>
        </p:txBody>
      </p:sp>
      <p:sp>
        <p:nvSpPr>
          <p:cNvPr id="103" name="TextBox 102"/>
          <p:cNvSpPr txBox="1"/>
          <p:nvPr/>
        </p:nvSpPr>
        <p:spPr>
          <a:xfrm>
            <a:off x="4240808" y="7349540"/>
            <a:ext cx="1896383" cy="400000"/>
          </a:xfrm>
          <a:prstGeom prst="rect">
            <a:avLst/>
          </a:prstGeom>
          <a:noFill/>
        </p:spPr>
        <p:txBody>
          <a:bodyPr wrap="square" lIns="0" rIns="0" tIns="0" bIns="0" anchor="ctr">
            <a:spAutoFit/>
          </a:bodyPr>
          <a:lstStyle/>
          <a:p>
            <a:pPr algn="l">
              <a:lnSpc>
                <a:spcPct val="100000"/>
              </a:lnSpc>
              <a:spcAft>
                <a:spcPts val="0"/>
              </a:spcAft>
            </a:pPr>
            <a:r>
              <a:rPr sz="950" b="0" i="0">
                <a:solidFill>
                  <a:srgbClr val="3D2159"/>
                </a:solidFill>
                <a:latin typeface="Arial"/>
              </a:rPr>
              <a:t>Necesitamos aprender más de las personas.</a:t>
            </a:r>
          </a:p>
        </p:txBody>
      </p:sp>
      <p:sp>
        <p:nvSpPr>
          <p:cNvPr id="104" name="TextBox 103"/>
          <p:cNvSpPr txBox="1"/>
          <p:nvPr/>
        </p:nvSpPr>
        <p:spPr>
          <a:xfrm>
            <a:off x="640808" y="7929540"/>
            <a:ext cx="5576383" cy="150000"/>
          </a:xfrm>
          <a:prstGeom prst="rect">
            <a:avLst/>
          </a:prstGeom>
          <a:noFill/>
        </p:spPr>
        <p:txBody>
          <a:bodyPr wrap="square" lIns="0" rIns="0" tIns="0" bIns="0" anchor="t">
            <a:spAutoFit/>
          </a:bodyPr>
          <a:lstStyle/>
          <a:p>
            <a:pPr algn="l">
              <a:lnSpc>
                <a:spcPct val="100000"/>
              </a:lnSpc>
              <a:spcAft>
                <a:spcPts val="0"/>
              </a:spcAft>
            </a:pPr>
            <a:r>
              <a:rPr sz="950" b="0" i="1">
                <a:solidFill>
                  <a:srgbClr val="7B7480"/>
                </a:solidFill>
                <a:latin typeface="Arial"/>
              </a:rPr>
              <a:t>Fuente: elaboración propia.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808" y="723900"/>
            <a:ext cx="4265517" cy="171450"/>
          </a:xfrm>
          <a:prstGeom prst="rect">
            <a:avLst/>
          </a:prstGeom>
          <a:noFill/>
        </p:spPr>
        <p:txBody>
          <a:bodyPr wrap="square" lIns="0" rIns="0" tIns="0" bIns="0" anchor="t">
            <a:spAutoFit/>
          </a:bodyPr>
          <a:lstStyle/>
          <a:p>
            <a:pPr algn="l">
              <a:lnSpc>
                <a:spcPct val="100000"/>
              </a:lnSpc>
              <a:spcAft>
                <a:spcPts val="0"/>
              </a:spcAft>
            </a:pPr>
            <a:r>
              <a:rPr sz="825" b="1" i="0">
                <a:solidFill>
                  <a:srgbClr val="664092"/>
                </a:solidFill>
                <a:latin typeface="Arial"/>
              </a:rPr>
              <a:t>Artículo educativo · Pensamiento de diseño</a:t>
            </a:r>
          </a:p>
        </p:txBody>
      </p:sp>
      <p:sp>
        <p:nvSpPr>
          <p:cNvPr id="3" name="TextBox 2"/>
          <p:cNvSpPr txBox="1"/>
          <p:nvPr/>
        </p:nvSpPr>
        <p:spPr>
          <a:xfrm>
            <a:off x="640808" y="1104900"/>
            <a:ext cx="5576383" cy="209550"/>
          </a:xfrm>
          <a:prstGeom prst="rect">
            <a:avLst/>
          </a:prstGeom>
          <a:noFill/>
        </p:spPr>
        <p:txBody>
          <a:bodyPr wrap="square" lIns="0" rIns="0" tIns="0" bIns="0" anchor="t">
            <a:spAutoFit/>
          </a:bodyPr>
          <a:lstStyle/>
          <a:p>
            <a:pPr algn="l">
              <a:lnSpc>
                <a:spcPct val="100000"/>
              </a:lnSpc>
              <a:spcAft>
                <a:spcPts val="0"/>
              </a:spcAft>
            </a:pPr>
            <a:r>
              <a:rPr sz="975" b="1" i="0">
                <a:solidFill>
                  <a:srgbClr val="3560D6"/>
                </a:solidFill>
                <a:latin typeface="Arial"/>
              </a:rPr>
              <a:t>Caso ilustrativo</a:t>
            </a:r>
          </a:p>
        </p:txBody>
      </p:sp>
      <p:sp>
        <p:nvSpPr>
          <p:cNvPr id="4" name="TextBox 3"/>
          <p:cNvSpPr txBox="1"/>
          <p:nvPr/>
        </p:nvSpPr>
        <p:spPr>
          <a:xfrm>
            <a:off x="640808" y="1428750"/>
            <a:ext cx="5576383" cy="345471"/>
          </a:xfrm>
          <a:prstGeom prst="rect">
            <a:avLst/>
          </a:prstGeom>
          <a:noFill/>
        </p:spPr>
        <p:txBody>
          <a:bodyPr wrap="square" lIns="0" rIns="0" tIns="0" bIns="0" anchor="t">
            <a:spAutoFit/>
          </a:bodyPr>
          <a:lstStyle/>
          <a:p>
            <a:pPr algn="l">
              <a:lnSpc>
                <a:spcPct val="100000"/>
              </a:lnSpc>
              <a:spcAft>
                <a:spcPts val="0"/>
              </a:spcAft>
            </a:pPr>
            <a:r>
              <a:rPr sz="2325" b="1" i="0">
                <a:solidFill>
                  <a:srgbClr val="664092"/>
                </a:solidFill>
                <a:latin typeface="Arial"/>
              </a:rPr>
              <a:t>El caso empresarial: iPhone</a:t>
            </a:r>
          </a:p>
        </p:txBody>
      </p:sp>
      <p:cxnSp>
        <p:nvCxnSpPr>
          <p:cNvPr id="67" name="Google Shape;67;p12"/>
          <p:cNvCxnSpPr/>
          <p:nvPr/>
        </p:nvCxnSpPr>
        <p:spPr>
          <a:xfrm>
            <a:off x="748514" y="2004221"/>
            <a:ext cx="998913" cy="0"/>
          </a:xfrm>
          <a:prstGeom prst="straightConnector1">
            <a:avLst/>
          </a:prstGeom>
          <a:noFill/>
          <a:ln cap="flat" cmpd="sng" w="53975">
            <a:solidFill>
              <a:srgbClr val="73CDEB"/>
            </a:solidFill>
            <a:prstDash val="solid"/>
            <a:round/>
            <a:headEnd len="med" w="med" type="oval"/>
            <a:tailEnd len="med" w="med" type="oval"/>
          </a:ln>
        </p:spPr>
      </p:cxnSp>
      <p:sp>
        <p:nvSpPr>
          <p:cNvPr id="68" name="TextBox 67"/>
          <p:cNvSpPr txBox="1"/>
          <p:nvPr/>
        </p:nvSpPr>
        <p:spPr>
          <a:xfrm>
            <a:off x="642308" y="2254221"/>
            <a:ext cx="5576383" cy="1999869"/>
          </a:xfrm>
          <a:prstGeom prst="rect">
            <a:avLst/>
          </a:prstGeom>
          <a:noFill/>
        </p:spPr>
        <p:txBody>
          <a:bodyPr wrap="square" lIns="0" rIns="0" tIns="0" bIns="0" anchor="t">
            <a:spAutoFit/>
          </a:bodyPr>
          <a:lstStyle/>
          <a:p>
            <a:pPr algn="l">
              <a:lnSpc>
                <a:spcPct val="130000"/>
              </a:lnSpc>
              <a:spcAft>
                <a:spcPts val="1181"/>
              </a:spcAft>
            </a:pPr>
            <a:r>
              <a:rPr sz="1100" b="0" i="0">
                <a:solidFill>
                  <a:srgbClr val="56505B"/>
                </a:solidFill>
                <a:latin typeface="Arial"/>
              </a:rPr>
              <a:t>El desarrollo del iPhone es presentado por Asana (2026) como un ejemplo de aplicación del Design Thinking en el desarrollo de productos. Según esta fuente, el caso se relaciona con una observación profunda de cómo las personas utilizaban los teléfonos y de las frustraciones que experimentaban con los dispositivos disponibles.</a:t>
            </a:r>
          </a:p>
          <a:p>
            <a:pPr algn="l">
              <a:lnSpc>
                <a:spcPct val="130000"/>
              </a:lnSpc>
              <a:spcAft>
                <a:spcPts val="1181"/>
              </a:spcAft>
            </a:pPr>
            <a:r>
              <a:rPr sz="1100" b="0" i="0">
                <a:solidFill>
                  <a:srgbClr val="56505B"/>
                </a:solidFill>
                <a:latin typeface="Arial"/>
              </a:rPr>
              <a:t>El valor del ejemplo no consiste en afirmar que un producto complejo pueda explicarse completamente mediante cinco pasos. Su utilidad pedagógica está en reconocer una lógica de trabajo centrada en las personas.</a:t>
            </a:r>
          </a:p>
        </p:txBody>
      </p:sp>
      <p:sp>
        <p:nvSpPr>
          <p:cNvPr id="69" name="Rounded Rectangle 68"/>
          <p:cNvSpPr/>
          <p:nvPr/>
        </p:nvSpPr>
        <p:spPr>
          <a:xfrm>
            <a:off x="640808" y="4294090"/>
            <a:ext cx="5576383" cy="2130000"/>
          </a:xfrm>
          <a:prstGeom prst="roundRect">
            <a:avLst>
              <a:gd name="adj" fmla="val 7042"/>
            </a:avLst>
          </a:prstGeom>
          <a:solidFill>
            <a:srgbClr val="E8F1FB"/>
          </a:solidFill>
          <a:ln>
            <a:noFill/>
          </a:ln>
        </p:spPr>
        <p:txBody>
          <a:bodyPr rtlCol="0" anchor="ctr"/>
          <a:lstStyle/>
          <a:p>
            <a:pPr algn="ctr"/>
          </a:p>
        </p:txBody>
      </p:sp>
      <p:sp>
        <p:nvSpPr>
          <p:cNvPr id="70" name="Rounded Rectangle 69"/>
          <p:cNvSpPr/>
          <p:nvPr/>
        </p:nvSpPr>
        <p:spPr>
          <a:xfrm>
            <a:off x="800808" y="4444090"/>
            <a:ext cx="5256383" cy="310000"/>
          </a:xfrm>
          <a:prstGeom prst="roundRect">
            <a:avLst>
              <a:gd name="adj" fmla="val 22580"/>
            </a:avLst>
          </a:prstGeom>
          <a:solidFill>
            <a:srgbClr val="FFFFFF"/>
          </a:solidFill>
          <a:ln>
            <a:noFill/>
          </a:ln>
        </p:spPr>
        <p:txBody>
          <a:bodyPr rtlCol="0" anchor="ctr"/>
          <a:lstStyle/>
          <a:p>
            <a:pPr algn="ctr"/>
          </a:p>
        </p:txBody>
      </p:sp>
      <p:sp>
        <p:nvSpPr>
          <p:cNvPr id="71" name="icono eye"/>
          <p:cNvSpPr/>
          <p:nvPr/>
        </p:nvSpPr>
        <p:spPr>
          <a:xfrm>
            <a:off x="900808" y="4499090"/>
            <a:ext cx="200000" cy="200000"/>
          </a:xfrm>
          <a:custGeom>
            <a:avLst/>
            <a:gdLst/>
            <a:ahLst/>
            <a:cxnLst/>
            <a:rect l="0" t="0" r="r" b="b"/>
            <a:pathLst>
              <a:path w="25600" h="25600">
                <a:moveTo>
                  <a:pt x="24731" y="12476"/>
                </a:moveTo>
                <a:cubicBezTo>
                  <a:pt x="24696" y="12397"/>
                  <a:pt x="23849" y="10518"/>
                  <a:pt x="21966" y="8635"/>
                </a:cubicBezTo>
                <a:cubicBezTo>
                  <a:pt x="19457" y="6126"/>
                  <a:pt x="16288" y="4800"/>
                  <a:pt x="12800" y="4800"/>
                </a:cubicBezTo>
                <a:cubicBezTo>
                  <a:pt x="9312" y="4800"/>
                  <a:pt x="6143" y="6126"/>
                  <a:pt x="3634" y="8635"/>
                </a:cubicBezTo>
                <a:cubicBezTo>
                  <a:pt x="1751" y="10518"/>
                  <a:pt x="900" y="12400"/>
                  <a:pt x="869" y="12476"/>
                </a:cubicBezTo>
                <a:lnTo>
                  <a:pt x="831" y="12581"/>
                </a:lnTo>
                <a:lnTo>
                  <a:pt x="808" y="12690"/>
                </a:lnTo>
                <a:lnTo>
                  <a:pt x="800" y="12801"/>
                </a:lnTo>
                <a:lnTo>
                  <a:pt x="808" y="12912"/>
                </a:lnTo>
                <a:lnTo>
                  <a:pt x="831" y="13021"/>
                </a:lnTo>
                <a:lnTo>
                  <a:pt x="869" y="13126"/>
                </a:lnTo>
                <a:cubicBezTo>
                  <a:pt x="904" y="13205"/>
                  <a:pt x="1751" y="15083"/>
                  <a:pt x="3634" y="16966"/>
                </a:cubicBezTo>
                <a:cubicBezTo>
                  <a:pt x="6143" y="19474"/>
                  <a:pt x="9312" y="20800"/>
                  <a:pt x="12800" y="20800"/>
                </a:cubicBezTo>
                <a:cubicBezTo>
                  <a:pt x="16288" y="20800"/>
                  <a:pt x="19457" y="19474"/>
                  <a:pt x="21966" y="16966"/>
                </a:cubicBezTo>
                <a:cubicBezTo>
                  <a:pt x="23849" y="15083"/>
                  <a:pt x="24696" y="13205"/>
                  <a:pt x="24731" y="13126"/>
                </a:cubicBezTo>
                <a:lnTo>
                  <a:pt x="24769" y="13021"/>
                </a:lnTo>
                <a:lnTo>
                  <a:pt x="24792" y="12912"/>
                </a:lnTo>
                <a:lnTo>
                  <a:pt x="24800" y="12801"/>
                </a:lnTo>
                <a:lnTo>
                  <a:pt x="24792" y="12690"/>
                </a:lnTo>
                <a:lnTo>
                  <a:pt x="24769" y="12581"/>
                </a:lnTo>
                <a:lnTo>
                  <a:pt x="24731" y="12476"/>
                </a:lnTo>
                <a:close/>
                <a:moveTo>
                  <a:pt x="12800" y="19200"/>
                </a:moveTo>
                <a:cubicBezTo>
                  <a:pt x="9722" y="19200"/>
                  <a:pt x="7033" y="18081"/>
                  <a:pt x="4807" y="15875"/>
                </a:cubicBezTo>
                <a:lnTo>
                  <a:pt x="4362" y="15411"/>
                </a:lnTo>
                <a:lnTo>
                  <a:pt x="3940" y="14926"/>
                </a:lnTo>
                <a:lnTo>
                  <a:pt x="3542" y="14421"/>
                </a:lnTo>
                <a:lnTo>
                  <a:pt x="3169" y="13898"/>
                </a:lnTo>
                <a:lnTo>
                  <a:pt x="2821" y="13357"/>
                </a:lnTo>
                <a:lnTo>
                  <a:pt x="2500" y="12800"/>
                </a:lnTo>
                <a:lnTo>
                  <a:pt x="2821" y="12243"/>
                </a:lnTo>
                <a:lnTo>
                  <a:pt x="3169" y="11702"/>
                </a:lnTo>
                <a:lnTo>
                  <a:pt x="3542" y="11179"/>
                </a:lnTo>
                <a:lnTo>
                  <a:pt x="3940" y="10674"/>
                </a:lnTo>
                <a:lnTo>
                  <a:pt x="4362" y="10189"/>
                </a:lnTo>
                <a:lnTo>
                  <a:pt x="4807" y="9725"/>
                </a:lnTo>
                <a:cubicBezTo>
                  <a:pt x="7033" y="7519"/>
                  <a:pt x="9722" y="6400"/>
                  <a:pt x="12800" y="6400"/>
                </a:cubicBezTo>
                <a:cubicBezTo>
                  <a:pt x="15878" y="6400"/>
                  <a:pt x="18567" y="7519"/>
                  <a:pt x="20793" y="9725"/>
                </a:cubicBezTo>
                <a:lnTo>
                  <a:pt x="21239" y="10189"/>
                </a:lnTo>
                <a:lnTo>
                  <a:pt x="21661" y="10674"/>
                </a:lnTo>
                <a:lnTo>
                  <a:pt x="22060" y="11179"/>
                </a:lnTo>
                <a:lnTo>
                  <a:pt x="22435" y="11702"/>
                </a:lnTo>
                <a:lnTo>
                  <a:pt x="22783" y="12243"/>
                </a:lnTo>
                <a:lnTo>
                  <a:pt x="23105" y="12800"/>
                </a:lnTo>
                <a:cubicBezTo>
                  <a:pt x="22384" y="14146"/>
                  <a:pt x="19243" y="19200"/>
                  <a:pt x="12800" y="19200"/>
                </a:cubicBezTo>
                <a:close/>
                <a:moveTo>
                  <a:pt x="12800" y="8000"/>
                </a:moveTo>
                <a:lnTo>
                  <a:pt x="11780" y="8110"/>
                </a:lnTo>
                <a:lnTo>
                  <a:pt x="10806" y="8434"/>
                </a:lnTo>
                <a:lnTo>
                  <a:pt x="9923" y="8957"/>
                </a:lnTo>
                <a:lnTo>
                  <a:pt x="9172" y="9657"/>
                </a:lnTo>
                <a:lnTo>
                  <a:pt x="8587" y="10500"/>
                </a:lnTo>
                <a:lnTo>
                  <a:pt x="8194" y="11448"/>
                </a:lnTo>
                <a:lnTo>
                  <a:pt x="8012" y="12458"/>
                </a:lnTo>
                <a:lnTo>
                  <a:pt x="8049" y="13483"/>
                </a:lnTo>
                <a:lnTo>
                  <a:pt x="8303" y="14477"/>
                </a:lnTo>
                <a:lnTo>
                  <a:pt x="8762" y="15395"/>
                </a:lnTo>
                <a:lnTo>
                  <a:pt x="9406" y="16194"/>
                </a:lnTo>
                <a:lnTo>
                  <a:pt x="10205" y="16838"/>
                </a:lnTo>
                <a:lnTo>
                  <a:pt x="11123" y="17297"/>
                </a:lnTo>
                <a:lnTo>
                  <a:pt x="12117" y="17551"/>
                </a:lnTo>
                <a:lnTo>
                  <a:pt x="13142" y="17588"/>
                </a:lnTo>
                <a:lnTo>
                  <a:pt x="14152" y="17406"/>
                </a:lnTo>
                <a:lnTo>
                  <a:pt x="15100" y="17013"/>
                </a:lnTo>
                <a:lnTo>
                  <a:pt x="15943" y="16428"/>
                </a:lnTo>
                <a:lnTo>
                  <a:pt x="16643" y="15677"/>
                </a:lnTo>
                <a:lnTo>
                  <a:pt x="17166" y="14794"/>
                </a:lnTo>
                <a:lnTo>
                  <a:pt x="17490" y="13820"/>
                </a:lnTo>
                <a:lnTo>
                  <a:pt x="17600" y="12800"/>
                </a:lnTo>
                <a:lnTo>
                  <a:pt x="17479" y="11732"/>
                </a:lnTo>
                <a:lnTo>
                  <a:pt x="17123" y="10718"/>
                </a:lnTo>
                <a:lnTo>
                  <a:pt x="16551" y="9809"/>
                </a:lnTo>
                <a:lnTo>
                  <a:pt x="15791" y="9049"/>
                </a:lnTo>
                <a:lnTo>
                  <a:pt x="14882" y="8477"/>
                </a:lnTo>
                <a:lnTo>
                  <a:pt x="13868" y="8121"/>
                </a:lnTo>
                <a:lnTo>
                  <a:pt x="12800" y="8000"/>
                </a:lnTo>
                <a:close/>
                <a:moveTo>
                  <a:pt x="12800" y="16000"/>
                </a:moveTo>
                <a:lnTo>
                  <a:pt x="12120" y="15927"/>
                </a:lnTo>
                <a:lnTo>
                  <a:pt x="11471" y="15711"/>
                </a:lnTo>
                <a:lnTo>
                  <a:pt x="10882" y="15362"/>
                </a:lnTo>
                <a:lnTo>
                  <a:pt x="10382" y="14896"/>
                </a:lnTo>
                <a:lnTo>
                  <a:pt x="9991" y="14334"/>
                </a:lnTo>
                <a:lnTo>
                  <a:pt x="9730" y="13702"/>
                </a:lnTo>
                <a:lnTo>
                  <a:pt x="9608" y="13028"/>
                </a:lnTo>
                <a:lnTo>
                  <a:pt x="9633" y="12345"/>
                </a:lnTo>
                <a:lnTo>
                  <a:pt x="9802" y="11682"/>
                </a:lnTo>
                <a:lnTo>
                  <a:pt x="10108" y="11070"/>
                </a:lnTo>
                <a:lnTo>
                  <a:pt x="10537" y="10537"/>
                </a:lnTo>
                <a:lnTo>
                  <a:pt x="11070" y="10108"/>
                </a:lnTo>
                <a:lnTo>
                  <a:pt x="11682" y="9802"/>
                </a:lnTo>
                <a:lnTo>
                  <a:pt x="12345" y="9633"/>
                </a:lnTo>
                <a:lnTo>
                  <a:pt x="13028" y="9608"/>
                </a:lnTo>
                <a:lnTo>
                  <a:pt x="13702" y="9730"/>
                </a:lnTo>
                <a:lnTo>
                  <a:pt x="14334" y="9991"/>
                </a:lnTo>
                <a:lnTo>
                  <a:pt x="14896" y="10382"/>
                </a:lnTo>
                <a:lnTo>
                  <a:pt x="15362" y="10882"/>
                </a:lnTo>
                <a:lnTo>
                  <a:pt x="15711" y="11471"/>
                </a:lnTo>
                <a:lnTo>
                  <a:pt x="15927" y="12120"/>
                </a:lnTo>
                <a:lnTo>
                  <a:pt x="16000" y="12800"/>
                </a:lnTo>
                <a:lnTo>
                  <a:pt x="15920" y="13512"/>
                </a:lnTo>
                <a:lnTo>
                  <a:pt x="15683" y="14188"/>
                </a:lnTo>
                <a:lnTo>
                  <a:pt x="15302" y="14795"/>
                </a:lnTo>
                <a:lnTo>
                  <a:pt x="14795" y="15302"/>
                </a:lnTo>
                <a:lnTo>
                  <a:pt x="14188" y="15683"/>
                </a:lnTo>
                <a:lnTo>
                  <a:pt x="13512" y="15920"/>
                </a:lnTo>
                <a:lnTo>
                  <a:pt x="12800" y="16000"/>
                </a:lnTo>
                <a:close/>
              </a:path>
            </a:pathLst>
          </a:custGeom>
          <a:solidFill>
            <a:srgbClr val="024791"/>
          </a:solidFill>
          <a:ln>
            <a:noFill/>
          </a:ln>
        </p:spPr>
        <p:txBody>
          <a:bodyPr rtlCol="0" anchor="ctr"/>
          <a:lstStyle/>
          <a:p>
            <a:pPr algn="ctr"/>
          </a:p>
        </p:txBody>
      </p:sp>
      <p:sp>
        <p:nvSpPr>
          <p:cNvPr id="72" name="TextBox 71"/>
          <p:cNvSpPr txBox="1"/>
          <p:nvPr/>
        </p:nvSpPr>
        <p:spPr>
          <a:xfrm>
            <a:off x="1200808" y="4444090"/>
            <a:ext cx="1300000" cy="310000"/>
          </a:xfrm>
          <a:prstGeom prst="rect">
            <a:avLst/>
          </a:prstGeom>
          <a:noFill/>
        </p:spPr>
        <p:txBody>
          <a:bodyPr wrap="square" lIns="0" rIns="0" tIns="0" bIns="0" anchor="ctr">
            <a:spAutoFit/>
          </a:bodyPr>
          <a:lstStyle/>
          <a:p>
            <a:pPr algn="l">
              <a:lnSpc>
                <a:spcPct val="100000"/>
              </a:lnSpc>
              <a:spcAft>
                <a:spcPts val="0"/>
              </a:spcAft>
            </a:pPr>
            <a:r>
              <a:rPr sz="950" b="1" i="0">
                <a:solidFill>
                  <a:srgbClr val="024791"/>
                </a:solidFill>
                <a:latin typeface="Arial"/>
              </a:rPr>
              <a:t>1. OBSERVAR</a:t>
            </a:r>
          </a:p>
        </p:txBody>
      </p:sp>
      <p:sp>
        <p:nvSpPr>
          <p:cNvPr id="73" name="TextBox 72"/>
          <p:cNvSpPr txBox="1"/>
          <p:nvPr/>
        </p:nvSpPr>
        <p:spPr>
          <a:xfrm>
            <a:off x="2690808" y="4444090"/>
            <a:ext cx="3276383" cy="310000"/>
          </a:xfrm>
          <a:prstGeom prst="rect">
            <a:avLst/>
          </a:prstGeom>
          <a:noFill/>
        </p:spPr>
        <p:txBody>
          <a:bodyPr wrap="square" lIns="0" rIns="0" tIns="0" bIns="0" anchor="ctr">
            <a:spAutoFit/>
          </a:bodyPr>
          <a:lstStyle/>
          <a:p>
            <a:pPr algn="l">
              <a:lnSpc>
                <a:spcPct val="100000"/>
              </a:lnSpc>
              <a:spcAft>
                <a:spcPts val="0"/>
              </a:spcAft>
            </a:pPr>
            <a:r>
              <a:rPr sz="950" b="0" i="0">
                <a:solidFill>
                  <a:srgbClr val="3D2159"/>
                </a:solidFill>
                <a:latin typeface="Arial"/>
              </a:rPr>
              <a:t>Comportamientos y dificultades de las personas.</a:t>
            </a:r>
          </a:p>
        </p:txBody>
      </p:sp>
      <p:sp>
        <p:nvSpPr>
          <p:cNvPr id="74" name="Rounded Rectangle 73"/>
          <p:cNvSpPr/>
          <p:nvPr/>
        </p:nvSpPr>
        <p:spPr>
          <a:xfrm>
            <a:off x="800808" y="4824090"/>
            <a:ext cx="5256383" cy="310000"/>
          </a:xfrm>
          <a:prstGeom prst="roundRect">
            <a:avLst>
              <a:gd name="adj" fmla="val 22580"/>
            </a:avLst>
          </a:prstGeom>
          <a:solidFill>
            <a:srgbClr val="FFFFFF"/>
          </a:solidFill>
          <a:ln>
            <a:noFill/>
          </a:ln>
        </p:spPr>
        <p:txBody>
          <a:bodyPr rtlCol="0" anchor="ctr"/>
          <a:lstStyle/>
          <a:p>
            <a:pPr algn="ctr"/>
          </a:p>
        </p:txBody>
      </p:sp>
      <p:sp>
        <p:nvSpPr>
          <p:cNvPr id="75" name="icono lightbulb"/>
          <p:cNvSpPr/>
          <p:nvPr/>
        </p:nvSpPr>
        <p:spPr>
          <a:xfrm>
            <a:off x="900808" y="4879090"/>
            <a:ext cx="200000" cy="200000"/>
          </a:xfrm>
          <a:custGeom>
            <a:avLst/>
            <a:gdLst/>
            <a:ahLst/>
            <a:cxnLst/>
            <a:rect l="0" t="0" r="r" b="b"/>
            <a:pathLst>
              <a:path w="25600" h="25600">
                <a:moveTo>
                  <a:pt x="17600" y="23200"/>
                </a:moveTo>
                <a:lnTo>
                  <a:pt x="17580" y="23378"/>
                </a:lnTo>
                <a:lnTo>
                  <a:pt x="17521" y="23547"/>
                </a:lnTo>
                <a:lnTo>
                  <a:pt x="17425" y="23699"/>
                </a:lnTo>
                <a:lnTo>
                  <a:pt x="17299" y="23825"/>
                </a:lnTo>
                <a:lnTo>
                  <a:pt x="17147" y="23921"/>
                </a:lnTo>
                <a:lnTo>
                  <a:pt x="16978" y="23980"/>
                </a:lnTo>
                <a:lnTo>
                  <a:pt x="16800" y="24000"/>
                </a:lnTo>
                <a:lnTo>
                  <a:pt x="8800" y="24000"/>
                </a:lnTo>
                <a:lnTo>
                  <a:pt x="8634" y="23983"/>
                </a:lnTo>
                <a:lnTo>
                  <a:pt x="8475" y="23931"/>
                </a:lnTo>
                <a:lnTo>
                  <a:pt x="8330" y="23847"/>
                </a:lnTo>
                <a:lnTo>
                  <a:pt x="8205" y="23735"/>
                </a:lnTo>
                <a:lnTo>
                  <a:pt x="8107" y="23600"/>
                </a:lnTo>
                <a:lnTo>
                  <a:pt x="8039" y="23447"/>
                </a:lnTo>
                <a:lnTo>
                  <a:pt x="8004" y="23284"/>
                </a:lnTo>
                <a:lnTo>
                  <a:pt x="8004" y="23116"/>
                </a:lnTo>
                <a:lnTo>
                  <a:pt x="8039" y="22953"/>
                </a:lnTo>
                <a:lnTo>
                  <a:pt x="8107" y="22800"/>
                </a:lnTo>
                <a:lnTo>
                  <a:pt x="8205" y="22665"/>
                </a:lnTo>
                <a:lnTo>
                  <a:pt x="8330" y="22553"/>
                </a:lnTo>
                <a:lnTo>
                  <a:pt x="8475" y="22469"/>
                </a:lnTo>
                <a:lnTo>
                  <a:pt x="8634" y="22417"/>
                </a:lnTo>
                <a:lnTo>
                  <a:pt x="8800" y="22400"/>
                </a:lnTo>
                <a:lnTo>
                  <a:pt x="16800" y="22400"/>
                </a:lnTo>
                <a:lnTo>
                  <a:pt x="16978" y="22420"/>
                </a:lnTo>
                <a:lnTo>
                  <a:pt x="17147" y="22479"/>
                </a:lnTo>
                <a:lnTo>
                  <a:pt x="17299" y="22575"/>
                </a:lnTo>
                <a:lnTo>
                  <a:pt x="17425" y="22701"/>
                </a:lnTo>
                <a:lnTo>
                  <a:pt x="17521" y="22853"/>
                </a:lnTo>
                <a:lnTo>
                  <a:pt x="17580" y="23022"/>
                </a:lnTo>
                <a:lnTo>
                  <a:pt x="17600" y="23200"/>
                </a:lnTo>
                <a:close/>
                <a:moveTo>
                  <a:pt x="21600" y="10400"/>
                </a:moveTo>
                <a:lnTo>
                  <a:pt x="21503" y="11723"/>
                </a:lnTo>
                <a:lnTo>
                  <a:pt x="21207" y="13016"/>
                </a:lnTo>
                <a:lnTo>
                  <a:pt x="20719" y="14250"/>
                </a:lnTo>
                <a:lnTo>
                  <a:pt x="20050" y="15396"/>
                </a:lnTo>
                <a:lnTo>
                  <a:pt x="19216" y="16427"/>
                </a:lnTo>
                <a:lnTo>
                  <a:pt x="18236" y="17321"/>
                </a:lnTo>
                <a:lnTo>
                  <a:pt x="18052" y="17485"/>
                </a:lnTo>
                <a:lnTo>
                  <a:pt x="17896" y="17675"/>
                </a:lnTo>
                <a:lnTo>
                  <a:pt x="17770" y="17887"/>
                </a:lnTo>
                <a:lnTo>
                  <a:pt x="17677" y="18115"/>
                </a:lnTo>
                <a:lnTo>
                  <a:pt x="17620" y="18355"/>
                </a:lnTo>
                <a:lnTo>
                  <a:pt x="17600" y="18600"/>
                </a:lnTo>
                <a:lnTo>
                  <a:pt x="17600" y="19200"/>
                </a:lnTo>
                <a:lnTo>
                  <a:pt x="17560" y="19556"/>
                </a:lnTo>
                <a:lnTo>
                  <a:pt x="17442" y="19894"/>
                </a:lnTo>
                <a:lnTo>
                  <a:pt x="17251" y="20198"/>
                </a:lnTo>
                <a:lnTo>
                  <a:pt x="16998" y="20451"/>
                </a:lnTo>
                <a:lnTo>
                  <a:pt x="16694" y="20642"/>
                </a:lnTo>
                <a:lnTo>
                  <a:pt x="16356" y="20760"/>
                </a:lnTo>
                <a:lnTo>
                  <a:pt x="16000" y="20800"/>
                </a:lnTo>
                <a:lnTo>
                  <a:pt x="9600" y="20800"/>
                </a:lnTo>
                <a:lnTo>
                  <a:pt x="9244" y="20760"/>
                </a:lnTo>
                <a:lnTo>
                  <a:pt x="8906" y="20642"/>
                </a:lnTo>
                <a:lnTo>
                  <a:pt x="8602" y="20451"/>
                </a:lnTo>
                <a:lnTo>
                  <a:pt x="8349" y="20198"/>
                </a:lnTo>
                <a:lnTo>
                  <a:pt x="8158" y="19894"/>
                </a:lnTo>
                <a:lnTo>
                  <a:pt x="8040" y="19556"/>
                </a:lnTo>
                <a:lnTo>
                  <a:pt x="8000" y="19200"/>
                </a:lnTo>
                <a:lnTo>
                  <a:pt x="8000" y="18600"/>
                </a:lnTo>
                <a:lnTo>
                  <a:pt x="7981" y="18357"/>
                </a:lnTo>
                <a:lnTo>
                  <a:pt x="7926" y="18120"/>
                </a:lnTo>
                <a:lnTo>
                  <a:pt x="7836" y="17895"/>
                </a:lnTo>
                <a:lnTo>
                  <a:pt x="7712" y="17685"/>
                </a:lnTo>
                <a:lnTo>
                  <a:pt x="7558" y="17497"/>
                </a:lnTo>
                <a:lnTo>
                  <a:pt x="7377" y="17334"/>
                </a:lnTo>
                <a:lnTo>
                  <a:pt x="6399" y="16446"/>
                </a:lnTo>
                <a:lnTo>
                  <a:pt x="5565" y="15420"/>
                </a:lnTo>
                <a:lnTo>
                  <a:pt x="4895" y="14281"/>
                </a:lnTo>
                <a:lnTo>
                  <a:pt x="4404" y="13054"/>
                </a:lnTo>
                <a:lnTo>
                  <a:pt x="4104" y="11767"/>
                </a:lnTo>
                <a:lnTo>
                  <a:pt x="4000" y="10449"/>
                </a:lnTo>
                <a:cubicBezTo>
                  <a:pt x="3974" y="5683"/>
                  <a:pt x="7826" y="1714"/>
                  <a:pt x="12588" y="1600"/>
                </a:cubicBezTo>
                <a:lnTo>
                  <a:pt x="14581" y="1780"/>
                </a:lnTo>
                <a:lnTo>
                  <a:pt x="16482" y="2405"/>
                </a:lnTo>
                <a:lnTo>
                  <a:pt x="18192" y="3443"/>
                </a:lnTo>
                <a:lnTo>
                  <a:pt x="19624" y="4841"/>
                </a:lnTo>
                <a:lnTo>
                  <a:pt x="20703" y="6526"/>
                </a:lnTo>
                <a:lnTo>
                  <a:pt x="21373" y="8412"/>
                </a:lnTo>
                <a:lnTo>
                  <a:pt x="21600" y="10400"/>
                </a:lnTo>
                <a:close/>
                <a:moveTo>
                  <a:pt x="20000" y="10400"/>
                </a:moveTo>
                <a:lnTo>
                  <a:pt x="19814" y="8773"/>
                </a:lnTo>
                <a:lnTo>
                  <a:pt x="19266" y="7231"/>
                </a:lnTo>
                <a:lnTo>
                  <a:pt x="18383" y="5852"/>
                </a:lnTo>
                <a:lnTo>
                  <a:pt x="17212" y="4708"/>
                </a:lnTo>
                <a:lnTo>
                  <a:pt x="15812" y="3858"/>
                </a:lnTo>
                <a:lnTo>
                  <a:pt x="14257" y="3347"/>
                </a:lnTo>
                <a:lnTo>
                  <a:pt x="12626" y="3200"/>
                </a:lnTo>
                <a:cubicBezTo>
                  <a:pt x="8726" y="3292"/>
                  <a:pt x="5579" y="6539"/>
                  <a:pt x="5600" y="10439"/>
                </a:cubicBezTo>
                <a:lnTo>
                  <a:pt x="5685" y="11517"/>
                </a:lnTo>
                <a:lnTo>
                  <a:pt x="5931" y="12569"/>
                </a:lnTo>
                <a:lnTo>
                  <a:pt x="6333" y="13572"/>
                </a:lnTo>
                <a:lnTo>
                  <a:pt x="6881" y="14504"/>
                </a:lnTo>
                <a:lnTo>
                  <a:pt x="7564" y="15343"/>
                </a:lnTo>
                <a:lnTo>
                  <a:pt x="8364" y="16069"/>
                </a:lnTo>
                <a:lnTo>
                  <a:pt x="8724" y="16395"/>
                </a:lnTo>
                <a:lnTo>
                  <a:pt x="9030" y="16772"/>
                </a:lnTo>
                <a:lnTo>
                  <a:pt x="9275" y="17191"/>
                </a:lnTo>
                <a:lnTo>
                  <a:pt x="9455" y="17642"/>
                </a:lnTo>
                <a:lnTo>
                  <a:pt x="9564" y="18116"/>
                </a:lnTo>
                <a:lnTo>
                  <a:pt x="9600" y="18600"/>
                </a:lnTo>
                <a:lnTo>
                  <a:pt x="9600" y="19200"/>
                </a:lnTo>
                <a:lnTo>
                  <a:pt x="16000" y="19200"/>
                </a:lnTo>
                <a:lnTo>
                  <a:pt x="16000" y="18600"/>
                </a:lnTo>
                <a:lnTo>
                  <a:pt x="16038" y="18114"/>
                </a:lnTo>
                <a:lnTo>
                  <a:pt x="16149" y="17640"/>
                </a:lnTo>
                <a:lnTo>
                  <a:pt x="16330" y="17188"/>
                </a:lnTo>
                <a:lnTo>
                  <a:pt x="16578" y="16769"/>
                </a:lnTo>
                <a:lnTo>
                  <a:pt x="16886" y="16391"/>
                </a:lnTo>
                <a:lnTo>
                  <a:pt x="17247" y="16065"/>
                </a:lnTo>
                <a:lnTo>
                  <a:pt x="18049" y="15333"/>
                </a:lnTo>
                <a:lnTo>
                  <a:pt x="18732" y="14489"/>
                </a:lnTo>
                <a:lnTo>
                  <a:pt x="19279" y="13551"/>
                </a:lnTo>
                <a:lnTo>
                  <a:pt x="19679" y="12541"/>
                </a:lnTo>
                <a:lnTo>
                  <a:pt x="19921" y="11483"/>
                </a:lnTo>
                <a:lnTo>
                  <a:pt x="20000" y="10400"/>
                </a:lnTo>
                <a:close/>
                <a:moveTo>
                  <a:pt x="18389" y="9466"/>
                </a:moveTo>
                <a:lnTo>
                  <a:pt x="18068" y="8345"/>
                </a:lnTo>
                <a:lnTo>
                  <a:pt x="17529" y="7311"/>
                </a:lnTo>
                <a:lnTo>
                  <a:pt x="16792" y="6408"/>
                </a:lnTo>
                <a:lnTo>
                  <a:pt x="15888" y="5671"/>
                </a:lnTo>
                <a:lnTo>
                  <a:pt x="14854" y="5131"/>
                </a:lnTo>
                <a:lnTo>
                  <a:pt x="13733" y="4811"/>
                </a:lnTo>
                <a:lnTo>
                  <a:pt x="13566" y="4801"/>
                </a:lnTo>
                <a:lnTo>
                  <a:pt x="13401" y="4825"/>
                </a:lnTo>
                <a:lnTo>
                  <a:pt x="13244" y="4884"/>
                </a:lnTo>
                <a:lnTo>
                  <a:pt x="13103" y="4973"/>
                </a:lnTo>
                <a:lnTo>
                  <a:pt x="12983" y="5090"/>
                </a:lnTo>
                <a:lnTo>
                  <a:pt x="12891" y="5230"/>
                </a:lnTo>
                <a:lnTo>
                  <a:pt x="12829" y="5385"/>
                </a:lnTo>
                <a:lnTo>
                  <a:pt x="12801" y="5550"/>
                </a:lnTo>
                <a:lnTo>
                  <a:pt x="12809" y="5717"/>
                </a:lnTo>
                <a:lnTo>
                  <a:pt x="12850" y="5879"/>
                </a:lnTo>
                <a:lnTo>
                  <a:pt x="12925" y="6029"/>
                </a:lnTo>
                <a:lnTo>
                  <a:pt x="13029" y="6160"/>
                </a:lnTo>
                <a:lnTo>
                  <a:pt x="13158" y="6267"/>
                </a:lnTo>
                <a:lnTo>
                  <a:pt x="13306" y="6344"/>
                </a:lnTo>
                <a:lnTo>
                  <a:pt x="13467" y="6389"/>
                </a:lnTo>
                <a:cubicBezTo>
                  <a:pt x="15124" y="6668"/>
                  <a:pt x="16530" y="8074"/>
                  <a:pt x="16811" y="9734"/>
                </a:cubicBezTo>
                <a:lnTo>
                  <a:pt x="16864" y="9913"/>
                </a:lnTo>
                <a:lnTo>
                  <a:pt x="16956" y="10075"/>
                </a:lnTo>
                <a:lnTo>
                  <a:pt x="17084" y="10211"/>
                </a:lnTo>
                <a:lnTo>
                  <a:pt x="17239" y="10314"/>
                </a:lnTo>
                <a:lnTo>
                  <a:pt x="17415" y="10378"/>
                </a:lnTo>
                <a:lnTo>
                  <a:pt x="17600" y="10400"/>
                </a:lnTo>
                <a:lnTo>
                  <a:pt x="17623" y="10400"/>
                </a:lnTo>
                <a:lnTo>
                  <a:pt x="17645" y="10399"/>
                </a:lnTo>
                <a:lnTo>
                  <a:pt x="17668" y="10397"/>
                </a:lnTo>
                <a:lnTo>
                  <a:pt x="17690" y="10395"/>
                </a:lnTo>
                <a:lnTo>
                  <a:pt x="17713" y="10392"/>
                </a:lnTo>
                <a:lnTo>
                  <a:pt x="17735" y="10389"/>
                </a:lnTo>
                <a:lnTo>
                  <a:pt x="17907" y="10339"/>
                </a:lnTo>
                <a:lnTo>
                  <a:pt x="18064" y="10253"/>
                </a:lnTo>
                <a:lnTo>
                  <a:pt x="18197" y="10133"/>
                </a:lnTo>
                <a:lnTo>
                  <a:pt x="18301" y="9987"/>
                </a:lnTo>
                <a:lnTo>
                  <a:pt x="18369" y="9821"/>
                </a:lnTo>
                <a:lnTo>
                  <a:pt x="18399" y="9645"/>
                </a:lnTo>
                <a:lnTo>
                  <a:pt x="18389" y="9466"/>
                </a:lnTo>
                <a:close/>
              </a:path>
            </a:pathLst>
          </a:custGeom>
          <a:solidFill>
            <a:srgbClr val="024791"/>
          </a:solidFill>
          <a:ln>
            <a:noFill/>
          </a:ln>
        </p:spPr>
        <p:txBody>
          <a:bodyPr rtlCol="0" anchor="ctr"/>
          <a:lstStyle/>
          <a:p>
            <a:pPr algn="ctr"/>
          </a:p>
        </p:txBody>
      </p:sp>
      <p:sp>
        <p:nvSpPr>
          <p:cNvPr id="76" name="TextBox 75"/>
          <p:cNvSpPr txBox="1"/>
          <p:nvPr/>
        </p:nvSpPr>
        <p:spPr>
          <a:xfrm>
            <a:off x="1200808" y="4824090"/>
            <a:ext cx="1300000" cy="310000"/>
          </a:xfrm>
          <a:prstGeom prst="rect">
            <a:avLst/>
          </a:prstGeom>
          <a:noFill/>
        </p:spPr>
        <p:txBody>
          <a:bodyPr wrap="square" lIns="0" rIns="0" tIns="0" bIns="0" anchor="ctr">
            <a:spAutoFit/>
          </a:bodyPr>
          <a:lstStyle/>
          <a:p>
            <a:pPr algn="l">
              <a:lnSpc>
                <a:spcPct val="100000"/>
              </a:lnSpc>
              <a:spcAft>
                <a:spcPts val="0"/>
              </a:spcAft>
            </a:pPr>
            <a:r>
              <a:rPr sz="950" b="1" i="0">
                <a:solidFill>
                  <a:srgbClr val="024791"/>
                </a:solidFill>
                <a:latin typeface="Arial"/>
              </a:rPr>
              <a:t>2. INTERPRETAR</a:t>
            </a:r>
          </a:p>
        </p:txBody>
      </p:sp>
      <p:sp>
        <p:nvSpPr>
          <p:cNvPr id="77" name="TextBox 76"/>
          <p:cNvSpPr txBox="1"/>
          <p:nvPr/>
        </p:nvSpPr>
        <p:spPr>
          <a:xfrm>
            <a:off x="2690808" y="4824090"/>
            <a:ext cx="3276383" cy="310000"/>
          </a:xfrm>
          <a:prstGeom prst="rect">
            <a:avLst/>
          </a:prstGeom>
          <a:noFill/>
        </p:spPr>
        <p:txBody>
          <a:bodyPr wrap="square" lIns="0" rIns="0" tIns="0" bIns="0" anchor="ctr">
            <a:spAutoFit/>
          </a:bodyPr>
          <a:lstStyle/>
          <a:p>
            <a:pPr algn="l">
              <a:lnSpc>
                <a:spcPct val="100000"/>
              </a:lnSpc>
              <a:spcAft>
                <a:spcPts val="0"/>
              </a:spcAft>
            </a:pPr>
            <a:r>
              <a:rPr sz="950" b="0" i="0">
                <a:solidFill>
                  <a:srgbClr val="3D2159"/>
                </a:solidFill>
                <a:latin typeface="Arial"/>
              </a:rPr>
              <a:t>Reconocer necesidades y oportunidades.</a:t>
            </a:r>
          </a:p>
        </p:txBody>
      </p:sp>
      <p:sp>
        <p:nvSpPr>
          <p:cNvPr id="78" name="Rounded Rectangle 77"/>
          <p:cNvSpPr/>
          <p:nvPr/>
        </p:nvSpPr>
        <p:spPr>
          <a:xfrm>
            <a:off x="800808" y="5204090"/>
            <a:ext cx="5256383" cy="310000"/>
          </a:xfrm>
          <a:prstGeom prst="roundRect">
            <a:avLst>
              <a:gd name="adj" fmla="val 22580"/>
            </a:avLst>
          </a:prstGeom>
          <a:solidFill>
            <a:srgbClr val="FFFFFF"/>
          </a:solidFill>
          <a:ln>
            <a:noFill/>
          </a:ln>
        </p:spPr>
        <p:txBody>
          <a:bodyPr rtlCol="0" anchor="ctr"/>
          <a:lstStyle/>
          <a:p>
            <a:pPr algn="ctr"/>
          </a:p>
        </p:txBody>
      </p:sp>
      <p:sp>
        <p:nvSpPr>
          <p:cNvPr id="79" name="icono compass"/>
          <p:cNvSpPr/>
          <p:nvPr/>
        </p:nvSpPr>
        <p:spPr>
          <a:xfrm>
            <a:off x="900808" y="5259090"/>
            <a:ext cx="200000" cy="200000"/>
          </a:xfrm>
          <a:custGeom>
            <a:avLst/>
            <a:gdLst/>
            <a:ahLst/>
            <a:cxnLst/>
            <a:rect l="0" t="0" r="r" b="b"/>
            <a:pathLst>
              <a:path w="25600" h="25600">
                <a:moveTo>
                  <a:pt x="12800" y="2400"/>
                </a:moveTo>
                <a:lnTo>
                  <a:pt x="10589" y="2638"/>
                </a:lnTo>
                <a:lnTo>
                  <a:pt x="8480" y="3340"/>
                </a:lnTo>
                <a:lnTo>
                  <a:pt x="6568" y="4474"/>
                </a:lnTo>
                <a:lnTo>
                  <a:pt x="4940" y="5989"/>
                </a:lnTo>
                <a:lnTo>
                  <a:pt x="3672" y="7816"/>
                </a:lnTo>
                <a:lnTo>
                  <a:pt x="2821" y="9870"/>
                </a:lnTo>
                <a:lnTo>
                  <a:pt x="2426" y="12058"/>
                </a:lnTo>
                <a:lnTo>
                  <a:pt x="2506" y="14280"/>
                </a:lnTo>
                <a:lnTo>
                  <a:pt x="3056" y="16434"/>
                </a:lnTo>
                <a:lnTo>
                  <a:pt x="4051" y="18423"/>
                </a:lnTo>
                <a:lnTo>
                  <a:pt x="5446" y="20154"/>
                </a:lnTo>
                <a:lnTo>
                  <a:pt x="7177" y="21549"/>
                </a:lnTo>
                <a:lnTo>
                  <a:pt x="9166" y="22544"/>
                </a:lnTo>
                <a:lnTo>
                  <a:pt x="11320" y="23094"/>
                </a:lnTo>
                <a:lnTo>
                  <a:pt x="13542" y="23174"/>
                </a:lnTo>
                <a:lnTo>
                  <a:pt x="15730" y="22779"/>
                </a:lnTo>
                <a:lnTo>
                  <a:pt x="17784" y="21928"/>
                </a:lnTo>
                <a:lnTo>
                  <a:pt x="19611" y="20660"/>
                </a:lnTo>
                <a:lnTo>
                  <a:pt x="21126" y="19032"/>
                </a:lnTo>
                <a:lnTo>
                  <a:pt x="22260" y="17120"/>
                </a:lnTo>
                <a:lnTo>
                  <a:pt x="22962" y="15011"/>
                </a:lnTo>
                <a:lnTo>
                  <a:pt x="23200" y="12800"/>
                </a:lnTo>
                <a:lnTo>
                  <a:pt x="22937" y="10487"/>
                </a:lnTo>
                <a:lnTo>
                  <a:pt x="22167" y="8290"/>
                </a:lnTo>
                <a:lnTo>
                  <a:pt x="20928" y="6319"/>
                </a:lnTo>
                <a:lnTo>
                  <a:pt x="19281" y="4672"/>
                </a:lnTo>
                <a:lnTo>
                  <a:pt x="17310" y="3433"/>
                </a:lnTo>
                <a:lnTo>
                  <a:pt x="15113" y="2663"/>
                </a:lnTo>
                <a:lnTo>
                  <a:pt x="12800" y="2400"/>
                </a:lnTo>
                <a:close/>
                <a:moveTo>
                  <a:pt x="12800" y="21600"/>
                </a:moveTo>
                <a:lnTo>
                  <a:pt x="10929" y="21399"/>
                </a:lnTo>
                <a:lnTo>
                  <a:pt x="9144" y="20805"/>
                </a:lnTo>
                <a:lnTo>
                  <a:pt x="7526" y="19845"/>
                </a:lnTo>
                <a:lnTo>
                  <a:pt x="6149" y="18563"/>
                </a:lnTo>
                <a:lnTo>
                  <a:pt x="5076" y="17017"/>
                </a:lnTo>
                <a:lnTo>
                  <a:pt x="4356" y="15279"/>
                </a:lnTo>
                <a:lnTo>
                  <a:pt x="4022" y="13428"/>
                </a:lnTo>
                <a:lnTo>
                  <a:pt x="4090" y="11548"/>
                </a:lnTo>
                <a:lnTo>
                  <a:pt x="4555" y="9725"/>
                </a:lnTo>
                <a:lnTo>
                  <a:pt x="5397" y="8042"/>
                </a:lnTo>
                <a:lnTo>
                  <a:pt x="6577" y="6577"/>
                </a:lnTo>
                <a:lnTo>
                  <a:pt x="8042" y="5397"/>
                </a:lnTo>
                <a:lnTo>
                  <a:pt x="9725" y="4555"/>
                </a:lnTo>
                <a:lnTo>
                  <a:pt x="11548" y="4090"/>
                </a:lnTo>
                <a:lnTo>
                  <a:pt x="13428" y="4022"/>
                </a:lnTo>
                <a:lnTo>
                  <a:pt x="15279" y="4356"/>
                </a:lnTo>
                <a:lnTo>
                  <a:pt x="17017" y="5076"/>
                </a:lnTo>
                <a:lnTo>
                  <a:pt x="18563" y="6149"/>
                </a:lnTo>
                <a:lnTo>
                  <a:pt x="19845" y="7526"/>
                </a:lnTo>
                <a:lnTo>
                  <a:pt x="20805" y="9144"/>
                </a:lnTo>
                <a:lnTo>
                  <a:pt x="21399" y="10929"/>
                </a:lnTo>
                <a:lnTo>
                  <a:pt x="21600" y="12800"/>
                </a:lnTo>
                <a:lnTo>
                  <a:pt x="21378" y="14757"/>
                </a:lnTo>
                <a:lnTo>
                  <a:pt x="20726" y="16616"/>
                </a:lnTo>
                <a:lnTo>
                  <a:pt x="19677" y="18284"/>
                </a:lnTo>
                <a:lnTo>
                  <a:pt x="18284" y="19677"/>
                </a:lnTo>
                <a:lnTo>
                  <a:pt x="16616" y="20726"/>
                </a:lnTo>
                <a:lnTo>
                  <a:pt x="14757" y="21378"/>
                </a:lnTo>
                <a:lnTo>
                  <a:pt x="12800" y="21600"/>
                </a:lnTo>
                <a:close/>
                <a:moveTo>
                  <a:pt x="17242" y="7284"/>
                </a:moveTo>
                <a:lnTo>
                  <a:pt x="10842" y="10484"/>
                </a:lnTo>
                <a:lnTo>
                  <a:pt x="10767" y="10527"/>
                </a:lnTo>
                <a:lnTo>
                  <a:pt x="10698" y="10577"/>
                </a:lnTo>
                <a:lnTo>
                  <a:pt x="10634" y="10634"/>
                </a:lnTo>
                <a:lnTo>
                  <a:pt x="10577" y="10698"/>
                </a:lnTo>
                <a:lnTo>
                  <a:pt x="10527" y="10767"/>
                </a:lnTo>
                <a:lnTo>
                  <a:pt x="10484" y="10842"/>
                </a:lnTo>
                <a:lnTo>
                  <a:pt x="7284" y="17242"/>
                </a:lnTo>
                <a:lnTo>
                  <a:pt x="7222" y="17412"/>
                </a:lnTo>
                <a:lnTo>
                  <a:pt x="7199" y="17591"/>
                </a:lnTo>
                <a:lnTo>
                  <a:pt x="7218" y="17770"/>
                </a:lnTo>
                <a:lnTo>
                  <a:pt x="7276" y="17941"/>
                </a:lnTo>
                <a:lnTo>
                  <a:pt x="7371" y="18095"/>
                </a:lnTo>
                <a:lnTo>
                  <a:pt x="7498" y="18223"/>
                </a:lnTo>
                <a:lnTo>
                  <a:pt x="7650" y="18320"/>
                </a:lnTo>
                <a:lnTo>
                  <a:pt x="7821" y="18380"/>
                </a:lnTo>
                <a:lnTo>
                  <a:pt x="8000" y="18400"/>
                </a:lnTo>
                <a:lnTo>
                  <a:pt x="8062" y="18398"/>
                </a:lnTo>
                <a:lnTo>
                  <a:pt x="8123" y="18390"/>
                </a:lnTo>
                <a:lnTo>
                  <a:pt x="8184" y="18379"/>
                </a:lnTo>
                <a:lnTo>
                  <a:pt x="8243" y="18362"/>
                </a:lnTo>
                <a:lnTo>
                  <a:pt x="8302" y="18341"/>
                </a:lnTo>
                <a:lnTo>
                  <a:pt x="8358" y="18316"/>
                </a:lnTo>
                <a:lnTo>
                  <a:pt x="14758" y="15116"/>
                </a:lnTo>
                <a:lnTo>
                  <a:pt x="14833" y="15073"/>
                </a:lnTo>
                <a:lnTo>
                  <a:pt x="14902" y="15023"/>
                </a:lnTo>
                <a:lnTo>
                  <a:pt x="14966" y="14966"/>
                </a:lnTo>
                <a:lnTo>
                  <a:pt x="15023" y="14902"/>
                </a:lnTo>
                <a:lnTo>
                  <a:pt x="15073" y="14833"/>
                </a:lnTo>
                <a:lnTo>
                  <a:pt x="15116" y="14758"/>
                </a:lnTo>
                <a:lnTo>
                  <a:pt x="18316" y="8358"/>
                </a:lnTo>
                <a:lnTo>
                  <a:pt x="18379" y="8188"/>
                </a:lnTo>
                <a:lnTo>
                  <a:pt x="18401" y="8007"/>
                </a:lnTo>
                <a:lnTo>
                  <a:pt x="18382" y="7827"/>
                </a:lnTo>
                <a:lnTo>
                  <a:pt x="18324" y="7655"/>
                </a:lnTo>
                <a:lnTo>
                  <a:pt x="18227" y="7501"/>
                </a:lnTo>
                <a:lnTo>
                  <a:pt x="18099" y="7373"/>
                </a:lnTo>
                <a:lnTo>
                  <a:pt x="17945" y="7276"/>
                </a:lnTo>
                <a:lnTo>
                  <a:pt x="17773" y="7218"/>
                </a:lnTo>
                <a:lnTo>
                  <a:pt x="17593" y="7199"/>
                </a:lnTo>
                <a:lnTo>
                  <a:pt x="17412" y="7221"/>
                </a:lnTo>
                <a:lnTo>
                  <a:pt x="17242" y="7284"/>
                </a:lnTo>
                <a:lnTo>
                  <a:pt x="17242" y="7284"/>
                </a:lnTo>
                <a:close/>
                <a:moveTo>
                  <a:pt x="13800" y="13800"/>
                </a:moveTo>
                <a:lnTo>
                  <a:pt x="9789" y="15811"/>
                </a:lnTo>
                <a:lnTo>
                  <a:pt x="11800" y="11800"/>
                </a:lnTo>
                <a:lnTo>
                  <a:pt x="15815" y="9793"/>
                </a:lnTo>
                <a:lnTo>
                  <a:pt x="13800" y="13800"/>
                </a:lnTo>
                <a:close/>
              </a:path>
            </a:pathLst>
          </a:custGeom>
          <a:solidFill>
            <a:srgbClr val="024791"/>
          </a:solidFill>
          <a:ln>
            <a:noFill/>
          </a:ln>
        </p:spPr>
        <p:txBody>
          <a:bodyPr rtlCol="0" anchor="ctr"/>
          <a:lstStyle/>
          <a:p>
            <a:pPr algn="ctr"/>
          </a:p>
        </p:txBody>
      </p:sp>
      <p:sp>
        <p:nvSpPr>
          <p:cNvPr id="80" name="TextBox 79"/>
          <p:cNvSpPr txBox="1"/>
          <p:nvPr/>
        </p:nvSpPr>
        <p:spPr>
          <a:xfrm>
            <a:off x="1200808" y="5204090"/>
            <a:ext cx="1300000" cy="310000"/>
          </a:xfrm>
          <a:prstGeom prst="rect">
            <a:avLst/>
          </a:prstGeom>
          <a:noFill/>
        </p:spPr>
        <p:txBody>
          <a:bodyPr wrap="square" lIns="0" rIns="0" tIns="0" bIns="0" anchor="ctr">
            <a:spAutoFit/>
          </a:bodyPr>
          <a:lstStyle/>
          <a:p>
            <a:pPr algn="l">
              <a:lnSpc>
                <a:spcPct val="100000"/>
              </a:lnSpc>
              <a:spcAft>
                <a:spcPts val="0"/>
              </a:spcAft>
            </a:pPr>
            <a:r>
              <a:rPr sz="950" b="1" i="0">
                <a:solidFill>
                  <a:srgbClr val="024791"/>
                </a:solidFill>
                <a:latin typeface="Arial"/>
              </a:rPr>
              <a:t>3. EXPLORAR</a:t>
            </a:r>
          </a:p>
        </p:txBody>
      </p:sp>
      <p:sp>
        <p:nvSpPr>
          <p:cNvPr id="81" name="TextBox 80"/>
          <p:cNvSpPr txBox="1"/>
          <p:nvPr/>
        </p:nvSpPr>
        <p:spPr>
          <a:xfrm>
            <a:off x="2690808" y="5204090"/>
            <a:ext cx="3276383" cy="310000"/>
          </a:xfrm>
          <a:prstGeom prst="rect">
            <a:avLst/>
          </a:prstGeom>
          <a:noFill/>
        </p:spPr>
        <p:txBody>
          <a:bodyPr wrap="square" lIns="0" rIns="0" tIns="0" bIns="0" anchor="ctr">
            <a:spAutoFit/>
          </a:bodyPr>
          <a:lstStyle/>
          <a:p>
            <a:pPr algn="l">
              <a:lnSpc>
                <a:spcPct val="100000"/>
              </a:lnSpc>
              <a:spcAft>
                <a:spcPts val="0"/>
              </a:spcAft>
            </a:pPr>
            <a:r>
              <a:rPr sz="950" b="0" i="0">
                <a:solidFill>
                  <a:srgbClr val="3D2159"/>
                </a:solidFill>
                <a:latin typeface="Arial"/>
              </a:rPr>
              <a:t>Considerar diferentes alternativas.</a:t>
            </a:r>
          </a:p>
        </p:txBody>
      </p:sp>
      <p:sp>
        <p:nvSpPr>
          <p:cNvPr id="82" name="Rounded Rectangle 81"/>
          <p:cNvSpPr/>
          <p:nvPr/>
        </p:nvSpPr>
        <p:spPr>
          <a:xfrm>
            <a:off x="800808" y="5584090"/>
            <a:ext cx="5256383" cy="310000"/>
          </a:xfrm>
          <a:prstGeom prst="roundRect">
            <a:avLst>
              <a:gd name="adj" fmla="val 22580"/>
            </a:avLst>
          </a:prstGeom>
          <a:solidFill>
            <a:srgbClr val="FFFFFF"/>
          </a:solidFill>
          <a:ln>
            <a:noFill/>
          </a:ln>
        </p:spPr>
        <p:txBody>
          <a:bodyPr rtlCol="0" anchor="ctr"/>
          <a:lstStyle/>
          <a:p>
            <a:pPr algn="ctr"/>
          </a:p>
        </p:txBody>
      </p:sp>
      <p:sp>
        <p:nvSpPr>
          <p:cNvPr id="83" name="icono cube"/>
          <p:cNvSpPr/>
          <p:nvPr/>
        </p:nvSpPr>
        <p:spPr>
          <a:xfrm>
            <a:off x="900808" y="5639090"/>
            <a:ext cx="200000" cy="200000"/>
          </a:xfrm>
          <a:custGeom>
            <a:avLst/>
            <a:gdLst/>
            <a:ahLst/>
            <a:cxnLst/>
            <a:rect l="0" t="0" r="r" b="b"/>
            <a:pathLst>
              <a:path w="25600" h="25600">
                <a:moveTo>
                  <a:pt x="22368" y="6615"/>
                </a:moveTo>
                <a:lnTo>
                  <a:pt x="13568" y="1800"/>
                </a:lnTo>
                <a:lnTo>
                  <a:pt x="13568" y="1800"/>
                </a:lnTo>
                <a:lnTo>
                  <a:pt x="13324" y="1691"/>
                </a:lnTo>
                <a:lnTo>
                  <a:pt x="13066" y="1624"/>
                </a:lnTo>
                <a:lnTo>
                  <a:pt x="12800" y="1602"/>
                </a:lnTo>
                <a:lnTo>
                  <a:pt x="12534" y="1624"/>
                </a:lnTo>
                <a:lnTo>
                  <a:pt x="12276" y="1691"/>
                </a:lnTo>
                <a:lnTo>
                  <a:pt x="12032" y="1800"/>
                </a:lnTo>
                <a:lnTo>
                  <a:pt x="3232" y="6617"/>
                </a:lnTo>
                <a:lnTo>
                  <a:pt x="2996" y="6775"/>
                </a:lnTo>
                <a:lnTo>
                  <a:pt x="2791" y="6973"/>
                </a:lnTo>
                <a:lnTo>
                  <a:pt x="2625" y="7203"/>
                </a:lnTo>
                <a:lnTo>
                  <a:pt x="2502" y="7460"/>
                </a:lnTo>
                <a:lnTo>
                  <a:pt x="2426" y="7734"/>
                </a:lnTo>
                <a:lnTo>
                  <a:pt x="2400" y="8017"/>
                </a:lnTo>
                <a:lnTo>
                  <a:pt x="2400" y="17581"/>
                </a:lnTo>
                <a:lnTo>
                  <a:pt x="2426" y="17864"/>
                </a:lnTo>
                <a:lnTo>
                  <a:pt x="2502" y="18138"/>
                </a:lnTo>
                <a:lnTo>
                  <a:pt x="2625" y="18395"/>
                </a:lnTo>
                <a:lnTo>
                  <a:pt x="2791" y="18625"/>
                </a:lnTo>
                <a:lnTo>
                  <a:pt x="2996" y="18823"/>
                </a:lnTo>
                <a:lnTo>
                  <a:pt x="3232" y="18981"/>
                </a:lnTo>
                <a:lnTo>
                  <a:pt x="12032" y="23798"/>
                </a:lnTo>
                <a:lnTo>
                  <a:pt x="12276" y="23907"/>
                </a:lnTo>
                <a:lnTo>
                  <a:pt x="12534" y="23974"/>
                </a:lnTo>
                <a:lnTo>
                  <a:pt x="12800" y="23996"/>
                </a:lnTo>
                <a:lnTo>
                  <a:pt x="13066" y="23974"/>
                </a:lnTo>
                <a:lnTo>
                  <a:pt x="13324" y="23907"/>
                </a:lnTo>
                <a:lnTo>
                  <a:pt x="13568" y="23798"/>
                </a:lnTo>
                <a:lnTo>
                  <a:pt x="22368" y="18981"/>
                </a:lnTo>
                <a:lnTo>
                  <a:pt x="22604" y="18823"/>
                </a:lnTo>
                <a:lnTo>
                  <a:pt x="22809" y="18625"/>
                </a:lnTo>
                <a:lnTo>
                  <a:pt x="22975" y="18395"/>
                </a:lnTo>
                <a:lnTo>
                  <a:pt x="23098" y="18138"/>
                </a:lnTo>
                <a:lnTo>
                  <a:pt x="23174" y="17864"/>
                </a:lnTo>
                <a:lnTo>
                  <a:pt x="23200" y="17581"/>
                </a:lnTo>
                <a:lnTo>
                  <a:pt x="23200" y="8018"/>
                </a:lnTo>
                <a:lnTo>
                  <a:pt x="23175" y="7734"/>
                </a:lnTo>
                <a:lnTo>
                  <a:pt x="23099" y="7460"/>
                </a:lnTo>
                <a:lnTo>
                  <a:pt x="22976" y="7203"/>
                </a:lnTo>
                <a:lnTo>
                  <a:pt x="22810" y="6971"/>
                </a:lnTo>
                <a:lnTo>
                  <a:pt x="22605" y="6773"/>
                </a:lnTo>
                <a:lnTo>
                  <a:pt x="22368" y="6615"/>
                </a:lnTo>
                <a:close/>
                <a:moveTo>
                  <a:pt x="12800" y="3200"/>
                </a:moveTo>
                <a:lnTo>
                  <a:pt x="12800" y="3200"/>
                </a:lnTo>
                <a:lnTo>
                  <a:pt x="20834" y="7600"/>
                </a:lnTo>
                <a:lnTo>
                  <a:pt x="12800" y="12000"/>
                </a:lnTo>
                <a:lnTo>
                  <a:pt x="4766" y="7600"/>
                </a:lnTo>
                <a:lnTo>
                  <a:pt x="12800" y="3200"/>
                </a:lnTo>
                <a:close/>
                <a:moveTo>
                  <a:pt x="4000" y="9000"/>
                </a:moveTo>
                <a:lnTo>
                  <a:pt x="12000" y="13378"/>
                </a:lnTo>
                <a:lnTo>
                  <a:pt x="12000" y="21957"/>
                </a:lnTo>
                <a:lnTo>
                  <a:pt x="4000" y="17582"/>
                </a:lnTo>
                <a:lnTo>
                  <a:pt x="4000" y="9000"/>
                </a:lnTo>
                <a:close/>
                <a:moveTo>
                  <a:pt x="13600" y="21957"/>
                </a:moveTo>
                <a:lnTo>
                  <a:pt x="13600" y="13382"/>
                </a:lnTo>
                <a:lnTo>
                  <a:pt x="21600" y="9000"/>
                </a:lnTo>
                <a:lnTo>
                  <a:pt x="21600" y="17578"/>
                </a:lnTo>
                <a:lnTo>
                  <a:pt x="13600" y="21957"/>
                </a:lnTo>
                <a:close/>
              </a:path>
            </a:pathLst>
          </a:custGeom>
          <a:solidFill>
            <a:srgbClr val="024791"/>
          </a:solidFill>
          <a:ln>
            <a:noFill/>
          </a:ln>
        </p:spPr>
        <p:txBody>
          <a:bodyPr rtlCol="0" anchor="ctr"/>
          <a:lstStyle/>
          <a:p>
            <a:pPr algn="ctr"/>
          </a:p>
        </p:txBody>
      </p:sp>
      <p:sp>
        <p:nvSpPr>
          <p:cNvPr id="84" name="TextBox 83"/>
          <p:cNvSpPr txBox="1"/>
          <p:nvPr/>
        </p:nvSpPr>
        <p:spPr>
          <a:xfrm>
            <a:off x="1200808" y="5584090"/>
            <a:ext cx="1300000" cy="310000"/>
          </a:xfrm>
          <a:prstGeom prst="rect">
            <a:avLst/>
          </a:prstGeom>
          <a:noFill/>
        </p:spPr>
        <p:txBody>
          <a:bodyPr wrap="square" lIns="0" rIns="0" tIns="0" bIns="0" anchor="ctr">
            <a:spAutoFit/>
          </a:bodyPr>
          <a:lstStyle/>
          <a:p>
            <a:pPr algn="l">
              <a:lnSpc>
                <a:spcPct val="100000"/>
              </a:lnSpc>
              <a:spcAft>
                <a:spcPts val="0"/>
              </a:spcAft>
            </a:pPr>
            <a:r>
              <a:rPr sz="950" b="1" i="0">
                <a:solidFill>
                  <a:srgbClr val="024791"/>
                </a:solidFill>
                <a:latin typeface="Arial"/>
              </a:rPr>
              <a:t>4. PROTOTIPAR</a:t>
            </a:r>
          </a:p>
        </p:txBody>
      </p:sp>
      <p:sp>
        <p:nvSpPr>
          <p:cNvPr id="85" name="TextBox 84"/>
          <p:cNvSpPr txBox="1"/>
          <p:nvPr/>
        </p:nvSpPr>
        <p:spPr>
          <a:xfrm>
            <a:off x="2690808" y="5584090"/>
            <a:ext cx="3276383" cy="310000"/>
          </a:xfrm>
          <a:prstGeom prst="rect">
            <a:avLst/>
          </a:prstGeom>
          <a:noFill/>
        </p:spPr>
        <p:txBody>
          <a:bodyPr wrap="square" lIns="0" rIns="0" tIns="0" bIns="0" anchor="ctr">
            <a:spAutoFit/>
          </a:bodyPr>
          <a:lstStyle/>
          <a:p>
            <a:pPr algn="l">
              <a:lnSpc>
                <a:spcPct val="100000"/>
              </a:lnSpc>
              <a:spcAft>
                <a:spcPts val="0"/>
              </a:spcAft>
            </a:pPr>
            <a:r>
              <a:rPr sz="950" b="0" i="0">
                <a:solidFill>
                  <a:srgbClr val="3D2159"/>
                </a:solidFill>
                <a:latin typeface="Arial"/>
              </a:rPr>
              <a:t>Representar posibilidades.</a:t>
            </a:r>
          </a:p>
        </p:txBody>
      </p:sp>
      <p:sp>
        <p:nvSpPr>
          <p:cNvPr id="86" name="Rounded Rectangle 85"/>
          <p:cNvSpPr/>
          <p:nvPr/>
        </p:nvSpPr>
        <p:spPr>
          <a:xfrm>
            <a:off x="800808" y="5964090"/>
            <a:ext cx="5256383" cy="310000"/>
          </a:xfrm>
          <a:prstGeom prst="roundRect">
            <a:avLst>
              <a:gd name="adj" fmla="val 22580"/>
            </a:avLst>
          </a:prstGeom>
          <a:solidFill>
            <a:srgbClr val="FFFFFF"/>
          </a:solidFill>
          <a:ln>
            <a:noFill/>
          </a:ln>
        </p:spPr>
        <p:txBody>
          <a:bodyPr rtlCol="0" anchor="ctr"/>
          <a:lstStyle/>
          <a:p>
            <a:pPr algn="ctr"/>
          </a:p>
        </p:txBody>
      </p:sp>
      <p:sp>
        <p:nvSpPr>
          <p:cNvPr id="87" name="icono chart-bar"/>
          <p:cNvSpPr/>
          <p:nvPr/>
        </p:nvSpPr>
        <p:spPr>
          <a:xfrm>
            <a:off x="900808" y="6019090"/>
            <a:ext cx="200000" cy="200000"/>
          </a:xfrm>
          <a:custGeom>
            <a:avLst/>
            <a:gdLst/>
            <a:ahLst/>
            <a:cxnLst/>
            <a:rect l="0" t="0" r="r" b="b"/>
            <a:pathLst>
              <a:path w="25600" h="25600">
                <a:moveTo>
                  <a:pt x="22400" y="20000"/>
                </a:moveTo>
                <a:lnTo>
                  <a:pt x="21600" y="20000"/>
                </a:lnTo>
                <a:lnTo>
                  <a:pt x="21600" y="4000"/>
                </a:lnTo>
                <a:lnTo>
                  <a:pt x="21580" y="3822"/>
                </a:lnTo>
                <a:lnTo>
                  <a:pt x="21521" y="3653"/>
                </a:lnTo>
                <a:lnTo>
                  <a:pt x="21425" y="3501"/>
                </a:lnTo>
                <a:lnTo>
                  <a:pt x="21299" y="3375"/>
                </a:lnTo>
                <a:lnTo>
                  <a:pt x="21147" y="3279"/>
                </a:lnTo>
                <a:lnTo>
                  <a:pt x="20978" y="3220"/>
                </a:lnTo>
                <a:lnTo>
                  <a:pt x="20800" y="3200"/>
                </a:lnTo>
                <a:lnTo>
                  <a:pt x="15200" y="3200"/>
                </a:lnTo>
                <a:lnTo>
                  <a:pt x="15022" y="3220"/>
                </a:lnTo>
                <a:lnTo>
                  <a:pt x="14853" y="3279"/>
                </a:lnTo>
                <a:lnTo>
                  <a:pt x="14701" y="3375"/>
                </a:lnTo>
                <a:lnTo>
                  <a:pt x="14575" y="3501"/>
                </a:lnTo>
                <a:lnTo>
                  <a:pt x="14479" y="3653"/>
                </a:lnTo>
                <a:lnTo>
                  <a:pt x="14420" y="3822"/>
                </a:lnTo>
                <a:lnTo>
                  <a:pt x="14400" y="4000"/>
                </a:lnTo>
                <a:lnTo>
                  <a:pt x="14400" y="8000"/>
                </a:lnTo>
                <a:lnTo>
                  <a:pt x="9600" y="8000"/>
                </a:lnTo>
                <a:lnTo>
                  <a:pt x="9422" y="8020"/>
                </a:lnTo>
                <a:lnTo>
                  <a:pt x="9253" y="8079"/>
                </a:lnTo>
                <a:lnTo>
                  <a:pt x="9101" y="8175"/>
                </a:lnTo>
                <a:lnTo>
                  <a:pt x="8975" y="8301"/>
                </a:lnTo>
                <a:lnTo>
                  <a:pt x="8879" y="8453"/>
                </a:lnTo>
                <a:lnTo>
                  <a:pt x="8820" y="8622"/>
                </a:lnTo>
                <a:lnTo>
                  <a:pt x="8800" y="8800"/>
                </a:lnTo>
                <a:lnTo>
                  <a:pt x="8800" y="12800"/>
                </a:lnTo>
                <a:lnTo>
                  <a:pt x="4800" y="12800"/>
                </a:lnTo>
                <a:lnTo>
                  <a:pt x="4622" y="12820"/>
                </a:lnTo>
                <a:lnTo>
                  <a:pt x="4453" y="12879"/>
                </a:lnTo>
                <a:lnTo>
                  <a:pt x="4301" y="12975"/>
                </a:lnTo>
                <a:lnTo>
                  <a:pt x="4175" y="13101"/>
                </a:lnTo>
                <a:lnTo>
                  <a:pt x="4079" y="13253"/>
                </a:lnTo>
                <a:lnTo>
                  <a:pt x="4020" y="13422"/>
                </a:lnTo>
                <a:lnTo>
                  <a:pt x="4000" y="13600"/>
                </a:lnTo>
                <a:lnTo>
                  <a:pt x="4000" y="20000"/>
                </a:lnTo>
                <a:lnTo>
                  <a:pt x="3200" y="20000"/>
                </a:lnTo>
                <a:lnTo>
                  <a:pt x="3034" y="20017"/>
                </a:lnTo>
                <a:lnTo>
                  <a:pt x="2875" y="20069"/>
                </a:lnTo>
                <a:lnTo>
                  <a:pt x="2730" y="20153"/>
                </a:lnTo>
                <a:lnTo>
                  <a:pt x="2605" y="20265"/>
                </a:lnTo>
                <a:lnTo>
                  <a:pt x="2507" y="20400"/>
                </a:lnTo>
                <a:lnTo>
                  <a:pt x="2439" y="20553"/>
                </a:lnTo>
                <a:lnTo>
                  <a:pt x="2404" y="20716"/>
                </a:lnTo>
                <a:lnTo>
                  <a:pt x="2404" y="20884"/>
                </a:lnTo>
                <a:lnTo>
                  <a:pt x="2439" y="21047"/>
                </a:lnTo>
                <a:lnTo>
                  <a:pt x="2507" y="21200"/>
                </a:lnTo>
                <a:lnTo>
                  <a:pt x="2605" y="21335"/>
                </a:lnTo>
                <a:lnTo>
                  <a:pt x="2730" y="21447"/>
                </a:lnTo>
                <a:lnTo>
                  <a:pt x="2875" y="21531"/>
                </a:lnTo>
                <a:lnTo>
                  <a:pt x="3034" y="21583"/>
                </a:lnTo>
                <a:lnTo>
                  <a:pt x="3200" y="21600"/>
                </a:lnTo>
                <a:lnTo>
                  <a:pt x="22400" y="21600"/>
                </a:lnTo>
                <a:lnTo>
                  <a:pt x="22566" y="21583"/>
                </a:lnTo>
                <a:lnTo>
                  <a:pt x="22725" y="21531"/>
                </a:lnTo>
                <a:lnTo>
                  <a:pt x="22870" y="21447"/>
                </a:lnTo>
                <a:lnTo>
                  <a:pt x="22995" y="21335"/>
                </a:lnTo>
                <a:lnTo>
                  <a:pt x="23093" y="21200"/>
                </a:lnTo>
                <a:lnTo>
                  <a:pt x="23161" y="21047"/>
                </a:lnTo>
                <a:lnTo>
                  <a:pt x="23196" y="20884"/>
                </a:lnTo>
                <a:lnTo>
                  <a:pt x="23196" y="20716"/>
                </a:lnTo>
                <a:lnTo>
                  <a:pt x="23161" y="20553"/>
                </a:lnTo>
                <a:lnTo>
                  <a:pt x="23093" y="20400"/>
                </a:lnTo>
                <a:lnTo>
                  <a:pt x="22995" y="20265"/>
                </a:lnTo>
                <a:lnTo>
                  <a:pt x="22870" y="20153"/>
                </a:lnTo>
                <a:lnTo>
                  <a:pt x="22725" y="20069"/>
                </a:lnTo>
                <a:lnTo>
                  <a:pt x="22566" y="20017"/>
                </a:lnTo>
                <a:lnTo>
                  <a:pt x="22400" y="20000"/>
                </a:lnTo>
                <a:close/>
                <a:moveTo>
                  <a:pt x="16000" y="4800"/>
                </a:moveTo>
                <a:lnTo>
                  <a:pt x="20000" y="4800"/>
                </a:lnTo>
                <a:lnTo>
                  <a:pt x="20000" y="20000"/>
                </a:lnTo>
                <a:lnTo>
                  <a:pt x="16000" y="20000"/>
                </a:lnTo>
                <a:lnTo>
                  <a:pt x="16000" y="4800"/>
                </a:lnTo>
                <a:close/>
                <a:moveTo>
                  <a:pt x="10400" y="9600"/>
                </a:moveTo>
                <a:lnTo>
                  <a:pt x="14400" y="9600"/>
                </a:lnTo>
                <a:lnTo>
                  <a:pt x="14400" y="20000"/>
                </a:lnTo>
                <a:lnTo>
                  <a:pt x="10400" y="20000"/>
                </a:lnTo>
                <a:lnTo>
                  <a:pt x="10400" y="9600"/>
                </a:lnTo>
                <a:close/>
                <a:moveTo>
                  <a:pt x="5600" y="14400"/>
                </a:moveTo>
                <a:lnTo>
                  <a:pt x="8800" y="14400"/>
                </a:lnTo>
                <a:lnTo>
                  <a:pt x="8800" y="20000"/>
                </a:lnTo>
                <a:lnTo>
                  <a:pt x="5600" y="20000"/>
                </a:lnTo>
                <a:lnTo>
                  <a:pt x="5600" y="14400"/>
                </a:lnTo>
                <a:close/>
              </a:path>
            </a:pathLst>
          </a:custGeom>
          <a:solidFill>
            <a:srgbClr val="024791"/>
          </a:solidFill>
          <a:ln>
            <a:noFill/>
          </a:ln>
        </p:spPr>
        <p:txBody>
          <a:bodyPr rtlCol="0" anchor="ctr"/>
          <a:lstStyle/>
          <a:p>
            <a:pPr algn="ctr"/>
          </a:p>
        </p:txBody>
      </p:sp>
      <p:sp>
        <p:nvSpPr>
          <p:cNvPr id="88" name="TextBox 87"/>
          <p:cNvSpPr txBox="1"/>
          <p:nvPr/>
        </p:nvSpPr>
        <p:spPr>
          <a:xfrm>
            <a:off x="1200808" y="5964090"/>
            <a:ext cx="1300000" cy="310000"/>
          </a:xfrm>
          <a:prstGeom prst="rect">
            <a:avLst/>
          </a:prstGeom>
          <a:noFill/>
        </p:spPr>
        <p:txBody>
          <a:bodyPr wrap="square" lIns="0" rIns="0" tIns="0" bIns="0" anchor="ctr">
            <a:spAutoFit/>
          </a:bodyPr>
          <a:lstStyle/>
          <a:p>
            <a:pPr algn="l">
              <a:lnSpc>
                <a:spcPct val="100000"/>
              </a:lnSpc>
              <a:spcAft>
                <a:spcPts val="0"/>
              </a:spcAft>
            </a:pPr>
            <a:r>
              <a:rPr sz="950" b="1" i="0">
                <a:solidFill>
                  <a:srgbClr val="024791"/>
                </a:solidFill>
                <a:latin typeface="Arial"/>
              </a:rPr>
              <a:t>5. EVALUAR</a:t>
            </a:r>
          </a:p>
        </p:txBody>
      </p:sp>
      <p:sp>
        <p:nvSpPr>
          <p:cNvPr id="89" name="TextBox 88"/>
          <p:cNvSpPr txBox="1"/>
          <p:nvPr/>
        </p:nvSpPr>
        <p:spPr>
          <a:xfrm>
            <a:off x="2690808" y="5964090"/>
            <a:ext cx="3276383" cy="310000"/>
          </a:xfrm>
          <a:prstGeom prst="rect">
            <a:avLst/>
          </a:prstGeom>
          <a:noFill/>
        </p:spPr>
        <p:txBody>
          <a:bodyPr wrap="square" lIns="0" rIns="0" tIns="0" bIns="0" anchor="ctr">
            <a:spAutoFit/>
          </a:bodyPr>
          <a:lstStyle/>
          <a:p>
            <a:pPr algn="l">
              <a:lnSpc>
                <a:spcPct val="100000"/>
              </a:lnSpc>
              <a:spcAft>
                <a:spcPts val="0"/>
              </a:spcAft>
            </a:pPr>
            <a:r>
              <a:rPr sz="950" b="0" i="0">
                <a:solidFill>
                  <a:srgbClr val="3D2159"/>
                </a:solidFill>
                <a:latin typeface="Arial"/>
              </a:rPr>
              <a:t>Obtener información antes de consolidar la solución.</a:t>
            </a:r>
          </a:p>
        </p:txBody>
      </p:sp>
      <p:sp>
        <p:nvSpPr>
          <p:cNvPr id="90" name="TextBox 89"/>
          <p:cNvSpPr txBox="1"/>
          <p:nvPr/>
        </p:nvSpPr>
        <p:spPr>
          <a:xfrm>
            <a:off x="642308" y="6624090"/>
            <a:ext cx="5576383" cy="787451"/>
          </a:xfrm>
          <a:prstGeom prst="rect">
            <a:avLst/>
          </a:prstGeom>
          <a:noFill/>
        </p:spPr>
        <p:txBody>
          <a:bodyPr wrap="square" lIns="0" rIns="0" tIns="0" bIns="0" anchor="t">
            <a:spAutoFit/>
          </a:bodyPr>
          <a:lstStyle/>
          <a:p>
            <a:pPr algn="l">
              <a:lnSpc>
                <a:spcPct val="130000"/>
              </a:lnSpc>
              <a:spcAft>
                <a:spcPts val="1181"/>
              </a:spcAft>
            </a:pPr>
            <a:r>
              <a:rPr sz="1100" b="0" i="0">
                <a:solidFill>
                  <a:srgbClr val="56505B"/>
                </a:solidFill>
                <a:latin typeface="Arial"/>
              </a:rPr>
              <a:t>En contextos de incertidumbre no siempre podemos saber desde el comienzo qué características generarán mayor valor. Experimentar progresivamente permite obtener información antes de realizar inversiones definitivas.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808" y="723900"/>
            <a:ext cx="4265517" cy="171450"/>
          </a:xfrm>
          <a:prstGeom prst="rect">
            <a:avLst/>
          </a:prstGeom>
          <a:noFill/>
        </p:spPr>
        <p:txBody>
          <a:bodyPr wrap="square" lIns="0" rIns="0" tIns="0" bIns="0" anchor="t">
            <a:spAutoFit/>
          </a:bodyPr>
          <a:lstStyle/>
          <a:p>
            <a:pPr algn="l">
              <a:lnSpc>
                <a:spcPct val="100000"/>
              </a:lnSpc>
              <a:spcAft>
                <a:spcPts val="0"/>
              </a:spcAft>
            </a:pPr>
            <a:r>
              <a:rPr sz="825" b="1" i="0">
                <a:solidFill>
                  <a:srgbClr val="664092"/>
                </a:solidFill>
                <a:latin typeface="Arial"/>
              </a:rPr>
              <a:t>Artículo educativo · Pensamiento de diseño</a:t>
            </a:r>
          </a:p>
        </p:txBody>
      </p:sp>
      <p:sp>
        <p:nvSpPr>
          <p:cNvPr id="3" name="TextBox 2"/>
          <p:cNvSpPr txBox="1"/>
          <p:nvPr/>
        </p:nvSpPr>
        <p:spPr>
          <a:xfrm>
            <a:off x="640808" y="1104900"/>
            <a:ext cx="5576383" cy="209550"/>
          </a:xfrm>
          <a:prstGeom prst="rect">
            <a:avLst/>
          </a:prstGeom>
          <a:noFill/>
        </p:spPr>
        <p:txBody>
          <a:bodyPr wrap="square" lIns="0" rIns="0" tIns="0" bIns="0" anchor="t">
            <a:spAutoFit/>
          </a:bodyPr>
          <a:lstStyle/>
          <a:p>
            <a:pPr algn="l">
              <a:lnSpc>
                <a:spcPct val="100000"/>
              </a:lnSpc>
              <a:spcAft>
                <a:spcPts val="0"/>
              </a:spcAft>
            </a:pPr>
            <a:r>
              <a:rPr sz="975" b="1" i="0">
                <a:solidFill>
                  <a:srgbClr val="3560D6"/>
                </a:solidFill>
                <a:latin typeface="Arial"/>
              </a:rPr>
              <a:t>04 · Decidir</a:t>
            </a:r>
          </a:p>
        </p:txBody>
      </p:sp>
      <p:sp>
        <p:nvSpPr>
          <p:cNvPr id="4" name="TextBox 3"/>
          <p:cNvSpPr txBox="1"/>
          <p:nvPr/>
        </p:nvSpPr>
        <p:spPr>
          <a:xfrm>
            <a:off x="640808" y="1428750"/>
            <a:ext cx="5576383" cy="345471"/>
          </a:xfrm>
          <a:prstGeom prst="rect">
            <a:avLst/>
          </a:prstGeom>
          <a:noFill/>
        </p:spPr>
        <p:txBody>
          <a:bodyPr wrap="square" lIns="0" rIns="0" tIns="0" bIns="0" anchor="t">
            <a:spAutoFit/>
          </a:bodyPr>
          <a:lstStyle/>
          <a:p>
            <a:pPr algn="l">
              <a:lnSpc>
                <a:spcPct val="100000"/>
              </a:lnSpc>
              <a:spcAft>
                <a:spcPts val="0"/>
              </a:spcAft>
            </a:pPr>
            <a:r>
              <a:rPr sz="2325" b="1" i="0">
                <a:solidFill>
                  <a:srgbClr val="664092"/>
                </a:solidFill>
                <a:latin typeface="Arial"/>
              </a:rPr>
              <a:t>Design Thinking + Agilidad</a:t>
            </a:r>
          </a:p>
        </p:txBody>
      </p:sp>
      <p:cxnSp>
        <p:nvCxnSpPr>
          <p:cNvPr id="67" name="Google Shape;67;p12"/>
          <p:cNvCxnSpPr/>
          <p:nvPr/>
        </p:nvCxnSpPr>
        <p:spPr>
          <a:xfrm>
            <a:off x="748514" y="2004221"/>
            <a:ext cx="998913" cy="0"/>
          </a:xfrm>
          <a:prstGeom prst="straightConnector1">
            <a:avLst/>
          </a:prstGeom>
          <a:noFill/>
          <a:ln cap="flat" cmpd="sng" w="53975">
            <a:solidFill>
              <a:srgbClr val="73CDEB"/>
            </a:solidFill>
            <a:prstDash val="solid"/>
            <a:round/>
            <a:headEnd len="med" w="med" type="oval"/>
            <a:tailEnd len="med" w="med" type="oval"/>
          </a:ln>
        </p:spPr>
      </p:cxnSp>
      <p:sp>
        <p:nvSpPr>
          <p:cNvPr id="68" name="TextBox 67"/>
          <p:cNvSpPr txBox="1"/>
          <p:nvPr/>
        </p:nvSpPr>
        <p:spPr>
          <a:xfrm>
            <a:off x="642308" y="2254221"/>
            <a:ext cx="5576383" cy="574967"/>
          </a:xfrm>
          <a:prstGeom prst="rect">
            <a:avLst/>
          </a:prstGeom>
          <a:noFill/>
        </p:spPr>
        <p:txBody>
          <a:bodyPr wrap="square" lIns="0" rIns="0" tIns="0" bIns="0" anchor="t">
            <a:spAutoFit/>
          </a:bodyPr>
          <a:lstStyle/>
          <a:p>
            <a:pPr algn="l">
              <a:lnSpc>
                <a:spcPct val="130000"/>
              </a:lnSpc>
              <a:spcAft>
                <a:spcPts val="1181"/>
              </a:spcAft>
            </a:pPr>
            <a:r>
              <a:rPr sz="1100" b="0" i="0">
                <a:solidFill>
                  <a:srgbClr val="56505B"/>
                </a:solidFill>
                <a:latin typeface="Arial"/>
              </a:rPr>
              <a:t>Design Thinking y las metodologías ágiles pueden comprenderse como enfoques complementarios.</a:t>
            </a:r>
          </a:p>
        </p:txBody>
      </p:sp>
      <p:sp>
        <p:nvSpPr>
          <p:cNvPr id="69" name="Rounded Rectangle 68"/>
          <p:cNvSpPr/>
          <p:nvPr/>
        </p:nvSpPr>
        <p:spPr>
          <a:xfrm>
            <a:off x="640808" y="2829188"/>
            <a:ext cx="2616705" cy="1500000"/>
          </a:xfrm>
          <a:prstGeom prst="roundRect">
            <a:avLst>
              <a:gd name="adj" fmla="val 8000"/>
            </a:avLst>
          </a:prstGeom>
          <a:solidFill>
            <a:srgbClr val="F1EBF6"/>
          </a:solidFill>
          <a:ln>
            <a:noFill/>
          </a:ln>
        </p:spPr>
        <p:txBody>
          <a:bodyPr rtlCol="0" anchor="ctr"/>
          <a:lstStyle/>
          <a:p>
            <a:pPr algn="ctr"/>
          </a:p>
        </p:txBody>
      </p:sp>
      <p:sp>
        <p:nvSpPr>
          <p:cNvPr id="70" name="Rounded Rectangle 69"/>
          <p:cNvSpPr/>
          <p:nvPr/>
        </p:nvSpPr>
        <p:spPr>
          <a:xfrm>
            <a:off x="640808" y="2829188"/>
            <a:ext cx="2616705" cy="560000"/>
          </a:xfrm>
          <a:prstGeom prst="roundRect">
            <a:avLst>
              <a:gd name="adj" fmla="val 21428"/>
            </a:avLst>
          </a:prstGeom>
          <a:solidFill>
            <a:srgbClr val="664092"/>
          </a:solidFill>
          <a:ln>
            <a:noFill/>
          </a:ln>
        </p:spPr>
        <p:txBody>
          <a:bodyPr rtlCol="0" anchor="ctr"/>
          <a:lstStyle/>
          <a:p>
            <a:pPr algn="ctr"/>
          </a:p>
        </p:txBody>
      </p:sp>
      <p:sp>
        <p:nvSpPr>
          <p:cNvPr id="71" name="Rectangle 70"/>
          <p:cNvSpPr/>
          <p:nvPr/>
        </p:nvSpPr>
        <p:spPr>
          <a:xfrm>
            <a:off x="640808" y="3129188"/>
            <a:ext cx="2616705" cy="260000"/>
          </a:xfrm>
          <a:prstGeom prst="rect">
            <a:avLst/>
          </a:prstGeom>
          <a:solidFill>
            <a:srgbClr val="664092"/>
          </a:solidFill>
          <a:ln>
            <a:noFill/>
          </a:ln>
        </p:spPr>
        <p:txBody>
          <a:bodyPr rtlCol="0" anchor="ctr"/>
          <a:lstStyle/>
          <a:p>
            <a:pPr algn="ctr"/>
          </a:p>
        </p:txBody>
      </p:sp>
      <p:sp>
        <p:nvSpPr>
          <p:cNvPr id="72" name="Oval 71"/>
          <p:cNvSpPr/>
          <p:nvPr/>
        </p:nvSpPr>
        <p:spPr>
          <a:xfrm>
            <a:off x="790808" y="2929188"/>
            <a:ext cx="360000" cy="360000"/>
          </a:xfrm>
          <a:prstGeom prst="ellipse">
            <a:avLst/>
          </a:prstGeom>
          <a:solidFill>
            <a:srgbClr val="FFFFFF"/>
          </a:solidFill>
          <a:ln>
            <a:noFill/>
          </a:ln>
        </p:spPr>
        <p:txBody>
          <a:bodyPr rtlCol="0" anchor="ctr"/>
          <a:lstStyle/>
          <a:p>
            <a:pPr algn="ctr"/>
          </a:p>
        </p:txBody>
      </p:sp>
      <p:sp>
        <p:nvSpPr>
          <p:cNvPr id="73" name="icono users-three"/>
          <p:cNvSpPr/>
          <p:nvPr/>
        </p:nvSpPr>
        <p:spPr>
          <a:xfrm>
            <a:off x="870008" y="3008388"/>
            <a:ext cx="201600" cy="201600"/>
          </a:xfrm>
          <a:custGeom>
            <a:avLst/>
            <a:gdLst/>
            <a:ahLst/>
            <a:cxnLst/>
            <a:rect l="0" t="0" r="r" b="b"/>
            <a:pathLst>
              <a:path w="25600" h="25600">
                <a:moveTo>
                  <a:pt x="24480" y="15040"/>
                </a:moveTo>
                <a:lnTo>
                  <a:pt x="24326" y="15131"/>
                </a:lnTo>
                <a:lnTo>
                  <a:pt x="24155" y="15185"/>
                </a:lnTo>
                <a:lnTo>
                  <a:pt x="23976" y="15200"/>
                </a:lnTo>
                <a:lnTo>
                  <a:pt x="23799" y="15174"/>
                </a:lnTo>
                <a:lnTo>
                  <a:pt x="23632" y="15110"/>
                </a:lnTo>
                <a:lnTo>
                  <a:pt x="23483" y="15010"/>
                </a:lnTo>
                <a:lnTo>
                  <a:pt x="23360" y="14880"/>
                </a:lnTo>
                <a:lnTo>
                  <a:pt x="22832" y="14275"/>
                </a:lnTo>
                <a:lnTo>
                  <a:pt x="22216" y="13759"/>
                </a:lnTo>
                <a:lnTo>
                  <a:pt x="21528" y="13345"/>
                </a:lnTo>
                <a:lnTo>
                  <a:pt x="20783" y="13042"/>
                </a:lnTo>
                <a:lnTo>
                  <a:pt x="20001" y="12859"/>
                </a:lnTo>
                <a:lnTo>
                  <a:pt x="19200" y="12800"/>
                </a:lnTo>
                <a:lnTo>
                  <a:pt x="19045" y="12785"/>
                </a:lnTo>
                <a:lnTo>
                  <a:pt x="18896" y="12740"/>
                </a:lnTo>
                <a:lnTo>
                  <a:pt x="18758" y="12667"/>
                </a:lnTo>
                <a:lnTo>
                  <a:pt x="18637" y="12568"/>
                </a:lnTo>
                <a:lnTo>
                  <a:pt x="18537" y="12448"/>
                </a:lnTo>
                <a:lnTo>
                  <a:pt x="18463" y="12311"/>
                </a:lnTo>
                <a:lnTo>
                  <a:pt x="18428" y="12210"/>
                </a:lnTo>
                <a:lnTo>
                  <a:pt x="18407" y="12106"/>
                </a:lnTo>
                <a:lnTo>
                  <a:pt x="18400" y="12000"/>
                </a:lnTo>
                <a:lnTo>
                  <a:pt x="18407" y="11894"/>
                </a:lnTo>
                <a:lnTo>
                  <a:pt x="18428" y="11790"/>
                </a:lnTo>
                <a:lnTo>
                  <a:pt x="18463" y="11689"/>
                </a:lnTo>
                <a:lnTo>
                  <a:pt x="18537" y="11552"/>
                </a:lnTo>
                <a:lnTo>
                  <a:pt x="18637" y="11432"/>
                </a:lnTo>
                <a:lnTo>
                  <a:pt x="18758" y="11333"/>
                </a:lnTo>
                <a:lnTo>
                  <a:pt x="18896" y="11260"/>
                </a:lnTo>
                <a:lnTo>
                  <a:pt x="19045" y="11215"/>
                </a:lnTo>
                <a:lnTo>
                  <a:pt x="19200" y="11200"/>
                </a:lnTo>
                <a:lnTo>
                  <a:pt x="19706" y="11146"/>
                </a:lnTo>
                <a:lnTo>
                  <a:pt x="20189" y="10987"/>
                </a:lnTo>
                <a:lnTo>
                  <a:pt x="20628" y="10729"/>
                </a:lnTo>
                <a:lnTo>
                  <a:pt x="21002" y="10385"/>
                </a:lnTo>
                <a:lnTo>
                  <a:pt x="21296" y="9969"/>
                </a:lnTo>
                <a:lnTo>
                  <a:pt x="21495" y="9501"/>
                </a:lnTo>
                <a:lnTo>
                  <a:pt x="21591" y="9002"/>
                </a:lnTo>
                <a:lnTo>
                  <a:pt x="21580" y="8493"/>
                </a:lnTo>
                <a:lnTo>
                  <a:pt x="21462" y="7998"/>
                </a:lnTo>
                <a:lnTo>
                  <a:pt x="21242" y="7540"/>
                </a:lnTo>
                <a:lnTo>
                  <a:pt x="20931" y="7137"/>
                </a:lnTo>
                <a:lnTo>
                  <a:pt x="20541" y="6810"/>
                </a:lnTo>
                <a:lnTo>
                  <a:pt x="20092" y="6572"/>
                </a:lnTo>
                <a:lnTo>
                  <a:pt x="19602" y="6434"/>
                </a:lnTo>
                <a:lnTo>
                  <a:pt x="19094" y="6402"/>
                </a:lnTo>
                <a:lnTo>
                  <a:pt x="18591" y="6478"/>
                </a:lnTo>
                <a:lnTo>
                  <a:pt x="18116" y="6659"/>
                </a:lnTo>
                <a:lnTo>
                  <a:pt x="17689" y="6935"/>
                </a:lnTo>
                <a:lnTo>
                  <a:pt x="17330" y="7296"/>
                </a:lnTo>
                <a:lnTo>
                  <a:pt x="17055" y="7724"/>
                </a:lnTo>
                <a:lnTo>
                  <a:pt x="16876" y="8200"/>
                </a:lnTo>
                <a:lnTo>
                  <a:pt x="16817" y="8357"/>
                </a:lnTo>
                <a:lnTo>
                  <a:pt x="16728" y="8498"/>
                </a:lnTo>
                <a:lnTo>
                  <a:pt x="16610" y="8617"/>
                </a:lnTo>
                <a:lnTo>
                  <a:pt x="16471" y="8710"/>
                </a:lnTo>
                <a:lnTo>
                  <a:pt x="16315" y="8771"/>
                </a:lnTo>
                <a:lnTo>
                  <a:pt x="16150" y="8799"/>
                </a:lnTo>
                <a:lnTo>
                  <a:pt x="15983" y="8792"/>
                </a:lnTo>
                <a:lnTo>
                  <a:pt x="15821" y="8750"/>
                </a:lnTo>
                <a:lnTo>
                  <a:pt x="15671" y="8675"/>
                </a:lnTo>
                <a:lnTo>
                  <a:pt x="15540" y="8571"/>
                </a:lnTo>
                <a:lnTo>
                  <a:pt x="15434" y="8442"/>
                </a:lnTo>
                <a:lnTo>
                  <a:pt x="15356" y="8294"/>
                </a:lnTo>
                <a:lnTo>
                  <a:pt x="15312" y="8133"/>
                </a:lnTo>
                <a:lnTo>
                  <a:pt x="15301" y="7966"/>
                </a:lnTo>
                <a:lnTo>
                  <a:pt x="15326" y="7800"/>
                </a:lnTo>
                <a:lnTo>
                  <a:pt x="15635" y="6984"/>
                </a:lnTo>
                <a:lnTo>
                  <a:pt x="16115" y="6254"/>
                </a:lnTo>
                <a:lnTo>
                  <a:pt x="16741" y="5645"/>
                </a:lnTo>
                <a:lnTo>
                  <a:pt x="17484" y="5187"/>
                </a:lnTo>
                <a:lnTo>
                  <a:pt x="18309" y="4901"/>
                </a:lnTo>
                <a:lnTo>
                  <a:pt x="19176" y="4801"/>
                </a:lnTo>
                <a:lnTo>
                  <a:pt x="20045" y="4891"/>
                </a:lnTo>
                <a:lnTo>
                  <a:pt x="20873" y="5168"/>
                </a:lnTo>
                <a:lnTo>
                  <a:pt x="21621" y="5618"/>
                </a:lnTo>
                <a:lnTo>
                  <a:pt x="22254" y="6219"/>
                </a:lnTo>
                <a:lnTo>
                  <a:pt x="22741" y="6944"/>
                </a:lnTo>
                <a:lnTo>
                  <a:pt x="23060" y="7757"/>
                </a:lnTo>
                <a:lnTo>
                  <a:pt x="23195" y="8619"/>
                </a:lnTo>
                <a:lnTo>
                  <a:pt x="23139" y="9491"/>
                </a:lnTo>
                <a:lnTo>
                  <a:pt x="22895" y="10329"/>
                </a:lnTo>
                <a:lnTo>
                  <a:pt x="22476" y="11095"/>
                </a:lnTo>
                <a:lnTo>
                  <a:pt x="21900" y="11751"/>
                </a:lnTo>
                <a:lnTo>
                  <a:pt x="22430" y="12008"/>
                </a:lnTo>
                <a:lnTo>
                  <a:pt x="22936" y="12311"/>
                </a:lnTo>
                <a:lnTo>
                  <a:pt x="23413" y="12656"/>
                </a:lnTo>
                <a:lnTo>
                  <a:pt x="23859" y="13041"/>
                </a:lnTo>
                <a:lnTo>
                  <a:pt x="24270" y="13463"/>
                </a:lnTo>
                <a:lnTo>
                  <a:pt x="24643" y="13919"/>
                </a:lnTo>
                <a:lnTo>
                  <a:pt x="24734" y="14074"/>
                </a:lnTo>
                <a:lnTo>
                  <a:pt x="24788" y="14245"/>
                </a:lnTo>
                <a:lnTo>
                  <a:pt x="24802" y="14424"/>
                </a:lnTo>
                <a:lnTo>
                  <a:pt x="24776" y="14601"/>
                </a:lnTo>
                <a:lnTo>
                  <a:pt x="24711" y="14769"/>
                </a:lnTo>
                <a:lnTo>
                  <a:pt x="24611" y="14917"/>
                </a:lnTo>
                <a:lnTo>
                  <a:pt x="24480" y="15040"/>
                </a:lnTo>
                <a:close/>
                <a:moveTo>
                  <a:pt x="19092" y="21200"/>
                </a:moveTo>
                <a:lnTo>
                  <a:pt x="19168" y="21354"/>
                </a:lnTo>
                <a:lnTo>
                  <a:pt x="19209" y="21521"/>
                </a:lnTo>
                <a:lnTo>
                  <a:pt x="19214" y="21692"/>
                </a:lnTo>
                <a:lnTo>
                  <a:pt x="19183" y="21861"/>
                </a:lnTo>
                <a:lnTo>
                  <a:pt x="19115" y="22019"/>
                </a:lnTo>
                <a:lnTo>
                  <a:pt x="19016" y="22159"/>
                </a:lnTo>
                <a:lnTo>
                  <a:pt x="18889" y="22275"/>
                </a:lnTo>
                <a:lnTo>
                  <a:pt x="18741" y="22361"/>
                </a:lnTo>
                <a:lnTo>
                  <a:pt x="18577" y="22413"/>
                </a:lnTo>
                <a:lnTo>
                  <a:pt x="18406" y="22429"/>
                </a:lnTo>
                <a:lnTo>
                  <a:pt x="18236" y="22408"/>
                </a:lnTo>
                <a:lnTo>
                  <a:pt x="18073" y="22352"/>
                </a:lnTo>
                <a:lnTo>
                  <a:pt x="17927" y="22262"/>
                </a:lnTo>
                <a:lnTo>
                  <a:pt x="17803" y="22143"/>
                </a:lnTo>
                <a:lnTo>
                  <a:pt x="17708" y="22000"/>
                </a:lnTo>
                <a:lnTo>
                  <a:pt x="16916" y="20955"/>
                </a:lnTo>
                <a:lnTo>
                  <a:pt x="15906" y="20119"/>
                </a:lnTo>
                <a:lnTo>
                  <a:pt x="14732" y="19536"/>
                </a:lnTo>
                <a:lnTo>
                  <a:pt x="13456" y="19236"/>
                </a:lnTo>
                <a:lnTo>
                  <a:pt x="12144" y="19236"/>
                </a:lnTo>
                <a:lnTo>
                  <a:pt x="10868" y="19536"/>
                </a:lnTo>
                <a:lnTo>
                  <a:pt x="9694" y="20119"/>
                </a:lnTo>
                <a:lnTo>
                  <a:pt x="8684" y="20955"/>
                </a:lnTo>
                <a:lnTo>
                  <a:pt x="7892" y="22000"/>
                </a:lnTo>
                <a:lnTo>
                  <a:pt x="7797" y="22143"/>
                </a:lnTo>
                <a:lnTo>
                  <a:pt x="7673" y="22262"/>
                </a:lnTo>
                <a:lnTo>
                  <a:pt x="7527" y="22352"/>
                </a:lnTo>
                <a:lnTo>
                  <a:pt x="7364" y="22408"/>
                </a:lnTo>
                <a:lnTo>
                  <a:pt x="7194" y="22429"/>
                </a:lnTo>
                <a:lnTo>
                  <a:pt x="7023" y="22413"/>
                </a:lnTo>
                <a:lnTo>
                  <a:pt x="6859" y="22361"/>
                </a:lnTo>
                <a:lnTo>
                  <a:pt x="6711" y="22275"/>
                </a:lnTo>
                <a:lnTo>
                  <a:pt x="6584" y="22159"/>
                </a:lnTo>
                <a:lnTo>
                  <a:pt x="6485" y="22019"/>
                </a:lnTo>
                <a:lnTo>
                  <a:pt x="6417" y="21861"/>
                </a:lnTo>
                <a:lnTo>
                  <a:pt x="6386" y="21692"/>
                </a:lnTo>
                <a:lnTo>
                  <a:pt x="6391" y="21521"/>
                </a:lnTo>
                <a:lnTo>
                  <a:pt x="6432" y="21354"/>
                </a:lnTo>
                <a:lnTo>
                  <a:pt x="6508" y="21200"/>
                </a:lnTo>
                <a:lnTo>
                  <a:pt x="6927" y="20561"/>
                </a:lnTo>
                <a:lnTo>
                  <a:pt x="7411" y="19970"/>
                </a:lnTo>
                <a:lnTo>
                  <a:pt x="7955" y="19433"/>
                </a:lnTo>
                <a:lnTo>
                  <a:pt x="8553" y="18957"/>
                </a:lnTo>
                <a:lnTo>
                  <a:pt x="9197" y="18547"/>
                </a:lnTo>
                <a:lnTo>
                  <a:pt x="9882" y="18208"/>
                </a:lnTo>
                <a:lnTo>
                  <a:pt x="9132" y="17493"/>
                </a:lnTo>
                <a:lnTo>
                  <a:pt x="8553" y="16633"/>
                </a:lnTo>
                <a:lnTo>
                  <a:pt x="8172" y="15669"/>
                </a:lnTo>
                <a:lnTo>
                  <a:pt x="8006" y="14646"/>
                </a:lnTo>
                <a:lnTo>
                  <a:pt x="8065" y="13611"/>
                </a:lnTo>
                <a:lnTo>
                  <a:pt x="8344" y="12613"/>
                </a:lnTo>
                <a:lnTo>
                  <a:pt x="8831" y="11698"/>
                </a:lnTo>
                <a:lnTo>
                  <a:pt x="9503" y="10909"/>
                </a:lnTo>
                <a:lnTo>
                  <a:pt x="10328" y="10282"/>
                </a:lnTo>
                <a:lnTo>
                  <a:pt x="11269" y="9847"/>
                </a:lnTo>
                <a:lnTo>
                  <a:pt x="12282" y="9625"/>
                </a:lnTo>
                <a:lnTo>
                  <a:pt x="13318" y="9625"/>
                </a:lnTo>
                <a:lnTo>
                  <a:pt x="14331" y="9847"/>
                </a:lnTo>
                <a:lnTo>
                  <a:pt x="15272" y="10282"/>
                </a:lnTo>
                <a:lnTo>
                  <a:pt x="16097" y="10909"/>
                </a:lnTo>
                <a:lnTo>
                  <a:pt x="16769" y="11698"/>
                </a:lnTo>
                <a:lnTo>
                  <a:pt x="17256" y="12613"/>
                </a:lnTo>
                <a:lnTo>
                  <a:pt x="17535" y="13611"/>
                </a:lnTo>
                <a:lnTo>
                  <a:pt x="17594" y="14646"/>
                </a:lnTo>
                <a:lnTo>
                  <a:pt x="17428" y="15669"/>
                </a:lnTo>
                <a:lnTo>
                  <a:pt x="17047" y="16633"/>
                </a:lnTo>
                <a:lnTo>
                  <a:pt x="16468" y="17493"/>
                </a:lnTo>
                <a:lnTo>
                  <a:pt x="15718" y="18208"/>
                </a:lnTo>
                <a:lnTo>
                  <a:pt x="16403" y="18547"/>
                </a:lnTo>
                <a:lnTo>
                  <a:pt x="17047" y="18957"/>
                </a:lnTo>
                <a:lnTo>
                  <a:pt x="17645" y="19433"/>
                </a:lnTo>
                <a:lnTo>
                  <a:pt x="18189" y="19970"/>
                </a:lnTo>
                <a:lnTo>
                  <a:pt x="18673" y="20561"/>
                </a:lnTo>
                <a:lnTo>
                  <a:pt x="19092" y="21200"/>
                </a:lnTo>
                <a:close/>
                <a:moveTo>
                  <a:pt x="12800" y="17600"/>
                </a:moveTo>
                <a:lnTo>
                  <a:pt x="13480" y="17527"/>
                </a:lnTo>
                <a:lnTo>
                  <a:pt x="14129" y="17311"/>
                </a:lnTo>
                <a:lnTo>
                  <a:pt x="14718" y="16962"/>
                </a:lnTo>
                <a:lnTo>
                  <a:pt x="15218" y="16496"/>
                </a:lnTo>
                <a:lnTo>
                  <a:pt x="15609" y="15934"/>
                </a:lnTo>
                <a:lnTo>
                  <a:pt x="15870" y="15302"/>
                </a:lnTo>
                <a:lnTo>
                  <a:pt x="15992" y="14628"/>
                </a:lnTo>
                <a:lnTo>
                  <a:pt x="15967" y="13945"/>
                </a:lnTo>
                <a:lnTo>
                  <a:pt x="15798" y="13282"/>
                </a:lnTo>
                <a:lnTo>
                  <a:pt x="15492" y="12670"/>
                </a:lnTo>
                <a:lnTo>
                  <a:pt x="15063" y="12137"/>
                </a:lnTo>
                <a:lnTo>
                  <a:pt x="14530" y="11708"/>
                </a:lnTo>
                <a:lnTo>
                  <a:pt x="13918" y="11402"/>
                </a:lnTo>
                <a:lnTo>
                  <a:pt x="13255" y="11233"/>
                </a:lnTo>
                <a:lnTo>
                  <a:pt x="12572" y="11208"/>
                </a:lnTo>
                <a:lnTo>
                  <a:pt x="11898" y="11330"/>
                </a:lnTo>
                <a:lnTo>
                  <a:pt x="11266" y="11591"/>
                </a:lnTo>
                <a:lnTo>
                  <a:pt x="10704" y="11982"/>
                </a:lnTo>
                <a:lnTo>
                  <a:pt x="10238" y="12482"/>
                </a:lnTo>
                <a:lnTo>
                  <a:pt x="9889" y="13071"/>
                </a:lnTo>
                <a:lnTo>
                  <a:pt x="9673" y="13720"/>
                </a:lnTo>
                <a:lnTo>
                  <a:pt x="9600" y="14400"/>
                </a:lnTo>
                <a:lnTo>
                  <a:pt x="9680" y="15112"/>
                </a:lnTo>
                <a:lnTo>
                  <a:pt x="9917" y="15788"/>
                </a:lnTo>
                <a:lnTo>
                  <a:pt x="10298" y="16395"/>
                </a:lnTo>
                <a:lnTo>
                  <a:pt x="10805" y="16902"/>
                </a:lnTo>
                <a:lnTo>
                  <a:pt x="11412" y="17283"/>
                </a:lnTo>
                <a:lnTo>
                  <a:pt x="12088" y="17520"/>
                </a:lnTo>
                <a:lnTo>
                  <a:pt x="12800" y="17600"/>
                </a:lnTo>
                <a:close/>
                <a:moveTo>
                  <a:pt x="7200" y="12000"/>
                </a:moveTo>
                <a:lnTo>
                  <a:pt x="7180" y="11822"/>
                </a:lnTo>
                <a:lnTo>
                  <a:pt x="7121" y="11653"/>
                </a:lnTo>
                <a:lnTo>
                  <a:pt x="7025" y="11501"/>
                </a:lnTo>
                <a:lnTo>
                  <a:pt x="6899" y="11375"/>
                </a:lnTo>
                <a:lnTo>
                  <a:pt x="6747" y="11279"/>
                </a:lnTo>
                <a:lnTo>
                  <a:pt x="6578" y="11220"/>
                </a:lnTo>
                <a:lnTo>
                  <a:pt x="6400" y="11200"/>
                </a:lnTo>
                <a:lnTo>
                  <a:pt x="5894" y="11146"/>
                </a:lnTo>
                <a:lnTo>
                  <a:pt x="5411" y="10987"/>
                </a:lnTo>
                <a:lnTo>
                  <a:pt x="4972" y="10729"/>
                </a:lnTo>
                <a:lnTo>
                  <a:pt x="4598" y="10385"/>
                </a:lnTo>
                <a:lnTo>
                  <a:pt x="4304" y="9969"/>
                </a:lnTo>
                <a:lnTo>
                  <a:pt x="4105" y="9501"/>
                </a:lnTo>
                <a:lnTo>
                  <a:pt x="4009" y="9002"/>
                </a:lnTo>
                <a:lnTo>
                  <a:pt x="4020" y="8493"/>
                </a:lnTo>
                <a:lnTo>
                  <a:pt x="4138" y="7998"/>
                </a:lnTo>
                <a:lnTo>
                  <a:pt x="4358" y="7540"/>
                </a:lnTo>
                <a:lnTo>
                  <a:pt x="4669" y="7137"/>
                </a:lnTo>
                <a:lnTo>
                  <a:pt x="5059" y="6810"/>
                </a:lnTo>
                <a:lnTo>
                  <a:pt x="5508" y="6572"/>
                </a:lnTo>
                <a:lnTo>
                  <a:pt x="5998" y="6434"/>
                </a:lnTo>
                <a:lnTo>
                  <a:pt x="6506" y="6402"/>
                </a:lnTo>
                <a:lnTo>
                  <a:pt x="7009" y="6478"/>
                </a:lnTo>
                <a:lnTo>
                  <a:pt x="7484" y="6659"/>
                </a:lnTo>
                <a:lnTo>
                  <a:pt x="7911" y="6935"/>
                </a:lnTo>
                <a:lnTo>
                  <a:pt x="8270" y="7296"/>
                </a:lnTo>
                <a:lnTo>
                  <a:pt x="8545" y="7724"/>
                </a:lnTo>
                <a:lnTo>
                  <a:pt x="8724" y="8200"/>
                </a:lnTo>
                <a:lnTo>
                  <a:pt x="8783" y="8357"/>
                </a:lnTo>
                <a:lnTo>
                  <a:pt x="8872" y="8498"/>
                </a:lnTo>
                <a:lnTo>
                  <a:pt x="8990" y="8617"/>
                </a:lnTo>
                <a:lnTo>
                  <a:pt x="9129" y="8710"/>
                </a:lnTo>
                <a:lnTo>
                  <a:pt x="9285" y="8771"/>
                </a:lnTo>
                <a:lnTo>
                  <a:pt x="9450" y="8799"/>
                </a:lnTo>
                <a:lnTo>
                  <a:pt x="9617" y="8792"/>
                </a:lnTo>
                <a:lnTo>
                  <a:pt x="9779" y="8750"/>
                </a:lnTo>
                <a:lnTo>
                  <a:pt x="9929" y="8675"/>
                </a:lnTo>
                <a:lnTo>
                  <a:pt x="10060" y="8571"/>
                </a:lnTo>
                <a:lnTo>
                  <a:pt x="10166" y="8442"/>
                </a:lnTo>
                <a:lnTo>
                  <a:pt x="10244" y="8294"/>
                </a:lnTo>
                <a:lnTo>
                  <a:pt x="10288" y="8133"/>
                </a:lnTo>
                <a:lnTo>
                  <a:pt x="10299" y="7966"/>
                </a:lnTo>
                <a:lnTo>
                  <a:pt x="10274" y="7800"/>
                </a:lnTo>
                <a:lnTo>
                  <a:pt x="9965" y="6984"/>
                </a:lnTo>
                <a:lnTo>
                  <a:pt x="9485" y="6254"/>
                </a:lnTo>
                <a:lnTo>
                  <a:pt x="8859" y="5645"/>
                </a:lnTo>
                <a:lnTo>
                  <a:pt x="8116" y="5187"/>
                </a:lnTo>
                <a:lnTo>
                  <a:pt x="7291" y="4901"/>
                </a:lnTo>
                <a:lnTo>
                  <a:pt x="6424" y="4801"/>
                </a:lnTo>
                <a:lnTo>
                  <a:pt x="5555" y="4891"/>
                </a:lnTo>
                <a:lnTo>
                  <a:pt x="4727" y="5168"/>
                </a:lnTo>
                <a:lnTo>
                  <a:pt x="3979" y="5618"/>
                </a:lnTo>
                <a:lnTo>
                  <a:pt x="3346" y="6219"/>
                </a:lnTo>
                <a:lnTo>
                  <a:pt x="2859" y="6944"/>
                </a:lnTo>
                <a:lnTo>
                  <a:pt x="2540" y="7757"/>
                </a:lnTo>
                <a:lnTo>
                  <a:pt x="2405" y="8619"/>
                </a:lnTo>
                <a:lnTo>
                  <a:pt x="2461" y="9491"/>
                </a:lnTo>
                <a:lnTo>
                  <a:pt x="2705" y="10329"/>
                </a:lnTo>
                <a:lnTo>
                  <a:pt x="3124" y="11095"/>
                </a:lnTo>
                <a:lnTo>
                  <a:pt x="3700" y="11751"/>
                </a:lnTo>
                <a:lnTo>
                  <a:pt x="3171" y="12009"/>
                </a:lnTo>
                <a:lnTo>
                  <a:pt x="2665" y="12311"/>
                </a:lnTo>
                <a:lnTo>
                  <a:pt x="2188" y="12656"/>
                </a:lnTo>
                <a:lnTo>
                  <a:pt x="1743" y="13041"/>
                </a:lnTo>
                <a:lnTo>
                  <a:pt x="1332" y="13463"/>
                </a:lnTo>
                <a:lnTo>
                  <a:pt x="960" y="13919"/>
                </a:lnTo>
                <a:lnTo>
                  <a:pt x="874" y="14063"/>
                </a:lnTo>
                <a:lnTo>
                  <a:pt x="820" y="14221"/>
                </a:lnTo>
                <a:lnTo>
                  <a:pt x="800" y="14387"/>
                </a:lnTo>
                <a:lnTo>
                  <a:pt x="815" y="14554"/>
                </a:lnTo>
                <a:lnTo>
                  <a:pt x="864" y="14714"/>
                </a:lnTo>
                <a:lnTo>
                  <a:pt x="945" y="14860"/>
                </a:lnTo>
                <a:lnTo>
                  <a:pt x="1055" y="14986"/>
                </a:lnTo>
                <a:lnTo>
                  <a:pt x="1189" y="15086"/>
                </a:lnTo>
                <a:lnTo>
                  <a:pt x="1341" y="15157"/>
                </a:lnTo>
                <a:lnTo>
                  <a:pt x="1504" y="15194"/>
                </a:lnTo>
                <a:lnTo>
                  <a:pt x="1671" y="15197"/>
                </a:lnTo>
                <a:lnTo>
                  <a:pt x="1835" y="15164"/>
                </a:lnTo>
                <a:lnTo>
                  <a:pt x="1989" y="15099"/>
                </a:lnTo>
                <a:lnTo>
                  <a:pt x="2126" y="15003"/>
                </a:lnTo>
                <a:lnTo>
                  <a:pt x="2240" y="14880"/>
                </a:lnTo>
                <a:lnTo>
                  <a:pt x="2768" y="14275"/>
                </a:lnTo>
                <a:lnTo>
                  <a:pt x="3384" y="13759"/>
                </a:lnTo>
                <a:lnTo>
                  <a:pt x="4072" y="13345"/>
                </a:lnTo>
                <a:lnTo>
                  <a:pt x="4817" y="13042"/>
                </a:lnTo>
                <a:lnTo>
                  <a:pt x="5599" y="12859"/>
                </a:lnTo>
                <a:lnTo>
                  <a:pt x="6400" y="12800"/>
                </a:lnTo>
                <a:lnTo>
                  <a:pt x="6578" y="12780"/>
                </a:lnTo>
                <a:lnTo>
                  <a:pt x="6747" y="12721"/>
                </a:lnTo>
                <a:lnTo>
                  <a:pt x="6899" y="12625"/>
                </a:lnTo>
                <a:lnTo>
                  <a:pt x="7025" y="12499"/>
                </a:lnTo>
                <a:lnTo>
                  <a:pt x="7121" y="12347"/>
                </a:lnTo>
                <a:lnTo>
                  <a:pt x="7180" y="12178"/>
                </a:lnTo>
                <a:lnTo>
                  <a:pt x="7200" y="12000"/>
                </a:lnTo>
                <a:close/>
              </a:path>
            </a:pathLst>
          </a:custGeom>
          <a:solidFill>
            <a:srgbClr val="664092"/>
          </a:solidFill>
          <a:ln>
            <a:noFill/>
          </a:ln>
        </p:spPr>
        <p:txBody>
          <a:bodyPr rtlCol="0" anchor="ctr"/>
          <a:lstStyle/>
          <a:p>
            <a:pPr algn="ctr"/>
          </a:p>
        </p:txBody>
      </p:sp>
      <p:sp>
        <p:nvSpPr>
          <p:cNvPr id="74" name="TextBox 73"/>
          <p:cNvSpPr txBox="1"/>
          <p:nvPr/>
        </p:nvSpPr>
        <p:spPr>
          <a:xfrm>
            <a:off x="1240808" y="2829188"/>
            <a:ext cx="1966705" cy="560000"/>
          </a:xfrm>
          <a:prstGeom prst="rect">
            <a:avLst/>
          </a:prstGeom>
          <a:noFill/>
        </p:spPr>
        <p:txBody>
          <a:bodyPr wrap="square" lIns="0" rIns="0" tIns="0" bIns="0" anchor="ctr">
            <a:spAutoFit/>
          </a:bodyPr>
          <a:lstStyle/>
          <a:p>
            <a:pPr algn="l">
              <a:lnSpc>
                <a:spcPct val="100000"/>
              </a:lnSpc>
              <a:spcAft>
                <a:spcPts val="0"/>
              </a:spcAft>
            </a:pPr>
            <a:r>
              <a:rPr sz="1100" b="1" i="0">
                <a:solidFill>
                  <a:srgbClr val="FFFFFF"/>
                </a:solidFill>
                <a:latin typeface="Arial"/>
              </a:rPr>
              <a:t>Design Thinking</a:t>
            </a:r>
          </a:p>
        </p:txBody>
      </p:sp>
      <p:sp>
        <p:nvSpPr>
          <p:cNvPr id="75" name="Rounded Rectangle 74"/>
          <p:cNvSpPr/>
          <p:nvPr/>
        </p:nvSpPr>
        <p:spPr>
          <a:xfrm>
            <a:off x="750808" y="3489188"/>
            <a:ext cx="2396705" cy="380000"/>
          </a:xfrm>
          <a:prstGeom prst="roundRect">
            <a:avLst>
              <a:gd name="adj" fmla="val 18421"/>
            </a:avLst>
          </a:prstGeom>
          <a:solidFill>
            <a:srgbClr val="FFFFFF"/>
          </a:solidFill>
          <a:ln>
            <a:noFill/>
          </a:ln>
        </p:spPr>
        <p:txBody>
          <a:bodyPr rtlCol="0" anchor="ctr"/>
          <a:lstStyle/>
          <a:p>
            <a:pPr algn="ctr"/>
          </a:p>
        </p:txBody>
      </p:sp>
      <p:sp>
        <p:nvSpPr>
          <p:cNvPr id="76" name="TextBox 75"/>
          <p:cNvSpPr txBox="1"/>
          <p:nvPr/>
        </p:nvSpPr>
        <p:spPr>
          <a:xfrm>
            <a:off x="840808" y="3489188"/>
            <a:ext cx="2216705" cy="380000"/>
          </a:xfrm>
          <a:prstGeom prst="rect">
            <a:avLst/>
          </a:prstGeom>
          <a:noFill/>
        </p:spPr>
        <p:txBody>
          <a:bodyPr wrap="square" lIns="0" rIns="0" tIns="0" bIns="0" anchor="ctr">
            <a:spAutoFit/>
          </a:bodyPr>
          <a:lstStyle/>
          <a:p>
            <a:pPr algn="l">
              <a:lnSpc>
                <a:spcPct val="110000"/>
              </a:lnSpc>
              <a:spcAft>
                <a:spcPts val="0"/>
              </a:spcAft>
            </a:pPr>
            <a:r>
              <a:rPr sz="950" b="1" i="0">
                <a:solidFill>
                  <a:srgbClr val="664092"/>
                </a:solidFill>
                <a:latin typeface="Arial"/>
              </a:rPr>
              <a:t>Comprender qué problema merece ser resuelto.</a:t>
            </a:r>
          </a:p>
        </p:txBody>
      </p:sp>
      <p:sp>
        <p:nvSpPr>
          <p:cNvPr id="77" name="Rounded Rectangle 76"/>
          <p:cNvSpPr/>
          <p:nvPr/>
        </p:nvSpPr>
        <p:spPr>
          <a:xfrm>
            <a:off x="750808" y="3909188"/>
            <a:ext cx="2396705" cy="380000"/>
          </a:xfrm>
          <a:prstGeom prst="roundRect">
            <a:avLst>
              <a:gd name="adj" fmla="val 18421"/>
            </a:avLst>
          </a:prstGeom>
          <a:solidFill>
            <a:srgbClr val="FFFFFF"/>
          </a:solidFill>
          <a:ln>
            <a:noFill/>
          </a:ln>
        </p:spPr>
        <p:txBody>
          <a:bodyPr rtlCol="0" anchor="ctr"/>
          <a:lstStyle/>
          <a:p>
            <a:pPr algn="ctr"/>
          </a:p>
        </p:txBody>
      </p:sp>
      <p:sp>
        <p:nvSpPr>
          <p:cNvPr id="78" name="TextBox 77"/>
          <p:cNvSpPr txBox="1"/>
          <p:nvPr/>
        </p:nvSpPr>
        <p:spPr>
          <a:xfrm>
            <a:off x="840808" y="3909188"/>
            <a:ext cx="2216705" cy="380000"/>
          </a:xfrm>
          <a:prstGeom prst="rect">
            <a:avLst/>
          </a:prstGeom>
          <a:noFill/>
        </p:spPr>
        <p:txBody>
          <a:bodyPr wrap="square" lIns="0" rIns="0" tIns="0" bIns="0" anchor="ctr">
            <a:spAutoFit/>
          </a:bodyPr>
          <a:lstStyle/>
          <a:p>
            <a:pPr algn="l">
              <a:lnSpc>
                <a:spcPct val="110000"/>
              </a:lnSpc>
              <a:spcAft>
                <a:spcPts val="0"/>
              </a:spcAft>
            </a:pPr>
            <a:r>
              <a:rPr sz="950" b="1" i="0">
                <a:solidFill>
                  <a:srgbClr val="664092"/>
                </a:solidFill>
                <a:latin typeface="Arial"/>
              </a:rPr>
              <a:t>Explorar qué solución podría aportar valor.</a:t>
            </a:r>
          </a:p>
        </p:txBody>
      </p:sp>
      <p:sp>
        <p:nvSpPr>
          <p:cNvPr id="79" name="Rounded Rectangle 78"/>
          <p:cNvSpPr/>
          <p:nvPr/>
        </p:nvSpPr>
        <p:spPr>
          <a:xfrm>
            <a:off x="3600486" y="2829188"/>
            <a:ext cx="2616705" cy="1500000"/>
          </a:xfrm>
          <a:prstGeom prst="roundRect">
            <a:avLst>
              <a:gd name="adj" fmla="val 8000"/>
            </a:avLst>
          </a:prstGeom>
          <a:solidFill>
            <a:srgbClr val="E8F1FB"/>
          </a:solidFill>
          <a:ln>
            <a:noFill/>
          </a:ln>
        </p:spPr>
        <p:txBody>
          <a:bodyPr rtlCol="0" anchor="ctr"/>
          <a:lstStyle/>
          <a:p>
            <a:pPr algn="ctr"/>
          </a:p>
        </p:txBody>
      </p:sp>
      <p:sp>
        <p:nvSpPr>
          <p:cNvPr id="80" name="Rounded Rectangle 79"/>
          <p:cNvSpPr/>
          <p:nvPr/>
        </p:nvSpPr>
        <p:spPr>
          <a:xfrm>
            <a:off x="3600486" y="2829188"/>
            <a:ext cx="2616705" cy="560000"/>
          </a:xfrm>
          <a:prstGeom prst="roundRect">
            <a:avLst>
              <a:gd name="adj" fmla="val 21428"/>
            </a:avLst>
          </a:prstGeom>
          <a:solidFill>
            <a:srgbClr val="024791"/>
          </a:solidFill>
          <a:ln>
            <a:noFill/>
          </a:ln>
        </p:spPr>
        <p:txBody>
          <a:bodyPr rtlCol="0" anchor="ctr"/>
          <a:lstStyle/>
          <a:p>
            <a:pPr algn="ctr"/>
          </a:p>
        </p:txBody>
      </p:sp>
      <p:sp>
        <p:nvSpPr>
          <p:cNvPr id="81" name="Rectangle 80"/>
          <p:cNvSpPr/>
          <p:nvPr/>
        </p:nvSpPr>
        <p:spPr>
          <a:xfrm>
            <a:off x="3600486" y="3129188"/>
            <a:ext cx="2616705" cy="260000"/>
          </a:xfrm>
          <a:prstGeom prst="rect">
            <a:avLst/>
          </a:prstGeom>
          <a:solidFill>
            <a:srgbClr val="024791"/>
          </a:solidFill>
          <a:ln>
            <a:noFill/>
          </a:ln>
        </p:spPr>
        <p:txBody>
          <a:bodyPr rtlCol="0" anchor="ctr"/>
          <a:lstStyle/>
          <a:p>
            <a:pPr algn="ctr"/>
          </a:p>
        </p:txBody>
      </p:sp>
      <p:sp>
        <p:nvSpPr>
          <p:cNvPr id="82" name="Oval 81"/>
          <p:cNvSpPr/>
          <p:nvPr/>
        </p:nvSpPr>
        <p:spPr>
          <a:xfrm>
            <a:off x="3750486" y="2929188"/>
            <a:ext cx="360000" cy="360000"/>
          </a:xfrm>
          <a:prstGeom prst="ellipse">
            <a:avLst/>
          </a:prstGeom>
          <a:solidFill>
            <a:srgbClr val="FFFFFF"/>
          </a:solidFill>
          <a:ln>
            <a:noFill/>
          </a:ln>
        </p:spPr>
        <p:txBody>
          <a:bodyPr rtlCol="0" anchor="ctr"/>
          <a:lstStyle/>
          <a:p>
            <a:pPr algn="ctr"/>
          </a:p>
        </p:txBody>
      </p:sp>
      <p:sp>
        <p:nvSpPr>
          <p:cNvPr id="83" name="icono arrows-clockwise"/>
          <p:cNvSpPr/>
          <p:nvPr/>
        </p:nvSpPr>
        <p:spPr>
          <a:xfrm>
            <a:off x="3829686" y="3008388"/>
            <a:ext cx="201600" cy="201600"/>
          </a:xfrm>
          <a:custGeom>
            <a:avLst/>
            <a:gdLst/>
            <a:ahLst/>
            <a:cxnLst/>
            <a:rect l="0" t="0" r="r" b="b"/>
            <a:pathLst>
              <a:path w="25600" h="25600">
                <a:moveTo>
                  <a:pt x="22400" y="4800"/>
                </a:moveTo>
                <a:lnTo>
                  <a:pt x="22400" y="9600"/>
                </a:lnTo>
                <a:lnTo>
                  <a:pt x="22380" y="9778"/>
                </a:lnTo>
                <a:lnTo>
                  <a:pt x="22321" y="9947"/>
                </a:lnTo>
                <a:lnTo>
                  <a:pt x="22225" y="10099"/>
                </a:lnTo>
                <a:lnTo>
                  <a:pt x="22099" y="10225"/>
                </a:lnTo>
                <a:lnTo>
                  <a:pt x="21947" y="10321"/>
                </a:lnTo>
                <a:lnTo>
                  <a:pt x="21778" y="10380"/>
                </a:lnTo>
                <a:lnTo>
                  <a:pt x="21600" y="10400"/>
                </a:lnTo>
                <a:lnTo>
                  <a:pt x="16800" y="10400"/>
                </a:lnTo>
                <a:lnTo>
                  <a:pt x="16634" y="10383"/>
                </a:lnTo>
                <a:lnTo>
                  <a:pt x="16475" y="10331"/>
                </a:lnTo>
                <a:lnTo>
                  <a:pt x="16330" y="10247"/>
                </a:lnTo>
                <a:lnTo>
                  <a:pt x="16205" y="10135"/>
                </a:lnTo>
                <a:lnTo>
                  <a:pt x="16107" y="10000"/>
                </a:lnTo>
                <a:lnTo>
                  <a:pt x="16039" y="9847"/>
                </a:lnTo>
                <a:lnTo>
                  <a:pt x="16004" y="9684"/>
                </a:lnTo>
                <a:lnTo>
                  <a:pt x="16004" y="9516"/>
                </a:lnTo>
                <a:lnTo>
                  <a:pt x="16039" y="9353"/>
                </a:lnTo>
                <a:lnTo>
                  <a:pt x="16107" y="9200"/>
                </a:lnTo>
                <a:lnTo>
                  <a:pt x="16205" y="9065"/>
                </a:lnTo>
                <a:lnTo>
                  <a:pt x="16330" y="8953"/>
                </a:lnTo>
                <a:lnTo>
                  <a:pt x="16475" y="8869"/>
                </a:lnTo>
                <a:lnTo>
                  <a:pt x="16634" y="8817"/>
                </a:lnTo>
                <a:lnTo>
                  <a:pt x="16800" y="8800"/>
                </a:lnTo>
                <a:lnTo>
                  <a:pt x="19669" y="8800"/>
                </a:lnTo>
                <a:lnTo>
                  <a:pt x="18206" y="7337"/>
                </a:lnTo>
                <a:lnTo>
                  <a:pt x="17426" y="6650"/>
                </a:lnTo>
                <a:lnTo>
                  <a:pt x="16563" y="6070"/>
                </a:lnTo>
                <a:lnTo>
                  <a:pt x="15632" y="5608"/>
                </a:lnTo>
                <a:lnTo>
                  <a:pt x="14649" y="5271"/>
                </a:lnTo>
                <a:lnTo>
                  <a:pt x="13630" y="5065"/>
                </a:lnTo>
                <a:lnTo>
                  <a:pt x="12593" y="4994"/>
                </a:lnTo>
                <a:lnTo>
                  <a:pt x="12548" y="4994"/>
                </a:lnTo>
                <a:lnTo>
                  <a:pt x="11519" y="5058"/>
                </a:lnTo>
                <a:lnTo>
                  <a:pt x="10507" y="5255"/>
                </a:lnTo>
                <a:lnTo>
                  <a:pt x="9529" y="5582"/>
                </a:lnTo>
                <a:lnTo>
                  <a:pt x="8602" y="6032"/>
                </a:lnTo>
                <a:lnTo>
                  <a:pt x="7740" y="6598"/>
                </a:lnTo>
                <a:lnTo>
                  <a:pt x="6959" y="7271"/>
                </a:lnTo>
                <a:lnTo>
                  <a:pt x="6817" y="7376"/>
                </a:lnTo>
                <a:lnTo>
                  <a:pt x="6656" y="7448"/>
                </a:lnTo>
                <a:lnTo>
                  <a:pt x="6483" y="7483"/>
                </a:lnTo>
                <a:lnTo>
                  <a:pt x="6307" y="7479"/>
                </a:lnTo>
                <a:lnTo>
                  <a:pt x="6135" y="7436"/>
                </a:lnTo>
                <a:lnTo>
                  <a:pt x="5978" y="7357"/>
                </a:lnTo>
                <a:lnTo>
                  <a:pt x="5841" y="7245"/>
                </a:lnTo>
                <a:lnTo>
                  <a:pt x="5732" y="7106"/>
                </a:lnTo>
                <a:lnTo>
                  <a:pt x="5657" y="6947"/>
                </a:lnTo>
                <a:lnTo>
                  <a:pt x="5618" y="6774"/>
                </a:lnTo>
                <a:lnTo>
                  <a:pt x="5618" y="6598"/>
                </a:lnTo>
                <a:lnTo>
                  <a:pt x="5657" y="6426"/>
                </a:lnTo>
                <a:lnTo>
                  <a:pt x="5732" y="6266"/>
                </a:lnTo>
                <a:lnTo>
                  <a:pt x="5841" y="6127"/>
                </a:lnTo>
                <a:lnTo>
                  <a:pt x="7524" y="4814"/>
                </a:lnTo>
                <a:lnTo>
                  <a:pt x="9455" y="3905"/>
                </a:lnTo>
                <a:lnTo>
                  <a:pt x="11540" y="3446"/>
                </a:lnTo>
                <a:lnTo>
                  <a:pt x="13674" y="3458"/>
                </a:lnTo>
                <a:lnTo>
                  <a:pt x="15753" y="3942"/>
                </a:lnTo>
                <a:lnTo>
                  <a:pt x="17674" y="4873"/>
                </a:lnTo>
                <a:lnTo>
                  <a:pt x="19341" y="6206"/>
                </a:lnTo>
                <a:lnTo>
                  <a:pt x="20800" y="7669"/>
                </a:lnTo>
                <a:lnTo>
                  <a:pt x="20800" y="4800"/>
                </a:lnTo>
                <a:lnTo>
                  <a:pt x="20817" y="4634"/>
                </a:lnTo>
                <a:lnTo>
                  <a:pt x="20869" y="4475"/>
                </a:lnTo>
                <a:lnTo>
                  <a:pt x="20953" y="4330"/>
                </a:lnTo>
                <a:lnTo>
                  <a:pt x="21065" y="4205"/>
                </a:lnTo>
                <a:lnTo>
                  <a:pt x="21200" y="4107"/>
                </a:lnTo>
                <a:lnTo>
                  <a:pt x="21353" y="4039"/>
                </a:lnTo>
                <a:lnTo>
                  <a:pt x="21516" y="4004"/>
                </a:lnTo>
                <a:lnTo>
                  <a:pt x="21684" y="4004"/>
                </a:lnTo>
                <a:lnTo>
                  <a:pt x="21847" y="4039"/>
                </a:lnTo>
                <a:lnTo>
                  <a:pt x="22000" y="4107"/>
                </a:lnTo>
                <a:lnTo>
                  <a:pt x="22135" y="4205"/>
                </a:lnTo>
                <a:lnTo>
                  <a:pt x="22247" y="4330"/>
                </a:lnTo>
                <a:lnTo>
                  <a:pt x="22331" y="4475"/>
                </a:lnTo>
                <a:lnTo>
                  <a:pt x="22383" y="4634"/>
                </a:lnTo>
                <a:lnTo>
                  <a:pt x="22400" y="4800"/>
                </a:lnTo>
                <a:close/>
                <a:moveTo>
                  <a:pt x="18641" y="18329"/>
                </a:moveTo>
                <a:lnTo>
                  <a:pt x="17239" y="19422"/>
                </a:lnTo>
                <a:lnTo>
                  <a:pt x="15630" y="20179"/>
                </a:lnTo>
                <a:lnTo>
                  <a:pt x="13893" y="20562"/>
                </a:lnTo>
                <a:lnTo>
                  <a:pt x="12115" y="20551"/>
                </a:lnTo>
                <a:lnTo>
                  <a:pt x="10383" y="20148"/>
                </a:lnTo>
                <a:lnTo>
                  <a:pt x="8783" y="19373"/>
                </a:lnTo>
                <a:lnTo>
                  <a:pt x="7394" y="18263"/>
                </a:lnTo>
                <a:lnTo>
                  <a:pt x="5931" y="16800"/>
                </a:lnTo>
                <a:lnTo>
                  <a:pt x="8800" y="16800"/>
                </a:lnTo>
                <a:lnTo>
                  <a:pt x="8966" y="16783"/>
                </a:lnTo>
                <a:lnTo>
                  <a:pt x="9125" y="16731"/>
                </a:lnTo>
                <a:lnTo>
                  <a:pt x="9270" y="16647"/>
                </a:lnTo>
                <a:lnTo>
                  <a:pt x="9395" y="16535"/>
                </a:lnTo>
                <a:lnTo>
                  <a:pt x="9493" y="16400"/>
                </a:lnTo>
                <a:lnTo>
                  <a:pt x="9561" y="16247"/>
                </a:lnTo>
                <a:lnTo>
                  <a:pt x="9596" y="16084"/>
                </a:lnTo>
                <a:lnTo>
                  <a:pt x="9596" y="15916"/>
                </a:lnTo>
                <a:lnTo>
                  <a:pt x="9561" y="15753"/>
                </a:lnTo>
                <a:lnTo>
                  <a:pt x="9493" y="15600"/>
                </a:lnTo>
                <a:lnTo>
                  <a:pt x="9395" y="15465"/>
                </a:lnTo>
                <a:lnTo>
                  <a:pt x="9270" y="15353"/>
                </a:lnTo>
                <a:lnTo>
                  <a:pt x="9125" y="15269"/>
                </a:lnTo>
                <a:lnTo>
                  <a:pt x="8966" y="15217"/>
                </a:lnTo>
                <a:lnTo>
                  <a:pt x="8800" y="15200"/>
                </a:lnTo>
                <a:lnTo>
                  <a:pt x="4000" y="15200"/>
                </a:lnTo>
                <a:lnTo>
                  <a:pt x="3822" y="15220"/>
                </a:lnTo>
                <a:lnTo>
                  <a:pt x="3653" y="15279"/>
                </a:lnTo>
                <a:lnTo>
                  <a:pt x="3501" y="15375"/>
                </a:lnTo>
                <a:lnTo>
                  <a:pt x="3375" y="15501"/>
                </a:lnTo>
                <a:lnTo>
                  <a:pt x="3279" y="15653"/>
                </a:lnTo>
                <a:lnTo>
                  <a:pt x="3220" y="15822"/>
                </a:lnTo>
                <a:lnTo>
                  <a:pt x="3200" y="16000"/>
                </a:lnTo>
                <a:lnTo>
                  <a:pt x="3200" y="20800"/>
                </a:lnTo>
                <a:lnTo>
                  <a:pt x="3217" y="20966"/>
                </a:lnTo>
                <a:lnTo>
                  <a:pt x="3269" y="21125"/>
                </a:lnTo>
                <a:lnTo>
                  <a:pt x="3353" y="21270"/>
                </a:lnTo>
                <a:lnTo>
                  <a:pt x="3465" y="21395"/>
                </a:lnTo>
                <a:lnTo>
                  <a:pt x="3600" y="21493"/>
                </a:lnTo>
                <a:lnTo>
                  <a:pt x="3753" y="21561"/>
                </a:lnTo>
                <a:lnTo>
                  <a:pt x="3916" y="21596"/>
                </a:lnTo>
                <a:lnTo>
                  <a:pt x="4084" y="21596"/>
                </a:lnTo>
                <a:lnTo>
                  <a:pt x="4247" y="21561"/>
                </a:lnTo>
                <a:lnTo>
                  <a:pt x="4400" y="21493"/>
                </a:lnTo>
                <a:lnTo>
                  <a:pt x="4535" y="21395"/>
                </a:lnTo>
                <a:lnTo>
                  <a:pt x="4647" y="21270"/>
                </a:lnTo>
                <a:lnTo>
                  <a:pt x="4731" y="21125"/>
                </a:lnTo>
                <a:lnTo>
                  <a:pt x="4783" y="20966"/>
                </a:lnTo>
                <a:lnTo>
                  <a:pt x="4800" y="20800"/>
                </a:lnTo>
                <a:lnTo>
                  <a:pt x="4800" y="17931"/>
                </a:lnTo>
                <a:lnTo>
                  <a:pt x="6263" y="19394"/>
                </a:lnTo>
                <a:lnTo>
                  <a:pt x="7199" y="20219"/>
                </a:lnTo>
                <a:lnTo>
                  <a:pt x="8234" y="20915"/>
                </a:lnTo>
                <a:lnTo>
                  <a:pt x="9352" y="21470"/>
                </a:lnTo>
                <a:lnTo>
                  <a:pt x="10532" y="21874"/>
                </a:lnTo>
                <a:lnTo>
                  <a:pt x="11755" y="22121"/>
                </a:lnTo>
                <a:lnTo>
                  <a:pt x="13000" y="22206"/>
                </a:lnTo>
                <a:lnTo>
                  <a:pt x="13053" y="22206"/>
                </a:lnTo>
                <a:lnTo>
                  <a:pt x="14288" y="22129"/>
                </a:lnTo>
                <a:lnTo>
                  <a:pt x="15502" y="21893"/>
                </a:lnTo>
                <a:lnTo>
                  <a:pt x="16676" y="21501"/>
                </a:lnTo>
                <a:lnTo>
                  <a:pt x="17789" y="20961"/>
                </a:lnTo>
                <a:lnTo>
                  <a:pt x="18823" y="20281"/>
                </a:lnTo>
                <a:lnTo>
                  <a:pt x="19760" y="19473"/>
                </a:lnTo>
                <a:lnTo>
                  <a:pt x="19869" y="19334"/>
                </a:lnTo>
                <a:lnTo>
                  <a:pt x="19944" y="19174"/>
                </a:lnTo>
                <a:lnTo>
                  <a:pt x="19983" y="19002"/>
                </a:lnTo>
                <a:lnTo>
                  <a:pt x="19983" y="18826"/>
                </a:lnTo>
                <a:lnTo>
                  <a:pt x="19944" y="18653"/>
                </a:lnTo>
                <a:lnTo>
                  <a:pt x="19869" y="18494"/>
                </a:lnTo>
                <a:lnTo>
                  <a:pt x="19760" y="18355"/>
                </a:lnTo>
                <a:lnTo>
                  <a:pt x="19623" y="18243"/>
                </a:lnTo>
                <a:lnTo>
                  <a:pt x="19466" y="18164"/>
                </a:lnTo>
                <a:lnTo>
                  <a:pt x="19294" y="18121"/>
                </a:lnTo>
                <a:lnTo>
                  <a:pt x="19118" y="18117"/>
                </a:lnTo>
                <a:lnTo>
                  <a:pt x="18945" y="18152"/>
                </a:lnTo>
                <a:lnTo>
                  <a:pt x="18784" y="18224"/>
                </a:lnTo>
                <a:lnTo>
                  <a:pt x="18642" y="18329"/>
                </a:lnTo>
                <a:lnTo>
                  <a:pt x="18641" y="18329"/>
                </a:lnTo>
                <a:close/>
              </a:path>
            </a:pathLst>
          </a:custGeom>
          <a:solidFill>
            <a:srgbClr val="024791"/>
          </a:solidFill>
          <a:ln>
            <a:noFill/>
          </a:ln>
        </p:spPr>
        <p:txBody>
          <a:bodyPr rtlCol="0" anchor="ctr"/>
          <a:lstStyle/>
          <a:p>
            <a:pPr algn="ctr"/>
          </a:p>
        </p:txBody>
      </p:sp>
      <p:sp>
        <p:nvSpPr>
          <p:cNvPr id="84" name="TextBox 83"/>
          <p:cNvSpPr txBox="1"/>
          <p:nvPr/>
        </p:nvSpPr>
        <p:spPr>
          <a:xfrm>
            <a:off x="4200486" y="2829188"/>
            <a:ext cx="1966705" cy="560000"/>
          </a:xfrm>
          <a:prstGeom prst="rect">
            <a:avLst/>
          </a:prstGeom>
          <a:noFill/>
        </p:spPr>
        <p:txBody>
          <a:bodyPr wrap="square" lIns="0" rIns="0" tIns="0" bIns="0" anchor="ctr">
            <a:spAutoFit/>
          </a:bodyPr>
          <a:lstStyle/>
          <a:p>
            <a:pPr algn="l">
              <a:lnSpc>
                <a:spcPct val="100000"/>
              </a:lnSpc>
              <a:spcAft>
                <a:spcPts val="0"/>
              </a:spcAft>
            </a:pPr>
            <a:r>
              <a:rPr sz="1100" b="1" i="0">
                <a:solidFill>
                  <a:srgbClr val="FFFFFF"/>
                </a:solidFill>
                <a:latin typeface="Arial"/>
              </a:rPr>
              <a:t>Metodologías ágiles</a:t>
            </a:r>
          </a:p>
        </p:txBody>
      </p:sp>
      <p:sp>
        <p:nvSpPr>
          <p:cNvPr id="85" name="Rounded Rectangle 84"/>
          <p:cNvSpPr/>
          <p:nvPr/>
        </p:nvSpPr>
        <p:spPr>
          <a:xfrm>
            <a:off x="3710486" y="3489188"/>
            <a:ext cx="2396705" cy="760000"/>
          </a:xfrm>
          <a:prstGeom prst="roundRect">
            <a:avLst>
              <a:gd name="adj" fmla="val 9210"/>
            </a:avLst>
          </a:prstGeom>
          <a:solidFill>
            <a:srgbClr val="FFFFFF"/>
          </a:solidFill>
          <a:ln>
            <a:noFill/>
          </a:ln>
        </p:spPr>
        <p:txBody>
          <a:bodyPr rtlCol="0" anchor="ctr"/>
          <a:lstStyle/>
          <a:p>
            <a:pPr algn="ctr"/>
          </a:p>
        </p:txBody>
      </p:sp>
      <p:sp>
        <p:nvSpPr>
          <p:cNvPr id="86" name="TextBox 85"/>
          <p:cNvSpPr txBox="1"/>
          <p:nvPr/>
        </p:nvSpPr>
        <p:spPr>
          <a:xfrm>
            <a:off x="3800486" y="3489188"/>
            <a:ext cx="2216705" cy="760000"/>
          </a:xfrm>
          <a:prstGeom prst="rect">
            <a:avLst/>
          </a:prstGeom>
          <a:noFill/>
        </p:spPr>
        <p:txBody>
          <a:bodyPr wrap="square" lIns="0" rIns="0" tIns="0" bIns="0" anchor="ctr">
            <a:spAutoFit/>
          </a:bodyPr>
          <a:lstStyle/>
          <a:p>
            <a:pPr algn="l">
              <a:lnSpc>
                <a:spcPct val="110000"/>
              </a:lnSpc>
              <a:spcAft>
                <a:spcPts val="0"/>
              </a:spcAft>
            </a:pPr>
            <a:r>
              <a:rPr sz="950" b="1" i="0">
                <a:solidFill>
                  <a:srgbClr val="024791"/>
                </a:solidFill>
                <a:latin typeface="Arial"/>
              </a:rPr>
              <a:t>Organizar el trabajo para desarrollar, entregar y mejorar soluciones mediante ciclos.</a:t>
            </a:r>
          </a:p>
        </p:txBody>
      </p:sp>
      <p:sp>
        <p:nvSpPr>
          <p:cNvPr id="87" name="Oval 86"/>
          <p:cNvSpPr/>
          <p:nvPr/>
        </p:nvSpPr>
        <p:spPr>
          <a:xfrm>
            <a:off x="3278999" y="3429188"/>
            <a:ext cx="300000" cy="300000"/>
          </a:xfrm>
          <a:prstGeom prst="ellipse">
            <a:avLst/>
          </a:prstGeom>
          <a:solidFill>
            <a:srgbClr val="FFD900"/>
          </a:solidFill>
          <a:ln>
            <a:noFill/>
          </a:ln>
        </p:spPr>
        <p:txBody>
          <a:bodyPr rtlCol="0" anchor="ctr"/>
          <a:lstStyle/>
          <a:p>
            <a:pPr algn="ctr"/>
          </a:p>
        </p:txBody>
      </p:sp>
      <p:sp>
        <p:nvSpPr>
          <p:cNvPr id="88" name="TextBox 87"/>
          <p:cNvSpPr txBox="1"/>
          <p:nvPr/>
        </p:nvSpPr>
        <p:spPr>
          <a:xfrm>
            <a:off x="3278999" y="3429188"/>
            <a:ext cx="300000" cy="300000"/>
          </a:xfrm>
          <a:prstGeom prst="rect">
            <a:avLst/>
          </a:prstGeom>
          <a:noFill/>
        </p:spPr>
        <p:txBody>
          <a:bodyPr wrap="square" lIns="0" rIns="0" tIns="0" bIns="0" anchor="ctr">
            <a:spAutoFit/>
          </a:bodyPr>
          <a:lstStyle/>
          <a:p>
            <a:pPr algn="ctr">
              <a:lnSpc>
                <a:spcPct val="100000"/>
              </a:lnSpc>
              <a:spcAft>
                <a:spcPts val="0"/>
              </a:spcAft>
            </a:pPr>
            <a:r>
              <a:rPr sz="1300" b="1" i="0">
                <a:solidFill>
                  <a:srgbClr val="0B2E6B"/>
                </a:solidFill>
                <a:latin typeface="Arial"/>
              </a:rPr>
              <a:t>+</a:t>
            </a:r>
          </a:p>
        </p:txBody>
      </p:sp>
      <p:sp>
        <p:nvSpPr>
          <p:cNvPr id="89" name="TextBox 88"/>
          <p:cNvSpPr txBox="1"/>
          <p:nvPr/>
        </p:nvSpPr>
        <p:spPr>
          <a:xfrm>
            <a:off x="642308" y="4529188"/>
            <a:ext cx="5576383" cy="1574902"/>
          </a:xfrm>
          <a:prstGeom prst="rect">
            <a:avLst/>
          </a:prstGeom>
          <a:noFill/>
        </p:spPr>
        <p:txBody>
          <a:bodyPr wrap="square" lIns="0" rIns="0" tIns="0" bIns="0" anchor="t">
            <a:spAutoFit/>
          </a:bodyPr>
          <a:lstStyle/>
          <a:p>
            <a:pPr algn="l">
              <a:lnSpc>
                <a:spcPct val="130000"/>
              </a:lnSpc>
              <a:spcAft>
                <a:spcPts val="1181"/>
              </a:spcAft>
            </a:pPr>
            <a:r>
              <a:rPr sz="1100" b="0" i="0">
                <a:solidFill>
                  <a:srgbClr val="56505B"/>
                </a:solidFill>
                <a:latin typeface="Arial"/>
              </a:rPr>
              <a:t>La complementariedad ayuda a superar la idea de que ser ágil significa simplemente trabajar más rápido. Ambos enfoques comparten una orientación hacia el aprendizaje, la adaptación y la incorporación de nueva información.</a:t>
            </a:r>
          </a:p>
          <a:p>
            <a:pPr algn="l">
              <a:lnSpc>
                <a:spcPct val="130000"/>
              </a:lnSpc>
              <a:spcAft>
                <a:spcPts val="1181"/>
              </a:spcAft>
            </a:pPr>
            <a:r>
              <a:rPr sz="1100" b="0" i="0">
                <a:solidFill>
                  <a:srgbClr val="56505B"/>
                </a:solidFill>
                <a:latin typeface="Arial"/>
              </a:rPr>
              <a:t>El pensamiento de diseño incorpora sistemáticamente a las personas en la comprensión y experimentación de las soluciones; la agilidad permite continuar aprendiendo mientras estas se desarrollan y evolucionan.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808" y="723900"/>
            <a:ext cx="4265517" cy="171450"/>
          </a:xfrm>
          <a:prstGeom prst="rect">
            <a:avLst/>
          </a:prstGeom>
          <a:noFill/>
        </p:spPr>
        <p:txBody>
          <a:bodyPr wrap="square" lIns="0" rIns="0" tIns="0" bIns="0" anchor="t">
            <a:spAutoFit/>
          </a:bodyPr>
          <a:lstStyle/>
          <a:p>
            <a:pPr algn="l">
              <a:lnSpc>
                <a:spcPct val="100000"/>
              </a:lnSpc>
              <a:spcAft>
                <a:spcPts val="0"/>
              </a:spcAft>
            </a:pPr>
            <a:r>
              <a:rPr sz="825" b="1" i="0">
                <a:solidFill>
                  <a:srgbClr val="664092"/>
                </a:solidFill>
                <a:latin typeface="Arial"/>
              </a:rPr>
              <a:t>Artículo educativo · Pensamiento de diseño</a:t>
            </a:r>
          </a:p>
        </p:txBody>
      </p:sp>
      <p:sp>
        <p:nvSpPr>
          <p:cNvPr id="3" name="TextBox 2"/>
          <p:cNvSpPr txBox="1"/>
          <p:nvPr/>
        </p:nvSpPr>
        <p:spPr>
          <a:xfrm>
            <a:off x="640808" y="1144900"/>
            <a:ext cx="5576383" cy="150000"/>
          </a:xfrm>
          <a:prstGeom prst="rect">
            <a:avLst/>
          </a:prstGeom>
          <a:noFill/>
        </p:spPr>
        <p:txBody>
          <a:bodyPr wrap="square" lIns="0" rIns="0" tIns="0" bIns="0" anchor="t">
            <a:spAutoFit/>
          </a:bodyPr>
          <a:lstStyle/>
          <a:p>
            <a:pPr algn="l">
              <a:lnSpc>
                <a:spcPct val="100000"/>
              </a:lnSpc>
              <a:spcAft>
                <a:spcPts val="0"/>
              </a:spcAft>
            </a:pPr>
            <a:r>
              <a:rPr sz="950" b="1" i="0">
                <a:solidFill>
                  <a:srgbClr val="3560D6"/>
                </a:solidFill>
                <a:latin typeface="Arial"/>
              </a:rPr>
              <a:t>DESIGN THINKING + AGILIDAD</a:t>
            </a:r>
          </a:p>
        </p:txBody>
      </p:sp>
      <p:sp>
        <p:nvSpPr>
          <p:cNvPr id="4" name="Oval 3"/>
          <p:cNvSpPr/>
          <p:nvPr/>
        </p:nvSpPr>
        <p:spPr>
          <a:xfrm>
            <a:off x="2728999" y="2142900"/>
            <a:ext cx="1400000" cy="1400000"/>
          </a:xfrm>
          <a:prstGeom prst="ellipse">
            <a:avLst/>
          </a:prstGeom>
          <a:solidFill>
            <a:srgbClr val="FFD900"/>
          </a:solidFill>
          <a:ln>
            <a:noFill/>
          </a:ln>
        </p:spPr>
        <p:txBody>
          <a:bodyPr rtlCol="0" anchor="ctr"/>
          <a:lstStyle/>
          <a:p>
            <a:pPr algn="ctr"/>
          </a:p>
        </p:txBody>
      </p:sp>
      <p:sp>
        <p:nvSpPr>
          <p:cNvPr id="5" name="icono arrows-clockwise"/>
          <p:cNvSpPr/>
          <p:nvPr/>
        </p:nvSpPr>
        <p:spPr>
          <a:xfrm>
            <a:off x="3248999" y="2342900"/>
            <a:ext cx="360000" cy="360000"/>
          </a:xfrm>
          <a:custGeom>
            <a:avLst/>
            <a:gdLst/>
            <a:ahLst/>
            <a:cxnLst/>
            <a:rect l="0" t="0" r="r" b="b"/>
            <a:pathLst>
              <a:path w="25600" h="25600">
                <a:moveTo>
                  <a:pt x="22400" y="4800"/>
                </a:moveTo>
                <a:lnTo>
                  <a:pt x="22400" y="9600"/>
                </a:lnTo>
                <a:lnTo>
                  <a:pt x="22380" y="9778"/>
                </a:lnTo>
                <a:lnTo>
                  <a:pt x="22321" y="9947"/>
                </a:lnTo>
                <a:lnTo>
                  <a:pt x="22225" y="10099"/>
                </a:lnTo>
                <a:lnTo>
                  <a:pt x="22099" y="10225"/>
                </a:lnTo>
                <a:lnTo>
                  <a:pt x="21947" y="10321"/>
                </a:lnTo>
                <a:lnTo>
                  <a:pt x="21778" y="10380"/>
                </a:lnTo>
                <a:lnTo>
                  <a:pt x="21600" y="10400"/>
                </a:lnTo>
                <a:lnTo>
                  <a:pt x="16800" y="10400"/>
                </a:lnTo>
                <a:lnTo>
                  <a:pt x="16634" y="10383"/>
                </a:lnTo>
                <a:lnTo>
                  <a:pt x="16475" y="10331"/>
                </a:lnTo>
                <a:lnTo>
                  <a:pt x="16330" y="10247"/>
                </a:lnTo>
                <a:lnTo>
                  <a:pt x="16205" y="10135"/>
                </a:lnTo>
                <a:lnTo>
                  <a:pt x="16107" y="10000"/>
                </a:lnTo>
                <a:lnTo>
                  <a:pt x="16039" y="9847"/>
                </a:lnTo>
                <a:lnTo>
                  <a:pt x="16004" y="9684"/>
                </a:lnTo>
                <a:lnTo>
                  <a:pt x="16004" y="9516"/>
                </a:lnTo>
                <a:lnTo>
                  <a:pt x="16039" y="9353"/>
                </a:lnTo>
                <a:lnTo>
                  <a:pt x="16107" y="9200"/>
                </a:lnTo>
                <a:lnTo>
                  <a:pt x="16205" y="9065"/>
                </a:lnTo>
                <a:lnTo>
                  <a:pt x="16330" y="8953"/>
                </a:lnTo>
                <a:lnTo>
                  <a:pt x="16475" y="8869"/>
                </a:lnTo>
                <a:lnTo>
                  <a:pt x="16634" y="8817"/>
                </a:lnTo>
                <a:lnTo>
                  <a:pt x="16800" y="8800"/>
                </a:lnTo>
                <a:lnTo>
                  <a:pt x="19669" y="8800"/>
                </a:lnTo>
                <a:lnTo>
                  <a:pt x="18206" y="7337"/>
                </a:lnTo>
                <a:lnTo>
                  <a:pt x="17426" y="6650"/>
                </a:lnTo>
                <a:lnTo>
                  <a:pt x="16563" y="6070"/>
                </a:lnTo>
                <a:lnTo>
                  <a:pt x="15632" y="5608"/>
                </a:lnTo>
                <a:lnTo>
                  <a:pt x="14649" y="5271"/>
                </a:lnTo>
                <a:lnTo>
                  <a:pt x="13630" y="5065"/>
                </a:lnTo>
                <a:lnTo>
                  <a:pt x="12593" y="4994"/>
                </a:lnTo>
                <a:lnTo>
                  <a:pt x="12548" y="4994"/>
                </a:lnTo>
                <a:lnTo>
                  <a:pt x="11519" y="5058"/>
                </a:lnTo>
                <a:lnTo>
                  <a:pt x="10507" y="5255"/>
                </a:lnTo>
                <a:lnTo>
                  <a:pt x="9529" y="5582"/>
                </a:lnTo>
                <a:lnTo>
                  <a:pt x="8602" y="6032"/>
                </a:lnTo>
                <a:lnTo>
                  <a:pt x="7740" y="6598"/>
                </a:lnTo>
                <a:lnTo>
                  <a:pt x="6959" y="7271"/>
                </a:lnTo>
                <a:lnTo>
                  <a:pt x="6817" y="7376"/>
                </a:lnTo>
                <a:lnTo>
                  <a:pt x="6656" y="7448"/>
                </a:lnTo>
                <a:lnTo>
                  <a:pt x="6483" y="7483"/>
                </a:lnTo>
                <a:lnTo>
                  <a:pt x="6307" y="7479"/>
                </a:lnTo>
                <a:lnTo>
                  <a:pt x="6135" y="7436"/>
                </a:lnTo>
                <a:lnTo>
                  <a:pt x="5978" y="7357"/>
                </a:lnTo>
                <a:lnTo>
                  <a:pt x="5841" y="7245"/>
                </a:lnTo>
                <a:lnTo>
                  <a:pt x="5732" y="7106"/>
                </a:lnTo>
                <a:lnTo>
                  <a:pt x="5657" y="6947"/>
                </a:lnTo>
                <a:lnTo>
                  <a:pt x="5618" y="6774"/>
                </a:lnTo>
                <a:lnTo>
                  <a:pt x="5618" y="6598"/>
                </a:lnTo>
                <a:lnTo>
                  <a:pt x="5657" y="6426"/>
                </a:lnTo>
                <a:lnTo>
                  <a:pt x="5732" y="6266"/>
                </a:lnTo>
                <a:lnTo>
                  <a:pt x="5841" y="6127"/>
                </a:lnTo>
                <a:lnTo>
                  <a:pt x="7524" y="4814"/>
                </a:lnTo>
                <a:lnTo>
                  <a:pt x="9455" y="3905"/>
                </a:lnTo>
                <a:lnTo>
                  <a:pt x="11540" y="3446"/>
                </a:lnTo>
                <a:lnTo>
                  <a:pt x="13674" y="3458"/>
                </a:lnTo>
                <a:lnTo>
                  <a:pt x="15753" y="3942"/>
                </a:lnTo>
                <a:lnTo>
                  <a:pt x="17674" y="4873"/>
                </a:lnTo>
                <a:lnTo>
                  <a:pt x="19341" y="6206"/>
                </a:lnTo>
                <a:lnTo>
                  <a:pt x="20800" y="7669"/>
                </a:lnTo>
                <a:lnTo>
                  <a:pt x="20800" y="4800"/>
                </a:lnTo>
                <a:lnTo>
                  <a:pt x="20817" y="4634"/>
                </a:lnTo>
                <a:lnTo>
                  <a:pt x="20869" y="4475"/>
                </a:lnTo>
                <a:lnTo>
                  <a:pt x="20953" y="4330"/>
                </a:lnTo>
                <a:lnTo>
                  <a:pt x="21065" y="4205"/>
                </a:lnTo>
                <a:lnTo>
                  <a:pt x="21200" y="4107"/>
                </a:lnTo>
                <a:lnTo>
                  <a:pt x="21353" y="4039"/>
                </a:lnTo>
                <a:lnTo>
                  <a:pt x="21516" y="4004"/>
                </a:lnTo>
                <a:lnTo>
                  <a:pt x="21684" y="4004"/>
                </a:lnTo>
                <a:lnTo>
                  <a:pt x="21847" y="4039"/>
                </a:lnTo>
                <a:lnTo>
                  <a:pt x="22000" y="4107"/>
                </a:lnTo>
                <a:lnTo>
                  <a:pt x="22135" y="4205"/>
                </a:lnTo>
                <a:lnTo>
                  <a:pt x="22247" y="4330"/>
                </a:lnTo>
                <a:lnTo>
                  <a:pt x="22331" y="4475"/>
                </a:lnTo>
                <a:lnTo>
                  <a:pt x="22383" y="4634"/>
                </a:lnTo>
                <a:lnTo>
                  <a:pt x="22400" y="4800"/>
                </a:lnTo>
                <a:close/>
                <a:moveTo>
                  <a:pt x="18641" y="18329"/>
                </a:moveTo>
                <a:lnTo>
                  <a:pt x="17239" y="19422"/>
                </a:lnTo>
                <a:lnTo>
                  <a:pt x="15630" y="20179"/>
                </a:lnTo>
                <a:lnTo>
                  <a:pt x="13893" y="20562"/>
                </a:lnTo>
                <a:lnTo>
                  <a:pt x="12115" y="20551"/>
                </a:lnTo>
                <a:lnTo>
                  <a:pt x="10383" y="20148"/>
                </a:lnTo>
                <a:lnTo>
                  <a:pt x="8783" y="19373"/>
                </a:lnTo>
                <a:lnTo>
                  <a:pt x="7394" y="18263"/>
                </a:lnTo>
                <a:lnTo>
                  <a:pt x="5931" y="16800"/>
                </a:lnTo>
                <a:lnTo>
                  <a:pt x="8800" y="16800"/>
                </a:lnTo>
                <a:lnTo>
                  <a:pt x="8966" y="16783"/>
                </a:lnTo>
                <a:lnTo>
                  <a:pt x="9125" y="16731"/>
                </a:lnTo>
                <a:lnTo>
                  <a:pt x="9270" y="16647"/>
                </a:lnTo>
                <a:lnTo>
                  <a:pt x="9395" y="16535"/>
                </a:lnTo>
                <a:lnTo>
                  <a:pt x="9493" y="16400"/>
                </a:lnTo>
                <a:lnTo>
                  <a:pt x="9561" y="16247"/>
                </a:lnTo>
                <a:lnTo>
                  <a:pt x="9596" y="16084"/>
                </a:lnTo>
                <a:lnTo>
                  <a:pt x="9596" y="15916"/>
                </a:lnTo>
                <a:lnTo>
                  <a:pt x="9561" y="15753"/>
                </a:lnTo>
                <a:lnTo>
                  <a:pt x="9493" y="15600"/>
                </a:lnTo>
                <a:lnTo>
                  <a:pt x="9395" y="15465"/>
                </a:lnTo>
                <a:lnTo>
                  <a:pt x="9270" y="15353"/>
                </a:lnTo>
                <a:lnTo>
                  <a:pt x="9125" y="15269"/>
                </a:lnTo>
                <a:lnTo>
                  <a:pt x="8966" y="15217"/>
                </a:lnTo>
                <a:lnTo>
                  <a:pt x="8800" y="15200"/>
                </a:lnTo>
                <a:lnTo>
                  <a:pt x="4000" y="15200"/>
                </a:lnTo>
                <a:lnTo>
                  <a:pt x="3822" y="15220"/>
                </a:lnTo>
                <a:lnTo>
                  <a:pt x="3653" y="15279"/>
                </a:lnTo>
                <a:lnTo>
                  <a:pt x="3501" y="15375"/>
                </a:lnTo>
                <a:lnTo>
                  <a:pt x="3375" y="15501"/>
                </a:lnTo>
                <a:lnTo>
                  <a:pt x="3279" y="15653"/>
                </a:lnTo>
                <a:lnTo>
                  <a:pt x="3220" y="15822"/>
                </a:lnTo>
                <a:lnTo>
                  <a:pt x="3200" y="16000"/>
                </a:lnTo>
                <a:lnTo>
                  <a:pt x="3200" y="20800"/>
                </a:lnTo>
                <a:lnTo>
                  <a:pt x="3217" y="20966"/>
                </a:lnTo>
                <a:lnTo>
                  <a:pt x="3269" y="21125"/>
                </a:lnTo>
                <a:lnTo>
                  <a:pt x="3353" y="21270"/>
                </a:lnTo>
                <a:lnTo>
                  <a:pt x="3465" y="21395"/>
                </a:lnTo>
                <a:lnTo>
                  <a:pt x="3600" y="21493"/>
                </a:lnTo>
                <a:lnTo>
                  <a:pt x="3753" y="21561"/>
                </a:lnTo>
                <a:lnTo>
                  <a:pt x="3916" y="21596"/>
                </a:lnTo>
                <a:lnTo>
                  <a:pt x="4084" y="21596"/>
                </a:lnTo>
                <a:lnTo>
                  <a:pt x="4247" y="21561"/>
                </a:lnTo>
                <a:lnTo>
                  <a:pt x="4400" y="21493"/>
                </a:lnTo>
                <a:lnTo>
                  <a:pt x="4535" y="21395"/>
                </a:lnTo>
                <a:lnTo>
                  <a:pt x="4647" y="21270"/>
                </a:lnTo>
                <a:lnTo>
                  <a:pt x="4731" y="21125"/>
                </a:lnTo>
                <a:lnTo>
                  <a:pt x="4783" y="20966"/>
                </a:lnTo>
                <a:lnTo>
                  <a:pt x="4800" y="20800"/>
                </a:lnTo>
                <a:lnTo>
                  <a:pt x="4800" y="17931"/>
                </a:lnTo>
                <a:lnTo>
                  <a:pt x="6263" y="19394"/>
                </a:lnTo>
                <a:lnTo>
                  <a:pt x="7199" y="20219"/>
                </a:lnTo>
                <a:lnTo>
                  <a:pt x="8234" y="20915"/>
                </a:lnTo>
                <a:lnTo>
                  <a:pt x="9352" y="21470"/>
                </a:lnTo>
                <a:lnTo>
                  <a:pt x="10532" y="21874"/>
                </a:lnTo>
                <a:lnTo>
                  <a:pt x="11755" y="22121"/>
                </a:lnTo>
                <a:lnTo>
                  <a:pt x="13000" y="22206"/>
                </a:lnTo>
                <a:lnTo>
                  <a:pt x="13053" y="22206"/>
                </a:lnTo>
                <a:lnTo>
                  <a:pt x="14288" y="22129"/>
                </a:lnTo>
                <a:lnTo>
                  <a:pt x="15502" y="21893"/>
                </a:lnTo>
                <a:lnTo>
                  <a:pt x="16676" y="21501"/>
                </a:lnTo>
                <a:lnTo>
                  <a:pt x="17789" y="20961"/>
                </a:lnTo>
                <a:lnTo>
                  <a:pt x="18823" y="20281"/>
                </a:lnTo>
                <a:lnTo>
                  <a:pt x="19760" y="19473"/>
                </a:lnTo>
                <a:lnTo>
                  <a:pt x="19869" y="19334"/>
                </a:lnTo>
                <a:lnTo>
                  <a:pt x="19944" y="19174"/>
                </a:lnTo>
                <a:lnTo>
                  <a:pt x="19983" y="19002"/>
                </a:lnTo>
                <a:lnTo>
                  <a:pt x="19983" y="18826"/>
                </a:lnTo>
                <a:lnTo>
                  <a:pt x="19944" y="18653"/>
                </a:lnTo>
                <a:lnTo>
                  <a:pt x="19869" y="18494"/>
                </a:lnTo>
                <a:lnTo>
                  <a:pt x="19760" y="18355"/>
                </a:lnTo>
                <a:lnTo>
                  <a:pt x="19623" y="18243"/>
                </a:lnTo>
                <a:lnTo>
                  <a:pt x="19466" y="18164"/>
                </a:lnTo>
                <a:lnTo>
                  <a:pt x="19294" y="18121"/>
                </a:lnTo>
                <a:lnTo>
                  <a:pt x="19118" y="18117"/>
                </a:lnTo>
                <a:lnTo>
                  <a:pt x="18945" y="18152"/>
                </a:lnTo>
                <a:lnTo>
                  <a:pt x="18784" y="18224"/>
                </a:lnTo>
                <a:lnTo>
                  <a:pt x="18642" y="18329"/>
                </a:lnTo>
                <a:lnTo>
                  <a:pt x="18641" y="18329"/>
                </a:lnTo>
                <a:close/>
              </a:path>
            </a:pathLst>
          </a:custGeom>
          <a:solidFill>
            <a:srgbClr val="0B2E6B"/>
          </a:solidFill>
          <a:ln>
            <a:noFill/>
          </a:ln>
        </p:spPr>
        <p:txBody>
          <a:bodyPr rtlCol="0" anchor="ctr"/>
          <a:lstStyle/>
          <a:p>
            <a:pPr algn="ctr"/>
          </a:p>
        </p:txBody>
      </p:sp>
      <p:sp>
        <p:nvSpPr>
          <p:cNvPr id="6" name="TextBox 5"/>
          <p:cNvSpPr txBox="1"/>
          <p:nvPr/>
        </p:nvSpPr>
        <p:spPr>
          <a:xfrm>
            <a:off x="2778999" y="2762900"/>
            <a:ext cx="1300000" cy="300000"/>
          </a:xfrm>
          <a:prstGeom prst="rect">
            <a:avLst/>
          </a:prstGeom>
          <a:noFill/>
        </p:spPr>
        <p:txBody>
          <a:bodyPr wrap="square" lIns="0" rIns="0" tIns="0" bIns="0" anchor="t">
            <a:spAutoFit/>
          </a:bodyPr>
          <a:lstStyle/>
          <a:p>
            <a:pPr algn="ctr">
              <a:lnSpc>
                <a:spcPct val="100000"/>
              </a:lnSpc>
              <a:spcAft>
                <a:spcPts val="0"/>
              </a:spcAft>
            </a:pPr>
            <a:r>
              <a:rPr sz="1200" b="1" i="0">
                <a:solidFill>
                  <a:srgbClr val="0B2E6B"/>
                </a:solidFill>
                <a:latin typeface="Arial"/>
              </a:rPr>
              <a:t>APRENDER</a:t>
            </a:r>
          </a:p>
        </p:txBody>
      </p:sp>
      <p:sp>
        <p:nvSpPr>
          <p:cNvPr id="7" name="Rounded Rectangle 6"/>
          <p:cNvSpPr/>
          <p:nvPr/>
        </p:nvSpPr>
        <p:spPr>
          <a:xfrm>
            <a:off x="640808" y="1592900"/>
            <a:ext cx="1850000" cy="600000"/>
          </a:xfrm>
          <a:prstGeom prst="roundRect">
            <a:avLst>
              <a:gd name="adj" fmla="val 50000"/>
            </a:avLst>
          </a:prstGeom>
          <a:solidFill>
            <a:srgbClr val="664092"/>
          </a:solidFill>
          <a:ln>
            <a:noFill/>
          </a:ln>
        </p:spPr>
        <p:txBody>
          <a:bodyPr rtlCol="0" anchor="ctr"/>
          <a:lstStyle/>
          <a:p>
            <a:pPr algn="ctr"/>
          </a:p>
        </p:txBody>
      </p:sp>
      <p:sp>
        <p:nvSpPr>
          <p:cNvPr id="8" name="Oval 7"/>
          <p:cNvSpPr/>
          <p:nvPr/>
        </p:nvSpPr>
        <p:spPr>
          <a:xfrm>
            <a:off x="730808" y="1682900"/>
            <a:ext cx="420000" cy="420000"/>
          </a:xfrm>
          <a:prstGeom prst="ellipse">
            <a:avLst/>
          </a:prstGeom>
          <a:solidFill>
            <a:srgbClr val="FFFFFF"/>
          </a:solidFill>
          <a:ln>
            <a:noFill/>
          </a:ln>
        </p:spPr>
        <p:txBody>
          <a:bodyPr rtlCol="0" anchor="ctr"/>
          <a:lstStyle/>
          <a:p>
            <a:pPr algn="ctr"/>
          </a:p>
        </p:txBody>
      </p:sp>
      <p:sp>
        <p:nvSpPr>
          <p:cNvPr id="9" name="icono users-three"/>
          <p:cNvSpPr/>
          <p:nvPr/>
        </p:nvSpPr>
        <p:spPr>
          <a:xfrm>
            <a:off x="823208" y="1775300"/>
            <a:ext cx="235200" cy="235200"/>
          </a:xfrm>
          <a:custGeom>
            <a:avLst/>
            <a:gdLst/>
            <a:ahLst/>
            <a:cxnLst/>
            <a:rect l="0" t="0" r="r" b="b"/>
            <a:pathLst>
              <a:path w="25600" h="25600">
                <a:moveTo>
                  <a:pt x="24480" y="15040"/>
                </a:moveTo>
                <a:lnTo>
                  <a:pt x="24326" y="15131"/>
                </a:lnTo>
                <a:lnTo>
                  <a:pt x="24155" y="15185"/>
                </a:lnTo>
                <a:lnTo>
                  <a:pt x="23976" y="15200"/>
                </a:lnTo>
                <a:lnTo>
                  <a:pt x="23799" y="15174"/>
                </a:lnTo>
                <a:lnTo>
                  <a:pt x="23632" y="15110"/>
                </a:lnTo>
                <a:lnTo>
                  <a:pt x="23483" y="15010"/>
                </a:lnTo>
                <a:lnTo>
                  <a:pt x="23360" y="14880"/>
                </a:lnTo>
                <a:lnTo>
                  <a:pt x="22832" y="14275"/>
                </a:lnTo>
                <a:lnTo>
                  <a:pt x="22216" y="13759"/>
                </a:lnTo>
                <a:lnTo>
                  <a:pt x="21528" y="13345"/>
                </a:lnTo>
                <a:lnTo>
                  <a:pt x="20783" y="13042"/>
                </a:lnTo>
                <a:lnTo>
                  <a:pt x="20001" y="12859"/>
                </a:lnTo>
                <a:lnTo>
                  <a:pt x="19200" y="12800"/>
                </a:lnTo>
                <a:lnTo>
                  <a:pt x="19045" y="12785"/>
                </a:lnTo>
                <a:lnTo>
                  <a:pt x="18896" y="12740"/>
                </a:lnTo>
                <a:lnTo>
                  <a:pt x="18758" y="12667"/>
                </a:lnTo>
                <a:lnTo>
                  <a:pt x="18637" y="12568"/>
                </a:lnTo>
                <a:lnTo>
                  <a:pt x="18537" y="12448"/>
                </a:lnTo>
                <a:lnTo>
                  <a:pt x="18463" y="12311"/>
                </a:lnTo>
                <a:lnTo>
                  <a:pt x="18428" y="12210"/>
                </a:lnTo>
                <a:lnTo>
                  <a:pt x="18407" y="12106"/>
                </a:lnTo>
                <a:lnTo>
                  <a:pt x="18400" y="12000"/>
                </a:lnTo>
                <a:lnTo>
                  <a:pt x="18407" y="11894"/>
                </a:lnTo>
                <a:lnTo>
                  <a:pt x="18428" y="11790"/>
                </a:lnTo>
                <a:lnTo>
                  <a:pt x="18463" y="11689"/>
                </a:lnTo>
                <a:lnTo>
                  <a:pt x="18537" y="11552"/>
                </a:lnTo>
                <a:lnTo>
                  <a:pt x="18637" y="11432"/>
                </a:lnTo>
                <a:lnTo>
                  <a:pt x="18758" y="11333"/>
                </a:lnTo>
                <a:lnTo>
                  <a:pt x="18896" y="11260"/>
                </a:lnTo>
                <a:lnTo>
                  <a:pt x="19045" y="11215"/>
                </a:lnTo>
                <a:lnTo>
                  <a:pt x="19200" y="11200"/>
                </a:lnTo>
                <a:lnTo>
                  <a:pt x="19706" y="11146"/>
                </a:lnTo>
                <a:lnTo>
                  <a:pt x="20189" y="10987"/>
                </a:lnTo>
                <a:lnTo>
                  <a:pt x="20628" y="10729"/>
                </a:lnTo>
                <a:lnTo>
                  <a:pt x="21002" y="10385"/>
                </a:lnTo>
                <a:lnTo>
                  <a:pt x="21296" y="9969"/>
                </a:lnTo>
                <a:lnTo>
                  <a:pt x="21495" y="9501"/>
                </a:lnTo>
                <a:lnTo>
                  <a:pt x="21591" y="9002"/>
                </a:lnTo>
                <a:lnTo>
                  <a:pt x="21580" y="8493"/>
                </a:lnTo>
                <a:lnTo>
                  <a:pt x="21462" y="7998"/>
                </a:lnTo>
                <a:lnTo>
                  <a:pt x="21242" y="7540"/>
                </a:lnTo>
                <a:lnTo>
                  <a:pt x="20931" y="7137"/>
                </a:lnTo>
                <a:lnTo>
                  <a:pt x="20541" y="6810"/>
                </a:lnTo>
                <a:lnTo>
                  <a:pt x="20092" y="6572"/>
                </a:lnTo>
                <a:lnTo>
                  <a:pt x="19602" y="6434"/>
                </a:lnTo>
                <a:lnTo>
                  <a:pt x="19094" y="6402"/>
                </a:lnTo>
                <a:lnTo>
                  <a:pt x="18591" y="6478"/>
                </a:lnTo>
                <a:lnTo>
                  <a:pt x="18116" y="6659"/>
                </a:lnTo>
                <a:lnTo>
                  <a:pt x="17689" y="6935"/>
                </a:lnTo>
                <a:lnTo>
                  <a:pt x="17330" y="7296"/>
                </a:lnTo>
                <a:lnTo>
                  <a:pt x="17055" y="7724"/>
                </a:lnTo>
                <a:lnTo>
                  <a:pt x="16876" y="8200"/>
                </a:lnTo>
                <a:lnTo>
                  <a:pt x="16817" y="8357"/>
                </a:lnTo>
                <a:lnTo>
                  <a:pt x="16728" y="8498"/>
                </a:lnTo>
                <a:lnTo>
                  <a:pt x="16610" y="8617"/>
                </a:lnTo>
                <a:lnTo>
                  <a:pt x="16471" y="8710"/>
                </a:lnTo>
                <a:lnTo>
                  <a:pt x="16315" y="8771"/>
                </a:lnTo>
                <a:lnTo>
                  <a:pt x="16150" y="8799"/>
                </a:lnTo>
                <a:lnTo>
                  <a:pt x="15983" y="8792"/>
                </a:lnTo>
                <a:lnTo>
                  <a:pt x="15821" y="8750"/>
                </a:lnTo>
                <a:lnTo>
                  <a:pt x="15671" y="8675"/>
                </a:lnTo>
                <a:lnTo>
                  <a:pt x="15540" y="8571"/>
                </a:lnTo>
                <a:lnTo>
                  <a:pt x="15434" y="8442"/>
                </a:lnTo>
                <a:lnTo>
                  <a:pt x="15356" y="8294"/>
                </a:lnTo>
                <a:lnTo>
                  <a:pt x="15312" y="8133"/>
                </a:lnTo>
                <a:lnTo>
                  <a:pt x="15301" y="7966"/>
                </a:lnTo>
                <a:lnTo>
                  <a:pt x="15326" y="7800"/>
                </a:lnTo>
                <a:lnTo>
                  <a:pt x="15635" y="6984"/>
                </a:lnTo>
                <a:lnTo>
                  <a:pt x="16115" y="6254"/>
                </a:lnTo>
                <a:lnTo>
                  <a:pt x="16741" y="5645"/>
                </a:lnTo>
                <a:lnTo>
                  <a:pt x="17484" y="5187"/>
                </a:lnTo>
                <a:lnTo>
                  <a:pt x="18309" y="4901"/>
                </a:lnTo>
                <a:lnTo>
                  <a:pt x="19176" y="4801"/>
                </a:lnTo>
                <a:lnTo>
                  <a:pt x="20045" y="4891"/>
                </a:lnTo>
                <a:lnTo>
                  <a:pt x="20873" y="5168"/>
                </a:lnTo>
                <a:lnTo>
                  <a:pt x="21621" y="5618"/>
                </a:lnTo>
                <a:lnTo>
                  <a:pt x="22254" y="6219"/>
                </a:lnTo>
                <a:lnTo>
                  <a:pt x="22741" y="6944"/>
                </a:lnTo>
                <a:lnTo>
                  <a:pt x="23060" y="7757"/>
                </a:lnTo>
                <a:lnTo>
                  <a:pt x="23195" y="8619"/>
                </a:lnTo>
                <a:lnTo>
                  <a:pt x="23139" y="9491"/>
                </a:lnTo>
                <a:lnTo>
                  <a:pt x="22895" y="10329"/>
                </a:lnTo>
                <a:lnTo>
                  <a:pt x="22476" y="11095"/>
                </a:lnTo>
                <a:lnTo>
                  <a:pt x="21900" y="11751"/>
                </a:lnTo>
                <a:lnTo>
                  <a:pt x="22430" y="12008"/>
                </a:lnTo>
                <a:lnTo>
                  <a:pt x="22936" y="12311"/>
                </a:lnTo>
                <a:lnTo>
                  <a:pt x="23413" y="12656"/>
                </a:lnTo>
                <a:lnTo>
                  <a:pt x="23859" y="13041"/>
                </a:lnTo>
                <a:lnTo>
                  <a:pt x="24270" y="13463"/>
                </a:lnTo>
                <a:lnTo>
                  <a:pt x="24643" y="13919"/>
                </a:lnTo>
                <a:lnTo>
                  <a:pt x="24734" y="14074"/>
                </a:lnTo>
                <a:lnTo>
                  <a:pt x="24788" y="14245"/>
                </a:lnTo>
                <a:lnTo>
                  <a:pt x="24802" y="14424"/>
                </a:lnTo>
                <a:lnTo>
                  <a:pt x="24776" y="14601"/>
                </a:lnTo>
                <a:lnTo>
                  <a:pt x="24711" y="14769"/>
                </a:lnTo>
                <a:lnTo>
                  <a:pt x="24611" y="14917"/>
                </a:lnTo>
                <a:lnTo>
                  <a:pt x="24480" y="15040"/>
                </a:lnTo>
                <a:close/>
                <a:moveTo>
                  <a:pt x="19092" y="21200"/>
                </a:moveTo>
                <a:lnTo>
                  <a:pt x="19168" y="21354"/>
                </a:lnTo>
                <a:lnTo>
                  <a:pt x="19209" y="21521"/>
                </a:lnTo>
                <a:lnTo>
                  <a:pt x="19214" y="21692"/>
                </a:lnTo>
                <a:lnTo>
                  <a:pt x="19183" y="21861"/>
                </a:lnTo>
                <a:lnTo>
                  <a:pt x="19115" y="22019"/>
                </a:lnTo>
                <a:lnTo>
                  <a:pt x="19016" y="22159"/>
                </a:lnTo>
                <a:lnTo>
                  <a:pt x="18889" y="22275"/>
                </a:lnTo>
                <a:lnTo>
                  <a:pt x="18741" y="22361"/>
                </a:lnTo>
                <a:lnTo>
                  <a:pt x="18577" y="22413"/>
                </a:lnTo>
                <a:lnTo>
                  <a:pt x="18406" y="22429"/>
                </a:lnTo>
                <a:lnTo>
                  <a:pt x="18236" y="22408"/>
                </a:lnTo>
                <a:lnTo>
                  <a:pt x="18073" y="22352"/>
                </a:lnTo>
                <a:lnTo>
                  <a:pt x="17927" y="22262"/>
                </a:lnTo>
                <a:lnTo>
                  <a:pt x="17803" y="22143"/>
                </a:lnTo>
                <a:lnTo>
                  <a:pt x="17708" y="22000"/>
                </a:lnTo>
                <a:lnTo>
                  <a:pt x="16916" y="20955"/>
                </a:lnTo>
                <a:lnTo>
                  <a:pt x="15906" y="20119"/>
                </a:lnTo>
                <a:lnTo>
                  <a:pt x="14732" y="19536"/>
                </a:lnTo>
                <a:lnTo>
                  <a:pt x="13456" y="19236"/>
                </a:lnTo>
                <a:lnTo>
                  <a:pt x="12144" y="19236"/>
                </a:lnTo>
                <a:lnTo>
                  <a:pt x="10868" y="19536"/>
                </a:lnTo>
                <a:lnTo>
                  <a:pt x="9694" y="20119"/>
                </a:lnTo>
                <a:lnTo>
                  <a:pt x="8684" y="20955"/>
                </a:lnTo>
                <a:lnTo>
                  <a:pt x="7892" y="22000"/>
                </a:lnTo>
                <a:lnTo>
                  <a:pt x="7797" y="22143"/>
                </a:lnTo>
                <a:lnTo>
                  <a:pt x="7673" y="22262"/>
                </a:lnTo>
                <a:lnTo>
                  <a:pt x="7527" y="22352"/>
                </a:lnTo>
                <a:lnTo>
                  <a:pt x="7364" y="22408"/>
                </a:lnTo>
                <a:lnTo>
                  <a:pt x="7194" y="22429"/>
                </a:lnTo>
                <a:lnTo>
                  <a:pt x="7023" y="22413"/>
                </a:lnTo>
                <a:lnTo>
                  <a:pt x="6859" y="22361"/>
                </a:lnTo>
                <a:lnTo>
                  <a:pt x="6711" y="22275"/>
                </a:lnTo>
                <a:lnTo>
                  <a:pt x="6584" y="22159"/>
                </a:lnTo>
                <a:lnTo>
                  <a:pt x="6485" y="22019"/>
                </a:lnTo>
                <a:lnTo>
                  <a:pt x="6417" y="21861"/>
                </a:lnTo>
                <a:lnTo>
                  <a:pt x="6386" y="21692"/>
                </a:lnTo>
                <a:lnTo>
                  <a:pt x="6391" y="21521"/>
                </a:lnTo>
                <a:lnTo>
                  <a:pt x="6432" y="21354"/>
                </a:lnTo>
                <a:lnTo>
                  <a:pt x="6508" y="21200"/>
                </a:lnTo>
                <a:lnTo>
                  <a:pt x="6927" y="20561"/>
                </a:lnTo>
                <a:lnTo>
                  <a:pt x="7411" y="19970"/>
                </a:lnTo>
                <a:lnTo>
                  <a:pt x="7955" y="19433"/>
                </a:lnTo>
                <a:lnTo>
                  <a:pt x="8553" y="18957"/>
                </a:lnTo>
                <a:lnTo>
                  <a:pt x="9197" y="18547"/>
                </a:lnTo>
                <a:lnTo>
                  <a:pt x="9882" y="18208"/>
                </a:lnTo>
                <a:lnTo>
                  <a:pt x="9132" y="17493"/>
                </a:lnTo>
                <a:lnTo>
                  <a:pt x="8553" y="16633"/>
                </a:lnTo>
                <a:lnTo>
                  <a:pt x="8172" y="15669"/>
                </a:lnTo>
                <a:lnTo>
                  <a:pt x="8006" y="14646"/>
                </a:lnTo>
                <a:lnTo>
                  <a:pt x="8065" y="13611"/>
                </a:lnTo>
                <a:lnTo>
                  <a:pt x="8344" y="12613"/>
                </a:lnTo>
                <a:lnTo>
                  <a:pt x="8831" y="11698"/>
                </a:lnTo>
                <a:lnTo>
                  <a:pt x="9503" y="10909"/>
                </a:lnTo>
                <a:lnTo>
                  <a:pt x="10328" y="10282"/>
                </a:lnTo>
                <a:lnTo>
                  <a:pt x="11269" y="9847"/>
                </a:lnTo>
                <a:lnTo>
                  <a:pt x="12282" y="9625"/>
                </a:lnTo>
                <a:lnTo>
                  <a:pt x="13318" y="9625"/>
                </a:lnTo>
                <a:lnTo>
                  <a:pt x="14331" y="9847"/>
                </a:lnTo>
                <a:lnTo>
                  <a:pt x="15272" y="10282"/>
                </a:lnTo>
                <a:lnTo>
                  <a:pt x="16097" y="10909"/>
                </a:lnTo>
                <a:lnTo>
                  <a:pt x="16769" y="11698"/>
                </a:lnTo>
                <a:lnTo>
                  <a:pt x="17256" y="12613"/>
                </a:lnTo>
                <a:lnTo>
                  <a:pt x="17535" y="13611"/>
                </a:lnTo>
                <a:lnTo>
                  <a:pt x="17594" y="14646"/>
                </a:lnTo>
                <a:lnTo>
                  <a:pt x="17428" y="15669"/>
                </a:lnTo>
                <a:lnTo>
                  <a:pt x="17047" y="16633"/>
                </a:lnTo>
                <a:lnTo>
                  <a:pt x="16468" y="17493"/>
                </a:lnTo>
                <a:lnTo>
                  <a:pt x="15718" y="18208"/>
                </a:lnTo>
                <a:lnTo>
                  <a:pt x="16403" y="18547"/>
                </a:lnTo>
                <a:lnTo>
                  <a:pt x="17047" y="18957"/>
                </a:lnTo>
                <a:lnTo>
                  <a:pt x="17645" y="19433"/>
                </a:lnTo>
                <a:lnTo>
                  <a:pt x="18189" y="19970"/>
                </a:lnTo>
                <a:lnTo>
                  <a:pt x="18673" y="20561"/>
                </a:lnTo>
                <a:lnTo>
                  <a:pt x="19092" y="21200"/>
                </a:lnTo>
                <a:close/>
                <a:moveTo>
                  <a:pt x="12800" y="17600"/>
                </a:moveTo>
                <a:lnTo>
                  <a:pt x="13480" y="17527"/>
                </a:lnTo>
                <a:lnTo>
                  <a:pt x="14129" y="17311"/>
                </a:lnTo>
                <a:lnTo>
                  <a:pt x="14718" y="16962"/>
                </a:lnTo>
                <a:lnTo>
                  <a:pt x="15218" y="16496"/>
                </a:lnTo>
                <a:lnTo>
                  <a:pt x="15609" y="15934"/>
                </a:lnTo>
                <a:lnTo>
                  <a:pt x="15870" y="15302"/>
                </a:lnTo>
                <a:lnTo>
                  <a:pt x="15992" y="14628"/>
                </a:lnTo>
                <a:lnTo>
                  <a:pt x="15967" y="13945"/>
                </a:lnTo>
                <a:lnTo>
                  <a:pt x="15798" y="13282"/>
                </a:lnTo>
                <a:lnTo>
                  <a:pt x="15492" y="12670"/>
                </a:lnTo>
                <a:lnTo>
                  <a:pt x="15063" y="12137"/>
                </a:lnTo>
                <a:lnTo>
                  <a:pt x="14530" y="11708"/>
                </a:lnTo>
                <a:lnTo>
                  <a:pt x="13918" y="11402"/>
                </a:lnTo>
                <a:lnTo>
                  <a:pt x="13255" y="11233"/>
                </a:lnTo>
                <a:lnTo>
                  <a:pt x="12572" y="11208"/>
                </a:lnTo>
                <a:lnTo>
                  <a:pt x="11898" y="11330"/>
                </a:lnTo>
                <a:lnTo>
                  <a:pt x="11266" y="11591"/>
                </a:lnTo>
                <a:lnTo>
                  <a:pt x="10704" y="11982"/>
                </a:lnTo>
                <a:lnTo>
                  <a:pt x="10238" y="12482"/>
                </a:lnTo>
                <a:lnTo>
                  <a:pt x="9889" y="13071"/>
                </a:lnTo>
                <a:lnTo>
                  <a:pt x="9673" y="13720"/>
                </a:lnTo>
                <a:lnTo>
                  <a:pt x="9600" y="14400"/>
                </a:lnTo>
                <a:lnTo>
                  <a:pt x="9680" y="15112"/>
                </a:lnTo>
                <a:lnTo>
                  <a:pt x="9917" y="15788"/>
                </a:lnTo>
                <a:lnTo>
                  <a:pt x="10298" y="16395"/>
                </a:lnTo>
                <a:lnTo>
                  <a:pt x="10805" y="16902"/>
                </a:lnTo>
                <a:lnTo>
                  <a:pt x="11412" y="17283"/>
                </a:lnTo>
                <a:lnTo>
                  <a:pt x="12088" y="17520"/>
                </a:lnTo>
                <a:lnTo>
                  <a:pt x="12800" y="17600"/>
                </a:lnTo>
                <a:close/>
                <a:moveTo>
                  <a:pt x="7200" y="12000"/>
                </a:moveTo>
                <a:lnTo>
                  <a:pt x="7180" y="11822"/>
                </a:lnTo>
                <a:lnTo>
                  <a:pt x="7121" y="11653"/>
                </a:lnTo>
                <a:lnTo>
                  <a:pt x="7025" y="11501"/>
                </a:lnTo>
                <a:lnTo>
                  <a:pt x="6899" y="11375"/>
                </a:lnTo>
                <a:lnTo>
                  <a:pt x="6747" y="11279"/>
                </a:lnTo>
                <a:lnTo>
                  <a:pt x="6578" y="11220"/>
                </a:lnTo>
                <a:lnTo>
                  <a:pt x="6400" y="11200"/>
                </a:lnTo>
                <a:lnTo>
                  <a:pt x="5894" y="11146"/>
                </a:lnTo>
                <a:lnTo>
                  <a:pt x="5411" y="10987"/>
                </a:lnTo>
                <a:lnTo>
                  <a:pt x="4972" y="10729"/>
                </a:lnTo>
                <a:lnTo>
                  <a:pt x="4598" y="10385"/>
                </a:lnTo>
                <a:lnTo>
                  <a:pt x="4304" y="9969"/>
                </a:lnTo>
                <a:lnTo>
                  <a:pt x="4105" y="9501"/>
                </a:lnTo>
                <a:lnTo>
                  <a:pt x="4009" y="9002"/>
                </a:lnTo>
                <a:lnTo>
                  <a:pt x="4020" y="8493"/>
                </a:lnTo>
                <a:lnTo>
                  <a:pt x="4138" y="7998"/>
                </a:lnTo>
                <a:lnTo>
                  <a:pt x="4358" y="7540"/>
                </a:lnTo>
                <a:lnTo>
                  <a:pt x="4669" y="7137"/>
                </a:lnTo>
                <a:lnTo>
                  <a:pt x="5059" y="6810"/>
                </a:lnTo>
                <a:lnTo>
                  <a:pt x="5508" y="6572"/>
                </a:lnTo>
                <a:lnTo>
                  <a:pt x="5998" y="6434"/>
                </a:lnTo>
                <a:lnTo>
                  <a:pt x="6506" y="6402"/>
                </a:lnTo>
                <a:lnTo>
                  <a:pt x="7009" y="6478"/>
                </a:lnTo>
                <a:lnTo>
                  <a:pt x="7484" y="6659"/>
                </a:lnTo>
                <a:lnTo>
                  <a:pt x="7911" y="6935"/>
                </a:lnTo>
                <a:lnTo>
                  <a:pt x="8270" y="7296"/>
                </a:lnTo>
                <a:lnTo>
                  <a:pt x="8545" y="7724"/>
                </a:lnTo>
                <a:lnTo>
                  <a:pt x="8724" y="8200"/>
                </a:lnTo>
                <a:lnTo>
                  <a:pt x="8783" y="8357"/>
                </a:lnTo>
                <a:lnTo>
                  <a:pt x="8872" y="8498"/>
                </a:lnTo>
                <a:lnTo>
                  <a:pt x="8990" y="8617"/>
                </a:lnTo>
                <a:lnTo>
                  <a:pt x="9129" y="8710"/>
                </a:lnTo>
                <a:lnTo>
                  <a:pt x="9285" y="8771"/>
                </a:lnTo>
                <a:lnTo>
                  <a:pt x="9450" y="8799"/>
                </a:lnTo>
                <a:lnTo>
                  <a:pt x="9617" y="8792"/>
                </a:lnTo>
                <a:lnTo>
                  <a:pt x="9779" y="8750"/>
                </a:lnTo>
                <a:lnTo>
                  <a:pt x="9929" y="8675"/>
                </a:lnTo>
                <a:lnTo>
                  <a:pt x="10060" y="8571"/>
                </a:lnTo>
                <a:lnTo>
                  <a:pt x="10166" y="8442"/>
                </a:lnTo>
                <a:lnTo>
                  <a:pt x="10244" y="8294"/>
                </a:lnTo>
                <a:lnTo>
                  <a:pt x="10288" y="8133"/>
                </a:lnTo>
                <a:lnTo>
                  <a:pt x="10299" y="7966"/>
                </a:lnTo>
                <a:lnTo>
                  <a:pt x="10274" y="7800"/>
                </a:lnTo>
                <a:lnTo>
                  <a:pt x="9965" y="6984"/>
                </a:lnTo>
                <a:lnTo>
                  <a:pt x="9485" y="6254"/>
                </a:lnTo>
                <a:lnTo>
                  <a:pt x="8859" y="5645"/>
                </a:lnTo>
                <a:lnTo>
                  <a:pt x="8116" y="5187"/>
                </a:lnTo>
                <a:lnTo>
                  <a:pt x="7291" y="4901"/>
                </a:lnTo>
                <a:lnTo>
                  <a:pt x="6424" y="4801"/>
                </a:lnTo>
                <a:lnTo>
                  <a:pt x="5555" y="4891"/>
                </a:lnTo>
                <a:lnTo>
                  <a:pt x="4727" y="5168"/>
                </a:lnTo>
                <a:lnTo>
                  <a:pt x="3979" y="5618"/>
                </a:lnTo>
                <a:lnTo>
                  <a:pt x="3346" y="6219"/>
                </a:lnTo>
                <a:lnTo>
                  <a:pt x="2859" y="6944"/>
                </a:lnTo>
                <a:lnTo>
                  <a:pt x="2540" y="7757"/>
                </a:lnTo>
                <a:lnTo>
                  <a:pt x="2405" y="8619"/>
                </a:lnTo>
                <a:lnTo>
                  <a:pt x="2461" y="9491"/>
                </a:lnTo>
                <a:lnTo>
                  <a:pt x="2705" y="10329"/>
                </a:lnTo>
                <a:lnTo>
                  <a:pt x="3124" y="11095"/>
                </a:lnTo>
                <a:lnTo>
                  <a:pt x="3700" y="11751"/>
                </a:lnTo>
                <a:lnTo>
                  <a:pt x="3171" y="12009"/>
                </a:lnTo>
                <a:lnTo>
                  <a:pt x="2665" y="12311"/>
                </a:lnTo>
                <a:lnTo>
                  <a:pt x="2188" y="12656"/>
                </a:lnTo>
                <a:lnTo>
                  <a:pt x="1743" y="13041"/>
                </a:lnTo>
                <a:lnTo>
                  <a:pt x="1332" y="13463"/>
                </a:lnTo>
                <a:lnTo>
                  <a:pt x="960" y="13919"/>
                </a:lnTo>
                <a:lnTo>
                  <a:pt x="874" y="14063"/>
                </a:lnTo>
                <a:lnTo>
                  <a:pt x="820" y="14221"/>
                </a:lnTo>
                <a:lnTo>
                  <a:pt x="800" y="14387"/>
                </a:lnTo>
                <a:lnTo>
                  <a:pt x="815" y="14554"/>
                </a:lnTo>
                <a:lnTo>
                  <a:pt x="864" y="14714"/>
                </a:lnTo>
                <a:lnTo>
                  <a:pt x="945" y="14860"/>
                </a:lnTo>
                <a:lnTo>
                  <a:pt x="1055" y="14986"/>
                </a:lnTo>
                <a:lnTo>
                  <a:pt x="1189" y="15086"/>
                </a:lnTo>
                <a:lnTo>
                  <a:pt x="1341" y="15157"/>
                </a:lnTo>
                <a:lnTo>
                  <a:pt x="1504" y="15194"/>
                </a:lnTo>
                <a:lnTo>
                  <a:pt x="1671" y="15197"/>
                </a:lnTo>
                <a:lnTo>
                  <a:pt x="1835" y="15164"/>
                </a:lnTo>
                <a:lnTo>
                  <a:pt x="1989" y="15099"/>
                </a:lnTo>
                <a:lnTo>
                  <a:pt x="2126" y="15003"/>
                </a:lnTo>
                <a:lnTo>
                  <a:pt x="2240" y="14880"/>
                </a:lnTo>
                <a:lnTo>
                  <a:pt x="2768" y="14275"/>
                </a:lnTo>
                <a:lnTo>
                  <a:pt x="3384" y="13759"/>
                </a:lnTo>
                <a:lnTo>
                  <a:pt x="4072" y="13345"/>
                </a:lnTo>
                <a:lnTo>
                  <a:pt x="4817" y="13042"/>
                </a:lnTo>
                <a:lnTo>
                  <a:pt x="5599" y="12859"/>
                </a:lnTo>
                <a:lnTo>
                  <a:pt x="6400" y="12800"/>
                </a:lnTo>
                <a:lnTo>
                  <a:pt x="6578" y="12780"/>
                </a:lnTo>
                <a:lnTo>
                  <a:pt x="6747" y="12721"/>
                </a:lnTo>
                <a:lnTo>
                  <a:pt x="6899" y="12625"/>
                </a:lnTo>
                <a:lnTo>
                  <a:pt x="7025" y="12499"/>
                </a:lnTo>
                <a:lnTo>
                  <a:pt x="7121" y="12347"/>
                </a:lnTo>
                <a:lnTo>
                  <a:pt x="7180" y="12178"/>
                </a:lnTo>
                <a:lnTo>
                  <a:pt x="7200" y="12000"/>
                </a:lnTo>
                <a:close/>
              </a:path>
            </a:pathLst>
          </a:custGeom>
          <a:solidFill>
            <a:srgbClr val="664092"/>
          </a:solidFill>
          <a:ln>
            <a:noFill/>
          </a:ln>
        </p:spPr>
        <p:txBody>
          <a:bodyPr rtlCol="0" anchor="ctr"/>
          <a:lstStyle/>
          <a:p>
            <a:pPr algn="ctr"/>
          </a:p>
        </p:txBody>
      </p:sp>
      <p:sp>
        <p:nvSpPr>
          <p:cNvPr id="10" name="TextBox 9"/>
          <p:cNvSpPr txBox="1"/>
          <p:nvPr/>
        </p:nvSpPr>
        <p:spPr>
          <a:xfrm>
            <a:off x="1240808" y="1592900"/>
            <a:ext cx="1200000" cy="600000"/>
          </a:xfrm>
          <a:prstGeom prst="rect">
            <a:avLst/>
          </a:prstGeom>
          <a:noFill/>
        </p:spPr>
        <p:txBody>
          <a:bodyPr wrap="square" lIns="0" rIns="0" tIns="0" bIns="0" anchor="ctr">
            <a:spAutoFit/>
          </a:bodyPr>
          <a:lstStyle/>
          <a:p>
            <a:pPr algn="l">
              <a:lnSpc>
                <a:spcPct val="100000"/>
              </a:lnSpc>
              <a:spcAft>
                <a:spcPts val="0"/>
              </a:spcAft>
            </a:pPr>
            <a:r>
              <a:rPr sz="1100" b="1" i="0">
                <a:solidFill>
                  <a:srgbClr val="FFFFFF"/>
                </a:solidFill>
                <a:latin typeface="Arial"/>
              </a:rPr>
              <a:t>COMPRENDER</a:t>
            </a:r>
          </a:p>
        </p:txBody>
      </p:sp>
      <p:sp>
        <p:nvSpPr>
          <p:cNvPr id="11" name="Rounded Rectangle 10"/>
          <p:cNvSpPr/>
          <p:nvPr/>
        </p:nvSpPr>
        <p:spPr>
          <a:xfrm>
            <a:off x="4367191" y="1592900"/>
            <a:ext cx="1850000" cy="600000"/>
          </a:xfrm>
          <a:prstGeom prst="roundRect">
            <a:avLst>
              <a:gd name="adj" fmla="val 50000"/>
            </a:avLst>
          </a:prstGeom>
          <a:solidFill>
            <a:srgbClr val="3560D6"/>
          </a:solidFill>
          <a:ln>
            <a:noFill/>
          </a:ln>
        </p:spPr>
        <p:txBody>
          <a:bodyPr rtlCol="0" anchor="ctr"/>
          <a:lstStyle/>
          <a:p>
            <a:pPr algn="ctr"/>
          </a:p>
        </p:txBody>
      </p:sp>
      <p:sp>
        <p:nvSpPr>
          <p:cNvPr id="12" name="Oval 11"/>
          <p:cNvSpPr/>
          <p:nvPr/>
        </p:nvSpPr>
        <p:spPr>
          <a:xfrm>
            <a:off x="4457191" y="1682900"/>
            <a:ext cx="420000" cy="420000"/>
          </a:xfrm>
          <a:prstGeom prst="ellipse">
            <a:avLst/>
          </a:prstGeom>
          <a:solidFill>
            <a:srgbClr val="FFFFFF"/>
          </a:solidFill>
          <a:ln>
            <a:noFill/>
          </a:ln>
        </p:spPr>
        <p:txBody>
          <a:bodyPr rtlCol="0" anchor="ctr"/>
          <a:lstStyle/>
          <a:p>
            <a:pPr algn="ctr"/>
          </a:p>
        </p:txBody>
      </p:sp>
      <p:sp>
        <p:nvSpPr>
          <p:cNvPr id="13" name="icono lightbulb"/>
          <p:cNvSpPr/>
          <p:nvPr/>
        </p:nvSpPr>
        <p:spPr>
          <a:xfrm>
            <a:off x="4549591" y="1775300"/>
            <a:ext cx="235200" cy="235200"/>
          </a:xfrm>
          <a:custGeom>
            <a:avLst/>
            <a:gdLst/>
            <a:ahLst/>
            <a:cxnLst/>
            <a:rect l="0" t="0" r="r" b="b"/>
            <a:pathLst>
              <a:path w="25600" h="25600">
                <a:moveTo>
                  <a:pt x="17600" y="23200"/>
                </a:moveTo>
                <a:lnTo>
                  <a:pt x="17580" y="23378"/>
                </a:lnTo>
                <a:lnTo>
                  <a:pt x="17521" y="23547"/>
                </a:lnTo>
                <a:lnTo>
                  <a:pt x="17425" y="23699"/>
                </a:lnTo>
                <a:lnTo>
                  <a:pt x="17299" y="23825"/>
                </a:lnTo>
                <a:lnTo>
                  <a:pt x="17147" y="23921"/>
                </a:lnTo>
                <a:lnTo>
                  <a:pt x="16978" y="23980"/>
                </a:lnTo>
                <a:lnTo>
                  <a:pt x="16800" y="24000"/>
                </a:lnTo>
                <a:lnTo>
                  <a:pt x="8800" y="24000"/>
                </a:lnTo>
                <a:lnTo>
                  <a:pt x="8634" y="23983"/>
                </a:lnTo>
                <a:lnTo>
                  <a:pt x="8475" y="23931"/>
                </a:lnTo>
                <a:lnTo>
                  <a:pt x="8330" y="23847"/>
                </a:lnTo>
                <a:lnTo>
                  <a:pt x="8205" y="23735"/>
                </a:lnTo>
                <a:lnTo>
                  <a:pt x="8107" y="23600"/>
                </a:lnTo>
                <a:lnTo>
                  <a:pt x="8039" y="23447"/>
                </a:lnTo>
                <a:lnTo>
                  <a:pt x="8004" y="23284"/>
                </a:lnTo>
                <a:lnTo>
                  <a:pt x="8004" y="23116"/>
                </a:lnTo>
                <a:lnTo>
                  <a:pt x="8039" y="22953"/>
                </a:lnTo>
                <a:lnTo>
                  <a:pt x="8107" y="22800"/>
                </a:lnTo>
                <a:lnTo>
                  <a:pt x="8205" y="22665"/>
                </a:lnTo>
                <a:lnTo>
                  <a:pt x="8330" y="22553"/>
                </a:lnTo>
                <a:lnTo>
                  <a:pt x="8475" y="22469"/>
                </a:lnTo>
                <a:lnTo>
                  <a:pt x="8634" y="22417"/>
                </a:lnTo>
                <a:lnTo>
                  <a:pt x="8800" y="22400"/>
                </a:lnTo>
                <a:lnTo>
                  <a:pt x="16800" y="22400"/>
                </a:lnTo>
                <a:lnTo>
                  <a:pt x="16978" y="22420"/>
                </a:lnTo>
                <a:lnTo>
                  <a:pt x="17147" y="22479"/>
                </a:lnTo>
                <a:lnTo>
                  <a:pt x="17299" y="22575"/>
                </a:lnTo>
                <a:lnTo>
                  <a:pt x="17425" y="22701"/>
                </a:lnTo>
                <a:lnTo>
                  <a:pt x="17521" y="22853"/>
                </a:lnTo>
                <a:lnTo>
                  <a:pt x="17580" y="23022"/>
                </a:lnTo>
                <a:lnTo>
                  <a:pt x="17600" y="23200"/>
                </a:lnTo>
                <a:close/>
                <a:moveTo>
                  <a:pt x="21600" y="10400"/>
                </a:moveTo>
                <a:lnTo>
                  <a:pt x="21503" y="11723"/>
                </a:lnTo>
                <a:lnTo>
                  <a:pt x="21207" y="13016"/>
                </a:lnTo>
                <a:lnTo>
                  <a:pt x="20719" y="14250"/>
                </a:lnTo>
                <a:lnTo>
                  <a:pt x="20050" y="15396"/>
                </a:lnTo>
                <a:lnTo>
                  <a:pt x="19216" y="16427"/>
                </a:lnTo>
                <a:lnTo>
                  <a:pt x="18236" y="17321"/>
                </a:lnTo>
                <a:lnTo>
                  <a:pt x="18052" y="17485"/>
                </a:lnTo>
                <a:lnTo>
                  <a:pt x="17896" y="17675"/>
                </a:lnTo>
                <a:lnTo>
                  <a:pt x="17770" y="17887"/>
                </a:lnTo>
                <a:lnTo>
                  <a:pt x="17677" y="18115"/>
                </a:lnTo>
                <a:lnTo>
                  <a:pt x="17620" y="18355"/>
                </a:lnTo>
                <a:lnTo>
                  <a:pt x="17600" y="18600"/>
                </a:lnTo>
                <a:lnTo>
                  <a:pt x="17600" y="19200"/>
                </a:lnTo>
                <a:lnTo>
                  <a:pt x="17560" y="19556"/>
                </a:lnTo>
                <a:lnTo>
                  <a:pt x="17442" y="19894"/>
                </a:lnTo>
                <a:lnTo>
                  <a:pt x="17251" y="20198"/>
                </a:lnTo>
                <a:lnTo>
                  <a:pt x="16998" y="20451"/>
                </a:lnTo>
                <a:lnTo>
                  <a:pt x="16694" y="20642"/>
                </a:lnTo>
                <a:lnTo>
                  <a:pt x="16356" y="20760"/>
                </a:lnTo>
                <a:lnTo>
                  <a:pt x="16000" y="20800"/>
                </a:lnTo>
                <a:lnTo>
                  <a:pt x="9600" y="20800"/>
                </a:lnTo>
                <a:lnTo>
                  <a:pt x="9244" y="20760"/>
                </a:lnTo>
                <a:lnTo>
                  <a:pt x="8906" y="20642"/>
                </a:lnTo>
                <a:lnTo>
                  <a:pt x="8602" y="20451"/>
                </a:lnTo>
                <a:lnTo>
                  <a:pt x="8349" y="20198"/>
                </a:lnTo>
                <a:lnTo>
                  <a:pt x="8158" y="19894"/>
                </a:lnTo>
                <a:lnTo>
                  <a:pt x="8040" y="19556"/>
                </a:lnTo>
                <a:lnTo>
                  <a:pt x="8000" y="19200"/>
                </a:lnTo>
                <a:lnTo>
                  <a:pt x="8000" y="18600"/>
                </a:lnTo>
                <a:lnTo>
                  <a:pt x="7981" y="18357"/>
                </a:lnTo>
                <a:lnTo>
                  <a:pt x="7926" y="18120"/>
                </a:lnTo>
                <a:lnTo>
                  <a:pt x="7836" y="17895"/>
                </a:lnTo>
                <a:lnTo>
                  <a:pt x="7712" y="17685"/>
                </a:lnTo>
                <a:lnTo>
                  <a:pt x="7558" y="17497"/>
                </a:lnTo>
                <a:lnTo>
                  <a:pt x="7377" y="17334"/>
                </a:lnTo>
                <a:lnTo>
                  <a:pt x="6399" y="16446"/>
                </a:lnTo>
                <a:lnTo>
                  <a:pt x="5565" y="15420"/>
                </a:lnTo>
                <a:lnTo>
                  <a:pt x="4895" y="14281"/>
                </a:lnTo>
                <a:lnTo>
                  <a:pt x="4404" y="13054"/>
                </a:lnTo>
                <a:lnTo>
                  <a:pt x="4104" y="11767"/>
                </a:lnTo>
                <a:lnTo>
                  <a:pt x="4000" y="10449"/>
                </a:lnTo>
                <a:cubicBezTo>
                  <a:pt x="3974" y="5683"/>
                  <a:pt x="7826" y="1714"/>
                  <a:pt x="12588" y="1600"/>
                </a:cubicBezTo>
                <a:lnTo>
                  <a:pt x="14581" y="1780"/>
                </a:lnTo>
                <a:lnTo>
                  <a:pt x="16482" y="2405"/>
                </a:lnTo>
                <a:lnTo>
                  <a:pt x="18192" y="3443"/>
                </a:lnTo>
                <a:lnTo>
                  <a:pt x="19624" y="4841"/>
                </a:lnTo>
                <a:lnTo>
                  <a:pt x="20703" y="6526"/>
                </a:lnTo>
                <a:lnTo>
                  <a:pt x="21373" y="8412"/>
                </a:lnTo>
                <a:lnTo>
                  <a:pt x="21600" y="10400"/>
                </a:lnTo>
                <a:close/>
                <a:moveTo>
                  <a:pt x="20000" y="10400"/>
                </a:moveTo>
                <a:lnTo>
                  <a:pt x="19814" y="8773"/>
                </a:lnTo>
                <a:lnTo>
                  <a:pt x="19266" y="7231"/>
                </a:lnTo>
                <a:lnTo>
                  <a:pt x="18383" y="5852"/>
                </a:lnTo>
                <a:lnTo>
                  <a:pt x="17212" y="4708"/>
                </a:lnTo>
                <a:lnTo>
                  <a:pt x="15812" y="3858"/>
                </a:lnTo>
                <a:lnTo>
                  <a:pt x="14257" y="3347"/>
                </a:lnTo>
                <a:lnTo>
                  <a:pt x="12626" y="3200"/>
                </a:lnTo>
                <a:cubicBezTo>
                  <a:pt x="8726" y="3292"/>
                  <a:pt x="5579" y="6539"/>
                  <a:pt x="5600" y="10439"/>
                </a:cubicBezTo>
                <a:lnTo>
                  <a:pt x="5685" y="11517"/>
                </a:lnTo>
                <a:lnTo>
                  <a:pt x="5931" y="12569"/>
                </a:lnTo>
                <a:lnTo>
                  <a:pt x="6333" y="13572"/>
                </a:lnTo>
                <a:lnTo>
                  <a:pt x="6881" y="14504"/>
                </a:lnTo>
                <a:lnTo>
                  <a:pt x="7564" y="15343"/>
                </a:lnTo>
                <a:lnTo>
                  <a:pt x="8364" y="16069"/>
                </a:lnTo>
                <a:lnTo>
                  <a:pt x="8724" y="16395"/>
                </a:lnTo>
                <a:lnTo>
                  <a:pt x="9030" y="16772"/>
                </a:lnTo>
                <a:lnTo>
                  <a:pt x="9275" y="17191"/>
                </a:lnTo>
                <a:lnTo>
                  <a:pt x="9455" y="17642"/>
                </a:lnTo>
                <a:lnTo>
                  <a:pt x="9564" y="18116"/>
                </a:lnTo>
                <a:lnTo>
                  <a:pt x="9600" y="18600"/>
                </a:lnTo>
                <a:lnTo>
                  <a:pt x="9600" y="19200"/>
                </a:lnTo>
                <a:lnTo>
                  <a:pt x="16000" y="19200"/>
                </a:lnTo>
                <a:lnTo>
                  <a:pt x="16000" y="18600"/>
                </a:lnTo>
                <a:lnTo>
                  <a:pt x="16038" y="18114"/>
                </a:lnTo>
                <a:lnTo>
                  <a:pt x="16149" y="17640"/>
                </a:lnTo>
                <a:lnTo>
                  <a:pt x="16330" y="17188"/>
                </a:lnTo>
                <a:lnTo>
                  <a:pt x="16578" y="16769"/>
                </a:lnTo>
                <a:lnTo>
                  <a:pt x="16886" y="16391"/>
                </a:lnTo>
                <a:lnTo>
                  <a:pt x="17247" y="16065"/>
                </a:lnTo>
                <a:lnTo>
                  <a:pt x="18049" y="15333"/>
                </a:lnTo>
                <a:lnTo>
                  <a:pt x="18732" y="14489"/>
                </a:lnTo>
                <a:lnTo>
                  <a:pt x="19279" y="13551"/>
                </a:lnTo>
                <a:lnTo>
                  <a:pt x="19679" y="12541"/>
                </a:lnTo>
                <a:lnTo>
                  <a:pt x="19921" y="11483"/>
                </a:lnTo>
                <a:lnTo>
                  <a:pt x="20000" y="10400"/>
                </a:lnTo>
                <a:close/>
                <a:moveTo>
                  <a:pt x="18389" y="9466"/>
                </a:moveTo>
                <a:lnTo>
                  <a:pt x="18068" y="8345"/>
                </a:lnTo>
                <a:lnTo>
                  <a:pt x="17529" y="7311"/>
                </a:lnTo>
                <a:lnTo>
                  <a:pt x="16792" y="6408"/>
                </a:lnTo>
                <a:lnTo>
                  <a:pt x="15888" y="5671"/>
                </a:lnTo>
                <a:lnTo>
                  <a:pt x="14854" y="5131"/>
                </a:lnTo>
                <a:lnTo>
                  <a:pt x="13733" y="4811"/>
                </a:lnTo>
                <a:lnTo>
                  <a:pt x="13566" y="4801"/>
                </a:lnTo>
                <a:lnTo>
                  <a:pt x="13401" y="4825"/>
                </a:lnTo>
                <a:lnTo>
                  <a:pt x="13244" y="4884"/>
                </a:lnTo>
                <a:lnTo>
                  <a:pt x="13103" y="4973"/>
                </a:lnTo>
                <a:lnTo>
                  <a:pt x="12983" y="5090"/>
                </a:lnTo>
                <a:lnTo>
                  <a:pt x="12891" y="5230"/>
                </a:lnTo>
                <a:lnTo>
                  <a:pt x="12829" y="5385"/>
                </a:lnTo>
                <a:lnTo>
                  <a:pt x="12801" y="5550"/>
                </a:lnTo>
                <a:lnTo>
                  <a:pt x="12809" y="5717"/>
                </a:lnTo>
                <a:lnTo>
                  <a:pt x="12850" y="5879"/>
                </a:lnTo>
                <a:lnTo>
                  <a:pt x="12925" y="6029"/>
                </a:lnTo>
                <a:lnTo>
                  <a:pt x="13029" y="6160"/>
                </a:lnTo>
                <a:lnTo>
                  <a:pt x="13158" y="6267"/>
                </a:lnTo>
                <a:lnTo>
                  <a:pt x="13306" y="6344"/>
                </a:lnTo>
                <a:lnTo>
                  <a:pt x="13467" y="6389"/>
                </a:lnTo>
                <a:cubicBezTo>
                  <a:pt x="15124" y="6668"/>
                  <a:pt x="16530" y="8074"/>
                  <a:pt x="16811" y="9734"/>
                </a:cubicBezTo>
                <a:lnTo>
                  <a:pt x="16864" y="9913"/>
                </a:lnTo>
                <a:lnTo>
                  <a:pt x="16956" y="10075"/>
                </a:lnTo>
                <a:lnTo>
                  <a:pt x="17084" y="10211"/>
                </a:lnTo>
                <a:lnTo>
                  <a:pt x="17239" y="10314"/>
                </a:lnTo>
                <a:lnTo>
                  <a:pt x="17415" y="10378"/>
                </a:lnTo>
                <a:lnTo>
                  <a:pt x="17600" y="10400"/>
                </a:lnTo>
                <a:lnTo>
                  <a:pt x="17623" y="10400"/>
                </a:lnTo>
                <a:lnTo>
                  <a:pt x="17645" y="10399"/>
                </a:lnTo>
                <a:lnTo>
                  <a:pt x="17668" y="10397"/>
                </a:lnTo>
                <a:lnTo>
                  <a:pt x="17690" y="10395"/>
                </a:lnTo>
                <a:lnTo>
                  <a:pt x="17713" y="10392"/>
                </a:lnTo>
                <a:lnTo>
                  <a:pt x="17735" y="10389"/>
                </a:lnTo>
                <a:lnTo>
                  <a:pt x="17907" y="10339"/>
                </a:lnTo>
                <a:lnTo>
                  <a:pt x="18064" y="10253"/>
                </a:lnTo>
                <a:lnTo>
                  <a:pt x="18197" y="10133"/>
                </a:lnTo>
                <a:lnTo>
                  <a:pt x="18301" y="9987"/>
                </a:lnTo>
                <a:lnTo>
                  <a:pt x="18369" y="9821"/>
                </a:lnTo>
                <a:lnTo>
                  <a:pt x="18399" y="9645"/>
                </a:lnTo>
                <a:lnTo>
                  <a:pt x="18389" y="9466"/>
                </a:lnTo>
                <a:close/>
              </a:path>
            </a:pathLst>
          </a:custGeom>
          <a:solidFill>
            <a:srgbClr val="3560D6"/>
          </a:solidFill>
          <a:ln>
            <a:noFill/>
          </a:ln>
        </p:spPr>
        <p:txBody>
          <a:bodyPr rtlCol="0" anchor="ctr"/>
          <a:lstStyle/>
          <a:p>
            <a:pPr algn="ctr"/>
          </a:p>
        </p:txBody>
      </p:sp>
      <p:sp>
        <p:nvSpPr>
          <p:cNvPr id="14" name="TextBox 13"/>
          <p:cNvSpPr txBox="1"/>
          <p:nvPr/>
        </p:nvSpPr>
        <p:spPr>
          <a:xfrm>
            <a:off x="4967191" y="1592900"/>
            <a:ext cx="1200000" cy="600000"/>
          </a:xfrm>
          <a:prstGeom prst="rect">
            <a:avLst/>
          </a:prstGeom>
          <a:noFill/>
        </p:spPr>
        <p:txBody>
          <a:bodyPr wrap="square" lIns="0" rIns="0" tIns="0" bIns="0" anchor="ctr">
            <a:spAutoFit/>
          </a:bodyPr>
          <a:lstStyle/>
          <a:p>
            <a:pPr algn="l">
              <a:lnSpc>
                <a:spcPct val="100000"/>
              </a:lnSpc>
              <a:spcAft>
                <a:spcPts val="0"/>
              </a:spcAft>
            </a:pPr>
            <a:r>
              <a:rPr sz="1100" b="1" i="0">
                <a:solidFill>
                  <a:srgbClr val="FFFFFF"/>
                </a:solidFill>
                <a:latin typeface="Arial"/>
              </a:rPr>
              <a:t>CREAR</a:t>
            </a:r>
          </a:p>
        </p:txBody>
      </p:sp>
      <p:sp>
        <p:nvSpPr>
          <p:cNvPr id="15" name="Rounded Rectangle 14"/>
          <p:cNvSpPr/>
          <p:nvPr/>
        </p:nvSpPr>
        <p:spPr>
          <a:xfrm>
            <a:off x="4367191" y="3392900"/>
            <a:ext cx="1850000" cy="600000"/>
          </a:xfrm>
          <a:prstGeom prst="roundRect">
            <a:avLst>
              <a:gd name="adj" fmla="val 50000"/>
            </a:avLst>
          </a:prstGeom>
          <a:solidFill>
            <a:srgbClr val="024791"/>
          </a:solidFill>
          <a:ln>
            <a:noFill/>
          </a:ln>
        </p:spPr>
        <p:txBody>
          <a:bodyPr rtlCol="0" anchor="ctr"/>
          <a:lstStyle/>
          <a:p>
            <a:pPr algn="ctr"/>
          </a:p>
        </p:txBody>
      </p:sp>
      <p:sp>
        <p:nvSpPr>
          <p:cNvPr id="16" name="Oval 15"/>
          <p:cNvSpPr/>
          <p:nvPr/>
        </p:nvSpPr>
        <p:spPr>
          <a:xfrm>
            <a:off x="4457191" y="3482900"/>
            <a:ext cx="420000" cy="420000"/>
          </a:xfrm>
          <a:prstGeom prst="ellipse">
            <a:avLst/>
          </a:prstGeom>
          <a:solidFill>
            <a:srgbClr val="FFFFFF"/>
          </a:solidFill>
          <a:ln>
            <a:noFill/>
          </a:ln>
        </p:spPr>
        <p:txBody>
          <a:bodyPr rtlCol="0" anchor="ctr"/>
          <a:lstStyle/>
          <a:p>
            <a:pPr algn="ctr"/>
          </a:p>
        </p:txBody>
      </p:sp>
      <p:sp>
        <p:nvSpPr>
          <p:cNvPr id="17" name="icono flask"/>
          <p:cNvSpPr/>
          <p:nvPr/>
        </p:nvSpPr>
        <p:spPr>
          <a:xfrm>
            <a:off x="4549591" y="3575300"/>
            <a:ext cx="235200" cy="235200"/>
          </a:xfrm>
          <a:custGeom>
            <a:avLst/>
            <a:gdLst/>
            <a:ahLst/>
            <a:cxnLst/>
            <a:rect l="0" t="0" r="r" b="b"/>
            <a:pathLst>
              <a:path w="25600" h="25600">
                <a:moveTo>
                  <a:pt x="22169" y="19977"/>
                </a:moveTo>
                <a:lnTo>
                  <a:pt x="16000" y="9692"/>
                </a:lnTo>
                <a:lnTo>
                  <a:pt x="16000" y="4000"/>
                </a:lnTo>
                <a:lnTo>
                  <a:pt x="16800" y="4000"/>
                </a:lnTo>
                <a:lnTo>
                  <a:pt x="16966" y="3983"/>
                </a:lnTo>
                <a:lnTo>
                  <a:pt x="17125" y="3931"/>
                </a:lnTo>
                <a:lnTo>
                  <a:pt x="17270" y="3847"/>
                </a:lnTo>
                <a:lnTo>
                  <a:pt x="17395" y="3735"/>
                </a:lnTo>
                <a:lnTo>
                  <a:pt x="17493" y="3600"/>
                </a:lnTo>
                <a:lnTo>
                  <a:pt x="17561" y="3447"/>
                </a:lnTo>
                <a:lnTo>
                  <a:pt x="17596" y="3284"/>
                </a:lnTo>
                <a:lnTo>
                  <a:pt x="17596" y="3116"/>
                </a:lnTo>
                <a:lnTo>
                  <a:pt x="17561" y="2953"/>
                </a:lnTo>
                <a:lnTo>
                  <a:pt x="17493" y="2800"/>
                </a:lnTo>
                <a:lnTo>
                  <a:pt x="17395" y="2665"/>
                </a:lnTo>
                <a:lnTo>
                  <a:pt x="17270" y="2553"/>
                </a:lnTo>
                <a:lnTo>
                  <a:pt x="17125" y="2469"/>
                </a:lnTo>
                <a:lnTo>
                  <a:pt x="16966" y="2417"/>
                </a:lnTo>
                <a:lnTo>
                  <a:pt x="16800" y="2400"/>
                </a:lnTo>
                <a:lnTo>
                  <a:pt x="8800" y="2400"/>
                </a:lnTo>
                <a:lnTo>
                  <a:pt x="8634" y="2417"/>
                </a:lnTo>
                <a:lnTo>
                  <a:pt x="8475" y="2469"/>
                </a:lnTo>
                <a:lnTo>
                  <a:pt x="8330" y="2553"/>
                </a:lnTo>
                <a:lnTo>
                  <a:pt x="8205" y="2665"/>
                </a:lnTo>
                <a:lnTo>
                  <a:pt x="8107" y="2800"/>
                </a:lnTo>
                <a:lnTo>
                  <a:pt x="8039" y="2953"/>
                </a:lnTo>
                <a:lnTo>
                  <a:pt x="8004" y="3116"/>
                </a:lnTo>
                <a:lnTo>
                  <a:pt x="8004" y="3284"/>
                </a:lnTo>
                <a:lnTo>
                  <a:pt x="8039" y="3447"/>
                </a:lnTo>
                <a:lnTo>
                  <a:pt x="8107" y="3600"/>
                </a:lnTo>
                <a:lnTo>
                  <a:pt x="8205" y="3735"/>
                </a:lnTo>
                <a:lnTo>
                  <a:pt x="8330" y="3847"/>
                </a:lnTo>
                <a:lnTo>
                  <a:pt x="8475" y="3931"/>
                </a:lnTo>
                <a:lnTo>
                  <a:pt x="8634" y="3983"/>
                </a:lnTo>
                <a:lnTo>
                  <a:pt x="8800" y="4000"/>
                </a:lnTo>
                <a:lnTo>
                  <a:pt x="9600" y="4000"/>
                </a:lnTo>
                <a:lnTo>
                  <a:pt x="9600" y="9692"/>
                </a:lnTo>
                <a:lnTo>
                  <a:pt x="3431" y="19977"/>
                </a:lnTo>
                <a:lnTo>
                  <a:pt x="3289" y="20282"/>
                </a:lnTo>
                <a:lnTo>
                  <a:pt x="3214" y="20611"/>
                </a:lnTo>
                <a:lnTo>
                  <a:pt x="3210" y="20948"/>
                </a:lnTo>
                <a:lnTo>
                  <a:pt x="3276" y="21278"/>
                </a:lnTo>
                <a:lnTo>
                  <a:pt x="3410" y="21587"/>
                </a:lnTo>
                <a:lnTo>
                  <a:pt x="3606" y="21861"/>
                </a:lnTo>
                <a:lnTo>
                  <a:pt x="3854" y="22088"/>
                </a:lnTo>
                <a:lnTo>
                  <a:pt x="4145" y="22258"/>
                </a:lnTo>
                <a:lnTo>
                  <a:pt x="4465" y="22364"/>
                </a:lnTo>
                <a:lnTo>
                  <a:pt x="4800" y="22400"/>
                </a:lnTo>
                <a:lnTo>
                  <a:pt x="20800" y="22400"/>
                </a:lnTo>
                <a:lnTo>
                  <a:pt x="21135" y="22364"/>
                </a:lnTo>
                <a:lnTo>
                  <a:pt x="21456" y="22259"/>
                </a:lnTo>
                <a:lnTo>
                  <a:pt x="21747" y="22090"/>
                </a:lnTo>
                <a:lnTo>
                  <a:pt x="21996" y="21863"/>
                </a:lnTo>
                <a:lnTo>
                  <a:pt x="22192" y="21588"/>
                </a:lnTo>
                <a:lnTo>
                  <a:pt x="22326" y="21279"/>
                </a:lnTo>
                <a:lnTo>
                  <a:pt x="22393" y="20949"/>
                </a:lnTo>
                <a:lnTo>
                  <a:pt x="22389" y="20612"/>
                </a:lnTo>
                <a:lnTo>
                  <a:pt x="22314" y="20283"/>
                </a:lnTo>
                <a:lnTo>
                  <a:pt x="22172" y="19977"/>
                </a:lnTo>
                <a:lnTo>
                  <a:pt x="22169" y="19977"/>
                </a:lnTo>
                <a:close/>
                <a:moveTo>
                  <a:pt x="11086" y="10325"/>
                </a:moveTo>
                <a:lnTo>
                  <a:pt x="11120" y="10262"/>
                </a:lnTo>
                <a:lnTo>
                  <a:pt x="11149" y="10196"/>
                </a:lnTo>
                <a:lnTo>
                  <a:pt x="11171" y="10127"/>
                </a:lnTo>
                <a:lnTo>
                  <a:pt x="11187" y="10057"/>
                </a:lnTo>
                <a:lnTo>
                  <a:pt x="11197" y="9986"/>
                </a:lnTo>
                <a:lnTo>
                  <a:pt x="11200" y="9914"/>
                </a:lnTo>
                <a:lnTo>
                  <a:pt x="11200" y="4000"/>
                </a:lnTo>
                <a:lnTo>
                  <a:pt x="14400" y="4000"/>
                </a:lnTo>
                <a:lnTo>
                  <a:pt x="14400" y="9914"/>
                </a:lnTo>
                <a:lnTo>
                  <a:pt x="14403" y="9986"/>
                </a:lnTo>
                <a:lnTo>
                  <a:pt x="14413" y="10057"/>
                </a:lnTo>
                <a:lnTo>
                  <a:pt x="14429" y="10127"/>
                </a:lnTo>
                <a:lnTo>
                  <a:pt x="14451" y="10196"/>
                </a:lnTo>
                <a:lnTo>
                  <a:pt x="14480" y="10262"/>
                </a:lnTo>
                <a:lnTo>
                  <a:pt x="14514" y="10325"/>
                </a:lnTo>
                <a:lnTo>
                  <a:pt x="18336" y="16700"/>
                </a:lnTo>
                <a:cubicBezTo>
                  <a:pt x="17136" y="16937"/>
                  <a:pt x="15429" y="16837"/>
                  <a:pt x="13161" y="15689"/>
                </a:cubicBezTo>
                <a:cubicBezTo>
                  <a:pt x="11570" y="14884"/>
                  <a:pt x="10056" y="14457"/>
                  <a:pt x="8639" y="14408"/>
                </a:cubicBezTo>
                <a:lnTo>
                  <a:pt x="11086" y="10325"/>
                </a:lnTo>
                <a:close/>
                <a:moveTo>
                  <a:pt x="4800" y="20800"/>
                </a:moveTo>
                <a:lnTo>
                  <a:pt x="7654" y="16042"/>
                </a:lnTo>
                <a:cubicBezTo>
                  <a:pt x="9079" y="15868"/>
                  <a:pt x="10685" y="16227"/>
                  <a:pt x="12436" y="17114"/>
                </a:cubicBezTo>
                <a:cubicBezTo>
                  <a:pt x="14336" y="18075"/>
                  <a:pt x="15936" y="18402"/>
                  <a:pt x="17236" y="18402"/>
                </a:cubicBezTo>
                <a:lnTo>
                  <a:pt x="17566" y="18396"/>
                </a:lnTo>
                <a:lnTo>
                  <a:pt x="17895" y="18374"/>
                </a:lnTo>
                <a:lnTo>
                  <a:pt x="18223" y="18336"/>
                </a:lnTo>
                <a:lnTo>
                  <a:pt x="18549" y="18284"/>
                </a:lnTo>
                <a:lnTo>
                  <a:pt x="18872" y="18215"/>
                </a:lnTo>
                <a:lnTo>
                  <a:pt x="19191" y="18132"/>
                </a:lnTo>
                <a:lnTo>
                  <a:pt x="20800" y="20800"/>
                </a:lnTo>
                <a:lnTo>
                  <a:pt x="4800" y="20800"/>
                </a:lnTo>
                <a:close/>
              </a:path>
            </a:pathLst>
          </a:custGeom>
          <a:solidFill>
            <a:srgbClr val="024791"/>
          </a:solidFill>
          <a:ln>
            <a:noFill/>
          </a:ln>
        </p:spPr>
        <p:txBody>
          <a:bodyPr rtlCol="0" anchor="ctr"/>
          <a:lstStyle/>
          <a:p>
            <a:pPr algn="ctr"/>
          </a:p>
        </p:txBody>
      </p:sp>
      <p:sp>
        <p:nvSpPr>
          <p:cNvPr id="18" name="TextBox 17"/>
          <p:cNvSpPr txBox="1"/>
          <p:nvPr/>
        </p:nvSpPr>
        <p:spPr>
          <a:xfrm>
            <a:off x="4967191" y="3392900"/>
            <a:ext cx="1200000" cy="600000"/>
          </a:xfrm>
          <a:prstGeom prst="rect">
            <a:avLst/>
          </a:prstGeom>
          <a:noFill/>
        </p:spPr>
        <p:txBody>
          <a:bodyPr wrap="square" lIns="0" rIns="0" tIns="0" bIns="0" anchor="ctr">
            <a:spAutoFit/>
          </a:bodyPr>
          <a:lstStyle/>
          <a:p>
            <a:pPr algn="l">
              <a:lnSpc>
                <a:spcPct val="100000"/>
              </a:lnSpc>
              <a:spcAft>
                <a:spcPts val="0"/>
              </a:spcAft>
            </a:pPr>
            <a:r>
              <a:rPr sz="1100" b="1" i="0">
                <a:solidFill>
                  <a:srgbClr val="FFFFFF"/>
                </a:solidFill>
                <a:latin typeface="Arial"/>
              </a:rPr>
              <a:t>PROBAR</a:t>
            </a:r>
          </a:p>
        </p:txBody>
      </p:sp>
      <p:sp>
        <p:nvSpPr>
          <p:cNvPr id="19" name="Rounded Rectangle 18"/>
          <p:cNvSpPr/>
          <p:nvPr/>
        </p:nvSpPr>
        <p:spPr>
          <a:xfrm>
            <a:off x="640808" y="3392900"/>
            <a:ext cx="1850000" cy="600000"/>
          </a:xfrm>
          <a:prstGeom prst="roundRect">
            <a:avLst>
              <a:gd name="adj" fmla="val 50000"/>
            </a:avLst>
          </a:prstGeom>
          <a:solidFill>
            <a:srgbClr val="A71989"/>
          </a:solidFill>
          <a:ln>
            <a:noFill/>
          </a:ln>
        </p:spPr>
        <p:txBody>
          <a:bodyPr rtlCol="0" anchor="ctr"/>
          <a:lstStyle/>
          <a:p>
            <a:pPr algn="ctr"/>
          </a:p>
        </p:txBody>
      </p:sp>
      <p:sp>
        <p:nvSpPr>
          <p:cNvPr id="20" name="Oval 19"/>
          <p:cNvSpPr/>
          <p:nvPr/>
        </p:nvSpPr>
        <p:spPr>
          <a:xfrm>
            <a:off x="730808" y="3482900"/>
            <a:ext cx="420000" cy="420000"/>
          </a:xfrm>
          <a:prstGeom prst="ellipse">
            <a:avLst/>
          </a:prstGeom>
          <a:solidFill>
            <a:srgbClr val="FFFFFF"/>
          </a:solidFill>
          <a:ln>
            <a:noFill/>
          </a:ln>
        </p:spPr>
        <p:txBody>
          <a:bodyPr rtlCol="0" anchor="ctr"/>
          <a:lstStyle/>
          <a:p>
            <a:pPr algn="ctr"/>
          </a:p>
        </p:txBody>
      </p:sp>
      <p:sp>
        <p:nvSpPr>
          <p:cNvPr id="21" name="icono sliders-horizontal"/>
          <p:cNvSpPr/>
          <p:nvPr/>
        </p:nvSpPr>
        <p:spPr>
          <a:xfrm>
            <a:off x="823208" y="3575300"/>
            <a:ext cx="235200" cy="235200"/>
          </a:xfrm>
          <a:custGeom>
            <a:avLst/>
            <a:gdLst/>
            <a:ahLst/>
            <a:cxnLst/>
            <a:rect l="0" t="0" r="r" b="b"/>
            <a:pathLst>
              <a:path w="25600" h="25600">
                <a:moveTo>
                  <a:pt x="4000" y="8800"/>
                </a:moveTo>
                <a:lnTo>
                  <a:pt x="7300" y="8800"/>
                </a:lnTo>
                <a:lnTo>
                  <a:pt x="7548" y="9457"/>
                </a:lnTo>
                <a:lnTo>
                  <a:pt x="7933" y="10045"/>
                </a:lnTo>
                <a:lnTo>
                  <a:pt x="8438" y="10534"/>
                </a:lnTo>
                <a:lnTo>
                  <a:pt x="9037" y="10901"/>
                </a:lnTo>
                <a:lnTo>
                  <a:pt x="9702" y="11129"/>
                </a:lnTo>
                <a:lnTo>
                  <a:pt x="10400" y="11206"/>
                </a:lnTo>
                <a:lnTo>
                  <a:pt x="11098" y="11129"/>
                </a:lnTo>
                <a:lnTo>
                  <a:pt x="11763" y="10901"/>
                </a:lnTo>
                <a:lnTo>
                  <a:pt x="12362" y="10534"/>
                </a:lnTo>
                <a:lnTo>
                  <a:pt x="12867" y="10045"/>
                </a:lnTo>
                <a:lnTo>
                  <a:pt x="13252" y="9457"/>
                </a:lnTo>
                <a:lnTo>
                  <a:pt x="13500" y="8800"/>
                </a:lnTo>
                <a:lnTo>
                  <a:pt x="21600" y="8800"/>
                </a:lnTo>
                <a:lnTo>
                  <a:pt x="21766" y="8783"/>
                </a:lnTo>
                <a:lnTo>
                  <a:pt x="21925" y="8731"/>
                </a:lnTo>
                <a:lnTo>
                  <a:pt x="22070" y="8647"/>
                </a:lnTo>
                <a:lnTo>
                  <a:pt x="22195" y="8535"/>
                </a:lnTo>
                <a:lnTo>
                  <a:pt x="22293" y="8400"/>
                </a:lnTo>
                <a:lnTo>
                  <a:pt x="22361" y="8247"/>
                </a:lnTo>
                <a:lnTo>
                  <a:pt x="22396" y="8084"/>
                </a:lnTo>
                <a:lnTo>
                  <a:pt x="22396" y="7916"/>
                </a:lnTo>
                <a:lnTo>
                  <a:pt x="22361" y="7753"/>
                </a:lnTo>
                <a:lnTo>
                  <a:pt x="22293" y="7600"/>
                </a:lnTo>
                <a:lnTo>
                  <a:pt x="22195" y="7465"/>
                </a:lnTo>
                <a:lnTo>
                  <a:pt x="22070" y="7353"/>
                </a:lnTo>
                <a:lnTo>
                  <a:pt x="21925" y="7269"/>
                </a:lnTo>
                <a:lnTo>
                  <a:pt x="21766" y="7217"/>
                </a:lnTo>
                <a:lnTo>
                  <a:pt x="21600" y="7200"/>
                </a:lnTo>
                <a:lnTo>
                  <a:pt x="13500" y="7200"/>
                </a:lnTo>
                <a:lnTo>
                  <a:pt x="13252" y="6543"/>
                </a:lnTo>
                <a:lnTo>
                  <a:pt x="12867" y="5955"/>
                </a:lnTo>
                <a:lnTo>
                  <a:pt x="12362" y="5466"/>
                </a:lnTo>
                <a:lnTo>
                  <a:pt x="11763" y="5099"/>
                </a:lnTo>
                <a:lnTo>
                  <a:pt x="11098" y="4871"/>
                </a:lnTo>
                <a:lnTo>
                  <a:pt x="10400" y="4794"/>
                </a:lnTo>
                <a:lnTo>
                  <a:pt x="9702" y="4871"/>
                </a:lnTo>
                <a:lnTo>
                  <a:pt x="9037" y="5099"/>
                </a:lnTo>
                <a:lnTo>
                  <a:pt x="8438" y="5466"/>
                </a:lnTo>
                <a:lnTo>
                  <a:pt x="7933" y="5955"/>
                </a:lnTo>
                <a:lnTo>
                  <a:pt x="7548" y="6543"/>
                </a:lnTo>
                <a:lnTo>
                  <a:pt x="7300" y="7200"/>
                </a:lnTo>
                <a:lnTo>
                  <a:pt x="4000" y="7200"/>
                </a:lnTo>
                <a:lnTo>
                  <a:pt x="3834" y="7217"/>
                </a:lnTo>
                <a:lnTo>
                  <a:pt x="3675" y="7269"/>
                </a:lnTo>
                <a:lnTo>
                  <a:pt x="3530" y="7353"/>
                </a:lnTo>
                <a:lnTo>
                  <a:pt x="3405" y="7465"/>
                </a:lnTo>
                <a:lnTo>
                  <a:pt x="3307" y="7600"/>
                </a:lnTo>
                <a:lnTo>
                  <a:pt x="3239" y="7753"/>
                </a:lnTo>
                <a:lnTo>
                  <a:pt x="3204" y="7916"/>
                </a:lnTo>
                <a:lnTo>
                  <a:pt x="3204" y="8084"/>
                </a:lnTo>
                <a:lnTo>
                  <a:pt x="3239" y="8247"/>
                </a:lnTo>
                <a:lnTo>
                  <a:pt x="3307" y="8400"/>
                </a:lnTo>
                <a:lnTo>
                  <a:pt x="3405" y="8535"/>
                </a:lnTo>
                <a:lnTo>
                  <a:pt x="3530" y="8647"/>
                </a:lnTo>
                <a:lnTo>
                  <a:pt x="3675" y="8731"/>
                </a:lnTo>
                <a:lnTo>
                  <a:pt x="3834" y="8783"/>
                </a:lnTo>
                <a:lnTo>
                  <a:pt x="4000" y="8800"/>
                </a:lnTo>
                <a:close/>
                <a:moveTo>
                  <a:pt x="10400" y="6400"/>
                </a:moveTo>
                <a:lnTo>
                  <a:pt x="10740" y="6437"/>
                </a:lnTo>
                <a:lnTo>
                  <a:pt x="11065" y="6545"/>
                </a:lnTo>
                <a:lnTo>
                  <a:pt x="11359" y="6719"/>
                </a:lnTo>
                <a:lnTo>
                  <a:pt x="11609" y="6952"/>
                </a:lnTo>
                <a:lnTo>
                  <a:pt x="11804" y="7233"/>
                </a:lnTo>
                <a:lnTo>
                  <a:pt x="11935" y="7549"/>
                </a:lnTo>
                <a:lnTo>
                  <a:pt x="11996" y="7886"/>
                </a:lnTo>
                <a:lnTo>
                  <a:pt x="11984" y="8228"/>
                </a:lnTo>
                <a:lnTo>
                  <a:pt x="11899" y="8559"/>
                </a:lnTo>
                <a:lnTo>
                  <a:pt x="11746" y="8865"/>
                </a:lnTo>
                <a:lnTo>
                  <a:pt x="11531" y="9131"/>
                </a:lnTo>
                <a:lnTo>
                  <a:pt x="11265" y="9346"/>
                </a:lnTo>
                <a:lnTo>
                  <a:pt x="10959" y="9499"/>
                </a:lnTo>
                <a:lnTo>
                  <a:pt x="10628" y="9584"/>
                </a:lnTo>
                <a:lnTo>
                  <a:pt x="10286" y="9596"/>
                </a:lnTo>
                <a:lnTo>
                  <a:pt x="9949" y="9535"/>
                </a:lnTo>
                <a:lnTo>
                  <a:pt x="9633" y="9404"/>
                </a:lnTo>
                <a:lnTo>
                  <a:pt x="9352" y="9209"/>
                </a:lnTo>
                <a:lnTo>
                  <a:pt x="9119" y="8959"/>
                </a:lnTo>
                <a:lnTo>
                  <a:pt x="8945" y="8665"/>
                </a:lnTo>
                <a:lnTo>
                  <a:pt x="8837" y="8340"/>
                </a:lnTo>
                <a:lnTo>
                  <a:pt x="8800" y="8000"/>
                </a:lnTo>
                <a:lnTo>
                  <a:pt x="8840" y="7644"/>
                </a:lnTo>
                <a:lnTo>
                  <a:pt x="8958" y="7306"/>
                </a:lnTo>
                <a:lnTo>
                  <a:pt x="9149" y="7002"/>
                </a:lnTo>
                <a:lnTo>
                  <a:pt x="9402" y="6749"/>
                </a:lnTo>
                <a:lnTo>
                  <a:pt x="9706" y="6558"/>
                </a:lnTo>
                <a:lnTo>
                  <a:pt x="10044" y="6440"/>
                </a:lnTo>
                <a:lnTo>
                  <a:pt x="10400" y="6400"/>
                </a:lnTo>
                <a:close/>
                <a:moveTo>
                  <a:pt x="21600" y="16800"/>
                </a:moveTo>
                <a:lnTo>
                  <a:pt x="19900" y="16800"/>
                </a:lnTo>
                <a:lnTo>
                  <a:pt x="19652" y="16143"/>
                </a:lnTo>
                <a:lnTo>
                  <a:pt x="19267" y="15555"/>
                </a:lnTo>
                <a:lnTo>
                  <a:pt x="18762" y="15066"/>
                </a:lnTo>
                <a:lnTo>
                  <a:pt x="18163" y="14699"/>
                </a:lnTo>
                <a:lnTo>
                  <a:pt x="17498" y="14471"/>
                </a:lnTo>
                <a:lnTo>
                  <a:pt x="16800" y="14394"/>
                </a:lnTo>
                <a:lnTo>
                  <a:pt x="16102" y="14471"/>
                </a:lnTo>
                <a:lnTo>
                  <a:pt x="15437" y="14699"/>
                </a:lnTo>
                <a:lnTo>
                  <a:pt x="14838" y="15066"/>
                </a:lnTo>
                <a:lnTo>
                  <a:pt x="14333" y="15555"/>
                </a:lnTo>
                <a:lnTo>
                  <a:pt x="13948" y="16143"/>
                </a:lnTo>
                <a:lnTo>
                  <a:pt x="13700" y="16800"/>
                </a:lnTo>
                <a:lnTo>
                  <a:pt x="4000" y="16800"/>
                </a:lnTo>
                <a:lnTo>
                  <a:pt x="3834" y="16817"/>
                </a:lnTo>
                <a:lnTo>
                  <a:pt x="3675" y="16869"/>
                </a:lnTo>
                <a:lnTo>
                  <a:pt x="3530" y="16953"/>
                </a:lnTo>
                <a:lnTo>
                  <a:pt x="3405" y="17065"/>
                </a:lnTo>
                <a:lnTo>
                  <a:pt x="3307" y="17200"/>
                </a:lnTo>
                <a:lnTo>
                  <a:pt x="3239" y="17353"/>
                </a:lnTo>
                <a:lnTo>
                  <a:pt x="3204" y="17516"/>
                </a:lnTo>
                <a:lnTo>
                  <a:pt x="3204" y="17684"/>
                </a:lnTo>
                <a:lnTo>
                  <a:pt x="3239" y="17847"/>
                </a:lnTo>
                <a:lnTo>
                  <a:pt x="3307" y="18000"/>
                </a:lnTo>
                <a:lnTo>
                  <a:pt x="3405" y="18135"/>
                </a:lnTo>
                <a:lnTo>
                  <a:pt x="3530" y="18247"/>
                </a:lnTo>
                <a:lnTo>
                  <a:pt x="3675" y="18331"/>
                </a:lnTo>
                <a:lnTo>
                  <a:pt x="3834" y="18383"/>
                </a:lnTo>
                <a:lnTo>
                  <a:pt x="4000" y="18400"/>
                </a:lnTo>
                <a:lnTo>
                  <a:pt x="13700" y="18400"/>
                </a:lnTo>
                <a:lnTo>
                  <a:pt x="13948" y="19057"/>
                </a:lnTo>
                <a:lnTo>
                  <a:pt x="14333" y="19645"/>
                </a:lnTo>
                <a:lnTo>
                  <a:pt x="14838" y="20134"/>
                </a:lnTo>
                <a:lnTo>
                  <a:pt x="15437" y="20501"/>
                </a:lnTo>
                <a:lnTo>
                  <a:pt x="16102" y="20729"/>
                </a:lnTo>
                <a:lnTo>
                  <a:pt x="16800" y="20806"/>
                </a:lnTo>
                <a:lnTo>
                  <a:pt x="17498" y="20729"/>
                </a:lnTo>
                <a:lnTo>
                  <a:pt x="18163" y="20501"/>
                </a:lnTo>
                <a:lnTo>
                  <a:pt x="18762" y="20134"/>
                </a:lnTo>
                <a:lnTo>
                  <a:pt x="19267" y="19645"/>
                </a:lnTo>
                <a:lnTo>
                  <a:pt x="19652" y="19057"/>
                </a:lnTo>
                <a:lnTo>
                  <a:pt x="19900" y="18400"/>
                </a:lnTo>
                <a:lnTo>
                  <a:pt x="21600" y="18400"/>
                </a:lnTo>
                <a:lnTo>
                  <a:pt x="21766" y="18383"/>
                </a:lnTo>
                <a:lnTo>
                  <a:pt x="21925" y="18331"/>
                </a:lnTo>
                <a:lnTo>
                  <a:pt x="22070" y="18247"/>
                </a:lnTo>
                <a:lnTo>
                  <a:pt x="22195" y="18135"/>
                </a:lnTo>
                <a:lnTo>
                  <a:pt x="22293" y="18000"/>
                </a:lnTo>
                <a:lnTo>
                  <a:pt x="22361" y="17847"/>
                </a:lnTo>
                <a:lnTo>
                  <a:pt x="22396" y="17684"/>
                </a:lnTo>
                <a:lnTo>
                  <a:pt x="22396" y="17516"/>
                </a:lnTo>
                <a:lnTo>
                  <a:pt x="22361" y="17353"/>
                </a:lnTo>
                <a:lnTo>
                  <a:pt x="22293" y="17200"/>
                </a:lnTo>
                <a:lnTo>
                  <a:pt x="22195" y="17065"/>
                </a:lnTo>
                <a:lnTo>
                  <a:pt x="22070" y="16953"/>
                </a:lnTo>
                <a:lnTo>
                  <a:pt x="21925" y="16869"/>
                </a:lnTo>
                <a:lnTo>
                  <a:pt x="21766" y="16817"/>
                </a:lnTo>
                <a:lnTo>
                  <a:pt x="21600" y="16800"/>
                </a:lnTo>
                <a:close/>
                <a:moveTo>
                  <a:pt x="16800" y="19200"/>
                </a:moveTo>
                <a:lnTo>
                  <a:pt x="16460" y="19163"/>
                </a:lnTo>
                <a:lnTo>
                  <a:pt x="16135" y="19055"/>
                </a:lnTo>
                <a:lnTo>
                  <a:pt x="15841" y="18881"/>
                </a:lnTo>
                <a:lnTo>
                  <a:pt x="15591" y="18648"/>
                </a:lnTo>
                <a:lnTo>
                  <a:pt x="15396" y="18367"/>
                </a:lnTo>
                <a:lnTo>
                  <a:pt x="15265" y="18051"/>
                </a:lnTo>
                <a:lnTo>
                  <a:pt x="15204" y="17714"/>
                </a:lnTo>
                <a:lnTo>
                  <a:pt x="15216" y="17372"/>
                </a:lnTo>
                <a:lnTo>
                  <a:pt x="15301" y="17041"/>
                </a:lnTo>
                <a:lnTo>
                  <a:pt x="15454" y="16735"/>
                </a:lnTo>
                <a:lnTo>
                  <a:pt x="15669" y="16469"/>
                </a:lnTo>
                <a:lnTo>
                  <a:pt x="15935" y="16254"/>
                </a:lnTo>
                <a:lnTo>
                  <a:pt x="16241" y="16101"/>
                </a:lnTo>
                <a:lnTo>
                  <a:pt x="16572" y="16016"/>
                </a:lnTo>
                <a:lnTo>
                  <a:pt x="16914" y="16004"/>
                </a:lnTo>
                <a:lnTo>
                  <a:pt x="17251" y="16065"/>
                </a:lnTo>
                <a:lnTo>
                  <a:pt x="17567" y="16196"/>
                </a:lnTo>
                <a:lnTo>
                  <a:pt x="17848" y="16391"/>
                </a:lnTo>
                <a:lnTo>
                  <a:pt x="18081" y="16641"/>
                </a:lnTo>
                <a:lnTo>
                  <a:pt x="18255" y="16935"/>
                </a:lnTo>
                <a:lnTo>
                  <a:pt x="18363" y="17260"/>
                </a:lnTo>
                <a:lnTo>
                  <a:pt x="18400" y="17600"/>
                </a:lnTo>
                <a:lnTo>
                  <a:pt x="18360" y="17956"/>
                </a:lnTo>
                <a:lnTo>
                  <a:pt x="18242" y="18294"/>
                </a:lnTo>
                <a:lnTo>
                  <a:pt x="18051" y="18598"/>
                </a:lnTo>
                <a:lnTo>
                  <a:pt x="17798" y="18851"/>
                </a:lnTo>
                <a:lnTo>
                  <a:pt x="17494" y="19042"/>
                </a:lnTo>
                <a:lnTo>
                  <a:pt x="17156" y="19160"/>
                </a:lnTo>
                <a:lnTo>
                  <a:pt x="16800" y="19200"/>
                </a:lnTo>
                <a:close/>
              </a:path>
            </a:pathLst>
          </a:custGeom>
          <a:solidFill>
            <a:srgbClr val="A71989"/>
          </a:solidFill>
          <a:ln>
            <a:noFill/>
          </a:ln>
        </p:spPr>
        <p:txBody>
          <a:bodyPr rtlCol="0" anchor="ctr"/>
          <a:lstStyle/>
          <a:p>
            <a:pPr algn="ctr"/>
          </a:p>
        </p:txBody>
      </p:sp>
      <p:sp>
        <p:nvSpPr>
          <p:cNvPr id="22" name="TextBox 21"/>
          <p:cNvSpPr txBox="1"/>
          <p:nvPr/>
        </p:nvSpPr>
        <p:spPr>
          <a:xfrm>
            <a:off x="1240808" y="3392900"/>
            <a:ext cx="1200000" cy="600000"/>
          </a:xfrm>
          <a:prstGeom prst="rect">
            <a:avLst/>
          </a:prstGeom>
          <a:noFill/>
        </p:spPr>
        <p:txBody>
          <a:bodyPr wrap="square" lIns="0" rIns="0" tIns="0" bIns="0" anchor="ctr">
            <a:spAutoFit/>
          </a:bodyPr>
          <a:lstStyle/>
          <a:p>
            <a:pPr algn="l">
              <a:lnSpc>
                <a:spcPct val="100000"/>
              </a:lnSpc>
              <a:spcAft>
                <a:spcPts val="0"/>
              </a:spcAft>
            </a:pPr>
            <a:r>
              <a:rPr sz="1100" b="1" i="0">
                <a:solidFill>
                  <a:srgbClr val="FFFFFF"/>
                </a:solidFill>
                <a:latin typeface="Arial"/>
              </a:rPr>
              <a:t>ADAPTAR</a:t>
            </a:r>
          </a:p>
        </p:txBody>
      </p:sp>
      <p:cxnSp>
        <p:nvCxnSpPr>
          <p:cNvPr id="23" name="Connector 22"/>
          <p:cNvCxnSpPr/>
          <p:nvPr/>
        </p:nvCxnSpPr>
        <p:spPr>
          <a:xfrm>
            <a:off x="2590808" y="1892900"/>
            <a:ext cx="1676383" cy="0"/>
          </a:xfrm>
          <a:prstGeom prst="line">
            <a:avLst/>
          </a:prstGeom>
          <a:ln w="28575">
            <a:solidFill>
              <a:srgbClr val="A9B8D9"/>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92191" y="2262900"/>
            <a:ext cx="0" cy="1060000"/>
          </a:xfrm>
          <a:prstGeom prst="line">
            <a:avLst/>
          </a:prstGeom>
          <a:ln w="28575">
            <a:solidFill>
              <a:srgbClr val="A9B8D9"/>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590808" y="3692900"/>
            <a:ext cx="1676383" cy="0"/>
          </a:xfrm>
          <a:prstGeom prst="line">
            <a:avLst/>
          </a:prstGeom>
          <a:ln w="28575">
            <a:solidFill>
              <a:srgbClr val="A9B8D9"/>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565808" y="2262900"/>
            <a:ext cx="0" cy="1060000"/>
          </a:xfrm>
          <a:prstGeom prst="line">
            <a:avLst/>
          </a:prstGeom>
          <a:ln w="28575">
            <a:solidFill>
              <a:srgbClr val="A9B8D9"/>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40808" y="4092900"/>
            <a:ext cx="5576383" cy="1440000"/>
          </a:xfrm>
          <a:prstGeom prst="roundRect">
            <a:avLst>
              <a:gd name="adj" fmla="val 10416"/>
            </a:avLst>
          </a:prstGeom>
          <a:solidFill>
            <a:srgbClr val="FFF3E6"/>
          </a:solidFill>
          <a:ln>
            <a:noFill/>
          </a:ln>
        </p:spPr>
        <p:txBody>
          <a:bodyPr rtlCol="0" anchor="ctr"/>
          <a:lstStyle/>
          <a:p>
            <a:pPr algn="ctr"/>
          </a:p>
        </p:txBody>
      </p:sp>
      <p:sp>
        <p:nvSpPr>
          <p:cNvPr id="28" name="Rounded Rectangle 27"/>
          <p:cNvSpPr/>
          <p:nvPr/>
        </p:nvSpPr>
        <p:spPr>
          <a:xfrm>
            <a:off x="840808" y="4242900"/>
            <a:ext cx="5176383" cy="320000"/>
          </a:xfrm>
          <a:prstGeom prst="roundRect">
            <a:avLst>
              <a:gd name="adj" fmla="val 21875"/>
            </a:avLst>
          </a:prstGeom>
          <a:solidFill>
            <a:srgbClr val="FFFFFF"/>
          </a:solidFill>
          <a:ln>
            <a:noFill/>
          </a:ln>
        </p:spPr>
        <p:txBody>
          <a:bodyPr rtlCol="0" anchor="ctr"/>
          <a:lstStyle/>
          <a:p>
            <a:pPr algn="ctr"/>
          </a:p>
        </p:txBody>
      </p:sp>
      <p:sp>
        <p:nvSpPr>
          <p:cNvPr id="29" name="icono users-three"/>
          <p:cNvSpPr/>
          <p:nvPr/>
        </p:nvSpPr>
        <p:spPr>
          <a:xfrm>
            <a:off x="930808" y="4297900"/>
            <a:ext cx="210000" cy="210000"/>
          </a:xfrm>
          <a:custGeom>
            <a:avLst/>
            <a:gdLst/>
            <a:ahLst/>
            <a:cxnLst/>
            <a:rect l="0" t="0" r="r" b="b"/>
            <a:pathLst>
              <a:path w="25600" h="25600">
                <a:moveTo>
                  <a:pt x="24480" y="15040"/>
                </a:moveTo>
                <a:lnTo>
                  <a:pt x="24326" y="15131"/>
                </a:lnTo>
                <a:lnTo>
                  <a:pt x="24155" y="15185"/>
                </a:lnTo>
                <a:lnTo>
                  <a:pt x="23976" y="15200"/>
                </a:lnTo>
                <a:lnTo>
                  <a:pt x="23799" y="15174"/>
                </a:lnTo>
                <a:lnTo>
                  <a:pt x="23632" y="15110"/>
                </a:lnTo>
                <a:lnTo>
                  <a:pt x="23483" y="15010"/>
                </a:lnTo>
                <a:lnTo>
                  <a:pt x="23360" y="14880"/>
                </a:lnTo>
                <a:lnTo>
                  <a:pt x="22832" y="14275"/>
                </a:lnTo>
                <a:lnTo>
                  <a:pt x="22216" y="13759"/>
                </a:lnTo>
                <a:lnTo>
                  <a:pt x="21528" y="13345"/>
                </a:lnTo>
                <a:lnTo>
                  <a:pt x="20783" y="13042"/>
                </a:lnTo>
                <a:lnTo>
                  <a:pt x="20001" y="12859"/>
                </a:lnTo>
                <a:lnTo>
                  <a:pt x="19200" y="12800"/>
                </a:lnTo>
                <a:lnTo>
                  <a:pt x="19045" y="12785"/>
                </a:lnTo>
                <a:lnTo>
                  <a:pt x="18896" y="12740"/>
                </a:lnTo>
                <a:lnTo>
                  <a:pt x="18758" y="12667"/>
                </a:lnTo>
                <a:lnTo>
                  <a:pt x="18637" y="12568"/>
                </a:lnTo>
                <a:lnTo>
                  <a:pt x="18537" y="12448"/>
                </a:lnTo>
                <a:lnTo>
                  <a:pt x="18463" y="12311"/>
                </a:lnTo>
                <a:lnTo>
                  <a:pt x="18428" y="12210"/>
                </a:lnTo>
                <a:lnTo>
                  <a:pt x="18407" y="12106"/>
                </a:lnTo>
                <a:lnTo>
                  <a:pt x="18400" y="12000"/>
                </a:lnTo>
                <a:lnTo>
                  <a:pt x="18407" y="11894"/>
                </a:lnTo>
                <a:lnTo>
                  <a:pt x="18428" y="11790"/>
                </a:lnTo>
                <a:lnTo>
                  <a:pt x="18463" y="11689"/>
                </a:lnTo>
                <a:lnTo>
                  <a:pt x="18537" y="11552"/>
                </a:lnTo>
                <a:lnTo>
                  <a:pt x="18637" y="11432"/>
                </a:lnTo>
                <a:lnTo>
                  <a:pt x="18758" y="11333"/>
                </a:lnTo>
                <a:lnTo>
                  <a:pt x="18896" y="11260"/>
                </a:lnTo>
                <a:lnTo>
                  <a:pt x="19045" y="11215"/>
                </a:lnTo>
                <a:lnTo>
                  <a:pt x="19200" y="11200"/>
                </a:lnTo>
                <a:lnTo>
                  <a:pt x="19706" y="11146"/>
                </a:lnTo>
                <a:lnTo>
                  <a:pt x="20189" y="10987"/>
                </a:lnTo>
                <a:lnTo>
                  <a:pt x="20628" y="10729"/>
                </a:lnTo>
                <a:lnTo>
                  <a:pt x="21002" y="10385"/>
                </a:lnTo>
                <a:lnTo>
                  <a:pt x="21296" y="9969"/>
                </a:lnTo>
                <a:lnTo>
                  <a:pt x="21495" y="9501"/>
                </a:lnTo>
                <a:lnTo>
                  <a:pt x="21591" y="9002"/>
                </a:lnTo>
                <a:lnTo>
                  <a:pt x="21580" y="8493"/>
                </a:lnTo>
                <a:lnTo>
                  <a:pt x="21462" y="7998"/>
                </a:lnTo>
                <a:lnTo>
                  <a:pt x="21242" y="7540"/>
                </a:lnTo>
                <a:lnTo>
                  <a:pt x="20931" y="7137"/>
                </a:lnTo>
                <a:lnTo>
                  <a:pt x="20541" y="6810"/>
                </a:lnTo>
                <a:lnTo>
                  <a:pt x="20092" y="6572"/>
                </a:lnTo>
                <a:lnTo>
                  <a:pt x="19602" y="6434"/>
                </a:lnTo>
                <a:lnTo>
                  <a:pt x="19094" y="6402"/>
                </a:lnTo>
                <a:lnTo>
                  <a:pt x="18591" y="6478"/>
                </a:lnTo>
                <a:lnTo>
                  <a:pt x="18116" y="6659"/>
                </a:lnTo>
                <a:lnTo>
                  <a:pt x="17689" y="6935"/>
                </a:lnTo>
                <a:lnTo>
                  <a:pt x="17330" y="7296"/>
                </a:lnTo>
                <a:lnTo>
                  <a:pt x="17055" y="7724"/>
                </a:lnTo>
                <a:lnTo>
                  <a:pt x="16876" y="8200"/>
                </a:lnTo>
                <a:lnTo>
                  <a:pt x="16817" y="8357"/>
                </a:lnTo>
                <a:lnTo>
                  <a:pt x="16728" y="8498"/>
                </a:lnTo>
                <a:lnTo>
                  <a:pt x="16610" y="8617"/>
                </a:lnTo>
                <a:lnTo>
                  <a:pt x="16471" y="8710"/>
                </a:lnTo>
                <a:lnTo>
                  <a:pt x="16315" y="8771"/>
                </a:lnTo>
                <a:lnTo>
                  <a:pt x="16150" y="8799"/>
                </a:lnTo>
                <a:lnTo>
                  <a:pt x="15983" y="8792"/>
                </a:lnTo>
                <a:lnTo>
                  <a:pt x="15821" y="8750"/>
                </a:lnTo>
                <a:lnTo>
                  <a:pt x="15671" y="8675"/>
                </a:lnTo>
                <a:lnTo>
                  <a:pt x="15540" y="8571"/>
                </a:lnTo>
                <a:lnTo>
                  <a:pt x="15434" y="8442"/>
                </a:lnTo>
                <a:lnTo>
                  <a:pt x="15356" y="8294"/>
                </a:lnTo>
                <a:lnTo>
                  <a:pt x="15312" y="8133"/>
                </a:lnTo>
                <a:lnTo>
                  <a:pt x="15301" y="7966"/>
                </a:lnTo>
                <a:lnTo>
                  <a:pt x="15326" y="7800"/>
                </a:lnTo>
                <a:lnTo>
                  <a:pt x="15635" y="6984"/>
                </a:lnTo>
                <a:lnTo>
                  <a:pt x="16115" y="6254"/>
                </a:lnTo>
                <a:lnTo>
                  <a:pt x="16741" y="5645"/>
                </a:lnTo>
                <a:lnTo>
                  <a:pt x="17484" y="5187"/>
                </a:lnTo>
                <a:lnTo>
                  <a:pt x="18309" y="4901"/>
                </a:lnTo>
                <a:lnTo>
                  <a:pt x="19176" y="4801"/>
                </a:lnTo>
                <a:lnTo>
                  <a:pt x="20045" y="4891"/>
                </a:lnTo>
                <a:lnTo>
                  <a:pt x="20873" y="5168"/>
                </a:lnTo>
                <a:lnTo>
                  <a:pt x="21621" y="5618"/>
                </a:lnTo>
                <a:lnTo>
                  <a:pt x="22254" y="6219"/>
                </a:lnTo>
                <a:lnTo>
                  <a:pt x="22741" y="6944"/>
                </a:lnTo>
                <a:lnTo>
                  <a:pt x="23060" y="7757"/>
                </a:lnTo>
                <a:lnTo>
                  <a:pt x="23195" y="8619"/>
                </a:lnTo>
                <a:lnTo>
                  <a:pt x="23139" y="9491"/>
                </a:lnTo>
                <a:lnTo>
                  <a:pt x="22895" y="10329"/>
                </a:lnTo>
                <a:lnTo>
                  <a:pt x="22476" y="11095"/>
                </a:lnTo>
                <a:lnTo>
                  <a:pt x="21900" y="11751"/>
                </a:lnTo>
                <a:lnTo>
                  <a:pt x="22430" y="12008"/>
                </a:lnTo>
                <a:lnTo>
                  <a:pt x="22936" y="12311"/>
                </a:lnTo>
                <a:lnTo>
                  <a:pt x="23413" y="12656"/>
                </a:lnTo>
                <a:lnTo>
                  <a:pt x="23859" y="13041"/>
                </a:lnTo>
                <a:lnTo>
                  <a:pt x="24270" y="13463"/>
                </a:lnTo>
                <a:lnTo>
                  <a:pt x="24643" y="13919"/>
                </a:lnTo>
                <a:lnTo>
                  <a:pt x="24734" y="14074"/>
                </a:lnTo>
                <a:lnTo>
                  <a:pt x="24788" y="14245"/>
                </a:lnTo>
                <a:lnTo>
                  <a:pt x="24802" y="14424"/>
                </a:lnTo>
                <a:lnTo>
                  <a:pt x="24776" y="14601"/>
                </a:lnTo>
                <a:lnTo>
                  <a:pt x="24711" y="14769"/>
                </a:lnTo>
                <a:lnTo>
                  <a:pt x="24611" y="14917"/>
                </a:lnTo>
                <a:lnTo>
                  <a:pt x="24480" y="15040"/>
                </a:lnTo>
                <a:close/>
                <a:moveTo>
                  <a:pt x="19092" y="21200"/>
                </a:moveTo>
                <a:lnTo>
                  <a:pt x="19168" y="21354"/>
                </a:lnTo>
                <a:lnTo>
                  <a:pt x="19209" y="21521"/>
                </a:lnTo>
                <a:lnTo>
                  <a:pt x="19214" y="21692"/>
                </a:lnTo>
                <a:lnTo>
                  <a:pt x="19183" y="21861"/>
                </a:lnTo>
                <a:lnTo>
                  <a:pt x="19115" y="22019"/>
                </a:lnTo>
                <a:lnTo>
                  <a:pt x="19016" y="22159"/>
                </a:lnTo>
                <a:lnTo>
                  <a:pt x="18889" y="22275"/>
                </a:lnTo>
                <a:lnTo>
                  <a:pt x="18741" y="22361"/>
                </a:lnTo>
                <a:lnTo>
                  <a:pt x="18577" y="22413"/>
                </a:lnTo>
                <a:lnTo>
                  <a:pt x="18406" y="22429"/>
                </a:lnTo>
                <a:lnTo>
                  <a:pt x="18236" y="22408"/>
                </a:lnTo>
                <a:lnTo>
                  <a:pt x="18073" y="22352"/>
                </a:lnTo>
                <a:lnTo>
                  <a:pt x="17927" y="22262"/>
                </a:lnTo>
                <a:lnTo>
                  <a:pt x="17803" y="22143"/>
                </a:lnTo>
                <a:lnTo>
                  <a:pt x="17708" y="22000"/>
                </a:lnTo>
                <a:lnTo>
                  <a:pt x="16916" y="20955"/>
                </a:lnTo>
                <a:lnTo>
                  <a:pt x="15906" y="20119"/>
                </a:lnTo>
                <a:lnTo>
                  <a:pt x="14732" y="19536"/>
                </a:lnTo>
                <a:lnTo>
                  <a:pt x="13456" y="19236"/>
                </a:lnTo>
                <a:lnTo>
                  <a:pt x="12144" y="19236"/>
                </a:lnTo>
                <a:lnTo>
                  <a:pt x="10868" y="19536"/>
                </a:lnTo>
                <a:lnTo>
                  <a:pt x="9694" y="20119"/>
                </a:lnTo>
                <a:lnTo>
                  <a:pt x="8684" y="20955"/>
                </a:lnTo>
                <a:lnTo>
                  <a:pt x="7892" y="22000"/>
                </a:lnTo>
                <a:lnTo>
                  <a:pt x="7797" y="22143"/>
                </a:lnTo>
                <a:lnTo>
                  <a:pt x="7673" y="22262"/>
                </a:lnTo>
                <a:lnTo>
                  <a:pt x="7527" y="22352"/>
                </a:lnTo>
                <a:lnTo>
                  <a:pt x="7364" y="22408"/>
                </a:lnTo>
                <a:lnTo>
                  <a:pt x="7194" y="22429"/>
                </a:lnTo>
                <a:lnTo>
                  <a:pt x="7023" y="22413"/>
                </a:lnTo>
                <a:lnTo>
                  <a:pt x="6859" y="22361"/>
                </a:lnTo>
                <a:lnTo>
                  <a:pt x="6711" y="22275"/>
                </a:lnTo>
                <a:lnTo>
                  <a:pt x="6584" y="22159"/>
                </a:lnTo>
                <a:lnTo>
                  <a:pt x="6485" y="22019"/>
                </a:lnTo>
                <a:lnTo>
                  <a:pt x="6417" y="21861"/>
                </a:lnTo>
                <a:lnTo>
                  <a:pt x="6386" y="21692"/>
                </a:lnTo>
                <a:lnTo>
                  <a:pt x="6391" y="21521"/>
                </a:lnTo>
                <a:lnTo>
                  <a:pt x="6432" y="21354"/>
                </a:lnTo>
                <a:lnTo>
                  <a:pt x="6508" y="21200"/>
                </a:lnTo>
                <a:lnTo>
                  <a:pt x="6927" y="20561"/>
                </a:lnTo>
                <a:lnTo>
                  <a:pt x="7411" y="19970"/>
                </a:lnTo>
                <a:lnTo>
                  <a:pt x="7955" y="19433"/>
                </a:lnTo>
                <a:lnTo>
                  <a:pt x="8553" y="18957"/>
                </a:lnTo>
                <a:lnTo>
                  <a:pt x="9197" y="18547"/>
                </a:lnTo>
                <a:lnTo>
                  <a:pt x="9882" y="18208"/>
                </a:lnTo>
                <a:lnTo>
                  <a:pt x="9132" y="17493"/>
                </a:lnTo>
                <a:lnTo>
                  <a:pt x="8553" y="16633"/>
                </a:lnTo>
                <a:lnTo>
                  <a:pt x="8172" y="15669"/>
                </a:lnTo>
                <a:lnTo>
                  <a:pt x="8006" y="14646"/>
                </a:lnTo>
                <a:lnTo>
                  <a:pt x="8065" y="13611"/>
                </a:lnTo>
                <a:lnTo>
                  <a:pt x="8344" y="12613"/>
                </a:lnTo>
                <a:lnTo>
                  <a:pt x="8831" y="11698"/>
                </a:lnTo>
                <a:lnTo>
                  <a:pt x="9503" y="10909"/>
                </a:lnTo>
                <a:lnTo>
                  <a:pt x="10328" y="10282"/>
                </a:lnTo>
                <a:lnTo>
                  <a:pt x="11269" y="9847"/>
                </a:lnTo>
                <a:lnTo>
                  <a:pt x="12282" y="9625"/>
                </a:lnTo>
                <a:lnTo>
                  <a:pt x="13318" y="9625"/>
                </a:lnTo>
                <a:lnTo>
                  <a:pt x="14331" y="9847"/>
                </a:lnTo>
                <a:lnTo>
                  <a:pt x="15272" y="10282"/>
                </a:lnTo>
                <a:lnTo>
                  <a:pt x="16097" y="10909"/>
                </a:lnTo>
                <a:lnTo>
                  <a:pt x="16769" y="11698"/>
                </a:lnTo>
                <a:lnTo>
                  <a:pt x="17256" y="12613"/>
                </a:lnTo>
                <a:lnTo>
                  <a:pt x="17535" y="13611"/>
                </a:lnTo>
                <a:lnTo>
                  <a:pt x="17594" y="14646"/>
                </a:lnTo>
                <a:lnTo>
                  <a:pt x="17428" y="15669"/>
                </a:lnTo>
                <a:lnTo>
                  <a:pt x="17047" y="16633"/>
                </a:lnTo>
                <a:lnTo>
                  <a:pt x="16468" y="17493"/>
                </a:lnTo>
                <a:lnTo>
                  <a:pt x="15718" y="18208"/>
                </a:lnTo>
                <a:lnTo>
                  <a:pt x="16403" y="18547"/>
                </a:lnTo>
                <a:lnTo>
                  <a:pt x="17047" y="18957"/>
                </a:lnTo>
                <a:lnTo>
                  <a:pt x="17645" y="19433"/>
                </a:lnTo>
                <a:lnTo>
                  <a:pt x="18189" y="19970"/>
                </a:lnTo>
                <a:lnTo>
                  <a:pt x="18673" y="20561"/>
                </a:lnTo>
                <a:lnTo>
                  <a:pt x="19092" y="21200"/>
                </a:lnTo>
                <a:close/>
                <a:moveTo>
                  <a:pt x="12800" y="17600"/>
                </a:moveTo>
                <a:lnTo>
                  <a:pt x="13480" y="17527"/>
                </a:lnTo>
                <a:lnTo>
                  <a:pt x="14129" y="17311"/>
                </a:lnTo>
                <a:lnTo>
                  <a:pt x="14718" y="16962"/>
                </a:lnTo>
                <a:lnTo>
                  <a:pt x="15218" y="16496"/>
                </a:lnTo>
                <a:lnTo>
                  <a:pt x="15609" y="15934"/>
                </a:lnTo>
                <a:lnTo>
                  <a:pt x="15870" y="15302"/>
                </a:lnTo>
                <a:lnTo>
                  <a:pt x="15992" y="14628"/>
                </a:lnTo>
                <a:lnTo>
                  <a:pt x="15967" y="13945"/>
                </a:lnTo>
                <a:lnTo>
                  <a:pt x="15798" y="13282"/>
                </a:lnTo>
                <a:lnTo>
                  <a:pt x="15492" y="12670"/>
                </a:lnTo>
                <a:lnTo>
                  <a:pt x="15063" y="12137"/>
                </a:lnTo>
                <a:lnTo>
                  <a:pt x="14530" y="11708"/>
                </a:lnTo>
                <a:lnTo>
                  <a:pt x="13918" y="11402"/>
                </a:lnTo>
                <a:lnTo>
                  <a:pt x="13255" y="11233"/>
                </a:lnTo>
                <a:lnTo>
                  <a:pt x="12572" y="11208"/>
                </a:lnTo>
                <a:lnTo>
                  <a:pt x="11898" y="11330"/>
                </a:lnTo>
                <a:lnTo>
                  <a:pt x="11266" y="11591"/>
                </a:lnTo>
                <a:lnTo>
                  <a:pt x="10704" y="11982"/>
                </a:lnTo>
                <a:lnTo>
                  <a:pt x="10238" y="12482"/>
                </a:lnTo>
                <a:lnTo>
                  <a:pt x="9889" y="13071"/>
                </a:lnTo>
                <a:lnTo>
                  <a:pt x="9673" y="13720"/>
                </a:lnTo>
                <a:lnTo>
                  <a:pt x="9600" y="14400"/>
                </a:lnTo>
                <a:lnTo>
                  <a:pt x="9680" y="15112"/>
                </a:lnTo>
                <a:lnTo>
                  <a:pt x="9917" y="15788"/>
                </a:lnTo>
                <a:lnTo>
                  <a:pt x="10298" y="16395"/>
                </a:lnTo>
                <a:lnTo>
                  <a:pt x="10805" y="16902"/>
                </a:lnTo>
                <a:lnTo>
                  <a:pt x="11412" y="17283"/>
                </a:lnTo>
                <a:lnTo>
                  <a:pt x="12088" y="17520"/>
                </a:lnTo>
                <a:lnTo>
                  <a:pt x="12800" y="17600"/>
                </a:lnTo>
                <a:close/>
                <a:moveTo>
                  <a:pt x="7200" y="12000"/>
                </a:moveTo>
                <a:lnTo>
                  <a:pt x="7180" y="11822"/>
                </a:lnTo>
                <a:lnTo>
                  <a:pt x="7121" y="11653"/>
                </a:lnTo>
                <a:lnTo>
                  <a:pt x="7025" y="11501"/>
                </a:lnTo>
                <a:lnTo>
                  <a:pt x="6899" y="11375"/>
                </a:lnTo>
                <a:lnTo>
                  <a:pt x="6747" y="11279"/>
                </a:lnTo>
                <a:lnTo>
                  <a:pt x="6578" y="11220"/>
                </a:lnTo>
                <a:lnTo>
                  <a:pt x="6400" y="11200"/>
                </a:lnTo>
                <a:lnTo>
                  <a:pt x="5894" y="11146"/>
                </a:lnTo>
                <a:lnTo>
                  <a:pt x="5411" y="10987"/>
                </a:lnTo>
                <a:lnTo>
                  <a:pt x="4972" y="10729"/>
                </a:lnTo>
                <a:lnTo>
                  <a:pt x="4598" y="10385"/>
                </a:lnTo>
                <a:lnTo>
                  <a:pt x="4304" y="9969"/>
                </a:lnTo>
                <a:lnTo>
                  <a:pt x="4105" y="9501"/>
                </a:lnTo>
                <a:lnTo>
                  <a:pt x="4009" y="9002"/>
                </a:lnTo>
                <a:lnTo>
                  <a:pt x="4020" y="8493"/>
                </a:lnTo>
                <a:lnTo>
                  <a:pt x="4138" y="7998"/>
                </a:lnTo>
                <a:lnTo>
                  <a:pt x="4358" y="7540"/>
                </a:lnTo>
                <a:lnTo>
                  <a:pt x="4669" y="7137"/>
                </a:lnTo>
                <a:lnTo>
                  <a:pt x="5059" y="6810"/>
                </a:lnTo>
                <a:lnTo>
                  <a:pt x="5508" y="6572"/>
                </a:lnTo>
                <a:lnTo>
                  <a:pt x="5998" y="6434"/>
                </a:lnTo>
                <a:lnTo>
                  <a:pt x="6506" y="6402"/>
                </a:lnTo>
                <a:lnTo>
                  <a:pt x="7009" y="6478"/>
                </a:lnTo>
                <a:lnTo>
                  <a:pt x="7484" y="6659"/>
                </a:lnTo>
                <a:lnTo>
                  <a:pt x="7911" y="6935"/>
                </a:lnTo>
                <a:lnTo>
                  <a:pt x="8270" y="7296"/>
                </a:lnTo>
                <a:lnTo>
                  <a:pt x="8545" y="7724"/>
                </a:lnTo>
                <a:lnTo>
                  <a:pt x="8724" y="8200"/>
                </a:lnTo>
                <a:lnTo>
                  <a:pt x="8783" y="8357"/>
                </a:lnTo>
                <a:lnTo>
                  <a:pt x="8872" y="8498"/>
                </a:lnTo>
                <a:lnTo>
                  <a:pt x="8990" y="8617"/>
                </a:lnTo>
                <a:lnTo>
                  <a:pt x="9129" y="8710"/>
                </a:lnTo>
                <a:lnTo>
                  <a:pt x="9285" y="8771"/>
                </a:lnTo>
                <a:lnTo>
                  <a:pt x="9450" y="8799"/>
                </a:lnTo>
                <a:lnTo>
                  <a:pt x="9617" y="8792"/>
                </a:lnTo>
                <a:lnTo>
                  <a:pt x="9779" y="8750"/>
                </a:lnTo>
                <a:lnTo>
                  <a:pt x="9929" y="8675"/>
                </a:lnTo>
                <a:lnTo>
                  <a:pt x="10060" y="8571"/>
                </a:lnTo>
                <a:lnTo>
                  <a:pt x="10166" y="8442"/>
                </a:lnTo>
                <a:lnTo>
                  <a:pt x="10244" y="8294"/>
                </a:lnTo>
                <a:lnTo>
                  <a:pt x="10288" y="8133"/>
                </a:lnTo>
                <a:lnTo>
                  <a:pt x="10299" y="7966"/>
                </a:lnTo>
                <a:lnTo>
                  <a:pt x="10274" y="7800"/>
                </a:lnTo>
                <a:lnTo>
                  <a:pt x="9965" y="6984"/>
                </a:lnTo>
                <a:lnTo>
                  <a:pt x="9485" y="6254"/>
                </a:lnTo>
                <a:lnTo>
                  <a:pt x="8859" y="5645"/>
                </a:lnTo>
                <a:lnTo>
                  <a:pt x="8116" y="5187"/>
                </a:lnTo>
                <a:lnTo>
                  <a:pt x="7291" y="4901"/>
                </a:lnTo>
                <a:lnTo>
                  <a:pt x="6424" y="4801"/>
                </a:lnTo>
                <a:lnTo>
                  <a:pt x="5555" y="4891"/>
                </a:lnTo>
                <a:lnTo>
                  <a:pt x="4727" y="5168"/>
                </a:lnTo>
                <a:lnTo>
                  <a:pt x="3979" y="5618"/>
                </a:lnTo>
                <a:lnTo>
                  <a:pt x="3346" y="6219"/>
                </a:lnTo>
                <a:lnTo>
                  <a:pt x="2859" y="6944"/>
                </a:lnTo>
                <a:lnTo>
                  <a:pt x="2540" y="7757"/>
                </a:lnTo>
                <a:lnTo>
                  <a:pt x="2405" y="8619"/>
                </a:lnTo>
                <a:lnTo>
                  <a:pt x="2461" y="9491"/>
                </a:lnTo>
                <a:lnTo>
                  <a:pt x="2705" y="10329"/>
                </a:lnTo>
                <a:lnTo>
                  <a:pt x="3124" y="11095"/>
                </a:lnTo>
                <a:lnTo>
                  <a:pt x="3700" y="11751"/>
                </a:lnTo>
                <a:lnTo>
                  <a:pt x="3171" y="12009"/>
                </a:lnTo>
                <a:lnTo>
                  <a:pt x="2665" y="12311"/>
                </a:lnTo>
                <a:lnTo>
                  <a:pt x="2188" y="12656"/>
                </a:lnTo>
                <a:lnTo>
                  <a:pt x="1743" y="13041"/>
                </a:lnTo>
                <a:lnTo>
                  <a:pt x="1332" y="13463"/>
                </a:lnTo>
                <a:lnTo>
                  <a:pt x="960" y="13919"/>
                </a:lnTo>
                <a:lnTo>
                  <a:pt x="874" y="14063"/>
                </a:lnTo>
                <a:lnTo>
                  <a:pt x="820" y="14221"/>
                </a:lnTo>
                <a:lnTo>
                  <a:pt x="800" y="14387"/>
                </a:lnTo>
                <a:lnTo>
                  <a:pt x="815" y="14554"/>
                </a:lnTo>
                <a:lnTo>
                  <a:pt x="864" y="14714"/>
                </a:lnTo>
                <a:lnTo>
                  <a:pt x="945" y="14860"/>
                </a:lnTo>
                <a:lnTo>
                  <a:pt x="1055" y="14986"/>
                </a:lnTo>
                <a:lnTo>
                  <a:pt x="1189" y="15086"/>
                </a:lnTo>
                <a:lnTo>
                  <a:pt x="1341" y="15157"/>
                </a:lnTo>
                <a:lnTo>
                  <a:pt x="1504" y="15194"/>
                </a:lnTo>
                <a:lnTo>
                  <a:pt x="1671" y="15197"/>
                </a:lnTo>
                <a:lnTo>
                  <a:pt x="1835" y="15164"/>
                </a:lnTo>
                <a:lnTo>
                  <a:pt x="1989" y="15099"/>
                </a:lnTo>
                <a:lnTo>
                  <a:pt x="2126" y="15003"/>
                </a:lnTo>
                <a:lnTo>
                  <a:pt x="2240" y="14880"/>
                </a:lnTo>
                <a:lnTo>
                  <a:pt x="2768" y="14275"/>
                </a:lnTo>
                <a:lnTo>
                  <a:pt x="3384" y="13759"/>
                </a:lnTo>
                <a:lnTo>
                  <a:pt x="4072" y="13345"/>
                </a:lnTo>
                <a:lnTo>
                  <a:pt x="4817" y="13042"/>
                </a:lnTo>
                <a:lnTo>
                  <a:pt x="5599" y="12859"/>
                </a:lnTo>
                <a:lnTo>
                  <a:pt x="6400" y="12800"/>
                </a:lnTo>
                <a:lnTo>
                  <a:pt x="6578" y="12780"/>
                </a:lnTo>
                <a:lnTo>
                  <a:pt x="6747" y="12721"/>
                </a:lnTo>
                <a:lnTo>
                  <a:pt x="6899" y="12625"/>
                </a:lnTo>
                <a:lnTo>
                  <a:pt x="7025" y="12499"/>
                </a:lnTo>
                <a:lnTo>
                  <a:pt x="7121" y="12347"/>
                </a:lnTo>
                <a:lnTo>
                  <a:pt x="7180" y="12178"/>
                </a:lnTo>
                <a:lnTo>
                  <a:pt x="7200" y="12000"/>
                </a:lnTo>
                <a:close/>
              </a:path>
            </a:pathLst>
          </a:custGeom>
          <a:solidFill>
            <a:srgbClr val="C25A00"/>
          </a:solidFill>
          <a:ln>
            <a:noFill/>
          </a:ln>
        </p:spPr>
        <p:txBody>
          <a:bodyPr rtlCol="0" anchor="ctr"/>
          <a:lstStyle/>
          <a:p>
            <a:pPr algn="ctr"/>
          </a:p>
        </p:txBody>
      </p:sp>
      <p:sp>
        <p:nvSpPr>
          <p:cNvPr id="30" name="TextBox 29"/>
          <p:cNvSpPr txBox="1"/>
          <p:nvPr/>
        </p:nvSpPr>
        <p:spPr>
          <a:xfrm>
            <a:off x="1240808" y="4242900"/>
            <a:ext cx="4676383" cy="320000"/>
          </a:xfrm>
          <a:prstGeom prst="rect">
            <a:avLst/>
          </a:prstGeom>
          <a:noFill/>
        </p:spPr>
        <p:txBody>
          <a:bodyPr wrap="square" lIns="0" rIns="0" tIns="0" bIns="0" anchor="ctr">
            <a:spAutoFit/>
          </a:bodyPr>
          <a:lstStyle/>
          <a:p>
            <a:pPr algn="l">
              <a:lnSpc>
                <a:spcPct val="100000"/>
              </a:lnSpc>
              <a:spcAft>
                <a:spcPts val="0"/>
              </a:spcAft>
            </a:pPr>
            <a:r>
              <a:rPr sz="1000" b="1" i="0">
                <a:solidFill>
                  <a:srgbClr val="3D2159"/>
                </a:solidFill>
                <a:latin typeface="Arial"/>
              </a:rPr>
              <a:t>Antes de ejecutar, comprendemos.</a:t>
            </a:r>
          </a:p>
        </p:txBody>
      </p:sp>
      <p:sp>
        <p:nvSpPr>
          <p:cNvPr id="31" name="Rounded Rectangle 30"/>
          <p:cNvSpPr/>
          <p:nvPr/>
        </p:nvSpPr>
        <p:spPr>
          <a:xfrm>
            <a:off x="840808" y="4622900"/>
            <a:ext cx="5176383" cy="320000"/>
          </a:xfrm>
          <a:prstGeom prst="roundRect">
            <a:avLst>
              <a:gd name="adj" fmla="val 21875"/>
            </a:avLst>
          </a:prstGeom>
          <a:solidFill>
            <a:srgbClr val="FFFFFF"/>
          </a:solidFill>
          <a:ln>
            <a:noFill/>
          </a:ln>
        </p:spPr>
        <p:txBody>
          <a:bodyPr rtlCol="0" anchor="ctr"/>
          <a:lstStyle/>
          <a:p>
            <a:pPr algn="ctr"/>
          </a:p>
        </p:txBody>
      </p:sp>
      <p:sp>
        <p:nvSpPr>
          <p:cNvPr id="32" name="icono flask"/>
          <p:cNvSpPr/>
          <p:nvPr/>
        </p:nvSpPr>
        <p:spPr>
          <a:xfrm>
            <a:off x="930808" y="4677900"/>
            <a:ext cx="210000" cy="210000"/>
          </a:xfrm>
          <a:custGeom>
            <a:avLst/>
            <a:gdLst/>
            <a:ahLst/>
            <a:cxnLst/>
            <a:rect l="0" t="0" r="r" b="b"/>
            <a:pathLst>
              <a:path w="25600" h="25600">
                <a:moveTo>
                  <a:pt x="22169" y="19977"/>
                </a:moveTo>
                <a:lnTo>
                  <a:pt x="16000" y="9692"/>
                </a:lnTo>
                <a:lnTo>
                  <a:pt x="16000" y="4000"/>
                </a:lnTo>
                <a:lnTo>
                  <a:pt x="16800" y="4000"/>
                </a:lnTo>
                <a:lnTo>
                  <a:pt x="16966" y="3983"/>
                </a:lnTo>
                <a:lnTo>
                  <a:pt x="17125" y="3931"/>
                </a:lnTo>
                <a:lnTo>
                  <a:pt x="17270" y="3847"/>
                </a:lnTo>
                <a:lnTo>
                  <a:pt x="17395" y="3735"/>
                </a:lnTo>
                <a:lnTo>
                  <a:pt x="17493" y="3600"/>
                </a:lnTo>
                <a:lnTo>
                  <a:pt x="17561" y="3447"/>
                </a:lnTo>
                <a:lnTo>
                  <a:pt x="17596" y="3284"/>
                </a:lnTo>
                <a:lnTo>
                  <a:pt x="17596" y="3116"/>
                </a:lnTo>
                <a:lnTo>
                  <a:pt x="17561" y="2953"/>
                </a:lnTo>
                <a:lnTo>
                  <a:pt x="17493" y="2800"/>
                </a:lnTo>
                <a:lnTo>
                  <a:pt x="17395" y="2665"/>
                </a:lnTo>
                <a:lnTo>
                  <a:pt x="17270" y="2553"/>
                </a:lnTo>
                <a:lnTo>
                  <a:pt x="17125" y="2469"/>
                </a:lnTo>
                <a:lnTo>
                  <a:pt x="16966" y="2417"/>
                </a:lnTo>
                <a:lnTo>
                  <a:pt x="16800" y="2400"/>
                </a:lnTo>
                <a:lnTo>
                  <a:pt x="8800" y="2400"/>
                </a:lnTo>
                <a:lnTo>
                  <a:pt x="8634" y="2417"/>
                </a:lnTo>
                <a:lnTo>
                  <a:pt x="8475" y="2469"/>
                </a:lnTo>
                <a:lnTo>
                  <a:pt x="8330" y="2553"/>
                </a:lnTo>
                <a:lnTo>
                  <a:pt x="8205" y="2665"/>
                </a:lnTo>
                <a:lnTo>
                  <a:pt x="8107" y="2800"/>
                </a:lnTo>
                <a:lnTo>
                  <a:pt x="8039" y="2953"/>
                </a:lnTo>
                <a:lnTo>
                  <a:pt x="8004" y="3116"/>
                </a:lnTo>
                <a:lnTo>
                  <a:pt x="8004" y="3284"/>
                </a:lnTo>
                <a:lnTo>
                  <a:pt x="8039" y="3447"/>
                </a:lnTo>
                <a:lnTo>
                  <a:pt x="8107" y="3600"/>
                </a:lnTo>
                <a:lnTo>
                  <a:pt x="8205" y="3735"/>
                </a:lnTo>
                <a:lnTo>
                  <a:pt x="8330" y="3847"/>
                </a:lnTo>
                <a:lnTo>
                  <a:pt x="8475" y="3931"/>
                </a:lnTo>
                <a:lnTo>
                  <a:pt x="8634" y="3983"/>
                </a:lnTo>
                <a:lnTo>
                  <a:pt x="8800" y="4000"/>
                </a:lnTo>
                <a:lnTo>
                  <a:pt x="9600" y="4000"/>
                </a:lnTo>
                <a:lnTo>
                  <a:pt x="9600" y="9692"/>
                </a:lnTo>
                <a:lnTo>
                  <a:pt x="3431" y="19977"/>
                </a:lnTo>
                <a:lnTo>
                  <a:pt x="3289" y="20282"/>
                </a:lnTo>
                <a:lnTo>
                  <a:pt x="3214" y="20611"/>
                </a:lnTo>
                <a:lnTo>
                  <a:pt x="3210" y="20948"/>
                </a:lnTo>
                <a:lnTo>
                  <a:pt x="3276" y="21278"/>
                </a:lnTo>
                <a:lnTo>
                  <a:pt x="3410" y="21587"/>
                </a:lnTo>
                <a:lnTo>
                  <a:pt x="3606" y="21861"/>
                </a:lnTo>
                <a:lnTo>
                  <a:pt x="3854" y="22088"/>
                </a:lnTo>
                <a:lnTo>
                  <a:pt x="4145" y="22258"/>
                </a:lnTo>
                <a:lnTo>
                  <a:pt x="4465" y="22364"/>
                </a:lnTo>
                <a:lnTo>
                  <a:pt x="4800" y="22400"/>
                </a:lnTo>
                <a:lnTo>
                  <a:pt x="20800" y="22400"/>
                </a:lnTo>
                <a:lnTo>
                  <a:pt x="21135" y="22364"/>
                </a:lnTo>
                <a:lnTo>
                  <a:pt x="21456" y="22259"/>
                </a:lnTo>
                <a:lnTo>
                  <a:pt x="21747" y="22090"/>
                </a:lnTo>
                <a:lnTo>
                  <a:pt x="21996" y="21863"/>
                </a:lnTo>
                <a:lnTo>
                  <a:pt x="22192" y="21588"/>
                </a:lnTo>
                <a:lnTo>
                  <a:pt x="22326" y="21279"/>
                </a:lnTo>
                <a:lnTo>
                  <a:pt x="22393" y="20949"/>
                </a:lnTo>
                <a:lnTo>
                  <a:pt x="22389" y="20612"/>
                </a:lnTo>
                <a:lnTo>
                  <a:pt x="22314" y="20283"/>
                </a:lnTo>
                <a:lnTo>
                  <a:pt x="22172" y="19977"/>
                </a:lnTo>
                <a:lnTo>
                  <a:pt x="22169" y="19977"/>
                </a:lnTo>
                <a:close/>
                <a:moveTo>
                  <a:pt x="11086" y="10325"/>
                </a:moveTo>
                <a:lnTo>
                  <a:pt x="11120" y="10262"/>
                </a:lnTo>
                <a:lnTo>
                  <a:pt x="11149" y="10196"/>
                </a:lnTo>
                <a:lnTo>
                  <a:pt x="11171" y="10127"/>
                </a:lnTo>
                <a:lnTo>
                  <a:pt x="11187" y="10057"/>
                </a:lnTo>
                <a:lnTo>
                  <a:pt x="11197" y="9986"/>
                </a:lnTo>
                <a:lnTo>
                  <a:pt x="11200" y="9914"/>
                </a:lnTo>
                <a:lnTo>
                  <a:pt x="11200" y="4000"/>
                </a:lnTo>
                <a:lnTo>
                  <a:pt x="14400" y="4000"/>
                </a:lnTo>
                <a:lnTo>
                  <a:pt x="14400" y="9914"/>
                </a:lnTo>
                <a:lnTo>
                  <a:pt x="14403" y="9986"/>
                </a:lnTo>
                <a:lnTo>
                  <a:pt x="14413" y="10057"/>
                </a:lnTo>
                <a:lnTo>
                  <a:pt x="14429" y="10127"/>
                </a:lnTo>
                <a:lnTo>
                  <a:pt x="14451" y="10196"/>
                </a:lnTo>
                <a:lnTo>
                  <a:pt x="14480" y="10262"/>
                </a:lnTo>
                <a:lnTo>
                  <a:pt x="14514" y="10325"/>
                </a:lnTo>
                <a:lnTo>
                  <a:pt x="18336" y="16700"/>
                </a:lnTo>
                <a:cubicBezTo>
                  <a:pt x="17136" y="16937"/>
                  <a:pt x="15429" y="16837"/>
                  <a:pt x="13161" y="15689"/>
                </a:cubicBezTo>
                <a:cubicBezTo>
                  <a:pt x="11570" y="14884"/>
                  <a:pt x="10056" y="14457"/>
                  <a:pt x="8639" y="14408"/>
                </a:cubicBezTo>
                <a:lnTo>
                  <a:pt x="11086" y="10325"/>
                </a:lnTo>
                <a:close/>
                <a:moveTo>
                  <a:pt x="4800" y="20800"/>
                </a:moveTo>
                <a:lnTo>
                  <a:pt x="7654" y="16042"/>
                </a:lnTo>
                <a:cubicBezTo>
                  <a:pt x="9079" y="15868"/>
                  <a:pt x="10685" y="16227"/>
                  <a:pt x="12436" y="17114"/>
                </a:cubicBezTo>
                <a:cubicBezTo>
                  <a:pt x="14336" y="18075"/>
                  <a:pt x="15936" y="18402"/>
                  <a:pt x="17236" y="18402"/>
                </a:cubicBezTo>
                <a:lnTo>
                  <a:pt x="17566" y="18396"/>
                </a:lnTo>
                <a:lnTo>
                  <a:pt x="17895" y="18374"/>
                </a:lnTo>
                <a:lnTo>
                  <a:pt x="18223" y="18336"/>
                </a:lnTo>
                <a:lnTo>
                  <a:pt x="18549" y="18284"/>
                </a:lnTo>
                <a:lnTo>
                  <a:pt x="18872" y="18215"/>
                </a:lnTo>
                <a:lnTo>
                  <a:pt x="19191" y="18132"/>
                </a:lnTo>
                <a:lnTo>
                  <a:pt x="20800" y="20800"/>
                </a:lnTo>
                <a:lnTo>
                  <a:pt x="4800" y="20800"/>
                </a:lnTo>
                <a:close/>
              </a:path>
            </a:pathLst>
          </a:custGeom>
          <a:solidFill>
            <a:srgbClr val="C25A00"/>
          </a:solidFill>
          <a:ln>
            <a:noFill/>
          </a:ln>
        </p:spPr>
        <p:txBody>
          <a:bodyPr rtlCol="0" anchor="ctr"/>
          <a:lstStyle/>
          <a:p>
            <a:pPr algn="ctr"/>
          </a:p>
        </p:txBody>
      </p:sp>
      <p:sp>
        <p:nvSpPr>
          <p:cNvPr id="33" name="TextBox 32"/>
          <p:cNvSpPr txBox="1"/>
          <p:nvPr/>
        </p:nvSpPr>
        <p:spPr>
          <a:xfrm>
            <a:off x="1240808" y="4622900"/>
            <a:ext cx="4676383" cy="320000"/>
          </a:xfrm>
          <a:prstGeom prst="rect">
            <a:avLst/>
          </a:prstGeom>
          <a:noFill/>
        </p:spPr>
        <p:txBody>
          <a:bodyPr wrap="square" lIns="0" rIns="0" tIns="0" bIns="0" anchor="ctr">
            <a:spAutoFit/>
          </a:bodyPr>
          <a:lstStyle/>
          <a:p>
            <a:pPr algn="l">
              <a:lnSpc>
                <a:spcPct val="100000"/>
              </a:lnSpc>
              <a:spcAft>
                <a:spcPts val="0"/>
              </a:spcAft>
            </a:pPr>
            <a:r>
              <a:rPr sz="1000" b="1" i="0">
                <a:solidFill>
                  <a:srgbClr val="3D2159"/>
                </a:solidFill>
                <a:latin typeface="Arial"/>
              </a:rPr>
              <a:t>Antes de invertir grandes recursos, experimentamos.</a:t>
            </a:r>
          </a:p>
        </p:txBody>
      </p:sp>
      <p:sp>
        <p:nvSpPr>
          <p:cNvPr id="34" name="Rounded Rectangle 33"/>
          <p:cNvSpPr/>
          <p:nvPr/>
        </p:nvSpPr>
        <p:spPr>
          <a:xfrm>
            <a:off x="840808" y="5002900"/>
            <a:ext cx="5176383" cy="320000"/>
          </a:xfrm>
          <a:prstGeom prst="roundRect">
            <a:avLst>
              <a:gd name="adj" fmla="val 21875"/>
            </a:avLst>
          </a:prstGeom>
          <a:solidFill>
            <a:srgbClr val="FFFFFF"/>
          </a:solidFill>
          <a:ln>
            <a:noFill/>
          </a:ln>
        </p:spPr>
        <p:txBody>
          <a:bodyPr rtlCol="0" anchor="ctr"/>
          <a:lstStyle/>
          <a:p>
            <a:pPr algn="ctr"/>
          </a:p>
        </p:txBody>
      </p:sp>
      <p:sp>
        <p:nvSpPr>
          <p:cNvPr id="35" name="icono arrows-clockwise"/>
          <p:cNvSpPr/>
          <p:nvPr/>
        </p:nvSpPr>
        <p:spPr>
          <a:xfrm>
            <a:off x="930808" y="5057900"/>
            <a:ext cx="210000" cy="210000"/>
          </a:xfrm>
          <a:custGeom>
            <a:avLst/>
            <a:gdLst/>
            <a:ahLst/>
            <a:cxnLst/>
            <a:rect l="0" t="0" r="r" b="b"/>
            <a:pathLst>
              <a:path w="25600" h="25600">
                <a:moveTo>
                  <a:pt x="22400" y="4800"/>
                </a:moveTo>
                <a:lnTo>
                  <a:pt x="22400" y="9600"/>
                </a:lnTo>
                <a:lnTo>
                  <a:pt x="22380" y="9778"/>
                </a:lnTo>
                <a:lnTo>
                  <a:pt x="22321" y="9947"/>
                </a:lnTo>
                <a:lnTo>
                  <a:pt x="22225" y="10099"/>
                </a:lnTo>
                <a:lnTo>
                  <a:pt x="22099" y="10225"/>
                </a:lnTo>
                <a:lnTo>
                  <a:pt x="21947" y="10321"/>
                </a:lnTo>
                <a:lnTo>
                  <a:pt x="21778" y="10380"/>
                </a:lnTo>
                <a:lnTo>
                  <a:pt x="21600" y="10400"/>
                </a:lnTo>
                <a:lnTo>
                  <a:pt x="16800" y="10400"/>
                </a:lnTo>
                <a:lnTo>
                  <a:pt x="16634" y="10383"/>
                </a:lnTo>
                <a:lnTo>
                  <a:pt x="16475" y="10331"/>
                </a:lnTo>
                <a:lnTo>
                  <a:pt x="16330" y="10247"/>
                </a:lnTo>
                <a:lnTo>
                  <a:pt x="16205" y="10135"/>
                </a:lnTo>
                <a:lnTo>
                  <a:pt x="16107" y="10000"/>
                </a:lnTo>
                <a:lnTo>
                  <a:pt x="16039" y="9847"/>
                </a:lnTo>
                <a:lnTo>
                  <a:pt x="16004" y="9684"/>
                </a:lnTo>
                <a:lnTo>
                  <a:pt x="16004" y="9516"/>
                </a:lnTo>
                <a:lnTo>
                  <a:pt x="16039" y="9353"/>
                </a:lnTo>
                <a:lnTo>
                  <a:pt x="16107" y="9200"/>
                </a:lnTo>
                <a:lnTo>
                  <a:pt x="16205" y="9065"/>
                </a:lnTo>
                <a:lnTo>
                  <a:pt x="16330" y="8953"/>
                </a:lnTo>
                <a:lnTo>
                  <a:pt x="16475" y="8869"/>
                </a:lnTo>
                <a:lnTo>
                  <a:pt x="16634" y="8817"/>
                </a:lnTo>
                <a:lnTo>
                  <a:pt x="16800" y="8800"/>
                </a:lnTo>
                <a:lnTo>
                  <a:pt x="19669" y="8800"/>
                </a:lnTo>
                <a:lnTo>
                  <a:pt x="18206" y="7337"/>
                </a:lnTo>
                <a:lnTo>
                  <a:pt x="17426" y="6650"/>
                </a:lnTo>
                <a:lnTo>
                  <a:pt x="16563" y="6070"/>
                </a:lnTo>
                <a:lnTo>
                  <a:pt x="15632" y="5608"/>
                </a:lnTo>
                <a:lnTo>
                  <a:pt x="14649" y="5271"/>
                </a:lnTo>
                <a:lnTo>
                  <a:pt x="13630" y="5065"/>
                </a:lnTo>
                <a:lnTo>
                  <a:pt x="12593" y="4994"/>
                </a:lnTo>
                <a:lnTo>
                  <a:pt x="12548" y="4994"/>
                </a:lnTo>
                <a:lnTo>
                  <a:pt x="11519" y="5058"/>
                </a:lnTo>
                <a:lnTo>
                  <a:pt x="10507" y="5255"/>
                </a:lnTo>
                <a:lnTo>
                  <a:pt x="9529" y="5582"/>
                </a:lnTo>
                <a:lnTo>
                  <a:pt x="8602" y="6032"/>
                </a:lnTo>
                <a:lnTo>
                  <a:pt x="7740" y="6598"/>
                </a:lnTo>
                <a:lnTo>
                  <a:pt x="6959" y="7271"/>
                </a:lnTo>
                <a:lnTo>
                  <a:pt x="6817" y="7376"/>
                </a:lnTo>
                <a:lnTo>
                  <a:pt x="6656" y="7448"/>
                </a:lnTo>
                <a:lnTo>
                  <a:pt x="6483" y="7483"/>
                </a:lnTo>
                <a:lnTo>
                  <a:pt x="6307" y="7479"/>
                </a:lnTo>
                <a:lnTo>
                  <a:pt x="6135" y="7436"/>
                </a:lnTo>
                <a:lnTo>
                  <a:pt x="5978" y="7357"/>
                </a:lnTo>
                <a:lnTo>
                  <a:pt x="5841" y="7245"/>
                </a:lnTo>
                <a:lnTo>
                  <a:pt x="5732" y="7106"/>
                </a:lnTo>
                <a:lnTo>
                  <a:pt x="5657" y="6947"/>
                </a:lnTo>
                <a:lnTo>
                  <a:pt x="5618" y="6774"/>
                </a:lnTo>
                <a:lnTo>
                  <a:pt x="5618" y="6598"/>
                </a:lnTo>
                <a:lnTo>
                  <a:pt x="5657" y="6426"/>
                </a:lnTo>
                <a:lnTo>
                  <a:pt x="5732" y="6266"/>
                </a:lnTo>
                <a:lnTo>
                  <a:pt x="5841" y="6127"/>
                </a:lnTo>
                <a:lnTo>
                  <a:pt x="7524" y="4814"/>
                </a:lnTo>
                <a:lnTo>
                  <a:pt x="9455" y="3905"/>
                </a:lnTo>
                <a:lnTo>
                  <a:pt x="11540" y="3446"/>
                </a:lnTo>
                <a:lnTo>
                  <a:pt x="13674" y="3458"/>
                </a:lnTo>
                <a:lnTo>
                  <a:pt x="15753" y="3942"/>
                </a:lnTo>
                <a:lnTo>
                  <a:pt x="17674" y="4873"/>
                </a:lnTo>
                <a:lnTo>
                  <a:pt x="19341" y="6206"/>
                </a:lnTo>
                <a:lnTo>
                  <a:pt x="20800" y="7669"/>
                </a:lnTo>
                <a:lnTo>
                  <a:pt x="20800" y="4800"/>
                </a:lnTo>
                <a:lnTo>
                  <a:pt x="20817" y="4634"/>
                </a:lnTo>
                <a:lnTo>
                  <a:pt x="20869" y="4475"/>
                </a:lnTo>
                <a:lnTo>
                  <a:pt x="20953" y="4330"/>
                </a:lnTo>
                <a:lnTo>
                  <a:pt x="21065" y="4205"/>
                </a:lnTo>
                <a:lnTo>
                  <a:pt x="21200" y="4107"/>
                </a:lnTo>
                <a:lnTo>
                  <a:pt x="21353" y="4039"/>
                </a:lnTo>
                <a:lnTo>
                  <a:pt x="21516" y="4004"/>
                </a:lnTo>
                <a:lnTo>
                  <a:pt x="21684" y="4004"/>
                </a:lnTo>
                <a:lnTo>
                  <a:pt x="21847" y="4039"/>
                </a:lnTo>
                <a:lnTo>
                  <a:pt x="22000" y="4107"/>
                </a:lnTo>
                <a:lnTo>
                  <a:pt x="22135" y="4205"/>
                </a:lnTo>
                <a:lnTo>
                  <a:pt x="22247" y="4330"/>
                </a:lnTo>
                <a:lnTo>
                  <a:pt x="22331" y="4475"/>
                </a:lnTo>
                <a:lnTo>
                  <a:pt x="22383" y="4634"/>
                </a:lnTo>
                <a:lnTo>
                  <a:pt x="22400" y="4800"/>
                </a:lnTo>
                <a:close/>
                <a:moveTo>
                  <a:pt x="18641" y="18329"/>
                </a:moveTo>
                <a:lnTo>
                  <a:pt x="17239" y="19422"/>
                </a:lnTo>
                <a:lnTo>
                  <a:pt x="15630" y="20179"/>
                </a:lnTo>
                <a:lnTo>
                  <a:pt x="13893" y="20562"/>
                </a:lnTo>
                <a:lnTo>
                  <a:pt x="12115" y="20551"/>
                </a:lnTo>
                <a:lnTo>
                  <a:pt x="10383" y="20148"/>
                </a:lnTo>
                <a:lnTo>
                  <a:pt x="8783" y="19373"/>
                </a:lnTo>
                <a:lnTo>
                  <a:pt x="7394" y="18263"/>
                </a:lnTo>
                <a:lnTo>
                  <a:pt x="5931" y="16800"/>
                </a:lnTo>
                <a:lnTo>
                  <a:pt x="8800" y="16800"/>
                </a:lnTo>
                <a:lnTo>
                  <a:pt x="8966" y="16783"/>
                </a:lnTo>
                <a:lnTo>
                  <a:pt x="9125" y="16731"/>
                </a:lnTo>
                <a:lnTo>
                  <a:pt x="9270" y="16647"/>
                </a:lnTo>
                <a:lnTo>
                  <a:pt x="9395" y="16535"/>
                </a:lnTo>
                <a:lnTo>
                  <a:pt x="9493" y="16400"/>
                </a:lnTo>
                <a:lnTo>
                  <a:pt x="9561" y="16247"/>
                </a:lnTo>
                <a:lnTo>
                  <a:pt x="9596" y="16084"/>
                </a:lnTo>
                <a:lnTo>
                  <a:pt x="9596" y="15916"/>
                </a:lnTo>
                <a:lnTo>
                  <a:pt x="9561" y="15753"/>
                </a:lnTo>
                <a:lnTo>
                  <a:pt x="9493" y="15600"/>
                </a:lnTo>
                <a:lnTo>
                  <a:pt x="9395" y="15465"/>
                </a:lnTo>
                <a:lnTo>
                  <a:pt x="9270" y="15353"/>
                </a:lnTo>
                <a:lnTo>
                  <a:pt x="9125" y="15269"/>
                </a:lnTo>
                <a:lnTo>
                  <a:pt x="8966" y="15217"/>
                </a:lnTo>
                <a:lnTo>
                  <a:pt x="8800" y="15200"/>
                </a:lnTo>
                <a:lnTo>
                  <a:pt x="4000" y="15200"/>
                </a:lnTo>
                <a:lnTo>
                  <a:pt x="3822" y="15220"/>
                </a:lnTo>
                <a:lnTo>
                  <a:pt x="3653" y="15279"/>
                </a:lnTo>
                <a:lnTo>
                  <a:pt x="3501" y="15375"/>
                </a:lnTo>
                <a:lnTo>
                  <a:pt x="3375" y="15501"/>
                </a:lnTo>
                <a:lnTo>
                  <a:pt x="3279" y="15653"/>
                </a:lnTo>
                <a:lnTo>
                  <a:pt x="3220" y="15822"/>
                </a:lnTo>
                <a:lnTo>
                  <a:pt x="3200" y="16000"/>
                </a:lnTo>
                <a:lnTo>
                  <a:pt x="3200" y="20800"/>
                </a:lnTo>
                <a:lnTo>
                  <a:pt x="3217" y="20966"/>
                </a:lnTo>
                <a:lnTo>
                  <a:pt x="3269" y="21125"/>
                </a:lnTo>
                <a:lnTo>
                  <a:pt x="3353" y="21270"/>
                </a:lnTo>
                <a:lnTo>
                  <a:pt x="3465" y="21395"/>
                </a:lnTo>
                <a:lnTo>
                  <a:pt x="3600" y="21493"/>
                </a:lnTo>
                <a:lnTo>
                  <a:pt x="3753" y="21561"/>
                </a:lnTo>
                <a:lnTo>
                  <a:pt x="3916" y="21596"/>
                </a:lnTo>
                <a:lnTo>
                  <a:pt x="4084" y="21596"/>
                </a:lnTo>
                <a:lnTo>
                  <a:pt x="4247" y="21561"/>
                </a:lnTo>
                <a:lnTo>
                  <a:pt x="4400" y="21493"/>
                </a:lnTo>
                <a:lnTo>
                  <a:pt x="4535" y="21395"/>
                </a:lnTo>
                <a:lnTo>
                  <a:pt x="4647" y="21270"/>
                </a:lnTo>
                <a:lnTo>
                  <a:pt x="4731" y="21125"/>
                </a:lnTo>
                <a:lnTo>
                  <a:pt x="4783" y="20966"/>
                </a:lnTo>
                <a:lnTo>
                  <a:pt x="4800" y="20800"/>
                </a:lnTo>
                <a:lnTo>
                  <a:pt x="4800" y="17931"/>
                </a:lnTo>
                <a:lnTo>
                  <a:pt x="6263" y="19394"/>
                </a:lnTo>
                <a:lnTo>
                  <a:pt x="7199" y="20219"/>
                </a:lnTo>
                <a:lnTo>
                  <a:pt x="8234" y="20915"/>
                </a:lnTo>
                <a:lnTo>
                  <a:pt x="9352" y="21470"/>
                </a:lnTo>
                <a:lnTo>
                  <a:pt x="10532" y="21874"/>
                </a:lnTo>
                <a:lnTo>
                  <a:pt x="11755" y="22121"/>
                </a:lnTo>
                <a:lnTo>
                  <a:pt x="13000" y="22206"/>
                </a:lnTo>
                <a:lnTo>
                  <a:pt x="13053" y="22206"/>
                </a:lnTo>
                <a:lnTo>
                  <a:pt x="14288" y="22129"/>
                </a:lnTo>
                <a:lnTo>
                  <a:pt x="15502" y="21893"/>
                </a:lnTo>
                <a:lnTo>
                  <a:pt x="16676" y="21501"/>
                </a:lnTo>
                <a:lnTo>
                  <a:pt x="17789" y="20961"/>
                </a:lnTo>
                <a:lnTo>
                  <a:pt x="18823" y="20281"/>
                </a:lnTo>
                <a:lnTo>
                  <a:pt x="19760" y="19473"/>
                </a:lnTo>
                <a:lnTo>
                  <a:pt x="19869" y="19334"/>
                </a:lnTo>
                <a:lnTo>
                  <a:pt x="19944" y="19174"/>
                </a:lnTo>
                <a:lnTo>
                  <a:pt x="19983" y="19002"/>
                </a:lnTo>
                <a:lnTo>
                  <a:pt x="19983" y="18826"/>
                </a:lnTo>
                <a:lnTo>
                  <a:pt x="19944" y="18653"/>
                </a:lnTo>
                <a:lnTo>
                  <a:pt x="19869" y="18494"/>
                </a:lnTo>
                <a:lnTo>
                  <a:pt x="19760" y="18355"/>
                </a:lnTo>
                <a:lnTo>
                  <a:pt x="19623" y="18243"/>
                </a:lnTo>
                <a:lnTo>
                  <a:pt x="19466" y="18164"/>
                </a:lnTo>
                <a:lnTo>
                  <a:pt x="19294" y="18121"/>
                </a:lnTo>
                <a:lnTo>
                  <a:pt x="19118" y="18117"/>
                </a:lnTo>
                <a:lnTo>
                  <a:pt x="18945" y="18152"/>
                </a:lnTo>
                <a:lnTo>
                  <a:pt x="18784" y="18224"/>
                </a:lnTo>
                <a:lnTo>
                  <a:pt x="18642" y="18329"/>
                </a:lnTo>
                <a:lnTo>
                  <a:pt x="18641" y="18329"/>
                </a:lnTo>
                <a:close/>
              </a:path>
            </a:pathLst>
          </a:custGeom>
          <a:solidFill>
            <a:srgbClr val="C25A00"/>
          </a:solidFill>
          <a:ln>
            <a:noFill/>
          </a:ln>
        </p:spPr>
        <p:txBody>
          <a:bodyPr rtlCol="0" anchor="ctr"/>
          <a:lstStyle/>
          <a:p>
            <a:pPr algn="ctr"/>
          </a:p>
        </p:txBody>
      </p:sp>
      <p:sp>
        <p:nvSpPr>
          <p:cNvPr id="36" name="TextBox 35"/>
          <p:cNvSpPr txBox="1"/>
          <p:nvPr/>
        </p:nvSpPr>
        <p:spPr>
          <a:xfrm>
            <a:off x="1240808" y="5002900"/>
            <a:ext cx="4676383" cy="320000"/>
          </a:xfrm>
          <a:prstGeom prst="rect">
            <a:avLst/>
          </a:prstGeom>
          <a:noFill/>
        </p:spPr>
        <p:txBody>
          <a:bodyPr wrap="square" lIns="0" rIns="0" tIns="0" bIns="0" anchor="ctr">
            <a:spAutoFit/>
          </a:bodyPr>
          <a:lstStyle/>
          <a:p>
            <a:pPr algn="l">
              <a:lnSpc>
                <a:spcPct val="100000"/>
              </a:lnSpc>
              <a:spcAft>
                <a:spcPts val="0"/>
              </a:spcAft>
            </a:pPr>
            <a:r>
              <a:rPr sz="1000" b="1" i="0">
                <a:solidFill>
                  <a:srgbClr val="3D2159"/>
                </a:solidFill>
                <a:latin typeface="Arial"/>
              </a:rPr>
              <a:t>Antes de considerar una solución definitiva, aprendemos y ajustamos.</a:t>
            </a:r>
          </a:p>
        </p:txBody>
      </p:sp>
      <p:sp>
        <p:nvSpPr>
          <p:cNvPr id="37" name="TextBox 36"/>
          <p:cNvSpPr txBox="1"/>
          <p:nvPr/>
        </p:nvSpPr>
        <p:spPr>
          <a:xfrm>
            <a:off x="642308" y="5752900"/>
            <a:ext cx="5576383" cy="574967"/>
          </a:xfrm>
          <a:prstGeom prst="rect">
            <a:avLst/>
          </a:prstGeom>
          <a:noFill/>
        </p:spPr>
        <p:txBody>
          <a:bodyPr wrap="square" lIns="0" rIns="0" tIns="0" bIns="0" anchor="t">
            <a:spAutoFit/>
          </a:bodyPr>
          <a:lstStyle/>
          <a:p>
            <a:pPr algn="l">
              <a:lnSpc>
                <a:spcPct val="130000"/>
              </a:lnSpc>
              <a:spcAft>
                <a:spcPts val="1181"/>
              </a:spcAft>
            </a:pPr>
            <a:r>
              <a:rPr sz="1100" b="0" i="0">
                <a:solidFill>
                  <a:srgbClr val="56505B"/>
                </a:solidFill>
                <a:latin typeface="Arial"/>
              </a:rPr>
              <a:t>La relación entre ambos enfoques puede entenderse como un ciclo continuo en el que la planificación evoluciona conforme aumenta nuestro conocimiento.</a:t>
            </a:r>
          </a:p>
        </p:txBody>
      </p:sp>
      <p:sp>
        <p:nvSpPr>
          <p:cNvPr id="38" name="TextBox 37"/>
          <p:cNvSpPr txBox="1"/>
          <p:nvPr/>
        </p:nvSpPr>
        <p:spPr>
          <a:xfrm>
            <a:off x="640808" y="6447867"/>
            <a:ext cx="5576383" cy="150000"/>
          </a:xfrm>
          <a:prstGeom prst="rect">
            <a:avLst/>
          </a:prstGeom>
          <a:noFill/>
        </p:spPr>
        <p:txBody>
          <a:bodyPr wrap="square" lIns="0" rIns="0" tIns="0" bIns="0" anchor="t">
            <a:spAutoFit/>
          </a:bodyPr>
          <a:lstStyle/>
          <a:p>
            <a:pPr algn="l">
              <a:lnSpc>
                <a:spcPct val="100000"/>
              </a:lnSpc>
              <a:spcAft>
                <a:spcPts val="0"/>
              </a:spcAft>
            </a:pPr>
            <a:r>
              <a:rPr sz="950" b="0" i="1">
                <a:solidFill>
                  <a:srgbClr val="7B7480"/>
                </a:solidFill>
                <a:latin typeface="Arial"/>
              </a:rPr>
              <a:t>Fuente: elaboración propia.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808" y="723900"/>
            <a:ext cx="4265517" cy="171450"/>
          </a:xfrm>
          <a:prstGeom prst="rect">
            <a:avLst/>
          </a:prstGeom>
          <a:noFill/>
        </p:spPr>
        <p:txBody>
          <a:bodyPr wrap="square" lIns="0" rIns="0" tIns="0" bIns="0" anchor="t">
            <a:spAutoFit/>
          </a:bodyPr>
          <a:lstStyle/>
          <a:p>
            <a:pPr algn="l">
              <a:lnSpc>
                <a:spcPct val="100000"/>
              </a:lnSpc>
              <a:spcAft>
                <a:spcPts val="0"/>
              </a:spcAft>
            </a:pPr>
            <a:r>
              <a:rPr sz="825" b="1" i="0">
                <a:solidFill>
                  <a:srgbClr val="664092"/>
                </a:solidFill>
                <a:latin typeface="Arial"/>
              </a:rPr>
              <a:t>Artículo educativo · Pensamiento de diseño</a:t>
            </a:r>
          </a:p>
        </p:txBody>
      </p:sp>
      <p:sp>
        <p:nvSpPr>
          <p:cNvPr id="3" name="TextBox 2"/>
          <p:cNvSpPr txBox="1"/>
          <p:nvPr/>
        </p:nvSpPr>
        <p:spPr>
          <a:xfrm>
            <a:off x="640808" y="1104900"/>
            <a:ext cx="5576383" cy="209550"/>
          </a:xfrm>
          <a:prstGeom prst="rect">
            <a:avLst/>
          </a:prstGeom>
          <a:noFill/>
        </p:spPr>
        <p:txBody>
          <a:bodyPr wrap="square" lIns="0" rIns="0" tIns="0" bIns="0" anchor="t">
            <a:spAutoFit/>
          </a:bodyPr>
          <a:lstStyle/>
          <a:p>
            <a:pPr algn="l">
              <a:lnSpc>
                <a:spcPct val="100000"/>
              </a:lnSpc>
              <a:spcAft>
                <a:spcPts val="0"/>
              </a:spcAft>
            </a:pPr>
            <a:r>
              <a:rPr sz="975" b="1" i="0">
                <a:solidFill>
                  <a:srgbClr val="3560D6"/>
                </a:solidFill>
                <a:latin typeface="Arial"/>
              </a:rPr>
              <a:t>Referencias</a:t>
            </a:r>
          </a:p>
        </p:txBody>
      </p:sp>
      <p:sp>
        <p:nvSpPr>
          <p:cNvPr id="4" name="TextBox 3"/>
          <p:cNvSpPr txBox="1"/>
          <p:nvPr/>
        </p:nvSpPr>
        <p:spPr>
          <a:xfrm>
            <a:off x="640808" y="1428750"/>
            <a:ext cx="5576383" cy="345471"/>
          </a:xfrm>
          <a:prstGeom prst="rect">
            <a:avLst/>
          </a:prstGeom>
          <a:noFill/>
        </p:spPr>
        <p:txBody>
          <a:bodyPr wrap="square" lIns="0" rIns="0" tIns="0" bIns="0" anchor="t">
            <a:spAutoFit/>
          </a:bodyPr>
          <a:lstStyle/>
          <a:p>
            <a:pPr algn="l">
              <a:lnSpc>
                <a:spcPct val="100000"/>
              </a:lnSpc>
              <a:spcAft>
                <a:spcPts val="0"/>
              </a:spcAft>
            </a:pPr>
            <a:r>
              <a:rPr sz="2325" b="1" i="0">
                <a:solidFill>
                  <a:srgbClr val="664092"/>
                </a:solidFill>
                <a:latin typeface="Arial"/>
              </a:rPr>
              <a:t>Fuentes para continuar la lectura</a:t>
            </a:r>
          </a:p>
        </p:txBody>
      </p:sp>
      <p:cxnSp>
        <p:nvCxnSpPr>
          <p:cNvPr id="67" name="Google Shape;67;p12"/>
          <p:cNvCxnSpPr/>
          <p:nvPr/>
        </p:nvCxnSpPr>
        <p:spPr>
          <a:xfrm>
            <a:off x="748514" y="2004221"/>
            <a:ext cx="998913" cy="0"/>
          </a:xfrm>
          <a:prstGeom prst="straightConnector1">
            <a:avLst/>
          </a:prstGeom>
          <a:noFill/>
          <a:ln cap="flat" cmpd="sng" w="53975">
            <a:solidFill>
              <a:srgbClr val="73CDEB"/>
            </a:solidFill>
            <a:prstDash val="solid"/>
            <a:round/>
            <a:headEnd len="med" w="med" type="oval"/>
            <a:tailEnd len="med" w="med" type="oval"/>
          </a:ln>
        </p:spPr>
      </p:cxnSp>
      <p:sp>
        <p:nvSpPr>
          <p:cNvPr id="68" name="Rounded Rectangle 67"/>
          <p:cNvSpPr/>
          <p:nvPr/>
        </p:nvSpPr>
        <p:spPr>
          <a:xfrm>
            <a:off x="640808" y="2314221"/>
            <a:ext cx="5576383" cy="3300000"/>
          </a:xfrm>
          <a:prstGeom prst="roundRect">
            <a:avLst>
              <a:gd name="adj" fmla="val 6060"/>
            </a:avLst>
          </a:prstGeom>
          <a:solidFill>
            <a:srgbClr val="E5E6ED"/>
          </a:solidFill>
          <a:ln>
            <a:noFill/>
          </a:ln>
        </p:spPr>
        <p:txBody>
          <a:bodyPr rtlCol="0" anchor="ctr"/>
          <a:lstStyle/>
          <a:p>
            <a:pPr algn="ctr"/>
          </a:p>
        </p:txBody>
      </p:sp>
      <p:sp>
        <p:nvSpPr>
          <p:cNvPr id="69" name="TextBox 68"/>
          <p:cNvSpPr txBox="1"/>
          <p:nvPr/>
        </p:nvSpPr>
        <p:spPr>
          <a:xfrm>
            <a:off x="900808" y="2574221"/>
            <a:ext cx="5056383" cy="2800000"/>
          </a:xfrm>
          <a:prstGeom prst="rect">
            <a:avLst/>
          </a:prstGeom>
          <a:noFill/>
        </p:spPr>
        <p:txBody>
          <a:bodyPr wrap="square" lIns="0" rIns="0" tIns="0" bIns="0" anchor="t">
            <a:spAutoFit/>
          </a:bodyPr>
          <a:lstStyle/>
          <a:p>
            <a:pPr algn="l">
              <a:lnSpc>
                <a:spcPct val="125000"/>
              </a:lnSpc>
              <a:spcAft>
                <a:spcPts val="1200"/>
              </a:spcAft>
            </a:pPr>
            <a:r>
              <a:rPr sz="1100" b="0" i="0">
                <a:solidFill>
                  <a:srgbClr val="3D2159"/>
                </a:solidFill>
                <a:latin typeface="Arial"/>
              </a:rPr>
              <a:t>ADEN Business School. (2026, 18 de mayo). </a:t>
            </a:r>
            <a:r>
              <a:rPr sz="1100" b="0" i="1">
                <a:solidFill>
                  <a:srgbClr val="3D2159"/>
                </a:solidFill>
                <a:latin typeface="Arial"/>
              </a:rPr>
              <a:t>Metodologías ágiles: ¿Qué son y cuáles son las más utilizadas?</a:t>
            </a:r>
            <a:r>
              <a:rPr sz="1100" b="0" i="0">
                <a:solidFill>
                  <a:srgbClr val="3D2159"/>
                </a:solidFill>
                <a:latin typeface="Arial"/>
              </a:rPr>
              <a:t> ADEN Business Magazine. </a:t>
            </a:r>
            <a:r>
              <a:rPr sz="1100" b="0" i="0" u="sng">
                <a:solidFill>
                  <a:srgbClr val="1155CC"/>
                </a:solidFill>
                <a:latin typeface="Arial"/>
                <a:hlinkClick r:id="rId2"/>
              </a:rPr>
              <a:t>https://www.aden.org/business-magazine/metodologias-agiles-que-son/</a:t>
            </a:r>
          </a:p>
          <a:p>
            <a:pPr algn="l">
              <a:lnSpc>
                <a:spcPct val="125000"/>
              </a:lnSpc>
              <a:spcAft>
                <a:spcPts val="1200"/>
              </a:spcAft>
            </a:pPr>
            <a:r>
              <a:rPr sz="1100" b="0" i="0">
                <a:solidFill>
                  <a:srgbClr val="3D2159"/>
                </a:solidFill>
                <a:latin typeface="Arial"/>
              </a:rPr>
              <a:t>Asana. (2026, 27 de abril). </a:t>
            </a:r>
            <a:r>
              <a:rPr sz="1100" b="0" i="1">
                <a:solidFill>
                  <a:srgbClr val="3D2159"/>
                </a:solidFill>
                <a:latin typeface="Arial"/>
              </a:rPr>
              <a:t>Metodología Design Thinking: de la teoría a la práctica.</a:t>
            </a:r>
            <a:r>
              <a:rPr sz="1100" b="0" i="0">
                <a:solidFill>
                  <a:srgbClr val="3D2159"/>
                </a:solidFill>
                <a:latin typeface="Arial"/>
              </a:rPr>
              <a:t> </a:t>
            </a:r>
            <a:r>
              <a:rPr sz="1100" b="0" i="0" u="sng">
                <a:solidFill>
                  <a:srgbClr val="1155CC"/>
                </a:solidFill>
                <a:latin typeface="Arial"/>
                <a:hlinkClick r:id="rId3"/>
              </a:rPr>
              <a:t>https://asana.com/es/resources/design-thinking-process</a:t>
            </a:r>
          </a:p>
          <a:p>
            <a:pPr algn="l">
              <a:lnSpc>
                <a:spcPct val="125000"/>
              </a:lnSpc>
              <a:spcAft>
                <a:spcPts val="1200"/>
              </a:spcAft>
            </a:pPr>
            <a:r>
              <a:rPr sz="1100" b="0" i="0">
                <a:solidFill>
                  <a:srgbClr val="3D2159"/>
                </a:solidFill>
                <a:latin typeface="Arial"/>
              </a:rPr>
              <a:t>Córdoba, C. (2015). Fundamentos del pensamiento en diseño. </a:t>
            </a:r>
            <a:r>
              <a:rPr sz="1100" b="0" i="1">
                <a:solidFill>
                  <a:srgbClr val="3D2159"/>
                </a:solidFill>
                <a:latin typeface="Arial"/>
              </a:rPr>
              <a:t>Revista Investigium IRE Ciencias Sociales y Humanas, 6</a:t>
            </a:r>
            <a:r>
              <a:rPr sz="1100" b="0" i="0">
                <a:solidFill>
                  <a:srgbClr val="3D2159"/>
                </a:solidFill>
                <a:latin typeface="Arial"/>
              </a:rPr>
              <a:t>(2), 38–50. </a:t>
            </a:r>
            <a:r>
              <a:rPr sz="1100" b="0" i="0" u="sng">
                <a:solidFill>
                  <a:srgbClr val="1155CC"/>
                </a:solidFill>
                <a:latin typeface="Arial"/>
                <a:hlinkClick r:id="rId4"/>
              </a:rPr>
              <a:t>https://investigiumire.unicesmag.edu.co/index.php/ire/article/view/191</a:t>
            </a: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2026-08-28T21:01:11Z</dcterms:created>
  <dc:creator>Walnut Exporter</dc:creator>
</cp:coreProperties>
</file>