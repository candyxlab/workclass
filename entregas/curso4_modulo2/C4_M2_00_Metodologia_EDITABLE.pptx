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6662400" y="-1498600"/>
            <a:ext cx="2997200" cy="2997200"/>
          </a:xfrm>
          <a:prstGeom prst="donut">
            <a:avLst>
              <a:gd name="adj" fmla="val 24576"/>
            </a:avLst>
          </a:prstGeom>
          <a:gradFill rotWithShape="1">
            <a:gsLst>
              <a:gs pos="0">
                <a:srgbClr val="664092"/>
              </a:gs>
              <a:gs pos="100000">
                <a:srgbClr val="4E6AD5"/>
              </a:gs>
            </a:gsLst>
            <a:lin scaled="0" ang="18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-990600" y="9118600"/>
            <a:ext cx="2997200" cy="2997200"/>
          </a:xfrm>
          <a:prstGeom prst="donut">
            <a:avLst>
              <a:gd name="adj" fmla="val 24576"/>
            </a:avLst>
          </a:prstGeom>
          <a:gradFill rotWithShape="1">
            <a:gsLst>
              <a:gs pos="0">
                <a:srgbClr val="664092"/>
              </a:gs>
              <a:gs pos="100000">
                <a:srgbClr val="4E6AD5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138400" y="279400"/>
            <a:ext cx="2717800" cy="812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" name="Picture 4" descr="medel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800" y="381000"/>
            <a:ext cx="2438400" cy="550823"/>
          </a:xfrm>
          <a:prstGeom prst="rect">
            <a:avLst/>
          </a:prstGeom>
        </p:spPr>
      </p:pic>
      <p:pic>
        <p:nvPicPr>
          <p:cNvPr id="6" name="Picture 5" descr="lo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9347200"/>
            <a:ext cx="4521200" cy="76274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3900" y="609600"/>
            <a:ext cx="127000" cy="1092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E6AD5"/>
              </a:gs>
              <a:gs pos="100000">
                <a:srgbClr val="66409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2200" y="558800"/>
            <a:ext cx="533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64092"/>
                </a:solidFill>
                <a:latin typeface="Metropolis"/>
              </a:rPr>
              <a:t>MÓDULO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200" y="812800"/>
            <a:ext cx="5588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00" b="1">
                <a:solidFill>
                  <a:srgbClr val="123A75"/>
                </a:solidFill>
                <a:latin typeface="Metropolis"/>
              </a:rPr>
              <a:t>METODOLOGÍA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10400" y="635000"/>
            <a:ext cx="0" cy="1041400"/>
          </a:xfrm>
          <a:prstGeom prst="line">
            <a:avLst/>
          </a:prstGeom>
          <a:ln w="12700">
            <a:solidFill>
              <a:srgbClr val="C9D6E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7366000" y="558800"/>
            <a:ext cx="74930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4E6AD5"/>
                </a:solidFill>
                <a:latin typeface="Metropolis"/>
              </a:rPr>
              <a:t>Un recorrido para comprender, experimentar y construir soluciones</a:t>
            </a:r>
          </a:p>
          <a:p>
            <a:pPr algn="l">
              <a:lnSpc>
                <a:spcPct val="112000"/>
              </a:lnSpc>
            </a:pPr>
            <a:r>
              <a:rPr sz="1450" b="0">
                <a:solidFill>
                  <a:srgbClr val="455971"/>
                </a:solidFill>
                <a:latin typeface="Metropolis"/>
              </a:rPr>
              <a:t>Avanzaremos desde la comprensión de las necesidades de las personas hasta la generación, experimentación y mejora de soluciones mediante el pensamiento de diseño.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7400" y="2159000"/>
            <a:ext cx="3810000" cy="340360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87400" y="2159000"/>
            <a:ext cx="3810000" cy="584200"/>
          </a:xfrm>
          <a:prstGeom prst="roundRect">
            <a:avLst>
              <a:gd name="adj" fmla="val 26086"/>
            </a:avLst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87400" y="2463800"/>
            <a:ext cx="3810000" cy="279400"/>
          </a:xfrm>
          <a:prstGeom prst="rect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39800" y="22606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9800" y="2260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664092"/>
                </a:solidFill>
                <a:latin typeface="Metropoli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800" y="2159000"/>
            <a:ext cx="304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etropolis"/>
              </a:rPr>
              <a:t>COMPRENSIÓN DEL CONTEXTO</a:t>
            </a:r>
          </a:p>
        </p:txBody>
      </p:sp>
      <p:pic>
        <p:nvPicPr>
          <p:cNvPr id="18" name="Picture 17" descr="users-round_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921000"/>
            <a:ext cx="431800" cy="431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74800" y="2946400"/>
            <a:ext cx="2844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64092"/>
                </a:solidFill>
                <a:latin typeface="Metropolis"/>
              </a:rPr>
              <a:t>Explorar y empatizar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4800" y="3251200"/>
            <a:ext cx="28448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55971"/>
                </a:solidFill>
                <a:latin typeface="Metropolis"/>
              </a:rPr>
              <a:t>Analizamos el entorno, las personas y sus necesidades para definir un reto significativo.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0600" y="4267200"/>
            <a:ext cx="3403600" cy="1117600"/>
          </a:xfrm>
          <a:prstGeom prst="roundRect">
            <a:avLst>
              <a:gd name="adj" fmla="val 11363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2" name="Picture 21" descr="circle-help_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00" y="4394200"/>
            <a:ext cx="254000" cy="254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47800" y="4394200"/>
            <a:ext cx="2844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664092"/>
                </a:solidFill>
                <a:latin typeface="Metropolis"/>
              </a:rPr>
              <a:t>Pregunta orientadora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699000"/>
            <a:ext cx="3098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3D2159"/>
                </a:solidFill>
                <a:latin typeface="Metropolis"/>
              </a:rPr>
              <a:t>¿Qué necesitan realmente las personas?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4724400" y="3746500"/>
            <a:ext cx="203200" cy="228600"/>
          </a:xfrm>
          <a:prstGeom prst="triangle">
            <a:avLst/>
          </a:prstGeom>
          <a:solidFill>
            <a:srgbClr val="9AA3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54600" y="2159000"/>
            <a:ext cx="3810000" cy="340360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054600" y="2159000"/>
            <a:ext cx="3810000" cy="584200"/>
          </a:xfrm>
          <a:prstGeom prst="roundRect">
            <a:avLst>
              <a:gd name="adj" fmla="val 26086"/>
            </a:avLst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054600" y="2463800"/>
            <a:ext cx="3810000" cy="279400"/>
          </a:xfrm>
          <a:prstGeom prst="rect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5207000" y="22606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207000" y="2260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A56C6"/>
                </a:solidFill>
                <a:latin typeface="Metropoli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2159000"/>
            <a:ext cx="304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etropolis"/>
              </a:rPr>
              <a:t>GENERACIÓN DE IDEAS</a:t>
            </a:r>
          </a:p>
        </p:txBody>
      </p:sp>
      <p:pic>
        <p:nvPicPr>
          <p:cNvPr id="32" name="Picture 31" descr="lightbulb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921000"/>
            <a:ext cx="431800" cy="431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42000" y="2946400"/>
            <a:ext cx="2844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A56C6"/>
                </a:solidFill>
                <a:latin typeface="Metropolis"/>
              </a:rPr>
              <a:t>Divergir y crear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0" y="3251200"/>
            <a:ext cx="28448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55971"/>
                </a:solidFill>
                <a:latin typeface="Metropolis"/>
              </a:rPr>
              <a:t>Exploramos múltiples alternativas para responder al reto desde la creatividad y la colaboración.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4267200"/>
            <a:ext cx="3403600" cy="1117600"/>
          </a:xfrm>
          <a:prstGeom prst="roundRect">
            <a:avLst>
              <a:gd name="adj" fmla="val 11363"/>
            </a:avLst>
          </a:prstGeom>
          <a:solidFill>
            <a:srgbClr val="E8F1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6" name="Picture 35" descr="circle-help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4800" y="4394200"/>
            <a:ext cx="254000" cy="254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715000" y="4394200"/>
            <a:ext cx="2844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A56C6"/>
                </a:solidFill>
                <a:latin typeface="Metropolis"/>
              </a:rPr>
              <a:t>Pregunta orientadora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0200" y="4699000"/>
            <a:ext cx="3098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3D2159"/>
                </a:solidFill>
                <a:latin typeface="Metropolis"/>
              </a:rPr>
              <a:t>¿Qué soluciones podríamos imaginar?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8991600" y="3746500"/>
            <a:ext cx="203200" cy="228600"/>
          </a:xfrm>
          <a:prstGeom prst="triangle">
            <a:avLst/>
          </a:prstGeom>
          <a:solidFill>
            <a:srgbClr val="9AA3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21800" y="2159000"/>
            <a:ext cx="3810000" cy="340360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9321800" y="2159000"/>
            <a:ext cx="3810000" cy="584200"/>
          </a:xfrm>
          <a:prstGeom prst="roundRect">
            <a:avLst>
              <a:gd name="adj" fmla="val 26086"/>
            </a:avLst>
          </a:prstGeom>
          <a:solidFill>
            <a:srgbClr val="B316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9321800" y="2463800"/>
            <a:ext cx="3810000" cy="279400"/>
          </a:xfrm>
          <a:prstGeom prst="rect">
            <a:avLst/>
          </a:prstGeom>
          <a:solidFill>
            <a:srgbClr val="B316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9474200" y="22606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474200" y="2260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B31686"/>
                </a:solidFill>
                <a:latin typeface="Metropolis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82200" y="2159000"/>
            <a:ext cx="304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etropolis"/>
              </a:rPr>
              <a:t>EXPERIMENTACIÓN DE SOLUCIONES</a:t>
            </a:r>
          </a:p>
        </p:txBody>
      </p:sp>
      <p:pic>
        <p:nvPicPr>
          <p:cNvPr id="46" name="Picture 45" descr="flask-conical_m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0" y="2921000"/>
            <a:ext cx="431800" cy="4318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109200" y="2946400"/>
            <a:ext cx="2844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31686"/>
                </a:solidFill>
                <a:latin typeface="Metropolis"/>
              </a:rPr>
              <a:t>Prototipar y validar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9200" y="3251200"/>
            <a:ext cx="28448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55971"/>
                </a:solidFill>
                <a:latin typeface="Metropolis"/>
              </a:rPr>
              <a:t>Convertimos ideas en prototipos para probarlos con usuarios y obtener retroalimentación real.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25000" y="4267200"/>
            <a:ext cx="3403600" cy="1117600"/>
          </a:xfrm>
          <a:prstGeom prst="roundRect">
            <a:avLst>
              <a:gd name="adj" fmla="val 11363"/>
            </a:avLst>
          </a:prstGeom>
          <a:solidFill>
            <a:srgbClr val="F6EBF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0" name="Picture 49" descr="circle-help_m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000" y="4394200"/>
            <a:ext cx="254000" cy="254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982200" y="4394200"/>
            <a:ext cx="2844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B31686"/>
                </a:solidFill>
                <a:latin typeface="Metropolis"/>
              </a:rPr>
              <a:t>Pregunta orientadora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77400" y="4699000"/>
            <a:ext cx="3098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3D2159"/>
                </a:solidFill>
                <a:latin typeface="Metropolis"/>
              </a:rPr>
              <a:t>¿Qué funciona y qué podemos mejorar?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13258800" y="3746500"/>
            <a:ext cx="203200" cy="228600"/>
          </a:xfrm>
          <a:prstGeom prst="triangle">
            <a:avLst/>
          </a:prstGeom>
          <a:solidFill>
            <a:srgbClr val="9AA3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3589000" y="2159000"/>
            <a:ext cx="3810000" cy="340360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13589000" y="2159000"/>
            <a:ext cx="3810000" cy="584200"/>
          </a:xfrm>
          <a:prstGeom prst="roundRect">
            <a:avLst>
              <a:gd name="adj" fmla="val 26086"/>
            </a:avLst>
          </a:prstGeom>
          <a:solidFill>
            <a:srgbClr val="02479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3589000" y="2463800"/>
            <a:ext cx="3810000" cy="279400"/>
          </a:xfrm>
          <a:prstGeom prst="rect">
            <a:avLst/>
          </a:prstGeom>
          <a:solidFill>
            <a:srgbClr val="02479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13741400" y="22606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3741400" y="2260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24791"/>
                </a:solidFill>
                <a:latin typeface="Metropolis"/>
              </a:rPr>
              <a:t>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249400" y="2159000"/>
            <a:ext cx="304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etropolis"/>
              </a:rPr>
              <a:t>INTEGRACIÓN Y MEJORA</a:t>
            </a:r>
          </a:p>
        </p:txBody>
      </p:sp>
      <p:pic>
        <p:nvPicPr>
          <p:cNvPr id="60" name="Picture 59" descr="trending-up_nv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92200" y="2921000"/>
            <a:ext cx="431800" cy="4318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4376400" y="2946400"/>
            <a:ext cx="2844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24791"/>
                </a:solidFill>
                <a:latin typeface="Metropolis"/>
              </a:rPr>
              <a:t>Aprender e iterar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376400" y="3251200"/>
            <a:ext cx="28448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55971"/>
                </a:solidFill>
                <a:latin typeface="Metropolis"/>
              </a:rPr>
              <a:t>Analizamos los resultados, incorporamos aprendizajes y refinamos la solución para generar mayor impacto.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3792200" y="4267200"/>
            <a:ext cx="3403600" cy="1117600"/>
          </a:xfrm>
          <a:prstGeom prst="roundRect">
            <a:avLst>
              <a:gd name="adj" fmla="val 11363"/>
            </a:avLst>
          </a:prstGeom>
          <a:solidFill>
            <a:srgbClr val="E8F1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4" name="Picture 63" descr="circle-help_nv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19200" y="4394200"/>
            <a:ext cx="254000" cy="2540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4249400" y="4394200"/>
            <a:ext cx="2844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24791"/>
                </a:solidFill>
                <a:latin typeface="Metropolis"/>
              </a:rPr>
              <a:t>Pregunta orientadora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944600" y="4699000"/>
            <a:ext cx="3098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3D2159"/>
                </a:solidFill>
                <a:latin typeface="Metropolis"/>
              </a:rPr>
              <a:t>¿Cómo podemos hacer que esta solución genere más valor?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5494000" y="5562600"/>
            <a:ext cx="0" cy="508000"/>
          </a:xfrm>
          <a:prstGeom prst="line">
            <a:avLst/>
          </a:prstGeom>
          <a:ln w="31750">
            <a:solidFill>
              <a:srgbClr val="2A56C6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2692400" y="5664200"/>
            <a:ext cx="0" cy="406400"/>
          </a:xfrm>
          <a:prstGeom prst="line">
            <a:avLst/>
          </a:prstGeom>
          <a:ln w="31750">
            <a:solidFill>
              <a:srgbClr val="664092"/>
            </a:solidFill>
          </a:ln>
          <a:effectLst/>
        </p:spPr>
      </p:cxnSp>
      <p:sp>
        <p:nvSpPr>
          <p:cNvPr id="69" name="Isosceles Triangle 68"/>
          <p:cNvSpPr/>
          <p:nvPr/>
        </p:nvSpPr>
        <p:spPr>
          <a:xfrm>
            <a:off x="2590800" y="5588000"/>
            <a:ext cx="203200" cy="152400"/>
          </a:xfrm>
          <a:prstGeom prst="triangl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2692400" y="6070600"/>
            <a:ext cx="3911600" cy="0"/>
          </a:xfrm>
          <a:prstGeom prst="line">
            <a:avLst/>
          </a:prstGeom>
          <a:ln w="31750">
            <a:solidFill>
              <a:srgbClr val="664092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11684000" y="6070600"/>
            <a:ext cx="3810000" cy="0"/>
          </a:xfrm>
          <a:prstGeom prst="line">
            <a:avLst/>
          </a:prstGeom>
          <a:ln w="31750">
            <a:solidFill>
              <a:srgbClr val="2A56C6"/>
            </a:solidFill>
          </a:ln>
          <a:effectLst/>
        </p:spPr>
      </p:cxnSp>
      <p:sp>
        <p:nvSpPr>
          <p:cNvPr id="72" name="Rounded Rectangle 71"/>
          <p:cNvSpPr/>
          <p:nvPr/>
        </p:nvSpPr>
        <p:spPr>
          <a:xfrm>
            <a:off x="6604000" y="5816600"/>
            <a:ext cx="5080000" cy="50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66409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73" name="Picture 72" descr="refresh-cw_pu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5930900"/>
            <a:ext cx="279400" cy="2794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264400" y="5816600"/>
            <a:ext cx="431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664092"/>
                </a:solidFill>
                <a:latin typeface="Metropolis"/>
              </a:rPr>
              <a:t>ITERAR PARA GENERAR MAYOR IMPACTO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7400" y="6654800"/>
            <a:ext cx="8890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23A75"/>
                </a:solidFill>
                <a:latin typeface="Metropolis"/>
              </a:rPr>
              <a:t>6 pasos para consolidar el aprendizaje en la práctica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747000" y="6832600"/>
            <a:ext cx="5715000" cy="0"/>
          </a:xfrm>
          <a:prstGeom prst="line">
            <a:avLst/>
          </a:prstGeom>
          <a:ln w="12700">
            <a:solidFill>
              <a:srgbClr val="C9D6EA"/>
            </a:solidFill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13589000" y="6654800"/>
            <a:ext cx="3911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50" b="1">
                <a:solidFill>
                  <a:srgbClr val="664092"/>
                </a:solidFill>
                <a:latin typeface="Metropolis"/>
              </a:rPr>
              <a:t>Transformar el conocimiento en oportunidades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87400" y="7137400"/>
            <a:ext cx="2616200" cy="1701800"/>
          </a:xfrm>
          <a:prstGeom prst="roundRect">
            <a:avLst>
              <a:gd name="adj" fmla="val 7462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939800" y="7289800"/>
            <a:ext cx="355600" cy="355600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39800" y="72898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tropolis"/>
              </a:rPr>
              <a:t>1</a:t>
            </a:r>
          </a:p>
        </p:txBody>
      </p:sp>
      <p:pic>
        <p:nvPicPr>
          <p:cNvPr id="81" name="Picture 80" descr="file-text_pu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95600" y="7289800"/>
            <a:ext cx="330200" cy="3302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39800" y="7721600"/>
            <a:ext cx="2311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64092"/>
                </a:solidFill>
                <a:latin typeface="Metropolis"/>
              </a:rPr>
              <a:t>Analizar el caso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9800" y="8026400"/>
            <a:ext cx="2311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Comprender el contexto y el reto de diseño.</a:t>
            </a:r>
          </a:p>
        </p:txBody>
      </p:sp>
      <p:sp>
        <p:nvSpPr>
          <p:cNvPr id="84" name="Isosceles Triangle 83"/>
          <p:cNvSpPr/>
          <p:nvPr/>
        </p:nvSpPr>
        <p:spPr>
          <a:xfrm rot="5400000">
            <a:off x="3429000" y="7912100"/>
            <a:ext cx="127000" cy="152400"/>
          </a:xfrm>
          <a:prstGeom prst="triangle">
            <a:avLst/>
          </a:prstGeom>
          <a:solidFill>
            <a:srgbClr val="9AA3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3594100" y="7137400"/>
            <a:ext cx="2616200" cy="1701800"/>
          </a:xfrm>
          <a:prstGeom prst="roundRect">
            <a:avLst>
              <a:gd name="adj" fmla="val 7462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3746500" y="7289800"/>
            <a:ext cx="355600" cy="3556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3746500" y="72898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tropolis"/>
              </a:rPr>
              <a:t>2</a:t>
            </a:r>
          </a:p>
        </p:txBody>
      </p:sp>
      <p:pic>
        <p:nvPicPr>
          <p:cNvPr id="88" name="Picture 87" descr="users_b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02300" y="7289800"/>
            <a:ext cx="330200" cy="33020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3746500" y="7721600"/>
            <a:ext cx="2311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56C6"/>
                </a:solidFill>
                <a:latin typeface="Metropolis"/>
              </a:rPr>
              <a:t>Identificar necesidades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46500" y="8026400"/>
            <a:ext cx="2311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Reconocer hallazgos clave desde la perspectiva de las personas.</a:t>
            </a:r>
          </a:p>
        </p:txBody>
      </p:sp>
      <p:sp>
        <p:nvSpPr>
          <p:cNvPr id="91" name="Isosceles Triangle 90"/>
          <p:cNvSpPr/>
          <p:nvPr/>
        </p:nvSpPr>
        <p:spPr>
          <a:xfrm rot="5400000">
            <a:off x="6235700" y="7912100"/>
            <a:ext cx="127000" cy="152400"/>
          </a:xfrm>
          <a:prstGeom prst="triangle">
            <a:avLst/>
          </a:prstGeom>
          <a:solidFill>
            <a:srgbClr val="9AA3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400800" y="7137400"/>
            <a:ext cx="2616200" cy="1701800"/>
          </a:xfrm>
          <a:prstGeom prst="roundRect">
            <a:avLst>
              <a:gd name="adj" fmla="val 7462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6553200" y="7289800"/>
            <a:ext cx="355600" cy="355600"/>
          </a:xfrm>
          <a:prstGeom prst="ellipse">
            <a:avLst/>
          </a:prstGeom>
          <a:solidFill>
            <a:srgbClr val="B316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6553200" y="72898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tropolis"/>
              </a:rPr>
              <a:t>3</a:t>
            </a:r>
          </a:p>
        </p:txBody>
      </p:sp>
      <p:pic>
        <p:nvPicPr>
          <p:cNvPr id="95" name="Picture 94" descr="lightbulb_m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09000" y="7289800"/>
            <a:ext cx="330200" cy="33020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6553200" y="7721600"/>
            <a:ext cx="2311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31686"/>
                </a:solidFill>
                <a:latin typeface="Metropolis"/>
              </a:rPr>
              <a:t>Idear soluciones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53200" y="8026400"/>
            <a:ext cx="2311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Generar y priorizar alternativas creativas y viables.</a:t>
            </a:r>
          </a:p>
        </p:txBody>
      </p:sp>
      <p:sp>
        <p:nvSpPr>
          <p:cNvPr id="98" name="Isosceles Triangle 97"/>
          <p:cNvSpPr/>
          <p:nvPr/>
        </p:nvSpPr>
        <p:spPr>
          <a:xfrm rot="5400000">
            <a:off x="9042400" y="7912100"/>
            <a:ext cx="127000" cy="152400"/>
          </a:xfrm>
          <a:prstGeom prst="triangle">
            <a:avLst/>
          </a:prstGeom>
          <a:solidFill>
            <a:srgbClr val="9AA3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207500" y="7137400"/>
            <a:ext cx="2616200" cy="1701800"/>
          </a:xfrm>
          <a:prstGeom prst="roundRect">
            <a:avLst>
              <a:gd name="adj" fmla="val 7462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9359900" y="7289800"/>
            <a:ext cx="355600" cy="355600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9359900" y="72898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tropolis"/>
              </a:rPr>
              <a:t>4</a:t>
            </a:r>
          </a:p>
        </p:txBody>
      </p:sp>
      <p:pic>
        <p:nvPicPr>
          <p:cNvPr id="102" name="Picture 101" descr="settings_pu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15700" y="7289800"/>
            <a:ext cx="330200" cy="33020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9359900" y="7721600"/>
            <a:ext cx="2311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64092"/>
                </a:solidFill>
                <a:latin typeface="Metropolis"/>
              </a:rPr>
              <a:t>Prototipar y probar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59900" y="8026400"/>
            <a:ext cx="2311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Construir versiones simples y validarlas con usuarios reales.</a:t>
            </a:r>
          </a:p>
        </p:txBody>
      </p:sp>
      <p:sp>
        <p:nvSpPr>
          <p:cNvPr id="105" name="Isosceles Triangle 104"/>
          <p:cNvSpPr/>
          <p:nvPr/>
        </p:nvSpPr>
        <p:spPr>
          <a:xfrm rot="5400000">
            <a:off x="11849100" y="7912100"/>
            <a:ext cx="127000" cy="152400"/>
          </a:xfrm>
          <a:prstGeom prst="triangle">
            <a:avLst/>
          </a:prstGeom>
          <a:solidFill>
            <a:srgbClr val="9AA3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2014200" y="7137400"/>
            <a:ext cx="2616200" cy="1701800"/>
          </a:xfrm>
          <a:prstGeom prst="roundRect">
            <a:avLst>
              <a:gd name="adj" fmla="val 7462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12166600" y="7289800"/>
            <a:ext cx="355600" cy="3556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2166600" y="72898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tropolis"/>
              </a:rPr>
              <a:t>5</a:t>
            </a:r>
          </a:p>
        </p:txBody>
      </p:sp>
      <p:pic>
        <p:nvPicPr>
          <p:cNvPr id="109" name="Picture 108" descr="chart-column_bl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122400" y="7289800"/>
            <a:ext cx="330200" cy="33020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2166600" y="7721600"/>
            <a:ext cx="2311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A56C6"/>
                </a:solidFill>
                <a:latin typeface="Metropolis"/>
              </a:rPr>
              <a:t>Evaluar resultados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166600" y="8026400"/>
            <a:ext cx="2311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Analizar la evidencia y extraer aprendizajes significativos.</a:t>
            </a:r>
          </a:p>
        </p:txBody>
      </p:sp>
      <p:sp>
        <p:nvSpPr>
          <p:cNvPr id="112" name="Isosceles Triangle 111"/>
          <p:cNvSpPr/>
          <p:nvPr/>
        </p:nvSpPr>
        <p:spPr>
          <a:xfrm rot="5400000">
            <a:off x="14655800" y="7912100"/>
            <a:ext cx="127000" cy="152400"/>
          </a:xfrm>
          <a:prstGeom prst="triangle">
            <a:avLst/>
          </a:prstGeom>
          <a:solidFill>
            <a:srgbClr val="9AA3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4820900" y="7137400"/>
            <a:ext cx="2616200" cy="1701800"/>
          </a:xfrm>
          <a:prstGeom prst="roundRect">
            <a:avLst>
              <a:gd name="adj" fmla="val 7462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14973300" y="7289800"/>
            <a:ext cx="355600" cy="355600"/>
          </a:xfrm>
          <a:prstGeom prst="ellipse">
            <a:avLst/>
          </a:prstGeom>
          <a:solidFill>
            <a:srgbClr val="02479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14973300" y="72898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tropolis"/>
              </a:rPr>
              <a:t>6</a:t>
            </a:r>
          </a:p>
        </p:txBody>
      </p:sp>
      <p:pic>
        <p:nvPicPr>
          <p:cNvPr id="116" name="Picture 115" descr="refresh-cw_nv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929100" y="7289800"/>
            <a:ext cx="330200" cy="33020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14973300" y="7721600"/>
            <a:ext cx="23114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24791"/>
                </a:solidFill>
                <a:latin typeface="Metropolis"/>
              </a:rPr>
              <a:t>Iterar y escalar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4973300" y="8026400"/>
            <a:ext cx="2311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455971"/>
                </a:solidFill>
                <a:latin typeface="Metropolis"/>
              </a:rPr>
              <a:t>Refinar la solución y proyectar su implementación con mayor impacto.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311400" y="9499600"/>
            <a:ext cx="1066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44992"/>
                </a:solidFill>
                <a:latin typeface="Metropolis"/>
              </a:rPr>
              <a:t>Fuente: </a:t>
            </a:r>
            <a:r>
              <a:rPr sz="1150" b="0">
                <a:solidFill>
                  <a:srgbClr val="044992"/>
                </a:solidFill>
                <a:latin typeface="Metropolis"/>
              </a:rPr>
              <a:t>Elaboración propia con base en Brown (2008) y Hasso Plattner Institute of Design at Stanford (s. f.).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